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287" r:id="rId3"/>
    <p:sldId id="407" r:id="rId4"/>
    <p:sldId id="387" r:id="rId5"/>
    <p:sldId id="286" r:id="rId6"/>
    <p:sldId id="432" r:id="rId7"/>
    <p:sldId id="280" r:id="rId8"/>
    <p:sldId id="311" r:id="rId9"/>
    <p:sldId id="421" r:id="rId10"/>
    <p:sldId id="259" r:id="rId11"/>
    <p:sldId id="330" r:id="rId12"/>
    <p:sldId id="408" r:id="rId13"/>
    <p:sldId id="409" r:id="rId14"/>
    <p:sldId id="325" r:id="rId15"/>
    <p:sldId id="354" r:id="rId16"/>
    <p:sldId id="410" r:id="rId17"/>
    <p:sldId id="412" r:id="rId18"/>
    <p:sldId id="413" r:id="rId19"/>
    <p:sldId id="414" r:id="rId20"/>
    <p:sldId id="415" r:id="rId21"/>
    <p:sldId id="416" r:id="rId22"/>
    <p:sldId id="411" r:id="rId23"/>
    <p:sldId id="430" r:id="rId24"/>
    <p:sldId id="326" r:id="rId25"/>
    <p:sldId id="336" r:id="rId26"/>
    <p:sldId id="417" r:id="rId27"/>
    <p:sldId id="418" r:id="rId28"/>
    <p:sldId id="419" r:id="rId29"/>
    <p:sldId id="425" r:id="rId30"/>
    <p:sldId id="420" r:id="rId31"/>
    <p:sldId id="431" r:id="rId32"/>
    <p:sldId id="357" r:id="rId33"/>
    <p:sldId id="358" r:id="rId34"/>
    <p:sldId id="328" r:id="rId35"/>
    <p:sldId id="423" r:id="rId36"/>
    <p:sldId id="295" r:id="rId37"/>
    <p:sldId id="424" r:id="rId38"/>
    <p:sldId id="426" r:id="rId39"/>
    <p:sldId id="28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ommentAuthors" Target="commentAuthors.xml"/><Relationship Id="rId47"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56737DEC-A12D-4052-99F9-176D6147A5E3}"/>
    <pc:docChg chg="undo redo custSel addSld modSld">
      <pc:chgData name="Hayato Ishida" userId="585fa0fa6384767c" providerId="LiveId" clId="{56737DEC-A12D-4052-99F9-176D6147A5E3}" dt="2025-05-15T04:00:12.368" v="2398"/>
      <pc:docMkLst>
        <pc:docMk/>
      </pc:docMkLst>
      <pc:sldChg chg="modSp mod">
        <pc:chgData name="Hayato Ishida" userId="585fa0fa6384767c" providerId="LiveId" clId="{56737DEC-A12D-4052-99F9-176D6147A5E3}" dt="2025-05-15T03:59:00.897" v="2350" actId="20577"/>
        <pc:sldMkLst>
          <pc:docMk/>
          <pc:sldMk cId="3878715192" sldId="256"/>
        </pc:sldMkLst>
      </pc:sldChg>
      <pc:sldChg chg="modSp">
        <pc:chgData name="Hayato Ishida" userId="585fa0fa6384767c" providerId="LiveId" clId="{56737DEC-A12D-4052-99F9-176D6147A5E3}" dt="2025-05-09T12:48:27.716" v="369"/>
        <pc:sldMkLst>
          <pc:docMk/>
          <pc:sldMk cId="1611154314" sldId="325"/>
        </pc:sldMkLst>
      </pc:sldChg>
      <pc:sldChg chg="modSp">
        <pc:chgData name="Hayato Ishida" userId="585fa0fa6384767c" providerId="LiveId" clId="{56737DEC-A12D-4052-99F9-176D6147A5E3}" dt="2025-05-06T03:36:01.606" v="20"/>
        <pc:sldMkLst>
          <pc:docMk/>
          <pc:sldMk cId="4021934138" sldId="326"/>
        </pc:sldMkLst>
      </pc:sldChg>
      <pc:sldChg chg="modSp">
        <pc:chgData name="Hayato Ishida" userId="585fa0fa6384767c" providerId="LiveId" clId="{56737DEC-A12D-4052-99F9-176D6147A5E3}" dt="2025-05-06T03:36:01.606" v="20"/>
        <pc:sldMkLst>
          <pc:docMk/>
          <pc:sldMk cId="2302870219" sldId="336"/>
        </pc:sldMkLst>
      </pc:sldChg>
      <pc:sldChg chg="modSp">
        <pc:chgData name="Hayato Ishida" userId="585fa0fa6384767c" providerId="LiveId" clId="{56737DEC-A12D-4052-99F9-176D6147A5E3}" dt="2025-05-09T12:48:27.716" v="369"/>
        <pc:sldMkLst>
          <pc:docMk/>
          <pc:sldMk cId="1235012594" sldId="354"/>
        </pc:sldMkLst>
      </pc:sldChg>
      <pc:sldChg chg="modSp">
        <pc:chgData name="Hayato Ishida" userId="585fa0fa6384767c" providerId="LiveId" clId="{56737DEC-A12D-4052-99F9-176D6147A5E3}" dt="2025-05-09T12:48:27.716" v="369"/>
        <pc:sldMkLst>
          <pc:docMk/>
          <pc:sldMk cId="3349711410" sldId="410"/>
        </pc:sldMkLst>
      </pc:sldChg>
      <pc:sldChg chg="modSp mod">
        <pc:chgData name="Hayato Ishida" userId="585fa0fa6384767c" providerId="LiveId" clId="{56737DEC-A12D-4052-99F9-176D6147A5E3}" dt="2025-05-09T12:48:59.162" v="372"/>
        <pc:sldMkLst>
          <pc:docMk/>
          <pc:sldMk cId="576098997" sldId="411"/>
        </pc:sldMkLst>
      </pc:sldChg>
      <pc:sldChg chg="modSp">
        <pc:chgData name="Hayato Ishida" userId="585fa0fa6384767c" providerId="LiveId" clId="{56737DEC-A12D-4052-99F9-176D6147A5E3}" dt="2025-05-09T12:48:27.716" v="369"/>
        <pc:sldMkLst>
          <pc:docMk/>
          <pc:sldMk cId="3465021867" sldId="412"/>
        </pc:sldMkLst>
      </pc:sldChg>
      <pc:sldChg chg="modSp">
        <pc:chgData name="Hayato Ishida" userId="585fa0fa6384767c" providerId="LiveId" clId="{56737DEC-A12D-4052-99F9-176D6147A5E3}" dt="2025-05-09T12:48:27.716" v="369"/>
        <pc:sldMkLst>
          <pc:docMk/>
          <pc:sldMk cId="3384255611" sldId="413"/>
        </pc:sldMkLst>
      </pc:sldChg>
      <pc:sldChg chg="modSp">
        <pc:chgData name="Hayato Ishida" userId="585fa0fa6384767c" providerId="LiveId" clId="{56737DEC-A12D-4052-99F9-176D6147A5E3}" dt="2025-05-09T12:48:27.716" v="369"/>
        <pc:sldMkLst>
          <pc:docMk/>
          <pc:sldMk cId="2586666217" sldId="414"/>
        </pc:sldMkLst>
      </pc:sldChg>
      <pc:sldChg chg="modSp">
        <pc:chgData name="Hayato Ishida" userId="585fa0fa6384767c" providerId="LiveId" clId="{56737DEC-A12D-4052-99F9-176D6147A5E3}" dt="2025-05-09T12:48:27.716" v="369"/>
        <pc:sldMkLst>
          <pc:docMk/>
          <pc:sldMk cId="3597829660" sldId="415"/>
        </pc:sldMkLst>
      </pc:sldChg>
      <pc:sldChg chg="modSp mod">
        <pc:chgData name="Hayato Ishida" userId="585fa0fa6384767c" providerId="LiveId" clId="{56737DEC-A12D-4052-99F9-176D6147A5E3}" dt="2025-05-09T12:48:48.009" v="371" actId="27636"/>
        <pc:sldMkLst>
          <pc:docMk/>
          <pc:sldMk cId="3320955932" sldId="416"/>
        </pc:sldMkLst>
      </pc:sldChg>
      <pc:sldChg chg="modSp">
        <pc:chgData name="Hayato Ishida" userId="585fa0fa6384767c" providerId="LiveId" clId="{56737DEC-A12D-4052-99F9-176D6147A5E3}" dt="2025-05-06T03:36:01.606" v="20"/>
        <pc:sldMkLst>
          <pc:docMk/>
          <pc:sldMk cId="829368001" sldId="417"/>
        </pc:sldMkLst>
      </pc:sldChg>
      <pc:sldChg chg="modSp">
        <pc:chgData name="Hayato Ishida" userId="585fa0fa6384767c" providerId="LiveId" clId="{56737DEC-A12D-4052-99F9-176D6147A5E3}" dt="2025-05-06T03:36:01.606" v="20"/>
        <pc:sldMkLst>
          <pc:docMk/>
          <pc:sldMk cId="4289303656" sldId="418"/>
        </pc:sldMkLst>
      </pc:sldChg>
      <pc:sldChg chg="modSp mod">
        <pc:chgData name="Hayato Ishida" userId="585fa0fa6384767c" providerId="LiveId" clId="{56737DEC-A12D-4052-99F9-176D6147A5E3}" dt="2025-05-14T05:15:01.109" v="1392" actId="114"/>
        <pc:sldMkLst>
          <pc:docMk/>
          <pc:sldMk cId="3557255328" sldId="419"/>
        </pc:sldMkLst>
      </pc:sldChg>
      <pc:sldChg chg="delSp modSp mod">
        <pc:chgData name="Hayato Ishida" userId="585fa0fa6384767c" providerId="LiveId" clId="{56737DEC-A12D-4052-99F9-176D6147A5E3}" dt="2025-05-15T04:00:12.368" v="2398"/>
        <pc:sldMkLst>
          <pc:docMk/>
          <pc:sldMk cId="3216369774" sldId="420"/>
        </pc:sldMkLst>
      </pc:sldChg>
      <pc:sldChg chg="modSp">
        <pc:chgData name="Hayato Ishida" userId="585fa0fa6384767c" providerId="LiveId" clId="{56737DEC-A12D-4052-99F9-176D6147A5E3}" dt="2025-05-09T12:48:27.716" v="369"/>
        <pc:sldMkLst>
          <pc:docMk/>
          <pc:sldMk cId="2197824765" sldId="421"/>
        </pc:sldMkLst>
      </pc:sldChg>
      <pc:sldChg chg="modSp mod">
        <pc:chgData name="Hayato Ishida" userId="585fa0fa6384767c" providerId="LiveId" clId="{56737DEC-A12D-4052-99F9-176D6147A5E3}" dt="2025-05-05T14:01:14.566" v="15" actId="179"/>
        <pc:sldMkLst>
          <pc:docMk/>
          <pc:sldMk cId="4133839959" sldId="423"/>
        </pc:sldMkLst>
      </pc:sldChg>
      <pc:sldChg chg="addSp delSp modSp mod">
        <pc:chgData name="Hayato Ishida" userId="585fa0fa6384767c" providerId="LiveId" clId="{56737DEC-A12D-4052-99F9-176D6147A5E3}" dt="2025-05-14T05:00:45.221" v="976" actId="1076"/>
        <pc:sldMkLst>
          <pc:docMk/>
          <pc:sldMk cId="2513049136" sldId="425"/>
        </pc:sldMkLst>
      </pc:sldChg>
      <pc:sldChg chg="modSp mod">
        <pc:chgData name="Hayato Ishida" userId="585fa0fa6384767c" providerId="LiveId" clId="{56737DEC-A12D-4052-99F9-176D6147A5E3}" dt="2025-05-05T14:01:43.766" v="16"/>
        <pc:sldMkLst>
          <pc:docMk/>
          <pc:sldMk cId="3696088745" sldId="426"/>
        </pc:sldMkLst>
      </pc:sldChg>
      <pc:sldChg chg="addSp delSp modSp add mod">
        <pc:chgData name="Hayato Ishida" userId="585fa0fa6384767c" providerId="LiveId" clId="{56737DEC-A12D-4052-99F9-176D6147A5E3}" dt="2025-05-09T16:04:48.992" v="764"/>
        <pc:sldMkLst>
          <pc:docMk/>
          <pc:sldMk cId="2358728378" sldId="430"/>
        </pc:sldMkLst>
      </pc:sldChg>
      <pc:sldChg chg="add">
        <pc:chgData name="Hayato Ishida" userId="585fa0fa6384767c" providerId="LiveId" clId="{56737DEC-A12D-4052-99F9-176D6147A5E3}" dt="2025-05-14T05:03:26.416" v="977" actId="2890"/>
        <pc:sldMkLst>
          <pc:docMk/>
          <pc:sldMk cId="995418674" sldId="431"/>
        </pc:sldMkLst>
      </pc:sldChg>
    </pc:docChg>
  </pc:docChgLst>
  <pc:docChgLst>
    <pc:chgData name="Hayato Ishida" userId="585fa0fa6384767c" providerId="LiveId" clId="{CDEF4FC3-757D-41F2-A8E8-3BDD3CB8AB00}"/>
    <pc:docChg chg="modSld">
      <pc:chgData name="Hayato Ishida" userId="585fa0fa6384767c" providerId="LiveId" clId="{CDEF4FC3-757D-41F2-A8E8-3BDD3CB8AB00}" dt="2025-06-05T15:25:50.581" v="3" actId="20577"/>
      <pc:docMkLst>
        <pc:docMk/>
      </pc:docMkLst>
      <pc:sldChg chg="modSp mod">
        <pc:chgData name="Hayato Ishida" userId="585fa0fa6384767c" providerId="LiveId" clId="{CDEF4FC3-757D-41F2-A8E8-3BDD3CB8AB00}" dt="2025-06-05T15:25:50.581" v="3" actId="20577"/>
        <pc:sldMkLst>
          <pc:docMk/>
          <pc:sldMk cId="2302870219" sldId="336"/>
        </pc:sldMkLst>
      </pc:sldChg>
    </pc:docChg>
  </pc:docChgLst>
  <pc:docChgLst>
    <pc:chgData name="Hayato Ishida" userId="585fa0fa6384767c" providerId="LiveId" clId="{4A61F316-09B8-49D6-B971-B7AE0261D58A}"/>
    <pc:docChg chg="custSel addSld modSld">
      <pc:chgData name="Hayato Ishida" userId="585fa0fa6384767c" providerId="LiveId" clId="{4A61F316-09B8-49D6-B971-B7AE0261D58A}" dt="2025-08-31T17:46:12.064" v="11"/>
      <pc:docMkLst>
        <pc:docMk/>
      </pc:docMkLst>
      <pc:sldChg chg="addSp delSp modSp mod">
        <pc:chgData name="Hayato Ishida" userId="585fa0fa6384767c" providerId="LiveId" clId="{4A61F316-09B8-49D6-B971-B7AE0261D58A}" dt="2025-08-31T17:46:01.969" v="9"/>
        <pc:sldMkLst>
          <pc:docMk/>
          <pc:sldMk cId="155858466" sldId="286"/>
        </pc:sldMkLst>
        <pc:spChg chg="del">
          <ac:chgData name="Hayato Ishida" userId="585fa0fa6384767c" providerId="LiveId" clId="{4A61F316-09B8-49D6-B971-B7AE0261D58A}" dt="2025-08-31T17:44:21.687" v="3" actId="478"/>
          <ac:spMkLst>
            <pc:docMk/>
            <pc:sldMk cId="155858466" sldId="286"/>
            <ac:spMk id="2" creationId="{B319402C-3B63-AA2F-AC12-D48283C725F0}"/>
          </ac:spMkLst>
        </pc:spChg>
        <pc:spChg chg="add del mod">
          <ac:chgData name="Hayato Ishida" userId="585fa0fa6384767c" providerId="LiveId" clId="{4A61F316-09B8-49D6-B971-B7AE0261D58A}" dt="2025-08-31T17:46:01.593" v="8" actId="478"/>
          <ac:spMkLst>
            <pc:docMk/>
            <pc:sldMk cId="155858466" sldId="286"/>
            <ac:spMk id="4" creationId="{6CD4BD59-7BFC-88BC-6B01-4B8C9D016C19}"/>
          </ac:spMkLst>
        </pc:spChg>
        <pc:spChg chg="add mod">
          <ac:chgData name="Hayato Ishida" userId="585fa0fa6384767c" providerId="LiveId" clId="{4A61F316-09B8-49D6-B971-B7AE0261D58A}" dt="2025-08-31T17:46:01.969" v="9"/>
          <ac:spMkLst>
            <pc:docMk/>
            <pc:sldMk cId="155858466" sldId="286"/>
            <ac:spMk id="5" creationId="{7F64EA7D-C4C0-E9F6-0873-DC278BC694EF}"/>
          </ac:spMkLst>
        </pc:spChg>
        <pc:spChg chg="add mod">
          <ac:chgData name="Hayato Ishida" userId="585fa0fa6384767c" providerId="LiveId" clId="{4A61F316-09B8-49D6-B971-B7AE0261D58A}" dt="2025-08-31T17:46:01.969" v="9"/>
          <ac:spMkLst>
            <pc:docMk/>
            <pc:sldMk cId="155858466" sldId="286"/>
            <ac:spMk id="6" creationId="{24F93058-F7AE-14CB-401B-FA36208D36A9}"/>
          </ac:spMkLst>
        </pc:spChg>
        <pc:spChg chg="del">
          <ac:chgData name="Hayato Ishida" userId="585fa0fa6384767c" providerId="LiveId" clId="{4A61F316-09B8-49D6-B971-B7AE0261D58A}" dt="2025-08-31T17:44:21.687" v="3" actId="478"/>
          <ac:spMkLst>
            <pc:docMk/>
            <pc:sldMk cId="155858466" sldId="286"/>
            <ac:spMk id="7" creationId="{F0480CDE-7D98-D4B4-2240-9E21EF2D4983}"/>
          </ac:spMkLst>
        </pc:spChg>
        <pc:spChg chg="del">
          <ac:chgData name="Hayato Ishida" userId="585fa0fa6384767c" providerId="LiveId" clId="{4A61F316-09B8-49D6-B971-B7AE0261D58A}" dt="2025-08-31T17:44:21.687" v="3" actId="478"/>
          <ac:spMkLst>
            <pc:docMk/>
            <pc:sldMk cId="155858466" sldId="286"/>
            <ac:spMk id="9" creationId="{F2013041-69BA-E410-FB66-147DFC1C90A7}"/>
          </ac:spMkLst>
        </pc:spChg>
        <pc:graphicFrameChg chg="add mod">
          <ac:chgData name="Hayato Ishida" userId="585fa0fa6384767c" providerId="LiveId" clId="{4A61F316-09B8-49D6-B971-B7AE0261D58A}" dt="2025-08-31T17:46:01.969" v="9"/>
          <ac:graphicFrameMkLst>
            <pc:docMk/>
            <pc:sldMk cId="155858466" sldId="286"/>
            <ac:graphicFrameMk id="8" creationId="{D6C94BFA-A26F-0A99-1102-6D4F887AFFFA}"/>
          </ac:graphicFrameMkLst>
        </pc:graphicFrameChg>
      </pc:sldChg>
      <pc:sldChg chg="addSp delSp modSp mod">
        <pc:chgData name="Hayato Ishida" userId="585fa0fa6384767c" providerId="LiveId" clId="{4A61F316-09B8-49D6-B971-B7AE0261D58A}" dt="2025-08-31T17:45:47.611" v="5"/>
        <pc:sldMkLst>
          <pc:docMk/>
          <pc:sldMk cId="654251065" sldId="287"/>
        </pc:sldMkLst>
        <pc:spChg chg="del">
          <ac:chgData name="Hayato Ishida" userId="585fa0fa6384767c" providerId="LiveId" clId="{4A61F316-09B8-49D6-B971-B7AE0261D58A}" dt="2025-08-31T17:44:13.325" v="0" actId="478"/>
          <ac:spMkLst>
            <pc:docMk/>
            <pc:sldMk cId="654251065" sldId="287"/>
            <ac:spMk id="2" creationId="{4D5A0F40-2942-F66D-D1E7-825B72E7FF9A}"/>
          </ac:spMkLst>
        </pc:spChg>
        <pc:spChg chg="add del mod">
          <ac:chgData name="Hayato Ishida" userId="585fa0fa6384767c" providerId="LiveId" clId="{4A61F316-09B8-49D6-B971-B7AE0261D58A}" dt="2025-08-31T17:44:14.044" v="1" actId="478"/>
          <ac:spMkLst>
            <pc:docMk/>
            <pc:sldMk cId="654251065" sldId="287"/>
            <ac:spMk id="4" creationId="{7AE48CD2-B588-6954-084F-7ACA276F0E91}"/>
          </ac:spMkLst>
        </pc:spChg>
        <pc:spChg chg="add del mod">
          <ac:chgData name="Hayato Ishida" userId="585fa0fa6384767c" providerId="LiveId" clId="{4A61F316-09B8-49D6-B971-B7AE0261D58A}" dt="2025-08-31T17:44:14.044" v="1" actId="478"/>
          <ac:spMkLst>
            <pc:docMk/>
            <pc:sldMk cId="654251065" sldId="287"/>
            <ac:spMk id="6" creationId="{2111A700-1EC4-462A-F8C0-C76F58C181AB}"/>
          </ac:spMkLst>
        </pc:spChg>
        <pc:spChg chg="add mod">
          <ac:chgData name="Hayato Ishida" userId="585fa0fa6384767c" providerId="LiveId" clId="{4A61F316-09B8-49D6-B971-B7AE0261D58A}" dt="2025-08-31T17:45:47.611" v="5"/>
          <ac:spMkLst>
            <pc:docMk/>
            <pc:sldMk cId="654251065" sldId="287"/>
            <ac:spMk id="7" creationId="{EF8DDC95-423C-D774-7A74-24D3696D82D7}"/>
          </ac:spMkLst>
        </pc:spChg>
        <pc:spChg chg="add mod">
          <ac:chgData name="Hayato Ishida" userId="585fa0fa6384767c" providerId="LiveId" clId="{4A61F316-09B8-49D6-B971-B7AE0261D58A}" dt="2025-08-31T17:45:47.611" v="5"/>
          <ac:spMkLst>
            <pc:docMk/>
            <pc:sldMk cId="654251065" sldId="287"/>
            <ac:spMk id="8" creationId="{2E3B2B3D-ADB4-D9CA-F0AF-B5821FF9601C}"/>
          </ac:spMkLst>
        </pc:spChg>
        <pc:spChg chg="del">
          <ac:chgData name="Hayato Ishida" userId="585fa0fa6384767c" providerId="LiveId" clId="{4A61F316-09B8-49D6-B971-B7AE0261D58A}" dt="2025-08-31T17:44:13.325" v="0" actId="478"/>
          <ac:spMkLst>
            <pc:docMk/>
            <pc:sldMk cId="654251065" sldId="287"/>
            <ac:spMk id="9" creationId="{914AF044-695E-2F25-C64A-12A1BE343B72}"/>
          </ac:spMkLst>
        </pc:spChg>
        <pc:spChg chg="del">
          <ac:chgData name="Hayato Ishida" userId="585fa0fa6384767c" providerId="LiveId" clId="{4A61F316-09B8-49D6-B971-B7AE0261D58A}" dt="2025-08-31T17:44:13.325" v="0" actId="478"/>
          <ac:spMkLst>
            <pc:docMk/>
            <pc:sldMk cId="654251065" sldId="287"/>
            <ac:spMk id="10" creationId="{2A2059C5-ACDA-1C1B-F5F0-32EECA06B900}"/>
          </ac:spMkLst>
        </pc:spChg>
        <pc:spChg chg="add mod">
          <ac:chgData name="Hayato Ishida" userId="585fa0fa6384767c" providerId="LiveId" clId="{4A61F316-09B8-49D6-B971-B7AE0261D58A}" dt="2025-08-31T17:45:47.611" v="5"/>
          <ac:spMkLst>
            <pc:docMk/>
            <pc:sldMk cId="654251065" sldId="287"/>
            <ac:spMk id="13" creationId="{FAAF5EC7-8973-8F0E-E9A2-F86B6C203F3C}"/>
          </ac:spMkLst>
        </pc:spChg>
        <pc:picChg chg="add mod">
          <ac:chgData name="Hayato Ishida" userId="585fa0fa6384767c" providerId="LiveId" clId="{4A61F316-09B8-49D6-B971-B7AE0261D58A}" dt="2025-08-31T17:45:47.611" v="5"/>
          <ac:picMkLst>
            <pc:docMk/>
            <pc:sldMk cId="654251065" sldId="287"/>
            <ac:picMk id="11" creationId="{94C59EBF-72DF-7BF2-84E3-1D57CF29BB35}"/>
          </ac:picMkLst>
        </pc:picChg>
        <pc:picChg chg="del">
          <ac:chgData name="Hayato Ishida" userId="585fa0fa6384767c" providerId="LiveId" clId="{4A61F316-09B8-49D6-B971-B7AE0261D58A}" dt="2025-08-31T17:44:13.325" v="0" actId="478"/>
          <ac:picMkLst>
            <pc:docMk/>
            <pc:sldMk cId="654251065" sldId="287"/>
            <ac:picMk id="12" creationId="{1680E641-79CB-E466-84A4-38DDA76F8BAD}"/>
          </ac:picMkLst>
        </pc:picChg>
      </pc:sldChg>
      <pc:sldChg chg="addSp delSp modSp mod">
        <pc:chgData name="Hayato Ishida" userId="585fa0fa6384767c" providerId="LiveId" clId="{4A61F316-09B8-49D6-B971-B7AE0261D58A}" dt="2025-08-31T17:45:55.528" v="7"/>
        <pc:sldMkLst>
          <pc:docMk/>
          <pc:sldMk cId="417452178" sldId="387"/>
        </pc:sldMkLst>
        <pc:spChg chg="del">
          <ac:chgData name="Hayato Ishida" userId="585fa0fa6384767c" providerId="LiveId" clId="{4A61F316-09B8-49D6-B971-B7AE0261D58A}" dt="2025-08-31T17:44:17.357" v="2" actId="478"/>
          <ac:spMkLst>
            <pc:docMk/>
            <pc:sldMk cId="417452178" sldId="387"/>
            <ac:spMk id="2" creationId="{4B19C3D2-B4FD-8C42-DE9D-95510AA53B5C}"/>
          </ac:spMkLst>
        </pc:spChg>
        <pc:spChg chg="add del mod">
          <ac:chgData name="Hayato Ishida" userId="585fa0fa6384767c" providerId="LiveId" clId="{4A61F316-09B8-49D6-B971-B7AE0261D58A}" dt="2025-08-31T17:45:54.771" v="6" actId="478"/>
          <ac:spMkLst>
            <pc:docMk/>
            <pc:sldMk cId="417452178" sldId="387"/>
            <ac:spMk id="4" creationId="{05F1F65E-16A2-DCA4-FDA1-2166AB5A1864}"/>
          </ac:spMkLst>
        </pc:spChg>
        <pc:spChg chg="del">
          <ac:chgData name="Hayato Ishida" userId="585fa0fa6384767c" providerId="LiveId" clId="{4A61F316-09B8-49D6-B971-B7AE0261D58A}" dt="2025-08-31T17:44:17.357" v="2" actId="478"/>
          <ac:spMkLst>
            <pc:docMk/>
            <pc:sldMk cId="417452178" sldId="387"/>
            <ac:spMk id="6" creationId="{4CC4D21A-B798-902A-AD2F-CCEF45BA0CC8}"/>
          </ac:spMkLst>
        </pc:spChg>
        <pc:spChg chg="del">
          <ac:chgData name="Hayato Ishida" userId="585fa0fa6384767c" providerId="LiveId" clId="{4A61F316-09B8-49D6-B971-B7AE0261D58A}" dt="2025-08-31T17:44:17.357" v="2" actId="478"/>
          <ac:spMkLst>
            <pc:docMk/>
            <pc:sldMk cId="417452178" sldId="387"/>
            <ac:spMk id="7" creationId="{F4EECFEB-CDB9-69A5-6CEA-9BCBE6B4DFDF}"/>
          </ac:spMkLst>
        </pc:spChg>
        <pc:spChg chg="add del mod">
          <ac:chgData name="Hayato Ishida" userId="585fa0fa6384767c" providerId="LiveId" clId="{4A61F316-09B8-49D6-B971-B7AE0261D58A}" dt="2025-08-31T17:45:54.771" v="6" actId="478"/>
          <ac:spMkLst>
            <pc:docMk/>
            <pc:sldMk cId="417452178" sldId="387"/>
            <ac:spMk id="8" creationId="{5629E800-A93C-5319-2712-EF0220E65471}"/>
          </ac:spMkLst>
        </pc:spChg>
        <pc:spChg chg="add mod">
          <ac:chgData name="Hayato Ishida" userId="585fa0fa6384767c" providerId="LiveId" clId="{4A61F316-09B8-49D6-B971-B7AE0261D58A}" dt="2025-08-31T17:45:55.528" v="7"/>
          <ac:spMkLst>
            <pc:docMk/>
            <pc:sldMk cId="417452178" sldId="387"/>
            <ac:spMk id="9" creationId="{F004D146-7534-1CC3-0BB7-0E2DD52AE55A}"/>
          </ac:spMkLst>
        </pc:spChg>
        <pc:spChg chg="add mod">
          <ac:chgData name="Hayato Ishida" userId="585fa0fa6384767c" providerId="LiveId" clId="{4A61F316-09B8-49D6-B971-B7AE0261D58A}" dt="2025-08-31T17:45:55.528" v="7"/>
          <ac:spMkLst>
            <pc:docMk/>
            <pc:sldMk cId="417452178" sldId="387"/>
            <ac:spMk id="10" creationId="{768DF413-8EB2-1804-BE51-F38CA28FD370}"/>
          </ac:spMkLst>
        </pc:spChg>
        <pc:spChg chg="add mod">
          <ac:chgData name="Hayato Ishida" userId="585fa0fa6384767c" providerId="LiveId" clId="{4A61F316-09B8-49D6-B971-B7AE0261D58A}" dt="2025-08-31T17:45:55.528" v="7"/>
          <ac:spMkLst>
            <pc:docMk/>
            <pc:sldMk cId="417452178" sldId="387"/>
            <ac:spMk id="11" creationId="{A5A55E8A-F680-8169-6645-370BC82FFD0F}"/>
          </ac:spMkLst>
        </pc:spChg>
      </pc:sldChg>
      <pc:sldChg chg="addSp delSp modSp add mod">
        <pc:chgData name="Hayato Ishida" userId="585fa0fa6384767c" providerId="LiveId" clId="{4A61F316-09B8-49D6-B971-B7AE0261D58A}" dt="2025-08-31T17:46:12.064" v="11"/>
        <pc:sldMkLst>
          <pc:docMk/>
          <pc:sldMk cId="1893285782" sldId="432"/>
        </pc:sldMkLst>
        <pc:spChg chg="add mod">
          <ac:chgData name="Hayato Ishida" userId="585fa0fa6384767c" providerId="LiveId" clId="{4A61F316-09B8-49D6-B971-B7AE0261D58A}" dt="2025-08-31T17:46:12.064" v="11"/>
          <ac:spMkLst>
            <pc:docMk/>
            <pc:sldMk cId="1893285782" sldId="432"/>
            <ac:spMk id="2" creationId="{BEEFD23A-B8E7-CC02-6C97-81B1020AADDC}"/>
          </ac:spMkLst>
        </pc:spChg>
        <pc:spChg chg="add mod">
          <ac:chgData name="Hayato Ishida" userId="585fa0fa6384767c" providerId="LiveId" clId="{4A61F316-09B8-49D6-B971-B7AE0261D58A}" dt="2025-08-31T17:46:12.064" v="11"/>
          <ac:spMkLst>
            <pc:docMk/>
            <pc:sldMk cId="1893285782" sldId="432"/>
            <ac:spMk id="3" creationId="{AF5F2B7E-559D-6DDA-65FA-9F32CC58A5CE}"/>
          </ac:spMkLst>
        </pc:spChg>
        <pc:spChg chg="del">
          <ac:chgData name="Hayato Ishida" userId="585fa0fa6384767c" providerId="LiveId" clId="{4A61F316-09B8-49D6-B971-B7AE0261D58A}" dt="2025-08-31T17:46:11.759" v="10" actId="478"/>
          <ac:spMkLst>
            <pc:docMk/>
            <pc:sldMk cId="1893285782" sldId="432"/>
            <ac:spMk id="4" creationId="{21F56A6F-9409-64F7-EB1E-E9BF68A9FC0B}"/>
          </ac:spMkLst>
        </pc:spChg>
        <pc:graphicFrameChg chg="add mod">
          <ac:chgData name="Hayato Ishida" userId="585fa0fa6384767c" providerId="LiveId" clId="{4A61F316-09B8-49D6-B971-B7AE0261D58A}" dt="2025-08-31T17:46:12.064" v="11"/>
          <ac:graphicFrameMkLst>
            <pc:docMk/>
            <pc:sldMk cId="1893285782" sldId="432"/>
            <ac:graphicFrameMk id="5" creationId="{33941954-8602-B261-9781-677F258C83A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C0D4FFC1-860B-4EA5-8C8B-781E6F9B2EB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C530A0D7-3FB2-4954-8095-6DA3DB894CD8}"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95C7AC8D-CC31-494B-B60C-3E6028A9BC0E}"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2E00BADF-6C8A-4D0C-B8CC-3CE243760869}"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D6A915B-B778-4058-9990-8AFA0ED9C176}"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81FA6988-D269-441A-BE09-3A08C8477828}"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A1D5DBC1-9EF1-4EB3-A4AC-EA00817A2212}"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615D8BA1-5EB5-45B6-82F4-04DD7D546641}"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3730CE62-5905-4C0B-BD2A-43A35FA06526}"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6B8E3507-0B7A-4514-B3C2-4E12635F6FF5}"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BB295565-C1D1-4947-BBF9-383F6ABBC91D}"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978774-2810-4490-801D-833D2707ED54}"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docswell.com/s/hayat01sh1da/KJ4PWJ-road-to-ruby-for-a-linguistics-nerd"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docswell.com/user/hayat01sh1da" TargetMode="External"/><Relationship Id="rId3" Type="http://schemas.openxmlformats.org/officeDocument/2006/relationships/image" Target="../media/image2.jpg"/><Relationship Id="rId7" Type="http://schemas.openxmlformats.org/officeDocument/2006/relationships/hyperlink" Target="https://speakerdeck.com/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linkedin.com/in/hayat01sh1da/" TargetMode="External"/><Relationship Id="rId5" Type="http://schemas.openxmlformats.org/officeDocument/2006/relationships/hyperlink" Target="https://hackmd.io/@hayat01sh1da" TargetMode="External"/><Relationship Id="rId4" Type="http://schemas.openxmlformats.org/officeDocument/2006/relationships/hyperlink" Target="https://github.com/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x.com/a_matsuda/status/1918612709169672210"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7" Type="http://schemas.openxmlformats.org/officeDocument/2006/relationships/slide" Target="slide34.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32.xml"/><Relationship Id="rId5" Type="http://schemas.openxmlformats.org/officeDocument/2006/relationships/slide" Target="slide24.xml"/><Relationship Id="rId4" Type="http://schemas.openxmlformats.org/officeDocument/2006/relationships/slide" Target="slide14.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rubykaigi.org/2025/presentations/ydah_"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hyperlink" Target="https://x.com/ydah_"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5.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6.xml"/><Relationship Id="rId5" Type="http://schemas.openxmlformats.org/officeDocument/2006/relationships/image" Target="../media/image8.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themeOverride" Target="../theme/themeOverride8.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8" Type="http://schemas.openxmlformats.org/officeDocument/2006/relationships/hyperlink" Target="https://www.momoyama-usagi.com/entry/info-calc-sys10" TargetMode="External"/><Relationship Id="rId13" Type="http://schemas.openxmlformats.org/officeDocument/2006/relationships/hyperlink" Target="https://docs.google.com/presentation/d/1oFvP4W3Ox8uiGXsWa3ibyDga1cpLguVZhwCjpD46hFU/mobilepresent?slide=id.g112e5bc9415_0_27" TargetMode="External"/><Relationship Id="rId3" Type="http://schemas.openxmlformats.org/officeDocument/2006/relationships/image" Target="../media/image1.jpg"/><Relationship Id="rId7" Type="http://schemas.openxmlformats.org/officeDocument/2006/relationships/hyperlink" Target="https://swkagami.hatenablog.com/entry/comput_02mips" TargetMode="External"/><Relationship Id="rId12" Type="http://schemas.openxmlformats.org/officeDocument/2006/relationships/hyperlink" Target="https://ydah.hatenablog.com/entry/2025/04/27/090000" TargetMode="External"/><Relationship Id="rId2" Type="http://schemas.openxmlformats.org/officeDocument/2006/relationships/slideLayout" Target="../slideLayouts/slideLayout2.xml"/><Relationship Id="rId1" Type="http://schemas.openxmlformats.org/officeDocument/2006/relationships/themeOverride" Target="../theme/themeOverride9.xml"/><Relationship Id="rId6" Type="http://schemas.openxmlformats.org/officeDocument/2006/relationships/hyperlink" Target="https://www.sigbus.info/compilerbook" TargetMode="External"/><Relationship Id="rId11" Type="http://schemas.openxmlformats.org/officeDocument/2006/relationships/hyperlink" Target="https://ydah.hatenablog.com/entry/2025/04/24/230000" TargetMode="External"/><Relationship Id="rId5" Type="http://schemas.openxmlformats.org/officeDocument/2006/relationships/hyperlink" Target="https://staff.polito.it/silvano.rivoira/LingTrad/ParsingTechniques/ParsingTechniques.pdf" TargetMode="External"/><Relationship Id="rId15" Type="http://schemas.openxmlformats.org/officeDocument/2006/relationships/hyperlink" Target="https://speakerdeck.com/junk0612/comparing-ll-and-lr-parse-algorithm-ex-edition" TargetMode="External"/><Relationship Id="rId10" Type="http://schemas.openxmlformats.org/officeDocument/2006/relationships/hyperlink" Target="https://yui-knk.hatenablog.com/entry/2023/12/06/082203" TargetMode="External"/><Relationship Id="rId4" Type="http://schemas.openxmlformats.org/officeDocument/2006/relationships/hyperlink" Target="https://llvm.org/docs/LangRef.html" TargetMode="External"/><Relationship Id="rId9" Type="http://schemas.openxmlformats.org/officeDocument/2006/relationships/hyperlink" Target="https://www.momoyama-usagi.com/entry/info-calc-sys11" TargetMode="External"/><Relationship Id="rId14" Type="http://schemas.openxmlformats.org/officeDocument/2006/relationships/hyperlink" Target="https://speakerdeck.com/coe401_/tanosiirubynogou-wen-jie-xi-tua"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hyperlink" Target="https://www.lambdanote.com/products/ruby-ruby" TargetMode="External"/><Relationship Id="rId2" Type="http://schemas.openxmlformats.org/officeDocument/2006/relationships/slideLayout" Target="../slideLayouts/slideLayout2.xml"/><Relationship Id="rId1" Type="http://schemas.openxmlformats.org/officeDocument/2006/relationships/themeOverride" Target="../theme/themeOverride10.xml"/><Relationship Id="rId6" Type="http://schemas.openxmlformats.org/officeDocument/2006/relationships/hyperlink" Target="https://github.com/hayat01sh1da/lr-parser-101" TargetMode="External"/><Relationship Id="rId5" Type="http://schemas.openxmlformats.org/officeDocument/2006/relationships/hyperlink" Target="https://github.com/hayat01sh1da/9cc" TargetMode="External"/><Relationship Id="rId4" Type="http://schemas.openxmlformats.org/officeDocument/2006/relationships/hyperlink" Target="https://blog.agile.esm.co.jp/entry/minruby-compiler"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shikumirb.connpass.com/" TargetMode="External"/><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twitter.com/utsubo1024" TargetMode="External"/><Relationship Id="rId4" Type="http://schemas.openxmlformats.org/officeDocument/2006/relationships/hyperlink" Target="http://twitter.com/hashimoto_kei_"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speakerdeck.com/hayat01sh1da/life-and-death-natural-languages-vs-programming-languages?slide=9"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hyperlink" Target="https://speakerdeck.com/hayat01sh1da/recommendation-of-comparative-linguistics-ruby-vs-python?slide=28"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andpad.connpass.com/event/347970/"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www.perl.com/pub/2003/06/25/perl6essentials.html/#linguistic-and-cognitive-considerations"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97-things-every-x-should-know.gitbook.io/97-things-every-programmer-should-know/en" TargetMode="External"/><Relationship Id="rId3" Type="http://schemas.openxmlformats.org/officeDocument/2006/relationships/hyperlink" Target="https://speakerdeck.com/hayat01sh1da/recommendation-of-comparative-linguistics-ruby-vs-python?slide=28" TargetMode="External"/><Relationship Id="rId7" Type="http://schemas.openxmlformats.org/officeDocument/2006/relationships/hyperlink" Target="https://&#12503;&#12525;&#12464;&#12521;&#12510;&#12364;&#30693;&#12427;&#12409;&#12365;97&#12398;&#12371;&#12392;.com/"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12503;&#12525;&#12464;&#12521;&#12510;&#12364;&#30693;&#12427;&#12409;&#12365;97&#12398;&#12371;&#12392;.com/&#12456;&#12483;&#12475;&#12452;/&#21517;&#21069;&#37325;&#35201;/" TargetMode="External"/><Relationship Id="rId5" Type="http://schemas.openxmlformats.org/officeDocument/2006/relationships/hyperlink" Target="https://apidock.com/ruby/Enumerable/map" TargetMode="External"/><Relationship Id="rId4" Type="http://schemas.openxmlformats.org/officeDocument/2006/relationships/hyperlink" Target="https://apidock.com/ruby/Enumerable/collect" TargetMode="External"/></Relationships>
</file>

<file path=ppt/slides/_rels/slide28.xml.rels><?xml version="1.0" encoding="UTF-8" standalone="yes"?>
<Relationships xmlns="http://schemas.openxmlformats.org/package/2006/relationships"><Relationship Id="rId3" Type="http://schemas.openxmlformats.org/officeDocument/2006/relationships/hyperlink" Target="https://apidock.com/ruby/Object/yield_self" TargetMode="External"/><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hyperlink" Target="https://apidock.com/ruby/Object/then"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apidock.com/ruby/Enumerable/sort"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hyperlink" Target="https://github.com/ruby/ruby/blob/5b1a61e29cb0773e2d8e8e40269dad1d972f348f/enum.c#L1386-L1389" TargetMode="External"/><Relationship Id="rId4" Type="http://schemas.openxmlformats.org/officeDocument/2006/relationships/hyperlink" Target="https://github.com/ruby/ruby/blob/5b1a61e29cb0773e2d8e8e40269dad1d972f348f/array.c#L3451"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rubykaigi.org/2025/schedule/" TargetMode="External"/><Relationship Id="rId7" Type="http://schemas.openxmlformats.org/officeDocument/2006/relationships/hyperlink" Target="https://swkagami.hatenablog.com/entry/comput_02mips"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www.sigbus.info/compilerbook" TargetMode="External"/><Relationship Id="rId5" Type="http://schemas.openxmlformats.org/officeDocument/2006/relationships/hyperlink" Target="https://staff.polito.it/silvano.rivoira/LingTrad/ParsingTechniques/ParsingTechniques.pdf" TargetMode="External"/><Relationship Id="rId4" Type="http://schemas.openxmlformats.org/officeDocument/2006/relationships/hyperlink" Target="https://llvm.org/docs/LangRef.html"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momoyama-usagi.com/entry/info-calc-sys10" TargetMode="External"/><Relationship Id="rId7" Type="http://schemas.openxmlformats.org/officeDocument/2006/relationships/hyperlink" Target="https://ydah.hatenablog.com/entry/2025/04/27/090000"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ydah.hatenablog.com/entry/2025/04/24/230000" TargetMode="External"/><Relationship Id="rId5" Type="http://schemas.openxmlformats.org/officeDocument/2006/relationships/hyperlink" Target="https://yui-knk.hatenablog.com/entry/2023/12/06/082203" TargetMode="External"/><Relationship Id="rId4" Type="http://schemas.openxmlformats.org/officeDocument/2006/relationships/hyperlink" Target="https://www.momoyama-usagi.com/entry/info-calc-sys11" TargetMode="External"/></Relationships>
</file>

<file path=ppt/slides/_rels/slide37.xml.rels><?xml version="1.0" encoding="UTF-8" standalone="yes"?>
<Relationships xmlns="http://schemas.openxmlformats.org/package/2006/relationships"><Relationship Id="rId8" Type="http://schemas.openxmlformats.org/officeDocument/2006/relationships/hyperlink" Target="https://github.com/hayat01sh1da/lr-parser-101" TargetMode="External"/><Relationship Id="rId3" Type="http://schemas.openxmlformats.org/officeDocument/2006/relationships/hyperlink" Target="https://docs.google.com/presentation/d/1oFvP4W3Ox8uiGXsWa3ibyDga1cpLguVZhwCjpD46hFU/mobilepresent?slide=id.g112e5bc9415_0_27" TargetMode="External"/><Relationship Id="rId7" Type="http://schemas.openxmlformats.org/officeDocument/2006/relationships/hyperlink" Target="https://yui-knk.hatenablog.com/entry/2023/12/06/082203"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github.com/hayat01sh1da/9cc" TargetMode="External"/><Relationship Id="rId5" Type="http://schemas.openxmlformats.org/officeDocument/2006/relationships/hyperlink" Target="https://speakerdeck.com/junk0612/comparing-ll-and-lr-parse-algorithm-ex-edition" TargetMode="External"/><Relationship Id="rId4" Type="http://schemas.openxmlformats.org/officeDocument/2006/relationships/hyperlink" Target="https://speakerdeck.com/coe401_/tanosiirubynogou-wen-jie-xi-tua"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www.lambdanote.com/products/ruby-ruby" TargetMode="External"/><Relationship Id="rId7" Type="http://schemas.openxmlformats.org/officeDocument/2006/relationships/hyperlink" Target="https://&#12503;&#12525;&#12464;&#12521;&#12510;&#12364;&#30693;&#12427;&#12409;&#12365;97&#12398;&#12371;&#12392;.com/&#12456;&#12483;&#12475;&#12452;/&#21517;&#21069;&#37325;&#35201;/"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97-things-every-x-should-know.gitbook.io/97-things-every-programmer-should-know/en" TargetMode="External"/><Relationship Id="rId5" Type="http://schemas.openxmlformats.org/officeDocument/2006/relationships/hyperlink" Target="https://apidock.com/ruby/Object/then" TargetMode="External"/><Relationship Id="rId4" Type="http://schemas.openxmlformats.org/officeDocument/2006/relationships/hyperlink" Target="https://apidock.com/ruby"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en-GB" altLang="ja-JP" sz="5400" b="1" dirty="0">
                <a:effectLst>
                  <a:outerShdw blurRad="38100" dist="38100" dir="2700000" algn="tl">
                    <a:srgbClr val="000000">
                      <a:alpha val="43137"/>
                    </a:srgbClr>
                  </a:outerShdw>
                </a:effectLst>
                <a:latin typeface="+mn-lt"/>
              </a:rPr>
              <a:t>Road to Ruby for</a:t>
            </a:r>
            <a:br>
              <a:rPr lang="en-GB" altLang="ja-JP" sz="5400" b="1" dirty="0">
                <a:effectLst>
                  <a:outerShdw blurRad="38100" dist="38100" dir="2700000" algn="tl">
                    <a:srgbClr val="000000">
                      <a:alpha val="43137"/>
                    </a:srgbClr>
                  </a:outerShdw>
                </a:effectLst>
                <a:latin typeface="+mn-lt"/>
              </a:rPr>
            </a:br>
            <a:r>
              <a:rPr lang="en-GB" altLang="ja-JP" sz="5400" b="1" dirty="0">
                <a:effectLst>
                  <a:outerShdw blurRad="38100" dist="38100" dir="2700000" algn="tl">
                    <a:srgbClr val="000000">
                      <a:alpha val="43137"/>
                    </a:srgbClr>
                  </a:outerShdw>
                </a:effectLst>
                <a:latin typeface="+mn-lt"/>
              </a:rPr>
              <a:t>A Linguistics Nerd</a:t>
            </a:r>
            <a:endParaRPr lang="en-GB" sz="5400" b="1" dirty="0">
              <a:effectLst>
                <a:outerShdw blurRad="38100" dist="38100" dir="2700000" algn="tl">
                  <a:srgbClr val="000000">
                    <a:alpha val="43137"/>
                  </a:srgbClr>
                </a:outerShdw>
              </a:effectLst>
            </a:endParaRPr>
          </a:p>
        </p:txBody>
      </p:sp>
      <p:sp>
        <p:nvSpPr>
          <p:cNvPr id="8" name="字幕 2">
            <a:extLst>
              <a:ext uri="{FF2B5EF4-FFF2-40B4-BE49-F238E27FC236}">
                <a16:creationId xmlns:a16="http://schemas.microsoft.com/office/drawing/2014/main" id="{9337A176-5377-6F93-8925-178F6FF51FB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en-US" sz="3200" b="1" dirty="0"/>
              <a:t>Composed By: Hayato Ishida</a:t>
            </a:r>
            <a:endParaRPr lang="en-GB" sz="3200" b="1" dirty="0"/>
          </a:p>
        </p:txBody>
      </p:sp>
      <p:sp>
        <p:nvSpPr>
          <p:cNvPr id="9" name="字幕 2">
            <a:extLst>
              <a:ext uri="{FF2B5EF4-FFF2-40B4-BE49-F238E27FC236}">
                <a16:creationId xmlns:a16="http://schemas.microsoft.com/office/drawing/2014/main" id="{8C64EA4D-6C48-3445-A5F5-B43711FB5137}"/>
              </a:ext>
            </a:extLst>
          </p:cNvPr>
          <p:cNvSpPr txBox="1">
            <a:spLocks/>
          </p:cNvSpPr>
          <p:nvPr/>
        </p:nvSpPr>
        <p:spPr>
          <a:xfrm>
            <a:off x="6976843" y="5445970"/>
            <a:ext cx="3638027"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GB" altLang="ja-JP" sz="2000" b="1" dirty="0"/>
              <a:t>Updated</a:t>
            </a:r>
            <a:r>
              <a:rPr lang="ja-JP" altLang="en-US" sz="2000" b="1" dirty="0"/>
              <a:t> </a:t>
            </a:r>
            <a:r>
              <a:rPr lang="en-GB" altLang="ja-JP" sz="2000" b="1" dirty="0"/>
              <a:t>On: 15 May 2025</a:t>
            </a:r>
            <a:endParaRPr lang="en-GB" sz="2000" b="1" dirty="0"/>
          </a:p>
        </p:txBody>
      </p:sp>
      <p:sp>
        <p:nvSpPr>
          <p:cNvPr id="2" name="字幕 2">
            <a:extLst>
              <a:ext uri="{FF2B5EF4-FFF2-40B4-BE49-F238E27FC236}">
                <a16:creationId xmlns:a16="http://schemas.microsoft.com/office/drawing/2014/main" id="{A8D39094-BFD9-D223-966F-5E3F039BCE75}"/>
              </a:ext>
            </a:extLst>
          </p:cNvPr>
          <p:cNvSpPr txBox="1">
            <a:spLocks/>
          </p:cNvSpPr>
          <p:nvPr/>
        </p:nvSpPr>
        <p:spPr>
          <a:xfrm>
            <a:off x="1470871" y="5440495"/>
            <a:ext cx="3457662"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GB" altLang="ja-JP" sz="2000" dirty="0"/>
              <a:t>For Japanese version, click </a:t>
            </a:r>
            <a:r>
              <a:rPr lang="en-GB" altLang="ja-JP" sz="2000" dirty="0">
                <a:hlinkClick r:id="rId3"/>
              </a:rPr>
              <a:t>here</a:t>
            </a:r>
            <a:endParaRPr lang="en-GB" sz="2000" dirty="0"/>
          </a:p>
        </p:txBody>
      </p:sp>
      <p:sp>
        <p:nvSpPr>
          <p:cNvPr id="3" name="Slide Number Placeholder 2">
            <a:extLst>
              <a:ext uri="{FF2B5EF4-FFF2-40B4-BE49-F238E27FC236}">
                <a16:creationId xmlns:a16="http://schemas.microsoft.com/office/drawing/2014/main" id="{6D0E1BB4-0193-0ECB-AE9C-02D0B937559E}"/>
              </a:ext>
            </a:extLst>
          </p:cNvPr>
          <p:cNvSpPr>
            <a:spLocks noGrp="1"/>
          </p:cNvSpPr>
          <p:nvPr>
            <p:ph type="sldNum" sz="quarter" idx="12"/>
          </p:nvPr>
        </p:nvSpPr>
        <p:spPr/>
        <p:txBody>
          <a:bodyPr/>
          <a:lstStyle/>
          <a:p>
            <a:fld id="{CC8B731A-DCF7-4273-BA1A-21517ACBB5E5}" type="slidenum">
              <a:rPr lang="en-GB" smtClean="0"/>
              <a:t>1</a:t>
            </a:fld>
            <a:endParaRPr lang="en-GB"/>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EF8DDC95-423C-D774-7A74-24D3696D82D7}"/>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About Me</a:t>
            </a:r>
            <a:endParaRPr lang="en-GB" b="1" dirty="0">
              <a:latin typeface="Calibri (Headings)"/>
            </a:endParaRPr>
          </a:p>
        </p:txBody>
      </p:sp>
      <p:sp>
        <p:nvSpPr>
          <p:cNvPr id="8" name="スライド番号プレースホルダー 3">
            <a:extLst>
              <a:ext uri="{FF2B5EF4-FFF2-40B4-BE49-F238E27FC236}">
                <a16:creationId xmlns:a16="http://schemas.microsoft.com/office/drawing/2014/main" id="{2E3B2B3D-ADB4-D9CA-F0AF-B5821FF9601C}"/>
              </a:ext>
            </a:extLst>
          </p:cNvPr>
          <p:cNvSpPr>
            <a:spLocks noGrp="1"/>
          </p:cNvSpPr>
          <p:nvPr>
            <p:ph type="sldNum" sz="quarter" idx="12"/>
          </p:nvPr>
        </p:nvSpPr>
        <p:spPr>
          <a:xfrm>
            <a:off x="8610600" y="6356350"/>
            <a:ext cx="2743200" cy="365125"/>
          </a:xfrm>
        </p:spPr>
        <p:txBody>
          <a:bodyPr/>
          <a:lstStyle/>
          <a:p>
            <a:fld id="{CC8B731A-DCF7-4273-BA1A-21517ACBB5E5}" type="slidenum">
              <a:rPr lang="en-GB" smtClean="0"/>
              <a:t>2</a:t>
            </a:fld>
            <a:endParaRPr lang="en-GB"/>
          </a:p>
        </p:txBody>
      </p:sp>
      <p:pic>
        <p:nvPicPr>
          <p:cNvPr id="11" name="Picture 10">
            <a:extLst>
              <a:ext uri="{FF2B5EF4-FFF2-40B4-BE49-F238E27FC236}">
                <a16:creationId xmlns:a16="http://schemas.microsoft.com/office/drawing/2014/main" id="{94C59EBF-72DF-7BF2-84E3-1D57CF29BB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
        <p:nvSpPr>
          <p:cNvPr id="13" name="コンテンツ プレースホルダー 2">
            <a:extLst>
              <a:ext uri="{FF2B5EF4-FFF2-40B4-BE49-F238E27FC236}">
                <a16:creationId xmlns:a16="http://schemas.microsoft.com/office/drawing/2014/main" id="{FAAF5EC7-8973-8F0E-E9A2-F86B6C203F3C}"/>
              </a:ext>
            </a:extLst>
          </p:cNvPr>
          <p:cNvSpPr>
            <a:spLocks noGrp="1"/>
          </p:cNvSpPr>
          <p:nvPr>
            <p:ph idx="1"/>
          </p:nvPr>
        </p:nvSpPr>
        <p:spPr>
          <a:xfrm>
            <a:off x="838200" y="1825625"/>
            <a:ext cx="10515600" cy="4351338"/>
          </a:xfrm>
        </p:spPr>
        <p:txBody>
          <a:bodyPr>
            <a:normAutofit lnSpcReduction="10000"/>
          </a:bodyPr>
          <a:lstStyle/>
          <a:p>
            <a:pPr marL="268288" indent="-268288"/>
            <a:r>
              <a:rPr lang="en-GB" altLang="ja-JP" sz="2400" dirty="0"/>
              <a:t>Accounts</a:t>
            </a:r>
          </a:p>
          <a:p>
            <a:pPr marL="725488" lvl="1" indent="-268288"/>
            <a:r>
              <a:rPr lang="en-US" altLang="ja-JP" sz="2000" dirty="0"/>
              <a:t>GitHub: </a:t>
            </a:r>
            <a:r>
              <a:rPr lang="en-US" altLang="ja-JP" sz="2000" dirty="0">
                <a:hlinkClick r:id="rId4"/>
              </a:rPr>
              <a:t>@hayat01sh1da</a:t>
            </a:r>
            <a:endParaRPr lang="en-US" altLang="ja-JP" sz="2000" dirty="0"/>
          </a:p>
          <a:p>
            <a:pPr marL="725488" lvl="1" indent="-268288"/>
            <a:r>
              <a:rPr lang="en-US" altLang="ja-JP" sz="2000" dirty="0"/>
              <a:t>X: </a:t>
            </a:r>
            <a:r>
              <a:rPr lang="en-US" altLang="ja-JP" sz="2000" dirty="0">
                <a:hlinkClick r:id="rId5"/>
              </a:rPr>
              <a:t>@hayat01sh1da</a:t>
            </a:r>
            <a:endParaRPr lang="en-GB" altLang="ja-JP" sz="2000" dirty="0"/>
          </a:p>
          <a:p>
            <a:pPr marL="725488" lvl="1" indent="-268288"/>
            <a:r>
              <a:rPr lang="en-GB" altLang="ja-JP" sz="2000" dirty="0"/>
              <a:t>LinkedIn: </a:t>
            </a:r>
            <a:r>
              <a:rPr lang="en-US" altLang="ja-JP" sz="2000" dirty="0">
                <a:hlinkClick r:id="rId6"/>
              </a:rPr>
              <a:t>@hayat01sh1da</a:t>
            </a:r>
            <a:endParaRPr lang="en-US" altLang="ja-JP" sz="2000" dirty="0"/>
          </a:p>
          <a:p>
            <a:pPr marL="725488" lvl="1" indent="-268288"/>
            <a:r>
              <a:rPr lang="en-US" altLang="ja-JP" sz="2000" dirty="0"/>
              <a:t>Speaker Deck: </a:t>
            </a:r>
            <a:r>
              <a:rPr lang="en-US" altLang="ja-JP" sz="2000" dirty="0">
                <a:hlinkClick r:id="rId7"/>
              </a:rPr>
              <a:t>@hayat01sh1da</a:t>
            </a:r>
            <a:endParaRPr lang="en-US" altLang="ja-JP" sz="2000" dirty="0"/>
          </a:p>
          <a:p>
            <a:pPr marL="725488" lvl="1" indent="-268288"/>
            <a:r>
              <a:rPr lang="en-US" altLang="ja-JP" sz="2000" dirty="0"/>
              <a:t>Docswell: </a:t>
            </a:r>
            <a:r>
              <a:rPr lang="en-US" altLang="ja-JP" sz="2000" dirty="0">
                <a:hlinkClick r:id="rId8"/>
              </a:rPr>
              <a:t>@hayat01sh1da</a:t>
            </a:r>
            <a:endParaRPr lang="en-US" altLang="ja-JP" sz="2000" dirty="0"/>
          </a:p>
          <a:p>
            <a:pPr marL="268288" indent="-268288"/>
            <a:r>
              <a:rPr lang="en-GB" altLang="ja-JP" sz="2400" dirty="0"/>
              <a:t>Occupation: Software Engineer</a:t>
            </a:r>
          </a:p>
          <a:p>
            <a:pPr marL="268288" indent="-268288"/>
            <a:r>
              <a:rPr lang="en-GB" altLang="ja-JP" sz="2400" dirty="0"/>
              <a:t>Things I Am Into</a:t>
            </a:r>
          </a:p>
          <a:p>
            <a:pPr marL="725488" lvl="1" indent="-268288"/>
            <a:r>
              <a:rPr lang="en-GB" altLang="ja-JP" sz="2000" dirty="0"/>
              <a:t>Linguistics</a:t>
            </a:r>
          </a:p>
          <a:p>
            <a:pPr marL="725488" lvl="1" indent="-268288"/>
            <a:r>
              <a:rPr lang="en-GB" altLang="ja-JP" sz="2000" dirty="0"/>
              <a:t>Singing at Karaoke</a:t>
            </a:r>
          </a:p>
          <a:p>
            <a:pPr marL="725488" lvl="1" indent="-268288"/>
            <a:r>
              <a:rPr lang="en-GB" altLang="ja-JP" sz="2000" dirty="0"/>
              <a:t>Listening to Music</a:t>
            </a:r>
          </a:p>
          <a:p>
            <a:pPr marL="725488" lvl="1" indent="-268288"/>
            <a:r>
              <a:rPr lang="en-GB" altLang="ja-JP" sz="2000" dirty="0"/>
              <a:t>Watching Movies</a:t>
            </a:r>
          </a:p>
          <a:p>
            <a:pPr marL="725488" lvl="1" indent="-268288"/>
            <a:r>
              <a:rPr lang="en-GB" altLang="ja-JP" sz="2000" dirty="0"/>
              <a:t>Cat Feeding</a:t>
            </a:r>
          </a:p>
        </p:txBody>
      </p:sp>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1FBE0558-A36D-E216-E2C1-719E223780D5}"/>
              </a:ext>
            </a:extLst>
          </p:cNvPr>
          <p:cNvSpPr>
            <a:spLocks noGrp="1"/>
          </p:cNvSpPr>
          <p:nvPr>
            <p:ph type="title"/>
          </p:nvPr>
        </p:nvSpPr>
        <p:spPr>
          <a:xfrm>
            <a:off x="838200" y="365125"/>
            <a:ext cx="10515600" cy="1325563"/>
          </a:xfrm>
        </p:spPr>
        <p:txBody>
          <a:bodyPr/>
          <a:lstStyle/>
          <a:p>
            <a:pPr algn="ctr"/>
            <a:r>
              <a:rPr lang="en-GB" altLang="ja-JP" b="1" dirty="0"/>
              <a:t>Licences / Certifications</a:t>
            </a:r>
            <a:endParaRPr lang="en-GB" b="1" dirty="0"/>
          </a:p>
        </p:txBody>
      </p:sp>
      <p:sp>
        <p:nvSpPr>
          <p:cNvPr id="10" name="コンテンツ プレースホルダー 2">
            <a:extLst>
              <a:ext uri="{FF2B5EF4-FFF2-40B4-BE49-F238E27FC236}">
                <a16:creationId xmlns:a16="http://schemas.microsoft.com/office/drawing/2014/main" id="{45885E2A-9A6E-037E-12A8-07D43B0256DF}"/>
              </a:ext>
            </a:extLst>
          </p:cNvPr>
          <p:cNvSpPr>
            <a:spLocks noGrp="1"/>
          </p:cNvSpPr>
          <p:nvPr>
            <p:ph idx="1"/>
          </p:nvPr>
        </p:nvSpPr>
        <p:spPr>
          <a:xfrm>
            <a:off x="838200" y="1825625"/>
            <a:ext cx="10515600" cy="4351338"/>
          </a:xfrm>
        </p:spPr>
        <p:txBody>
          <a:bodyPr>
            <a:normAutofit/>
          </a:bodyPr>
          <a:lstStyle/>
          <a:p>
            <a:pPr marL="268288" lvl="1" indent="-268288"/>
            <a:r>
              <a:rPr lang="en-US" altLang="ja-JP" dirty="0"/>
              <a:t>English</a:t>
            </a:r>
          </a:p>
          <a:p>
            <a:pPr marL="725488" lvl="2" indent="-268288"/>
            <a:r>
              <a:rPr lang="en-US" altLang="ja-JP" dirty="0"/>
              <a:t>TOEIC® Listening &amp; Reading 915</a:t>
            </a:r>
            <a:r>
              <a:rPr lang="en-GB" altLang="ja-JP" dirty="0"/>
              <a:t>: Certified on December 2019</a:t>
            </a:r>
            <a:endParaRPr lang="ja-JP" altLang="en-US" dirty="0"/>
          </a:p>
          <a:p>
            <a:pPr marL="268288" lvl="1" indent="-268288"/>
            <a:r>
              <a:rPr lang="en-GB" altLang="ja-JP" dirty="0"/>
              <a:t>Engineering</a:t>
            </a:r>
          </a:p>
          <a:p>
            <a:pPr marL="725488" lvl="2" indent="-268288"/>
            <a:r>
              <a:rPr lang="en-GB" altLang="ja-JP" dirty="0"/>
              <a:t>Information Security Management: Certified on November 2017</a:t>
            </a:r>
          </a:p>
          <a:p>
            <a:pPr marL="725488" lvl="2" indent="-268288"/>
            <a:r>
              <a:rPr lang="en-GB" altLang="ja-JP" dirty="0"/>
              <a:t>Applied Information Technology Engineer: Certified on June 2017</a:t>
            </a:r>
          </a:p>
          <a:p>
            <a:pPr marL="725488" lvl="2" indent="-268288"/>
            <a:r>
              <a:rPr lang="en-GB" altLang="ja-JP" dirty="0"/>
              <a:t>Fundamental Information Technology Engineer: Certified on November 2016</a:t>
            </a:r>
            <a:endParaRPr lang="ja-JP" altLang="en-US" dirty="0"/>
          </a:p>
          <a:p>
            <a:pPr marL="725488" lvl="2" indent="-268288"/>
            <a:r>
              <a:rPr lang="en-US" altLang="ja-JP" dirty="0"/>
              <a:t>IT Passport</a:t>
            </a:r>
            <a:r>
              <a:rPr lang="en-GB" altLang="ja-JP" dirty="0"/>
              <a:t>: Certified on April 2016</a:t>
            </a:r>
            <a:endParaRPr lang="en-GB" altLang="ja-JP" b="0" i="0" dirty="0">
              <a:solidFill>
                <a:srgbClr val="333333"/>
              </a:solidFill>
              <a:effectLst/>
            </a:endParaRPr>
          </a:p>
          <a:p>
            <a:pPr marL="268288" lvl="1" indent="-268288"/>
            <a:r>
              <a:rPr lang="en-GB" altLang="ja-JP" dirty="0">
                <a:solidFill>
                  <a:srgbClr val="333333"/>
                </a:solidFill>
              </a:rPr>
              <a:t>Others</a:t>
            </a:r>
          </a:p>
          <a:p>
            <a:pPr marL="725488" lvl="2" indent="-268288"/>
            <a:r>
              <a:rPr lang="en-GB" altLang="ja-JP" dirty="0">
                <a:solidFill>
                  <a:srgbClr val="333333"/>
                </a:solidFill>
              </a:rPr>
              <a:t>Abacus 2nd Class: </a:t>
            </a:r>
            <a:r>
              <a:rPr lang="en-GB" altLang="ja-JP" dirty="0"/>
              <a:t>Certified on June 2002</a:t>
            </a:r>
          </a:p>
          <a:p>
            <a:pPr marL="725488" lvl="2" indent="-268288"/>
            <a:r>
              <a:rPr lang="en-GB" altLang="ja-JP" b="0" i="0" dirty="0">
                <a:solidFill>
                  <a:srgbClr val="333333"/>
                </a:solidFill>
                <a:effectLst/>
              </a:rPr>
              <a:t>Mental Arithmetic 3rd Class: </a:t>
            </a:r>
            <a:r>
              <a:rPr lang="en-GB" altLang="ja-JP" dirty="0"/>
              <a:t>Certified on February 2001</a:t>
            </a:r>
          </a:p>
        </p:txBody>
      </p:sp>
      <p:sp>
        <p:nvSpPr>
          <p:cNvPr id="2" name="Slide Number Placeholder 1">
            <a:extLst>
              <a:ext uri="{FF2B5EF4-FFF2-40B4-BE49-F238E27FC236}">
                <a16:creationId xmlns:a16="http://schemas.microsoft.com/office/drawing/2014/main" id="{DB2B7907-FB38-A5DA-262F-668198D9B90C}"/>
              </a:ext>
            </a:extLst>
          </p:cNvPr>
          <p:cNvSpPr>
            <a:spLocks noGrp="1"/>
          </p:cNvSpPr>
          <p:nvPr>
            <p:ph type="sldNum" sz="quarter" idx="12"/>
          </p:nvPr>
        </p:nvSpPr>
        <p:spPr/>
        <p:txBody>
          <a:bodyPr/>
          <a:lstStyle/>
          <a:p>
            <a:fld id="{CC8B731A-DCF7-4273-BA1A-21517ACBB5E5}" type="slidenum">
              <a:rPr lang="en-GB" smtClean="0"/>
              <a:t>3</a:t>
            </a:fld>
            <a:endParaRPr lang="en-GB"/>
          </a:p>
        </p:txBody>
      </p:sp>
    </p:spTree>
    <p:extLst>
      <p:ext uri="{BB962C8B-B14F-4D97-AF65-F5344CB8AC3E}">
        <p14:creationId xmlns:p14="http://schemas.microsoft.com/office/powerpoint/2010/main" val="2978262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9" name="スライド番号プレースホルダー 3">
            <a:extLst>
              <a:ext uri="{FF2B5EF4-FFF2-40B4-BE49-F238E27FC236}">
                <a16:creationId xmlns:a16="http://schemas.microsoft.com/office/drawing/2014/main" id="{F004D146-7534-1CC3-0BB7-0E2DD52AE55A}"/>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タイトル 1">
            <a:extLst>
              <a:ext uri="{FF2B5EF4-FFF2-40B4-BE49-F238E27FC236}">
                <a16:creationId xmlns:a16="http://schemas.microsoft.com/office/drawing/2014/main" id="{768DF413-8EB2-1804-BE51-F38CA28FD370}"/>
              </a:ext>
            </a:extLst>
          </p:cNvPr>
          <p:cNvSpPr>
            <a:spLocks noGrp="1"/>
          </p:cNvSpPr>
          <p:nvPr>
            <p:ph type="title"/>
          </p:nvPr>
        </p:nvSpPr>
        <p:spPr>
          <a:xfrm>
            <a:off x="838200" y="365125"/>
            <a:ext cx="10515600" cy="1325563"/>
          </a:xfrm>
        </p:spPr>
        <p:txBody>
          <a:bodyPr/>
          <a:lstStyle/>
          <a:p>
            <a:pPr algn="ctr"/>
            <a:r>
              <a:rPr kumimoji="1" lang="en-GB" altLang="ja-JP" b="1" dirty="0">
                <a:latin typeface="Calibri (Headings)"/>
              </a:rPr>
              <a:t>Skill Stack</a:t>
            </a:r>
            <a:endParaRPr lang="en-GB" b="1" dirty="0">
              <a:latin typeface="Calibri (Headings)"/>
            </a:endParaRPr>
          </a:p>
        </p:txBody>
      </p:sp>
      <p:sp>
        <p:nvSpPr>
          <p:cNvPr id="11" name="コンテンツ プレースホルダー 2">
            <a:extLst>
              <a:ext uri="{FF2B5EF4-FFF2-40B4-BE49-F238E27FC236}">
                <a16:creationId xmlns:a16="http://schemas.microsoft.com/office/drawing/2014/main" id="{A5A55E8A-F680-8169-6645-370BC82FFD0F}"/>
              </a:ext>
            </a:extLst>
          </p:cNvPr>
          <p:cNvSpPr>
            <a:spLocks noGrp="1"/>
          </p:cNvSpPr>
          <p:nvPr>
            <p:ph idx="1"/>
          </p:nvPr>
        </p:nvSpPr>
        <p:spPr>
          <a:xfrm>
            <a:off x="838200" y="1825625"/>
            <a:ext cx="10515600" cy="4351338"/>
          </a:xfrm>
          <a:ln>
            <a:noFill/>
          </a:ln>
        </p:spPr>
        <p:txBody>
          <a:bodyPr>
            <a:normAutofit/>
          </a:bodyPr>
          <a:lstStyle/>
          <a:p>
            <a:pPr marL="268288" indent="-268288"/>
            <a:r>
              <a:rPr lang="en-GB" altLang="ja-JP" sz="2400" dirty="0"/>
              <a:t>Languages</a:t>
            </a:r>
            <a:endParaRPr lang="ja-JP" altLang="en-US" sz="2400" dirty="0"/>
          </a:p>
          <a:p>
            <a:pPr marL="717550" lvl="1" indent="-260350"/>
            <a:r>
              <a:rPr lang="en-GB" altLang="ja-JP" sz="2000" dirty="0"/>
              <a:t>Japanese: Native Proficiency</a:t>
            </a:r>
          </a:p>
          <a:p>
            <a:pPr marL="717550" lvl="1" indent="-260350"/>
            <a:r>
              <a:rPr lang="en-GB" altLang="ja-JP" sz="2000" dirty="0"/>
              <a:t>English: Full professional Proficiency</a:t>
            </a:r>
          </a:p>
          <a:p>
            <a:pPr marL="268288" indent="-268288"/>
            <a:r>
              <a:rPr lang="en-GB" altLang="ja-JP" sz="2400" dirty="0"/>
              <a:t>Development</a:t>
            </a:r>
          </a:p>
          <a:p>
            <a:pPr marL="717550" lvl="1" indent="-260350"/>
            <a:r>
              <a:rPr lang="en-GB" altLang="ja-JP" sz="2000" b="1" dirty="0"/>
              <a:t>Backend: Ruby(Ruby on Rails)</a:t>
            </a:r>
            <a:r>
              <a:rPr lang="en-GB" altLang="ja-JP" sz="2000" dirty="0"/>
              <a:t>, Python</a:t>
            </a:r>
          </a:p>
          <a:p>
            <a:pPr marL="717550" lvl="1" indent="-260350"/>
            <a:r>
              <a:rPr lang="en-GB" altLang="ja-JP" sz="2000" dirty="0"/>
              <a:t>Frontend: TypeScript + React.js, TypeScript +Vue.js</a:t>
            </a:r>
          </a:p>
          <a:p>
            <a:pPr marL="717550" lvl="1" indent="-260350"/>
            <a:r>
              <a:rPr lang="en-GB" altLang="ja-JP" sz="2000" b="1" dirty="0"/>
              <a:t>Database: MySQL</a:t>
            </a:r>
            <a:r>
              <a:rPr lang="en-GB" altLang="ja-JP" sz="2000" dirty="0"/>
              <a:t>, PostgreSQL, MongoDB</a:t>
            </a:r>
          </a:p>
          <a:p>
            <a:pPr marL="717550" lvl="1" indent="-260350"/>
            <a:r>
              <a:rPr lang="en-GB" altLang="ja-JP" sz="2000" b="1" dirty="0"/>
              <a:t>Architecture: Monolith, Modular Monolith</a:t>
            </a:r>
          </a:p>
          <a:p>
            <a:pPr marL="717550" lvl="1" indent="-260350"/>
            <a:r>
              <a:rPr lang="en-GB" altLang="ja-JP" sz="2000" dirty="0"/>
              <a:t>Hosting: AWS ESK</a:t>
            </a:r>
          </a:p>
          <a:p>
            <a:pPr marL="717550" lvl="1" indent="-260350"/>
            <a:r>
              <a:rPr lang="en-GB" altLang="ja-JP" sz="2000" dirty="0"/>
              <a:t>Versioning: Git, GitHub</a:t>
            </a:r>
          </a:p>
          <a:p>
            <a:pPr marL="717550" lvl="1" indent="-260350"/>
            <a:r>
              <a:rPr lang="en-GB" altLang="ja-JP" sz="2000" b="1" dirty="0"/>
              <a:t>CI/CD: GitHub Actions</a:t>
            </a:r>
            <a:r>
              <a:rPr lang="en-GB" altLang="ja-JP" sz="2000" dirty="0"/>
              <a:t>, ArgoCD</a:t>
            </a:r>
          </a:p>
          <a:p>
            <a:pPr marL="717550" lvl="1" indent="-260350"/>
            <a:r>
              <a:rPr lang="en-GB" altLang="ja-JP" sz="2000" dirty="0"/>
              <a:t>Monitoring: Datadog, Sentry</a:t>
            </a:r>
            <a:endParaRPr lang="en-GB" altLang="ja-JP" dirty="0"/>
          </a:p>
        </p:txBody>
      </p:sp>
    </p:spTree>
    <p:extLst>
      <p:ext uri="{BB962C8B-B14F-4D97-AF65-F5344CB8AC3E}">
        <p14:creationId xmlns:p14="http://schemas.microsoft.com/office/powerpoint/2010/main" val="417452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5" name="スライド番号プレースホルダー 3">
            <a:extLst>
              <a:ext uri="{FF2B5EF4-FFF2-40B4-BE49-F238E27FC236}">
                <a16:creationId xmlns:a16="http://schemas.microsoft.com/office/drawing/2014/main" id="{7F64EA7D-C4C0-E9F6-0873-DC278BC694EF}"/>
              </a:ext>
            </a:extLst>
          </p:cNvPr>
          <p:cNvSpPr>
            <a:spLocks noGrp="1"/>
          </p:cNvSpPr>
          <p:nvPr>
            <p:ph type="sldNum" sz="quarter" idx="12"/>
          </p:nvPr>
        </p:nvSpPr>
        <p:spPr>
          <a:xfrm>
            <a:off x="8610600" y="6356350"/>
            <a:ext cx="2743200" cy="365125"/>
          </a:xfrm>
          <a:ln>
            <a:noFill/>
          </a:ln>
        </p:spPr>
        <p:txBody>
          <a:bodyPr/>
          <a:lstStyle/>
          <a:p>
            <a:fld id="{CC8B731A-DCF7-4273-BA1A-21517ACBB5E5}" type="slidenum">
              <a:rPr lang="en-GB" smtClean="0"/>
              <a:t>5</a:t>
            </a:fld>
            <a:endParaRPr lang="en-GB"/>
          </a:p>
        </p:txBody>
      </p:sp>
      <p:sp>
        <p:nvSpPr>
          <p:cNvPr id="6" name="タイトル 1">
            <a:extLst>
              <a:ext uri="{FF2B5EF4-FFF2-40B4-BE49-F238E27FC236}">
                <a16:creationId xmlns:a16="http://schemas.microsoft.com/office/drawing/2014/main" id="{24F93058-F7AE-14CB-401B-FA36208D36A9}"/>
              </a:ext>
            </a:extLst>
          </p:cNvPr>
          <p:cNvSpPr>
            <a:spLocks noGrp="1"/>
          </p:cNvSpPr>
          <p:nvPr>
            <p:ph type="title"/>
          </p:nvPr>
        </p:nvSpPr>
        <p:spPr>
          <a:xfrm>
            <a:off x="838200" y="365125"/>
            <a:ext cx="10515600" cy="1325563"/>
          </a:xfrm>
          <a:ln>
            <a:noFill/>
          </a:ln>
        </p:spPr>
        <p:txBody>
          <a:bodyPr/>
          <a:lstStyle/>
          <a:p>
            <a:pPr algn="ctr"/>
            <a:r>
              <a:rPr kumimoji="1" lang="en-GB" altLang="ja-JP" b="1" dirty="0">
                <a:latin typeface="Calibri (Headings)"/>
              </a:rPr>
              <a:t>Work Histories</a:t>
            </a:r>
            <a:endParaRPr kumimoji="1" lang="ja-JP" altLang="en-US" b="1" dirty="0">
              <a:latin typeface="Calibri (Headings)"/>
            </a:endParaRPr>
          </a:p>
        </p:txBody>
      </p:sp>
      <p:graphicFrame>
        <p:nvGraphicFramePr>
          <p:cNvPr id="8" name="Table 7">
            <a:extLst>
              <a:ext uri="{FF2B5EF4-FFF2-40B4-BE49-F238E27FC236}">
                <a16:creationId xmlns:a16="http://schemas.microsoft.com/office/drawing/2014/main" id="{D6C94BFA-A26F-0A99-1102-6D4F887AFFFA}"/>
              </a:ext>
            </a:extLst>
          </p:cNvPr>
          <p:cNvGraphicFramePr>
            <a:graphicFrameLocks noGrp="1"/>
          </p:cNvGraphicFramePr>
          <p:nvPr>
            <p:extLst>
              <p:ext uri="{D42A27DB-BD31-4B8C-83A1-F6EECF244321}">
                <p14:modId xmlns:p14="http://schemas.microsoft.com/office/powerpoint/2010/main" val="871870281"/>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en-GB" dirty="0"/>
                        <a:t>Period</a:t>
                      </a:r>
                    </a:p>
                  </a:txBody>
                  <a:tcPr/>
                </a:tc>
                <a:tc>
                  <a:txBody>
                    <a:bodyPr/>
                    <a:lstStyle/>
                    <a:p>
                      <a:r>
                        <a:rPr lang="en-GB" dirty="0"/>
                        <a:t>Genre</a:t>
                      </a:r>
                    </a:p>
                  </a:txBody>
                  <a:tcPr/>
                </a:tc>
                <a:tc>
                  <a:txBody>
                    <a:bodyPr/>
                    <a:lstStyle/>
                    <a:p>
                      <a:r>
                        <a:rPr lang="en-GB" dirty="0"/>
                        <a:t>Position</a:t>
                      </a:r>
                    </a:p>
                  </a:txBody>
                  <a:tcPr/>
                </a:tc>
                <a:tc>
                  <a:txBody>
                    <a:bodyPr/>
                    <a:lstStyle/>
                    <a:p>
                      <a:r>
                        <a:rPr lang="en-GB" dirty="0"/>
                        <a:t>Jobs</a:t>
                      </a:r>
                    </a:p>
                  </a:txBody>
                  <a:tcPr/>
                </a:tc>
                <a:extLst>
                  <a:ext uri="{0D108BD9-81ED-4DB2-BD59-A6C34878D82A}">
                    <a16:rowId xmlns:a16="http://schemas.microsoft.com/office/drawing/2014/main" val="2477192480"/>
                  </a:ext>
                </a:extLst>
              </a:tr>
              <a:tr h="370840">
                <a:tc>
                  <a:txBody>
                    <a:bodyPr/>
                    <a:lstStyle/>
                    <a:p>
                      <a:r>
                        <a:rPr lang="en-GB" dirty="0"/>
                        <a:t>Aug 2021 - Present</a:t>
                      </a:r>
                    </a:p>
                  </a:txBody>
                  <a:tcPr/>
                </a:tc>
                <a:tc>
                  <a:txBody>
                    <a:bodyPr/>
                    <a:lstStyle/>
                    <a:p>
                      <a:r>
                        <a:rPr lang="en-GB" dirty="0"/>
                        <a:t>Saas(Educational Service)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Software Engineer</a:t>
                      </a:r>
                    </a:p>
                  </a:txBody>
                  <a:tcPr/>
                </a:tc>
                <a:tc>
                  <a:txBody>
                    <a:bodyPr/>
                    <a:lstStyle/>
                    <a:p>
                      <a:pPr marL="180975" indent="-180975">
                        <a:buFont typeface="Arial" panose="020B0604020202020204" pitchFamily="34" charset="0"/>
                        <a:buChar char="•"/>
                      </a:pPr>
                      <a:r>
                        <a:rPr lang="en-GB" dirty="0"/>
                        <a:t>Backend Development</a:t>
                      </a:r>
                    </a:p>
                    <a:p>
                      <a:pPr marL="180975" indent="-180975">
                        <a:buFont typeface="Arial" panose="020B0604020202020204" pitchFamily="34" charset="0"/>
                        <a:buChar char="•"/>
                      </a:pPr>
                      <a:r>
                        <a:rPr lang="en-GB" dirty="0"/>
                        <a:t>Frontend Development</a:t>
                      </a:r>
                    </a:p>
                    <a:p>
                      <a:pPr marL="180975" indent="-180975">
                        <a:buFont typeface="Arial" panose="020B0604020202020204" pitchFamily="34" charset="0"/>
                        <a:buChar char="•"/>
                      </a:pPr>
                      <a:r>
                        <a:rPr lang="en-GB" dirty="0"/>
                        <a:t>CI/CD Maintenance</a:t>
                      </a:r>
                    </a:p>
                    <a:p>
                      <a:pPr marL="180975" indent="-180975">
                        <a:buFont typeface="Arial" panose="020B0604020202020204" pitchFamily="34" charset="0"/>
                        <a:buChar char="•"/>
                      </a:pPr>
                      <a:r>
                        <a:rPr lang="en-GB" dirty="0"/>
                        <a:t>Weekly Release Manager</a:t>
                      </a:r>
                    </a:p>
                    <a:p>
                      <a:pPr marL="180975" indent="-180975">
                        <a:buFont typeface="Arial" panose="020B0604020202020204" pitchFamily="34" charset="0"/>
                        <a:buChar char="•"/>
                      </a:pPr>
                      <a:r>
                        <a:rPr lang="en-GB" dirty="0"/>
                        <a:t>Troubleshooting</a:t>
                      </a:r>
                    </a:p>
                    <a:p>
                      <a:pPr marL="180975" indent="-180975">
                        <a:buFont typeface="Arial" panose="020B0604020202020204" pitchFamily="34" charset="0"/>
                        <a:buChar char="•"/>
                      </a:pPr>
                      <a:r>
                        <a:rPr lang="en-GB" dirty="0"/>
                        <a:t>Documentation</a:t>
                      </a:r>
                    </a:p>
                    <a:p>
                      <a:pPr marL="180975" indent="-180975">
                        <a:buFont typeface="Arial" panose="020B0604020202020204" pitchFamily="34" charset="0"/>
                        <a:buChar char="•"/>
                      </a:pPr>
                      <a:r>
                        <a:rPr lang="en-GB" dirty="0"/>
                        <a:t>Technical Debt Resolution</a:t>
                      </a:r>
                    </a:p>
                    <a:p>
                      <a:pPr marL="180975" indent="-180975">
                        <a:buFont typeface="Arial" panose="020B0604020202020204" pitchFamily="34" charset="0"/>
                        <a:buChar char="•"/>
                      </a:pPr>
                      <a:r>
                        <a:rPr lang="en-GB" dirty="0"/>
                        <a:t>Tech Blog Entries</a:t>
                      </a:r>
                    </a:p>
                    <a:p>
                      <a:pPr marL="180975" indent="-180975">
                        <a:buFont typeface="Arial" panose="020B0604020202020204" pitchFamily="34" charset="0"/>
                        <a:buChar char="•"/>
                      </a:pPr>
                      <a:r>
                        <a:rPr lang="en-GB" dirty="0"/>
                        <a:t>LT Speaker</a:t>
                      </a:r>
                    </a:p>
                  </a:txBody>
                  <a:tcPr/>
                </a:tc>
                <a:extLst>
                  <a:ext uri="{0D108BD9-81ED-4DB2-BD59-A6C34878D82A}">
                    <a16:rowId xmlns:a16="http://schemas.microsoft.com/office/drawing/2014/main" val="1529764250"/>
                  </a:ext>
                </a:extLst>
              </a:tr>
              <a:tr h="370840">
                <a:tc>
                  <a:txBody>
                    <a:bodyPr/>
                    <a:lstStyle/>
                    <a:p>
                      <a:r>
                        <a:rPr lang="en-GB" dirty="0"/>
                        <a:t>Feb 2020 - Dec 2020</a:t>
                      </a:r>
                    </a:p>
                  </a:txBody>
                  <a:tcPr/>
                </a:tc>
                <a:tc>
                  <a:txBody>
                    <a:bodyPr/>
                    <a:lstStyle/>
                    <a:p>
                      <a:r>
                        <a:rPr lang="en-GB" dirty="0"/>
                        <a:t>SaaS(Chatbot Platform)</a:t>
                      </a:r>
                    </a:p>
                  </a:txBody>
                  <a:tcPr/>
                </a:tc>
                <a:tc>
                  <a:txBody>
                    <a:bodyPr/>
                    <a:lstStyle/>
                    <a:p>
                      <a:r>
                        <a:rPr lang="en-GB" dirty="0"/>
                        <a:t>Backend Engineer</a:t>
                      </a:r>
                    </a:p>
                  </a:txBody>
                  <a:tcPr/>
                </a:tc>
                <a:tc>
                  <a:txBody>
                    <a:bodyPr/>
                    <a:lstStyle/>
                    <a:p>
                      <a:pPr marL="180975" indent="-180975">
                        <a:buFont typeface="Arial" panose="020B0604020202020204" pitchFamily="34" charset="0"/>
                        <a:buChar char="•"/>
                      </a:pPr>
                      <a:r>
                        <a:rPr lang="en-GB" dirty="0"/>
                        <a:t>Backend Development</a:t>
                      </a:r>
                    </a:p>
                    <a:p>
                      <a:pPr marL="180975" indent="-180975">
                        <a:buFont typeface="Arial" panose="020B0604020202020204" pitchFamily="34" charset="0"/>
                        <a:buChar char="•"/>
                      </a:pPr>
                      <a:r>
                        <a:rPr lang="en-GB" dirty="0"/>
                        <a:t>Documentation</a:t>
                      </a:r>
                    </a:p>
                    <a:p>
                      <a:pPr marL="180975" indent="-180975">
                        <a:buFont typeface="Arial" panose="020B0604020202020204" pitchFamily="34" charset="0"/>
                        <a:buChar char="•"/>
                      </a:pPr>
                      <a:r>
                        <a:rPr lang="en-GB" dirty="0"/>
                        <a:t>Technical Debt Resolution</a:t>
                      </a:r>
                    </a:p>
                    <a:p>
                      <a:pPr marL="180975" indent="-180975">
                        <a:buFont typeface="Arial" panose="020B0604020202020204" pitchFamily="34" charset="0"/>
                        <a:buChar char="•"/>
                      </a:pPr>
                      <a:r>
                        <a:rPr lang="en-GB" dirty="0"/>
                        <a:t>Inspection of Alternative API</a:t>
                      </a:r>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155858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7876493B-EC0E-78B6-1EA8-566489D618F2}"/>
            </a:ext>
          </a:extLst>
        </p:cNvPr>
        <p:cNvGrpSpPr/>
        <p:nvPr/>
      </p:nvGrpSpPr>
      <p:grpSpPr>
        <a:xfrm>
          <a:off x="0" y="0"/>
          <a:ext cx="0" cy="0"/>
          <a:chOff x="0" y="0"/>
          <a:chExt cx="0" cy="0"/>
        </a:xfrm>
      </p:grpSpPr>
      <p:sp>
        <p:nvSpPr>
          <p:cNvPr id="2" name="スライド番号プレースホルダー 3">
            <a:extLst>
              <a:ext uri="{FF2B5EF4-FFF2-40B4-BE49-F238E27FC236}">
                <a16:creationId xmlns:a16="http://schemas.microsoft.com/office/drawing/2014/main" id="{BEEFD23A-B8E7-CC02-6C97-81B1020AADDC}"/>
              </a:ext>
            </a:extLst>
          </p:cNvPr>
          <p:cNvSpPr>
            <a:spLocks noGrp="1"/>
          </p:cNvSpPr>
          <p:nvPr>
            <p:ph type="sldNum" sz="quarter" idx="12"/>
          </p:nvPr>
        </p:nvSpPr>
        <p:spPr>
          <a:xfrm>
            <a:off x="8610600" y="6356350"/>
            <a:ext cx="2743200" cy="365125"/>
          </a:xfrm>
          <a:ln>
            <a:noFill/>
          </a:ln>
        </p:spPr>
        <p:txBody>
          <a:bodyPr/>
          <a:lstStyle/>
          <a:p>
            <a:fld id="{CC8B731A-DCF7-4273-BA1A-21517ACBB5E5}" type="slidenum">
              <a:rPr lang="en-GB" smtClean="0"/>
              <a:t>6</a:t>
            </a:fld>
            <a:endParaRPr lang="en-GB"/>
          </a:p>
        </p:txBody>
      </p:sp>
      <p:sp>
        <p:nvSpPr>
          <p:cNvPr id="3" name="タイトル 1">
            <a:extLst>
              <a:ext uri="{FF2B5EF4-FFF2-40B4-BE49-F238E27FC236}">
                <a16:creationId xmlns:a16="http://schemas.microsoft.com/office/drawing/2014/main" id="{AF5F2B7E-559D-6DDA-65FA-9F32CC58A5CE}"/>
              </a:ext>
            </a:extLst>
          </p:cNvPr>
          <p:cNvSpPr>
            <a:spLocks noGrp="1"/>
          </p:cNvSpPr>
          <p:nvPr>
            <p:ph type="title"/>
          </p:nvPr>
        </p:nvSpPr>
        <p:spPr>
          <a:xfrm>
            <a:off x="838200" y="365125"/>
            <a:ext cx="10515600" cy="1325563"/>
          </a:xfrm>
          <a:ln>
            <a:noFill/>
          </a:ln>
        </p:spPr>
        <p:txBody>
          <a:bodyPr/>
          <a:lstStyle/>
          <a:p>
            <a:pPr algn="ctr"/>
            <a:r>
              <a:rPr kumimoji="1" lang="en-GB" altLang="ja-JP" b="1" dirty="0">
                <a:latin typeface="Calibri (Headings)"/>
              </a:rPr>
              <a:t>Work Histories</a:t>
            </a:r>
            <a:endParaRPr kumimoji="1" lang="ja-JP" altLang="en-US" b="1" dirty="0">
              <a:latin typeface="Calibri (Headings)"/>
            </a:endParaRPr>
          </a:p>
        </p:txBody>
      </p:sp>
      <p:graphicFrame>
        <p:nvGraphicFramePr>
          <p:cNvPr id="5" name="Table 4">
            <a:extLst>
              <a:ext uri="{FF2B5EF4-FFF2-40B4-BE49-F238E27FC236}">
                <a16:creationId xmlns:a16="http://schemas.microsoft.com/office/drawing/2014/main" id="{33941954-8602-B261-9781-677F258C83A6}"/>
              </a:ext>
            </a:extLst>
          </p:cNvPr>
          <p:cNvGraphicFramePr>
            <a:graphicFrameLocks noGrp="1"/>
          </p:cNvGraphicFramePr>
          <p:nvPr>
            <p:extLst>
              <p:ext uri="{D42A27DB-BD31-4B8C-83A1-F6EECF244321}">
                <p14:modId xmlns:p14="http://schemas.microsoft.com/office/powerpoint/2010/main" val="1684061197"/>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en-GB" dirty="0"/>
                        <a:t>Period</a:t>
                      </a:r>
                    </a:p>
                  </a:txBody>
                  <a:tcPr/>
                </a:tc>
                <a:tc>
                  <a:txBody>
                    <a:bodyPr/>
                    <a:lstStyle/>
                    <a:p>
                      <a:r>
                        <a:rPr lang="en-GB" dirty="0"/>
                        <a:t>Genre</a:t>
                      </a:r>
                    </a:p>
                  </a:txBody>
                  <a:tcPr/>
                </a:tc>
                <a:tc>
                  <a:txBody>
                    <a:bodyPr/>
                    <a:lstStyle/>
                    <a:p>
                      <a:r>
                        <a:rPr lang="en-GB" dirty="0"/>
                        <a:t>Position</a:t>
                      </a:r>
                    </a:p>
                  </a:txBody>
                  <a:tcPr/>
                </a:tc>
                <a:tc>
                  <a:txBody>
                    <a:bodyPr/>
                    <a:lstStyle/>
                    <a:p>
                      <a:r>
                        <a:rPr lang="en-GB" dirty="0"/>
                        <a:t>Jobs</a:t>
                      </a:r>
                    </a:p>
                  </a:txBody>
                  <a:tcPr/>
                </a:tc>
                <a:extLst>
                  <a:ext uri="{0D108BD9-81ED-4DB2-BD59-A6C34878D82A}">
                    <a16:rowId xmlns:a16="http://schemas.microsoft.com/office/drawing/2014/main" val="2477192480"/>
                  </a:ext>
                </a:extLst>
              </a:tr>
              <a:tr h="370840">
                <a:tc>
                  <a:txBody>
                    <a:bodyPr/>
                    <a:lstStyle/>
                    <a:p>
                      <a:r>
                        <a:rPr lang="en-GB" dirty="0"/>
                        <a:t>Jun 2018 - Jan 2020</a:t>
                      </a:r>
                    </a:p>
                  </a:txBody>
                  <a:tcPr/>
                </a:tc>
                <a:tc>
                  <a:txBody>
                    <a:bodyPr/>
                    <a:lstStyle/>
                    <a:p>
                      <a:r>
                        <a:rPr lang="en-GB" dirty="0"/>
                        <a:t>Contract-basis Developer</a:t>
                      </a:r>
                    </a:p>
                  </a:txBody>
                  <a:tcPr/>
                </a:tc>
                <a:tc>
                  <a:txBody>
                    <a:bodyPr/>
                    <a:lstStyle/>
                    <a:p>
                      <a:r>
                        <a:rPr lang="en-GB" dirty="0"/>
                        <a:t>Software Engineer</a:t>
                      </a:r>
                    </a:p>
                  </a:txBody>
                  <a:tcPr/>
                </a:tc>
                <a:tc>
                  <a:txBody>
                    <a:bodyPr/>
                    <a:lstStyle/>
                    <a:p>
                      <a:pPr marL="180975" indent="-180975">
                        <a:buFont typeface="Arial" panose="020B0604020202020204" pitchFamily="34" charset="0"/>
                        <a:buChar char="•"/>
                      </a:pPr>
                      <a:r>
                        <a:rPr lang="en-GB" dirty="0"/>
                        <a:t>Backend Development</a:t>
                      </a:r>
                    </a:p>
                    <a:p>
                      <a:pPr marL="180975" indent="-180975">
                        <a:buFont typeface="Arial" panose="020B0604020202020204" pitchFamily="34" charset="0"/>
                        <a:buChar char="•"/>
                      </a:pPr>
                      <a:r>
                        <a:rPr lang="en-GB" dirty="0"/>
                        <a:t>Frontend Development</a:t>
                      </a:r>
                    </a:p>
                    <a:p>
                      <a:pPr marL="180975" indent="-180975">
                        <a:buFont typeface="Arial" panose="020B0604020202020204" pitchFamily="34" charset="0"/>
                        <a:buChar char="•"/>
                      </a:pPr>
                      <a:r>
                        <a:rPr lang="en-GB" dirty="0"/>
                        <a:t>Troubleshooting</a:t>
                      </a:r>
                    </a:p>
                    <a:p>
                      <a:pPr marL="180975" indent="-180975">
                        <a:buFont typeface="Arial" panose="020B0604020202020204" pitchFamily="34" charset="0"/>
                        <a:buChar char="•"/>
                      </a:pPr>
                      <a:r>
                        <a:rPr lang="en-GB" dirty="0"/>
                        <a:t>Quality Assurance</a:t>
                      </a:r>
                    </a:p>
                    <a:p>
                      <a:pPr marL="180975" indent="-180975">
                        <a:buFont typeface="Arial" panose="020B0604020202020204" pitchFamily="34" charset="0"/>
                        <a:buChar char="•"/>
                      </a:pPr>
                      <a:r>
                        <a:rPr lang="en-GB" dirty="0"/>
                        <a:t>Tech Blog Entries</a:t>
                      </a:r>
                    </a:p>
                  </a:txBody>
                  <a:tcPr/>
                </a:tc>
                <a:extLst>
                  <a:ext uri="{0D108BD9-81ED-4DB2-BD59-A6C34878D82A}">
                    <a16:rowId xmlns:a16="http://schemas.microsoft.com/office/drawing/2014/main" val="2130531394"/>
                  </a:ext>
                </a:extLst>
              </a:tr>
              <a:tr h="370840">
                <a:tc>
                  <a:txBody>
                    <a:bodyPr/>
                    <a:lstStyle/>
                    <a:p>
                      <a:r>
                        <a:rPr lang="en-GB" dirty="0"/>
                        <a:t>Apr 2016 - Jan 2018 </a:t>
                      </a:r>
                    </a:p>
                  </a:txBody>
                  <a:tcPr/>
                </a:tc>
                <a:tc>
                  <a:txBody>
                    <a:bodyPr/>
                    <a:lstStyle/>
                    <a:p>
                      <a:r>
                        <a:rPr lang="en-GB" dirty="0"/>
                        <a:t>System Engineering Service</a:t>
                      </a:r>
                    </a:p>
                  </a:txBody>
                  <a:tcPr/>
                </a:tc>
                <a:tc>
                  <a:txBody>
                    <a:bodyPr/>
                    <a:lstStyle/>
                    <a:p>
                      <a:r>
                        <a:rPr lang="en-GB" dirty="0"/>
                        <a:t>System Engineer</a:t>
                      </a:r>
                    </a:p>
                  </a:txBody>
                  <a:tcPr/>
                </a:tc>
                <a:tc>
                  <a:txBody>
                    <a:bodyPr/>
                    <a:lstStyle/>
                    <a:p>
                      <a:pPr marL="180975" indent="-180975">
                        <a:buFont typeface="Arial" panose="020B0604020202020204" pitchFamily="34" charset="0"/>
                        <a:buChar char="•"/>
                      </a:pPr>
                      <a:r>
                        <a:rPr lang="en-GB" dirty="0"/>
                        <a:t>Corporate Account Admin</a:t>
                      </a:r>
                    </a:p>
                    <a:p>
                      <a:pPr marL="180975" indent="-180975">
                        <a:buFont typeface="Arial" panose="020B0604020202020204" pitchFamily="34" charset="0"/>
                        <a:buChar char="•"/>
                      </a:pPr>
                      <a:r>
                        <a:rPr lang="en-GB" dirty="0"/>
                        <a:t>Windows Server Maintenance</a:t>
                      </a:r>
                    </a:p>
                    <a:p>
                      <a:pPr marL="180975" indent="-180975">
                        <a:buFont typeface="Arial" panose="020B0604020202020204" pitchFamily="34" charset="0"/>
                        <a:buChar char="•"/>
                      </a:pPr>
                      <a:r>
                        <a:rPr lang="en-GB" dirty="0"/>
                        <a:t>Security Admin Assistant</a:t>
                      </a:r>
                    </a:p>
                    <a:p>
                      <a:pPr marL="180975" indent="-180975">
                        <a:buFont typeface="Arial" panose="020B0604020202020204" pitchFamily="34" charset="0"/>
                        <a:buChar char="•"/>
                      </a:pPr>
                      <a:r>
                        <a:rPr lang="en-GB" dirty="0"/>
                        <a:t>Internationalisation / Localisation</a:t>
                      </a:r>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1893285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F79E73D7-F5DF-D646-391D-57CC3FE10FC5}"/>
              </a:ext>
            </a:extLst>
          </p:cNvPr>
          <p:cNvSpPr>
            <a:spLocks noGrp="1"/>
          </p:cNvSpPr>
          <p:nvPr>
            <p:ph type="title"/>
          </p:nvPr>
        </p:nvSpPr>
        <p:spPr>
          <a:xfrm>
            <a:off x="838200" y="365125"/>
            <a:ext cx="10515600" cy="1325563"/>
          </a:xfrm>
        </p:spPr>
        <p:txBody>
          <a:bodyPr/>
          <a:lstStyle/>
          <a:p>
            <a:pPr algn="ctr"/>
            <a:r>
              <a:rPr lang="en-GB" altLang="ja-JP" b="1" dirty="0">
                <a:latin typeface="Calibri (Headings)"/>
              </a:rPr>
              <a:t>International-Exchange Activities</a:t>
            </a:r>
            <a:endParaRPr lang="en-GB" b="1" dirty="0">
              <a:latin typeface="Calibri (Headings)"/>
            </a:endParaRPr>
          </a:p>
        </p:txBody>
      </p:sp>
      <p:sp>
        <p:nvSpPr>
          <p:cNvPr id="11" name="コンテンツ プレースホルダー 2">
            <a:extLst>
              <a:ext uri="{FF2B5EF4-FFF2-40B4-BE49-F238E27FC236}">
                <a16:creationId xmlns:a16="http://schemas.microsoft.com/office/drawing/2014/main" id="{A3F1CF92-0431-6ADB-6DB2-769E5A44BF57}"/>
              </a:ext>
            </a:extLst>
          </p:cNvPr>
          <p:cNvSpPr>
            <a:spLocks noGrp="1"/>
          </p:cNvSpPr>
          <p:nvPr>
            <p:ph idx="1"/>
          </p:nvPr>
        </p:nvSpPr>
        <p:spPr>
          <a:xfrm>
            <a:off x="838200" y="1830270"/>
            <a:ext cx="10515600" cy="4343898"/>
          </a:xfrm>
          <a:ln>
            <a:noFill/>
          </a:ln>
        </p:spPr>
        <p:txBody>
          <a:bodyPr>
            <a:normAutofit/>
          </a:bodyPr>
          <a:lstStyle/>
          <a:p>
            <a:pPr marL="268288" indent="-268288"/>
            <a:r>
              <a:rPr lang="en-GB" altLang="ja-JP" sz="1600" dirty="0"/>
              <a:t>Activities in University</a:t>
            </a:r>
            <a:endParaRPr lang="ja-JP" altLang="en-US" sz="1600" dirty="0"/>
          </a:p>
          <a:p>
            <a:pPr marL="536575" lvl="1" indent="-268288"/>
            <a:r>
              <a:rPr lang="en-GB" altLang="ja-JP" sz="1400" dirty="0"/>
              <a:t>English Linguistics Seminar</a:t>
            </a:r>
            <a:r>
              <a:rPr lang="en-US" altLang="ja-JP" sz="1400" dirty="0"/>
              <a:t>(</a:t>
            </a:r>
            <a:r>
              <a:rPr lang="en-GB" altLang="ja-JP" sz="1400" dirty="0"/>
              <a:t>Focusing on Mass Media English</a:t>
            </a:r>
            <a:r>
              <a:rPr lang="en-US" altLang="ja-JP" sz="1400" dirty="0"/>
              <a:t>)</a:t>
            </a:r>
          </a:p>
          <a:p>
            <a:pPr marL="536575" lvl="1" indent="-268288"/>
            <a:r>
              <a:rPr lang="en-GB" altLang="ja-JP" sz="1400" dirty="0"/>
              <a:t>International-Exchange Clubs</a:t>
            </a:r>
            <a:r>
              <a:rPr lang="en-US" altLang="ja-JP" sz="1400" dirty="0"/>
              <a:t>(</a:t>
            </a:r>
            <a:r>
              <a:rPr lang="en-GB" altLang="ja-JP" sz="1400" dirty="0"/>
              <a:t>The 2nd Year</a:t>
            </a:r>
            <a:r>
              <a:rPr lang="en-US" altLang="ja-JP" sz="1400" dirty="0"/>
              <a:t>)</a:t>
            </a:r>
          </a:p>
          <a:p>
            <a:pPr marL="536575" lvl="1" indent="-268288"/>
            <a:r>
              <a:rPr lang="en-GB" altLang="ja-JP" sz="1400" dirty="0">
                <a:hlinkClick r:id="rId3"/>
              </a:rPr>
              <a:t>International-Exchange Programmes conducted by Japan Cabinet Office</a:t>
            </a:r>
            <a:r>
              <a:rPr lang="en-US" altLang="ja-JP" sz="1400" dirty="0"/>
              <a:t>(2013</a:t>
            </a:r>
            <a:r>
              <a:rPr lang="ja-JP" altLang="en-US" sz="1400" dirty="0"/>
              <a:t> </a:t>
            </a:r>
            <a:r>
              <a:rPr lang="en-US" altLang="ja-JP" sz="1400" dirty="0"/>
              <a:t>- 2016)</a:t>
            </a:r>
          </a:p>
          <a:p>
            <a:pPr marL="536575" lvl="1" indent="-268288"/>
            <a:r>
              <a:rPr lang="en-GB" altLang="ja-JP" sz="1400" dirty="0"/>
              <a:t>Japanese Linguistics Course(The Final Year)</a:t>
            </a:r>
            <a:endParaRPr lang="en-US" altLang="ja-JP" sz="1400" dirty="0"/>
          </a:p>
          <a:p>
            <a:pPr marL="268288" indent="-268288"/>
            <a:r>
              <a:rPr lang="en-GB" altLang="ja-JP" sz="1600" dirty="0"/>
              <a:t>Overseas Life Experience</a:t>
            </a:r>
            <a:endParaRPr lang="ja-JP" altLang="en-US" sz="1600" dirty="0"/>
          </a:p>
          <a:p>
            <a:pPr marL="536575" lvl="1" indent="-268288"/>
            <a:r>
              <a:rPr lang="en-GB" altLang="ja-JP" sz="1400" dirty="0"/>
              <a:t>Working Holiday in Australia</a:t>
            </a:r>
            <a:r>
              <a:rPr lang="en-US" altLang="ja-JP" sz="1400" dirty="0"/>
              <a:t>(April 2014</a:t>
            </a:r>
            <a:r>
              <a:rPr lang="ja-JP" altLang="en-US" sz="1400" dirty="0"/>
              <a:t> </a:t>
            </a:r>
            <a:r>
              <a:rPr lang="en-US" altLang="ja-JP" sz="1400" dirty="0"/>
              <a:t>- </a:t>
            </a:r>
            <a:r>
              <a:rPr lang="en-GB" altLang="ja-JP" sz="1400" dirty="0"/>
              <a:t>March 2015</a:t>
            </a:r>
            <a:r>
              <a:rPr lang="en-US" altLang="ja-JP" sz="1400" dirty="0"/>
              <a:t>)</a:t>
            </a:r>
          </a:p>
          <a:p>
            <a:pPr marL="728662" lvl="2" indent="-285750"/>
            <a:r>
              <a:rPr lang="en-GB" altLang="ja-JP" sz="1200" dirty="0"/>
              <a:t>Language School for 1 month in Sydney</a:t>
            </a:r>
          </a:p>
          <a:p>
            <a:pPr marL="728662" lvl="2" indent="-285750"/>
            <a:r>
              <a:rPr lang="en-GB" altLang="ja-JP" sz="1200" dirty="0"/>
              <a:t>Work for 6 Months</a:t>
            </a:r>
            <a:r>
              <a:rPr lang="ja-JP" altLang="en-US" sz="1200" dirty="0"/>
              <a:t> </a:t>
            </a:r>
            <a:r>
              <a:rPr lang="en-GB" altLang="ja-JP" sz="1200" dirty="0"/>
              <a:t>in</a:t>
            </a:r>
            <a:r>
              <a:rPr lang="ja-JP" altLang="en-US" sz="1200" dirty="0"/>
              <a:t> </a:t>
            </a:r>
            <a:r>
              <a:rPr lang="en-GB" altLang="ja-JP" sz="1200" dirty="0">
                <a:hlinkClick r:id="rId4"/>
              </a:rPr>
              <a:t>Hamilton Island Resort</a:t>
            </a:r>
            <a:endParaRPr lang="en-GB" altLang="ja-JP" sz="1200" dirty="0"/>
          </a:p>
          <a:p>
            <a:pPr marL="728662" lvl="2" indent="-285750"/>
            <a:r>
              <a:rPr lang="en-GB" altLang="ja-JP" sz="1200" dirty="0"/>
              <a:t>Volunteering for 1 Month as Assistant Teacher of Japanese Language at</a:t>
            </a:r>
            <a:r>
              <a:rPr lang="ja-JP" altLang="en-US" sz="1200" dirty="0"/>
              <a:t> </a:t>
            </a:r>
            <a:r>
              <a:rPr lang="en-GB" altLang="ja-JP" sz="1200" dirty="0">
                <a:hlinkClick r:id="rId5"/>
              </a:rPr>
              <a:t>St Ives High School</a:t>
            </a:r>
            <a:r>
              <a:rPr lang="ja-JP" altLang="en-US" sz="1200" dirty="0"/>
              <a:t> </a:t>
            </a:r>
            <a:r>
              <a:rPr lang="en-GB" altLang="ja-JP" sz="1200" dirty="0"/>
              <a:t>in</a:t>
            </a:r>
            <a:r>
              <a:rPr lang="ja-JP" altLang="en-US" sz="1200" dirty="0"/>
              <a:t> </a:t>
            </a:r>
            <a:r>
              <a:rPr lang="en-GB" altLang="ja-JP" sz="1200" dirty="0"/>
              <a:t>NSW</a:t>
            </a:r>
            <a:endParaRPr lang="en-US" altLang="ja-JP" sz="1200" dirty="0"/>
          </a:p>
          <a:p>
            <a:pPr marL="268288" indent="-268288"/>
            <a:r>
              <a:rPr lang="en-GB" altLang="ja-JP" sz="1600" dirty="0"/>
              <a:t>Other Activities</a:t>
            </a:r>
            <a:endParaRPr lang="ja-JP" altLang="en-US" sz="900" dirty="0"/>
          </a:p>
          <a:p>
            <a:pPr marL="536575" lvl="1" indent="-268288"/>
            <a:r>
              <a:rPr lang="en-GB" altLang="ja-JP" sz="1400" dirty="0"/>
              <a:t>Keep Everyday Journal in English</a:t>
            </a:r>
            <a:r>
              <a:rPr lang="ja-JP" altLang="en-US" sz="1400" dirty="0"/>
              <a:t> </a:t>
            </a:r>
            <a:r>
              <a:rPr lang="en-GB" altLang="ja-JP" sz="1400" dirty="0"/>
              <a:t>(</a:t>
            </a:r>
            <a:r>
              <a:rPr lang="en-US" altLang="ja-JP" sz="1400" dirty="0"/>
              <a:t>April 2014</a:t>
            </a:r>
            <a:r>
              <a:rPr lang="ja-JP" altLang="en-US" sz="1400" dirty="0"/>
              <a:t> </a:t>
            </a:r>
            <a:r>
              <a:rPr lang="en-US" altLang="ja-JP" sz="1400" dirty="0"/>
              <a:t>- Present</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US" altLang="ja-JP" sz="1400" dirty="0"/>
              <a:t>(February 2017</a:t>
            </a:r>
            <a:r>
              <a:rPr lang="ja-JP" altLang="en-US" sz="1400" dirty="0"/>
              <a:t> </a:t>
            </a:r>
            <a:r>
              <a:rPr lang="en-US" altLang="ja-JP" sz="1400" dirty="0"/>
              <a:t>- March 2018)</a:t>
            </a:r>
          </a:p>
          <a:p>
            <a:pPr marL="536575" lvl="1" indent="-268288"/>
            <a:r>
              <a:rPr lang="en-US" altLang="ja-JP" sz="1400" dirty="0">
                <a:hlinkClick r:id="rId8"/>
              </a:rPr>
              <a:t>Vital Japan</a:t>
            </a:r>
            <a:r>
              <a:rPr lang="en-US" altLang="ja-JP" sz="1400" dirty="0"/>
              <a:t>(January 2018 - July 2019</a:t>
            </a:r>
            <a:r>
              <a:rPr lang="en-GB" altLang="ja-JP" sz="1400" dirty="0"/>
              <a:t>, October 2022 - February 2023</a:t>
            </a:r>
            <a:r>
              <a:rPr lang="en-US" altLang="ja-JP" sz="1400" dirty="0"/>
              <a:t>) </a:t>
            </a:r>
          </a:p>
          <a:p>
            <a:pPr marL="536575" lvl="1" indent="-268288"/>
            <a:r>
              <a:rPr lang="en-GB" altLang="ja-JP" sz="1400" dirty="0"/>
              <a:t>Self Learning and Training of English Language</a:t>
            </a:r>
          </a:p>
          <a:p>
            <a:pPr marL="536575" lvl="1" indent="-268288"/>
            <a:r>
              <a:rPr lang="en-GB" altLang="ja-JP" sz="1400" dirty="0"/>
              <a:t>Participation Ruby-Related </a:t>
            </a:r>
            <a:r>
              <a:rPr lang="en-GB" altLang="ja-JP" sz="1400"/>
              <a:t>Tech Conferences</a:t>
            </a:r>
            <a:endParaRPr lang="en-GB" altLang="ja-JP" sz="1400" dirty="0"/>
          </a:p>
        </p:txBody>
      </p:sp>
      <p:sp>
        <p:nvSpPr>
          <p:cNvPr id="2" name="Slide Number Placeholder 1">
            <a:extLst>
              <a:ext uri="{FF2B5EF4-FFF2-40B4-BE49-F238E27FC236}">
                <a16:creationId xmlns:a16="http://schemas.microsoft.com/office/drawing/2014/main" id="{0A73E4CC-5132-F806-451F-B23F3D967609}"/>
              </a:ext>
            </a:extLst>
          </p:cNvPr>
          <p:cNvSpPr>
            <a:spLocks noGrp="1"/>
          </p:cNvSpPr>
          <p:nvPr>
            <p:ph type="sldNum" sz="quarter" idx="12"/>
          </p:nvPr>
        </p:nvSpPr>
        <p:spPr/>
        <p:txBody>
          <a:bodyPr/>
          <a:lstStyle/>
          <a:p>
            <a:fld id="{CC8B731A-DCF7-4273-BA1A-21517ACBB5E5}" type="slidenum">
              <a:rPr lang="en-GB" smtClean="0"/>
              <a:t>7</a:t>
            </a:fld>
            <a:endParaRPr lang="en-GB"/>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en-GB" altLang="ja-JP" b="1" dirty="0"/>
              <a:t>Prior to Lightening Talk…</a:t>
            </a:r>
            <a:endParaRPr lang="en-GB" b="1" dirty="0"/>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0" indent="0">
              <a:buClr>
                <a:schemeClr val="dk1"/>
              </a:buClr>
              <a:buSzPts val="2800"/>
              <a:buNone/>
            </a:pPr>
            <a:r>
              <a:rPr lang="en-GB" altLang="ja-JP" sz="2400" dirty="0">
                <a:sym typeface="Arial"/>
              </a:rPr>
              <a:t>The chief organiser of RubyKaigi, Mr. Akira Matsuda, allows me to use the official logo of RubyKaigi 2025 as the background image. No offence to its copyright.</a:t>
            </a:r>
          </a:p>
          <a:p>
            <a:pPr marL="0" indent="0">
              <a:buClr>
                <a:schemeClr val="dk1"/>
              </a:buClr>
              <a:buSzPts val="2800"/>
              <a:buNone/>
            </a:pPr>
            <a:r>
              <a:rPr lang="en-GB" altLang="ja-JP" sz="2400" dirty="0">
                <a:sym typeface="Arial"/>
              </a:rPr>
              <a:t>Ref) </a:t>
            </a:r>
            <a:r>
              <a:rPr lang="en-GB" altLang="ja-JP" sz="2400" dirty="0">
                <a:sym typeface="Arial"/>
                <a:hlinkClick r:id="rId3"/>
              </a:rPr>
              <a:t>https://x.com/a_matsuda/status/1918612709169672210</a:t>
            </a:r>
            <a:endParaRPr lang="en-GB" altLang="ja-JP" sz="2400" dirty="0">
              <a:sym typeface="Arial"/>
            </a:endParaRPr>
          </a:p>
        </p:txBody>
      </p:sp>
      <p:pic>
        <p:nvPicPr>
          <p:cNvPr id="6" name="Picture 5">
            <a:extLst>
              <a:ext uri="{FF2B5EF4-FFF2-40B4-BE49-F238E27FC236}">
                <a16:creationId xmlns:a16="http://schemas.microsoft.com/office/drawing/2014/main" id="{0F5F1838-F813-198E-1812-6ECEB6EF70E6}"/>
              </a:ext>
            </a:extLst>
          </p:cNvPr>
          <p:cNvPicPr>
            <a:picLocks noChangeAspect="1"/>
          </p:cNvPicPr>
          <p:nvPr/>
        </p:nvPicPr>
        <p:blipFill>
          <a:blip r:embed="rId4">
            <a:extLst>
              <a:ext uri="{28A0092B-C50C-407E-A947-70E740481C1C}">
                <a14:useLocalDpi xmlns:a14="http://schemas.microsoft.com/office/drawing/2010/main" val="0"/>
              </a:ext>
            </a:extLst>
          </a:blip>
          <a:srcRect t="53968" b="344"/>
          <a:stretch/>
        </p:blipFill>
        <p:spPr>
          <a:xfrm>
            <a:off x="3071277" y="3024533"/>
            <a:ext cx="4551697" cy="3152430"/>
          </a:xfrm>
          <a:prstGeom prst="rect">
            <a:avLst/>
          </a:prstGeom>
        </p:spPr>
      </p:pic>
      <p:sp>
        <p:nvSpPr>
          <p:cNvPr id="5" name="Slide Number Placeholder 4">
            <a:extLst>
              <a:ext uri="{FF2B5EF4-FFF2-40B4-BE49-F238E27FC236}">
                <a16:creationId xmlns:a16="http://schemas.microsoft.com/office/drawing/2014/main" id="{6039BF5D-AE19-9CCD-A5BD-C7D436C67339}"/>
              </a:ext>
            </a:extLst>
          </p:cNvPr>
          <p:cNvSpPr>
            <a:spLocks noGrp="1"/>
          </p:cNvSpPr>
          <p:nvPr>
            <p:ph type="sldNum" sz="quarter" idx="12"/>
          </p:nvPr>
        </p:nvSpPr>
        <p:spPr/>
        <p:txBody>
          <a:bodyPr/>
          <a:lstStyle/>
          <a:p>
            <a:fld id="{CC8B731A-DCF7-4273-BA1A-21517ACBB5E5}" type="slidenum">
              <a:rPr lang="en-GB" smtClean="0"/>
              <a:t>8</a:t>
            </a:fld>
            <a:endParaRPr lang="en-GB"/>
          </a:p>
        </p:txBody>
      </p:sp>
    </p:spTree>
    <p:extLst>
      <p:ext uri="{BB962C8B-B14F-4D97-AF65-F5344CB8AC3E}">
        <p14:creationId xmlns:p14="http://schemas.microsoft.com/office/powerpoint/2010/main" val="210825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BC911B02-0DA1-674A-04BF-85C4FE0952F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41F2B63-A65E-9A91-AC1C-59006F2424CD}"/>
              </a:ext>
            </a:extLst>
          </p:cNvPr>
          <p:cNvSpPr>
            <a:spLocks noGrp="1"/>
          </p:cNvSpPr>
          <p:nvPr>
            <p:ph type="title"/>
          </p:nvPr>
        </p:nvSpPr>
        <p:spPr/>
        <p:txBody>
          <a:bodyPr/>
          <a:lstStyle/>
          <a:p>
            <a:pPr algn="ctr"/>
            <a:r>
              <a:rPr lang="en-GB" altLang="ja-JP" b="1" dirty="0"/>
              <a:t>Agenda</a:t>
            </a:r>
            <a:endParaRPr lang="en-GB" b="1" dirty="0"/>
          </a:p>
        </p:txBody>
      </p:sp>
      <p:sp>
        <p:nvSpPr>
          <p:cNvPr id="3" name="コンテンツ プレースホルダー 2">
            <a:extLst>
              <a:ext uri="{FF2B5EF4-FFF2-40B4-BE49-F238E27FC236}">
                <a16:creationId xmlns:a16="http://schemas.microsoft.com/office/drawing/2014/main" id="{03BF1AFB-AD80-98FC-6B95-194F91AFD034}"/>
              </a:ext>
            </a:extLst>
          </p:cNvPr>
          <p:cNvSpPr>
            <a:spLocks noGrp="1"/>
          </p:cNvSpPr>
          <p:nvPr>
            <p:ph idx="1"/>
          </p:nvPr>
        </p:nvSpPr>
        <p:spPr/>
        <p:txBody>
          <a:bodyPr>
            <a:normAutofit/>
          </a:bodyPr>
          <a:lstStyle/>
          <a:p>
            <a:pPr marL="360363" indent="-360363">
              <a:buClr>
                <a:schemeClr val="dk1"/>
              </a:buClr>
              <a:buSzPts val="2800"/>
              <a:buAutoNum type="arabicPeriod"/>
            </a:pPr>
            <a:r>
              <a:rPr lang="en-GB" altLang="ja-JP" sz="2400" dirty="0">
                <a:sym typeface="Arial"/>
                <a:hlinkClick r:id="rId3" action="ppaction://hlinksldjump"/>
              </a:rPr>
              <a:t>My Goal in RubyKaigi 2025</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4" action="ppaction://hlinksldjump"/>
              </a:rPr>
              <a:t>KaigiEffect -A Field I Have Been Into-</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5" action="ppaction://hlinksldjump"/>
              </a:rPr>
              <a:t>The Most Memorable Discussion Mr. Matz</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6" action="ppaction://hlinksldjump"/>
              </a:rPr>
              <a:t>As Is vs. To Be</a:t>
            </a:r>
            <a:endParaRPr lang="en-GB" altLang="ja-JP" sz="2400" dirty="0">
              <a:sym typeface="Arial"/>
            </a:endParaRPr>
          </a:p>
          <a:p>
            <a:pPr marL="360363" indent="-360363">
              <a:buClr>
                <a:schemeClr val="dk1"/>
              </a:buClr>
              <a:buSzPts val="2800"/>
              <a:buAutoNum type="arabicPeriod"/>
            </a:pPr>
            <a:r>
              <a:rPr lang="en-GB" altLang="ja-JP" sz="2400" dirty="0">
                <a:sym typeface="Arial"/>
                <a:hlinkClick r:id="rId7" action="ppaction://hlinksldjump"/>
              </a:rPr>
              <a:t>References</a:t>
            </a:r>
            <a:endParaRPr lang="en-GB" altLang="ja-JP" sz="2400" dirty="0">
              <a:sym typeface="Arial"/>
            </a:endParaRPr>
          </a:p>
        </p:txBody>
      </p:sp>
      <p:sp>
        <p:nvSpPr>
          <p:cNvPr id="5" name="Slide Number Placeholder 4">
            <a:extLst>
              <a:ext uri="{FF2B5EF4-FFF2-40B4-BE49-F238E27FC236}">
                <a16:creationId xmlns:a16="http://schemas.microsoft.com/office/drawing/2014/main" id="{3D463A87-69C8-851E-9A31-0F71C42742D1}"/>
              </a:ext>
            </a:extLst>
          </p:cNvPr>
          <p:cNvSpPr>
            <a:spLocks noGrp="1"/>
          </p:cNvSpPr>
          <p:nvPr>
            <p:ph type="sldNum" sz="quarter" idx="12"/>
          </p:nvPr>
        </p:nvSpPr>
        <p:spPr/>
        <p:txBody>
          <a:bodyPr/>
          <a:lstStyle/>
          <a:p>
            <a:fld id="{CC8B731A-DCF7-4273-BA1A-21517ACBB5E5}" type="slidenum">
              <a:rPr lang="en-GB" smtClean="0"/>
              <a:t>9</a:t>
            </a:fld>
            <a:endParaRPr lang="en-GB"/>
          </a:p>
        </p:txBody>
      </p:sp>
    </p:spTree>
    <p:extLst>
      <p:ext uri="{BB962C8B-B14F-4D97-AF65-F5344CB8AC3E}">
        <p14:creationId xmlns:p14="http://schemas.microsoft.com/office/powerpoint/2010/main" val="21978247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1</a:t>
            </a:r>
            <a:r>
              <a:rPr lang="en-US" altLang="ja-JP" b="1" dirty="0"/>
              <a:t>. </a:t>
            </a:r>
            <a:r>
              <a:rPr lang="en-GB" altLang="ja-JP" b="1" dirty="0">
                <a:sym typeface="Arial"/>
              </a:rPr>
              <a:t>My Goal in RubyKaigi 2025</a:t>
            </a:r>
            <a:endParaRPr lang="en-GB" b="1" dirty="0"/>
          </a:p>
        </p:txBody>
      </p:sp>
      <p:sp>
        <p:nvSpPr>
          <p:cNvPr id="3" name="Slide Number Placeholder 2">
            <a:extLst>
              <a:ext uri="{FF2B5EF4-FFF2-40B4-BE49-F238E27FC236}">
                <a16:creationId xmlns:a16="http://schemas.microsoft.com/office/drawing/2014/main" id="{F78B9976-B20A-3F72-2B5B-A96304BB7CDD}"/>
              </a:ext>
            </a:extLst>
          </p:cNvPr>
          <p:cNvSpPr>
            <a:spLocks noGrp="1"/>
          </p:cNvSpPr>
          <p:nvPr>
            <p:ph type="sldNum" sz="quarter" idx="12"/>
          </p:nvPr>
        </p:nvSpPr>
        <p:spPr/>
        <p:txBody>
          <a:bodyPr/>
          <a:lstStyle/>
          <a:p>
            <a:fld id="{CC8B731A-DCF7-4273-BA1A-21517ACBB5E5}" type="slidenum">
              <a:rPr lang="en-GB" smtClean="0"/>
              <a:t>10</a:t>
            </a:fld>
            <a:endParaRPr lang="en-GB"/>
          </a:p>
        </p:txBody>
      </p:sp>
    </p:spTree>
    <p:extLst>
      <p:ext uri="{BB962C8B-B14F-4D97-AF65-F5344CB8AC3E}">
        <p14:creationId xmlns:p14="http://schemas.microsoft.com/office/powerpoint/2010/main" val="1023418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t>1</a:t>
            </a:r>
            <a:r>
              <a:rPr lang="en-US" altLang="ja-JP" b="1" dirty="0"/>
              <a:t>. </a:t>
            </a:r>
            <a:r>
              <a:rPr lang="en-GB" altLang="ja-JP" b="1" dirty="0">
                <a:sym typeface="Arial"/>
              </a:rPr>
              <a:t>My Goal in RubyKaigi 2025</a:t>
            </a:r>
            <a:endParaRPr lang="en-GB" b="1" dirty="0">
              <a:latin typeface="+mn-lt"/>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p:txBody>
          <a:bodyPr>
            <a:normAutofit/>
          </a:bodyPr>
          <a:lstStyle/>
          <a:p>
            <a:pPr marL="0" lvl="1" indent="0" algn="ctr">
              <a:buNone/>
            </a:pPr>
            <a:endParaRPr lang="en-US" altLang="ja-JP" sz="4000" dirty="0"/>
          </a:p>
          <a:p>
            <a:pPr marL="0" lvl="1" indent="0" algn="ctr">
              <a:buNone/>
            </a:pPr>
            <a:endParaRPr lang="en-US" altLang="ja-JP" sz="4000" dirty="0"/>
          </a:p>
          <a:p>
            <a:pPr marL="0" lvl="1" indent="0" algn="ctr">
              <a:buNone/>
            </a:pPr>
            <a:r>
              <a:rPr lang="en-GB" altLang="ja-JP" sz="4000" b="1" dirty="0"/>
              <a:t>To Find A Breakthrough where </a:t>
            </a:r>
          </a:p>
          <a:p>
            <a:pPr marL="0" lvl="1" indent="0" algn="ctr">
              <a:buNone/>
            </a:pPr>
            <a:r>
              <a:rPr lang="en-GB" altLang="ja-JP" sz="4000" b="1" dirty="0"/>
              <a:t>I Can Contribute to Ruby</a:t>
            </a:r>
          </a:p>
          <a:p>
            <a:pPr marL="0" lvl="1" indent="0" algn="ctr">
              <a:buNone/>
            </a:pPr>
            <a:r>
              <a:rPr lang="en-GB" altLang="ja-JP" sz="4000" b="1" dirty="0"/>
              <a:t>as A Linguistics Nerd.</a:t>
            </a:r>
            <a:endParaRPr lang="en-US" altLang="ja-JP" sz="4000" b="1" dirty="0"/>
          </a:p>
        </p:txBody>
      </p:sp>
      <p:sp>
        <p:nvSpPr>
          <p:cNvPr id="5" name="Slide Number Placeholder 4">
            <a:extLst>
              <a:ext uri="{FF2B5EF4-FFF2-40B4-BE49-F238E27FC236}">
                <a16:creationId xmlns:a16="http://schemas.microsoft.com/office/drawing/2014/main" id="{7D748CAB-DA6B-B302-7510-D9539F249174}"/>
              </a:ext>
            </a:extLst>
          </p:cNvPr>
          <p:cNvSpPr>
            <a:spLocks noGrp="1"/>
          </p:cNvSpPr>
          <p:nvPr>
            <p:ph type="sldNum" sz="quarter" idx="12"/>
          </p:nvPr>
        </p:nvSpPr>
        <p:spPr/>
        <p:txBody>
          <a:bodyPr/>
          <a:lstStyle/>
          <a:p>
            <a:fld id="{CC8B731A-DCF7-4273-BA1A-21517ACBB5E5}" type="slidenum">
              <a:rPr lang="en-GB" smtClean="0"/>
              <a:t>11</a:t>
            </a:fld>
            <a:endParaRPr lang="en-GB"/>
          </a:p>
        </p:txBody>
      </p:sp>
    </p:spTree>
    <p:extLst>
      <p:ext uri="{BB962C8B-B14F-4D97-AF65-F5344CB8AC3E}">
        <p14:creationId xmlns:p14="http://schemas.microsoft.com/office/powerpoint/2010/main" val="3715280376"/>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a:extLst>
            <a:ext uri="{FF2B5EF4-FFF2-40B4-BE49-F238E27FC236}">
              <a16:creationId xmlns:a16="http://schemas.microsoft.com/office/drawing/2014/main" id="{DE21DADC-50CE-C104-CC40-508D0423993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B63FCA0-D413-698C-E6E4-24D7581102CB}"/>
              </a:ext>
            </a:extLst>
          </p:cNvPr>
          <p:cNvSpPr>
            <a:spLocks noGrp="1"/>
          </p:cNvSpPr>
          <p:nvPr>
            <p:ph type="title"/>
          </p:nvPr>
        </p:nvSpPr>
        <p:spPr/>
        <p:txBody>
          <a:bodyPr/>
          <a:lstStyle/>
          <a:p>
            <a:pPr algn="ctr"/>
            <a:r>
              <a:rPr lang="en-GB" altLang="ja-JP" b="1" dirty="0"/>
              <a:t>1</a:t>
            </a:r>
            <a:r>
              <a:rPr lang="en-US" altLang="ja-JP" b="1" dirty="0"/>
              <a:t>. </a:t>
            </a:r>
            <a:r>
              <a:rPr lang="en-GB" altLang="ja-JP" b="1" dirty="0">
                <a:sym typeface="Arial"/>
              </a:rPr>
              <a:t>My Goal in RubyKaigi 2025</a:t>
            </a:r>
            <a:endParaRPr lang="en-GB" b="1" dirty="0">
              <a:latin typeface="+mn-lt"/>
            </a:endParaRPr>
          </a:p>
        </p:txBody>
      </p:sp>
      <p:sp>
        <p:nvSpPr>
          <p:cNvPr id="6" name="Content Placeholder 5">
            <a:extLst>
              <a:ext uri="{FF2B5EF4-FFF2-40B4-BE49-F238E27FC236}">
                <a16:creationId xmlns:a16="http://schemas.microsoft.com/office/drawing/2014/main" id="{515B06B6-4539-9BD3-6C45-5B8D805F3F0A}"/>
              </a:ext>
            </a:extLst>
          </p:cNvPr>
          <p:cNvSpPr>
            <a:spLocks noGrp="1"/>
          </p:cNvSpPr>
          <p:nvPr>
            <p:ph idx="1"/>
          </p:nvPr>
        </p:nvSpPr>
        <p:spPr/>
        <p:txBody>
          <a:bodyPr/>
          <a:lstStyle/>
          <a:p>
            <a:pPr marL="0" indent="0">
              <a:buNone/>
            </a:pPr>
            <a:r>
              <a:rPr lang="en-GB" b="1" dirty="0"/>
              <a:t>What brought me this goal?</a:t>
            </a:r>
          </a:p>
          <a:p>
            <a:r>
              <a:rPr lang="en-GB" sz="2400" dirty="0"/>
              <a:t>Have a long development experience in Ruby, but turned away from understanding of its complicated and profound lower layers</a:t>
            </a:r>
          </a:p>
          <a:p>
            <a:r>
              <a:rPr lang="en-GB" sz="2400" dirty="0"/>
              <a:t>The fact made me an immature developer who </a:t>
            </a:r>
            <a:r>
              <a:rPr lang="en-GB" sz="2400" b="1" dirty="0"/>
              <a:t>can use Ruby but cannot make the most of Ruby</a:t>
            </a:r>
          </a:p>
          <a:p>
            <a:r>
              <a:rPr lang="en-GB" sz="2400" dirty="0"/>
              <a:t>Strongly realised it was high time to seriously face and learn the ecosystem and lifecycle on lower layers of Ruby</a:t>
            </a:r>
          </a:p>
          <a:p>
            <a:r>
              <a:rPr lang="en-GB" sz="2400" dirty="0"/>
              <a:t>Wondered what I should cut my teeth on, so I decided to find something linguistic which may bring me a huge interest at RubyKaigi 2025</a:t>
            </a:r>
          </a:p>
        </p:txBody>
      </p:sp>
      <p:sp>
        <p:nvSpPr>
          <p:cNvPr id="3" name="Slide Number Placeholder 2">
            <a:extLst>
              <a:ext uri="{FF2B5EF4-FFF2-40B4-BE49-F238E27FC236}">
                <a16:creationId xmlns:a16="http://schemas.microsoft.com/office/drawing/2014/main" id="{E06CC7A6-538A-1639-6E6F-AA42B364B44B}"/>
              </a:ext>
            </a:extLst>
          </p:cNvPr>
          <p:cNvSpPr>
            <a:spLocks noGrp="1"/>
          </p:cNvSpPr>
          <p:nvPr>
            <p:ph type="sldNum" sz="quarter" idx="12"/>
          </p:nvPr>
        </p:nvSpPr>
        <p:spPr/>
        <p:txBody>
          <a:bodyPr/>
          <a:lstStyle/>
          <a:p>
            <a:fld id="{CC8B731A-DCF7-4273-BA1A-21517ACBB5E5}" type="slidenum">
              <a:rPr lang="en-GB" smtClean="0"/>
              <a:t>12</a:t>
            </a:fld>
            <a:endParaRPr lang="en-GB"/>
          </a:p>
        </p:txBody>
      </p:sp>
    </p:spTree>
    <p:extLst>
      <p:ext uri="{BB962C8B-B14F-4D97-AF65-F5344CB8AC3E}">
        <p14:creationId xmlns:p14="http://schemas.microsoft.com/office/powerpoint/2010/main" val="338585644"/>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a:extLst>
            <a:ext uri="{FF2B5EF4-FFF2-40B4-BE49-F238E27FC236}">
              <a16:creationId xmlns:a16="http://schemas.microsoft.com/office/drawing/2014/main" id="{44F4023B-225A-C06B-B510-1BB43B762E5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E3D9F2-9790-2D6C-49D1-2942477DABCC}"/>
              </a:ext>
            </a:extLst>
          </p:cNvPr>
          <p:cNvSpPr>
            <a:spLocks noGrp="1"/>
          </p:cNvSpPr>
          <p:nvPr>
            <p:ph type="title"/>
          </p:nvPr>
        </p:nvSpPr>
        <p:spPr/>
        <p:txBody>
          <a:bodyPr/>
          <a:lstStyle/>
          <a:p>
            <a:pPr algn="ctr"/>
            <a:r>
              <a:rPr lang="en-GB" altLang="ja-JP" b="1" dirty="0"/>
              <a:t>1</a:t>
            </a:r>
            <a:r>
              <a:rPr lang="en-US" altLang="ja-JP" b="1" dirty="0"/>
              <a:t>. </a:t>
            </a:r>
            <a:r>
              <a:rPr lang="en-GB" altLang="ja-JP" b="1" dirty="0">
                <a:sym typeface="Arial"/>
              </a:rPr>
              <a:t>My Goal in RubyKaigi 2025</a:t>
            </a:r>
            <a:endParaRPr lang="en-GB" b="1" dirty="0">
              <a:latin typeface="+mn-lt"/>
            </a:endParaRPr>
          </a:p>
        </p:txBody>
      </p:sp>
      <p:sp>
        <p:nvSpPr>
          <p:cNvPr id="6" name="Content Placeholder 5">
            <a:extLst>
              <a:ext uri="{FF2B5EF4-FFF2-40B4-BE49-F238E27FC236}">
                <a16:creationId xmlns:a16="http://schemas.microsoft.com/office/drawing/2014/main" id="{5FF5E797-1C8F-409F-715D-305190C77BF4}"/>
              </a:ext>
            </a:extLst>
          </p:cNvPr>
          <p:cNvSpPr>
            <a:spLocks noGrp="1"/>
          </p:cNvSpPr>
          <p:nvPr>
            <p:ph idx="1"/>
          </p:nvPr>
        </p:nvSpPr>
        <p:spPr/>
        <p:txBody>
          <a:bodyPr>
            <a:normAutofit/>
          </a:bodyPr>
          <a:lstStyle/>
          <a:p>
            <a:pPr marL="0" indent="0">
              <a:buNone/>
            </a:pPr>
            <a:r>
              <a:rPr lang="en-GB" b="1" dirty="0"/>
              <a:t>What strategies did I take?</a:t>
            </a:r>
          </a:p>
          <a:p>
            <a:r>
              <a:rPr lang="en-GB" sz="2400" dirty="0"/>
              <a:t>Picked up only the speeches focusing on the field I was interested in</a:t>
            </a:r>
          </a:p>
          <a:p>
            <a:r>
              <a:rPr lang="en-GB" sz="2400" dirty="0"/>
              <a:t>Took notes of keywords which did not make sense and/or attracted me, instead of trying to understand all</a:t>
            </a:r>
          </a:p>
          <a:p>
            <a:r>
              <a:rPr lang="en-GB" sz="2400" dirty="0"/>
              <a:t>Started learning the details of the keywords after RubyKaigi 2025 was over</a:t>
            </a:r>
          </a:p>
        </p:txBody>
      </p:sp>
      <p:sp>
        <p:nvSpPr>
          <p:cNvPr id="3" name="Slide Number Placeholder 2">
            <a:extLst>
              <a:ext uri="{FF2B5EF4-FFF2-40B4-BE49-F238E27FC236}">
                <a16:creationId xmlns:a16="http://schemas.microsoft.com/office/drawing/2014/main" id="{51AFAF5B-6E0A-6F21-C46C-EA7A9A5FE36F}"/>
              </a:ext>
            </a:extLst>
          </p:cNvPr>
          <p:cNvSpPr>
            <a:spLocks noGrp="1"/>
          </p:cNvSpPr>
          <p:nvPr>
            <p:ph type="sldNum" sz="quarter" idx="12"/>
          </p:nvPr>
        </p:nvSpPr>
        <p:spPr/>
        <p:txBody>
          <a:bodyPr/>
          <a:lstStyle/>
          <a:p>
            <a:fld id="{CC8B731A-DCF7-4273-BA1A-21517ACBB5E5}" type="slidenum">
              <a:rPr lang="en-GB" smtClean="0"/>
              <a:t>13</a:t>
            </a:fld>
            <a:endParaRPr lang="en-GB"/>
          </a:p>
        </p:txBody>
      </p:sp>
    </p:spTree>
    <p:extLst>
      <p:ext uri="{BB962C8B-B14F-4D97-AF65-F5344CB8AC3E}">
        <p14:creationId xmlns:p14="http://schemas.microsoft.com/office/powerpoint/2010/main" val="3745997300"/>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t>2. </a:t>
            </a:r>
            <a:r>
              <a:rPr lang="en-GB" altLang="ja-JP" b="1" dirty="0">
                <a:sym typeface="Arial"/>
              </a:rPr>
              <a:t>KaigiEffect -A Field I Have Been Into-</a:t>
            </a:r>
            <a:endParaRPr lang="en-GB" b="1" dirty="0"/>
          </a:p>
        </p:txBody>
      </p:sp>
      <p:sp>
        <p:nvSpPr>
          <p:cNvPr id="3" name="Slide Number Placeholder 2">
            <a:extLst>
              <a:ext uri="{FF2B5EF4-FFF2-40B4-BE49-F238E27FC236}">
                <a16:creationId xmlns:a16="http://schemas.microsoft.com/office/drawing/2014/main" id="{F7BA96A3-7E82-B55B-714D-46245AC0C56A}"/>
              </a:ext>
            </a:extLst>
          </p:cNvPr>
          <p:cNvSpPr>
            <a:spLocks noGrp="1"/>
          </p:cNvSpPr>
          <p:nvPr>
            <p:ph type="sldNum" sz="quarter" idx="12"/>
          </p:nvPr>
        </p:nvSpPr>
        <p:spPr/>
        <p:txBody>
          <a:bodyPr/>
          <a:lstStyle/>
          <a:p>
            <a:fld id="{CC8B731A-DCF7-4273-BA1A-21517ACBB5E5}" type="slidenum">
              <a:rPr lang="en-GB" smtClean="0"/>
              <a:t>14</a:t>
            </a:fld>
            <a:endParaRPr lang="en-GB"/>
          </a:p>
        </p:txBody>
      </p:sp>
    </p:spTree>
    <p:extLst>
      <p:ext uri="{BB962C8B-B14F-4D97-AF65-F5344CB8AC3E}">
        <p14:creationId xmlns:p14="http://schemas.microsoft.com/office/powerpoint/2010/main" val="16111543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t>2. </a:t>
            </a:r>
            <a:r>
              <a:rPr lang="en-GB" altLang="ja-JP" b="1" dirty="0">
                <a:sym typeface="Arial"/>
              </a:rPr>
              <a:t>KaigiEffect -A Field I Have Been Into-</a:t>
            </a:r>
            <a:endParaRPr lang="en-GB" b="1" dirty="0">
              <a:latin typeface="+mn-lt"/>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0" lvl="1" indent="0">
              <a:buNone/>
            </a:pPr>
            <a:r>
              <a:rPr lang="en-GB" altLang="ja-JP" sz="2800" b="1" dirty="0"/>
              <a:t>A Big Interest in Language Processing Ecosystem and Lifecycle</a:t>
            </a:r>
          </a:p>
          <a:p>
            <a:pPr marL="268288" lvl="1" indent="-268288"/>
            <a:r>
              <a:rPr lang="en-GB" altLang="ja-JP" dirty="0"/>
              <a:t>Used not to be interested in parser without any special reasons till this year</a:t>
            </a:r>
            <a:endParaRPr lang="en-GB" altLang="ja-JP" dirty="0">
              <a:hlinkClick r:id="rId3"/>
            </a:endParaRPr>
          </a:p>
          <a:p>
            <a:pPr marL="268288" lvl="1" indent="-268288"/>
            <a:r>
              <a:rPr lang="en-GB" altLang="ja-JP" i="1" dirty="0">
                <a:hlinkClick r:id="rId3"/>
              </a:rPr>
              <a:t>Dissecting and Reconstructing Ruby Syntactic Structures</a:t>
            </a:r>
            <a:r>
              <a:rPr lang="en-GB" altLang="ja-JP" dirty="0"/>
              <a:t> presented by </a:t>
            </a:r>
            <a:r>
              <a:rPr lang="en-GB" altLang="ja-JP" dirty="0">
                <a:hlinkClick r:id="rId4"/>
              </a:rPr>
              <a:t>@ydah_</a:t>
            </a:r>
            <a:r>
              <a:rPr lang="en-GB" altLang="ja-JP" dirty="0"/>
              <a:t> san brought me a huge interested in how Ruby source codes are interpreted</a:t>
            </a:r>
          </a:p>
        </p:txBody>
      </p:sp>
      <p:pic>
        <p:nvPicPr>
          <p:cNvPr id="6" name="Picture 5">
            <a:extLst>
              <a:ext uri="{FF2B5EF4-FFF2-40B4-BE49-F238E27FC236}">
                <a16:creationId xmlns:a16="http://schemas.microsoft.com/office/drawing/2014/main" id="{9A76198C-3756-6B35-778E-43FEDAD7A3B0}"/>
              </a:ext>
            </a:extLst>
          </p:cNvPr>
          <p:cNvPicPr>
            <a:picLocks noChangeAspect="1"/>
          </p:cNvPicPr>
          <p:nvPr/>
        </p:nvPicPr>
        <p:blipFill>
          <a:blip r:embed="rId5">
            <a:extLst>
              <a:ext uri="{28A0092B-C50C-407E-A947-70E740481C1C}">
                <a14:useLocalDpi xmlns:a14="http://schemas.microsoft.com/office/drawing/2010/main" val="0"/>
              </a:ext>
            </a:extLst>
          </a:blip>
          <a:srcRect t="30697"/>
          <a:stretch/>
        </p:blipFill>
        <p:spPr>
          <a:xfrm>
            <a:off x="3306217" y="3429000"/>
            <a:ext cx="5579566" cy="2662099"/>
          </a:xfrm>
          <a:prstGeom prst="rect">
            <a:avLst/>
          </a:prstGeom>
        </p:spPr>
      </p:pic>
      <p:sp>
        <p:nvSpPr>
          <p:cNvPr id="3" name="Slide Number Placeholder 2">
            <a:extLst>
              <a:ext uri="{FF2B5EF4-FFF2-40B4-BE49-F238E27FC236}">
                <a16:creationId xmlns:a16="http://schemas.microsoft.com/office/drawing/2014/main" id="{9A45AD81-A892-EE85-99CC-2E511CE4E23C}"/>
              </a:ext>
            </a:extLst>
          </p:cNvPr>
          <p:cNvSpPr>
            <a:spLocks noGrp="1"/>
          </p:cNvSpPr>
          <p:nvPr>
            <p:ph type="sldNum" sz="quarter" idx="12"/>
          </p:nvPr>
        </p:nvSpPr>
        <p:spPr/>
        <p:txBody>
          <a:bodyPr/>
          <a:lstStyle/>
          <a:p>
            <a:fld id="{CC8B731A-DCF7-4273-BA1A-21517ACBB5E5}" type="slidenum">
              <a:rPr lang="en-GB" smtClean="0"/>
              <a:t>15</a:t>
            </a:fld>
            <a:endParaRPr lang="en-GB"/>
          </a:p>
        </p:txBody>
      </p:sp>
    </p:spTree>
    <p:extLst>
      <p:ext uri="{BB962C8B-B14F-4D97-AF65-F5344CB8AC3E}">
        <p14:creationId xmlns:p14="http://schemas.microsoft.com/office/powerpoint/2010/main" val="12350125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a:extLst>
            <a:ext uri="{FF2B5EF4-FFF2-40B4-BE49-F238E27FC236}">
              <a16:creationId xmlns:a16="http://schemas.microsoft.com/office/drawing/2014/main" id="{BCF8F045-4173-E44F-20BC-716EF613B9D4}"/>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6C332605-6701-C435-F3CC-963D91972832}"/>
              </a:ext>
            </a:extLst>
          </p:cNvPr>
          <p:cNvSpPr>
            <a:spLocks noGrp="1"/>
          </p:cNvSpPr>
          <p:nvPr>
            <p:ph idx="1"/>
          </p:nvPr>
        </p:nvSpPr>
        <p:spPr/>
        <p:txBody>
          <a:bodyPr>
            <a:normAutofit/>
          </a:bodyPr>
          <a:lstStyle/>
          <a:p>
            <a:pPr marL="0" lvl="1" indent="0">
              <a:buNone/>
            </a:pPr>
            <a:r>
              <a:rPr lang="en-GB" altLang="ja-JP" sz="2800" b="1" dirty="0"/>
              <a:t>Discussion with My Colleagues and Collection of Materials</a:t>
            </a:r>
          </a:p>
          <a:p>
            <a:pPr marL="268288" lvl="1" indent="-268288"/>
            <a:r>
              <a:rPr lang="en-GB" altLang="ja-JP" dirty="0"/>
              <a:t>Turned out the ecosystem was more complex than I knew</a:t>
            </a:r>
          </a:p>
          <a:p>
            <a:pPr marL="268288" lvl="1" indent="-268288"/>
            <a:r>
              <a:rPr lang="en-GB" altLang="ja-JP" dirty="0"/>
              <a:t>Would love to know more about details of Ruby language processing system</a:t>
            </a:r>
          </a:p>
          <a:p>
            <a:pPr marL="268288" lvl="1" indent="-268288"/>
            <a:r>
              <a:rPr lang="en-GB" altLang="ja-JP" dirty="0"/>
              <a:t>Discussed what materials are useful to learn Ruby language processing system works with my coworkers who are deeply familiar with the field</a:t>
            </a:r>
          </a:p>
          <a:p>
            <a:pPr marL="268288" lvl="1" indent="-268288"/>
            <a:r>
              <a:rPr lang="en-GB" altLang="ja-JP" dirty="0"/>
              <a:t>Bookmarked the recommended websites and files</a:t>
            </a:r>
          </a:p>
          <a:p>
            <a:pPr marL="268288" lvl="1" indent="-268288"/>
            <a:r>
              <a:rPr lang="en-GB" altLang="ja-JP" dirty="0"/>
              <a:t>I got recommendations on X as well(My best regard to all kind Rubyists)</a:t>
            </a:r>
          </a:p>
          <a:p>
            <a:pPr marL="0" lvl="1" indent="0">
              <a:buNone/>
            </a:pPr>
            <a:endParaRPr lang="en-GB" altLang="ja-JP" dirty="0"/>
          </a:p>
          <a:p>
            <a:pPr marL="0" lvl="1" indent="0">
              <a:buNone/>
            </a:pPr>
            <a:r>
              <a:rPr lang="en-GB" altLang="ja-JP" dirty="0"/>
              <a:t>* Having knowledgeable colleagues is 100% absolutely AN EMPLOYEE WELFARE</a:t>
            </a:r>
          </a:p>
        </p:txBody>
      </p:sp>
      <p:sp>
        <p:nvSpPr>
          <p:cNvPr id="6" name="タイトル 1">
            <a:extLst>
              <a:ext uri="{FF2B5EF4-FFF2-40B4-BE49-F238E27FC236}">
                <a16:creationId xmlns:a16="http://schemas.microsoft.com/office/drawing/2014/main" id="{559CF1DB-8536-9215-04A2-7823F42BC5CD}"/>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en-GB" altLang="ja-JP" b="1" dirty="0">
                <a:sym typeface="Arial"/>
              </a:rPr>
              <a:t>KaigiEffect -A Field I Have Been Into-</a:t>
            </a:r>
            <a:endParaRPr lang="en-GB" b="1" dirty="0">
              <a:latin typeface="+mn-lt"/>
            </a:endParaRPr>
          </a:p>
        </p:txBody>
      </p:sp>
      <p:sp>
        <p:nvSpPr>
          <p:cNvPr id="2" name="Slide Number Placeholder 1">
            <a:extLst>
              <a:ext uri="{FF2B5EF4-FFF2-40B4-BE49-F238E27FC236}">
                <a16:creationId xmlns:a16="http://schemas.microsoft.com/office/drawing/2014/main" id="{49AEDD40-31FA-7595-34A4-C69FB979FFBE}"/>
              </a:ext>
            </a:extLst>
          </p:cNvPr>
          <p:cNvSpPr>
            <a:spLocks noGrp="1"/>
          </p:cNvSpPr>
          <p:nvPr>
            <p:ph type="sldNum" sz="quarter" idx="12"/>
          </p:nvPr>
        </p:nvSpPr>
        <p:spPr/>
        <p:txBody>
          <a:bodyPr/>
          <a:lstStyle/>
          <a:p>
            <a:fld id="{CC8B731A-DCF7-4273-BA1A-21517ACBB5E5}" type="slidenum">
              <a:rPr lang="en-GB" smtClean="0"/>
              <a:t>16</a:t>
            </a:fld>
            <a:endParaRPr lang="en-GB"/>
          </a:p>
        </p:txBody>
      </p:sp>
    </p:spTree>
    <p:extLst>
      <p:ext uri="{BB962C8B-B14F-4D97-AF65-F5344CB8AC3E}">
        <p14:creationId xmlns:p14="http://schemas.microsoft.com/office/powerpoint/2010/main" val="3349711410"/>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a:extLst>
            <a:ext uri="{FF2B5EF4-FFF2-40B4-BE49-F238E27FC236}">
              <a16:creationId xmlns:a16="http://schemas.microsoft.com/office/drawing/2014/main" id="{ABC565DF-57F2-E0D6-9BF9-8ACF4B56DBC4}"/>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EE7F060F-71B3-840E-69AE-9D37FFCF7837}"/>
              </a:ext>
            </a:extLst>
          </p:cNvPr>
          <p:cNvSpPr>
            <a:spLocks noGrp="1"/>
          </p:cNvSpPr>
          <p:nvPr>
            <p:ph idx="1"/>
          </p:nvPr>
        </p:nvSpPr>
        <p:spPr/>
        <p:txBody>
          <a:bodyPr>
            <a:normAutofit/>
          </a:bodyPr>
          <a:lstStyle/>
          <a:p>
            <a:pPr marL="0" lvl="1" indent="0">
              <a:buNone/>
            </a:pPr>
            <a:r>
              <a:rPr lang="en-GB" altLang="ja-JP" sz="2800" b="1" dirty="0"/>
              <a:t>Discussion with My Colleagues and Collection of Materials</a:t>
            </a:r>
            <a:endParaRPr lang="en-GB" altLang="ja-JP" dirty="0"/>
          </a:p>
        </p:txBody>
      </p:sp>
      <p:pic>
        <p:nvPicPr>
          <p:cNvPr id="32" name="Picture 31">
            <a:extLst>
              <a:ext uri="{FF2B5EF4-FFF2-40B4-BE49-F238E27FC236}">
                <a16:creationId xmlns:a16="http://schemas.microsoft.com/office/drawing/2014/main" id="{B176FCA9-1C40-5FAF-24AF-5565ADC187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257007"/>
            <a:ext cx="4492379" cy="3919956"/>
          </a:xfrm>
          <a:prstGeom prst="rect">
            <a:avLst/>
          </a:prstGeom>
        </p:spPr>
      </p:pic>
      <p:pic>
        <p:nvPicPr>
          <p:cNvPr id="33" name="Picture 32">
            <a:extLst>
              <a:ext uri="{FF2B5EF4-FFF2-40B4-BE49-F238E27FC236}">
                <a16:creationId xmlns:a16="http://schemas.microsoft.com/office/drawing/2014/main" id="{F2909127-2C62-9B4C-9D76-C1075F26D7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0579" y="2254637"/>
            <a:ext cx="3958569" cy="3922326"/>
          </a:xfrm>
          <a:prstGeom prst="rect">
            <a:avLst/>
          </a:prstGeom>
        </p:spPr>
      </p:pic>
      <p:sp>
        <p:nvSpPr>
          <p:cNvPr id="37" name="タイトル 1">
            <a:extLst>
              <a:ext uri="{FF2B5EF4-FFF2-40B4-BE49-F238E27FC236}">
                <a16:creationId xmlns:a16="http://schemas.microsoft.com/office/drawing/2014/main" id="{3AF37E2D-A42D-FB7D-6FED-FAC869DDE4E6}"/>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en-GB" altLang="ja-JP" b="1" dirty="0">
                <a:sym typeface="Arial"/>
              </a:rPr>
              <a:t>KaigiEffect -A Field I Have Been Into-</a:t>
            </a:r>
            <a:endParaRPr lang="en-GB" b="1" dirty="0">
              <a:latin typeface="+mn-lt"/>
            </a:endParaRPr>
          </a:p>
        </p:txBody>
      </p:sp>
      <p:sp>
        <p:nvSpPr>
          <p:cNvPr id="38" name="Rectangle 37">
            <a:extLst>
              <a:ext uri="{FF2B5EF4-FFF2-40B4-BE49-F238E27FC236}">
                <a16:creationId xmlns:a16="http://schemas.microsoft.com/office/drawing/2014/main" id="{767FF987-975F-BA24-4E77-D581A8FE950F}"/>
              </a:ext>
            </a:extLst>
          </p:cNvPr>
          <p:cNvSpPr/>
          <p:nvPr/>
        </p:nvSpPr>
        <p:spPr>
          <a:xfrm>
            <a:off x="1097280" y="3158025"/>
            <a:ext cx="1717288" cy="6779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9" name="Rectangle 38">
            <a:extLst>
              <a:ext uri="{FF2B5EF4-FFF2-40B4-BE49-F238E27FC236}">
                <a16:creationId xmlns:a16="http://schemas.microsoft.com/office/drawing/2014/main" id="{5A4F7D74-48A8-DFA3-28FC-A3C573FE02B2}"/>
              </a:ext>
            </a:extLst>
          </p:cNvPr>
          <p:cNvSpPr/>
          <p:nvPr/>
        </p:nvSpPr>
        <p:spPr>
          <a:xfrm>
            <a:off x="5554051" y="2681496"/>
            <a:ext cx="2412380" cy="160949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a:extLst>
              <a:ext uri="{FF2B5EF4-FFF2-40B4-BE49-F238E27FC236}">
                <a16:creationId xmlns:a16="http://schemas.microsoft.com/office/drawing/2014/main" id="{BA6BD3D0-0708-4F95-B6F9-FB710BE9CB53}"/>
              </a:ext>
            </a:extLst>
          </p:cNvPr>
          <p:cNvSpPr>
            <a:spLocks noGrp="1"/>
          </p:cNvSpPr>
          <p:nvPr>
            <p:ph type="sldNum" sz="quarter" idx="12"/>
          </p:nvPr>
        </p:nvSpPr>
        <p:spPr/>
        <p:txBody>
          <a:bodyPr/>
          <a:lstStyle/>
          <a:p>
            <a:fld id="{CC8B731A-DCF7-4273-BA1A-21517ACBB5E5}" type="slidenum">
              <a:rPr lang="en-GB" smtClean="0"/>
              <a:t>17</a:t>
            </a:fld>
            <a:endParaRPr lang="en-GB"/>
          </a:p>
        </p:txBody>
      </p:sp>
    </p:spTree>
    <p:extLst>
      <p:ext uri="{BB962C8B-B14F-4D97-AF65-F5344CB8AC3E}">
        <p14:creationId xmlns:p14="http://schemas.microsoft.com/office/powerpoint/2010/main" val="3465021867"/>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a:extLst>
            <a:ext uri="{FF2B5EF4-FFF2-40B4-BE49-F238E27FC236}">
              <a16:creationId xmlns:a16="http://schemas.microsoft.com/office/drawing/2014/main" id="{414138A1-FBC6-7DDA-8D49-B105337EF240}"/>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C067B8E2-5052-4BC8-8027-F68B4F9393B7}"/>
              </a:ext>
            </a:extLst>
          </p:cNvPr>
          <p:cNvSpPr>
            <a:spLocks noGrp="1"/>
          </p:cNvSpPr>
          <p:nvPr>
            <p:ph idx="1"/>
          </p:nvPr>
        </p:nvSpPr>
        <p:spPr/>
        <p:txBody>
          <a:bodyPr>
            <a:normAutofit/>
          </a:bodyPr>
          <a:lstStyle/>
          <a:p>
            <a:pPr marL="0" lvl="1" indent="0">
              <a:buNone/>
            </a:pPr>
            <a:r>
              <a:rPr lang="en-GB" altLang="ja-JP" sz="2800" b="1" dirty="0"/>
              <a:t>Discussion with My Colleagues and Collection of Materials</a:t>
            </a:r>
            <a:endParaRPr lang="en-GB" altLang="ja-JP" dirty="0"/>
          </a:p>
        </p:txBody>
      </p:sp>
      <p:pic>
        <p:nvPicPr>
          <p:cNvPr id="34" name="Picture 33">
            <a:extLst>
              <a:ext uri="{FF2B5EF4-FFF2-40B4-BE49-F238E27FC236}">
                <a16:creationId xmlns:a16="http://schemas.microsoft.com/office/drawing/2014/main" id="{A65D9290-B11E-3DC6-F7E0-3D4F4CD1B741}"/>
              </a:ext>
            </a:extLst>
          </p:cNvPr>
          <p:cNvPicPr>
            <a:picLocks noChangeAspect="1"/>
          </p:cNvPicPr>
          <p:nvPr/>
        </p:nvPicPr>
        <p:blipFill>
          <a:blip r:embed="rId4">
            <a:extLst>
              <a:ext uri="{28A0092B-C50C-407E-A947-70E740481C1C}">
                <a14:useLocalDpi xmlns:a14="http://schemas.microsoft.com/office/drawing/2010/main" val="0"/>
              </a:ext>
            </a:extLst>
          </a:blip>
          <a:srcRect r="30109"/>
          <a:stretch/>
        </p:blipFill>
        <p:spPr>
          <a:xfrm>
            <a:off x="838200" y="2254637"/>
            <a:ext cx="3135344" cy="3922326"/>
          </a:xfrm>
          <a:prstGeom prst="rect">
            <a:avLst/>
          </a:prstGeom>
        </p:spPr>
      </p:pic>
      <p:pic>
        <p:nvPicPr>
          <p:cNvPr id="20" name="Picture 19">
            <a:extLst>
              <a:ext uri="{FF2B5EF4-FFF2-40B4-BE49-F238E27FC236}">
                <a16:creationId xmlns:a16="http://schemas.microsoft.com/office/drawing/2014/main" id="{124AF838-CD89-9307-BB11-289350F812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73544" y="2254637"/>
            <a:ext cx="4369817" cy="3918538"/>
          </a:xfrm>
          <a:prstGeom prst="rect">
            <a:avLst/>
          </a:prstGeom>
        </p:spPr>
      </p:pic>
      <p:sp>
        <p:nvSpPr>
          <p:cNvPr id="17" name="タイトル 1">
            <a:extLst>
              <a:ext uri="{FF2B5EF4-FFF2-40B4-BE49-F238E27FC236}">
                <a16:creationId xmlns:a16="http://schemas.microsoft.com/office/drawing/2014/main" id="{9A62E117-1501-8FF8-05E6-D72CF928F895}"/>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en-GB" altLang="ja-JP" b="1" dirty="0">
                <a:sym typeface="Arial"/>
              </a:rPr>
              <a:t>KaigiEffect -A Field I Have Been Into-</a:t>
            </a:r>
            <a:endParaRPr lang="en-GB" b="1" dirty="0">
              <a:latin typeface="+mn-lt"/>
            </a:endParaRPr>
          </a:p>
        </p:txBody>
      </p:sp>
      <p:sp>
        <p:nvSpPr>
          <p:cNvPr id="23" name="Rectangle 22">
            <a:extLst>
              <a:ext uri="{FF2B5EF4-FFF2-40B4-BE49-F238E27FC236}">
                <a16:creationId xmlns:a16="http://schemas.microsoft.com/office/drawing/2014/main" id="{BE2BEABD-141E-1BD2-13F9-3D5B5F971CA2}"/>
              </a:ext>
            </a:extLst>
          </p:cNvPr>
          <p:cNvSpPr/>
          <p:nvPr/>
        </p:nvSpPr>
        <p:spPr>
          <a:xfrm>
            <a:off x="1111404" y="2351420"/>
            <a:ext cx="2822745" cy="270677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911E04F5-9161-0CE4-9CB6-A666AF48E472}"/>
              </a:ext>
            </a:extLst>
          </p:cNvPr>
          <p:cNvSpPr/>
          <p:nvPr/>
        </p:nvSpPr>
        <p:spPr>
          <a:xfrm>
            <a:off x="4207354" y="2410150"/>
            <a:ext cx="2791152" cy="257667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a:extLst>
              <a:ext uri="{FF2B5EF4-FFF2-40B4-BE49-F238E27FC236}">
                <a16:creationId xmlns:a16="http://schemas.microsoft.com/office/drawing/2014/main" id="{A2A60747-71AD-F2E5-7B4D-2F48AEA6E799}"/>
              </a:ext>
            </a:extLst>
          </p:cNvPr>
          <p:cNvSpPr>
            <a:spLocks noGrp="1"/>
          </p:cNvSpPr>
          <p:nvPr>
            <p:ph type="sldNum" sz="quarter" idx="12"/>
          </p:nvPr>
        </p:nvSpPr>
        <p:spPr/>
        <p:txBody>
          <a:bodyPr/>
          <a:lstStyle/>
          <a:p>
            <a:fld id="{CC8B731A-DCF7-4273-BA1A-21517ACBB5E5}" type="slidenum">
              <a:rPr lang="en-GB" smtClean="0"/>
              <a:t>18</a:t>
            </a:fld>
            <a:endParaRPr lang="en-GB"/>
          </a:p>
        </p:txBody>
      </p:sp>
    </p:spTree>
    <p:extLst>
      <p:ext uri="{BB962C8B-B14F-4D97-AF65-F5344CB8AC3E}">
        <p14:creationId xmlns:p14="http://schemas.microsoft.com/office/powerpoint/2010/main" val="3384255611"/>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a:extLst>
            <a:ext uri="{FF2B5EF4-FFF2-40B4-BE49-F238E27FC236}">
              <a16:creationId xmlns:a16="http://schemas.microsoft.com/office/drawing/2014/main" id="{8DEBEB98-75FC-68E8-0FD1-CE6D6000065C}"/>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195AEC14-A131-0F8C-214A-684508779EC4}"/>
              </a:ext>
            </a:extLst>
          </p:cNvPr>
          <p:cNvSpPr>
            <a:spLocks noGrp="1"/>
          </p:cNvSpPr>
          <p:nvPr>
            <p:ph idx="1"/>
          </p:nvPr>
        </p:nvSpPr>
        <p:spPr/>
        <p:txBody>
          <a:bodyPr>
            <a:normAutofit/>
          </a:bodyPr>
          <a:lstStyle/>
          <a:p>
            <a:pPr marL="0" lvl="1" indent="0">
              <a:buNone/>
            </a:pPr>
            <a:r>
              <a:rPr lang="en-GB" altLang="ja-JP" sz="2800" b="1" dirty="0"/>
              <a:t>Discussion with My Colleagues and Collection of Materials</a:t>
            </a:r>
            <a:endParaRPr lang="en-GB" altLang="ja-JP" dirty="0"/>
          </a:p>
        </p:txBody>
      </p:sp>
      <p:pic>
        <p:nvPicPr>
          <p:cNvPr id="23" name="Picture 22">
            <a:extLst>
              <a:ext uri="{FF2B5EF4-FFF2-40B4-BE49-F238E27FC236}">
                <a16:creationId xmlns:a16="http://schemas.microsoft.com/office/drawing/2014/main" id="{F97C312E-0F06-A741-9085-90F821782756}"/>
              </a:ext>
            </a:extLst>
          </p:cNvPr>
          <p:cNvPicPr>
            <a:picLocks noChangeAspect="1"/>
          </p:cNvPicPr>
          <p:nvPr/>
        </p:nvPicPr>
        <p:blipFill>
          <a:blip r:embed="rId4">
            <a:extLst>
              <a:ext uri="{28A0092B-C50C-407E-A947-70E740481C1C}">
                <a14:useLocalDpi xmlns:a14="http://schemas.microsoft.com/office/drawing/2010/main" val="0"/>
              </a:ext>
            </a:extLst>
          </a:blip>
          <a:srcRect t="705" r="31432" b="102"/>
          <a:stretch/>
        </p:blipFill>
        <p:spPr>
          <a:xfrm>
            <a:off x="838200" y="2236796"/>
            <a:ext cx="5646627" cy="3888000"/>
          </a:xfrm>
          <a:prstGeom prst="rect">
            <a:avLst/>
          </a:prstGeom>
        </p:spPr>
      </p:pic>
      <p:sp>
        <p:nvSpPr>
          <p:cNvPr id="26" name="タイトル 1">
            <a:extLst>
              <a:ext uri="{FF2B5EF4-FFF2-40B4-BE49-F238E27FC236}">
                <a16:creationId xmlns:a16="http://schemas.microsoft.com/office/drawing/2014/main" id="{6393F45B-7EAD-0B69-F764-C81E7B474FAD}"/>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en-GB" altLang="ja-JP" b="1" dirty="0">
                <a:sym typeface="Arial"/>
              </a:rPr>
              <a:t>KaigiEffect -A Field I Have Been Into-</a:t>
            </a:r>
            <a:endParaRPr lang="en-GB" b="1" dirty="0">
              <a:latin typeface="+mn-lt"/>
            </a:endParaRPr>
          </a:p>
        </p:txBody>
      </p:sp>
      <p:sp>
        <p:nvSpPr>
          <p:cNvPr id="31" name="Rectangle 30">
            <a:extLst>
              <a:ext uri="{FF2B5EF4-FFF2-40B4-BE49-F238E27FC236}">
                <a16:creationId xmlns:a16="http://schemas.microsoft.com/office/drawing/2014/main" id="{C952DDBE-2C3D-42A8-6B1C-999C1E8C3578}"/>
              </a:ext>
            </a:extLst>
          </p:cNvPr>
          <p:cNvSpPr/>
          <p:nvPr/>
        </p:nvSpPr>
        <p:spPr>
          <a:xfrm>
            <a:off x="1107314" y="3841880"/>
            <a:ext cx="4834055" cy="170241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a:extLst>
              <a:ext uri="{FF2B5EF4-FFF2-40B4-BE49-F238E27FC236}">
                <a16:creationId xmlns:a16="http://schemas.microsoft.com/office/drawing/2014/main" id="{779FA719-731B-B48E-FB42-9A0D075CC75B}"/>
              </a:ext>
            </a:extLst>
          </p:cNvPr>
          <p:cNvSpPr>
            <a:spLocks noGrp="1"/>
          </p:cNvSpPr>
          <p:nvPr>
            <p:ph type="sldNum" sz="quarter" idx="12"/>
          </p:nvPr>
        </p:nvSpPr>
        <p:spPr/>
        <p:txBody>
          <a:bodyPr/>
          <a:lstStyle/>
          <a:p>
            <a:fld id="{CC8B731A-DCF7-4273-BA1A-21517ACBB5E5}" type="slidenum">
              <a:rPr lang="en-GB" smtClean="0"/>
              <a:t>19</a:t>
            </a:fld>
            <a:endParaRPr lang="en-GB"/>
          </a:p>
        </p:txBody>
      </p:sp>
    </p:spTree>
    <p:extLst>
      <p:ext uri="{BB962C8B-B14F-4D97-AF65-F5344CB8AC3E}">
        <p14:creationId xmlns:p14="http://schemas.microsoft.com/office/powerpoint/2010/main" val="2586666217"/>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a:extLst>
            <a:ext uri="{FF2B5EF4-FFF2-40B4-BE49-F238E27FC236}">
              <a16:creationId xmlns:a16="http://schemas.microsoft.com/office/drawing/2014/main" id="{A2D56077-D1E3-AB41-2976-9E33553BCBC8}"/>
            </a:ext>
          </a:extLst>
        </p:cNvPr>
        <p:cNvGrpSpPr/>
        <p:nvPr/>
      </p:nvGrpSpPr>
      <p:grpSpPr>
        <a:xfrm>
          <a:off x="0" y="0"/>
          <a:ext cx="0" cy="0"/>
          <a:chOff x="0" y="0"/>
          <a:chExt cx="0" cy="0"/>
        </a:xfrm>
      </p:grpSpPr>
      <p:pic>
        <p:nvPicPr>
          <p:cNvPr id="34" name="Picture 33">
            <a:extLst>
              <a:ext uri="{FF2B5EF4-FFF2-40B4-BE49-F238E27FC236}">
                <a16:creationId xmlns:a16="http://schemas.microsoft.com/office/drawing/2014/main" id="{C7292550-C313-CE37-89DF-79BA3A3A2905}"/>
              </a:ext>
            </a:extLst>
          </p:cNvPr>
          <p:cNvPicPr>
            <a:picLocks noChangeAspect="1"/>
          </p:cNvPicPr>
          <p:nvPr/>
        </p:nvPicPr>
        <p:blipFill>
          <a:blip r:embed="rId4">
            <a:extLst>
              <a:ext uri="{28A0092B-C50C-407E-A947-70E740481C1C}">
                <a14:useLocalDpi xmlns:a14="http://schemas.microsoft.com/office/drawing/2010/main" val="0"/>
              </a:ext>
            </a:extLst>
          </a:blip>
          <a:srcRect l="14" t="452" r="18912" b="454"/>
          <a:stretch/>
        </p:blipFill>
        <p:spPr>
          <a:xfrm>
            <a:off x="838200" y="2252963"/>
            <a:ext cx="9884442" cy="3924000"/>
          </a:xfrm>
          <a:prstGeom prst="rect">
            <a:avLst/>
          </a:prstGeom>
          <a:ln>
            <a:noFill/>
          </a:ln>
        </p:spPr>
      </p:pic>
      <p:sp>
        <p:nvSpPr>
          <p:cNvPr id="9" name="コンテンツ プレースホルダー 2">
            <a:extLst>
              <a:ext uri="{FF2B5EF4-FFF2-40B4-BE49-F238E27FC236}">
                <a16:creationId xmlns:a16="http://schemas.microsoft.com/office/drawing/2014/main" id="{56CA4EB3-0085-CCEE-8820-0FCC9F13BAA0}"/>
              </a:ext>
            </a:extLst>
          </p:cNvPr>
          <p:cNvSpPr>
            <a:spLocks noGrp="1"/>
          </p:cNvSpPr>
          <p:nvPr>
            <p:ph idx="1"/>
          </p:nvPr>
        </p:nvSpPr>
        <p:spPr/>
        <p:txBody>
          <a:bodyPr>
            <a:normAutofit/>
          </a:bodyPr>
          <a:lstStyle/>
          <a:p>
            <a:pPr marL="0" lvl="1" indent="0">
              <a:buNone/>
            </a:pPr>
            <a:r>
              <a:rPr lang="en-GB" altLang="ja-JP" sz="2800" b="1" dirty="0"/>
              <a:t>Discussion with My Colleagues and Collection of Materials</a:t>
            </a:r>
            <a:endParaRPr lang="en-GB" altLang="ja-JP" dirty="0"/>
          </a:p>
        </p:txBody>
      </p:sp>
      <p:sp>
        <p:nvSpPr>
          <p:cNvPr id="26" name="タイトル 1">
            <a:extLst>
              <a:ext uri="{FF2B5EF4-FFF2-40B4-BE49-F238E27FC236}">
                <a16:creationId xmlns:a16="http://schemas.microsoft.com/office/drawing/2014/main" id="{4B2A9EAE-5198-6507-FA9F-414406542A9E}"/>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en-GB" altLang="ja-JP" b="1" dirty="0">
                <a:sym typeface="Arial"/>
              </a:rPr>
              <a:t>KaigiEffect -A Field I Have Been Into-</a:t>
            </a:r>
            <a:endParaRPr lang="en-GB" b="1" dirty="0">
              <a:latin typeface="+mn-lt"/>
            </a:endParaRPr>
          </a:p>
        </p:txBody>
      </p:sp>
      <p:sp>
        <p:nvSpPr>
          <p:cNvPr id="5" name="Rectangle 4">
            <a:extLst>
              <a:ext uri="{FF2B5EF4-FFF2-40B4-BE49-F238E27FC236}">
                <a16:creationId xmlns:a16="http://schemas.microsoft.com/office/drawing/2014/main" id="{55DBE519-9323-2510-8838-D679BAB9A056}"/>
              </a:ext>
            </a:extLst>
          </p:cNvPr>
          <p:cNvSpPr/>
          <p:nvPr/>
        </p:nvSpPr>
        <p:spPr>
          <a:xfrm>
            <a:off x="1361562" y="2468138"/>
            <a:ext cx="7568335" cy="92629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a:extLst>
              <a:ext uri="{FF2B5EF4-FFF2-40B4-BE49-F238E27FC236}">
                <a16:creationId xmlns:a16="http://schemas.microsoft.com/office/drawing/2014/main" id="{B3C083B0-C1AD-841C-E27C-765F0E8EF26E}"/>
              </a:ext>
            </a:extLst>
          </p:cNvPr>
          <p:cNvSpPr/>
          <p:nvPr/>
        </p:nvSpPr>
        <p:spPr>
          <a:xfrm>
            <a:off x="1261945" y="5040351"/>
            <a:ext cx="7984646" cy="114572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Slide Number Placeholder 1">
            <a:extLst>
              <a:ext uri="{FF2B5EF4-FFF2-40B4-BE49-F238E27FC236}">
                <a16:creationId xmlns:a16="http://schemas.microsoft.com/office/drawing/2014/main" id="{90742A25-F8C2-A4CC-AB35-A29BC55CDDF9}"/>
              </a:ext>
            </a:extLst>
          </p:cNvPr>
          <p:cNvSpPr>
            <a:spLocks noGrp="1"/>
          </p:cNvSpPr>
          <p:nvPr>
            <p:ph type="sldNum" sz="quarter" idx="12"/>
          </p:nvPr>
        </p:nvSpPr>
        <p:spPr/>
        <p:txBody>
          <a:bodyPr/>
          <a:lstStyle/>
          <a:p>
            <a:fld id="{CC8B731A-DCF7-4273-BA1A-21517ACBB5E5}" type="slidenum">
              <a:rPr lang="en-GB" smtClean="0"/>
              <a:t>20</a:t>
            </a:fld>
            <a:endParaRPr lang="en-GB"/>
          </a:p>
        </p:txBody>
      </p:sp>
    </p:spTree>
    <p:extLst>
      <p:ext uri="{BB962C8B-B14F-4D97-AF65-F5344CB8AC3E}">
        <p14:creationId xmlns:p14="http://schemas.microsoft.com/office/powerpoint/2010/main" val="3597829660"/>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a:extLst>
            <a:ext uri="{FF2B5EF4-FFF2-40B4-BE49-F238E27FC236}">
              <a16:creationId xmlns:a16="http://schemas.microsoft.com/office/drawing/2014/main" id="{3C90ED79-BE94-4CDD-9D9C-1C659D234F9C}"/>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0078A119-D605-D6CD-C342-DCA1BE59CB85}"/>
              </a:ext>
            </a:extLst>
          </p:cNvPr>
          <p:cNvSpPr>
            <a:spLocks noGrp="1"/>
          </p:cNvSpPr>
          <p:nvPr>
            <p:ph idx="1"/>
          </p:nvPr>
        </p:nvSpPr>
        <p:spPr/>
        <p:txBody>
          <a:bodyPr>
            <a:normAutofit fontScale="55000" lnSpcReduction="20000"/>
          </a:bodyPr>
          <a:lstStyle/>
          <a:p>
            <a:pPr marL="0" lvl="1" indent="0">
              <a:buNone/>
            </a:pPr>
            <a:r>
              <a:rPr lang="en-GB" altLang="ja-JP" sz="4000" b="1" dirty="0"/>
              <a:t>What am I learning by?</a:t>
            </a:r>
            <a:endParaRPr lang="en-GB" altLang="ja-JP" sz="2800" b="1" dirty="0"/>
          </a:p>
          <a:p>
            <a:pPr marL="268288" lvl="1" indent="-268288">
              <a:tabLst>
                <a:tab pos="268288" algn="l"/>
              </a:tabLst>
            </a:pPr>
            <a:r>
              <a:rPr lang="en-US" altLang="ja-JP" sz="3600" dirty="0">
                <a:hlinkClick r:id="rId4"/>
              </a:rPr>
              <a:t>LLVM Language Reference Manual</a:t>
            </a:r>
            <a:endParaRPr lang="en-US" altLang="ja-JP" sz="3600" dirty="0"/>
          </a:p>
          <a:p>
            <a:pPr marL="268288" lvl="1" indent="-268288">
              <a:tabLst>
                <a:tab pos="268288" algn="l"/>
              </a:tabLst>
            </a:pPr>
            <a:r>
              <a:rPr lang="en-US" altLang="ja-JP" sz="3600" dirty="0">
                <a:hlinkClick r:id="rId5"/>
              </a:rPr>
              <a:t>Parsing Techniques</a:t>
            </a:r>
            <a:endParaRPr lang="en-US" altLang="ja-JP" sz="3600" dirty="0"/>
          </a:p>
          <a:p>
            <a:pPr marL="268288" lvl="1" indent="-268288">
              <a:tabLst>
                <a:tab pos="268288" algn="l"/>
              </a:tabLst>
            </a:pPr>
            <a:r>
              <a:rPr lang="ja-JP" altLang="en-US" sz="3600" dirty="0">
                <a:hlinkClick r:id="rId6"/>
              </a:rPr>
              <a:t>低レイヤを知りたい人のための </a:t>
            </a:r>
            <a:r>
              <a:rPr lang="en-US" altLang="ja-JP" sz="3600" dirty="0">
                <a:hlinkClick r:id="rId6"/>
              </a:rPr>
              <a:t>C </a:t>
            </a:r>
            <a:r>
              <a:rPr lang="ja-JP" altLang="en-US" sz="3600" dirty="0">
                <a:hlinkClick r:id="rId6"/>
              </a:rPr>
              <a:t>コンパイラ作成入門</a:t>
            </a:r>
            <a:endParaRPr lang="ja-JP" altLang="en-US" sz="3600" dirty="0"/>
          </a:p>
          <a:p>
            <a:pPr marL="268288" lvl="1" indent="-268288">
              <a:tabLst>
                <a:tab pos="268288" algn="l"/>
              </a:tabLst>
            </a:pPr>
            <a:r>
              <a:rPr lang="en-US" altLang="ja-JP" sz="3600" dirty="0">
                <a:hlinkClick r:id="rId7"/>
              </a:rPr>
              <a:t>MIPS </a:t>
            </a:r>
            <a:r>
              <a:rPr lang="ja-JP" altLang="en-US" sz="3600" dirty="0">
                <a:hlinkClick r:id="rId7"/>
              </a:rPr>
              <a:t>アーキテクチャ</a:t>
            </a:r>
            <a:endParaRPr lang="ja-JP" altLang="en-US" sz="3600" dirty="0"/>
          </a:p>
          <a:p>
            <a:pPr marL="268288" lvl="1" indent="-268288">
              <a:buClr>
                <a:srgbClr val="00B050"/>
              </a:buClr>
              <a:buFont typeface="Wingdings" panose="05000000000000000000" pitchFamily="2" charset="2"/>
              <a:buChar char="ü"/>
              <a:tabLst>
                <a:tab pos="268288" algn="l"/>
              </a:tabLst>
            </a:pPr>
            <a:r>
              <a:rPr lang="ja-JP" altLang="en-US" sz="3600" dirty="0">
                <a:hlinkClick r:id="rId8"/>
              </a:rPr>
              <a:t>うさぎでもわかる計算機システム </a:t>
            </a:r>
            <a:r>
              <a:rPr lang="en-US" altLang="ja-JP" sz="3600" dirty="0">
                <a:hlinkClick r:id="rId8"/>
              </a:rPr>
              <a:t>Part10 </a:t>
            </a:r>
            <a:r>
              <a:rPr lang="ja-JP" altLang="en-US" sz="3600" dirty="0">
                <a:hlinkClick r:id="rId8"/>
              </a:rPr>
              <a:t>コンパイラの基礎・分割コンパイルの流れ</a:t>
            </a:r>
            <a:endParaRPr lang="ja-JP" altLang="en-US" sz="3600" dirty="0"/>
          </a:p>
          <a:p>
            <a:pPr marL="268288" lvl="1" indent="-268288">
              <a:buClr>
                <a:srgbClr val="00B050"/>
              </a:buClr>
              <a:buFont typeface="Wingdings" panose="05000000000000000000" pitchFamily="2" charset="2"/>
              <a:buChar char="ü"/>
              <a:tabLst>
                <a:tab pos="268288" algn="l"/>
              </a:tabLst>
            </a:pPr>
            <a:r>
              <a:rPr lang="ja-JP" altLang="en-US" sz="3600" dirty="0">
                <a:hlinkClick r:id="rId9"/>
              </a:rPr>
              <a:t>うさぎでもわかる計算機システム </a:t>
            </a:r>
            <a:r>
              <a:rPr lang="en-US" altLang="ja-JP" sz="3600" dirty="0">
                <a:hlinkClick r:id="rId9"/>
              </a:rPr>
              <a:t>Part11</a:t>
            </a:r>
            <a:r>
              <a:rPr lang="ja-JP" altLang="en-US" sz="3600" dirty="0">
                <a:hlinkClick r:id="rId9"/>
              </a:rPr>
              <a:t>コンパイラの処理の流れ</a:t>
            </a:r>
            <a:r>
              <a:rPr lang="en-US" altLang="ja-JP" sz="3600" dirty="0">
                <a:hlinkClick r:id="rId9"/>
              </a:rPr>
              <a:t>(</a:t>
            </a:r>
            <a:r>
              <a:rPr lang="ja-JP" altLang="en-US" sz="3600" dirty="0">
                <a:hlinkClick r:id="rId9"/>
              </a:rPr>
              <a:t>字句解析と意味解析のしくみ</a:t>
            </a:r>
            <a:r>
              <a:rPr lang="en-US" altLang="ja-JP" sz="3600" dirty="0">
                <a:hlinkClick r:id="rId9"/>
              </a:rPr>
              <a:t>)</a:t>
            </a:r>
            <a:endParaRPr lang="en-US" altLang="ja-JP" sz="3600" dirty="0"/>
          </a:p>
          <a:p>
            <a:pPr marL="268288" lvl="1" indent="-268288">
              <a:buClr>
                <a:srgbClr val="00B050"/>
              </a:buClr>
              <a:buFont typeface="Wingdings" panose="05000000000000000000" pitchFamily="2" charset="2"/>
              <a:buChar char="ü"/>
              <a:tabLst>
                <a:tab pos="268288" algn="l"/>
              </a:tabLst>
            </a:pPr>
            <a:r>
              <a:rPr lang="en-US" altLang="ja-JP" sz="3600" dirty="0">
                <a:hlinkClick r:id="rId10"/>
              </a:rPr>
              <a:t>Ruby Parser </a:t>
            </a:r>
            <a:r>
              <a:rPr lang="ja-JP" altLang="en-US" sz="3600" dirty="0">
                <a:hlinkClick r:id="rId10"/>
              </a:rPr>
              <a:t>開発日誌</a:t>
            </a:r>
            <a:r>
              <a:rPr lang="en-US" altLang="ja-JP" sz="3600" dirty="0">
                <a:hlinkClick r:id="rId10"/>
              </a:rPr>
              <a:t>(14) - LR parser </a:t>
            </a:r>
            <a:r>
              <a:rPr lang="ja-JP" altLang="en-US" sz="3600" dirty="0">
                <a:hlinkClick r:id="rId10"/>
              </a:rPr>
              <a:t>完全に理解した</a:t>
            </a:r>
            <a:endParaRPr lang="ja-JP" altLang="en-US" sz="3600" dirty="0"/>
          </a:p>
          <a:p>
            <a:pPr marL="268288" lvl="1" indent="-268288">
              <a:buClr>
                <a:srgbClr val="00B050"/>
              </a:buClr>
              <a:buFont typeface="Wingdings" panose="05000000000000000000" pitchFamily="2" charset="2"/>
              <a:buChar char="ü"/>
              <a:tabLst>
                <a:tab pos="268288" algn="l"/>
              </a:tabLst>
            </a:pPr>
            <a:r>
              <a:rPr lang="ja-JP" altLang="en-US" sz="3600" dirty="0">
                <a:hlinkClick r:id="rId11"/>
              </a:rPr>
              <a:t>オートマトンと言語理論 学習記 </a:t>
            </a:r>
            <a:r>
              <a:rPr lang="en-US" altLang="ja-JP" sz="3600" dirty="0">
                <a:hlinkClick r:id="rId11"/>
              </a:rPr>
              <a:t>#1: </a:t>
            </a:r>
            <a:r>
              <a:rPr lang="ja-JP" altLang="en-US" sz="3600" dirty="0">
                <a:hlinkClick r:id="rId11"/>
              </a:rPr>
              <a:t>オートマトンとは何か </a:t>
            </a:r>
            <a:r>
              <a:rPr lang="en-US" altLang="ja-JP" sz="3600" dirty="0">
                <a:hlinkClick r:id="rId11"/>
              </a:rPr>
              <a:t>-</a:t>
            </a:r>
            <a:endParaRPr lang="en-US" altLang="ja-JP" sz="3600" dirty="0"/>
          </a:p>
          <a:p>
            <a:pPr marL="268288" lvl="1" indent="-268288">
              <a:buClr>
                <a:srgbClr val="00B050"/>
              </a:buClr>
              <a:buFont typeface="Wingdings" panose="05000000000000000000" pitchFamily="2" charset="2"/>
              <a:buChar char="ü"/>
              <a:tabLst>
                <a:tab pos="268288" algn="l"/>
              </a:tabLst>
            </a:pPr>
            <a:r>
              <a:rPr lang="ja-JP" altLang="en-US" sz="3600" dirty="0">
                <a:hlinkClick r:id="rId12"/>
              </a:rPr>
              <a:t>オートマトンと言語理論 学習記 </a:t>
            </a:r>
            <a:r>
              <a:rPr lang="en-US" altLang="ja-JP" sz="3600" dirty="0">
                <a:hlinkClick r:id="rId12"/>
              </a:rPr>
              <a:t>#2: </a:t>
            </a:r>
            <a:r>
              <a:rPr lang="ja-JP" altLang="en-US" sz="3600" dirty="0">
                <a:hlinkClick r:id="rId12"/>
              </a:rPr>
              <a:t>有限オートマトン </a:t>
            </a:r>
            <a:r>
              <a:rPr lang="en-US" altLang="ja-JP" sz="3600" dirty="0">
                <a:hlinkClick r:id="rId12"/>
              </a:rPr>
              <a:t>-</a:t>
            </a:r>
            <a:endParaRPr lang="en-US" altLang="ja-JP" sz="3600" dirty="0"/>
          </a:p>
          <a:p>
            <a:pPr marL="268288" lvl="1" indent="-268288">
              <a:buClr>
                <a:srgbClr val="00B050"/>
              </a:buClr>
              <a:buFont typeface="Wingdings" panose="05000000000000000000" pitchFamily="2" charset="2"/>
              <a:buChar char="ü"/>
              <a:tabLst>
                <a:tab pos="268288" algn="l"/>
              </a:tabLst>
            </a:pPr>
            <a:r>
              <a:rPr lang="en-US" altLang="ja-JP" sz="3600" dirty="0">
                <a:hlinkClick r:id="rId13"/>
              </a:rPr>
              <a:t>Ruby </a:t>
            </a:r>
            <a:r>
              <a:rPr lang="ja-JP" altLang="en-US" sz="3600" dirty="0">
                <a:hlinkClick r:id="rId13"/>
              </a:rPr>
              <a:t>の中身の予備知識 </a:t>
            </a:r>
            <a:r>
              <a:rPr lang="en-US" altLang="ja-JP" sz="3600" dirty="0" err="1">
                <a:hlinkClick r:id="rId13"/>
              </a:rPr>
              <a:t>RubyKaigi</a:t>
            </a:r>
            <a:r>
              <a:rPr lang="en-US" altLang="ja-JP" sz="3600" dirty="0">
                <a:hlinkClick r:id="rId13"/>
              </a:rPr>
              <a:t> </a:t>
            </a:r>
            <a:r>
              <a:rPr lang="ja-JP" altLang="en-US" sz="3600" dirty="0">
                <a:hlinkClick r:id="rId13"/>
              </a:rPr>
              <a:t>の前に知り鯛！</a:t>
            </a:r>
            <a:endParaRPr lang="ja-JP" altLang="en-US" sz="3600" dirty="0"/>
          </a:p>
          <a:p>
            <a:pPr marL="268288" lvl="1" indent="-268288">
              <a:buClr>
                <a:srgbClr val="00B050"/>
              </a:buClr>
              <a:buFont typeface="Wingdings" panose="05000000000000000000" pitchFamily="2" charset="2"/>
              <a:buChar char="ü"/>
              <a:tabLst>
                <a:tab pos="268288" algn="l"/>
              </a:tabLst>
            </a:pPr>
            <a:r>
              <a:rPr lang="ja-JP" altLang="en-US" sz="3600" dirty="0">
                <a:hlinkClick r:id="rId14"/>
              </a:rPr>
              <a:t>たのしい </a:t>
            </a:r>
            <a:r>
              <a:rPr lang="en-US" altLang="ja-JP" sz="3600" dirty="0">
                <a:hlinkClick r:id="rId14"/>
              </a:rPr>
              <a:t>Ruby </a:t>
            </a:r>
            <a:r>
              <a:rPr lang="ja-JP" altLang="en-US" sz="3600" dirty="0">
                <a:hlinkClick r:id="rId14"/>
              </a:rPr>
              <a:t>の構文解析ツアー</a:t>
            </a:r>
            <a:endParaRPr lang="ja-JP" altLang="en-US" sz="3600" dirty="0"/>
          </a:p>
          <a:p>
            <a:pPr marL="268288" lvl="1" indent="-268288">
              <a:buClr>
                <a:srgbClr val="00B050"/>
              </a:buClr>
              <a:buFont typeface="Wingdings" panose="05000000000000000000" pitchFamily="2" charset="2"/>
              <a:buChar char="ü"/>
              <a:tabLst>
                <a:tab pos="268288" algn="l"/>
              </a:tabLst>
            </a:pPr>
            <a:r>
              <a:rPr lang="en-US" altLang="ja-JP" sz="3600" dirty="0">
                <a:hlinkClick r:id="rId15"/>
              </a:rPr>
              <a:t>LL </a:t>
            </a:r>
            <a:r>
              <a:rPr lang="ja-JP" altLang="en-US" sz="3600" dirty="0">
                <a:hlinkClick r:id="rId15"/>
              </a:rPr>
              <a:t>法と </a:t>
            </a:r>
            <a:r>
              <a:rPr lang="en-US" altLang="ja-JP" sz="3600" dirty="0">
                <a:hlinkClick r:id="rId15"/>
              </a:rPr>
              <a:t>LR </a:t>
            </a:r>
            <a:r>
              <a:rPr lang="ja-JP" altLang="en-US" sz="3600" dirty="0">
                <a:hlinkClick r:id="rId15"/>
              </a:rPr>
              <a:t>法の違いは？調べてみた！</a:t>
            </a:r>
            <a:r>
              <a:rPr lang="en-US" altLang="ja-JP" sz="3600" dirty="0">
                <a:hlinkClick r:id="rId15"/>
              </a:rPr>
              <a:t>-</a:t>
            </a:r>
            <a:r>
              <a:rPr lang="ja-JP" altLang="en-US" sz="3600" dirty="0">
                <a:hlinkClick r:id="rId15"/>
              </a:rPr>
              <a:t>完全版</a:t>
            </a:r>
            <a:r>
              <a:rPr lang="en-US" altLang="ja-JP" sz="3600" dirty="0">
                <a:hlinkClick r:id="rId15"/>
              </a:rPr>
              <a:t>-/Comparing LL and LR parse algorithm -EX Edition-</a:t>
            </a:r>
            <a:endParaRPr lang="en-GB" altLang="ja-JP" sz="3600" dirty="0"/>
          </a:p>
        </p:txBody>
      </p:sp>
      <p:sp>
        <p:nvSpPr>
          <p:cNvPr id="6" name="タイトル 1">
            <a:extLst>
              <a:ext uri="{FF2B5EF4-FFF2-40B4-BE49-F238E27FC236}">
                <a16:creationId xmlns:a16="http://schemas.microsoft.com/office/drawing/2014/main" id="{216BD2E9-AF9A-925F-94DE-97B09F26A8B9}"/>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en-GB" altLang="ja-JP" b="1" dirty="0">
                <a:sym typeface="Arial"/>
              </a:rPr>
              <a:t>KaigiEffect -A Field I Have Been Into-</a:t>
            </a:r>
            <a:endParaRPr lang="en-GB" b="1" dirty="0">
              <a:latin typeface="+mn-lt"/>
            </a:endParaRPr>
          </a:p>
        </p:txBody>
      </p:sp>
      <p:sp>
        <p:nvSpPr>
          <p:cNvPr id="2" name="Slide Number Placeholder 1">
            <a:extLst>
              <a:ext uri="{FF2B5EF4-FFF2-40B4-BE49-F238E27FC236}">
                <a16:creationId xmlns:a16="http://schemas.microsoft.com/office/drawing/2014/main" id="{D0CF7324-BBAB-A2BF-85B5-4B0AC94F98E5}"/>
              </a:ext>
            </a:extLst>
          </p:cNvPr>
          <p:cNvSpPr>
            <a:spLocks noGrp="1"/>
          </p:cNvSpPr>
          <p:nvPr>
            <p:ph type="sldNum" sz="quarter" idx="12"/>
          </p:nvPr>
        </p:nvSpPr>
        <p:spPr/>
        <p:txBody>
          <a:bodyPr/>
          <a:lstStyle/>
          <a:p>
            <a:fld id="{CC8B731A-DCF7-4273-BA1A-21517ACBB5E5}" type="slidenum">
              <a:rPr lang="en-GB" smtClean="0"/>
              <a:t>21</a:t>
            </a:fld>
            <a:endParaRPr lang="en-GB"/>
          </a:p>
        </p:txBody>
      </p:sp>
    </p:spTree>
    <p:extLst>
      <p:ext uri="{BB962C8B-B14F-4D97-AF65-F5344CB8AC3E}">
        <p14:creationId xmlns:p14="http://schemas.microsoft.com/office/powerpoint/2010/main" val="3320955932"/>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4000" r="-4000"/>
          </a:stretch>
        </a:blipFill>
        <a:effectLst/>
      </p:bgPr>
    </p:bg>
    <p:spTree>
      <p:nvGrpSpPr>
        <p:cNvPr id="1" name="">
          <a:extLst>
            <a:ext uri="{FF2B5EF4-FFF2-40B4-BE49-F238E27FC236}">
              <a16:creationId xmlns:a16="http://schemas.microsoft.com/office/drawing/2014/main" id="{61058F68-4E70-6CE3-C043-C6387F3BB1C8}"/>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04669C13-DDD1-506A-2A3B-7BBF54074AE6}"/>
              </a:ext>
            </a:extLst>
          </p:cNvPr>
          <p:cNvSpPr>
            <a:spLocks noGrp="1"/>
          </p:cNvSpPr>
          <p:nvPr>
            <p:ph idx="1"/>
          </p:nvPr>
        </p:nvSpPr>
        <p:spPr/>
        <p:txBody>
          <a:bodyPr>
            <a:normAutofit/>
          </a:bodyPr>
          <a:lstStyle/>
          <a:p>
            <a:pPr marL="0" lvl="1" indent="0">
              <a:buNone/>
            </a:pPr>
            <a:r>
              <a:rPr lang="en-GB" altLang="ja-JP" sz="2800" b="1" dirty="0"/>
              <a:t>What am I delivering by?</a:t>
            </a:r>
          </a:p>
          <a:p>
            <a:pPr marL="268288" lvl="1" indent="-268288">
              <a:buClr>
                <a:srgbClr val="00B050"/>
              </a:buClr>
              <a:buFont typeface="Wingdings" panose="05000000000000000000" pitchFamily="2" charset="2"/>
              <a:buChar char="ü"/>
            </a:pPr>
            <a:r>
              <a:rPr lang="en-US" altLang="ja-JP" dirty="0">
                <a:hlinkClick r:id="rId4"/>
              </a:rPr>
              <a:t>Ruby </a:t>
            </a:r>
            <a:r>
              <a:rPr lang="ja-JP" altLang="en-US" dirty="0">
                <a:hlinkClick r:id="rId4"/>
              </a:rPr>
              <a:t>でつくる、ミニで </a:t>
            </a:r>
            <a:r>
              <a:rPr lang="en-US" altLang="ja-JP" dirty="0">
                <a:hlinkClick r:id="rId4"/>
              </a:rPr>
              <a:t>Ruby </a:t>
            </a:r>
            <a:r>
              <a:rPr lang="ja-JP" altLang="en-US" dirty="0">
                <a:hlinkClick r:id="rId4"/>
              </a:rPr>
              <a:t>なコンパイラ</a:t>
            </a:r>
            <a:endParaRPr lang="en-GB" altLang="ja-JP" dirty="0"/>
          </a:p>
          <a:p>
            <a:pPr marL="268288" lvl="1" indent="-268288"/>
            <a:r>
              <a:rPr lang="en-GB" i="0" u="none" strike="noStrike" dirty="0">
                <a:effectLst/>
                <a:hlinkClick r:id="rId5"/>
              </a:rPr>
              <a:t>9cc</a:t>
            </a:r>
            <a:endParaRPr lang="en-GB" i="0" u="none" strike="noStrike" dirty="0">
              <a:effectLst/>
            </a:endParaRPr>
          </a:p>
          <a:p>
            <a:pPr marL="268288" lvl="1" indent="-268288"/>
            <a:r>
              <a:rPr lang="en-GB" i="0" u="none" strike="noStrike" dirty="0">
                <a:effectLst/>
                <a:hlinkClick r:id="rId6"/>
              </a:rPr>
              <a:t>lr-parser-101</a:t>
            </a:r>
            <a:endParaRPr lang="en-GB" i="0" u="none" strike="noStrike" dirty="0">
              <a:effectLst/>
            </a:endParaRPr>
          </a:p>
          <a:p>
            <a:pPr marL="268288" lvl="1" indent="-268288"/>
            <a:r>
              <a:rPr lang="en-US" altLang="ja-JP" dirty="0">
                <a:hlinkClick r:id="rId7"/>
              </a:rPr>
              <a:t>『Ruby </a:t>
            </a:r>
            <a:r>
              <a:rPr lang="ja-JP" altLang="en-US" dirty="0">
                <a:hlinkClick r:id="rId7"/>
              </a:rPr>
              <a:t>でつくる</a:t>
            </a:r>
            <a:r>
              <a:rPr lang="en-GB" altLang="ja-JP" dirty="0">
                <a:hlinkClick r:id="rId7"/>
              </a:rPr>
              <a:t> </a:t>
            </a:r>
            <a:r>
              <a:rPr lang="en-US" altLang="ja-JP" dirty="0">
                <a:hlinkClick r:id="rId7"/>
              </a:rPr>
              <a:t>Ruby </a:t>
            </a:r>
            <a:r>
              <a:rPr lang="ja-JP" altLang="en-US" dirty="0">
                <a:hlinkClick r:id="rId7"/>
              </a:rPr>
              <a:t>ゼロから学びなおすプログラミング言語入門</a:t>
            </a:r>
            <a:r>
              <a:rPr lang="en-US" altLang="ja-JP" dirty="0">
                <a:hlinkClick r:id="rId7"/>
              </a:rPr>
              <a:t>』</a:t>
            </a:r>
            <a:endParaRPr lang="en-US" altLang="ja-JP" dirty="0"/>
          </a:p>
        </p:txBody>
      </p:sp>
      <p:sp>
        <p:nvSpPr>
          <p:cNvPr id="6" name="タイトル 1">
            <a:extLst>
              <a:ext uri="{FF2B5EF4-FFF2-40B4-BE49-F238E27FC236}">
                <a16:creationId xmlns:a16="http://schemas.microsoft.com/office/drawing/2014/main" id="{420989EF-5214-5C66-E124-91B2497D2554}"/>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en-GB" altLang="ja-JP" b="1" dirty="0">
                <a:sym typeface="Arial"/>
              </a:rPr>
              <a:t>KaigiEffect -A Field I Have Been Into-</a:t>
            </a:r>
            <a:endParaRPr lang="en-GB" b="1" dirty="0">
              <a:latin typeface="+mn-lt"/>
            </a:endParaRPr>
          </a:p>
        </p:txBody>
      </p:sp>
      <p:sp>
        <p:nvSpPr>
          <p:cNvPr id="2" name="Slide Number Placeholder 1">
            <a:extLst>
              <a:ext uri="{FF2B5EF4-FFF2-40B4-BE49-F238E27FC236}">
                <a16:creationId xmlns:a16="http://schemas.microsoft.com/office/drawing/2014/main" id="{161C9C9E-8559-BD06-C075-87F92FE8945C}"/>
              </a:ext>
            </a:extLst>
          </p:cNvPr>
          <p:cNvSpPr>
            <a:spLocks noGrp="1"/>
          </p:cNvSpPr>
          <p:nvPr>
            <p:ph type="sldNum" sz="quarter" idx="12"/>
          </p:nvPr>
        </p:nvSpPr>
        <p:spPr/>
        <p:txBody>
          <a:bodyPr/>
          <a:lstStyle/>
          <a:p>
            <a:fld id="{CC8B731A-DCF7-4273-BA1A-21517ACBB5E5}" type="slidenum">
              <a:rPr lang="en-GB" smtClean="0"/>
              <a:t>22</a:t>
            </a:fld>
            <a:endParaRPr lang="en-GB"/>
          </a:p>
        </p:txBody>
      </p:sp>
    </p:spTree>
    <p:extLst>
      <p:ext uri="{BB962C8B-B14F-4D97-AF65-F5344CB8AC3E}">
        <p14:creationId xmlns:p14="http://schemas.microsoft.com/office/powerpoint/2010/main" val="576098997"/>
      </p:ext>
    </p:extLst>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D81AD383-F517-348F-EC06-ACDEF95087C9}"/>
            </a:ext>
          </a:extLst>
        </p:cNvPr>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6F82720A-AA54-2EA3-178A-C54682F72FB6}"/>
              </a:ext>
            </a:extLst>
          </p:cNvPr>
          <p:cNvSpPr>
            <a:spLocks noGrp="1"/>
          </p:cNvSpPr>
          <p:nvPr>
            <p:ph idx="1"/>
          </p:nvPr>
        </p:nvSpPr>
        <p:spPr>
          <a:xfrm>
            <a:off x="838200" y="1825625"/>
            <a:ext cx="10515600" cy="4351338"/>
          </a:xfrm>
        </p:spPr>
        <p:txBody>
          <a:bodyPr>
            <a:normAutofit/>
          </a:bodyPr>
          <a:lstStyle/>
          <a:p>
            <a:pPr marL="0" lvl="1" indent="0">
              <a:buNone/>
            </a:pPr>
            <a:r>
              <a:rPr lang="en-US" altLang="ja-JP" sz="2800" b="1" dirty="0"/>
              <a:t>Participation in A Brand-New Ruby Community</a:t>
            </a:r>
            <a:endParaRPr lang="en-GB" altLang="ja-JP" sz="2800" b="1" dirty="0"/>
          </a:p>
          <a:p>
            <a:pPr marL="0" lvl="1" indent="0">
              <a:buNone/>
            </a:pPr>
            <a:endParaRPr lang="en-GB" altLang="ja-JP" sz="2800" b="1" dirty="0"/>
          </a:p>
          <a:p>
            <a:pPr marL="0" lvl="1" indent="0" algn="ctr">
              <a:buNone/>
            </a:pPr>
            <a:r>
              <a:rPr lang="en-GB" altLang="ja-JP" sz="4000" b="1" dirty="0">
                <a:hlinkClick r:id="rId3"/>
              </a:rPr>
              <a:t>Shikumi.rb</a:t>
            </a:r>
            <a:endParaRPr lang="en-GB" altLang="ja-JP" sz="4000" b="1" dirty="0"/>
          </a:p>
          <a:p>
            <a:pPr marL="0" lvl="1" indent="0" algn="ctr">
              <a:buNone/>
            </a:pPr>
            <a:r>
              <a:rPr lang="en-GB" altLang="ja-JP" b="1" dirty="0"/>
              <a:t>organised by </a:t>
            </a:r>
            <a:r>
              <a:rPr lang="en-GB" altLang="ja-JP" b="1" dirty="0">
                <a:hlinkClick r:id="rId4"/>
              </a:rPr>
              <a:t>@hashimoto-kei</a:t>
            </a:r>
            <a:r>
              <a:rPr lang="en-GB" altLang="ja-JP" b="1" dirty="0"/>
              <a:t> and </a:t>
            </a:r>
            <a:r>
              <a:rPr lang="en-GB" altLang="ja-JP" b="1" dirty="0">
                <a:hlinkClick r:id="rId5"/>
              </a:rPr>
              <a:t>@utsubo</a:t>
            </a:r>
            <a:endParaRPr lang="en-GB" altLang="ja-JP" b="1" dirty="0"/>
          </a:p>
          <a:p>
            <a:pPr marL="268288" lvl="1" indent="-268288"/>
            <a:endParaRPr lang="en-US" altLang="ja-JP" b="1" dirty="0"/>
          </a:p>
          <a:p>
            <a:pPr marL="268288" lvl="1" indent="-268288"/>
            <a:r>
              <a:rPr lang="en-US" altLang="ja-JP" dirty="0"/>
              <a:t>Born on May 2025 and still a new-born baby Ruby community</a:t>
            </a:r>
            <a:endParaRPr lang="en-GB" altLang="ja-JP" dirty="0"/>
          </a:p>
          <a:p>
            <a:pPr marL="268288" lvl="1" indent="-268288"/>
            <a:r>
              <a:rPr lang="en-GB" altLang="ja-JP"/>
              <a:t>Sessions mainly </a:t>
            </a:r>
            <a:r>
              <a:rPr lang="en-GB" altLang="ja-JP" dirty="0"/>
              <a:t>held online</a:t>
            </a:r>
          </a:p>
          <a:p>
            <a:pPr marL="268288" lvl="1" indent="-268288"/>
            <a:r>
              <a:rPr lang="en-GB" altLang="ja-JP" dirty="0"/>
              <a:t>Focuses on language processing in Ruby, which is the very lifesaver for me. </a:t>
            </a:r>
          </a:p>
          <a:p>
            <a:pPr marL="268288" lvl="1" indent="-268288"/>
            <a:r>
              <a:rPr lang="en-GB" altLang="ja-JP" dirty="0"/>
              <a:t>Perfect attendance so far(as of 09 May 2025)</a:t>
            </a:r>
            <a:endParaRPr lang="ja-JP" altLang="en-US" dirty="0"/>
          </a:p>
        </p:txBody>
      </p:sp>
      <p:sp>
        <p:nvSpPr>
          <p:cNvPr id="3" name="Slide Number Placeholder 2">
            <a:extLst>
              <a:ext uri="{FF2B5EF4-FFF2-40B4-BE49-F238E27FC236}">
                <a16:creationId xmlns:a16="http://schemas.microsoft.com/office/drawing/2014/main" id="{34ED3CB1-0AE3-1BD9-A001-7C74B5425C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タイトル 1">
            <a:extLst>
              <a:ext uri="{FF2B5EF4-FFF2-40B4-BE49-F238E27FC236}">
                <a16:creationId xmlns:a16="http://schemas.microsoft.com/office/drawing/2014/main" id="{EFFDF2AF-4EB7-801A-D109-5ED12965FA52}"/>
              </a:ext>
            </a:extLst>
          </p:cNvPr>
          <p:cNvSpPr>
            <a:spLocks noGrp="1"/>
          </p:cNvSpPr>
          <p:nvPr>
            <p:ph type="title"/>
          </p:nvPr>
        </p:nvSpPr>
        <p:spPr>
          <a:xfrm>
            <a:off x="838200" y="365125"/>
            <a:ext cx="10515600" cy="1325563"/>
          </a:xfrm>
        </p:spPr>
        <p:txBody>
          <a:bodyPr>
            <a:normAutofit/>
          </a:bodyPr>
          <a:lstStyle/>
          <a:p>
            <a:pPr algn="ctr"/>
            <a:r>
              <a:rPr lang="en-US" altLang="ja-JP" b="1" dirty="0"/>
              <a:t>2. </a:t>
            </a:r>
            <a:r>
              <a:rPr lang="en-GB" altLang="ja-JP" b="1" dirty="0">
                <a:sym typeface="Arial"/>
              </a:rPr>
              <a:t>KaigiEffect -A Field I Have Been Into-</a:t>
            </a:r>
            <a:endParaRPr lang="en-GB" b="1" dirty="0">
              <a:latin typeface="+mn-lt"/>
            </a:endParaRPr>
          </a:p>
        </p:txBody>
      </p:sp>
    </p:spTree>
    <p:extLst>
      <p:ext uri="{BB962C8B-B14F-4D97-AF65-F5344CB8AC3E}">
        <p14:creationId xmlns:p14="http://schemas.microsoft.com/office/powerpoint/2010/main" val="23587283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3. The Most Memorable Discussion Mr. Matz</a:t>
            </a:r>
            <a:endParaRPr lang="en-GB" b="1" dirty="0"/>
          </a:p>
        </p:txBody>
      </p:sp>
      <p:sp>
        <p:nvSpPr>
          <p:cNvPr id="3" name="Slide Number Placeholder 2">
            <a:extLst>
              <a:ext uri="{FF2B5EF4-FFF2-40B4-BE49-F238E27FC236}">
                <a16:creationId xmlns:a16="http://schemas.microsoft.com/office/drawing/2014/main" id="{AB2A29F8-108F-EB22-21AD-5AAB6F5DFCE2}"/>
              </a:ext>
            </a:extLst>
          </p:cNvPr>
          <p:cNvSpPr>
            <a:spLocks noGrp="1"/>
          </p:cNvSpPr>
          <p:nvPr>
            <p:ph type="sldNum" sz="quarter" idx="12"/>
          </p:nvPr>
        </p:nvSpPr>
        <p:spPr/>
        <p:txBody>
          <a:bodyPr/>
          <a:lstStyle/>
          <a:p>
            <a:fld id="{CC8B731A-DCF7-4273-BA1A-21517ACBB5E5}" type="slidenum">
              <a:rPr lang="en-GB" smtClean="0"/>
              <a:t>24</a:t>
            </a:fld>
            <a:endParaRPr lang="en-GB"/>
          </a:p>
        </p:txBody>
      </p:sp>
    </p:spTree>
    <p:extLst>
      <p:ext uri="{BB962C8B-B14F-4D97-AF65-F5344CB8AC3E}">
        <p14:creationId xmlns:p14="http://schemas.microsoft.com/office/powerpoint/2010/main" val="40219341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t>3. The Most Memorable Discussion Mr. Matz</a:t>
            </a:r>
            <a:endParaRPr lang="en-GB" b="1" dirty="0"/>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0" lvl="1" indent="0">
              <a:buNone/>
            </a:pPr>
            <a:r>
              <a:rPr lang="en-GB" altLang="ja-JP"/>
              <a:t>I knew </a:t>
            </a:r>
            <a:r>
              <a:rPr lang="en-GB" altLang="ja-JP" dirty="0"/>
              <a:t>Mr. Matz was so interested in Linguistics that he shared my advent calendar entry on Twitter(Current. X) as mentioned in </a:t>
            </a:r>
            <a:r>
              <a:rPr lang="en-GB" altLang="ja-JP" i="1" dirty="0">
                <a:hlinkClick r:id="rId3"/>
              </a:rPr>
              <a:t>Life and Death -Natural Languages vs. Programming Languages-</a:t>
            </a:r>
            <a:r>
              <a:rPr lang="en-GB" altLang="ja-JP" dirty="0"/>
              <a:t>.</a:t>
            </a:r>
          </a:p>
          <a:p>
            <a:pPr marL="0" lvl="1" indent="0">
              <a:buNone/>
            </a:pPr>
            <a:r>
              <a:rPr lang="en-GB" altLang="ja-JP" dirty="0"/>
              <a:t>Also, I myself am sure that Ruby is highly conscious of as smooth a writing experience as English mentioned in </a:t>
            </a:r>
            <a:r>
              <a:rPr lang="en-GB" altLang="ja-JP" i="1" dirty="0">
                <a:hlinkClick r:id="rId4"/>
              </a:rPr>
              <a:t>Recommendation of Comparative Linguistics -Learn Identity of Programming Language from Ruby vs. Python-</a:t>
            </a:r>
            <a:r>
              <a:rPr lang="en-GB" altLang="ja-JP" dirty="0"/>
              <a:t>.</a:t>
            </a:r>
          </a:p>
        </p:txBody>
      </p:sp>
      <p:pic>
        <p:nvPicPr>
          <p:cNvPr id="5" name="Picture 4">
            <a:extLst>
              <a:ext uri="{FF2B5EF4-FFF2-40B4-BE49-F238E27FC236}">
                <a16:creationId xmlns:a16="http://schemas.microsoft.com/office/drawing/2014/main" id="{325AE56A-671B-A69F-65EA-B88D3BA04F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73202" y="3930330"/>
            <a:ext cx="1857520" cy="2246633"/>
          </a:xfrm>
          <a:prstGeom prst="rect">
            <a:avLst/>
          </a:prstGeom>
        </p:spPr>
      </p:pic>
      <p:pic>
        <p:nvPicPr>
          <p:cNvPr id="8" name="Picture 7">
            <a:extLst>
              <a:ext uri="{FF2B5EF4-FFF2-40B4-BE49-F238E27FC236}">
                <a16:creationId xmlns:a16="http://schemas.microsoft.com/office/drawing/2014/main" id="{3D984EA2-AE47-F0F8-07B5-C27FEF867B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1192" y="3930330"/>
            <a:ext cx="1854046" cy="2246633"/>
          </a:xfrm>
          <a:prstGeom prst="rect">
            <a:avLst/>
          </a:prstGeom>
        </p:spPr>
      </p:pic>
      <p:sp>
        <p:nvSpPr>
          <p:cNvPr id="3" name="Slide Number Placeholder 2">
            <a:extLst>
              <a:ext uri="{FF2B5EF4-FFF2-40B4-BE49-F238E27FC236}">
                <a16:creationId xmlns:a16="http://schemas.microsoft.com/office/drawing/2014/main" id="{77A7E38E-A91A-4F20-418F-D1C4E5CF586B}"/>
              </a:ext>
            </a:extLst>
          </p:cNvPr>
          <p:cNvSpPr>
            <a:spLocks noGrp="1"/>
          </p:cNvSpPr>
          <p:nvPr>
            <p:ph type="sldNum" sz="quarter" idx="12"/>
          </p:nvPr>
        </p:nvSpPr>
        <p:spPr/>
        <p:txBody>
          <a:bodyPr/>
          <a:lstStyle/>
          <a:p>
            <a:fld id="{CC8B731A-DCF7-4273-BA1A-21517ACBB5E5}" type="slidenum">
              <a:rPr lang="en-GB" smtClean="0"/>
              <a:t>25</a:t>
            </a:fld>
            <a:endParaRPr lang="en-GB"/>
          </a:p>
        </p:txBody>
      </p:sp>
    </p:spTree>
    <p:extLst>
      <p:ext uri="{BB962C8B-B14F-4D97-AF65-F5344CB8AC3E}">
        <p14:creationId xmlns:p14="http://schemas.microsoft.com/office/powerpoint/2010/main" val="2302870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3D488010-7B30-CC6F-98A6-FD09711BA94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881482B-A359-3821-6415-B748EA1F49DF}"/>
              </a:ext>
            </a:extLst>
          </p:cNvPr>
          <p:cNvSpPr>
            <a:spLocks noGrp="1"/>
          </p:cNvSpPr>
          <p:nvPr>
            <p:ph type="title"/>
          </p:nvPr>
        </p:nvSpPr>
        <p:spPr/>
        <p:txBody>
          <a:bodyPr/>
          <a:lstStyle/>
          <a:p>
            <a:pPr algn="ctr"/>
            <a:r>
              <a:rPr lang="en-GB" altLang="ja-JP" b="1" dirty="0"/>
              <a:t>3. The Most Memorable Discussion Mr. Matz</a:t>
            </a:r>
            <a:endParaRPr lang="en-GB" b="1" dirty="0"/>
          </a:p>
        </p:txBody>
      </p:sp>
      <p:sp>
        <p:nvSpPr>
          <p:cNvPr id="7" name="コンテンツ プレースホルダー 2">
            <a:extLst>
              <a:ext uri="{FF2B5EF4-FFF2-40B4-BE49-F238E27FC236}">
                <a16:creationId xmlns:a16="http://schemas.microsoft.com/office/drawing/2014/main" id="{095F438A-EF5B-33A9-8579-8D807CA9B3C3}"/>
              </a:ext>
            </a:extLst>
          </p:cNvPr>
          <p:cNvSpPr>
            <a:spLocks noGrp="1"/>
          </p:cNvSpPr>
          <p:nvPr>
            <p:ph idx="1"/>
          </p:nvPr>
        </p:nvSpPr>
        <p:spPr>
          <a:xfrm>
            <a:off x="838200" y="1825625"/>
            <a:ext cx="10515600" cy="4351338"/>
          </a:xfrm>
        </p:spPr>
        <p:txBody>
          <a:bodyPr>
            <a:normAutofit lnSpcReduction="10000"/>
          </a:bodyPr>
          <a:lstStyle/>
          <a:p>
            <a:pPr marL="0" lvl="1" indent="0">
              <a:buNone/>
            </a:pPr>
            <a:r>
              <a:rPr lang="en-GB" altLang="ja-JP" dirty="0"/>
              <a:t>Highly fortunately, I was on the same table as Mr. Matz had a seat on at </a:t>
            </a:r>
            <a:r>
              <a:rPr lang="en-GB" altLang="ja-JP" dirty="0">
                <a:hlinkClick r:id="rId3"/>
              </a:rPr>
              <a:t>Code Party RubyKaigi 2025</a:t>
            </a:r>
            <a:r>
              <a:rPr lang="en-GB" altLang="ja-JP" dirty="0"/>
              <a:t> organised by ANDPAD and succeeded in having the following discussion.</a:t>
            </a:r>
          </a:p>
          <a:p>
            <a:pPr marL="0" lvl="1" indent="0">
              <a:buNone/>
            </a:pPr>
            <a:endParaRPr lang="en-GB" altLang="ja-JP" dirty="0"/>
          </a:p>
          <a:p>
            <a:pPr marL="0" lvl="1" indent="0">
              <a:buNone/>
            </a:pPr>
            <a:r>
              <a:rPr lang="en-GB" altLang="ja-JP" dirty="0"/>
              <a:t>* H = hayat01sh1da, M = Mr. Matz</a:t>
            </a:r>
          </a:p>
          <a:p>
            <a:pPr marL="0" lvl="1" indent="0">
              <a:buNone/>
            </a:pPr>
            <a:endParaRPr lang="en-GB" altLang="ja-JP" dirty="0"/>
          </a:p>
          <a:p>
            <a:pPr marL="0" lvl="1" indent="0">
              <a:buNone/>
            </a:pPr>
            <a:r>
              <a:rPr lang="en-GB" altLang="ja-JP" dirty="0"/>
              <a:t>H) </a:t>
            </a:r>
            <a:r>
              <a:rPr lang="en-GB" altLang="ja-JP" i="1" dirty="0"/>
              <a:t>Mr. Matz, you created Ruby learning from Perl, so it has some similarities to that. One of them is </a:t>
            </a:r>
            <a:r>
              <a:rPr lang="en-GB" altLang="ja-JP" i="1" dirty="0">
                <a:hlinkClick r:id="rId4"/>
              </a:rPr>
              <a:t>Linguistic and Cognitive Considerations</a:t>
            </a:r>
            <a:r>
              <a:rPr lang="en-GB" altLang="ja-JP" i="1" dirty="0"/>
              <a:t>. </a:t>
            </a:r>
            <a:r>
              <a:rPr lang="en-GB" altLang="ja-JP" b="1" i="1" dirty="0"/>
              <a:t>Did you have such a linguistic and cognitive philosophy</a:t>
            </a:r>
            <a:r>
              <a:rPr lang="en-GB" altLang="ja-JP" i="1" dirty="0"/>
              <a:t> when you created, grew and released Ruby?</a:t>
            </a:r>
          </a:p>
          <a:p>
            <a:pPr marL="0" lvl="1" indent="0">
              <a:buNone/>
            </a:pPr>
            <a:r>
              <a:rPr lang="en-GB" altLang="ja-JP" dirty="0"/>
              <a:t>M) </a:t>
            </a:r>
            <a:r>
              <a:rPr lang="en-GB" altLang="ja-JP" i="1" dirty="0"/>
              <a:t>Mr. Larry Wall, creator of Perl, has a backbone as a linguistics while I majored in Computer Science. Our backgrounds are different from those of each other, but </a:t>
            </a:r>
            <a:r>
              <a:rPr lang="en-GB" altLang="ja-JP" b="1" i="1" dirty="0"/>
              <a:t>I really value </a:t>
            </a:r>
            <a:r>
              <a:rPr lang="en-GB" altLang="ja-JP" b="1" i="1" dirty="0">
                <a:hlinkClick r:id="rId4"/>
              </a:rPr>
              <a:t>Linguistic and Cognitive Considerations</a:t>
            </a:r>
            <a:r>
              <a:rPr lang="en-GB" altLang="ja-JP" b="1" i="1" dirty="0"/>
              <a:t> taking care of compatibilities</a:t>
            </a:r>
            <a:r>
              <a:rPr lang="en-GB" altLang="ja-JP" i="1" dirty="0"/>
              <a:t>.</a:t>
            </a:r>
          </a:p>
        </p:txBody>
      </p:sp>
      <p:sp>
        <p:nvSpPr>
          <p:cNvPr id="3" name="Slide Number Placeholder 2">
            <a:extLst>
              <a:ext uri="{FF2B5EF4-FFF2-40B4-BE49-F238E27FC236}">
                <a16:creationId xmlns:a16="http://schemas.microsoft.com/office/drawing/2014/main" id="{D2E6FE65-85B7-1C34-83EB-B3D4F7C7C100}"/>
              </a:ext>
            </a:extLst>
          </p:cNvPr>
          <p:cNvSpPr>
            <a:spLocks noGrp="1"/>
          </p:cNvSpPr>
          <p:nvPr>
            <p:ph type="sldNum" sz="quarter" idx="12"/>
          </p:nvPr>
        </p:nvSpPr>
        <p:spPr/>
        <p:txBody>
          <a:bodyPr/>
          <a:lstStyle/>
          <a:p>
            <a:fld id="{CC8B731A-DCF7-4273-BA1A-21517ACBB5E5}" type="slidenum">
              <a:rPr lang="en-GB" smtClean="0"/>
              <a:t>26</a:t>
            </a:fld>
            <a:endParaRPr lang="en-GB"/>
          </a:p>
        </p:txBody>
      </p:sp>
    </p:spTree>
    <p:extLst>
      <p:ext uri="{BB962C8B-B14F-4D97-AF65-F5344CB8AC3E}">
        <p14:creationId xmlns:p14="http://schemas.microsoft.com/office/powerpoint/2010/main" val="8293680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4B0E15E5-CF17-9482-8696-6B6776F642E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9DE2F19-4C04-2B50-E187-6066E341D660}"/>
              </a:ext>
            </a:extLst>
          </p:cNvPr>
          <p:cNvSpPr>
            <a:spLocks noGrp="1"/>
          </p:cNvSpPr>
          <p:nvPr>
            <p:ph type="title"/>
          </p:nvPr>
        </p:nvSpPr>
        <p:spPr/>
        <p:txBody>
          <a:bodyPr/>
          <a:lstStyle/>
          <a:p>
            <a:pPr algn="ctr"/>
            <a:r>
              <a:rPr lang="en-GB" altLang="ja-JP" b="1" dirty="0"/>
              <a:t>3. The Most Memorable Discussion Mr. Matz</a:t>
            </a:r>
            <a:endParaRPr lang="en-GB" b="1" dirty="0"/>
          </a:p>
        </p:txBody>
      </p:sp>
      <p:sp>
        <p:nvSpPr>
          <p:cNvPr id="7" name="コンテンツ プレースホルダー 2">
            <a:extLst>
              <a:ext uri="{FF2B5EF4-FFF2-40B4-BE49-F238E27FC236}">
                <a16:creationId xmlns:a16="http://schemas.microsoft.com/office/drawing/2014/main" id="{093F8964-0A49-930A-6358-9CC2AF3B06B8}"/>
              </a:ext>
            </a:extLst>
          </p:cNvPr>
          <p:cNvSpPr>
            <a:spLocks noGrp="1"/>
          </p:cNvSpPr>
          <p:nvPr>
            <p:ph idx="1"/>
          </p:nvPr>
        </p:nvSpPr>
        <p:spPr>
          <a:xfrm>
            <a:off x="838200" y="1825625"/>
            <a:ext cx="10515600" cy="4351338"/>
          </a:xfrm>
        </p:spPr>
        <p:txBody>
          <a:bodyPr>
            <a:normAutofit lnSpcReduction="10000"/>
          </a:bodyPr>
          <a:lstStyle/>
          <a:p>
            <a:pPr marL="0" lvl="1" indent="0">
              <a:buNone/>
            </a:pPr>
            <a:r>
              <a:rPr lang="en-GB" altLang="ja-JP" dirty="0"/>
              <a:t>H) </a:t>
            </a:r>
            <a:r>
              <a:rPr lang="en-GB" altLang="ja-JP" i="1" dirty="0"/>
              <a:t>As a Rubyist and someone who majored English linguistics, I believe that Ruby provides a smooth writing experience as English. I feel like writing </a:t>
            </a:r>
            <a:r>
              <a:rPr lang="en-GB" altLang="ja-JP" b="1" i="1" dirty="0"/>
              <a:t>Ruby is quite similar to writing an English poem</a:t>
            </a:r>
            <a:r>
              <a:rPr lang="en-GB" altLang="ja-JP" i="1" dirty="0"/>
              <a:t>. I do understand your philosophy and my hypophysis mentioned </a:t>
            </a:r>
            <a:r>
              <a:rPr lang="en-GB" altLang="ja-JP" i="1" dirty="0">
                <a:hlinkClick r:id="rId3"/>
              </a:rPr>
              <a:t>Recommendation of Comparative Linguistics -Learn Identity of Programming Language from Ruby vs. Python-</a:t>
            </a:r>
            <a:r>
              <a:rPr lang="en-GB" altLang="ja-JP" i="1" dirty="0"/>
              <a:t> is proved to be correct.</a:t>
            </a:r>
          </a:p>
          <a:p>
            <a:pPr marL="0" lvl="1" indent="0">
              <a:buNone/>
            </a:pPr>
            <a:r>
              <a:rPr lang="en-GB" altLang="ja-JP" dirty="0"/>
              <a:t>M) </a:t>
            </a:r>
            <a:r>
              <a:rPr lang="en-GB" altLang="ja-JP" b="1" i="1" dirty="0"/>
              <a:t>I think highly of not just how method works but what the method works for</a:t>
            </a:r>
            <a:r>
              <a:rPr lang="en-GB" altLang="ja-JP" i="1" dirty="0"/>
              <a:t>. For example, let's think about `</a:t>
            </a:r>
            <a:r>
              <a:rPr lang="en-GB" altLang="ja-JP" i="1" dirty="0">
                <a:hlinkClick r:id="rId4"/>
              </a:rPr>
              <a:t>Enumerable#collect</a:t>
            </a:r>
            <a:r>
              <a:rPr lang="en-GB" altLang="ja-JP" i="1" dirty="0"/>
              <a:t>` and `</a:t>
            </a:r>
            <a:r>
              <a:rPr lang="en-GB" altLang="ja-JP" i="1" dirty="0">
                <a:hlinkClick r:id="rId5"/>
              </a:rPr>
              <a:t>Enumerable#map</a:t>
            </a:r>
            <a:r>
              <a:rPr lang="en-GB" altLang="ja-JP" i="1" dirty="0"/>
              <a:t>`. Both of them returns </a:t>
            </a:r>
            <a:r>
              <a:rPr lang="en-GB" b="0" i="1" dirty="0">
                <a:solidFill>
                  <a:srgbClr val="000000"/>
                </a:solidFill>
                <a:effectLst/>
              </a:rPr>
              <a:t>a new array with the results of data processing of every element of the receiver, inside of the block</a:t>
            </a:r>
            <a:r>
              <a:rPr lang="en-GB" altLang="ja-JP" i="1" dirty="0"/>
              <a:t>. The former does it for data collection, whereas the latter for data mapping. As you see, this example demonstrates different methods of the same data processing have as many different purposes.</a:t>
            </a:r>
          </a:p>
          <a:p>
            <a:pPr marL="0" lvl="1" indent="0">
              <a:buNone/>
            </a:pPr>
            <a:r>
              <a:rPr lang="en-GB" altLang="ja-JP" dirty="0"/>
              <a:t>H) </a:t>
            </a:r>
            <a:r>
              <a:rPr lang="en-GB" altLang="ja-JP" i="1" dirty="0"/>
              <a:t>It reminds me what you mentioned in </a:t>
            </a:r>
            <a:r>
              <a:rPr lang="en-GB" altLang="ja-JP" i="1" dirty="0">
                <a:hlinkClick r:id="rId6"/>
              </a:rPr>
              <a:t>107. The Importance of Naming</a:t>
            </a:r>
            <a:r>
              <a:rPr lang="en-GB" altLang="ja-JP" i="1" dirty="0"/>
              <a:t> on </a:t>
            </a:r>
            <a:r>
              <a:rPr lang="en-GB" altLang="ja-JP" i="1" dirty="0">
                <a:hlinkClick r:id="rId7"/>
              </a:rPr>
              <a:t>Japanese Edition</a:t>
            </a:r>
            <a:r>
              <a:rPr lang="en-GB" altLang="ja-JP" i="1" dirty="0"/>
              <a:t> of </a:t>
            </a:r>
            <a:r>
              <a:rPr lang="en-GB" altLang="ja-JP" i="1" dirty="0">
                <a:hlinkClick r:id="rId8"/>
              </a:rPr>
              <a:t>97 Things Every Programmer Should Know</a:t>
            </a:r>
            <a:r>
              <a:rPr lang="en-GB" altLang="ja-JP" i="1" dirty="0"/>
              <a:t> as naming vividly reflects the design.</a:t>
            </a:r>
          </a:p>
        </p:txBody>
      </p:sp>
      <p:sp>
        <p:nvSpPr>
          <p:cNvPr id="3" name="Slide Number Placeholder 2">
            <a:extLst>
              <a:ext uri="{FF2B5EF4-FFF2-40B4-BE49-F238E27FC236}">
                <a16:creationId xmlns:a16="http://schemas.microsoft.com/office/drawing/2014/main" id="{E33189AC-6291-4751-4DDA-F8321AD1DE24}"/>
              </a:ext>
            </a:extLst>
          </p:cNvPr>
          <p:cNvSpPr>
            <a:spLocks noGrp="1"/>
          </p:cNvSpPr>
          <p:nvPr>
            <p:ph type="sldNum" sz="quarter" idx="12"/>
          </p:nvPr>
        </p:nvSpPr>
        <p:spPr/>
        <p:txBody>
          <a:bodyPr/>
          <a:lstStyle/>
          <a:p>
            <a:fld id="{CC8B731A-DCF7-4273-BA1A-21517ACBB5E5}" type="slidenum">
              <a:rPr lang="en-GB" smtClean="0"/>
              <a:t>27</a:t>
            </a:fld>
            <a:endParaRPr lang="en-GB"/>
          </a:p>
        </p:txBody>
      </p:sp>
    </p:spTree>
    <p:extLst>
      <p:ext uri="{BB962C8B-B14F-4D97-AF65-F5344CB8AC3E}">
        <p14:creationId xmlns:p14="http://schemas.microsoft.com/office/powerpoint/2010/main" val="42893036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0089B16E-FF90-F14C-D680-0BCA7A4C24E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0A3856B-223B-B889-065C-DFC93DC6062D}"/>
              </a:ext>
            </a:extLst>
          </p:cNvPr>
          <p:cNvSpPr>
            <a:spLocks noGrp="1"/>
          </p:cNvSpPr>
          <p:nvPr>
            <p:ph type="title"/>
          </p:nvPr>
        </p:nvSpPr>
        <p:spPr/>
        <p:txBody>
          <a:bodyPr/>
          <a:lstStyle/>
          <a:p>
            <a:pPr algn="ctr"/>
            <a:r>
              <a:rPr lang="en-GB" altLang="ja-JP" b="1" dirty="0"/>
              <a:t>3. The Most Memorable Discussion Mr. Matz</a:t>
            </a:r>
            <a:endParaRPr lang="en-GB" b="1" dirty="0"/>
          </a:p>
        </p:txBody>
      </p:sp>
      <p:sp>
        <p:nvSpPr>
          <p:cNvPr id="7" name="コンテンツ プレースホルダー 2">
            <a:extLst>
              <a:ext uri="{FF2B5EF4-FFF2-40B4-BE49-F238E27FC236}">
                <a16:creationId xmlns:a16="http://schemas.microsoft.com/office/drawing/2014/main" id="{319056D4-C40B-FEA0-10B7-A21C2901E692}"/>
              </a:ext>
            </a:extLst>
          </p:cNvPr>
          <p:cNvSpPr>
            <a:spLocks noGrp="1"/>
          </p:cNvSpPr>
          <p:nvPr>
            <p:ph idx="1"/>
          </p:nvPr>
        </p:nvSpPr>
        <p:spPr>
          <a:xfrm>
            <a:off x="838200" y="1825625"/>
            <a:ext cx="10515600" cy="4351338"/>
          </a:xfrm>
        </p:spPr>
        <p:txBody>
          <a:bodyPr>
            <a:normAutofit/>
          </a:bodyPr>
          <a:lstStyle/>
          <a:p>
            <a:pPr marL="0" lvl="1" indent="0">
              <a:buNone/>
            </a:pPr>
            <a:r>
              <a:rPr lang="en-GB" altLang="ja-JP" dirty="0"/>
              <a:t>M) </a:t>
            </a:r>
            <a:r>
              <a:rPr lang="en-GB" altLang="ja-JP" i="1" dirty="0"/>
              <a:t>In terms of naming, I made an error in the past. I thought about naming for a method which takes its receiver as the block argument of returns the result of processing it. At first, I named it `</a:t>
            </a:r>
            <a:r>
              <a:rPr lang="en-GB" altLang="ja-JP" i="1" dirty="0">
                <a:hlinkClick r:id="rId3"/>
              </a:rPr>
              <a:t>Object#yield_self</a:t>
            </a:r>
            <a:r>
              <a:rPr lang="en-GB" altLang="ja-JP" i="1" dirty="0"/>
              <a:t>`. It makes sense in order to describe how it works, but I failed to illustrate what it is for. Later on, I created its alias as `</a:t>
            </a:r>
            <a:r>
              <a:rPr lang="en-GB" altLang="ja-JP" i="1" dirty="0">
                <a:hlinkClick r:id="rId4"/>
              </a:rPr>
              <a:t>Object#then</a:t>
            </a:r>
            <a:r>
              <a:rPr lang="en-GB" altLang="ja-JP" i="1" dirty="0"/>
              <a:t>`. Data processing is done once prior to its receiver, and 'then' it focuses on what is done. </a:t>
            </a:r>
            <a:r>
              <a:rPr lang="en-GB" altLang="ja-JP" b="1" i="1" dirty="0"/>
              <a:t>It makes more sense not just in terms of the way the method works but the purpose the method works for.</a:t>
            </a:r>
          </a:p>
          <a:p>
            <a:pPr marL="0" lvl="1" indent="0">
              <a:buNone/>
            </a:pPr>
            <a:r>
              <a:rPr lang="en-GB" altLang="ja-JP" dirty="0"/>
              <a:t>H) </a:t>
            </a:r>
            <a:r>
              <a:rPr lang="en-GB" altLang="ja-JP" i="1" dirty="0"/>
              <a:t>Totally make sense. To compare it to English syntax, most of methods treat its receiver as the subject, themselves as the predicate verb, its argument(s) as the object(s) and inside of block as the subordinate clause(e.g. noun clause, adjective clause or adverb clause). </a:t>
            </a:r>
            <a:r>
              <a:rPr lang="en-GB" altLang="ja-JP" b="1" i="1" dirty="0"/>
              <a:t>However, you adopt an adverb 'then' as a method</a:t>
            </a:r>
            <a:r>
              <a:rPr lang="en-GB" altLang="ja-JP" i="1" dirty="0"/>
              <a:t>, which strikes me as incredibly impressive!</a:t>
            </a:r>
          </a:p>
        </p:txBody>
      </p:sp>
      <p:sp>
        <p:nvSpPr>
          <p:cNvPr id="3" name="Slide Number Placeholder 2">
            <a:extLst>
              <a:ext uri="{FF2B5EF4-FFF2-40B4-BE49-F238E27FC236}">
                <a16:creationId xmlns:a16="http://schemas.microsoft.com/office/drawing/2014/main" id="{4EC9BA8B-B8DE-652A-183E-1603929F075D}"/>
              </a:ext>
            </a:extLst>
          </p:cNvPr>
          <p:cNvSpPr>
            <a:spLocks noGrp="1"/>
          </p:cNvSpPr>
          <p:nvPr>
            <p:ph type="sldNum" sz="quarter" idx="12"/>
          </p:nvPr>
        </p:nvSpPr>
        <p:spPr/>
        <p:txBody>
          <a:bodyPr/>
          <a:lstStyle/>
          <a:p>
            <a:fld id="{CC8B731A-DCF7-4273-BA1A-21517ACBB5E5}" type="slidenum">
              <a:rPr lang="en-GB" smtClean="0"/>
              <a:t>28</a:t>
            </a:fld>
            <a:endParaRPr lang="en-GB"/>
          </a:p>
        </p:txBody>
      </p:sp>
    </p:spTree>
    <p:extLst>
      <p:ext uri="{BB962C8B-B14F-4D97-AF65-F5344CB8AC3E}">
        <p14:creationId xmlns:p14="http://schemas.microsoft.com/office/powerpoint/2010/main" val="3557255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00F90717-FC1B-2D74-8295-51C6FBB0128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41E7885-8A3D-EE3F-9D0E-7164AE8A984C}"/>
              </a:ext>
            </a:extLst>
          </p:cNvPr>
          <p:cNvSpPr>
            <a:spLocks noGrp="1"/>
          </p:cNvSpPr>
          <p:nvPr>
            <p:ph type="title"/>
          </p:nvPr>
        </p:nvSpPr>
        <p:spPr/>
        <p:txBody>
          <a:bodyPr/>
          <a:lstStyle/>
          <a:p>
            <a:pPr algn="ctr"/>
            <a:r>
              <a:rPr lang="en-GB" altLang="ja-JP" b="1" dirty="0"/>
              <a:t>3. The Most Memorable Discussion Mr. Matz</a:t>
            </a:r>
            <a:endParaRPr lang="en-GB" b="1" dirty="0"/>
          </a:p>
        </p:txBody>
      </p:sp>
      <p:sp>
        <p:nvSpPr>
          <p:cNvPr id="11" name="コンテンツ プレースホルダー 2">
            <a:extLst>
              <a:ext uri="{FF2B5EF4-FFF2-40B4-BE49-F238E27FC236}">
                <a16:creationId xmlns:a16="http://schemas.microsoft.com/office/drawing/2014/main" id="{DB0B5898-7EB9-BDF7-103B-9E7B09BF17A8}"/>
              </a:ext>
            </a:extLst>
          </p:cNvPr>
          <p:cNvSpPr>
            <a:spLocks noGrp="1"/>
          </p:cNvSpPr>
          <p:nvPr>
            <p:ph idx="1"/>
          </p:nvPr>
        </p:nvSpPr>
        <p:spPr>
          <a:xfrm>
            <a:off x="838200" y="1825625"/>
            <a:ext cx="10515600" cy="4351338"/>
          </a:xfrm>
        </p:spPr>
        <p:txBody>
          <a:bodyPr>
            <a:normAutofit/>
          </a:bodyPr>
          <a:lstStyle/>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endParaRPr lang="en-GB" altLang="ja-JP" i="1" dirty="0"/>
          </a:p>
          <a:p>
            <a:pPr marL="0" lvl="1" indent="0">
              <a:buNone/>
            </a:pPr>
            <a:r>
              <a:rPr lang="en-GB" altLang="ja-JP" dirty="0"/>
              <a:t>* </a:t>
            </a:r>
            <a:r>
              <a:rPr lang="en-GB" altLang="ja-JP" dirty="0">
                <a:hlinkClick r:id="rId3"/>
              </a:rPr>
              <a:t>Enumrable#sort</a:t>
            </a:r>
            <a:r>
              <a:rPr lang="en-GB" altLang="ja-JP" dirty="0"/>
              <a:t> returns a new array as the return value by </a:t>
            </a:r>
            <a:r>
              <a:rPr lang="en-GB" altLang="ja-JP" dirty="0" err="1">
                <a:hlinkClick r:id="rId4"/>
              </a:rPr>
              <a:t>rb_ary_sort_bang</a:t>
            </a:r>
            <a:r>
              <a:rPr lang="en-GB" altLang="ja-JP" dirty="0"/>
              <a:t> function through </a:t>
            </a:r>
            <a:r>
              <a:rPr lang="en-GB" altLang="ja-JP" dirty="0">
                <a:hlinkClick r:id="rId5"/>
              </a:rPr>
              <a:t>enum_sort</a:t>
            </a:r>
            <a:r>
              <a:rPr lang="en-GB" altLang="ja-JP" dirty="0"/>
              <a:t> function, so a Range object is implicitly converted to an Array object.</a:t>
            </a:r>
          </a:p>
        </p:txBody>
      </p:sp>
      <p:sp>
        <p:nvSpPr>
          <p:cNvPr id="5" name="Slide Number Placeholder 4">
            <a:extLst>
              <a:ext uri="{FF2B5EF4-FFF2-40B4-BE49-F238E27FC236}">
                <a16:creationId xmlns:a16="http://schemas.microsoft.com/office/drawing/2014/main" id="{35EA9F99-E206-1122-99A5-22A2214783FF}"/>
              </a:ext>
            </a:extLst>
          </p:cNvPr>
          <p:cNvSpPr>
            <a:spLocks noGrp="1"/>
          </p:cNvSpPr>
          <p:nvPr>
            <p:ph type="sldNum" sz="quarter" idx="12"/>
          </p:nvPr>
        </p:nvSpPr>
        <p:spPr/>
        <p:txBody>
          <a:bodyPr/>
          <a:lstStyle/>
          <a:p>
            <a:fld id="{CC8B731A-DCF7-4273-BA1A-21517ACBB5E5}" type="slidenum">
              <a:rPr lang="en-GB" smtClean="0"/>
              <a:t>29</a:t>
            </a:fld>
            <a:endParaRPr lang="en-GB"/>
          </a:p>
        </p:txBody>
      </p:sp>
      <p:sp>
        <p:nvSpPr>
          <p:cNvPr id="15" name="TextBox 14">
            <a:extLst>
              <a:ext uri="{FF2B5EF4-FFF2-40B4-BE49-F238E27FC236}">
                <a16:creationId xmlns:a16="http://schemas.microsoft.com/office/drawing/2014/main" id="{52F331CB-EF4E-BF0C-EF02-E2EDD22B4464}"/>
              </a:ext>
            </a:extLst>
          </p:cNvPr>
          <p:cNvSpPr txBox="1"/>
          <p:nvPr/>
        </p:nvSpPr>
        <p:spPr>
          <a:xfrm>
            <a:off x="8909902" y="1825625"/>
            <a:ext cx="2147013" cy="3077766"/>
          </a:xfrm>
          <a:prstGeom prst="rect">
            <a:avLst/>
          </a:prstGeom>
          <a:solidFill>
            <a:schemeClr val="tx1"/>
          </a:solidFill>
        </p:spPr>
        <p:txBody>
          <a:bodyPr wrap="square" rtlCol="0">
            <a:spAutoFit/>
          </a:bodyPr>
          <a:lstStyle/>
          <a:p>
            <a:pPr marL="177800" indent="-177800">
              <a:buFont typeface="Arial" panose="020B0604020202020204" pitchFamily="34" charset="0"/>
              <a:buChar char="•"/>
            </a:pPr>
            <a:r>
              <a:rPr lang="en-GB" sz="1600" b="1" dirty="0">
                <a:solidFill>
                  <a:schemeClr val="bg1"/>
                </a:solidFill>
              </a:rPr>
              <a:t>S = Subject</a:t>
            </a:r>
          </a:p>
          <a:p>
            <a:pPr marL="177800" indent="-177800">
              <a:buFont typeface="Arial" panose="020B0604020202020204" pitchFamily="34" charset="0"/>
              <a:buChar char="•"/>
            </a:pPr>
            <a:r>
              <a:rPr lang="en-GB" sz="1600" b="1" dirty="0">
                <a:solidFill>
                  <a:schemeClr val="bg1"/>
                </a:solidFill>
              </a:rPr>
              <a:t>V = Verb</a:t>
            </a: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1</a:t>
            </a:r>
            <a:r>
              <a:rPr lang="en-GB" sz="1400" b="1" dirty="0">
                <a:solidFill>
                  <a:schemeClr val="bg1"/>
                </a:solidFill>
              </a:rPr>
              <a:t>: SV</a:t>
            </a: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2</a:t>
            </a:r>
            <a:r>
              <a:rPr lang="en-GB" sz="1400" b="1" dirty="0">
                <a:solidFill>
                  <a:schemeClr val="bg1"/>
                </a:solidFill>
              </a:rPr>
              <a:t>: SVC</a:t>
            </a: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3</a:t>
            </a:r>
            <a:r>
              <a:rPr lang="en-GB" sz="1400" b="1" dirty="0">
                <a:solidFill>
                  <a:schemeClr val="bg1"/>
                </a:solidFill>
              </a:rPr>
              <a:t>: SVO</a:t>
            </a: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4</a:t>
            </a:r>
            <a:r>
              <a:rPr lang="en-GB" sz="1400" b="1" dirty="0">
                <a:solidFill>
                  <a:schemeClr val="bg1"/>
                </a:solidFill>
              </a:rPr>
              <a:t>: SVO</a:t>
            </a:r>
            <a:r>
              <a:rPr lang="en-GB" sz="900" b="1" dirty="0">
                <a:solidFill>
                  <a:schemeClr val="bg1"/>
                </a:solidFill>
              </a:rPr>
              <a:t>1</a:t>
            </a:r>
            <a:r>
              <a:rPr lang="en-GB" sz="1400" b="1" dirty="0">
                <a:solidFill>
                  <a:schemeClr val="bg1"/>
                </a:solidFill>
              </a:rPr>
              <a:t>O</a:t>
            </a:r>
            <a:r>
              <a:rPr lang="en-GB" sz="900" b="1" dirty="0">
                <a:solidFill>
                  <a:schemeClr val="bg1"/>
                </a:solidFill>
              </a:rPr>
              <a:t>2</a:t>
            </a:r>
            <a:endParaRPr lang="en-GB" sz="1400" b="1" dirty="0">
              <a:solidFill>
                <a:schemeClr val="bg1"/>
              </a:solidFill>
            </a:endParaRPr>
          </a:p>
          <a:p>
            <a:pPr marL="268288" lvl="1" indent="188913">
              <a:buFont typeface="Arial" panose="020B0604020202020204" pitchFamily="34" charset="0"/>
              <a:buChar char="•"/>
            </a:pPr>
            <a:r>
              <a:rPr lang="en-GB" sz="1400" b="1" dirty="0">
                <a:solidFill>
                  <a:schemeClr val="bg1"/>
                </a:solidFill>
              </a:rPr>
              <a:t>V</a:t>
            </a:r>
            <a:r>
              <a:rPr lang="en-GB" sz="900" b="1" dirty="0">
                <a:solidFill>
                  <a:schemeClr val="bg1"/>
                </a:solidFill>
              </a:rPr>
              <a:t>5</a:t>
            </a:r>
            <a:r>
              <a:rPr lang="en-GB" sz="1400" b="1" dirty="0">
                <a:solidFill>
                  <a:schemeClr val="bg1"/>
                </a:solidFill>
              </a:rPr>
              <a:t>: SVOC</a:t>
            </a:r>
          </a:p>
          <a:p>
            <a:pPr marL="177800" indent="-177800">
              <a:buFont typeface="Arial" panose="020B0604020202020204" pitchFamily="34" charset="0"/>
              <a:buChar char="•"/>
            </a:pPr>
            <a:r>
              <a:rPr lang="en-GB" sz="1600" b="1" dirty="0">
                <a:solidFill>
                  <a:schemeClr val="bg1"/>
                </a:solidFill>
              </a:rPr>
              <a:t>O = Object</a:t>
            </a:r>
          </a:p>
          <a:p>
            <a:pPr marL="446088" lvl="1" indent="-177800">
              <a:buFont typeface="Arial" panose="020B0604020202020204" pitchFamily="34" charset="0"/>
              <a:buChar char="•"/>
            </a:pPr>
            <a:r>
              <a:rPr lang="en-GB" sz="1400" b="1" dirty="0">
                <a:solidFill>
                  <a:schemeClr val="bg1"/>
                </a:solidFill>
              </a:rPr>
              <a:t>O</a:t>
            </a:r>
            <a:r>
              <a:rPr lang="en-GB" sz="900" b="1" dirty="0">
                <a:solidFill>
                  <a:schemeClr val="bg1"/>
                </a:solidFill>
              </a:rPr>
              <a:t>1</a:t>
            </a:r>
            <a:r>
              <a:rPr lang="en-GB" sz="1400" b="1" dirty="0">
                <a:solidFill>
                  <a:schemeClr val="bg1"/>
                </a:solidFill>
              </a:rPr>
              <a:t>: Indirect Object</a:t>
            </a:r>
            <a:endParaRPr lang="en-GB" sz="1600" b="1" dirty="0">
              <a:solidFill>
                <a:schemeClr val="bg1"/>
              </a:solidFill>
            </a:endParaRPr>
          </a:p>
          <a:p>
            <a:pPr marL="446088" lvl="1" indent="-177800">
              <a:buFont typeface="Arial" panose="020B0604020202020204" pitchFamily="34" charset="0"/>
              <a:buChar char="•"/>
            </a:pPr>
            <a:r>
              <a:rPr lang="en-GB" sz="1400" b="1" dirty="0">
                <a:solidFill>
                  <a:schemeClr val="bg1"/>
                </a:solidFill>
              </a:rPr>
              <a:t>O</a:t>
            </a:r>
            <a:r>
              <a:rPr lang="en-GB" sz="900" b="1" dirty="0">
                <a:solidFill>
                  <a:schemeClr val="bg1"/>
                </a:solidFill>
              </a:rPr>
              <a:t>2</a:t>
            </a:r>
            <a:r>
              <a:rPr lang="en-GB" sz="1400" b="1" dirty="0">
                <a:solidFill>
                  <a:schemeClr val="bg1"/>
                </a:solidFill>
              </a:rPr>
              <a:t>: Direct Object</a:t>
            </a:r>
            <a:endParaRPr lang="en-GB" sz="1600" b="1" dirty="0">
              <a:solidFill>
                <a:schemeClr val="bg1"/>
              </a:solidFill>
            </a:endParaRPr>
          </a:p>
          <a:p>
            <a:pPr marL="177800" indent="-177800">
              <a:buFont typeface="Arial" panose="020B0604020202020204" pitchFamily="34" charset="0"/>
              <a:buChar char="•"/>
            </a:pPr>
            <a:r>
              <a:rPr lang="en-GB" sz="1600" b="1" dirty="0">
                <a:solidFill>
                  <a:schemeClr val="bg1"/>
                </a:solidFill>
              </a:rPr>
              <a:t>C = Complement</a:t>
            </a:r>
          </a:p>
          <a:p>
            <a:pPr marL="177800" indent="-177800">
              <a:buFont typeface="Arial" panose="020B0604020202020204" pitchFamily="34" charset="0"/>
              <a:buChar char="•"/>
            </a:pPr>
            <a:r>
              <a:rPr lang="en-GB" sz="1600" b="1" dirty="0">
                <a:solidFill>
                  <a:schemeClr val="bg1"/>
                </a:solidFill>
              </a:rPr>
              <a:t>[Subordinate Clause]</a:t>
            </a:r>
          </a:p>
          <a:p>
            <a:pPr marL="177800" indent="-177800">
              <a:buFont typeface="Arial" panose="020B0604020202020204" pitchFamily="34" charset="0"/>
              <a:buChar char="•"/>
            </a:pPr>
            <a:r>
              <a:rPr lang="en-GB" sz="1600" b="1" dirty="0">
                <a:solidFill>
                  <a:schemeClr val="bg1"/>
                </a:solidFill>
              </a:rPr>
              <a:t>(Modifier)</a:t>
            </a:r>
          </a:p>
        </p:txBody>
      </p:sp>
      <p:pic>
        <p:nvPicPr>
          <p:cNvPr id="16" name="Content Placeholder 4">
            <a:extLst>
              <a:ext uri="{FF2B5EF4-FFF2-40B4-BE49-F238E27FC236}">
                <a16:creationId xmlns:a16="http://schemas.microsoft.com/office/drawing/2014/main" id="{9828ABDD-C314-1766-6A32-3D4788A9B43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199" y="1825625"/>
            <a:ext cx="7978175" cy="3040767"/>
          </a:xfrm>
          <a:prstGeom prst="rect">
            <a:avLst/>
          </a:prstGeom>
        </p:spPr>
      </p:pic>
      <p:cxnSp>
        <p:nvCxnSpPr>
          <p:cNvPr id="19" name="Straight Connector 18">
            <a:extLst>
              <a:ext uri="{FF2B5EF4-FFF2-40B4-BE49-F238E27FC236}">
                <a16:creationId xmlns:a16="http://schemas.microsoft.com/office/drawing/2014/main" id="{CB195D78-BD16-9F74-A428-1B189D6E7A5F}"/>
              </a:ext>
            </a:extLst>
          </p:cNvPr>
          <p:cNvCxnSpPr>
            <a:cxnSpLocks/>
          </p:cNvCxnSpPr>
          <p:nvPr/>
        </p:nvCxnSpPr>
        <p:spPr>
          <a:xfrm flipV="1">
            <a:off x="4149741" y="2277581"/>
            <a:ext cx="2039931" cy="6936"/>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60CF126-70B9-0E65-F61B-4BA23B31FF08}"/>
              </a:ext>
            </a:extLst>
          </p:cNvPr>
          <p:cNvCxnSpPr>
            <a:cxnSpLocks/>
          </p:cNvCxnSpPr>
          <p:nvPr/>
        </p:nvCxnSpPr>
        <p:spPr>
          <a:xfrm>
            <a:off x="1516565" y="3787694"/>
            <a:ext cx="45497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89922DD-CAB2-7476-987F-DE32B5D3ACA7}"/>
              </a:ext>
            </a:extLst>
          </p:cNvPr>
          <p:cNvCxnSpPr>
            <a:cxnSpLocks/>
          </p:cNvCxnSpPr>
          <p:nvPr/>
        </p:nvCxnSpPr>
        <p:spPr>
          <a:xfrm>
            <a:off x="2141777" y="3787694"/>
            <a:ext cx="123481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4BD9A2C-B36E-500B-E149-4C0246B12E86}"/>
              </a:ext>
            </a:extLst>
          </p:cNvPr>
          <p:cNvCxnSpPr>
            <a:cxnSpLocks/>
          </p:cNvCxnSpPr>
          <p:nvPr/>
        </p:nvCxnSpPr>
        <p:spPr>
          <a:xfrm>
            <a:off x="3442010" y="3792902"/>
            <a:ext cx="43861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040ED7A-CAF7-5110-C06B-C86F54989464}"/>
              </a:ext>
            </a:extLst>
          </p:cNvPr>
          <p:cNvCxnSpPr>
            <a:cxnSpLocks/>
          </p:cNvCxnSpPr>
          <p:nvPr/>
        </p:nvCxnSpPr>
        <p:spPr>
          <a:xfrm>
            <a:off x="5568920" y="3787694"/>
            <a:ext cx="4348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F0257FF-A2AA-F63E-7B6B-FE045A0F9B0B}"/>
              </a:ext>
            </a:extLst>
          </p:cNvPr>
          <p:cNvCxnSpPr>
            <a:cxnSpLocks/>
          </p:cNvCxnSpPr>
          <p:nvPr/>
        </p:nvCxnSpPr>
        <p:spPr>
          <a:xfrm>
            <a:off x="6189672" y="3787694"/>
            <a:ext cx="83113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AA4D9573-4EC0-1C63-0D82-9EADEA8C8B60}"/>
              </a:ext>
            </a:extLst>
          </p:cNvPr>
          <p:cNvSpPr txBox="1"/>
          <p:nvPr/>
        </p:nvSpPr>
        <p:spPr>
          <a:xfrm>
            <a:off x="1333498" y="2253436"/>
            <a:ext cx="281010" cy="369332"/>
          </a:xfrm>
          <a:prstGeom prst="rect">
            <a:avLst/>
          </a:prstGeom>
          <a:noFill/>
        </p:spPr>
        <p:txBody>
          <a:bodyPr wrap="square" rtlCol="0">
            <a:spAutoFit/>
          </a:bodyPr>
          <a:lstStyle/>
          <a:p>
            <a:pPr algn="ctr"/>
            <a:r>
              <a:rPr lang="en-GB" b="1" dirty="0">
                <a:solidFill>
                  <a:schemeClr val="bg1"/>
                </a:solidFill>
              </a:rPr>
              <a:t>S</a:t>
            </a:r>
          </a:p>
        </p:txBody>
      </p:sp>
      <p:sp>
        <p:nvSpPr>
          <p:cNvPr id="29" name="TextBox 28">
            <a:extLst>
              <a:ext uri="{FF2B5EF4-FFF2-40B4-BE49-F238E27FC236}">
                <a16:creationId xmlns:a16="http://schemas.microsoft.com/office/drawing/2014/main" id="{8B05ADA1-59A4-5B95-F744-3ECE6B74CF5C}"/>
              </a:ext>
            </a:extLst>
          </p:cNvPr>
          <p:cNvSpPr txBox="1"/>
          <p:nvPr/>
        </p:nvSpPr>
        <p:spPr>
          <a:xfrm>
            <a:off x="4932764" y="2231013"/>
            <a:ext cx="472813"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3</a:t>
            </a:r>
            <a:endParaRPr lang="en-GB" b="1" dirty="0">
              <a:solidFill>
                <a:schemeClr val="bg1"/>
              </a:solidFill>
            </a:endParaRPr>
          </a:p>
        </p:txBody>
      </p:sp>
      <p:sp>
        <p:nvSpPr>
          <p:cNvPr id="31" name="TextBox 30">
            <a:extLst>
              <a:ext uri="{FF2B5EF4-FFF2-40B4-BE49-F238E27FC236}">
                <a16:creationId xmlns:a16="http://schemas.microsoft.com/office/drawing/2014/main" id="{A447781E-19D0-FEA2-CC51-BB33B7AAA3CA}"/>
              </a:ext>
            </a:extLst>
          </p:cNvPr>
          <p:cNvSpPr txBox="1"/>
          <p:nvPr/>
        </p:nvSpPr>
        <p:spPr>
          <a:xfrm>
            <a:off x="1582732" y="3712759"/>
            <a:ext cx="281010" cy="369332"/>
          </a:xfrm>
          <a:prstGeom prst="rect">
            <a:avLst/>
          </a:prstGeom>
          <a:noFill/>
          <a:ln>
            <a:noFill/>
          </a:ln>
        </p:spPr>
        <p:txBody>
          <a:bodyPr wrap="square" rtlCol="0">
            <a:spAutoFit/>
          </a:bodyPr>
          <a:lstStyle/>
          <a:p>
            <a:pPr algn="ctr"/>
            <a:r>
              <a:rPr lang="en-GB" b="1" dirty="0">
                <a:solidFill>
                  <a:schemeClr val="bg1"/>
                </a:solidFill>
              </a:rPr>
              <a:t>S</a:t>
            </a:r>
          </a:p>
        </p:txBody>
      </p:sp>
      <p:sp>
        <p:nvSpPr>
          <p:cNvPr id="32" name="TextBox 31">
            <a:extLst>
              <a:ext uri="{FF2B5EF4-FFF2-40B4-BE49-F238E27FC236}">
                <a16:creationId xmlns:a16="http://schemas.microsoft.com/office/drawing/2014/main" id="{6D63D8FB-5400-F4DE-6194-D43E156F92B8}"/>
              </a:ext>
            </a:extLst>
          </p:cNvPr>
          <p:cNvSpPr txBox="1"/>
          <p:nvPr/>
        </p:nvSpPr>
        <p:spPr>
          <a:xfrm>
            <a:off x="2366990" y="3722724"/>
            <a:ext cx="472813"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1</a:t>
            </a:r>
            <a:endParaRPr lang="en-GB" b="1" dirty="0">
              <a:solidFill>
                <a:schemeClr val="bg1"/>
              </a:solidFill>
            </a:endParaRPr>
          </a:p>
        </p:txBody>
      </p:sp>
      <p:sp>
        <p:nvSpPr>
          <p:cNvPr id="34" name="TextBox 33">
            <a:extLst>
              <a:ext uri="{FF2B5EF4-FFF2-40B4-BE49-F238E27FC236}">
                <a16:creationId xmlns:a16="http://schemas.microsoft.com/office/drawing/2014/main" id="{23542280-95E0-6CB7-B4CD-FAA18B3ED304}"/>
              </a:ext>
            </a:extLst>
          </p:cNvPr>
          <p:cNvSpPr txBox="1"/>
          <p:nvPr/>
        </p:nvSpPr>
        <p:spPr>
          <a:xfrm>
            <a:off x="3482155" y="3722724"/>
            <a:ext cx="281010" cy="369332"/>
          </a:xfrm>
          <a:prstGeom prst="rect">
            <a:avLst/>
          </a:prstGeom>
          <a:noFill/>
        </p:spPr>
        <p:txBody>
          <a:bodyPr wrap="square" rtlCol="0">
            <a:spAutoFit/>
          </a:bodyPr>
          <a:lstStyle/>
          <a:p>
            <a:pPr algn="ctr"/>
            <a:r>
              <a:rPr lang="en-GB" b="1" dirty="0">
                <a:solidFill>
                  <a:schemeClr val="bg1"/>
                </a:solidFill>
              </a:rPr>
              <a:t>O</a:t>
            </a:r>
          </a:p>
        </p:txBody>
      </p:sp>
      <p:sp>
        <p:nvSpPr>
          <p:cNvPr id="36" name="TextBox 35">
            <a:extLst>
              <a:ext uri="{FF2B5EF4-FFF2-40B4-BE49-F238E27FC236}">
                <a16:creationId xmlns:a16="http://schemas.microsoft.com/office/drawing/2014/main" id="{792ECD9A-E8D1-10D2-AC56-920C41E1BB1D}"/>
              </a:ext>
            </a:extLst>
          </p:cNvPr>
          <p:cNvSpPr txBox="1"/>
          <p:nvPr/>
        </p:nvSpPr>
        <p:spPr>
          <a:xfrm>
            <a:off x="5654893" y="3727928"/>
            <a:ext cx="281010" cy="369332"/>
          </a:xfrm>
          <a:prstGeom prst="rect">
            <a:avLst/>
          </a:prstGeom>
          <a:noFill/>
        </p:spPr>
        <p:txBody>
          <a:bodyPr wrap="square" rtlCol="0">
            <a:spAutoFit/>
          </a:bodyPr>
          <a:lstStyle/>
          <a:p>
            <a:pPr algn="ctr"/>
            <a:r>
              <a:rPr lang="en-GB" b="1" dirty="0">
                <a:solidFill>
                  <a:schemeClr val="bg1"/>
                </a:solidFill>
              </a:rPr>
              <a:t>S</a:t>
            </a:r>
          </a:p>
        </p:txBody>
      </p:sp>
      <p:sp>
        <p:nvSpPr>
          <p:cNvPr id="39" name="TextBox 38">
            <a:extLst>
              <a:ext uri="{FF2B5EF4-FFF2-40B4-BE49-F238E27FC236}">
                <a16:creationId xmlns:a16="http://schemas.microsoft.com/office/drawing/2014/main" id="{479DC78F-D97B-0ABF-27DA-13E1287823A4}"/>
              </a:ext>
            </a:extLst>
          </p:cNvPr>
          <p:cNvSpPr txBox="1"/>
          <p:nvPr/>
        </p:nvSpPr>
        <p:spPr>
          <a:xfrm>
            <a:off x="6398677" y="3707801"/>
            <a:ext cx="472813"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1</a:t>
            </a:r>
            <a:endParaRPr lang="en-GB" b="1" dirty="0">
              <a:solidFill>
                <a:schemeClr val="bg1"/>
              </a:solidFill>
            </a:endParaRPr>
          </a:p>
        </p:txBody>
      </p:sp>
      <p:sp>
        <p:nvSpPr>
          <p:cNvPr id="44" name="TextBox 43">
            <a:extLst>
              <a:ext uri="{FF2B5EF4-FFF2-40B4-BE49-F238E27FC236}">
                <a16:creationId xmlns:a16="http://schemas.microsoft.com/office/drawing/2014/main" id="{91C41FFA-43D7-7F46-DB0E-AC0CCA5B5F83}"/>
              </a:ext>
            </a:extLst>
          </p:cNvPr>
          <p:cNvSpPr txBox="1"/>
          <p:nvPr/>
        </p:nvSpPr>
        <p:spPr>
          <a:xfrm>
            <a:off x="3780481" y="3785692"/>
            <a:ext cx="565203" cy="276999"/>
          </a:xfrm>
          <a:prstGeom prst="rect">
            <a:avLst/>
          </a:prstGeom>
          <a:noFill/>
        </p:spPr>
        <p:txBody>
          <a:bodyPr wrap="square" rtlCol="0">
            <a:spAutoFit/>
          </a:bodyPr>
          <a:lstStyle/>
          <a:p>
            <a:pPr algn="ctr"/>
            <a:r>
              <a:rPr lang="en-GB" sz="1200" b="1" dirty="0">
                <a:solidFill>
                  <a:schemeClr val="bg1"/>
                </a:solidFill>
              </a:rPr>
              <a:t>(and)</a:t>
            </a:r>
          </a:p>
        </p:txBody>
      </p:sp>
      <p:sp>
        <p:nvSpPr>
          <p:cNvPr id="47" name="TextBox 46">
            <a:extLst>
              <a:ext uri="{FF2B5EF4-FFF2-40B4-BE49-F238E27FC236}">
                <a16:creationId xmlns:a16="http://schemas.microsoft.com/office/drawing/2014/main" id="{BB43DF0D-423F-C433-56FB-51C21FDCBBD6}"/>
              </a:ext>
            </a:extLst>
          </p:cNvPr>
          <p:cNvSpPr txBox="1"/>
          <p:nvPr/>
        </p:nvSpPr>
        <p:spPr>
          <a:xfrm>
            <a:off x="6782255" y="2234295"/>
            <a:ext cx="458703" cy="369332"/>
          </a:xfrm>
          <a:prstGeom prst="rect">
            <a:avLst/>
          </a:prstGeom>
          <a:noFill/>
        </p:spPr>
        <p:txBody>
          <a:bodyPr wrap="square" rtlCol="0">
            <a:spAutoFit/>
          </a:bodyPr>
          <a:lstStyle/>
          <a:p>
            <a:pPr algn="ctr"/>
            <a:r>
              <a:rPr lang="en-GB" b="1" dirty="0">
                <a:solidFill>
                  <a:schemeClr val="bg1"/>
                </a:solidFill>
              </a:rPr>
              <a:t>[S]</a:t>
            </a:r>
          </a:p>
        </p:txBody>
      </p:sp>
      <p:sp>
        <p:nvSpPr>
          <p:cNvPr id="50" name="TextBox 49">
            <a:extLst>
              <a:ext uri="{FF2B5EF4-FFF2-40B4-BE49-F238E27FC236}">
                <a16:creationId xmlns:a16="http://schemas.microsoft.com/office/drawing/2014/main" id="{318DADB3-375B-8E4A-F9DD-F174FA8EB243}"/>
              </a:ext>
            </a:extLst>
          </p:cNvPr>
          <p:cNvSpPr txBox="1"/>
          <p:nvPr/>
        </p:nvSpPr>
        <p:spPr>
          <a:xfrm>
            <a:off x="7444396" y="2233399"/>
            <a:ext cx="540685"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1</a:t>
            </a:r>
            <a:r>
              <a:rPr lang="en-GB" b="1" dirty="0">
                <a:solidFill>
                  <a:schemeClr val="bg1"/>
                </a:solidFill>
              </a:rPr>
              <a:t>]</a:t>
            </a:r>
          </a:p>
        </p:txBody>
      </p:sp>
      <p:sp>
        <p:nvSpPr>
          <p:cNvPr id="51" name="TextBox 50">
            <a:extLst>
              <a:ext uri="{FF2B5EF4-FFF2-40B4-BE49-F238E27FC236}">
                <a16:creationId xmlns:a16="http://schemas.microsoft.com/office/drawing/2014/main" id="{723A29AB-12A5-8966-3F1D-922255D0E201}"/>
              </a:ext>
            </a:extLst>
          </p:cNvPr>
          <p:cNvSpPr txBox="1"/>
          <p:nvPr/>
        </p:nvSpPr>
        <p:spPr>
          <a:xfrm>
            <a:off x="6271010" y="1715985"/>
            <a:ext cx="217457" cy="769441"/>
          </a:xfrm>
          <a:prstGeom prst="rect">
            <a:avLst/>
          </a:prstGeom>
          <a:noFill/>
        </p:spPr>
        <p:txBody>
          <a:bodyPr wrap="square" rtlCol="0">
            <a:spAutoFit/>
          </a:bodyPr>
          <a:lstStyle/>
          <a:p>
            <a:pPr algn="ctr"/>
            <a:r>
              <a:rPr lang="en-GB" sz="4400" dirty="0">
                <a:solidFill>
                  <a:schemeClr val="bg1"/>
                </a:solidFill>
              </a:rPr>
              <a:t>[</a:t>
            </a:r>
          </a:p>
        </p:txBody>
      </p:sp>
      <p:sp>
        <p:nvSpPr>
          <p:cNvPr id="52" name="TextBox 51">
            <a:extLst>
              <a:ext uri="{FF2B5EF4-FFF2-40B4-BE49-F238E27FC236}">
                <a16:creationId xmlns:a16="http://schemas.microsoft.com/office/drawing/2014/main" id="{59917251-C68A-743F-1C69-C99CF5D78BED}"/>
              </a:ext>
            </a:extLst>
          </p:cNvPr>
          <p:cNvSpPr txBox="1"/>
          <p:nvPr/>
        </p:nvSpPr>
        <p:spPr>
          <a:xfrm>
            <a:off x="8558871" y="1715985"/>
            <a:ext cx="217457" cy="769441"/>
          </a:xfrm>
          <a:prstGeom prst="rect">
            <a:avLst/>
          </a:prstGeom>
          <a:noFill/>
        </p:spPr>
        <p:txBody>
          <a:bodyPr wrap="square" rtlCol="0">
            <a:spAutoFit/>
          </a:bodyPr>
          <a:lstStyle/>
          <a:p>
            <a:pPr algn="ctr"/>
            <a:r>
              <a:rPr lang="en-GB" sz="4400" dirty="0">
                <a:solidFill>
                  <a:schemeClr val="bg1"/>
                </a:solidFill>
              </a:rPr>
              <a:t>]</a:t>
            </a:r>
          </a:p>
        </p:txBody>
      </p:sp>
      <p:cxnSp>
        <p:nvCxnSpPr>
          <p:cNvPr id="53" name="Straight Connector 52">
            <a:extLst>
              <a:ext uri="{FF2B5EF4-FFF2-40B4-BE49-F238E27FC236}">
                <a16:creationId xmlns:a16="http://schemas.microsoft.com/office/drawing/2014/main" id="{4D03A6C9-548A-9D75-87C0-09F26685FC38}"/>
              </a:ext>
            </a:extLst>
          </p:cNvPr>
          <p:cNvCxnSpPr>
            <a:cxnSpLocks/>
          </p:cNvCxnSpPr>
          <p:nvPr/>
        </p:nvCxnSpPr>
        <p:spPr>
          <a:xfrm>
            <a:off x="6789979" y="2285020"/>
            <a:ext cx="43489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A9D55E3C-005E-648D-3066-AE06BF1150F9}"/>
              </a:ext>
            </a:extLst>
          </p:cNvPr>
          <p:cNvCxnSpPr>
            <a:cxnSpLocks/>
          </p:cNvCxnSpPr>
          <p:nvPr/>
        </p:nvCxnSpPr>
        <p:spPr>
          <a:xfrm>
            <a:off x="7422104" y="2289480"/>
            <a:ext cx="83113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84A3AE18-52DC-488B-8433-174D9C211C03}"/>
              </a:ext>
            </a:extLst>
          </p:cNvPr>
          <p:cNvSpPr txBox="1"/>
          <p:nvPr/>
        </p:nvSpPr>
        <p:spPr>
          <a:xfrm>
            <a:off x="4054399" y="3320812"/>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56" name="TextBox 55">
            <a:extLst>
              <a:ext uri="{FF2B5EF4-FFF2-40B4-BE49-F238E27FC236}">
                <a16:creationId xmlns:a16="http://schemas.microsoft.com/office/drawing/2014/main" id="{DB118DE1-0692-40D1-E5FA-38E5927A6F53}"/>
              </a:ext>
            </a:extLst>
          </p:cNvPr>
          <p:cNvSpPr txBox="1"/>
          <p:nvPr/>
        </p:nvSpPr>
        <p:spPr>
          <a:xfrm>
            <a:off x="4899884" y="3322043"/>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57" name="Rectangle 56">
            <a:extLst>
              <a:ext uri="{FF2B5EF4-FFF2-40B4-BE49-F238E27FC236}">
                <a16:creationId xmlns:a16="http://schemas.microsoft.com/office/drawing/2014/main" id="{80ACD402-A4F6-4626-60B9-75F8BCED52EA}"/>
              </a:ext>
            </a:extLst>
          </p:cNvPr>
          <p:cNvSpPr/>
          <p:nvPr/>
        </p:nvSpPr>
        <p:spPr>
          <a:xfrm>
            <a:off x="3996597" y="3621916"/>
            <a:ext cx="124524" cy="170419"/>
          </a:xfrm>
          <a:prstGeom prst="rect">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E729F29F-7438-8B91-31A9-F5B413C990A3}"/>
              </a:ext>
            </a:extLst>
          </p:cNvPr>
          <p:cNvSpPr txBox="1"/>
          <p:nvPr/>
        </p:nvSpPr>
        <p:spPr>
          <a:xfrm>
            <a:off x="1365275" y="1677581"/>
            <a:ext cx="217457" cy="769441"/>
          </a:xfrm>
          <a:prstGeom prst="rect">
            <a:avLst/>
          </a:prstGeom>
          <a:noFill/>
        </p:spPr>
        <p:txBody>
          <a:bodyPr wrap="square" rtlCol="0">
            <a:spAutoFit/>
          </a:bodyPr>
          <a:lstStyle/>
          <a:p>
            <a:pPr algn="ctr"/>
            <a:r>
              <a:rPr lang="en-GB" sz="4400" dirty="0">
                <a:solidFill>
                  <a:schemeClr val="bg1"/>
                </a:solidFill>
              </a:rPr>
              <a:t>[</a:t>
            </a:r>
          </a:p>
        </p:txBody>
      </p:sp>
      <p:sp>
        <p:nvSpPr>
          <p:cNvPr id="4" name="TextBox 3">
            <a:extLst>
              <a:ext uri="{FF2B5EF4-FFF2-40B4-BE49-F238E27FC236}">
                <a16:creationId xmlns:a16="http://schemas.microsoft.com/office/drawing/2014/main" id="{3F2EF6D4-2B51-ECA5-33D3-B1BC15BC005A}"/>
              </a:ext>
            </a:extLst>
          </p:cNvPr>
          <p:cNvSpPr txBox="1"/>
          <p:nvPr/>
        </p:nvSpPr>
        <p:spPr>
          <a:xfrm>
            <a:off x="3907820" y="1681918"/>
            <a:ext cx="217457" cy="769441"/>
          </a:xfrm>
          <a:prstGeom prst="rect">
            <a:avLst/>
          </a:prstGeom>
          <a:noFill/>
        </p:spPr>
        <p:txBody>
          <a:bodyPr wrap="square" rtlCol="0">
            <a:spAutoFit/>
          </a:bodyPr>
          <a:lstStyle/>
          <a:p>
            <a:pPr algn="ctr"/>
            <a:r>
              <a:rPr lang="en-GB" sz="4400" dirty="0">
                <a:solidFill>
                  <a:schemeClr val="bg1"/>
                </a:solidFill>
              </a:rPr>
              <a:t>]</a:t>
            </a:r>
          </a:p>
        </p:txBody>
      </p:sp>
      <p:cxnSp>
        <p:nvCxnSpPr>
          <p:cNvPr id="6" name="Straight Connector 5">
            <a:extLst>
              <a:ext uri="{FF2B5EF4-FFF2-40B4-BE49-F238E27FC236}">
                <a16:creationId xmlns:a16="http://schemas.microsoft.com/office/drawing/2014/main" id="{C4C31D0D-FD8B-B360-F069-814E07CE149F}"/>
              </a:ext>
            </a:extLst>
          </p:cNvPr>
          <p:cNvCxnSpPr>
            <a:cxnSpLocks/>
          </p:cNvCxnSpPr>
          <p:nvPr/>
        </p:nvCxnSpPr>
        <p:spPr>
          <a:xfrm>
            <a:off x="1562148" y="2277581"/>
            <a:ext cx="454971"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843B394-9B87-E396-BEB6-5418378D8965}"/>
              </a:ext>
            </a:extLst>
          </p:cNvPr>
          <p:cNvCxnSpPr>
            <a:cxnSpLocks/>
          </p:cNvCxnSpPr>
          <p:nvPr/>
        </p:nvCxnSpPr>
        <p:spPr>
          <a:xfrm>
            <a:off x="2187360" y="2277581"/>
            <a:ext cx="123481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5A688DC-CF77-1262-9B3F-E79CAE622599}"/>
              </a:ext>
            </a:extLst>
          </p:cNvPr>
          <p:cNvCxnSpPr>
            <a:cxnSpLocks/>
          </p:cNvCxnSpPr>
          <p:nvPr/>
        </p:nvCxnSpPr>
        <p:spPr>
          <a:xfrm>
            <a:off x="3487593" y="2282789"/>
            <a:ext cx="43861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5F28966-DED0-0F08-09F8-993FED377FFB}"/>
              </a:ext>
            </a:extLst>
          </p:cNvPr>
          <p:cNvSpPr txBox="1"/>
          <p:nvPr/>
        </p:nvSpPr>
        <p:spPr>
          <a:xfrm>
            <a:off x="6268689" y="2284517"/>
            <a:ext cx="281010" cy="369332"/>
          </a:xfrm>
          <a:prstGeom prst="rect">
            <a:avLst/>
          </a:prstGeom>
          <a:noFill/>
        </p:spPr>
        <p:txBody>
          <a:bodyPr wrap="square" rtlCol="0">
            <a:spAutoFit/>
          </a:bodyPr>
          <a:lstStyle/>
          <a:p>
            <a:pPr algn="ctr"/>
            <a:r>
              <a:rPr lang="en-GB" b="1" dirty="0">
                <a:solidFill>
                  <a:schemeClr val="bg1"/>
                </a:solidFill>
              </a:rPr>
              <a:t>O</a:t>
            </a:r>
          </a:p>
        </p:txBody>
      </p:sp>
      <p:sp>
        <p:nvSpPr>
          <p:cNvPr id="23" name="TextBox 22">
            <a:extLst>
              <a:ext uri="{FF2B5EF4-FFF2-40B4-BE49-F238E27FC236}">
                <a16:creationId xmlns:a16="http://schemas.microsoft.com/office/drawing/2014/main" id="{E0E146DF-2BA9-0B39-8CE7-63518F57C690}"/>
              </a:ext>
            </a:extLst>
          </p:cNvPr>
          <p:cNvSpPr txBox="1"/>
          <p:nvPr/>
        </p:nvSpPr>
        <p:spPr>
          <a:xfrm>
            <a:off x="1556328" y="2223369"/>
            <a:ext cx="458703" cy="369332"/>
          </a:xfrm>
          <a:prstGeom prst="rect">
            <a:avLst/>
          </a:prstGeom>
          <a:noFill/>
        </p:spPr>
        <p:txBody>
          <a:bodyPr wrap="square" rtlCol="0">
            <a:spAutoFit/>
          </a:bodyPr>
          <a:lstStyle/>
          <a:p>
            <a:pPr algn="ctr"/>
            <a:r>
              <a:rPr lang="en-GB" b="1" dirty="0">
                <a:solidFill>
                  <a:schemeClr val="bg1"/>
                </a:solidFill>
              </a:rPr>
              <a:t>[S]</a:t>
            </a:r>
          </a:p>
        </p:txBody>
      </p:sp>
      <p:sp>
        <p:nvSpPr>
          <p:cNvPr id="25" name="TextBox 24">
            <a:extLst>
              <a:ext uri="{FF2B5EF4-FFF2-40B4-BE49-F238E27FC236}">
                <a16:creationId xmlns:a16="http://schemas.microsoft.com/office/drawing/2014/main" id="{FDEE9590-96A9-5E2F-75E1-8BE7068E1365}"/>
              </a:ext>
            </a:extLst>
          </p:cNvPr>
          <p:cNvSpPr txBox="1"/>
          <p:nvPr/>
        </p:nvSpPr>
        <p:spPr>
          <a:xfrm>
            <a:off x="2283066" y="2222351"/>
            <a:ext cx="540685" cy="369332"/>
          </a:xfrm>
          <a:prstGeom prst="rect">
            <a:avLst/>
          </a:prstGeom>
          <a:noFill/>
        </p:spPr>
        <p:txBody>
          <a:bodyPr wrap="square" rtlCol="0">
            <a:spAutoFit/>
          </a:bodyPr>
          <a:lstStyle/>
          <a:p>
            <a:pPr algn="ctr"/>
            <a:r>
              <a:rPr lang="en-GB" b="1" dirty="0">
                <a:solidFill>
                  <a:schemeClr val="bg1"/>
                </a:solidFill>
              </a:rPr>
              <a:t>[V</a:t>
            </a:r>
            <a:r>
              <a:rPr lang="en-GB" sz="1050" b="1" dirty="0">
                <a:solidFill>
                  <a:schemeClr val="bg1"/>
                </a:solidFill>
              </a:rPr>
              <a:t>1</a:t>
            </a:r>
            <a:r>
              <a:rPr lang="en-GB" b="1" dirty="0">
                <a:solidFill>
                  <a:schemeClr val="bg1"/>
                </a:solidFill>
              </a:rPr>
              <a:t>]</a:t>
            </a:r>
          </a:p>
        </p:txBody>
      </p:sp>
      <p:sp>
        <p:nvSpPr>
          <p:cNvPr id="35" name="TextBox 34">
            <a:extLst>
              <a:ext uri="{FF2B5EF4-FFF2-40B4-BE49-F238E27FC236}">
                <a16:creationId xmlns:a16="http://schemas.microsoft.com/office/drawing/2014/main" id="{37F8BCC4-243F-9D61-7DD2-2E210950E32C}"/>
              </a:ext>
            </a:extLst>
          </p:cNvPr>
          <p:cNvSpPr txBox="1"/>
          <p:nvPr/>
        </p:nvSpPr>
        <p:spPr>
          <a:xfrm>
            <a:off x="2848190" y="3346057"/>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37" name="TextBox 36">
            <a:extLst>
              <a:ext uri="{FF2B5EF4-FFF2-40B4-BE49-F238E27FC236}">
                <a16:creationId xmlns:a16="http://schemas.microsoft.com/office/drawing/2014/main" id="{611495BE-048C-3A99-35FE-10A74D210178}"/>
              </a:ext>
            </a:extLst>
          </p:cNvPr>
          <p:cNvSpPr txBox="1"/>
          <p:nvPr/>
        </p:nvSpPr>
        <p:spPr>
          <a:xfrm>
            <a:off x="3852382" y="3344695"/>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38" name="TextBox 37">
            <a:extLst>
              <a:ext uri="{FF2B5EF4-FFF2-40B4-BE49-F238E27FC236}">
                <a16:creationId xmlns:a16="http://schemas.microsoft.com/office/drawing/2014/main" id="{9EF0D38A-D042-3B17-BCE2-196D60CF263D}"/>
              </a:ext>
            </a:extLst>
          </p:cNvPr>
          <p:cNvSpPr txBox="1"/>
          <p:nvPr/>
        </p:nvSpPr>
        <p:spPr>
          <a:xfrm>
            <a:off x="2852956" y="1839095"/>
            <a:ext cx="217457" cy="523220"/>
          </a:xfrm>
          <a:prstGeom prst="rect">
            <a:avLst/>
          </a:prstGeom>
          <a:noFill/>
        </p:spPr>
        <p:txBody>
          <a:bodyPr wrap="square" rtlCol="0">
            <a:spAutoFit/>
          </a:bodyPr>
          <a:lstStyle/>
          <a:p>
            <a:pPr algn="ctr"/>
            <a:r>
              <a:rPr lang="en-GB" sz="2800" dirty="0">
                <a:solidFill>
                  <a:schemeClr val="bg1"/>
                </a:solidFill>
              </a:rPr>
              <a:t>(</a:t>
            </a:r>
          </a:p>
        </p:txBody>
      </p:sp>
      <p:sp>
        <p:nvSpPr>
          <p:cNvPr id="41" name="TextBox 40">
            <a:extLst>
              <a:ext uri="{FF2B5EF4-FFF2-40B4-BE49-F238E27FC236}">
                <a16:creationId xmlns:a16="http://schemas.microsoft.com/office/drawing/2014/main" id="{C9441889-4414-5E9D-5578-6A192C07B859}"/>
              </a:ext>
            </a:extLst>
          </p:cNvPr>
          <p:cNvSpPr txBox="1"/>
          <p:nvPr/>
        </p:nvSpPr>
        <p:spPr>
          <a:xfrm>
            <a:off x="3847331" y="1825625"/>
            <a:ext cx="217457" cy="523220"/>
          </a:xfrm>
          <a:prstGeom prst="rect">
            <a:avLst/>
          </a:prstGeom>
          <a:noFill/>
        </p:spPr>
        <p:txBody>
          <a:bodyPr wrap="square" rtlCol="0">
            <a:spAutoFit/>
          </a:bodyPr>
          <a:lstStyle/>
          <a:p>
            <a:pPr algn="ctr"/>
            <a:r>
              <a:rPr lang="en-GB" sz="2800" dirty="0">
                <a:solidFill>
                  <a:schemeClr val="bg1"/>
                </a:solidFill>
              </a:rPr>
              <a:t>)</a:t>
            </a:r>
          </a:p>
        </p:txBody>
      </p:sp>
      <p:cxnSp>
        <p:nvCxnSpPr>
          <p:cNvPr id="60" name="Straight Arrow Connector 59">
            <a:extLst>
              <a:ext uri="{FF2B5EF4-FFF2-40B4-BE49-F238E27FC236}">
                <a16:creationId xmlns:a16="http://schemas.microsoft.com/office/drawing/2014/main" id="{EBE2C497-CF20-76D7-B5B0-E8D5110FCAFA}"/>
              </a:ext>
            </a:extLst>
          </p:cNvPr>
          <p:cNvCxnSpPr>
            <a:cxnSpLocks/>
          </p:cNvCxnSpPr>
          <p:nvPr/>
        </p:nvCxnSpPr>
        <p:spPr>
          <a:xfrm>
            <a:off x="5249578" y="1702278"/>
            <a:ext cx="0" cy="3104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8518A66-E98D-51D9-12AA-EC78401BC9BD}"/>
              </a:ext>
            </a:extLst>
          </p:cNvPr>
          <p:cNvSpPr txBox="1"/>
          <p:nvPr/>
        </p:nvSpPr>
        <p:spPr>
          <a:xfrm>
            <a:off x="4279638" y="1420228"/>
            <a:ext cx="1939880" cy="307777"/>
          </a:xfrm>
          <a:prstGeom prst="rect">
            <a:avLst/>
          </a:prstGeom>
          <a:solidFill>
            <a:schemeClr val="tx1"/>
          </a:solidFill>
          <a:ln>
            <a:noFill/>
          </a:ln>
        </p:spPr>
        <p:txBody>
          <a:bodyPr wrap="square" rtlCol="0">
            <a:spAutoFit/>
          </a:bodyPr>
          <a:lstStyle/>
          <a:p>
            <a:r>
              <a:rPr lang="en-GB" altLang="ja-JP" sz="1400" b="1" dirty="0">
                <a:solidFill>
                  <a:schemeClr val="bg1"/>
                </a:solidFill>
              </a:rPr>
              <a:t>Works as a phrasal verb</a:t>
            </a:r>
            <a:endParaRPr lang="en-GB" sz="1400" b="1" dirty="0">
              <a:solidFill>
                <a:schemeClr val="bg1"/>
              </a:solidFill>
            </a:endParaRPr>
          </a:p>
        </p:txBody>
      </p:sp>
    </p:spTree>
    <p:extLst>
      <p:ext uri="{BB962C8B-B14F-4D97-AF65-F5344CB8AC3E}">
        <p14:creationId xmlns:p14="http://schemas.microsoft.com/office/powerpoint/2010/main" val="25130491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514FBC14-5CD8-2648-052F-5D887F91F59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3224D19-BAB5-16B0-5543-DC61A2EBCA9B}"/>
              </a:ext>
            </a:extLst>
          </p:cNvPr>
          <p:cNvSpPr>
            <a:spLocks noGrp="1"/>
          </p:cNvSpPr>
          <p:nvPr>
            <p:ph type="title"/>
          </p:nvPr>
        </p:nvSpPr>
        <p:spPr/>
        <p:txBody>
          <a:bodyPr/>
          <a:lstStyle/>
          <a:p>
            <a:pPr algn="ctr"/>
            <a:r>
              <a:rPr lang="en-GB" altLang="ja-JP" b="1" dirty="0"/>
              <a:t>3. The Most Memorable Discussion Mr. Matz</a:t>
            </a:r>
            <a:endParaRPr lang="en-GB" b="1" dirty="0"/>
          </a:p>
        </p:txBody>
      </p:sp>
      <p:sp>
        <p:nvSpPr>
          <p:cNvPr id="7" name="コンテンツ プレースホルダー 2">
            <a:extLst>
              <a:ext uri="{FF2B5EF4-FFF2-40B4-BE49-F238E27FC236}">
                <a16:creationId xmlns:a16="http://schemas.microsoft.com/office/drawing/2014/main" id="{1FE3A9EA-727E-1539-1D02-7E11844CA95B}"/>
              </a:ext>
            </a:extLst>
          </p:cNvPr>
          <p:cNvSpPr>
            <a:spLocks noGrp="1"/>
          </p:cNvSpPr>
          <p:nvPr>
            <p:ph idx="1"/>
          </p:nvPr>
        </p:nvSpPr>
        <p:spPr>
          <a:xfrm>
            <a:off x="838200" y="1825625"/>
            <a:ext cx="10515600" cy="4351338"/>
          </a:xfrm>
        </p:spPr>
        <p:txBody>
          <a:bodyPr>
            <a:normAutofit lnSpcReduction="10000"/>
          </a:bodyPr>
          <a:lstStyle/>
          <a:p>
            <a:pPr marL="0" lvl="1" indent="0">
              <a:buNone/>
            </a:pPr>
            <a:r>
              <a:rPr lang="en-GB" altLang="ja-JP" sz="2800" b="1" dirty="0"/>
              <a:t>Object#yield_self vs. Object#then</a:t>
            </a:r>
          </a:p>
          <a:p>
            <a:pPr marL="268288" lvl="1" indent="-268288"/>
            <a:r>
              <a:rPr lang="en-GB" altLang="ja-JP" b="1" dirty="0"/>
              <a:t>Object#yield_self</a:t>
            </a:r>
          </a:p>
          <a:p>
            <a:pPr marL="725488" lvl="2" indent="-268288"/>
            <a:r>
              <a:rPr lang="en-GB" altLang="ja-JP" dirty="0"/>
              <a:t>Actually, yields its receiver as the following block argument</a:t>
            </a:r>
          </a:p>
          <a:p>
            <a:pPr marL="725488" lvl="2" indent="-268288"/>
            <a:r>
              <a:rPr lang="en-GB" altLang="ja-JP" dirty="0"/>
              <a:t>Does not describe how it is handled within the block by its name</a:t>
            </a:r>
          </a:p>
          <a:p>
            <a:pPr marL="725488" lvl="2" indent="-268288"/>
            <a:r>
              <a:rPr lang="en-GB" altLang="ja-JP" dirty="0"/>
              <a:t>The block works as a subordinate noun clause and has SV</a:t>
            </a:r>
            <a:r>
              <a:rPr lang="en-GB" altLang="ja-JP" sz="1400" dirty="0"/>
              <a:t>1</a:t>
            </a:r>
            <a:r>
              <a:rPr lang="en-GB" altLang="ja-JP" dirty="0"/>
              <a:t> in it, which complex sentence </a:t>
            </a:r>
            <a:r>
              <a:rPr lang="ja-JP" altLang="en-US" dirty="0"/>
              <a:t> </a:t>
            </a:r>
            <a:r>
              <a:rPr lang="en-GB" altLang="ja-JP" dirty="0"/>
              <a:t>with</a:t>
            </a:r>
            <a:r>
              <a:rPr lang="ja-JP" altLang="en-US" dirty="0"/>
              <a:t> </a:t>
            </a:r>
            <a:r>
              <a:rPr lang="en-GB" altLang="ja-JP" dirty="0"/>
              <a:t>nested structure brings about higher cognitive load</a:t>
            </a:r>
          </a:p>
          <a:p>
            <a:pPr marL="268288" lvl="1" indent="-268288"/>
            <a:r>
              <a:rPr lang="en-GB" altLang="ja-JP" b="1" dirty="0"/>
              <a:t>Object#then</a:t>
            </a:r>
          </a:p>
          <a:p>
            <a:pPr marL="725488" lvl="2" indent="-268288"/>
            <a:r>
              <a:rPr lang="en-GB" altLang="ja-JP" dirty="0"/>
              <a:t>Literally works as </a:t>
            </a:r>
            <a:r>
              <a:rPr lang="en-GB" altLang="ja-JP" i="1" dirty="0"/>
              <a:t>and then </a:t>
            </a:r>
            <a:r>
              <a:rPr lang="en-GB" altLang="ja-JP" dirty="0"/>
              <a:t>(Coordinate Conjunction + Adverb)</a:t>
            </a:r>
          </a:p>
          <a:p>
            <a:pPr marL="725488" lvl="2" indent="-268288"/>
            <a:r>
              <a:rPr lang="en-GB" altLang="ja-JP" dirty="0"/>
              <a:t>Focuses on how the corresponding pronoun </a:t>
            </a:r>
            <a:r>
              <a:rPr lang="en-GB" altLang="ja-JP" i="1" dirty="0"/>
              <a:t>it</a:t>
            </a:r>
            <a:r>
              <a:rPr lang="en-GB" altLang="ja-JP" dirty="0"/>
              <a:t> is handled within the block</a:t>
            </a:r>
          </a:p>
          <a:p>
            <a:pPr marL="725488" lvl="2" indent="-268288"/>
            <a:r>
              <a:rPr lang="en-GB" altLang="ja-JP" dirty="0"/>
              <a:t>That is why, succeeds in describing how </a:t>
            </a:r>
            <a:r>
              <a:rPr lang="en-GB" altLang="ja-JP" i="1" dirty="0"/>
              <a:t>it</a:t>
            </a:r>
            <a:r>
              <a:rPr lang="en-GB" altLang="ja-JP" dirty="0"/>
              <a:t>, the referrer of the </a:t>
            </a:r>
            <a:r>
              <a:rPr lang="en-GB" altLang="ja-JP"/>
              <a:t>first principal </a:t>
            </a:r>
            <a:r>
              <a:rPr lang="en-GB" altLang="ja-JP" dirty="0"/>
              <a:t>clause, is handled within the block by its name</a:t>
            </a:r>
          </a:p>
          <a:p>
            <a:pPr marL="725488" lvl="2" indent="-268288"/>
            <a:r>
              <a:rPr lang="en-GB" altLang="ja-JP" dirty="0"/>
              <a:t>The block works as another principal clause, which simple sentence without nested structure provides better readability</a:t>
            </a:r>
          </a:p>
        </p:txBody>
      </p:sp>
      <p:sp>
        <p:nvSpPr>
          <p:cNvPr id="3" name="Slide Number Placeholder 2">
            <a:extLst>
              <a:ext uri="{FF2B5EF4-FFF2-40B4-BE49-F238E27FC236}">
                <a16:creationId xmlns:a16="http://schemas.microsoft.com/office/drawing/2014/main" id="{11D25143-D784-EB5B-74A0-E24639782944}"/>
              </a:ext>
            </a:extLst>
          </p:cNvPr>
          <p:cNvSpPr>
            <a:spLocks noGrp="1"/>
          </p:cNvSpPr>
          <p:nvPr>
            <p:ph type="sldNum" sz="quarter" idx="12"/>
          </p:nvPr>
        </p:nvSpPr>
        <p:spPr/>
        <p:txBody>
          <a:bodyPr/>
          <a:lstStyle/>
          <a:p>
            <a:fld id="{CC8B731A-DCF7-4273-BA1A-21517ACBB5E5}" type="slidenum">
              <a:rPr lang="en-GB" smtClean="0"/>
              <a:t>30</a:t>
            </a:fld>
            <a:endParaRPr lang="en-GB"/>
          </a:p>
        </p:txBody>
      </p:sp>
    </p:spTree>
    <p:extLst>
      <p:ext uri="{BB962C8B-B14F-4D97-AF65-F5344CB8AC3E}">
        <p14:creationId xmlns:p14="http://schemas.microsoft.com/office/powerpoint/2010/main" val="32163697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5366EC1B-43C9-F168-1BB1-CD8006E385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80C23E5-7377-75B8-0ED9-EC00A8B8431D}"/>
              </a:ext>
            </a:extLst>
          </p:cNvPr>
          <p:cNvSpPr>
            <a:spLocks noGrp="1"/>
          </p:cNvSpPr>
          <p:nvPr>
            <p:ph type="title"/>
          </p:nvPr>
        </p:nvSpPr>
        <p:spPr/>
        <p:txBody>
          <a:bodyPr/>
          <a:lstStyle/>
          <a:p>
            <a:pPr algn="ctr"/>
            <a:r>
              <a:rPr lang="en-GB" altLang="ja-JP" b="1" dirty="0"/>
              <a:t>3. The Most Memorable Discussion Mr. Matz</a:t>
            </a:r>
            <a:endParaRPr lang="en-GB" b="1" dirty="0"/>
          </a:p>
        </p:txBody>
      </p:sp>
      <p:sp>
        <p:nvSpPr>
          <p:cNvPr id="7" name="コンテンツ プレースホルダー 2">
            <a:extLst>
              <a:ext uri="{FF2B5EF4-FFF2-40B4-BE49-F238E27FC236}">
                <a16:creationId xmlns:a16="http://schemas.microsoft.com/office/drawing/2014/main" id="{21BB5D47-47E3-31FC-89FE-D8DEA04C220E}"/>
              </a:ext>
            </a:extLst>
          </p:cNvPr>
          <p:cNvSpPr>
            <a:spLocks noGrp="1"/>
          </p:cNvSpPr>
          <p:nvPr>
            <p:ph idx="1"/>
          </p:nvPr>
        </p:nvSpPr>
        <p:spPr>
          <a:xfrm>
            <a:off x="838200" y="1825625"/>
            <a:ext cx="10515600" cy="4351338"/>
          </a:xfrm>
        </p:spPr>
        <p:txBody>
          <a:bodyPr>
            <a:normAutofit/>
          </a:bodyPr>
          <a:lstStyle/>
          <a:p>
            <a:pPr marL="0" lvl="1" indent="0">
              <a:buNone/>
            </a:pPr>
            <a:r>
              <a:rPr lang="en-GB" altLang="ja-JP" dirty="0"/>
              <a:t>This discussion with Mr. Matz lasted only for 10 minutes or more, but I was honoured to have such a fruitful time.</a:t>
            </a:r>
          </a:p>
          <a:p>
            <a:pPr marL="0" lvl="1" indent="0">
              <a:buNone/>
            </a:pPr>
            <a:r>
              <a:rPr lang="en-GB" altLang="ja-JP" dirty="0"/>
              <a:t>I cannot be more grateful to Mr. Matz as a big fan of Ruby and linguistics.</a:t>
            </a:r>
          </a:p>
        </p:txBody>
      </p:sp>
      <p:pic>
        <p:nvPicPr>
          <p:cNvPr id="5" name="Picture 4">
            <a:extLst>
              <a:ext uri="{FF2B5EF4-FFF2-40B4-BE49-F238E27FC236}">
                <a16:creationId xmlns:a16="http://schemas.microsoft.com/office/drawing/2014/main" id="{07F01AFC-2AD4-13C1-B51D-D3DC94FBA3C6}"/>
              </a:ext>
            </a:extLst>
          </p:cNvPr>
          <p:cNvPicPr>
            <a:picLocks noChangeAspect="1"/>
          </p:cNvPicPr>
          <p:nvPr/>
        </p:nvPicPr>
        <p:blipFill>
          <a:blip r:embed="rId3">
            <a:extLst>
              <a:ext uri="{28A0092B-C50C-407E-A947-70E740481C1C}">
                <a14:useLocalDpi xmlns:a14="http://schemas.microsoft.com/office/drawing/2010/main" val="0"/>
              </a:ext>
            </a:extLst>
          </a:blip>
          <a:srcRect t="20181"/>
          <a:stretch/>
        </p:blipFill>
        <p:spPr>
          <a:xfrm>
            <a:off x="3392944" y="2943921"/>
            <a:ext cx="5400656" cy="3233042"/>
          </a:xfrm>
          <a:prstGeom prst="rect">
            <a:avLst/>
          </a:prstGeom>
        </p:spPr>
      </p:pic>
      <p:sp>
        <p:nvSpPr>
          <p:cNvPr id="3" name="Slide Number Placeholder 2">
            <a:extLst>
              <a:ext uri="{FF2B5EF4-FFF2-40B4-BE49-F238E27FC236}">
                <a16:creationId xmlns:a16="http://schemas.microsoft.com/office/drawing/2014/main" id="{D524008C-F92F-C78C-65C2-BF6EF7F85D3F}"/>
              </a:ext>
            </a:extLst>
          </p:cNvPr>
          <p:cNvSpPr>
            <a:spLocks noGrp="1"/>
          </p:cNvSpPr>
          <p:nvPr>
            <p:ph type="sldNum" sz="quarter" idx="12"/>
          </p:nvPr>
        </p:nvSpPr>
        <p:spPr/>
        <p:txBody>
          <a:bodyPr/>
          <a:lstStyle/>
          <a:p>
            <a:fld id="{CC8B731A-DCF7-4273-BA1A-21517ACBB5E5}" type="slidenum">
              <a:rPr lang="en-GB" smtClean="0"/>
              <a:t>31</a:t>
            </a:fld>
            <a:endParaRPr lang="en-GB"/>
          </a:p>
        </p:txBody>
      </p:sp>
    </p:spTree>
    <p:extLst>
      <p:ext uri="{BB962C8B-B14F-4D97-AF65-F5344CB8AC3E}">
        <p14:creationId xmlns:p14="http://schemas.microsoft.com/office/powerpoint/2010/main" val="9954186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GB" altLang="ja-JP" b="1" dirty="0"/>
              <a:t>4. As Is vs. To Be</a:t>
            </a:r>
            <a:endParaRPr lang="en-GB" b="1" dirty="0"/>
          </a:p>
        </p:txBody>
      </p:sp>
      <p:sp>
        <p:nvSpPr>
          <p:cNvPr id="3" name="Slide Number Placeholder 2">
            <a:extLst>
              <a:ext uri="{FF2B5EF4-FFF2-40B4-BE49-F238E27FC236}">
                <a16:creationId xmlns:a16="http://schemas.microsoft.com/office/drawing/2014/main" id="{A71FC811-482C-1F32-1355-A3CC8328E678}"/>
              </a:ext>
            </a:extLst>
          </p:cNvPr>
          <p:cNvSpPr>
            <a:spLocks noGrp="1"/>
          </p:cNvSpPr>
          <p:nvPr>
            <p:ph type="sldNum" sz="quarter" idx="12"/>
          </p:nvPr>
        </p:nvSpPr>
        <p:spPr/>
        <p:txBody>
          <a:bodyPr/>
          <a:lstStyle/>
          <a:p>
            <a:fld id="{CC8B731A-DCF7-4273-BA1A-21517ACBB5E5}" type="slidenum">
              <a:rPr lang="en-GB" smtClean="0"/>
              <a:t>32</a:t>
            </a:fld>
            <a:endParaRPr lang="en-GB"/>
          </a:p>
        </p:txBody>
      </p:sp>
    </p:spTree>
    <p:extLst>
      <p:ext uri="{BB962C8B-B14F-4D97-AF65-F5344CB8AC3E}">
        <p14:creationId xmlns:p14="http://schemas.microsoft.com/office/powerpoint/2010/main" val="1076303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normAutofit/>
          </a:bodyPr>
          <a:lstStyle/>
          <a:p>
            <a:pPr algn="ctr"/>
            <a:r>
              <a:rPr lang="en-GB" altLang="ja-JP" b="1" dirty="0"/>
              <a:t>4. As Is vs. To Be</a:t>
            </a:r>
            <a:endParaRPr lang="en-GB" b="1" dirty="0"/>
          </a:p>
        </p:txBody>
      </p:sp>
      <p:sp>
        <p:nvSpPr>
          <p:cNvPr id="7" name="コンテンツ プレースホルダー 2">
            <a:extLst>
              <a:ext uri="{FF2B5EF4-FFF2-40B4-BE49-F238E27FC236}">
                <a16:creationId xmlns:a16="http://schemas.microsoft.com/office/drawing/2014/main" id="{D49EE58D-D452-4512-F877-040E586E9B61}"/>
              </a:ext>
            </a:extLst>
          </p:cNvPr>
          <p:cNvSpPr>
            <a:spLocks noGrp="1"/>
          </p:cNvSpPr>
          <p:nvPr>
            <p:ph idx="1"/>
          </p:nvPr>
        </p:nvSpPr>
        <p:spPr>
          <a:xfrm>
            <a:off x="838200" y="1825625"/>
            <a:ext cx="10515600" cy="4351338"/>
          </a:xfrm>
        </p:spPr>
        <p:txBody>
          <a:bodyPr>
            <a:normAutofit/>
          </a:bodyPr>
          <a:lstStyle/>
          <a:p>
            <a:pPr marL="0" lvl="1" indent="0">
              <a:buNone/>
            </a:pPr>
            <a:r>
              <a:rPr lang="en-US" altLang="ja-JP" sz="2800" b="1" dirty="0"/>
              <a:t>AsIs</a:t>
            </a:r>
          </a:p>
          <a:p>
            <a:pPr marL="268288" lvl="1" indent="-268288"/>
            <a:r>
              <a:rPr lang="en-US" altLang="ja-JP" dirty="0"/>
              <a:t>A Rubyist who implements web applications and scripts in Ruby</a:t>
            </a:r>
          </a:p>
          <a:p>
            <a:pPr marL="0" lvl="1" indent="0">
              <a:buNone/>
            </a:pPr>
            <a:endParaRPr lang="en-US" altLang="ja-JP" dirty="0"/>
          </a:p>
          <a:p>
            <a:pPr marL="0" lvl="1" indent="0">
              <a:buNone/>
            </a:pPr>
            <a:r>
              <a:rPr lang="en-US" altLang="ja-JP" sz="2800" b="1" dirty="0"/>
              <a:t>ToBe</a:t>
            </a:r>
          </a:p>
          <a:p>
            <a:pPr marL="268288" lvl="1" indent="-268288"/>
            <a:r>
              <a:rPr lang="en-US" altLang="ja-JP" dirty="0"/>
              <a:t>A Rubyist who knows </a:t>
            </a:r>
            <a:r>
              <a:rPr lang="en-US" altLang="ja-JP" b="1" dirty="0"/>
              <a:t>ecosystems and lifecycles of lower layers of Ruby</a:t>
            </a:r>
            <a:r>
              <a:rPr lang="en-US" altLang="ja-JP" dirty="0"/>
              <a:t> and optimise performance in web applications and scripts I implement</a:t>
            </a:r>
          </a:p>
          <a:p>
            <a:pPr marL="268288" lvl="1" indent="-268288"/>
            <a:r>
              <a:rPr lang="en-US" altLang="ja-JP" dirty="0"/>
              <a:t>A Rubyist who understands </a:t>
            </a:r>
            <a:r>
              <a:rPr lang="en-US" altLang="ja-JP" b="1" dirty="0"/>
              <a:t>how Ruby language processing works and commits enhancements</a:t>
            </a:r>
          </a:p>
          <a:p>
            <a:pPr marL="268288" lvl="1" indent="-268288"/>
            <a:r>
              <a:rPr lang="en-US" altLang="ja-JP" dirty="0"/>
              <a:t>A Rubyist who </a:t>
            </a:r>
            <a:r>
              <a:rPr lang="en-US" altLang="ja-JP" b="1" dirty="0"/>
              <a:t>enriches and </a:t>
            </a:r>
            <a:r>
              <a:rPr lang="en-US" altLang="ja-JP" b="1" dirty="0" err="1"/>
              <a:t>optimises</a:t>
            </a:r>
            <a:r>
              <a:rPr lang="en-US" altLang="ja-JP" b="1" dirty="0"/>
              <a:t> linguistic and cognitive design of Ruby</a:t>
            </a:r>
          </a:p>
        </p:txBody>
      </p:sp>
      <p:sp>
        <p:nvSpPr>
          <p:cNvPr id="3" name="Slide Number Placeholder 2">
            <a:extLst>
              <a:ext uri="{FF2B5EF4-FFF2-40B4-BE49-F238E27FC236}">
                <a16:creationId xmlns:a16="http://schemas.microsoft.com/office/drawing/2014/main" id="{76960FB8-F949-B2DE-6668-516180E395E3}"/>
              </a:ext>
            </a:extLst>
          </p:cNvPr>
          <p:cNvSpPr>
            <a:spLocks noGrp="1"/>
          </p:cNvSpPr>
          <p:nvPr>
            <p:ph type="sldNum" sz="quarter" idx="12"/>
          </p:nvPr>
        </p:nvSpPr>
        <p:spPr/>
        <p:txBody>
          <a:bodyPr/>
          <a:lstStyle/>
          <a:p>
            <a:fld id="{CC8B731A-DCF7-4273-BA1A-21517ACBB5E5}" type="slidenum">
              <a:rPr lang="en-GB" smtClean="0"/>
              <a:t>33</a:t>
            </a:fld>
            <a:endParaRPr lang="en-GB"/>
          </a:p>
        </p:txBody>
      </p:sp>
    </p:spTree>
    <p:extLst>
      <p:ext uri="{BB962C8B-B14F-4D97-AF65-F5344CB8AC3E}">
        <p14:creationId xmlns:p14="http://schemas.microsoft.com/office/powerpoint/2010/main" val="36980407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t>5. References</a:t>
            </a:r>
            <a:endParaRPr lang="en-GB" b="1" dirty="0"/>
          </a:p>
        </p:txBody>
      </p:sp>
      <p:sp>
        <p:nvSpPr>
          <p:cNvPr id="3" name="Slide Number Placeholder 2">
            <a:extLst>
              <a:ext uri="{FF2B5EF4-FFF2-40B4-BE49-F238E27FC236}">
                <a16:creationId xmlns:a16="http://schemas.microsoft.com/office/drawing/2014/main" id="{0EB5BF52-01F0-59E9-DE17-29C2125C7DA9}"/>
              </a:ext>
            </a:extLst>
          </p:cNvPr>
          <p:cNvSpPr>
            <a:spLocks noGrp="1"/>
          </p:cNvSpPr>
          <p:nvPr>
            <p:ph type="sldNum" sz="quarter" idx="12"/>
          </p:nvPr>
        </p:nvSpPr>
        <p:spPr/>
        <p:txBody>
          <a:bodyPr/>
          <a:lstStyle/>
          <a:p>
            <a:fld id="{CC8B731A-DCF7-4273-BA1A-21517ACBB5E5}" type="slidenum">
              <a:rPr lang="en-GB" smtClean="0"/>
              <a:t>34</a:t>
            </a:fld>
            <a:endParaRPr lang="en-GB"/>
          </a:p>
        </p:txBody>
      </p:sp>
    </p:spTree>
    <p:extLst>
      <p:ext uri="{BB962C8B-B14F-4D97-AF65-F5344CB8AC3E}">
        <p14:creationId xmlns:p14="http://schemas.microsoft.com/office/powerpoint/2010/main" val="30289575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787F66E1-E49F-4323-2E36-9C00DBDBD5E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2DCAEF-463C-7761-67D4-E52E347E546E}"/>
              </a:ext>
            </a:extLst>
          </p:cNvPr>
          <p:cNvSpPr>
            <a:spLocks noGrp="1"/>
          </p:cNvSpPr>
          <p:nvPr>
            <p:ph type="title"/>
          </p:nvPr>
        </p:nvSpPr>
        <p:spPr/>
        <p:txBody>
          <a:bodyPr/>
          <a:lstStyle/>
          <a:p>
            <a:pPr algn="ctr"/>
            <a:r>
              <a:rPr lang="en-GB" altLang="ja-JP" b="1" dirty="0"/>
              <a:t>5. References</a:t>
            </a:r>
            <a:endParaRPr lang="en-GB" b="1" dirty="0">
              <a:latin typeface="+mn-lt"/>
            </a:endParaRPr>
          </a:p>
        </p:txBody>
      </p:sp>
      <p:sp>
        <p:nvSpPr>
          <p:cNvPr id="7" name="コンテンツ プレースホルダー 6">
            <a:extLst>
              <a:ext uri="{FF2B5EF4-FFF2-40B4-BE49-F238E27FC236}">
                <a16:creationId xmlns:a16="http://schemas.microsoft.com/office/drawing/2014/main" id="{9F0F8472-08C7-8730-EBE9-EC7EE75BB91D}"/>
              </a:ext>
            </a:extLst>
          </p:cNvPr>
          <p:cNvSpPr>
            <a:spLocks noGrp="1"/>
          </p:cNvSpPr>
          <p:nvPr>
            <p:ph idx="1"/>
          </p:nvPr>
        </p:nvSpPr>
        <p:spPr/>
        <p:txBody>
          <a:bodyPr>
            <a:noAutofit/>
          </a:bodyPr>
          <a:lstStyle/>
          <a:p>
            <a:pPr marL="342900" lvl="1" indent="-342900">
              <a:tabLst>
                <a:tab pos="268288" algn="l"/>
              </a:tabLst>
            </a:pPr>
            <a:r>
              <a:rPr lang="en-GB" altLang="ja-JP" sz="2400" dirty="0">
                <a:hlinkClick r:id="rId3"/>
              </a:rPr>
              <a:t>RubyKaigi 2025 &gt; Schedule</a:t>
            </a:r>
            <a:endParaRPr lang="en-US" altLang="ja-JP" dirty="0"/>
          </a:p>
          <a:p>
            <a:pPr marL="717550" lvl="2" indent="-260350">
              <a:tabLst>
                <a:tab pos="268288" algn="l"/>
              </a:tabLst>
            </a:pPr>
            <a:r>
              <a:rPr kumimoji="0" lang="en-GB" altLang="ja-JP" sz="2000" b="0" u="none" strike="noStrike" kern="1200" cap="none" spc="0" normalizeH="0" baseline="0" noProof="0" dirty="0">
                <a:ln>
                  <a:noFill/>
                </a:ln>
                <a:solidFill>
                  <a:prstClr val="black"/>
                </a:solidFill>
                <a:effectLst/>
                <a:uLnTx/>
                <a:uFillTx/>
                <a:ea typeface="+mn-ea"/>
                <a:cs typeface="Yu Gothic"/>
              </a:rPr>
              <a:t>Last Accessed On: 05 May 2025</a:t>
            </a:r>
            <a:endParaRPr lang="en-US" altLang="ja-JP" dirty="0">
              <a:hlinkClick r:id="rId4"/>
            </a:endParaRPr>
          </a:p>
          <a:p>
            <a:pPr marL="342900" lvl="1" indent="-342900">
              <a:tabLst>
                <a:tab pos="268288" algn="l"/>
              </a:tabLst>
            </a:pPr>
            <a:r>
              <a:rPr lang="en-US" altLang="ja-JP" dirty="0">
                <a:hlinkClick r:id="rId4"/>
              </a:rPr>
              <a:t>LLVM Language Reference Manual</a:t>
            </a:r>
            <a:endParaRPr lang="en-US"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kumimoji="0" lang="en-US" altLang="ja-JP" b="0" u="none" strike="noStrike" kern="1200" cap="none" spc="0" normalizeH="0" baseline="0" noProof="0" dirty="0">
              <a:ln>
                <a:noFill/>
              </a:ln>
              <a:solidFill>
                <a:prstClr val="black"/>
              </a:solidFill>
              <a:effectLst/>
              <a:uLnTx/>
              <a:uFillTx/>
              <a:ea typeface="+mn-ea"/>
              <a:cs typeface="Calibri"/>
            </a:endParaRPr>
          </a:p>
          <a:p>
            <a:pPr marL="342900" lvl="1" indent="-342900">
              <a:tabLst>
                <a:tab pos="268288" algn="l"/>
              </a:tabLst>
            </a:pPr>
            <a:r>
              <a:rPr lang="en-GB" altLang="ja-JP" dirty="0">
                <a:hlinkClick r:id="rId5"/>
              </a:rPr>
              <a:t>PARCING TECHNIQUES -A Practical Guide-</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US" altLang="ja-JP" dirty="0"/>
          </a:p>
          <a:p>
            <a:pPr marL="342900" lvl="1" indent="-342900">
              <a:tabLst>
                <a:tab pos="268288" algn="l"/>
              </a:tabLst>
            </a:pPr>
            <a:r>
              <a:rPr lang="ja-JP" altLang="en-US" dirty="0">
                <a:hlinkClick r:id="rId6"/>
              </a:rPr>
              <a:t>低レイヤを知りたい人のための </a:t>
            </a:r>
            <a:r>
              <a:rPr lang="en-US" altLang="ja-JP" dirty="0">
                <a:hlinkClick r:id="rId6"/>
              </a:rPr>
              <a:t>C </a:t>
            </a:r>
            <a:r>
              <a:rPr lang="ja-JP" altLang="en-US" dirty="0">
                <a:hlinkClick r:id="rId6"/>
              </a:rPr>
              <a:t>コンパイラ作成入門</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ja-JP" altLang="en-US" dirty="0"/>
          </a:p>
          <a:p>
            <a:pPr marL="342900" lvl="1" indent="-342900">
              <a:tabLst>
                <a:tab pos="268288" algn="l"/>
              </a:tabLst>
            </a:pPr>
            <a:r>
              <a:rPr lang="en-US" altLang="ja-JP" dirty="0">
                <a:hlinkClick r:id="rId7"/>
              </a:rPr>
              <a:t>MIPS </a:t>
            </a:r>
            <a:r>
              <a:rPr lang="ja-JP" altLang="en-US" dirty="0">
                <a:hlinkClick r:id="rId7"/>
              </a:rPr>
              <a:t>アーキテクチャ</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ja-JP" altLang="en-US" dirty="0"/>
          </a:p>
        </p:txBody>
      </p:sp>
      <p:sp>
        <p:nvSpPr>
          <p:cNvPr id="3" name="Slide Number Placeholder 2">
            <a:extLst>
              <a:ext uri="{FF2B5EF4-FFF2-40B4-BE49-F238E27FC236}">
                <a16:creationId xmlns:a16="http://schemas.microsoft.com/office/drawing/2014/main" id="{34316EFB-5505-D404-6526-E66F86C4D210}"/>
              </a:ext>
            </a:extLst>
          </p:cNvPr>
          <p:cNvSpPr>
            <a:spLocks noGrp="1"/>
          </p:cNvSpPr>
          <p:nvPr>
            <p:ph type="sldNum" sz="quarter" idx="12"/>
          </p:nvPr>
        </p:nvSpPr>
        <p:spPr/>
        <p:txBody>
          <a:bodyPr/>
          <a:lstStyle/>
          <a:p>
            <a:fld id="{CC8B731A-DCF7-4273-BA1A-21517ACBB5E5}" type="slidenum">
              <a:rPr lang="en-GB" smtClean="0"/>
              <a:t>35</a:t>
            </a:fld>
            <a:endParaRPr lang="en-GB"/>
          </a:p>
        </p:txBody>
      </p:sp>
    </p:spTree>
    <p:extLst>
      <p:ext uri="{BB962C8B-B14F-4D97-AF65-F5344CB8AC3E}">
        <p14:creationId xmlns:p14="http://schemas.microsoft.com/office/powerpoint/2010/main" val="41338399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t>5. References</a:t>
            </a:r>
            <a:endParaRPr lang="en-GB" b="1" dirty="0">
              <a:latin typeface="+mn-lt"/>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Autofit/>
          </a:bodyPr>
          <a:lstStyle/>
          <a:p>
            <a:pPr marL="342900" lvl="1" indent="-342900">
              <a:tabLst>
                <a:tab pos="268288" algn="l"/>
              </a:tabLst>
            </a:pPr>
            <a:r>
              <a:rPr lang="ja-JP" altLang="en-US" dirty="0">
                <a:hlinkClick r:id="rId3"/>
              </a:rPr>
              <a:t>うさぎでもわかる計算機システム </a:t>
            </a:r>
            <a:r>
              <a:rPr lang="en-US" altLang="ja-JP" dirty="0">
                <a:hlinkClick r:id="rId3"/>
              </a:rPr>
              <a:t>Part10 </a:t>
            </a:r>
            <a:r>
              <a:rPr lang="ja-JP" altLang="en-US" dirty="0">
                <a:hlinkClick r:id="rId3"/>
              </a:rPr>
              <a:t>コンパイラの基礎・分割コンパイルの流れ</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ja-JP" altLang="en-US" dirty="0"/>
          </a:p>
          <a:p>
            <a:pPr marL="342900" lvl="1" indent="-342900">
              <a:tabLst>
                <a:tab pos="268288" algn="l"/>
              </a:tabLst>
            </a:pPr>
            <a:r>
              <a:rPr lang="ja-JP" altLang="en-US" dirty="0">
                <a:hlinkClick r:id="rId4"/>
              </a:rPr>
              <a:t>うさぎでもわかる計算機システム </a:t>
            </a:r>
            <a:r>
              <a:rPr lang="en-US" altLang="ja-JP" dirty="0">
                <a:hlinkClick r:id="rId4"/>
              </a:rPr>
              <a:t>Part11</a:t>
            </a:r>
            <a:r>
              <a:rPr lang="ja-JP" altLang="en-US" dirty="0">
                <a:hlinkClick r:id="rId4"/>
              </a:rPr>
              <a:t>コンパイラの処理の流れ</a:t>
            </a:r>
            <a:r>
              <a:rPr lang="en-US" altLang="ja-JP" dirty="0">
                <a:hlinkClick r:id="rId4"/>
              </a:rPr>
              <a:t>(</a:t>
            </a:r>
            <a:r>
              <a:rPr lang="ja-JP" altLang="en-US" dirty="0">
                <a:hlinkClick r:id="rId4"/>
              </a:rPr>
              <a:t>字句解析と意味解析のしくみ</a:t>
            </a:r>
            <a:r>
              <a:rPr lang="en-US" altLang="ja-JP" dirty="0">
                <a:hlinkClick r:id="rId4"/>
              </a:rPr>
              <a:t>)</a:t>
            </a:r>
            <a:endParaRPr lang="en-US"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US" altLang="ja-JP" dirty="0"/>
          </a:p>
          <a:p>
            <a:pPr marL="342900" lvl="1" indent="-342900">
              <a:tabLst>
                <a:tab pos="268288" algn="l"/>
              </a:tabLst>
            </a:pPr>
            <a:r>
              <a:rPr lang="en-US" altLang="ja-JP" dirty="0">
                <a:hlinkClick r:id="rId5"/>
              </a:rPr>
              <a:t>Ruby Parser </a:t>
            </a:r>
            <a:r>
              <a:rPr lang="ja-JP" altLang="en-US" dirty="0">
                <a:hlinkClick r:id="rId5"/>
              </a:rPr>
              <a:t>開発日誌</a:t>
            </a:r>
            <a:r>
              <a:rPr lang="en-US" altLang="ja-JP" dirty="0">
                <a:hlinkClick r:id="rId5"/>
              </a:rPr>
              <a:t>(14) - LR parser </a:t>
            </a:r>
            <a:r>
              <a:rPr lang="ja-JP" altLang="en-US" dirty="0">
                <a:hlinkClick r:id="rId5"/>
              </a:rPr>
              <a:t>完全に理解した</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kumimoji="0" lang="en-US" altLang="ja-JP" b="0" u="none" strike="noStrike" kern="1200" cap="none" spc="0" normalizeH="0" baseline="0" noProof="0" dirty="0">
              <a:ln>
                <a:noFill/>
              </a:ln>
              <a:solidFill>
                <a:prstClr val="black"/>
              </a:solidFill>
              <a:effectLst/>
              <a:uLnTx/>
              <a:uFillTx/>
              <a:ea typeface="+mn-ea"/>
              <a:cs typeface="Calibri"/>
            </a:endParaRPr>
          </a:p>
          <a:p>
            <a:pPr marL="342900" lvl="1" indent="-342900">
              <a:tabLst>
                <a:tab pos="268288" algn="l"/>
              </a:tabLst>
            </a:pPr>
            <a:r>
              <a:rPr lang="ja-JP" altLang="en-US" dirty="0">
                <a:hlinkClick r:id="rId6"/>
              </a:rPr>
              <a:t>オートマトンと言語理論 学習記 </a:t>
            </a:r>
            <a:r>
              <a:rPr lang="en-US" altLang="ja-JP" dirty="0">
                <a:hlinkClick r:id="rId6"/>
              </a:rPr>
              <a:t>#1: </a:t>
            </a:r>
            <a:r>
              <a:rPr lang="ja-JP" altLang="en-US" dirty="0">
                <a:hlinkClick r:id="rId6"/>
              </a:rPr>
              <a:t>オートマトンとは何か </a:t>
            </a:r>
            <a:r>
              <a:rPr lang="en-US" altLang="ja-JP" dirty="0">
                <a:hlinkClick r:id="rId6"/>
              </a:rPr>
              <a:t>-</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US" altLang="ja-JP" dirty="0">
              <a:hlinkClick r:id="rId5"/>
            </a:endParaRPr>
          </a:p>
          <a:p>
            <a:pPr marL="342900" lvl="1" indent="-342900">
              <a:tabLst>
                <a:tab pos="268288" algn="l"/>
              </a:tabLst>
            </a:pPr>
            <a:r>
              <a:rPr lang="ja-JP" altLang="en-US" dirty="0">
                <a:hlinkClick r:id="rId7"/>
              </a:rPr>
              <a:t>オートマトンと言語理論 学習記 </a:t>
            </a:r>
            <a:r>
              <a:rPr lang="en-US" altLang="ja-JP" dirty="0">
                <a:hlinkClick r:id="rId7"/>
              </a:rPr>
              <a:t>#2: </a:t>
            </a:r>
            <a:r>
              <a:rPr lang="ja-JP" altLang="en-US" dirty="0">
                <a:hlinkClick r:id="rId7"/>
              </a:rPr>
              <a:t>有限オートマトン </a:t>
            </a:r>
            <a:r>
              <a:rPr lang="en-US" altLang="ja-JP" dirty="0">
                <a:hlinkClick r:id="rId7"/>
              </a:rPr>
              <a:t>-</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kumimoji="0" lang="en-US" altLang="ja-JP" b="0" u="none" strike="noStrike" kern="1200" cap="none" spc="0" normalizeH="0" baseline="0" noProof="0" dirty="0">
              <a:ln>
                <a:noFill/>
              </a:ln>
              <a:solidFill>
                <a:prstClr val="black"/>
              </a:solidFill>
              <a:effectLst/>
              <a:uLnTx/>
              <a:uFillTx/>
              <a:ea typeface="+mn-ea"/>
              <a:cs typeface="Calibri"/>
            </a:endParaRPr>
          </a:p>
        </p:txBody>
      </p:sp>
      <p:sp>
        <p:nvSpPr>
          <p:cNvPr id="3" name="Slide Number Placeholder 2">
            <a:extLst>
              <a:ext uri="{FF2B5EF4-FFF2-40B4-BE49-F238E27FC236}">
                <a16:creationId xmlns:a16="http://schemas.microsoft.com/office/drawing/2014/main" id="{F45FCED9-E18A-5A87-AF7A-F7E49C264C0B}"/>
              </a:ext>
            </a:extLst>
          </p:cNvPr>
          <p:cNvSpPr>
            <a:spLocks noGrp="1"/>
          </p:cNvSpPr>
          <p:nvPr>
            <p:ph type="sldNum" sz="quarter" idx="12"/>
          </p:nvPr>
        </p:nvSpPr>
        <p:spPr/>
        <p:txBody>
          <a:bodyPr/>
          <a:lstStyle/>
          <a:p>
            <a:fld id="{CC8B731A-DCF7-4273-BA1A-21517ACBB5E5}" type="slidenum">
              <a:rPr lang="en-GB" smtClean="0"/>
              <a:t>36</a:t>
            </a:fld>
            <a:endParaRPr lang="en-GB"/>
          </a:p>
        </p:txBody>
      </p:sp>
    </p:spTree>
    <p:extLst>
      <p:ext uri="{BB962C8B-B14F-4D97-AF65-F5344CB8AC3E}">
        <p14:creationId xmlns:p14="http://schemas.microsoft.com/office/powerpoint/2010/main" val="3041246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3255424E-B479-5E7F-67B9-3109BBE0D2A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F123CEB-F231-800D-6219-1292F99EE547}"/>
              </a:ext>
            </a:extLst>
          </p:cNvPr>
          <p:cNvSpPr>
            <a:spLocks noGrp="1"/>
          </p:cNvSpPr>
          <p:nvPr>
            <p:ph type="title"/>
          </p:nvPr>
        </p:nvSpPr>
        <p:spPr/>
        <p:txBody>
          <a:bodyPr/>
          <a:lstStyle/>
          <a:p>
            <a:pPr algn="ctr"/>
            <a:r>
              <a:rPr lang="en-GB" altLang="ja-JP" b="1" dirty="0"/>
              <a:t>5. References</a:t>
            </a:r>
            <a:endParaRPr lang="en-GB" b="1" dirty="0">
              <a:latin typeface="+mn-lt"/>
            </a:endParaRPr>
          </a:p>
        </p:txBody>
      </p:sp>
      <p:sp>
        <p:nvSpPr>
          <p:cNvPr id="7" name="コンテンツ プレースホルダー 6">
            <a:extLst>
              <a:ext uri="{FF2B5EF4-FFF2-40B4-BE49-F238E27FC236}">
                <a16:creationId xmlns:a16="http://schemas.microsoft.com/office/drawing/2014/main" id="{1BFF2AFD-A244-1464-F844-26F0FCFD1009}"/>
              </a:ext>
            </a:extLst>
          </p:cNvPr>
          <p:cNvSpPr>
            <a:spLocks noGrp="1"/>
          </p:cNvSpPr>
          <p:nvPr>
            <p:ph idx="1"/>
          </p:nvPr>
        </p:nvSpPr>
        <p:spPr/>
        <p:txBody>
          <a:bodyPr>
            <a:noAutofit/>
          </a:bodyPr>
          <a:lstStyle/>
          <a:p>
            <a:pPr marL="342900" lvl="1" indent="-342900">
              <a:tabLst>
                <a:tab pos="268288" algn="l"/>
              </a:tabLst>
            </a:pPr>
            <a:r>
              <a:rPr lang="en-US" altLang="ja-JP" dirty="0">
                <a:hlinkClick r:id="rId3"/>
              </a:rPr>
              <a:t>Ruby </a:t>
            </a:r>
            <a:r>
              <a:rPr lang="ja-JP" altLang="en-US" dirty="0">
                <a:hlinkClick r:id="rId3"/>
              </a:rPr>
              <a:t>の中身の予備知識 </a:t>
            </a:r>
            <a:r>
              <a:rPr lang="en-US" altLang="ja-JP" dirty="0">
                <a:hlinkClick r:id="rId3"/>
              </a:rPr>
              <a:t>RubyKaigi </a:t>
            </a:r>
            <a:r>
              <a:rPr lang="ja-JP" altLang="en-US" dirty="0">
                <a:hlinkClick r:id="rId3"/>
              </a:rPr>
              <a:t>の前に知り鯛！</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ja-JP" altLang="en-US" dirty="0"/>
          </a:p>
          <a:p>
            <a:pPr marL="342900" lvl="1" indent="-342900">
              <a:tabLst>
                <a:tab pos="268288" algn="l"/>
              </a:tabLst>
            </a:pPr>
            <a:r>
              <a:rPr lang="ja-JP" altLang="en-US" dirty="0">
                <a:hlinkClick r:id="rId4"/>
              </a:rPr>
              <a:t>たのしい </a:t>
            </a:r>
            <a:r>
              <a:rPr lang="en-US" altLang="ja-JP" dirty="0">
                <a:hlinkClick r:id="rId4"/>
              </a:rPr>
              <a:t>Ruby </a:t>
            </a:r>
            <a:r>
              <a:rPr lang="ja-JP" altLang="en-US" dirty="0">
                <a:hlinkClick r:id="rId4"/>
              </a:rPr>
              <a:t>の構文解析ツアー</a:t>
            </a:r>
            <a:endParaRPr lang="en-US"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US" altLang="ja-JP" dirty="0"/>
          </a:p>
          <a:p>
            <a:pPr marL="342900" lvl="1" indent="-342900">
              <a:tabLst>
                <a:tab pos="268288" algn="l"/>
              </a:tabLst>
            </a:pPr>
            <a:r>
              <a:rPr lang="en-US" altLang="ja-JP" dirty="0">
                <a:hlinkClick r:id="rId5"/>
              </a:rPr>
              <a:t>LL </a:t>
            </a:r>
            <a:r>
              <a:rPr lang="ja-JP" altLang="en-US" dirty="0">
                <a:hlinkClick r:id="rId5"/>
              </a:rPr>
              <a:t>法と </a:t>
            </a:r>
            <a:r>
              <a:rPr lang="en-US" altLang="ja-JP" dirty="0">
                <a:hlinkClick r:id="rId5"/>
              </a:rPr>
              <a:t>LR </a:t>
            </a:r>
            <a:r>
              <a:rPr lang="ja-JP" altLang="en-US" dirty="0">
                <a:hlinkClick r:id="rId5"/>
              </a:rPr>
              <a:t>法の違いは？調べてみた！</a:t>
            </a:r>
            <a:r>
              <a:rPr lang="en-US" altLang="ja-JP" dirty="0">
                <a:hlinkClick r:id="rId5"/>
              </a:rPr>
              <a:t>-</a:t>
            </a:r>
            <a:r>
              <a:rPr lang="ja-JP" altLang="en-US" dirty="0">
                <a:hlinkClick r:id="rId5"/>
              </a:rPr>
              <a:t>完全版</a:t>
            </a:r>
            <a:r>
              <a:rPr lang="en-US" altLang="ja-JP" dirty="0">
                <a:hlinkClick r:id="rId5"/>
              </a:rPr>
              <a:t>-/Comparing LL and LR parse algorithm -EX Edition-</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kumimoji="0" lang="en-US" altLang="ja-JP" b="0" u="none" strike="noStrike" kern="1200" cap="none" spc="0" normalizeH="0" baseline="0" noProof="0" dirty="0">
              <a:ln>
                <a:noFill/>
              </a:ln>
              <a:solidFill>
                <a:prstClr val="black"/>
              </a:solidFill>
              <a:effectLst/>
              <a:uLnTx/>
              <a:uFillTx/>
              <a:ea typeface="+mn-ea"/>
              <a:cs typeface="Calibri"/>
            </a:endParaRPr>
          </a:p>
          <a:p>
            <a:pPr marL="342900" lvl="1" indent="-342900">
              <a:tabLst>
                <a:tab pos="268288" algn="l"/>
              </a:tabLst>
            </a:pPr>
            <a:r>
              <a:rPr lang="en-GB" i="0" u="none" strike="noStrike" dirty="0">
                <a:effectLst/>
                <a:hlinkClick r:id="rId6"/>
              </a:rPr>
              <a:t>9cc</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US" altLang="ja-JP" dirty="0">
              <a:hlinkClick r:id="rId7"/>
            </a:endParaRPr>
          </a:p>
          <a:p>
            <a:pPr marL="342900" lvl="1" indent="-342900">
              <a:tabLst>
                <a:tab pos="268288" algn="l"/>
              </a:tabLst>
            </a:pPr>
            <a:r>
              <a:rPr lang="en-GB" i="0" u="none" strike="noStrike" dirty="0">
                <a:effectLst/>
                <a:hlinkClick r:id="rId8"/>
              </a:rPr>
              <a:t>lr-parser-101</a:t>
            </a:r>
            <a:endParaRPr lang="en-GB" altLang="ja-JP"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GB" i="0" u="none" strike="noStrike" dirty="0">
              <a:effectLst/>
              <a:hlinkClick r:id="rId8"/>
            </a:endParaRPr>
          </a:p>
        </p:txBody>
      </p:sp>
      <p:sp>
        <p:nvSpPr>
          <p:cNvPr id="3" name="Slide Number Placeholder 2">
            <a:extLst>
              <a:ext uri="{FF2B5EF4-FFF2-40B4-BE49-F238E27FC236}">
                <a16:creationId xmlns:a16="http://schemas.microsoft.com/office/drawing/2014/main" id="{707132AD-48E1-DC51-1099-5841CC864C2E}"/>
              </a:ext>
            </a:extLst>
          </p:cNvPr>
          <p:cNvSpPr>
            <a:spLocks noGrp="1"/>
          </p:cNvSpPr>
          <p:nvPr>
            <p:ph type="sldNum" sz="quarter" idx="12"/>
          </p:nvPr>
        </p:nvSpPr>
        <p:spPr/>
        <p:txBody>
          <a:bodyPr/>
          <a:lstStyle/>
          <a:p>
            <a:fld id="{CC8B731A-DCF7-4273-BA1A-21517ACBB5E5}" type="slidenum">
              <a:rPr lang="en-GB" smtClean="0"/>
              <a:t>37</a:t>
            </a:fld>
            <a:endParaRPr lang="en-GB"/>
          </a:p>
        </p:txBody>
      </p:sp>
    </p:spTree>
    <p:extLst>
      <p:ext uri="{BB962C8B-B14F-4D97-AF65-F5344CB8AC3E}">
        <p14:creationId xmlns:p14="http://schemas.microsoft.com/office/powerpoint/2010/main" val="33560942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a:extLst>
            <a:ext uri="{FF2B5EF4-FFF2-40B4-BE49-F238E27FC236}">
              <a16:creationId xmlns:a16="http://schemas.microsoft.com/office/drawing/2014/main" id="{FF1052D6-A958-7CF2-9B1D-90B2962339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E4F1963-0A80-59FE-F5EE-3490A208FA27}"/>
              </a:ext>
            </a:extLst>
          </p:cNvPr>
          <p:cNvSpPr>
            <a:spLocks noGrp="1"/>
          </p:cNvSpPr>
          <p:nvPr>
            <p:ph type="title"/>
          </p:nvPr>
        </p:nvSpPr>
        <p:spPr/>
        <p:txBody>
          <a:bodyPr/>
          <a:lstStyle/>
          <a:p>
            <a:pPr algn="ctr"/>
            <a:r>
              <a:rPr lang="en-GB" altLang="ja-JP" b="1" dirty="0"/>
              <a:t>5. References</a:t>
            </a:r>
            <a:endParaRPr lang="en-GB" b="1" dirty="0">
              <a:latin typeface="+mn-lt"/>
            </a:endParaRPr>
          </a:p>
        </p:txBody>
      </p:sp>
      <p:sp>
        <p:nvSpPr>
          <p:cNvPr id="7" name="コンテンツ プレースホルダー 6">
            <a:extLst>
              <a:ext uri="{FF2B5EF4-FFF2-40B4-BE49-F238E27FC236}">
                <a16:creationId xmlns:a16="http://schemas.microsoft.com/office/drawing/2014/main" id="{F09193BE-AD5A-F5A2-E10C-0BD34D05F44D}"/>
              </a:ext>
            </a:extLst>
          </p:cNvPr>
          <p:cNvSpPr>
            <a:spLocks noGrp="1"/>
          </p:cNvSpPr>
          <p:nvPr>
            <p:ph idx="1"/>
          </p:nvPr>
        </p:nvSpPr>
        <p:spPr/>
        <p:txBody>
          <a:bodyPr>
            <a:noAutofit/>
          </a:bodyPr>
          <a:lstStyle/>
          <a:p>
            <a:pPr marL="342900" lvl="1" indent="-342900">
              <a:tabLst>
                <a:tab pos="268288" algn="l"/>
              </a:tabLst>
            </a:pPr>
            <a:r>
              <a:rPr lang="en-GB" altLang="ja-JP" sz="2400" dirty="0"/>
              <a:t>Yusuke Endo, </a:t>
            </a:r>
            <a:r>
              <a:rPr lang="en-US" altLang="ja-JP" sz="2400" dirty="0">
                <a:hlinkClick r:id="rId3"/>
              </a:rPr>
              <a:t>Ruby </a:t>
            </a:r>
            <a:r>
              <a:rPr lang="ja-JP" altLang="en-US" sz="2400" dirty="0">
                <a:hlinkClick r:id="rId3"/>
              </a:rPr>
              <a:t>でつくる</a:t>
            </a:r>
            <a:r>
              <a:rPr lang="en-GB" altLang="ja-JP" sz="2400" dirty="0">
                <a:hlinkClick r:id="rId3"/>
              </a:rPr>
              <a:t> </a:t>
            </a:r>
            <a:r>
              <a:rPr lang="en-US" altLang="ja-JP" sz="2400" dirty="0">
                <a:hlinkClick r:id="rId3"/>
              </a:rPr>
              <a:t>Ruby </a:t>
            </a:r>
            <a:r>
              <a:rPr lang="ja-JP" altLang="en-US" sz="2400" dirty="0">
                <a:hlinkClick r:id="rId3"/>
              </a:rPr>
              <a:t>ゼロから学びなおすプログラミング言語入門</a:t>
            </a:r>
            <a:r>
              <a:rPr lang="en-GB" altLang="ja-JP" sz="2400" dirty="0"/>
              <a:t>, Tokyo, 2017</a:t>
            </a:r>
          </a:p>
          <a:p>
            <a:pPr marL="342900" lvl="1" indent="-342900">
              <a:tabLst>
                <a:tab pos="268288" algn="l"/>
              </a:tabLst>
            </a:pPr>
            <a:r>
              <a:rPr lang="en-GB" altLang="ja-JP" sz="2400" dirty="0">
                <a:hlinkClick r:id="rId4"/>
              </a:rPr>
              <a:t>APIdoc &gt; Ruby</a:t>
            </a:r>
            <a:endParaRPr lang="en-GB" altLang="ja-JP" sz="2400"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GB" altLang="ja-JP" sz="2400" dirty="0">
              <a:hlinkClick r:id="rId5"/>
            </a:endParaRPr>
          </a:p>
          <a:p>
            <a:pPr marL="342900" lvl="1" indent="-342900">
              <a:tabLst>
                <a:tab pos="268288" algn="l"/>
              </a:tabLst>
            </a:pPr>
            <a:r>
              <a:rPr lang="en-GB" altLang="ja-JP" sz="2400" dirty="0">
                <a:hlinkClick r:id="rId5"/>
              </a:rPr>
              <a:t>Perl 6 Design Philosophy</a:t>
            </a:r>
            <a:endParaRPr lang="en-GB" altLang="ja-JP" sz="2400"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GB" altLang="ja-JP" sz="2400" dirty="0">
              <a:hlinkClick r:id="rId5"/>
            </a:endParaRPr>
          </a:p>
          <a:p>
            <a:pPr marL="342900" lvl="1" indent="-342900">
              <a:tabLst>
                <a:tab pos="268288" algn="l"/>
              </a:tabLst>
            </a:pPr>
            <a:r>
              <a:rPr lang="en-GB" altLang="ja-JP" dirty="0">
                <a:hlinkClick r:id="rId6"/>
              </a:rPr>
              <a:t>97 Things Every Programmer Should Know</a:t>
            </a:r>
            <a:endParaRPr lang="en-GB" altLang="ja-JP" sz="2400"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GB" altLang="ja-JP" sz="2400" dirty="0">
              <a:hlinkClick r:id="rId5"/>
            </a:endParaRPr>
          </a:p>
          <a:p>
            <a:pPr marL="342900" lvl="1" indent="-342900">
              <a:tabLst>
                <a:tab pos="268288" algn="l"/>
              </a:tabLst>
            </a:pPr>
            <a:r>
              <a:rPr lang="ja-JP" altLang="en-US" dirty="0">
                <a:hlinkClick r:id="rId7"/>
              </a:rPr>
              <a:t>プログラマが知るべき</a:t>
            </a:r>
            <a:r>
              <a:rPr lang="en-US" altLang="ja-JP" dirty="0">
                <a:hlinkClick r:id="rId7"/>
              </a:rPr>
              <a:t>97</a:t>
            </a:r>
            <a:r>
              <a:rPr lang="ja-JP" altLang="en-US">
                <a:hlinkClick r:id="rId7"/>
              </a:rPr>
              <a:t>のこと</a:t>
            </a:r>
            <a:endParaRPr lang="en-GB" altLang="ja-JP" sz="2400" dirty="0"/>
          </a:p>
          <a:p>
            <a:pPr marL="717550" lvl="2" indent="-260350">
              <a:tabLst>
                <a:tab pos="268288" algn="l"/>
              </a:tabLst>
            </a:pPr>
            <a:r>
              <a:rPr kumimoji="0" lang="en-GB" altLang="ja-JP" b="0" u="none" strike="noStrike" kern="1200" cap="none" spc="0" normalizeH="0" baseline="0" noProof="0" dirty="0">
                <a:ln>
                  <a:noFill/>
                </a:ln>
                <a:solidFill>
                  <a:prstClr val="black"/>
                </a:solidFill>
                <a:effectLst/>
                <a:uLnTx/>
                <a:uFillTx/>
                <a:ea typeface="+mn-ea"/>
                <a:cs typeface="Yu Gothic"/>
              </a:rPr>
              <a:t>Last Accessed On: 05 May 2025</a:t>
            </a:r>
            <a:endParaRPr lang="en-GB" altLang="ja-JP" dirty="0"/>
          </a:p>
        </p:txBody>
      </p:sp>
      <p:sp>
        <p:nvSpPr>
          <p:cNvPr id="3" name="Slide Number Placeholder 2">
            <a:extLst>
              <a:ext uri="{FF2B5EF4-FFF2-40B4-BE49-F238E27FC236}">
                <a16:creationId xmlns:a16="http://schemas.microsoft.com/office/drawing/2014/main" id="{C064EEB7-CB4B-5047-8B67-958F49018FDA}"/>
              </a:ext>
            </a:extLst>
          </p:cNvPr>
          <p:cNvSpPr>
            <a:spLocks noGrp="1"/>
          </p:cNvSpPr>
          <p:nvPr>
            <p:ph type="sldNum" sz="quarter" idx="12"/>
          </p:nvPr>
        </p:nvSpPr>
        <p:spPr/>
        <p:txBody>
          <a:bodyPr/>
          <a:lstStyle/>
          <a:p>
            <a:fld id="{CC8B731A-DCF7-4273-BA1A-21517ACBB5E5}" type="slidenum">
              <a:rPr lang="en-GB" smtClean="0"/>
              <a:t>38</a:t>
            </a:fld>
            <a:endParaRPr lang="en-GB"/>
          </a:p>
        </p:txBody>
      </p:sp>
    </p:spTree>
    <p:extLst>
      <p:ext uri="{BB962C8B-B14F-4D97-AF65-F5344CB8AC3E}">
        <p14:creationId xmlns:p14="http://schemas.microsoft.com/office/powerpoint/2010/main" val="36960887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4000" r="-4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2" name="Slide Number Placeholder 1">
            <a:extLst>
              <a:ext uri="{FF2B5EF4-FFF2-40B4-BE49-F238E27FC236}">
                <a16:creationId xmlns:a16="http://schemas.microsoft.com/office/drawing/2014/main" id="{57398F70-9805-F633-DB86-9A0CB206AFE0}"/>
              </a:ext>
            </a:extLst>
          </p:cNvPr>
          <p:cNvSpPr>
            <a:spLocks noGrp="1"/>
          </p:cNvSpPr>
          <p:nvPr>
            <p:ph type="sldNum" sz="quarter" idx="12"/>
          </p:nvPr>
        </p:nvSpPr>
        <p:spPr/>
        <p:txBody>
          <a:bodyPr/>
          <a:lstStyle/>
          <a:p>
            <a:fld id="{CC8B731A-DCF7-4273-BA1A-21517ACBB5E5}" type="slidenum">
              <a:rPr lang="en-GB" smtClean="0"/>
              <a:t>39</a:t>
            </a:fld>
            <a:endParaRPr lang="en-GB"/>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3078</TotalTime>
  <Words>2903</Words>
  <Application>Microsoft Office PowerPoint</Application>
  <PresentationFormat>Widescreen</PresentationFormat>
  <Paragraphs>355</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Calibri (Headings)</vt:lpstr>
      <vt:lpstr>Arial</vt:lpstr>
      <vt:lpstr>Calibri</vt:lpstr>
      <vt:lpstr>Calibri Light</vt:lpstr>
      <vt:lpstr>Wingdings</vt:lpstr>
      <vt:lpstr>Office テーマ</vt:lpstr>
      <vt:lpstr>Road to Ruby for A Linguistics Nerd</vt:lpstr>
      <vt:lpstr>About Me</vt:lpstr>
      <vt:lpstr>Licences / Certifications</vt:lpstr>
      <vt:lpstr>Skill Stack</vt:lpstr>
      <vt:lpstr>Work Histories</vt:lpstr>
      <vt:lpstr>Work Histories</vt:lpstr>
      <vt:lpstr>International-Exchange Activities</vt:lpstr>
      <vt:lpstr>Prior to Lightening Talk…</vt:lpstr>
      <vt:lpstr>Agenda</vt:lpstr>
      <vt:lpstr>1. My Goal in RubyKaigi 2025</vt:lpstr>
      <vt:lpstr>1. My Goal in RubyKaigi 2025</vt:lpstr>
      <vt:lpstr>1. My Goal in RubyKaigi 2025</vt:lpstr>
      <vt:lpstr>1. My Goal in RubyKaigi 2025</vt:lpstr>
      <vt:lpstr>2. KaigiEffect -A Field I Have Been Into-</vt:lpstr>
      <vt:lpstr>2. KaigiEffect -A Field I Have Been Into-</vt:lpstr>
      <vt:lpstr>2. KaigiEffect -A Field I Have Been Into-</vt:lpstr>
      <vt:lpstr>2. KaigiEffect -A Field I Have Been Into-</vt:lpstr>
      <vt:lpstr>2. KaigiEffect -A Field I Have Been Into-</vt:lpstr>
      <vt:lpstr>2. KaigiEffect -A Field I Have Been Into-</vt:lpstr>
      <vt:lpstr>2. KaigiEffect -A Field I Have Been Into-</vt:lpstr>
      <vt:lpstr>2. KaigiEffect -A Field I Have Been Into-</vt:lpstr>
      <vt:lpstr>2. KaigiEffect -A Field I Have Been Into-</vt:lpstr>
      <vt:lpstr>2. KaigiEffect -A Field I Have Been Into-</vt:lpstr>
      <vt:lpstr>3. The Most Memorable Discussion Mr. Matz</vt:lpstr>
      <vt:lpstr>3. The Most Memorable Discussion Mr. Matz</vt:lpstr>
      <vt:lpstr>3. The Most Memorable Discussion Mr. Matz</vt:lpstr>
      <vt:lpstr>3. The Most Memorable Discussion Mr. Matz</vt:lpstr>
      <vt:lpstr>3. The Most Memorable Discussion Mr. Matz</vt:lpstr>
      <vt:lpstr>3. The Most Memorable Discussion Mr. Matz</vt:lpstr>
      <vt:lpstr>3. The Most Memorable Discussion Mr. Matz</vt:lpstr>
      <vt:lpstr>3. The Most Memorable Discussion Mr. Matz</vt:lpstr>
      <vt:lpstr>4. As Is vs. To Be</vt:lpstr>
      <vt:lpstr>4. As Is vs. To Be</vt:lpstr>
      <vt:lpstr>5. References</vt:lpstr>
      <vt:lpstr>5. References</vt:lpstr>
      <vt:lpstr>5. References</vt:lpstr>
      <vt:lpstr>5. References</vt:lpstr>
      <vt:lpstr>5.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186</cp:revision>
  <dcterms:modified xsi:type="dcterms:W3CDTF">2025-08-31T17:46:19Z</dcterms:modified>
</cp:coreProperties>
</file>