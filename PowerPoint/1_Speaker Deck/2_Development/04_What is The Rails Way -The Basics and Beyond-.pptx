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87" r:id="rId3"/>
    <p:sldId id="407" r:id="rId4"/>
    <p:sldId id="387" r:id="rId5"/>
    <p:sldId id="461" r:id="rId6"/>
    <p:sldId id="286" r:id="rId7"/>
    <p:sldId id="280" r:id="rId8"/>
    <p:sldId id="311" r:id="rId9"/>
    <p:sldId id="259" r:id="rId10"/>
    <p:sldId id="471" r:id="rId11"/>
    <p:sldId id="472" r:id="rId12"/>
    <p:sldId id="470" r:id="rId13"/>
    <p:sldId id="473" r:id="rId14"/>
    <p:sldId id="474" r:id="rId15"/>
    <p:sldId id="475" r:id="rId16"/>
    <p:sldId id="326" r:id="rId17"/>
    <p:sldId id="336" r:id="rId18"/>
    <p:sldId id="476" r:id="rId19"/>
    <p:sldId id="479" r:id="rId20"/>
    <p:sldId id="357" r:id="rId21"/>
    <p:sldId id="358" r:id="rId22"/>
    <p:sldId id="359" r:id="rId23"/>
    <p:sldId id="360" r:id="rId24"/>
    <p:sldId id="483" r:id="rId25"/>
    <p:sldId id="481" r:id="rId26"/>
    <p:sldId id="482" r:id="rId27"/>
    <p:sldId id="462" r:id="rId28"/>
    <p:sldId id="463" r:id="rId29"/>
    <p:sldId id="480" r:id="rId30"/>
    <p:sldId id="477" r:id="rId31"/>
    <p:sldId id="468" r:id="rId32"/>
    <p:sldId id="469" r:id="rId33"/>
    <p:sldId id="484" r:id="rId34"/>
    <p:sldId id="486" r:id="rId35"/>
    <p:sldId id="466" r:id="rId36"/>
    <p:sldId id="465" r:id="rId37"/>
    <p:sldId id="487" r:id="rId38"/>
    <p:sldId id="488" r:id="rId39"/>
    <p:sldId id="489" r:id="rId40"/>
    <p:sldId id="490" r:id="rId41"/>
    <p:sldId id="491" r:id="rId42"/>
    <p:sldId id="492" r:id="rId43"/>
    <p:sldId id="493" r:id="rId44"/>
    <p:sldId id="467" r:id="rId45"/>
    <p:sldId id="495" r:id="rId46"/>
    <p:sldId id="464" r:id="rId47"/>
    <p:sldId id="494" r:id="rId48"/>
    <p:sldId id="496" r:id="rId49"/>
    <p:sldId id="328" r:id="rId50"/>
    <p:sldId id="295" r:id="rId51"/>
    <p:sldId id="285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石田 隼人" initials="石田" lastIdx="1" clrIdx="0">
    <p:extLst>
      <p:ext uri="{19B8F6BF-5375-455C-9EA6-DF929625EA0E}">
        <p15:presenceInfo xmlns:p15="http://schemas.microsoft.com/office/powerpoint/2012/main" userId="石田 隼人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100" y="1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77555-114C-4D13-A8E9-982D3FBDE682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483F-3F00-45CA-B9CE-71766AA0FC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71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3A420-A6C3-4DFD-BC9B-A28C54480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785ED6-1F11-4995-8802-E7A92ED6F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7A83ED-D7FC-4E75-93FA-7CA4EB13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98A5-C926-421E-8D16-8672B57BCFF1}" type="datetime1">
              <a:rPr lang="en-GB" smtClean="0"/>
              <a:t>14/11/2025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536A7D-2F90-40CC-80C9-D5DFA593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F47EE9-ABD2-45F2-8DDF-94F9AFE5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11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62872-9097-4551-92E5-A9EFABF7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76671E-317F-404E-8053-6A0A955B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17538-7854-4E06-A143-495AC9D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9E5C-BB41-4DEE-A1EA-DBAEA4256446}" type="datetime1">
              <a:rPr lang="en-GB" smtClean="0"/>
              <a:t>14/11/2025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511E7-C4EE-48B3-832D-D6EE6A96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D71E43-553D-4A66-92CB-9785522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80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078576-E3DC-4F83-AFE3-90CF203F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76DC57-139C-48BA-B542-00433365D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BA6EC9-A18D-44DC-AC03-EDA535FC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4A89-DB0D-48E1-8471-1D24BDCF8ED1}" type="datetime1">
              <a:rPr lang="en-GB" smtClean="0"/>
              <a:t>14/11/2025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649445-1B62-4CF3-8E24-C4237F94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343D9-1467-4169-8338-FE5AEB88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1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CB7BA-528D-4232-B694-570FC36B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AFC298-407B-4183-A4C6-ECFBF7BE4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819996-4F41-4E1B-A7D2-68A930127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7AA123-3779-4C89-A120-D8C36EFF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5387-62D3-481B-BBE0-5C3C88B297B2}" type="datetime1">
              <a:rPr lang="en-GB" smtClean="0"/>
              <a:t>14/11/2025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C9968F-4821-42DF-A0AE-DE8C2DAA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E5EBA0-D3D5-4A64-B7F9-5BDAC45C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74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E56CA-F2EB-44BB-AF5E-63BAB6F1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C6BB7A-29D5-421E-A385-A3E3EB46B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FA027A-6FEA-404B-A426-5714EEEEF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93EF15-B619-40ED-B8BE-2BF881506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3F2AE8-4F41-4737-8697-4FF74A0A6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D695459-80F1-47BE-B12B-B91FB722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17D8-7CE6-4CF7-8FAB-60185E786EB9}" type="datetime1">
              <a:rPr lang="en-GB" smtClean="0"/>
              <a:t>14/11/2025</a:t>
            </a:fld>
            <a:endParaRPr lang="en-GB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22F667-D14E-47A7-8AF2-CA42934D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40F02E5-6D55-4748-8E9E-996F457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46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9F8DAA-4277-4BAC-B679-1957A2C7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B19C73D-345B-49EF-9EE4-390986E8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B8A6-723D-47BA-A0C2-370A8E40CF5A}" type="datetime1">
              <a:rPr lang="en-GB" smtClean="0"/>
              <a:t>14/11/2025</a:t>
            </a:fld>
            <a:endParaRPr lang="en-GB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7A8E7A-3F8E-4FC5-BB3F-FD7FCEFA6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D0E4C-C376-468C-A780-75B43057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61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5D00E3-6A1E-40BC-AA99-CAF23822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A632-D8E5-4DA3-B4CD-9FEBF68DCEB0}" type="datetime1">
              <a:rPr lang="en-GB" smtClean="0"/>
              <a:t>14/11/2025</a:t>
            </a:fld>
            <a:endParaRPr lang="en-GB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AEBF75-6C76-481B-9AAC-C70F3C28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EB2586-BFD5-4D03-9AFF-B3681D60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47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41D1B4-D81C-46C1-A422-8FE83A5A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1E09BE-13F6-4301-AB16-2FB109C5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B65445-0016-4746-A03B-F99F35DC5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2A4359-9369-4B46-B534-E689E6C8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EE16D-35BE-4BE7-8AC7-B36F6CD3E5EC}" type="datetime1">
              <a:rPr lang="en-GB" smtClean="0"/>
              <a:t>14/11/2025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4D53E0-DB50-4B50-B03D-8BE605AB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70555-581F-4360-BAC1-A48E44C0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5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66E174-3B05-4E93-8F98-F5A96D0E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CB358A-32CB-4FF7-A5B9-C9D674144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9E880C-6797-422C-88D2-B2770328C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92A9D5-AA4C-470B-8443-CDF69884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8CDB-487D-4044-B328-87D0F47F3BCF}" type="datetime1">
              <a:rPr lang="en-GB" smtClean="0"/>
              <a:t>14/11/2025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B74E2E-D53B-4179-9D35-961BC87E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3E2AE7-E634-4EAE-8F14-FFAD0839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67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2EB38-BF66-471E-BD00-D145D524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9676F2-6EB3-4837-8B9B-5101E00BE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AF1E77-D5D4-4EAA-A9ED-CBFF4D52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C4E5-BC84-4427-9D05-A5F29CCAC796}" type="datetime1">
              <a:rPr lang="en-GB" smtClean="0"/>
              <a:t>14/11/2025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DD2C66-E530-425A-B11C-F0A1B6D3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8EB1D0-A34F-44ED-9BDE-254AAD35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09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D4C475-A351-4F11-BDB2-9B6FC662D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C7FA4F-2A7F-4DD4-9719-303500EF7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604C8-FEBE-4C1F-A49E-F399EBF3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0025-920B-4CEF-B7FD-D6EA5B89461B}" type="datetime1">
              <a:rPr lang="en-GB" smtClean="0"/>
              <a:t>14/11/2025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405AEA-A514-4285-A292-E1F817D0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0B7D56-ED17-445E-BFE4-675A762E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88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3F3B0D-4141-4D30-8082-577CD416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27EF37-390B-4D5F-B2F6-103F90B81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639B55-8065-43F8-BF39-9B908098D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2097A-6903-4692-A2D1-BE7A41A75E71}" type="datetime1">
              <a:rPr lang="en-GB" smtClean="0"/>
              <a:t>14/11/2025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6F0227-74FF-42A7-8C7D-0BD2B1E11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4893C-F66E-48FA-BA80-CC18FCF0A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56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swell.com/s/hayat01sh1da/58W36Q-what-is-the-rails-way-the-basics-and-beyon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ocswell.com/user/hayat01sh1da" TargetMode="External"/><Relationship Id="rId3" Type="http://schemas.openxmlformats.org/officeDocument/2006/relationships/image" Target="../media/image2.jpg"/><Relationship Id="rId7" Type="http://schemas.openxmlformats.org/officeDocument/2006/relationships/hyperlink" Target="https://speakerdeck.com/hayat01sh1d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hayat01sh1da/" TargetMode="External"/><Relationship Id="rId5" Type="http://schemas.openxmlformats.org/officeDocument/2006/relationships/hyperlink" Target="https://hackmd.io/@hayat01sh1da" TargetMode="External"/><Relationship Id="rId4" Type="http://schemas.openxmlformats.org/officeDocument/2006/relationships/hyperlink" Target="https://github.com/hayat01sh1d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vitaljapan.com/" TargetMode="External"/><Relationship Id="rId3" Type="http://schemas.openxmlformats.org/officeDocument/2006/relationships/hyperlink" Target="http://www.centerye.org/" TargetMode="External"/><Relationship Id="rId7" Type="http://schemas.openxmlformats.org/officeDocument/2006/relationships/hyperlink" Target="https://sunrisetmc.toastmastersclubs.org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diy.biz/teachers-profile/?id=4976" TargetMode="External"/><Relationship Id="rId5" Type="http://schemas.openxmlformats.org/officeDocument/2006/relationships/hyperlink" Target="https://stives-h.schools.nsw.gov.au/" TargetMode="External"/><Relationship Id="rId4" Type="http://schemas.openxmlformats.org/officeDocument/2006/relationships/hyperlink" Target="https://www.hamiltonisland.com.au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3" Type="http://schemas.openxmlformats.org/officeDocument/2006/relationships/slide" Target="slide9.xml"/><Relationship Id="rId7" Type="http://schemas.openxmlformats.org/officeDocument/2006/relationships/slide" Target="slide2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2.xml"/><Relationship Id="rId11" Type="http://schemas.openxmlformats.org/officeDocument/2006/relationships/slide" Target="slide49.xml"/><Relationship Id="rId5" Type="http://schemas.openxmlformats.org/officeDocument/2006/relationships/slide" Target="slide20.xml"/><Relationship Id="rId10" Type="http://schemas.openxmlformats.org/officeDocument/2006/relationships/slide" Target="slide46.xml"/><Relationship Id="rId4" Type="http://schemas.openxmlformats.org/officeDocument/2006/relationships/slide" Target="slide16.xml"/><Relationship Id="rId9" Type="http://schemas.openxmlformats.org/officeDocument/2006/relationships/slide" Target="slide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kaigionrails.org/2025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rubyonrails.org/v5.0.4/classes/ActiveModel/Serializers/JSON.html#method-i-as_jso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cktPublishing/Layered-Design-for-Ruby-on-Rails-Applications/blob/49d69e3e8484ee94870b0f12b1dabd5f2e27ef9b/Chapter11/06-view-component.rb#L46-L5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PacktPublishing/Layered-Design-for-Ruby-on-Rails-Applications/blob/49d69e3e8484ee94870b0f12b1dabd5f2e27ef9b/Chapter08/10-alba-serializers.rb#L21-L29" TargetMode="External"/><Relationship Id="rId4" Type="http://schemas.openxmlformats.org/officeDocument/2006/relationships/hyperlink" Target="https://github.com/PacktPublishing/Layered-Design-for-Ruby-on-Rails-Applications/blob/49d69e3e8484ee94870b0f12b1dabd5f2e27ef9b/Chapter08/04-multi-presenter.rb#L23-L44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cktPublishing/Layered-Design-for-Ruby-on-Rails-Applications/blob/49d69e3e8484ee94870b0f12b1dabd5f2e27ef9b/Chapter05/04-githooks-controller-service-cross-layer.rb#L41-L64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PacktPublishing/Layered-Design-for-Ruby-on-Rails-Applications/blob/49d69e3e8484ee94870b0f12b1dabd5f2e27ef9b/Chapter07/08-filter-object.rb#L14-L41" TargetMode="External"/><Relationship Id="rId4" Type="http://schemas.openxmlformats.org/officeDocument/2006/relationships/hyperlink" Target="https://github.com/PacktPublishing/Layered-Design-for-Ruby-on-Rails-Applications/blob/49d69e3e8484ee94870b0f12b1dabd5f2e27ef9b/Chapter07/02-invitation-form.rb#L4-L32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cktPublishing/Layered-Design-for-Ruby-on-Rails-Applications/blob/49d69e3e8484ee94870b0f12b1dabd5f2e27ef9b/Chapter02/10-user-address-model.rb#L9-L1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PacktPublishing/Layered-Design-for-Ruby-on-Rails-Applications/blob/49d69e3e8484ee94870b0f12b1dabd5f2e27ef9b/Chapter04/16-media-value-object.rb#L15-L26" TargetMode="External"/><Relationship Id="rId4" Type="http://schemas.openxmlformats.org/officeDocument/2006/relationships/hyperlink" Target="https://github.com/PacktPublishing/Layered-Design-for-Ruby-on-Rails-Applications/blob/49d69e3e8484ee94870b0f12b1dabd5f2e27ef9b/Chapter09/04-poro-policy-objects.rb#L43-L55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cktPublishing/Layered-Design-for-Ruby-on-Rails-Applications/blob/49d69e3e8484ee94870b0f12b1dabd5f2e27ef9b/Chapter06/04-repositories.rb#L17-L29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PacktPublishing/Layered-Design-for-Ruby-on-Rails-Applications/blob/49d69e3e8484ee94870b0f12b1dabd5f2e27ef9b/Chapter02/00-book-active-record.rb#L3-L4" TargetMode="External"/><Relationship Id="rId4" Type="http://schemas.openxmlformats.org/officeDocument/2006/relationships/hyperlink" Target="https://github.com/PacktPublishing/Layered-Design-for-Ruby-on-Rails-Applications/blob/49d69e3e8484ee94870b0f12b1dabd5f2e27ef9b/Chapter06/01-application-query.rb#L36-L51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rajkundalia/demystifying-domain-driven-design-ddd-principles-practice-relevance-in-modern-software-73ac2f7ee99c#598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google.com/spreadsheets/d/10GDE52bcvYJkx4XlYcsZFVyMYG3hsT51Td5r9x5rZDg/edit?usp=sharing" TargetMode="External"/><Relationship Id="rId3" Type="http://schemas.openxmlformats.org/officeDocument/2006/relationships/hyperlink" Target="https://www.packtpub.com/en-us/product/layered-design-for-ruby-on-rails-applications-9781801813785" TargetMode="External"/><Relationship Id="rId7" Type="http://schemas.openxmlformats.org/officeDocument/2006/relationships/hyperlink" Target="https://docs.google.com/forms/d/19TWTOWHjZ5NwXNGCCOXDzw-YHV85ot8lrYdoWY0UZB4/edit#response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google.com/forms/d/12mAz9meKqLHpRLo-NzzO8P18wAI6jgU2f8RAMIhSfIM/edit#responses" TargetMode="External"/><Relationship Id="rId5" Type="http://schemas.openxmlformats.org/officeDocument/2006/relationships/hyperlink" Target="https://hackmd.io/@hayat01sh1da/layered-ruby-on-rails-applications-concise-summary" TargetMode="External"/><Relationship Id="rId4" Type="http://schemas.openxmlformats.org/officeDocument/2006/relationships/hyperlink" Target="https://hackmd.io/@hayat01sh1da/layered-ruby-on-rails-applications-full-summary" TargetMode="External"/><Relationship Id="rId9" Type="http://schemas.openxmlformats.org/officeDocument/2006/relationships/hyperlink" Target="https://dry-rb.org/gems/" TargetMode="Externa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838FDBDF-AA97-A755-5929-CA049915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870" y="1824605"/>
            <a:ext cx="9144000" cy="1689552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What is The Rails Way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(Headings)"/>
            </a:endParaRPr>
          </a:p>
        </p:txBody>
      </p: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37DCA1F6-8A6F-EFA2-32E0-4107C174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9384CEEA-9ED1-6887-AFE8-7BA71E626EBF}"/>
              </a:ext>
            </a:extLst>
          </p:cNvPr>
          <p:cNvSpPr txBox="1">
            <a:spLocks/>
          </p:cNvSpPr>
          <p:nvPr/>
        </p:nvSpPr>
        <p:spPr>
          <a:xfrm>
            <a:off x="1470870" y="3514157"/>
            <a:ext cx="9144000" cy="55577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GB" altLang="ja-JP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-The Basics and Beyond-</a:t>
            </a:r>
            <a:endParaRPr kumimoji="0" lang="en-GB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 (Headings)"/>
            </a:endParaRPr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9337A176-5377-6F93-8925-178F6FF51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1017" y="4706224"/>
            <a:ext cx="4683854" cy="496465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algn="r"/>
            <a:r>
              <a:rPr lang="en-US" sz="3200" b="1" dirty="0"/>
              <a:t>Composed By: Hayato Ishida</a:t>
            </a:r>
            <a:endParaRPr lang="en-GB" sz="3200" b="1" dirty="0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8C64EA4D-6C48-3445-A5F5-B43711FB5137}"/>
              </a:ext>
            </a:extLst>
          </p:cNvPr>
          <p:cNvSpPr txBox="1">
            <a:spLocks/>
          </p:cNvSpPr>
          <p:nvPr/>
        </p:nvSpPr>
        <p:spPr>
          <a:xfrm>
            <a:off x="6976843" y="5445970"/>
            <a:ext cx="3638027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altLang="ja-JP" sz="2000" b="1" dirty="0"/>
              <a:t>Updated</a:t>
            </a:r>
            <a:r>
              <a:rPr lang="ja-JP" altLang="en-US" sz="2000" b="1" dirty="0"/>
              <a:t> </a:t>
            </a:r>
            <a:r>
              <a:rPr lang="en-GB" altLang="ja-JP" sz="2000" b="1" dirty="0"/>
              <a:t>On: 14 November 2025</a:t>
            </a:r>
            <a:endParaRPr lang="en-GB" sz="2000" b="1" dirty="0"/>
          </a:p>
        </p:txBody>
      </p:sp>
      <p:sp>
        <p:nvSpPr>
          <p:cNvPr id="2" name="字幕 2">
            <a:extLst>
              <a:ext uri="{FF2B5EF4-FFF2-40B4-BE49-F238E27FC236}">
                <a16:creationId xmlns:a16="http://schemas.microsoft.com/office/drawing/2014/main" id="{E22F010B-BD48-8CEB-7E3E-02F85B57419B}"/>
              </a:ext>
            </a:extLst>
          </p:cNvPr>
          <p:cNvSpPr txBox="1">
            <a:spLocks/>
          </p:cNvSpPr>
          <p:nvPr/>
        </p:nvSpPr>
        <p:spPr>
          <a:xfrm>
            <a:off x="1470871" y="5440495"/>
            <a:ext cx="3457662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altLang="ja-JP" sz="2000" dirty="0"/>
              <a:t>For Japanese version, click </a:t>
            </a:r>
            <a:r>
              <a:rPr lang="en-GB" altLang="ja-JP" sz="2000" dirty="0">
                <a:hlinkClick r:id="rId3"/>
              </a:rPr>
              <a:t>here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78715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D9D160-A1F5-59BD-AE4F-8E5E3B3B9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316" y="1824399"/>
            <a:ext cx="5804483" cy="4352564"/>
          </a:xfrm>
          <a:prstGeom prst="rect">
            <a:avLst/>
          </a:prstGeom>
        </p:spPr>
      </p:pic>
      <p:sp>
        <p:nvSpPr>
          <p:cNvPr id="9" name="タイトル 1">
            <a:extLst>
              <a:ext uri="{FF2B5EF4-FFF2-40B4-BE49-F238E27FC236}">
                <a16:creationId xmlns:a16="http://schemas.microsoft.com/office/drawing/2014/main" id="{F05E3316-6090-3F18-42CA-4342AED8F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About Me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B48D9C44-D094-D83B-98F5-FB76ADBD8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268288" indent="-268288"/>
            <a:r>
              <a:rPr lang="en-GB" altLang="ja-JP" sz="2400" dirty="0"/>
              <a:t>Accounts</a:t>
            </a:r>
          </a:p>
          <a:p>
            <a:pPr marL="725488" lvl="1" indent="-268288"/>
            <a:r>
              <a:rPr lang="en-US" altLang="ja-JP" sz="2000" dirty="0"/>
              <a:t>GitHub: </a:t>
            </a:r>
            <a:r>
              <a:rPr lang="en-US" altLang="ja-JP" sz="2000" dirty="0">
                <a:hlinkClick r:id="rId4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X: </a:t>
            </a:r>
            <a:r>
              <a:rPr lang="en-US" altLang="ja-JP" sz="2000" dirty="0">
                <a:hlinkClick r:id="rId5"/>
              </a:rPr>
              <a:t>@hayat01sh1da</a:t>
            </a:r>
            <a:endParaRPr lang="en-GB" altLang="ja-JP" sz="2000" dirty="0"/>
          </a:p>
          <a:p>
            <a:pPr marL="725488" lvl="1" indent="-268288"/>
            <a:r>
              <a:rPr lang="en-GB" altLang="ja-JP" sz="2000" dirty="0"/>
              <a:t>LinkedIn: </a:t>
            </a:r>
            <a:r>
              <a:rPr lang="en-US" altLang="ja-JP" sz="2000" dirty="0">
                <a:hlinkClick r:id="rId6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Speaker Deck: </a:t>
            </a:r>
            <a:r>
              <a:rPr lang="en-US" altLang="ja-JP" sz="2000" dirty="0">
                <a:hlinkClick r:id="rId7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Docswell: </a:t>
            </a:r>
            <a:r>
              <a:rPr lang="en-US" altLang="ja-JP" sz="2000" dirty="0">
                <a:hlinkClick r:id="rId8"/>
              </a:rPr>
              <a:t>@hayat01sh1da</a:t>
            </a:r>
            <a:endParaRPr lang="en-US" altLang="ja-JP" sz="2000" dirty="0"/>
          </a:p>
          <a:p>
            <a:pPr marL="268288" indent="-268288"/>
            <a:r>
              <a:rPr lang="en-GB" altLang="ja-JP" sz="2400" dirty="0"/>
              <a:t>Occupation: Software Engineer</a:t>
            </a:r>
          </a:p>
          <a:p>
            <a:pPr marL="268288" indent="-268288"/>
            <a:r>
              <a:rPr lang="en-GB" altLang="ja-JP" sz="2400" dirty="0"/>
              <a:t>Things I Am Into</a:t>
            </a:r>
          </a:p>
          <a:p>
            <a:pPr marL="725488" lvl="1" indent="-268288"/>
            <a:r>
              <a:rPr lang="en-GB" altLang="ja-JP" sz="2000" dirty="0"/>
              <a:t>Linguistics</a:t>
            </a:r>
          </a:p>
          <a:p>
            <a:pPr marL="725488" lvl="1" indent="-268288"/>
            <a:r>
              <a:rPr lang="en-GB" altLang="ja-JP" sz="2000" dirty="0"/>
              <a:t>Singing at Karaoke</a:t>
            </a:r>
          </a:p>
          <a:p>
            <a:pPr marL="725488" lvl="1" indent="-268288"/>
            <a:r>
              <a:rPr lang="en-GB" altLang="ja-JP" sz="2000" dirty="0"/>
              <a:t>Listening to Music</a:t>
            </a:r>
          </a:p>
          <a:p>
            <a:pPr marL="725488" lvl="1" indent="-268288"/>
            <a:r>
              <a:rPr lang="en-GB" altLang="ja-JP" sz="2000" dirty="0"/>
              <a:t>Watching Movies</a:t>
            </a:r>
          </a:p>
          <a:p>
            <a:pPr marL="725488" lvl="1" indent="-268288"/>
            <a:r>
              <a:rPr lang="en-GB" altLang="ja-JP" sz="2000" dirty="0"/>
              <a:t>Cat Feeding</a:t>
            </a: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94D6CD88-BD22-7C4A-7749-B29AF630B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425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1FBE0558-A36D-E216-E2C1-719E2237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Licences / Certifications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5885E2A-9A6E-037E-12A8-07D43B0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68288" lvl="1" indent="-268288"/>
            <a:r>
              <a:rPr lang="en-US" altLang="ja-JP" dirty="0"/>
              <a:t>English</a:t>
            </a:r>
          </a:p>
          <a:p>
            <a:pPr marL="725488" lvl="2" indent="-268288"/>
            <a:r>
              <a:rPr lang="en-US" altLang="ja-JP" dirty="0"/>
              <a:t>TOEIC® Listening &amp; Reading 915</a:t>
            </a:r>
            <a:r>
              <a:rPr lang="en-GB" altLang="ja-JP" dirty="0"/>
              <a:t>: Certified on December 2019</a:t>
            </a:r>
            <a:endParaRPr lang="ja-JP" altLang="en-US" dirty="0"/>
          </a:p>
          <a:p>
            <a:pPr marL="268288" lvl="1" indent="-268288"/>
            <a:r>
              <a:rPr lang="en-GB" altLang="ja-JP" dirty="0"/>
              <a:t>Engineering</a:t>
            </a:r>
          </a:p>
          <a:p>
            <a:pPr marL="725488" lvl="2" indent="-268288"/>
            <a:r>
              <a:rPr lang="en-GB" altLang="ja-JP" dirty="0"/>
              <a:t>Information Security Management: Certified on November 2017</a:t>
            </a:r>
          </a:p>
          <a:p>
            <a:pPr marL="725488" lvl="2" indent="-268288"/>
            <a:r>
              <a:rPr lang="en-GB" altLang="ja-JP" dirty="0"/>
              <a:t>Applied Information Technology Engineer: Certified on June 2017</a:t>
            </a:r>
          </a:p>
          <a:p>
            <a:pPr marL="725488" lvl="2" indent="-268288"/>
            <a:r>
              <a:rPr lang="en-GB" altLang="ja-JP" dirty="0"/>
              <a:t>Fundamental Information Technology Engineer: Certified on November 2016</a:t>
            </a:r>
            <a:endParaRPr lang="ja-JP" altLang="en-US" dirty="0"/>
          </a:p>
          <a:p>
            <a:pPr marL="725488" lvl="2" indent="-268288"/>
            <a:r>
              <a:rPr lang="en-US" altLang="ja-JP" dirty="0"/>
              <a:t>IT Passport</a:t>
            </a:r>
            <a:r>
              <a:rPr lang="en-GB" altLang="ja-JP" dirty="0"/>
              <a:t>: Certified on April 2016</a:t>
            </a:r>
            <a:endParaRPr lang="en-GB" altLang="ja-JP" b="0" i="0" dirty="0">
              <a:solidFill>
                <a:srgbClr val="333333"/>
              </a:solidFill>
              <a:effectLst/>
            </a:endParaRPr>
          </a:p>
          <a:p>
            <a:pPr marL="268288" lvl="1" indent="-268288"/>
            <a:r>
              <a:rPr lang="en-GB" altLang="ja-JP" dirty="0">
                <a:solidFill>
                  <a:srgbClr val="333333"/>
                </a:solidFill>
              </a:rPr>
              <a:t>Others</a:t>
            </a:r>
          </a:p>
          <a:p>
            <a:pPr marL="725488" lvl="2" indent="-268288"/>
            <a:r>
              <a:rPr lang="en-GB" altLang="ja-JP" dirty="0">
                <a:solidFill>
                  <a:srgbClr val="333333"/>
                </a:solidFill>
              </a:rPr>
              <a:t>Abacus 2nd Class: </a:t>
            </a:r>
            <a:r>
              <a:rPr lang="en-GB" altLang="ja-JP" dirty="0"/>
              <a:t>Certified on June 2002</a:t>
            </a:r>
          </a:p>
          <a:p>
            <a:pPr marL="725488" lvl="2" indent="-268288"/>
            <a:r>
              <a:rPr lang="en-GB" altLang="ja-JP" b="0" i="0" dirty="0">
                <a:solidFill>
                  <a:srgbClr val="333333"/>
                </a:solidFill>
                <a:effectLst/>
              </a:rPr>
              <a:t>Mental Arithmetic 3rd Class: </a:t>
            </a:r>
            <a:r>
              <a:rPr lang="en-GB" altLang="ja-JP" dirty="0"/>
              <a:t>Certified on February 2001</a:t>
            </a: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F677BD17-1762-0EE1-CB85-AE8256A2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26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4CC4D21A-B798-902A-AD2F-CCEF45BA0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Skill Stack</a:t>
            </a:r>
            <a:endParaRPr lang="en-GB" b="1" dirty="0">
              <a:latin typeface="Calibri (Headings)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F4EECFEB-CDB9-69A5-6CEA-9BCBE6B4D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2400" dirty="0"/>
              <a:t>Languages</a:t>
            </a:r>
            <a:endParaRPr lang="ja-JP" altLang="en-US" sz="2400" dirty="0"/>
          </a:p>
          <a:p>
            <a:pPr marL="717550" lvl="1" indent="-260350"/>
            <a:r>
              <a:rPr lang="en-GB" altLang="ja-JP" sz="2000" dirty="0"/>
              <a:t>Japanese: Native Proficiency</a:t>
            </a:r>
          </a:p>
          <a:p>
            <a:pPr marL="717550" lvl="1" indent="-260350"/>
            <a:r>
              <a:rPr lang="en-GB" altLang="ja-JP" sz="2000" dirty="0"/>
              <a:t>English: Full professional Proficiency</a:t>
            </a:r>
          </a:p>
          <a:p>
            <a:pPr marL="268288" indent="-268288"/>
            <a:r>
              <a:rPr lang="en-GB" altLang="ja-JP" sz="2400" dirty="0"/>
              <a:t>Development</a:t>
            </a:r>
          </a:p>
          <a:p>
            <a:pPr marL="717550" lvl="1" indent="-260350"/>
            <a:r>
              <a:rPr lang="en-GB" altLang="ja-JP" sz="2000" b="1" dirty="0"/>
              <a:t>Backend: Ruby(Ruby on Rails)</a:t>
            </a:r>
            <a:r>
              <a:rPr lang="en-GB" altLang="ja-JP" sz="2000" dirty="0"/>
              <a:t>, Python</a:t>
            </a:r>
          </a:p>
          <a:p>
            <a:pPr marL="717550" lvl="1" indent="-260350"/>
            <a:r>
              <a:rPr lang="en-GB" altLang="ja-JP" sz="2000" dirty="0"/>
              <a:t>Frontend: TypeScript + React.js, TypeScript +Vue.js</a:t>
            </a:r>
          </a:p>
          <a:p>
            <a:pPr marL="717550" lvl="1" indent="-260350"/>
            <a:r>
              <a:rPr lang="en-GB" altLang="ja-JP" sz="2000" b="1" dirty="0"/>
              <a:t>Database: MySQL</a:t>
            </a:r>
            <a:r>
              <a:rPr lang="en-GB" altLang="ja-JP" sz="2000" dirty="0"/>
              <a:t>, PostgreSQL, MongoDB</a:t>
            </a:r>
          </a:p>
          <a:p>
            <a:pPr marL="717550" lvl="1" indent="-260350"/>
            <a:r>
              <a:rPr lang="en-GB" altLang="ja-JP" sz="2000" b="1" dirty="0"/>
              <a:t>Architecture: Monolith, Modular Monolith</a:t>
            </a:r>
          </a:p>
          <a:p>
            <a:pPr marL="717550" lvl="1" indent="-260350"/>
            <a:r>
              <a:rPr lang="en-GB" altLang="ja-JP" sz="2000" dirty="0"/>
              <a:t>Hosting: AWS ESK</a:t>
            </a:r>
          </a:p>
          <a:p>
            <a:pPr marL="717550" lvl="1" indent="-260350"/>
            <a:r>
              <a:rPr lang="en-GB" altLang="ja-JP" sz="2000" dirty="0"/>
              <a:t>Versioning: Git, GitHub</a:t>
            </a:r>
          </a:p>
          <a:p>
            <a:pPr marL="717550" lvl="1" indent="-260350"/>
            <a:r>
              <a:rPr lang="en-GB" altLang="ja-JP" sz="2000" b="1" dirty="0"/>
              <a:t>CI/CD: GitHub Actions</a:t>
            </a:r>
            <a:r>
              <a:rPr lang="en-GB" altLang="ja-JP" sz="2000" dirty="0"/>
              <a:t>, ArgoCD</a:t>
            </a:r>
          </a:p>
          <a:p>
            <a:pPr marL="717550" lvl="1" indent="-260350"/>
            <a:r>
              <a:rPr lang="en-GB" altLang="ja-JP" sz="2000" dirty="0"/>
              <a:t>Monitoring: Datadog, Sentry</a:t>
            </a:r>
            <a:endParaRPr lang="en-GB" altLang="ja-JP" dirty="0"/>
          </a:p>
        </p:txBody>
      </p:sp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951EF88E-FFFA-549B-2569-5C543AFB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45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72DC54-034B-C421-7389-9A8A7026E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9422E43C-0DD6-FE01-B718-6AC522CFC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C5BA7852-4A2C-7B10-99B3-3535FD992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5</a:t>
            </a:fld>
            <a:endParaRPr lang="en-GB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7D4AFDD-D94E-0D5D-22AB-BB41CC2F302E}"/>
              </a:ext>
            </a:extLst>
          </p:cNvPr>
          <p:cNvGraphicFramePr>
            <a:graphicFrameLocks noGrp="1"/>
          </p:cNvGraphicFramePr>
          <p:nvPr/>
        </p:nvGraphicFramePr>
        <p:xfrm>
          <a:off x="836798" y="1822829"/>
          <a:ext cx="10515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Aug 2021 -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Saas(Educational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CI/CD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Weekly Release Manager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LT Speaker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6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Feb 2020 - Dec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SaaS(Chatbot Platform)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Backend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Inspection of Alternative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449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8593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184EC808-D906-5077-5228-0D571761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9D3D173B-9FE7-CDED-DEFC-CD250D690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6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320FDA-793A-7942-43E5-88EA2712CBD2}"/>
              </a:ext>
            </a:extLst>
          </p:cNvPr>
          <p:cNvGraphicFramePr>
            <a:graphicFrameLocks noGrp="1"/>
          </p:cNvGraphicFramePr>
          <p:nvPr/>
        </p:nvGraphicFramePr>
        <p:xfrm>
          <a:off x="836798" y="1822829"/>
          <a:ext cx="105156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Jun 2018 - Jan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Contract-basis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Quality Assurance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5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Apr 2016 - Jan 2018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Engineering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Corporate Account Admin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Windows Server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Security Admin Assistant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Internationalisation / Localisation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99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58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3009F6FB-E885-6B07-B9FB-C62DF5BBB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International-Exchange Activities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スライド番号プレースホルダー 3">
            <a:extLst>
              <a:ext uri="{FF2B5EF4-FFF2-40B4-BE49-F238E27FC236}">
                <a16:creationId xmlns:a16="http://schemas.microsoft.com/office/drawing/2014/main" id="{7CCB782C-2A7E-554D-4BC8-BD7ACE95F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7</a:t>
            </a:fld>
            <a:endParaRPr lang="en-GB"/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F908638B-F115-782F-8F47-76A715997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0270"/>
            <a:ext cx="10515600" cy="434389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1600" dirty="0"/>
              <a:t>Activities in University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English Linguistics Seminar</a:t>
            </a:r>
            <a:r>
              <a:rPr lang="en-US" altLang="ja-JP" sz="1400" dirty="0"/>
              <a:t>(</a:t>
            </a:r>
            <a:r>
              <a:rPr lang="en-GB" altLang="ja-JP" sz="1400" dirty="0"/>
              <a:t>Focusing on Mass Media English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/>
              <a:t>International-Exchange Clubs</a:t>
            </a:r>
            <a:r>
              <a:rPr lang="en-US" altLang="ja-JP" sz="1400" dirty="0"/>
              <a:t>(</a:t>
            </a:r>
            <a:r>
              <a:rPr lang="en-GB" altLang="ja-JP" sz="1400" dirty="0"/>
              <a:t>The 2nd Year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>
                <a:hlinkClick r:id="rId3"/>
              </a:rPr>
              <a:t>International-Exchange Programmes conducted by Japan Cabinet Office</a:t>
            </a:r>
            <a:r>
              <a:rPr lang="en-US" altLang="ja-JP" sz="1400" dirty="0"/>
              <a:t>(2013</a:t>
            </a:r>
            <a:r>
              <a:rPr lang="ja-JP" altLang="en-US" sz="1400" dirty="0"/>
              <a:t> </a:t>
            </a:r>
            <a:r>
              <a:rPr lang="en-US" altLang="ja-JP" sz="1400" dirty="0"/>
              <a:t>- 2016)</a:t>
            </a:r>
          </a:p>
          <a:p>
            <a:pPr marL="536575" lvl="1" indent="-268288"/>
            <a:r>
              <a:rPr lang="en-GB" altLang="ja-JP" sz="1400" dirty="0"/>
              <a:t>Japanese Linguistics Course(The Final Year)</a:t>
            </a:r>
            <a:endParaRPr lang="en-US" altLang="ja-JP" sz="1400" dirty="0"/>
          </a:p>
          <a:p>
            <a:pPr marL="268288" indent="-268288"/>
            <a:r>
              <a:rPr lang="en-GB" altLang="ja-JP" sz="1600" dirty="0"/>
              <a:t>Overseas Life Experience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Working Holiday in Australia</a:t>
            </a:r>
            <a:r>
              <a:rPr lang="en-US" altLang="ja-JP" sz="1400" dirty="0"/>
              <a:t>(April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</a:t>
            </a:r>
            <a:r>
              <a:rPr lang="en-GB" altLang="ja-JP" sz="1400" dirty="0"/>
              <a:t>March 2015</a:t>
            </a:r>
            <a:r>
              <a:rPr lang="en-US" altLang="ja-JP" sz="1400" dirty="0"/>
              <a:t>)</a:t>
            </a:r>
          </a:p>
          <a:p>
            <a:pPr marL="728662" lvl="2" indent="-285750"/>
            <a:r>
              <a:rPr lang="en-GB" altLang="ja-JP" sz="1200" dirty="0"/>
              <a:t>Language School for 1 month in Sydney</a:t>
            </a:r>
          </a:p>
          <a:p>
            <a:pPr marL="728662" lvl="2" indent="-285750"/>
            <a:r>
              <a:rPr lang="en-GB" altLang="ja-JP" sz="1200" dirty="0"/>
              <a:t>Work for 6 Months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4"/>
              </a:rPr>
              <a:t>Hamilton Island Resort</a:t>
            </a:r>
            <a:endParaRPr lang="en-GB" altLang="ja-JP" sz="1200" dirty="0"/>
          </a:p>
          <a:p>
            <a:pPr marL="728662" lvl="2" indent="-285750"/>
            <a:r>
              <a:rPr lang="en-GB" altLang="ja-JP" sz="1200" dirty="0"/>
              <a:t>Volunteering for 1 Month as Assistant Teacher of Japanese Language at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5"/>
              </a:rPr>
              <a:t>St Ives High School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/>
              <a:t>NSW</a:t>
            </a:r>
            <a:endParaRPr lang="en-US" altLang="ja-JP" sz="1200" dirty="0"/>
          </a:p>
          <a:p>
            <a:pPr marL="268288" indent="-268288"/>
            <a:r>
              <a:rPr lang="en-GB" altLang="ja-JP" sz="1600" dirty="0"/>
              <a:t>Other Activities</a:t>
            </a:r>
            <a:endParaRPr lang="ja-JP" altLang="en-US" sz="900" dirty="0"/>
          </a:p>
          <a:p>
            <a:pPr marL="536575" lvl="1" indent="-268288"/>
            <a:r>
              <a:rPr lang="en-GB" altLang="ja-JP" sz="1400" dirty="0"/>
              <a:t>Keep Everyday Journal in English</a:t>
            </a:r>
            <a:r>
              <a:rPr lang="ja-JP" altLang="en-US" sz="1400" dirty="0"/>
              <a:t> </a:t>
            </a:r>
            <a:r>
              <a:rPr lang="en-GB" altLang="ja-JP" sz="1400" dirty="0"/>
              <a:t>(</a:t>
            </a:r>
            <a:r>
              <a:rPr lang="en-US" altLang="ja-JP" sz="1400" dirty="0"/>
              <a:t>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Present</a:t>
            </a:r>
            <a:r>
              <a:rPr lang="en-GB" altLang="ja-JP" sz="1400" dirty="0"/>
              <a:t>)</a:t>
            </a:r>
            <a:endParaRPr lang="en-US" altLang="ja-JP" sz="1400" dirty="0">
              <a:hlinkClick r:id="rId6"/>
            </a:endParaRPr>
          </a:p>
          <a:p>
            <a:pPr marL="536575" lvl="1" indent="-268288"/>
            <a:r>
              <a:rPr lang="en-US" altLang="ja-JP" sz="1400" dirty="0">
                <a:hlinkClick r:id="rId7"/>
              </a:rPr>
              <a:t>Sunrise Toastmasters Club</a:t>
            </a:r>
            <a:r>
              <a:rPr lang="en-US" altLang="ja-JP" sz="1400" dirty="0"/>
              <a:t>(February 2017</a:t>
            </a:r>
            <a:r>
              <a:rPr lang="ja-JP" altLang="en-US" sz="1400" dirty="0"/>
              <a:t> </a:t>
            </a:r>
            <a:r>
              <a:rPr lang="en-US" altLang="ja-JP" sz="1400" dirty="0"/>
              <a:t>- March 2018)</a:t>
            </a:r>
          </a:p>
          <a:p>
            <a:pPr marL="536575" lvl="1" indent="-268288"/>
            <a:r>
              <a:rPr lang="en-US" altLang="ja-JP" sz="1400" dirty="0">
                <a:hlinkClick r:id="rId8"/>
              </a:rPr>
              <a:t>Vital Japan</a:t>
            </a:r>
            <a:r>
              <a:rPr lang="en-US" altLang="ja-JP" sz="1400" dirty="0"/>
              <a:t>(January 2018 - July 2019</a:t>
            </a:r>
            <a:r>
              <a:rPr lang="en-GB" altLang="ja-JP" sz="1400" dirty="0"/>
              <a:t>, October 2022 - February 2023</a:t>
            </a:r>
            <a:r>
              <a:rPr lang="en-US" altLang="ja-JP" sz="1400" dirty="0"/>
              <a:t>) </a:t>
            </a:r>
          </a:p>
          <a:p>
            <a:pPr marL="536575" lvl="1" indent="-268288"/>
            <a:r>
              <a:rPr lang="en-GB" altLang="ja-JP" sz="1400" dirty="0"/>
              <a:t>Self Learning and Training of English Language</a:t>
            </a:r>
          </a:p>
          <a:p>
            <a:pPr marL="536575" lvl="1" indent="-268288"/>
            <a:r>
              <a:rPr lang="en-GB" altLang="ja-JP" sz="1400" dirty="0"/>
              <a:t>Participation Ruby-Related Tech Conferences</a:t>
            </a:r>
          </a:p>
        </p:txBody>
      </p:sp>
    </p:spTree>
    <p:extLst>
      <p:ext uri="{BB962C8B-B14F-4D97-AF65-F5344CB8AC3E}">
        <p14:creationId xmlns:p14="http://schemas.microsoft.com/office/powerpoint/2010/main" val="256743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/>
              <a:t>Agenda</a:t>
            </a:r>
            <a:endParaRPr lang="en-GB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7188" indent="-357188"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GB" altLang="ja-JP" sz="2400" dirty="0">
                <a:sym typeface="Arial"/>
                <a:hlinkClick r:id="rId3" action="ppaction://hlinksldjump"/>
              </a:rPr>
              <a:t>What brought me this interest?</a:t>
            </a:r>
            <a:endParaRPr lang="en-GB" altLang="ja-JP" sz="2400" dirty="0">
              <a:sym typeface="Arial"/>
            </a:endParaRPr>
          </a:p>
          <a:p>
            <a:pPr marL="357188" indent="-357188"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GB" altLang="ja-JP" sz="2400" dirty="0">
                <a:sym typeface="Arial"/>
                <a:hlinkClick r:id="rId4" action="ppaction://hlinksldjump"/>
              </a:rPr>
              <a:t>Philosophy of "The Rails Way" -MVC vs. Layered-</a:t>
            </a:r>
            <a:endParaRPr lang="en-GB" altLang="ja-JP" sz="2400" dirty="0">
              <a:sym typeface="Arial"/>
            </a:endParaRPr>
          </a:p>
          <a:p>
            <a:pPr marL="357188" indent="-357188"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GB" altLang="ja-JP" sz="2400" dirty="0">
                <a:sym typeface="Arial"/>
                <a:hlinkClick r:id="rId5" action="ppaction://hlinksldjump"/>
              </a:rPr>
              <a:t>Key Responsibilities -MVC vs. Layered-</a:t>
            </a:r>
            <a:endParaRPr lang="en-GB" altLang="ja-JP" sz="2400" dirty="0">
              <a:sym typeface="Arial"/>
            </a:endParaRPr>
          </a:p>
          <a:p>
            <a:pPr marL="357188" indent="-357188"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GB" altLang="ja-JP" sz="2400" dirty="0">
                <a:sym typeface="Arial"/>
                <a:hlinkClick r:id="rId6" action="ppaction://hlinksldjump"/>
              </a:rPr>
              <a:t>Key Components of The Extended Rails Way(Layered)</a:t>
            </a:r>
            <a:endParaRPr lang="en-GB" altLang="ja-JP" sz="2400" dirty="0">
              <a:sym typeface="Arial"/>
            </a:endParaRPr>
          </a:p>
          <a:p>
            <a:pPr marL="357188" indent="-357188"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GB" altLang="ja-JP" sz="2400" dirty="0">
                <a:sym typeface="Arial"/>
                <a:hlinkClick r:id="rId7" action="ppaction://hlinksldjump"/>
              </a:rPr>
              <a:t>Pros &amp; Cons</a:t>
            </a:r>
            <a:endParaRPr lang="en-GB" altLang="ja-JP" sz="2400" dirty="0">
              <a:sym typeface="Arial"/>
            </a:endParaRPr>
          </a:p>
          <a:p>
            <a:pPr marL="357188" indent="-357188"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GB" altLang="ja-JP" sz="2400" dirty="0">
                <a:sym typeface="Arial"/>
                <a:hlinkClick r:id="rId8" action="ppaction://hlinksldjump"/>
              </a:rPr>
              <a:t>Pragmatic Adoption Strategy</a:t>
            </a:r>
            <a:endParaRPr lang="en-GB" altLang="ja-JP" sz="2400" dirty="0">
              <a:sym typeface="Arial"/>
            </a:endParaRPr>
          </a:p>
          <a:p>
            <a:pPr marL="357188" indent="-357188"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GB" altLang="ja-JP" sz="2400" dirty="0">
                <a:sym typeface="Arial"/>
                <a:hlinkClick r:id="rId9" action="ppaction://hlinksldjump"/>
              </a:rPr>
              <a:t>Survey and Answers</a:t>
            </a:r>
            <a:endParaRPr lang="en-GB" altLang="ja-JP" sz="2400" dirty="0">
              <a:sym typeface="Arial"/>
            </a:endParaRPr>
          </a:p>
          <a:p>
            <a:pPr marL="357188" indent="-357188"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GB" altLang="ja-JP" sz="2400" dirty="0">
                <a:sym typeface="Arial"/>
                <a:hlinkClick r:id="rId10" action="ppaction://hlinksldjump"/>
              </a:rPr>
              <a:t>Summary</a:t>
            </a:r>
            <a:endParaRPr lang="en-GB" altLang="ja-JP" sz="2400" dirty="0">
              <a:sym typeface="Arial"/>
            </a:endParaRPr>
          </a:p>
          <a:p>
            <a:pPr marL="357188" indent="-357188"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GB" altLang="ja-JP" sz="2400" dirty="0">
                <a:sym typeface="Arial"/>
                <a:hlinkClick r:id="rId11" action="ppaction://hlinksldjump"/>
              </a:rPr>
              <a:t>References</a:t>
            </a:r>
            <a:endParaRPr lang="en-GB" altLang="ja-JP" sz="2400" dirty="0">
              <a:sym typeface="Arial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25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What brought me this interest?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3418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1A5CFE-9FE9-03A1-20B7-5A89CC393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F77378-90C2-EA4D-3220-F4FA0E8AE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What brought me this interest?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D24FC6D-8364-4A10-6BC9-C8A73825B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10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4838D7E-2EAE-9DF5-4F7A-2A9AB651A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b="1" dirty="0"/>
              <a:t>My Pains at Optimisation of Messy Ecosystem of Rails App</a:t>
            </a:r>
          </a:p>
          <a:p>
            <a:r>
              <a:rPr lang="en-GB" sz="2400" dirty="0"/>
              <a:t>Nested domain namespaces: Systems and Accounts</a:t>
            </a:r>
          </a:p>
          <a:p>
            <a:pPr lvl="1"/>
            <a:r>
              <a:rPr lang="en-GB" sz="2000" dirty="0"/>
              <a:t>* Illustrated on </a:t>
            </a:r>
            <a:r>
              <a:rPr lang="en-GB" sz="2000" dirty="0">
                <a:hlinkClick r:id="rId3" action="ppaction://hlinksldjump"/>
              </a:rPr>
              <a:t>the next slide</a:t>
            </a:r>
            <a:endParaRPr lang="en-GB" sz="2000" dirty="0"/>
          </a:p>
          <a:p>
            <a:r>
              <a:rPr lang="en-GB" sz="2400" dirty="0"/>
              <a:t>Inconsistencies in implementation of logics and place</a:t>
            </a:r>
          </a:p>
          <a:p>
            <a:r>
              <a:rPr lang="en-GB" sz="2400" dirty="0"/>
              <a:t>Too redundant layers</a:t>
            </a:r>
          </a:p>
          <a:p>
            <a:pPr lvl="1"/>
            <a:r>
              <a:rPr lang="ja-JP" altLang="en-US" sz="2000" dirty="0"/>
              <a:t>→ </a:t>
            </a:r>
            <a:r>
              <a:rPr lang="en-GB" sz="2000" i="1" dirty="0"/>
              <a:t>CQRS</a:t>
            </a:r>
            <a:r>
              <a:rPr lang="en-GB" sz="2000" dirty="0"/>
              <a:t>, </a:t>
            </a:r>
            <a:r>
              <a:rPr lang="en-GB" sz="2000" i="1" dirty="0"/>
              <a:t>Forms</a:t>
            </a:r>
            <a:r>
              <a:rPr lang="en-GB" sz="2000" dirty="0"/>
              <a:t>, </a:t>
            </a:r>
            <a:r>
              <a:rPr lang="en-GB" sz="2000" i="1" dirty="0"/>
              <a:t>Validators</a:t>
            </a:r>
            <a:r>
              <a:rPr lang="en-GB" sz="2000" dirty="0"/>
              <a:t>, </a:t>
            </a:r>
            <a:r>
              <a:rPr lang="en-GB" sz="2000" i="1" dirty="0"/>
              <a:t>Decorators</a:t>
            </a:r>
            <a:r>
              <a:rPr lang="en-GB" sz="2000" dirty="0"/>
              <a:t>, </a:t>
            </a:r>
            <a:r>
              <a:rPr lang="en-GB" sz="2000" i="1" dirty="0"/>
              <a:t>Serializers</a:t>
            </a:r>
            <a:r>
              <a:rPr lang="en-GB" sz="2000" dirty="0"/>
              <a:t> etc.</a:t>
            </a:r>
          </a:p>
          <a:p>
            <a:r>
              <a:rPr lang="en-GB" sz="2400" dirty="0"/>
              <a:t>Unmanaged routing segregation between backend and frontend</a:t>
            </a:r>
          </a:p>
          <a:p>
            <a:r>
              <a:rPr lang="en-GB" sz="2400" dirty="0"/>
              <a:t>Not modular but "omnibus" monolith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ja-JP" altLang="en-US" sz="2400" b="1" dirty="0"/>
              <a:t>→</a:t>
            </a:r>
            <a:r>
              <a:rPr lang="en-GB" altLang="ja-JP" sz="2400" b="1" dirty="0"/>
              <a:t> No idea "What The Rails Way Is"!!</a:t>
            </a:r>
          </a:p>
        </p:txBody>
      </p:sp>
    </p:spTree>
    <p:extLst>
      <p:ext uri="{BB962C8B-B14F-4D97-AF65-F5344CB8AC3E}">
        <p14:creationId xmlns:p14="http://schemas.microsoft.com/office/powerpoint/2010/main" val="2381660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4267F8-98C9-2E17-7751-30B01B4E5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9">
            <a:extLst>
              <a:ext uri="{FF2B5EF4-FFF2-40B4-BE49-F238E27FC236}">
                <a16:creationId xmlns:a16="http://schemas.microsoft.com/office/drawing/2014/main" id="{C6CA6930-7D21-F604-27EE-731CB91F1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altLang="ja-JP" sz="2400" b="1" dirty="0"/>
              <a:t>Modular Monolith vs. Omnibus Monolith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D210C0F-36D9-1638-9C07-5D5ACCF0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11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7BEDD1-5A48-F62D-A42C-97CF68D833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" t="4" r="74245" b="62772"/>
          <a:stretch>
            <a:fillRect/>
          </a:stretch>
        </p:blipFill>
        <p:spPr>
          <a:xfrm>
            <a:off x="1856509" y="2235198"/>
            <a:ext cx="2001691" cy="39428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1D3E27-5382-F4A8-4B22-ABAB958F53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1" r="70124" b="64306"/>
          <a:stretch>
            <a:fillRect/>
          </a:stretch>
        </p:blipFill>
        <p:spPr>
          <a:xfrm>
            <a:off x="6530758" y="2235199"/>
            <a:ext cx="2724455" cy="394176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E821D1F-874E-9E40-A1B9-AA11E543CCAD}"/>
              </a:ext>
            </a:extLst>
          </p:cNvPr>
          <p:cNvSpPr/>
          <p:nvPr/>
        </p:nvSpPr>
        <p:spPr>
          <a:xfrm>
            <a:off x="7616143" y="3763568"/>
            <a:ext cx="401021" cy="1384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CD9FFC-6F13-0194-4532-60AC1107ABE1}"/>
              </a:ext>
            </a:extLst>
          </p:cNvPr>
          <p:cNvSpPr/>
          <p:nvPr/>
        </p:nvSpPr>
        <p:spPr>
          <a:xfrm>
            <a:off x="7593053" y="4503061"/>
            <a:ext cx="424111" cy="1566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E6FD09-B09C-4FD2-0798-09FD9F6F7A08}"/>
              </a:ext>
            </a:extLst>
          </p:cNvPr>
          <p:cNvSpPr/>
          <p:nvPr/>
        </p:nvSpPr>
        <p:spPr>
          <a:xfrm>
            <a:off x="7913990" y="3925454"/>
            <a:ext cx="1128410" cy="55418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70C0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EC6DD0E-83EB-EB8B-D6CE-B0790810A1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" t="56564" r="74245" b="398"/>
          <a:stretch>
            <a:fillRect/>
          </a:stretch>
        </p:blipFill>
        <p:spPr>
          <a:xfrm>
            <a:off x="3858200" y="2235199"/>
            <a:ext cx="1733129" cy="3947681"/>
          </a:xfrm>
          <a:prstGeom prst="rect">
            <a:avLst/>
          </a:prstGeom>
        </p:spPr>
      </p:pic>
      <p:sp>
        <p:nvSpPr>
          <p:cNvPr id="28" name="タイトル 1">
            <a:extLst>
              <a:ext uri="{FF2B5EF4-FFF2-40B4-BE49-F238E27FC236}">
                <a16:creationId xmlns:a16="http://schemas.microsoft.com/office/drawing/2014/main" id="{56499597-6D5A-0C6F-6CB6-E3346759D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What brought me this interest?</a:t>
            </a:r>
            <a:endParaRPr lang="en-GB" b="1" dirty="0">
              <a:latin typeface="Calibri (Headings)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2091AAE-8B73-2532-B3F2-B7E39787AAF1}"/>
              </a:ext>
            </a:extLst>
          </p:cNvPr>
          <p:cNvSpPr/>
          <p:nvPr/>
        </p:nvSpPr>
        <p:spPr>
          <a:xfrm>
            <a:off x="7616145" y="3564985"/>
            <a:ext cx="401021" cy="1384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3F4A4B-490A-B560-049E-3149709E99CF}"/>
              </a:ext>
            </a:extLst>
          </p:cNvPr>
          <p:cNvSpPr txBox="1"/>
          <p:nvPr/>
        </p:nvSpPr>
        <p:spPr>
          <a:xfrm>
            <a:off x="5874600" y="3902028"/>
            <a:ext cx="461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vs.</a:t>
            </a:r>
          </a:p>
        </p:txBody>
      </p:sp>
    </p:spTree>
    <p:extLst>
      <p:ext uri="{BB962C8B-B14F-4D97-AF65-F5344CB8AC3E}">
        <p14:creationId xmlns:p14="http://schemas.microsoft.com/office/powerpoint/2010/main" val="1289055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A23E6-A970-2A4F-AB3F-EDEA8E4F5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F35F84-2021-EE0D-F2E0-D09692B54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What brought me this interest?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3E151C9-F0E4-93E5-0741-508BA154A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12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4F82980-56B2-0C10-6B46-00BA1B3E2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A Rubyist published the post on </a:t>
            </a:r>
            <a:r>
              <a:rPr lang="en-GB" sz="2400" dirty="0">
                <a:hlinkClick r:id="rId3"/>
              </a:rPr>
              <a:t>Kaigi on Rails 2025</a:t>
            </a:r>
            <a:r>
              <a:rPr lang="en-GB" sz="2400" dirty="0"/>
              <a:t>, which said…</a:t>
            </a:r>
          </a:p>
          <a:p>
            <a:pPr marL="0" indent="0">
              <a:buNone/>
            </a:pPr>
            <a:endParaRPr lang="en-GB" sz="2400" dirty="0"/>
          </a:p>
          <a:p>
            <a:pPr marL="0" indent="0" algn="ctr">
              <a:buNone/>
            </a:pPr>
            <a:r>
              <a:rPr lang="en-GB" sz="3600" u="sng" dirty="0"/>
              <a:t>"What on earth is </a:t>
            </a:r>
            <a:r>
              <a:rPr lang="en-GB" sz="3600" b="1" u="sng" dirty="0"/>
              <a:t>The Rails Way</a:t>
            </a:r>
            <a:r>
              <a:rPr lang="en-GB" sz="3600" u="sng" dirty="0"/>
              <a:t>?"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426DB9-AF26-757D-ECA4-5718CC509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186" y="3429000"/>
            <a:ext cx="7377412" cy="274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1032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1F6B58-42C0-BDC8-B61B-AA288D422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034626-1123-5220-796E-C65DA0462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What brought me this interest?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45DD8F9-127C-8762-1E8A-D98403795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7E2E22-D3A2-F7C9-052A-55986409DD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191" y="1345580"/>
            <a:ext cx="5399049" cy="539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058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466B67-354B-2E7E-9544-FDFED1F30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8A35F7-57E4-8673-3A26-1F7A937C4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What brought me this interest?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88D7CE9-75AA-304E-AAE5-7DEEEAEDA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E4841CE-43DE-0463-4922-32DEBD1C0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b="1" dirty="0"/>
              <a:t>The Reasons to Agree</a:t>
            </a:r>
          </a:p>
          <a:p>
            <a:r>
              <a:rPr lang="en-GB" sz="2400" dirty="0"/>
              <a:t>No official definition of "The Rails Way"</a:t>
            </a:r>
          </a:p>
          <a:p>
            <a:pPr lvl="1"/>
            <a:r>
              <a:rPr lang="ja-JP" altLang="en-US" dirty="0"/>
              <a:t>→ </a:t>
            </a:r>
            <a:r>
              <a:rPr lang="en-GB" altLang="ja-JP" b="1" dirty="0"/>
              <a:t>So many Rubyists, so many "The Rails Ways"</a:t>
            </a:r>
            <a:endParaRPr lang="en-GB" b="1" dirty="0"/>
          </a:p>
          <a:p>
            <a:r>
              <a:rPr lang="en-GB" sz="2400" b="1" dirty="0"/>
              <a:t>MVC </a:t>
            </a:r>
            <a:r>
              <a:rPr lang="en-GB" sz="2400" dirty="0"/>
              <a:t>ecosystem and/or </a:t>
            </a:r>
            <a:r>
              <a:rPr lang="en-GB" sz="2400" b="1" dirty="0"/>
              <a:t>CoC</a:t>
            </a:r>
            <a:r>
              <a:rPr lang="en-GB" sz="2400" dirty="0"/>
              <a:t> philosophy of the framework?</a:t>
            </a:r>
          </a:p>
          <a:p>
            <a:pPr lvl="1"/>
            <a:r>
              <a:rPr lang="ja-JP" altLang="en-US" dirty="0"/>
              <a:t>→ </a:t>
            </a:r>
            <a:r>
              <a:rPr lang="en-GB" altLang="ja-JP" b="1" dirty="0"/>
              <a:t>Too ambiguous to be unanimous</a:t>
            </a:r>
            <a:endParaRPr lang="en-GB" b="1" dirty="0"/>
          </a:p>
          <a:p>
            <a:r>
              <a:rPr lang="en-GB" sz="2400" dirty="0"/>
              <a:t>Different from </a:t>
            </a:r>
            <a:r>
              <a:rPr lang="en-GB" sz="2400" i="1" dirty="0"/>
              <a:t>Omakase</a:t>
            </a:r>
            <a:r>
              <a:rPr lang="en-GB" sz="2400" dirty="0"/>
              <a:t>?</a:t>
            </a:r>
          </a:p>
          <a:p>
            <a:pPr lvl="1"/>
            <a:r>
              <a:rPr lang="ja-JP" altLang="en-US" dirty="0"/>
              <a:t>→ </a:t>
            </a:r>
            <a:r>
              <a:rPr lang="en-GB" altLang="ja-JP" b="1" dirty="0"/>
              <a:t>Even DHH does not describe it as "The Rails Way"</a:t>
            </a:r>
            <a:endParaRPr lang="en-GB" b="1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ja-JP" altLang="en-US" sz="2400" b="1" dirty="0"/>
              <a:t>→</a:t>
            </a:r>
            <a:r>
              <a:rPr lang="en-GB" altLang="ja-JP" sz="2400" b="1" dirty="0"/>
              <a:t> No more consensus on a Rails app architecture with "The Rails Way".</a:t>
            </a:r>
          </a:p>
          <a:p>
            <a:pPr marL="0" indent="0">
              <a:buNone/>
            </a:pPr>
            <a:endParaRPr lang="en-GB" altLang="ja-JP" sz="2400" b="1" dirty="0"/>
          </a:p>
        </p:txBody>
      </p:sp>
    </p:spTree>
    <p:extLst>
      <p:ext uri="{BB962C8B-B14F-4D97-AF65-F5344CB8AC3E}">
        <p14:creationId xmlns:p14="http://schemas.microsoft.com/office/powerpoint/2010/main" val="3001791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90C8E4-B0DC-1C53-C6D0-D35D6E627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1E76D9-866E-97F8-3F73-2629C0A5B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What brought me this interest?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A81024-C7B7-CD75-2365-D4D2954AE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0A7783C-6BB0-3437-1256-2ACD17002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2600" b="1" dirty="0"/>
          </a:p>
          <a:p>
            <a:pPr marL="0" indent="0" algn="ctr">
              <a:buNone/>
            </a:pPr>
            <a:endParaRPr lang="en-GB" sz="2600" b="1" dirty="0"/>
          </a:p>
          <a:p>
            <a:pPr marL="0" indent="0" algn="ctr">
              <a:buNone/>
            </a:pPr>
            <a:r>
              <a:rPr lang="en-GB" sz="2600" dirty="0"/>
              <a:t>❌Now is not the time to cry</a:t>
            </a:r>
          </a:p>
          <a:p>
            <a:pPr marL="0" indent="0" algn="ctr">
              <a:buNone/>
            </a:pPr>
            <a:r>
              <a:rPr lang="en-GB" altLang="ja-JP" sz="2600" b="1" dirty="0"/>
              <a:t>✅</a:t>
            </a:r>
            <a:r>
              <a:rPr lang="en-GB" altLang="ja-JP" sz="3200" b="1" dirty="0"/>
              <a:t>Now's the time to find out </a:t>
            </a:r>
            <a:r>
              <a:rPr lang="en-GB" altLang="ja-JP" sz="3200" b="1" strike="sngStrike" dirty="0"/>
              <a:t>why</a:t>
            </a:r>
            <a:r>
              <a:rPr lang="en-GB" altLang="ja-JP" sz="3200" b="1" dirty="0"/>
              <a:t> "The Rails Way"</a:t>
            </a:r>
            <a:endParaRPr lang="en-GB" altLang="ja-JP" sz="2600" b="1" dirty="0"/>
          </a:p>
          <a:p>
            <a:pPr marL="0" indent="0" algn="ctr">
              <a:buNone/>
            </a:pPr>
            <a:endParaRPr lang="en-GB" altLang="ja-JP" sz="2600" b="1" dirty="0"/>
          </a:p>
          <a:p>
            <a:pPr marL="0" indent="0" algn="r">
              <a:buNone/>
            </a:pPr>
            <a:r>
              <a:rPr lang="en-GB" altLang="ja-JP" sz="2400" dirty="0"/>
              <a:t>Live Forever - Oasis</a:t>
            </a:r>
          </a:p>
          <a:p>
            <a:pPr marL="0" indent="0" algn="ctr">
              <a:buNone/>
            </a:pPr>
            <a:endParaRPr lang="en-GB" altLang="ja-JP" sz="2400" b="1" dirty="0"/>
          </a:p>
        </p:txBody>
      </p:sp>
    </p:spTree>
    <p:extLst>
      <p:ext uri="{BB962C8B-B14F-4D97-AF65-F5344CB8AC3E}">
        <p14:creationId xmlns:p14="http://schemas.microsoft.com/office/powerpoint/2010/main" val="1024506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sz="3600" b="1" dirty="0">
                <a:latin typeface="Calibri (Headings)"/>
              </a:rPr>
              <a:t>2. Philosophy of "The Rails Way" -MVC vs. Layered-</a:t>
            </a:r>
            <a:endParaRPr lang="en-GB" sz="36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1934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sz="3600" b="1" dirty="0">
                <a:latin typeface="Calibri (Headings)"/>
              </a:rPr>
              <a:t>2. Philosophy of "The Rails Way" -MVC vs. Layered-</a:t>
            </a:r>
            <a:endParaRPr lang="en-GB" sz="36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17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altLang="ja-JP" sz="2600" b="1" dirty="0"/>
              <a:t>Traditional MVC Architecture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en-US" altLang="ja-JP" b="1" dirty="0"/>
              <a:t>Convention over Configuration</a:t>
            </a:r>
          </a:p>
          <a:p>
            <a:pPr marL="725488" lvl="2" indent="-268288">
              <a:tabLst>
                <a:tab pos="268288" algn="l"/>
              </a:tabLst>
            </a:pPr>
            <a:r>
              <a:rPr lang="en-GB" altLang="ja-JP" dirty="0"/>
              <a:t>Draws inference on as much functionality as possible</a:t>
            </a:r>
          </a:p>
          <a:p>
            <a:pPr marL="1074738" lvl="3" indent="-160338">
              <a:tabLst>
                <a:tab pos="268288" algn="l"/>
              </a:tabLst>
            </a:pPr>
            <a:r>
              <a:rPr lang="en-GB" altLang="ja-JP" dirty="0"/>
              <a:t>Based on object names and project structure</a:t>
            </a:r>
          </a:p>
          <a:p>
            <a:pPr marL="725488" lvl="2" indent="-268288">
              <a:tabLst>
                <a:tab pos="268288" algn="l"/>
              </a:tabLst>
            </a:pPr>
            <a:r>
              <a:rPr lang="en-US" altLang="ja-JP" dirty="0"/>
              <a:t>Focus less on setups and more on product development</a:t>
            </a:r>
          </a:p>
          <a:p>
            <a:pPr marL="725488" lvl="2" indent="-268288">
              <a:tabLst>
                <a:tab pos="268288" algn="l"/>
              </a:tabLst>
            </a:pPr>
            <a:r>
              <a:rPr lang="en-US" altLang="ja-JP" dirty="0"/>
              <a:t>Grammatical Inflections on the number</a:t>
            </a:r>
            <a:r>
              <a:rPr lang="en-GB" altLang="ja-JP" dirty="0"/>
              <a:t>(singular/plural) and the case(e.g. I-my-me)</a:t>
            </a:r>
            <a:endParaRPr lang="en-US" altLang="ja-JP" dirty="0"/>
          </a:p>
          <a:p>
            <a:pPr marL="1074738" lvl="3" indent="-160338">
              <a:tabLst>
                <a:tab pos="268288" algn="l"/>
              </a:tabLst>
            </a:pPr>
            <a:r>
              <a:rPr lang="en-US" altLang="ja-JP" dirty="0"/>
              <a:t>e.g. </a:t>
            </a:r>
            <a:r>
              <a:rPr lang="en-US" altLang="ja-JP" b="1" i="1" dirty="0"/>
              <a:t>User</a:t>
            </a:r>
            <a:r>
              <a:rPr lang="en-US" altLang="ja-JP" i="1" dirty="0"/>
              <a:t> </a:t>
            </a:r>
            <a:r>
              <a:rPr lang="en-US" altLang="ja-JP" dirty="0"/>
              <a:t>model corresponds to </a:t>
            </a:r>
            <a:r>
              <a:rPr lang="en-US" altLang="ja-JP" b="1" i="1" dirty="0"/>
              <a:t>users</a:t>
            </a:r>
            <a:r>
              <a:rPr lang="en-US" altLang="ja-JP" dirty="0"/>
              <a:t> table of the database</a:t>
            </a:r>
            <a:endParaRPr lang="en-US" altLang="ja-JP" i="1" dirty="0"/>
          </a:p>
          <a:p>
            <a:pPr marL="268288" lvl="1" indent="-268288">
              <a:tabLst>
                <a:tab pos="268288" algn="l"/>
              </a:tabLst>
            </a:pPr>
            <a:r>
              <a:rPr lang="en-US" altLang="ja-JP" b="1" dirty="0"/>
              <a:t>3 layers</a:t>
            </a:r>
            <a:r>
              <a:rPr lang="en-US" altLang="ja-JP" dirty="0"/>
              <a:t>: MVC</a:t>
            </a:r>
          </a:p>
          <a:p>
            <a:pPr marL="725488" lvl="2" indent="-268288">
              <a:tabLst>
                <a:tab pos="268288" algn="l"/>
              </a:tabLst>
            </a:pPr>
            <a:r>
              <a:rPr lang="en-US" altLang="ja-JP" b="1" dirty="0"/>
              <a:t>M</a:t>
            </a:r>
            <a:r>
              <a:rPr lang="en-US" altLang="ja-JP" dirty="0"/>
              <a:t>odels (ActiveRecord)</a:t>
            </a:r>
          </a:p>
          <a:p>
            <a:pPr marL="725488" lvl="2" indent="-268288">
              <a:tabLst>
                <a:tab pos="268288" algn="l"/>
              </a:tabLst>
            </a:pPr>
            <a:r>
              <a:rPr lang="en-US" altLang="ja-JP" b="1" dirty="0"/>
              <a:t>V</a:t>
            </a:r>
            <a:r>
              <a:rPr lang="en-US" altLang="ja-JP" dirty="0"/>
              <a:t>iews (ERB HTML templates)</a:t>
            </a:r>
          </a:p>
          <a:p>
            <a:pPr marL="725488" lvl="2" indent="-268288">
              <a:tabLst>
                <a:tab pos="268288" algn="l"/>
              </a:tabLst>
            </a:pPr>
            <a:r>
              <a:rPr lang="en-US" altLang="ja-JP" b="1" dirty="0"/>
              <a:t>C</a:t>
            </a:r>
            <a:r>
              <a:rPr lang="en-US" altLang="ja-JP" dirty="0"/>
              <a:t>ontrollers (Dataflow control)</a:t>
            </a:r>
          </a:p>
        </p:txBody>
      </p:sp>
    </p:spTree>
    <p:extLst>
      <p:ext uri="{BB962C8B-B14F-4D97-AF65-F5344CB8AC3E}">
        <p14:creationId xmlns:p14="http://schemas.microsoft.com/office/powerpoint/2010/main" val="2302870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7952D0-DE69-098A-ECD2-627936B94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FDFDB8-AF26-838C-C855-3C3164F11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sz="3600" b="1" dirty="0">
                <a:latin typeface="Calibri (Headings)"/>
              </a:rPr>
              <a:t>2. Philosophy of "The Rails Way" -MVC vs. Layered-</a:t>
            </a:r>
            <a:endParaRPr lang="en-GB" sz="36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070AD4A-5315-3C46-4AD4-7833FAE58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18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E7F564AC-A53F-CD05-8EA7-7E2AE93AD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lvl="1" indent="0">
              <a:buNone/>
            </a:pPr>
            <a:r>
              <a:rPr lang="en-US" altLang="ja-JP" sz="2600" b="1" dirty="0"/>
              <a:t>Extended/Layered Architecture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en-GB" altLang="ja-JP" b="1" dirty="0"/>
              <a:t>Structured abstractions</a:t>
            </a:r>
            <a:r>
              <a:rPr lang="en-GB" altLang="ja-JP" dirty="0"/>
              <a:t>: Role Segregations</a:t>
            </a:r>
          </a:p>
          <a:p>
            <a:pPr marL="725488" lvl="2" indent="-268288">
              <a:tabLst>
                <a:tab pos="268288" algn="l"/>
              </a:tabLst>
            </a:pPr>
            <a:r>
              <a:rPr lang="en-GB" altLang="ja-JP" dirty="0"/>
              <a:t>Encapsulated Logic</a:t>
            </a:r>
          </a:p>
          <a:p>
            <a:pPr marL="1074738" lvl="3" indent="-160338">
              <a:tabLst>
                <a:tab pos="268288" algn="l"/>
              </a:tabLst>
            </a:pPr>
            <a:r>
              <a:rPr lang="en-GB" altLang="ja-JP" dirty="0"/>
              <a:t>Focus less on the detailed logics and more on external behaviours</a:t>
            </a:r>
          </a:p>
          <a:p>
            <a:pPr marL="1074738" lvl="3" indent="-160338">
              <a:tabLst>
                <a:tab pos="268288" algn="l"/>
              </a:tabLst>
            </a:pPr>
            <a:r>
              <a:rPr lang="ja-JP" altLang="en-US" dirty="0"/>
              <a:t>→ </a:t>
            </a:r>
            <a:r>
              <a:rPr lang="en-GB" altLang="ja-JP" dirty="0"/>
              <a:t>Object Oriented</a:t>
            </a:r>
          </a:p>
          <a:p>
            <a:pPr marL="725488" lvl="2" indent="-268288">
              <a:tabLst>
                <a:tab pos="268288" algn="l"/>
              </a:tabLst>
            </a:pPr>
            <a:r>
              <a:rPr lang="en-GB" altLang="ja-JP" dirty="0"/>
              <a:t>One-on-one single and clear responsibility assignments</a:t>
            </a:r>
          </a:p>
          <a:p>
            <a:pPr marL="725488" lvl="2" indent="-268288">
              <a:tabLst>
                <a:tab pos="268288" algn="l"/>
              </a:tabLst>
            </a:pPr>
            <a:r>
              <a:rPr lang="en-GB" altLang="ja-JP" dirty="0"/>
              <a:t>Thinner controllers and models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en-GB" altLang="ja-JP" b="1" dirty="0"/>
              <a:t>5 (or more) specialized layers</a:t>
            </a:r>
            <a:r>
              <a:rPr lang="en-GB" altLang="ja-JP" dirty="0"/>
              <a:t>:</a:t>
            </a:r>
          </a:p>
          <a:p>
            <a:pPr marL="725488" lvl="2" indent="-268288">
              <a:tabLst>
                <a:tab pos="268288" algn="l"/>
              </a:tabLst>
            </a:pPr>
            <a:r>
              <a:rPr lang="en-GB" altLang="ja-JP" dirty="0"/>
              <a:t>Presentation</a:t>
            </a:r>
          </a:p>
          <a:p>
            <a:pPr marL="725488" lvl="2" indent="-268288">
              <a:tabLst>
                <a:tab pos="268288" algn="l"/>
              </a:tabLst>
            </a:pPr>
            <a:r>
              <a:rPr lang="en-GB" altLang="ja-JP" dirty="0"/>
              <a:t>Business/Domain</a:t>
            </a:r>
          </a:p>
          <a:p>
            <a:pPr marL="725488" lvl="2" indent="-268288">
              <a:tabLst>
                <a:tab pos="268288" algn="l"/>
              </a:tabLst>
            </a:pPr>
            <a:r>
              <a:rPr lang="en-GB" altLang="ja-JP" dirty="0"/>
              <a:t>Application/Service</a:t>
            </a:r>
          </a:p>
          <a:p>
            <a:pPr marL="725488" lvl="2" indent="-268288">
              <a:tabLst>
                <a:tab pos="268288" algn="l"/>
              </a:tabLst>
            </a:pPr>
            <a:r>
              <a:rPr lang="en-GB" altLang="ja-JP" dirty="0"/>
              <a:t>Data/Persistence</a:t>
            </a:r>
          </a:p>
          <a:p>
            <a:pPr marL="725488" lvl="2" indent="-268288">
              <a:tabLst>
                <a:tab pos="268288" algn="l"/>
              </a:tabLst>
            </a:pPr>
            <a:r>
              <a:rPr lang="en-GB" altLang="ja-JP" dirty="0"/>
              <a:t>Infrastructure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84337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85D0C5-CAEB-C466-C04D-CBAF267BE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9B5066-F3CA-32A4-1468-18A8D1868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sz="3600" b="1" dirty="0">
                <a:latin typeface="Calibri (Headings)"/>
              </a:rPr>
              <a:t>2. Philosophy of "The Rails Way" -MVC vs. Layered-</a:t>
            </a:r>
            <a:endParaRPr lang="en-GB" sz="36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263AEA0-6CA8-1944-8C03-54FE19D68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19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5B7CCE-0B97-2C9C-784E-DA5FC8DDC293}"/>
              </a:ext>
            </a:extLst>
          </p:cNvPr>
          <p:cNvSpPr txBox="1"/>
          <p:nvPr/>
        </p:nvSpPr>
        <p:spPr>
          <a:xfrm>
            <a:off x="5874600" y="3902028"/>
            <a:ext cx="461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vs.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D50A8FA-94FC-7E45-58FA-490D5D67D0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r="25357" b="18111"/>
          <a:stretch>
            <a:fillRect/>
          </a:stretch>
        </p:blipFill>
        <p:spPr>
          <a:xfrm>
            <a:off x="6532292" y="1299301"/>
            <a:ext cx="2508104" cy="49527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7EE8CC-17EB-6DEB-667E-4FE528182E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-1" r="21888" b="40686"/>
          <a:stretch>
            <a:fillRect/>
          </a:stretch>
        </p:blipFill>
        <p:spPr>
          <a:xfrm>
            <a:off x="1518358" y="1299301"/>
            <a:ext cx="4068001" cy="494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057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sz="3600" b="1" dirty="0">
                <a:latin typeface="Calibri (Headings)"/>
              </a:rPr>
              <a:t>3. Key Responsibilities -MVC vs. Layered-</a:t>
            </a:r>
            <a:endParaRPr lang="en-GB" sz="36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6303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sz="3600" b="1" dirty="0">
                <a:latin typeface="Calibri (Headings)"/>
              </a:rPr>
              <a:t>3. Key Responsibilities -MVC vs. Layered-</a:t>
            </a:r>
            <a:endParaRPr lang="en-GB" sz="36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21</a:t>
            </a:fld>
            <a:endParaRPr lang="en-GB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CF665A90-92C5-D06E-4CD4-D05137D2AB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4245278"/>
              </p:ext>
            </p:extLst>
          </p:nvPr>
        </p:nvGraphicFramePr>
        <p:xfrm>
          <a:off x="838200" y="1299301"/>
          <a:ext cx="10515597" cy="494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7371">
                  <a:extLst>
                    <a:ext uri="{9D8B030D-6E8A-4147-A177-3AD203B41FA5}">
                      <a16:colId xmlns:a16="http://schemas.microsoft.com/office/drawing/2014/main" val="1589600711"/>
                    </a:ext>
                  </a:extLst>
                </a:gridCol>
                <a:gridCol w="5151863">
                  <a:extLst>
                    <a:ext uri="{9D8B030D-6E8A-4147-A177-3AD203B41FA5}">
                      <a16:colId xmlns:a16="http://schemas.microsoft.com/office/drawing/2014/main" val="3344451167"/>
                    </a:ext>
                  </a:extLst>
                </a:gridCol>
                <a:gridCol w="3726363">
                  <a:extLst>
                    <a:ext uri="{9D8B030D-6E8A-4147-A177-3AD203B41FA5}">
                      <a16:colId xmlns:a16="http://schemas.microsoft.com/office/drawing/2014/main" val="4033865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Responsibility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Layered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384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en-GB" i="1" dirty="0"/>
                        <a:t>app/controllers/*_controller.rb</a:t>
                      </a:r>
                      <a:r>
                        <a:rPr lang="en-GB" i="0" dirty="0"/>
                        <a:t>: </a:t>
                      </a:r>
                      <a:r>
                        <a:rPr lang="en-GB" dirty="0"/>
                        <a:t>Instance variables</a:t>
                      </a:r>
                      <a:endParaRPr lang="en-GB" i="1" dirty="0"/>
                    </a:p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en-GB" i="1" dirty="0"/>
                        <a:t>app/helper/*_helper.rb</a:t>
                      </a:r>
                      <a:r>
                        <a:rPr lang="en-GB" i="0" dirty="0"/>
                        <a:t>: </a:t>
                      </a:r>
                      <a:r>
                        <a:rPr lang="en-GB" dirty="0"/>
                        <a:t>Custom helper methods</a:t>
                      </a:r>
                      <a:endParaRPr lang="en-GB" i="1" dirty="0"/>
                    </a:p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hlinkClick r:id="rId3"/>
                        </a:rPr>
                        <a:t>ActiveModel::Serializers::JSON#as_json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en-GB" i="1" dirty="0"/>
                        <a:t>app/serializers/*_serializer.rb</a:t>
                      </a:r>
                    </a:p>
                    <a:p>
                      <a:pPr marL="177800" marR="0" lvl="0" indent="-177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i="1" dirty="0"/>
                        <a:t>app/view/components/</a:t>
                      </a:r>
                    </a:p>
                    <a:p>
                      <a:pPr marL="177800" marR="0" lvl="0" indent="-177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i="1" dirty="0"/>
                        <a:t>app/view/presenters/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329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Form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marR="0" lvl="0" indent="-177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i="1" dirty="0"/>
                        <a:t>app/controllers/*_controller.rb</a:t>
                      </a:r>
                      <a:r>
                        <a:rPr lang="en-GB" i="0" dirty="0"/>
                        <a:t>: </a:t>
                      </a:r>
                      <a:r>
                        <a:rPr lang="en-GB" dirty="0"/>
                        <a:t>Strong parameters</a:t>
                      </a:r>
                    </a:p>
                    <a:p>
                      <a:pPr marL="177800" marR="0" lvl="0" indent="-177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i="1" dirty="0"/>
                        <a:t>app/model/*.rb</a:t>
                      </a:r>
                      <a:r>
                        <a:rPr lang="en-GB" i="0" dirty="0"/>
                        <a:t>: </a:t>
                      </a:r>
                      <a:r>
                        <a:rPr lang="en-GB" dirty="0"/>
                        <a:t>Validations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i="1" dirty="0"/>
                        <a:t>app/forms/*_form.rb</a:t>
                      </a:r>
                      <a:endParaRPr lang="en-GB" b="1" dirty="0"/>
                    </a:p>
                    <a:p>
                      <a:r>
                        <a:rPr lang="en-GB" dirty="0"/>
                        <a:t>(context-sensitive)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3422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Business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b="1" i="0" dirty="0"/>
                        <a:t>Scattered Everywhere</a:t>
                      </a:r>
                    </a:p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en-GB" i="1" dirty="0"/>
                        <a:t>app/controllers/*_controller.rb</a:t>
                      </a:r>
                      <a:r>
                        <a:rPr lang="en-GB" i="0" dirty="0"/>
                        <a:t>(including concerns)</a:t>
                      </a:r>
                    </a:p>
                    <a:p>
                      <a:pPr marL="177800" marR="0" lvl="0" indent="-177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i="1" dirty="0"/>
                        <a:t>app/model/*.rb</a:t>
                      </a:r>
                      <a:r>
                        <a:rPr lang="en-GB" i="0" dirty="0"/>
                        <a:t>(including concerns)</a:t>
                      </a:r>
                    </a:p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en-GB" i="1" dirty="0"/>
                        <a:t>app/views/*.html.erb</a:t>
                      </a:r>
                      <a:r>
                        <a:rPr lang="en-GB" i="0" dirty="0"/>
                        <a:t>(⚠️anti-pattern) etc.</a:t>
                      </a:r>
                      <a:endParaRPr lang="en-GB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en-GB" i="1" dirty="0"/>
                        <a:t>app/model/*.rb</a:t>
                      </a:r>
                    </a:p>
                    <a:p>
                      <a:pPr marL="177800" marR="0" lvl="0" indent="-177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b="1" i="1" dirty="0"/>
                        <a:t>app/services/*_service.rb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48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Authorization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marR="0" lvl="0" indent="-177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i="1" dirty="0"/>
                        <a:t>app/controllers/*_controller.rb</a:t>
                      </a:r>
                      <a:r>
                        <a:rPr lang="en-GB" i="0" dirty="0"/>
                        <a:t>: Callbacks</a:t>
                      </a:r>
                    </a:p>
                    <a:p>
                      <a:pPr marL="177800" marR="0" lvl="0" indent="-177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i="1" dirty="0"/>
                        <a:t>app/model/*.rb</a:t>
                      </a:r>
                      <a:r>
                        <a:rPr lang="en-GB" i="0" dirty="0"/>
                        <a:t>: Attributes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i="1" dirty="0"/>
                        <a:t>app/policies/*_policy.rb</a:t>
                      </a:r>
                    </a:p>
                    <a:p>
                      <a:r>
                        <a:rPr lang="en-GB" dirty="0"/>
                        <a:t>(single source of truth)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599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Data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b="1" i="0" dirty="0"/>
                        <a:t>Executed Everywhere</a:t>
                      </a:r>
                      <a:endParaRPr lang="en-GB" i="1" dirty="0"/>
                    </a:p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en-GB" i="1" dirty="0"/>
                        <a:t>app/controllers/*_controller.rb</a:t>
                      </a:r>
                      <a:r>
                        <a:rPr lang="en-GB" i="0" dirty="0"/>
                        <a:t>(including concerns)</a:t>
                      </a:r>
                    </a:p>
                    <a:p>
                      <a:pPr marL="177800" marR="0" lvl="0" indent="-177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i="1" dirty="0"/>
                        <a:t>app/model/*.rb</a:t>
                      </a:r>
                      <a:r>
                        <a:rPr lang="en-GB" i="0" dirty="0"/>
                        <a:t>(including concerns)</a:t>
                      </a:r>
                    </a:p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en-GB" i="1" dirty="0"/>
                        <a:t>app/views/*.</a:t>
                      </a:r>
                      <a:r>
                        <a:rPr lang="en-GB" i="1" dirty="0" err="1"/>
                        <a:t>html.erb</a:t>
                      </a:r>
                      <a:r>
                        <a:rPr lang="en-GB" i="0" dirty="0"/>
                        <a:t>(⚠️anti-pattern) etc.</a:t>
                      </a:r>
                      <a:endParaRPr lang="en-GB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marR="0" lvl="0" indent="-177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b="1" i="1" dirty="0"/>
                        <a:t>app/commands/*_command.rb</a:t>
                      </a:r>
                    </a:p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en-GB" i="1" dirty="0"/>
                        <a:t>app/repositories/*_repository.rb</a:t>
                      </a:r>
                    </a:p>
                    <a:p>
                      <a:pPr marL="177800" marR="0" lvl="0" indent="-177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b="1" i="1" dirty="0"/>
                        <a:t>app/queries/*_query.rb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792701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AF0360F8-01FA-0E42-1990-B784766245C2}"/>
              </a:ext>
            </a:extLst>
          </p:cNvPr>
          <p:cNvSpPr/>
          <p:nvPr/>
        </p:nvSpPr>
        <p:spPr>
          <a:xfrm>
            <a:off x="838197" y="3241114"/>
            <a:ext cx="10515597" cy="11775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5A8307-7FCC-DB9B-3679-10A1EEB7A990}"/>
              </a:ext>
            </a:extLst>
          </p:cNvPr>
          <p:cNvSpPr/>
          <p:nvPr/>
        </p:nvSpPr>
        <p:spPr>
          <a:xfrm>
            <a:off x="838200" y="5064572"/>
            <a:ext cx="10515597" cy="11775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040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sz="3200" b="1" dirty="0">
                <a:latin typeface="Calibri (Headings)"/>
              </a:rPr>
              <a:t>4. Key Components of The Extended Rails Way(Layered)</a:t>
            </a:r>
            <a:endParaRPr lang="en-GB" sz="32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51649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sz="3200" b="1" dirty="0">
                <a:latin typeface="Calibri (Headings)"/>
              </a:rPr>
              <a:t>4. Key Components of The Extended Rails Way(Layered)</a:t>
            </a:r>
            <a:endParaRPr lang="en-GB" sz="32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23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581FCEBD-6E62-A03A-71ED-E222D7C9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altLang="ja-JP" sz="2600" b="1" dirty="0"/>
              <a:t>4-1. Presentation Layer</a:t>
            </a:r>
          </a:p>
          <a:p>
            <a:pPr marL="268288" lvl="1" indent="-268288"/>
            <a:r>
              <a:rPr lang="en-US" altLang="ja-JP" b="1" dirty="0">
                <a:hlinkClick r:id="rId3"/>
              </a:rPr>
              <a:t>View Components</a:t>
            </a:r>
            <a:r>
              <a:rPr lang="en-US" altLang="ja-JP" dirty="0"/>
              <a:t>: Explicit interfaces</a:t>
            </a:r>
          </a:p>
          <a:p>
            <a:pPr marL="268288" lvl="1" indent="-268288"/>
            <a:r>
              <a:rPr lang="en-US" altLang="ja-JP" b="1" dirty="0">
                <a:hlinkClick r:id="rId4"/>
              </a:rPr>
              <a:t>Presenters</a:t>
            </a:r>
            <a:r>
              <a:rPr lang="en-US" altLang="ja-JP" dirty="0"/>
              <a:t>: Context-aware formatting</a:t>
            </a:r>
          </a:p>
          <a:p>
            <a:pPr marL="268288" lvl="1" indent="-268288"/>
            <a:r>
              <a:rPr lang="en-US" altLang="ja-JP" b="1" dirty="0">
                <a:hlinkClick r:id="rId5"/>
              </a:rPr>
              <a:t>Serializers</a:t>
            </a:r>
            <a:r>
              <a:rPr lang="en-US" altLang="ja-JP" dirty="0"/>
              <a:t>: API contracts, versioning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37876775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4F1148-38B6-CB64-1B96-725B0A8E0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DB188A-6647-E2D5-81FB-2F88F178A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sz="3200" b="1" dirty="0">
                <a:latin typeface="Calibri (Headings)"/>
              </a:rPr>
              <a:t>4. Key Components of The Extended Rails Way(Layered)</a:t>
            </a:r>
            <a:endParaRPr lang="en-GB" sz="32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E93879-4747-EFB0-EABE-A2A0FF782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24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3EF3C92D-5077-DF1D-8000-AE6FF86CE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altLang="ja-JP" sz="2600" b="1" dirty="0"/>
              <a:t>4-2. Application/Service Layer</a:t>
            </a:r>
          </a:p>
          <a:p>
            <a:pPr marL="268288" lvl="1" indent="-268288"/>
            <a:r>
              <a:rPr lang="en-US" altLang="ja-JP" b="1" dirty="0">
                <a:hlinkClick r:id="rId3"/>
              </a:rPr>
              <a:t>Service Objects</a:t>
            </a:r>
            <a:r>
              <a:rPr lang="en-US" altLang="ja-JP" dirty="0"/>
              <a:t>:</a:t>
            </a:r>
            <a:r>
              <a:rPr lang="en-US" altLang="ja-JP" b="1" dirty="0"/>
              <a:t> </a:t>
            </a:r>
            <a:r>
              <a:rPr lang="en-US" altLang="ja-JP" dirty="0"/>
              <a:t>Single business operation</a:t>
            </a:r>
          </a:p>
          <a:p>
            <a:pPr marL="268288" lvl="1" indent="-268288"/>
            <a:r>
              <a:rPr lang="en-US" altLang="ja-JP" b="1" dirty="0">
                <a:hlinkClick r:id="rId4"/>
              </a:rPr>
              <a:t>Form Objects</a:t>
            </a:r>
            <a:r>
              <a:rPr lang="en-US" altLang="ja-JP" dirty="0"/>
              <a:t>:</a:t>
            </a:r>
            <a:r>
              <a:rPr lang="en-US" altLang="ja-JP" b="1" dirty="0"/>
              <a:t> </a:t>
            </a:r>
            <a:r>
              <a:rPr lang="en-US" altLang="ja-JP" dirty="0"/>
              <a:t>Multi-model operations, context validations</a:t>
            </a:r>
          </a:p>
          <a:p>
            <a:pPr marL="268288" lvl="1" indent="-268288"/>
            <a:r>
              <a:rPr lang="en-US" altLang="ja-JP" b="1" dirty="0">
                <a:hlinkClick r:id="rId5"/>
              </a:rPr>
              <a:t>Filter Objects</a:t>
            </a:r>
            <a:r>
              <a:rPr lang="en-US" altLang="ja-JP" dirty="0"/>
              <a:t>:</a:t>
            </a:r>
            <a:r>
              <a:rPr lang="en-US" altLang="ja-JP" b="1" dirty="0"/>
              <a:t> </a:t>
            </a:r>
            <a:r>
              <a:rPr lang="en-US" altLang="ja-JP" dirty="0"/>
              <a:t>User-driven queries</a:t>
            </a:r>
          </a:p>
        </p:txBody>
      </p:sp>
    </p:spTree>
    <p:extLst>
      <p:ext uri="{BB962C8B-B14F-4D97-AF65-F5344CB8AC3E}">
        <p14:creationId xmlns:p14="http://schemas.microsoft.com/office/powerpoint/2010/main" val="1026905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74AD18-45E0-FF38-2BF6-0A7904B86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F24F33-81C6-365C-F28B-FE6887466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sz="3200" b="1" dirty="0">
                <a:latin typeface="Calibri (Headings)"/>
              </a:rPr>
              <a:t>4. Key Components of The Extended Rails Way(Layered)</a:t>
            </a:r>
            <a:endParaRPr lang="en-GB" sz="32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3B2DD83-1C36-3AD3-3FFD-3A53CB522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25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609E5BE1-BF34-BC9A-B958-B7294D29D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altLang="ja-JP" sz="2600" b="1" dirty="0"/>
              <a:t>4-3. Business/Domain Layer</a:t>
            </a:r>
          </a:p>
          <a:p>
            <a:pPr marL="268288" lvl="1" indent="-268288"/>
            <a:r>
              <a:rPr lang="en-US" altLang="ja-JP" b="1" dirty="0">
                <a:hlinkClick r:id="rId3"/>
              </a:rPr>
              <a:t>Domain Models</a:t>
            </a:r>
            <a:r>
              <a:rPr lang="en-US" altLang="ja-JP" dirty="0"/>
              <a:t>:</a:t>
            </a:r>
            <a:r>
              <a:rPr lang="en-US" altLang="ja-JP" b="1" dirty="0"/>
              <a:t> </a:t>
            </a:r>
            <a:r>
              <a:rPr lang="en-US" altLang="ja-JP" dirty="0"/>
              <a:t>Rich behavior, no persistence details</a:t>
            </a:r>
          </a:p>
          <a:p>
            <a:pPr marL="268288" lvl="1" indent="-268288"/>
            <a:r>
              <a:rPr lang="en-US" altLang="ja-JP" b="1" dirty="0">
                <a:hlinkClick r:id="rId4"/>
              </a:rPr>
              <a:t>Policy Objects</a:t>
            </a:r>
            <a:r>
              <a:rPr lang="en-US" altLang="ja-JP" dirty="0"/>
              <a:t>:</a:t>
            </a:r>
            <a:r>
              <a:rPr lang="en-US" altLang="ja-JP" b="1" dirty="0"/>
              <a:t> </a:t>
            </a:r>
            <a:r>
              <a:rPr lang="en-US" altLang="ja-JP" dirty="0"/>
              <a:t>Authorization rules</a:t>
            </a:r>
          </a:p>
          <a:p>
            <a:pPr marL="268288" lvl="1" indent="-268288"/>
            <a:r>
              <a:rPr lang="en-US" altLang="ja-JP" b="1" dirty="0">
                <a:hlinkClick r:id="rId5"/>
              </a:rPr>
              <a:t>Value Objects</a:t>
            </a:r>
            <a:r>
              <a:rPr lang="en-US" altLang="ja-JP" dirty="0"/>
              <a:t>:</a:t>
            </a:r>
            <a:r>
              <a:rPr lang="en-US" altLang="ja-JP" b="1" dirty="0"/>
              <a:t> </a:t>
            </a:r>
            <a:r>
              <a:rPr lang="en-US" altLang="ja-JP" dirty="0"/>
              <a:t>Immutable domain concepts</a:t>
            </a:r>
          </a:p>
        </p:txBody>
      </p:sp>
    </p:spTree>
    <p:extLst>
      <p:ext uri="{BB962C8B-B14F-4D97-AF65-F5344CB8AC3E}">
        <p14:creationId xmlns:p14="http://schemas.microsoft.com/office/powerpoint/2010/main" val="633317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0E3291-566F-4403-464B-41E6FE0B7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0B5BA6-AD38-43EF-1A11-4E4E3C6DB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sz="3200" b="1" dirty="0">
                <a:latin typeface="Calibri (Headings)"/>
              </a:rPr>
              <a:t>4. Key Components of The Extended Rails Way(Layered)</a:t>
            </a:r>
            <a:endParaRPr lang="en-GB" sz="32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5CDC5C-E357-8E66-8F09-CF0832943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26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87509ED-0892-24C8-BA66-516AECC84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altLang="ja-JP" sz="2600" b="1" dirty="0"/>
              <a:t>4-4. Data/Persistence Layer</a:t>
            </a:r>
          </a:p>
          <a:p>
            <a:pPr marL="268288" lvl="1" indent="-268288"/>
            <a:r>
              <a:rPr lang="en-US" altLang="ja-JP" b="1" dirty="0">
                <a:hlinkClick r:id="rId3"/>
              </a:rPr>
              <a:t>Repositories</a:t>
            </a:r>
            <a:r>
              <a:rPr lang="en-US" altLang="ja-JP" dirty="0"/>
              <a:t>: Data access abstraction</a:t>
            </a:r>
          </a:p>
          <a:p>
            <a:pPr marL="268288" lvl="1" indent="-268288"/>
            <a:r>
              <a:rPr lang="en-US" altLang="ja-JP" b="1" dirty="0">
                <a:hlinkClick r:id="rId4"/>
              </a:rPr>
              <a:t>Query Objects</a:t>
            </a:r>
            <a:r>
              <a:rPr lang="en-US" altLang="ja-JP" dirty="0"/>
              <a:t>: Reusable complex queries</a:t>
            </a:r>
          </a:p>
          <a:p>
            <a:pPr marL="268288" lvl="1" indent="-268288"/>
            <a:r>
              <a:rPr lang="en-US" altLang="ja-JP" b="1" dirty="0">
                <a:hlinkClick r:id="rId5"/>
              </a:rPr>
              <a:t>ActiveRecord</a:t>
            </a:r>
            <a:r>
              <a:rPr lang="en-US" altLang="ja-JP" dirty="0"/>
              <a:t>: Stripped down to persistence only</a:t>
            </a:r>
          </a:p>
        </p:txBody>
      </p:sp>
    </p:spTree>
    <p:extLst>
      <p:ext uri="{BB962C8B-B14F-4D97-AF65-F5344CB8AC3E}">
        <p14:creationId xmlns:p14="http://schemas.microsoft.com/office/powerpoint/2010/main" val="40608954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05181-6BFE-D755-ACCE-FCC4FD89E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162706-7256-C136-892A-0BA44F79D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5. Pros &amp; Cons</a:t>
            </a:r>
            <a:endParaRPr lang="en-GB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D8EBBB5-3CD3-2D8E-FBD9-27FC85B30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51137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DD6C51-166E-B0D3-0C1A-B31E2ACA2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C3D8DD-4700-FF83-147D-3349DEDC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5. Pros &amp; Cons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684BB04-89DC-2351-6D33-AAFCD2363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28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E38D3048-2D8A-0286-074C-EA6EEA63D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altLang="ja-JP" sz="2600" b="1" dirty="0"/>
              <a:t>The Traditional MVC Architecture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ja-JP" altLang="en-GB" dirty="0"/>
              <a:t>👍</a:t>
            </a:r>
            <a:r>
              <a:rPr lang="en-GB" altLang="ja-JP" b="1" dirty="0"/>
              <a:t>Rapid Development</a:t>
            </a:r>
            <a:r>
              <a:rPr lang="en-GB" altLang="ja-JP" dirty="0"/>
              <a:t>: Accessible built-in commands and generators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ja-JP" altLang="en-GB" dirty="0"/>
              <a:t>👍</a:t>
            </a:r>
            <a:r>
              <a:rPr lang="en-GB" altLang="ja-JP" b="1" dirty="0"/>
              <a:t>Convention over Configuration</a:t>
            </a:r>
            <a:r>
              <a:rPr lang="en-GB" altLang="ja-JP" dirty="0"/>
              <a:t>: More productive with the least extensive configurations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ja-JP" altLang="en-GB" dirty="0"/>
              <a:t>👍</a:t>
            </a:r>
            <a:r>
              <a:rPr lang="en-GB" altLang="ja-JP" b="1" dirty="0"/>
              <a:t>Rich Ecosystem of Gems</a:t>
            </a:r>
            <a:r>
              <a:rPr lang="en-GB" altLang="ja-JP" dirty="0"/>
              <a:t>: The maximum focus on </a:t>
            </a:r>
            <a:r>
              <a:rPr lang="en-GB" altLang="ja-JP" dirty="0">
                <a:hlinkClick r:id="rId3"/>
              </a:rPr>
              <a:t>Core Subdomains</a:t>
            </a:r>
            <a:endParaRPr lang="en-GB" altLang="ja-JP" dirty="0"/>
          </a:p>
          <a:p>
            <a:pPr marL="268288" lvl="1" indent="-268288">
              <a:tabLst>
                <a:tab pos="268288" algn="l"/>
              </a:tabLst>
            </a:pPr>
            <a:r>
              <a:rPr lang="ja-JP" altLang="en-GB" dirty="0"/>
              <a:t>👍</a:t>
            </a:r>
            <a:r>
              <a:rPr lang="en-GB" altLang="ja-JP" b="1" dirty="0"/>
              <a:t>Plenty of Resources</a:t>
            </a:r>
            <a:r>
              <a:rPr lang="en-GB" altLang="ja-JP" dirty="0"/>
              <a:t>: Accessible to large supportive communities, documents, tutorials and other sources of information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ja-JP" altLang="en-GB" dirty="0"/>
              <a:t>👍</a:t>
            </a:r>
            <a:r>
              <a:rPr lang="en-GB" altLang="ja-JP" b="1" dirty="0"/>
              <a:t>Built-in Security Features</a:t>
            </a:r>
            <a:r>
              <a:rPr lang="en-GB" altLang="ja-JP" dirty="0"/>
              <a:t>: Built-in security against web vulnerabilities like </a:t>
            </a:r>
            <a:r>
              <a:rPr lang="en-GB" altLang="ja-JP" i="1" dirty="0"/>
              <a:t>XSS</a:t>
            </a:r>
            <a:r>
              <a:rPr lang="en-GB" altLang="ja-JP" dirty="0"/>
              <a:t>, </a:t>
            </a:r>
            <a:r>
              <a:rPr lang="en-GB" altLang="ja-JP" i="1" dirty="0"/>
              <a:t>CSRF</a:t>
            </a:r>
            <a:r>
              <a:rPr lang="en-GB" altLang="ja-JP" dirty="0"/>
              <a:t>, and </a:t>
            </a:r>
            <a:r>
              <a:rPr lang="en-GB" altLang="ja-JP" i="1" dirty="0"/>
              <a:t>SQL injection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ja-JP" altLang="en-GB" dirty="0"/>
              <a:t>👍</a:t>
            </a:r>
            <a:r>
              <a:rPr lang="en-GB" altLang="ja-JP" b="1" dirty="0"/>
              <a:t>Best Practice Provisions</a:t>
            </a:r>
            <a:r>
              <a:rPr lang="en-GB" altLang="ja-JP" dirty="0"/>
              <a:t>: Maintainable and reliable codebases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ja-JP" altLang="en-GB" dirty="0"/>
              <a:t>👍</a:t>
            </a:r>
            <a:r>
              <a:rPr lang="en-GB" altLang="ja-JP" b="1" dirty="0"/>
              <a:t>Programmer Happiness</a:t>
            </a:r>
            <a:r>
              <a:rPr lang="en-GB" altLang="ja-JP" dirty="0"/>
              <a:t>: "</a:t>
            </a:r>
            <a:r>
              <a:rPr lang="en-GB" altLang="ja-JP" i="1" dirty="0"/>
              <a:t>Do what you love and success will follow.</a:t>
            </a:r>
            <a:r>
              <a:rPr lang="en-GB" altLang="ja-JP" dirty="0"/>
              <a:t>"</a:t>
            </a:r>
            <a:endParaRPr lang="en-US" altLang="ja-JP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DBE737-8251-CDFE-CD75-2934FCC8EFCA}"/>
              </a:ext>
            </a:extLst>
          </p:cNvPr>
          <p:cNvSpPr/>
          <p:nvPr/>
        </p:nvSpPr>
        <p:spPr>
          <a:xfrm>
            <a:off x="838200" y="2662910"/>
            <a:ext cx="10515597" cy="7136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06927B-05E8-4B2E-899E-2D365501604F}"/>
              </a:ext>
            </a:extLst>
          </p:cNvPr>
          <p:cNvSpPr/>
          <p:nvPr/>
        </p:nvSpPr>
        <p:spPr>
          <a:xfrm>
            <a:off x="838200" y="3760934"/>
            <a:ext cx="10515597" cy="7136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AA35B4-FF13-EF28-9755-B254A8A9A31E}"/>
              </a:ext>
            </a:extLst>
          </p:cNvPr>
          <p:cNvSpPr/>
          <p:nvPr/>
        </p:nvSpPr>
        <p:spPr>
          <a:xfrm>
            <a:off x="838199" y="5606833"/>
            <a:ext cx="10515597" cy="4054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64891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5AF448-1FFE-3498-B96E-0B475A9FE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FFFB7B-D30E-4F4D-548D-5EC24B24B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5. Pros &amp; Cons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742247-ACF8-BF6A-C280-31DFA0849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29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24656D38-0711-9A0A-3C2A-F43DBDC54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altLang="ja-JP" sz="2600" b="1" dirty="0"/>
              <a:t>The Traditional MVC Architecture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ja-JP" altLang="en-GB" dirty="0"/>
              <a:t>👎</a:t>
            </a:r>
            <a:r>
              <a:rPr lang="en-GB" altLang="ja-JP" b="1" dirty="0"/>
              <a:t>Steep Learning Curve for Beginners</a:t>
            </a:r>
            <a:r>
              <a:rPr lang="en-GB" altLang="ja-JP" dirty="0"/>
              <a:t>: Required to learn how "Magics" work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ja-JP" altLang="en-GB" dirty="0"/>
              <a:t>👎</a:t>
            </a:r>
            <a:r>
              <a:rPr lang="en-GB" altLang="ja-JP" b="1" dirty="0"/>
              <a:t>Less Flexibility at Scale</a:t>
            </a:r>
            <a:r>
              <a:rPr lang="en-GB" altLang="ja-JP" dirty="0"/>
              <a:t>: Difficult to find the best "The </a:t>
            </a:r>
            <a:r>
              <a:rPr lang="en-GB" altLang="ja-JP" b="1" dirty="0"/>
              <a:t>Extended</a:t>
            </a:r>
            <a:r>
              <a:rPr lang="en-GB" altLang="ja-JP" dirty="0"/>
              <a:t> Rails Way"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ja-JP" altLang="en-GB" dirty="0"/>
              <a:t>👎</a:t>
            </a:r>
            <a:r>
              <a:rPr lang="en-GB" altLang="ja-JP" b="1" dirty="0"/>
              <a:t>Performance Concerns at Scale</a:t>
            </a:r>
            <a:r>
              <a:rPr lang="en-GB" altLang="ja-JP" dirty="0"/>
              <a:t>: Not optimal choice for high concurrency or low-latency responses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ja-JP" altLang="en-GB" dirty="0"/>
              <a:t>👎</a:t>
            </a:r>
            <a:r>
              <a:rPr lang="en-GB" altLang="ja-JP" b="1" dirty="0"/>
              <a:t>Deployment Complexity</a:t>
            </a:r>
            <a:r>
              <a:rPr lang="en-GB" altLang="ja-JP" dirty="0"/>
              <a:t>: Required to manage various components like asset pre-compilation, database migrations, and background job workers, requiring some DevOps knowledge.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ja-JP" altLang="en-GB" dirty="0"/>
              <a:t>👎</a:t>
            </a:r>
            <a:r>
              <a:rPr lang="en-GB" altLang="ja-JP" b="1" dirty="0"/>
              <a:t>Black boxed Underlying Processes</a:t>
            </a:r>
            <a:r>
              <a:rPr lang="en-GB" altLang="ja-JP" dirty="0"/>
              <a:t>: Profound mechanism make it for developers harder to debug and customise the app</a:t>
            </a:r>
            <a:endParaRPr lang="en-US" altLang="ja-JP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51FA72-E14A-9125-F310-02EF26473499}"/>
              </a:ext>
            </a:extLst>
          </p:cNvPr>
          <p:cNvSpPr/>
          <p:nvPr/>
        </p:nvSpPr>
        <p:spPr>
          <a:xfrm>
            <a:off x="838203" y="2658450"/>
            <a:ext cx="10515597" cy="4054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71795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AE1AB9-C80F-63DC-ACEB-58CB3C9F3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543655-BEEF-9469-1055-9A87CF6EC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5. Pros &amp; Cons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01750E7-7A53-5AD2-4D8E-A332B44DC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30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873DC25E-81D5-8ADA-7098-E767C9FDC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lvl="1" indent="0">
              <a:buNone/>
            </a:pPr>
            <a:r>
              <a:rPr lang="en-US" altLang="ja-JP" sz="2600" b="1" dirty="0"/>
              <a:t>The Extended/Layered Architecture</a:t>
            </a:r>
            <a:endParaRPr lang="en-US" altLang="ja-JP" sz="2600" dirty="0"/>
          </a:p>
          <a:p>
            <a:pPr marL="268288" lvl="1" indent="-268288">
              <a:tabLst>
                <a:tab pos="268288" algn="l"/>
              </a:tabLst>
            </a:pPr>
            <a:r>
              <a:rPr lang="ja-JP" altLang="en-GB" dirty="0"/>
              <a:t>👍</a:t>
            </a:r>
            <a:r>
              <a:rPr lang="en-US" altLang="ja-JP" b="1" dirty="0"/>
              <a:t>Maintainability</a:t>
            </a:r>
            <a:r>
              <a:rPr lang="en-US" altLang="ja-JP" dirty="0"/>
              <a:t>: Clear separation, easy to locate code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ja-JP" altLang="en-GB" dirty="0"/>
              <a:t>👍</a:t>
            </a:r>
            <a:r>
              <a:rPr lang="en-US" altLang="ja-JP" b="1" dirty="0"/>
              <a:t>Testability</a:t>
            </a:r>
            <a:r>
              <a:rPr lang="en-US" altLang="ja-JP" dirty="0"/>
              <a:t>: Isolated layers, less framework coupling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ja-JP" altLang="en-GB" dirty="0"/>
              <a:t>👍</a:t>
            </a:r>
            <a:r>
              <a:rPr lang="en-US" altLang="ja-JP" b="1" dirty="0"/>
              <a:t>Scalability</a:t>
            </a:r>
            <a:r>
              <a:rPr lang="en-US" altLang="ja-JP" dirty="0"/>
              <a:t>: Linear growth, independent layers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ja-JP" altLang="en-GB" dirty="0"/>
              <a:t>👍</a:t>
            </a:r>
            <a:r>
              <a:rPr lang="en-US" altLang="ja-JP" b="1" dirty="0"/>
              <a:t>Flexibility</a:t>
            </a:r>
            <a:r>
              <a:rPr lang="en-US" altLang="ja-JP" dirty="0"/>
              <a:t>: Swap implementations, context-sensitive behavior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ja-JP" altLang="en-GB" dirty="0"/>
              <a:t>👍</a:t>
            </a:r>
            <a:r>
              <a:rPr lang="en-US" altLang="ja-JP" b="1" dirty="0"/>
              <a:t>Clarity</a:t>
            </a:r>
            <a:r>
              <a:rPr lang="en-US" altLang="ja-JP" dirty="0"/>
              <a:t>: Code speaks business language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ja-JP" altLang="en-GB" dirty="0"/>
              <a:t>👎</a:t>
            </a:r>
            <a:r>
              <a:rPr lang="en-US" altLang="ja-JP" b="1" dirty="0"/>
              <a:t>Initial Complexity</a:t>
            </a:r>
            <a:r>
              <a:rPr lang="en-US" altLang="ja-JP" dirty="0"/>
              <a:t>: </a:t>
            </a:r>
            <a:r>
              <a:rPr lang="en-GB" altLang="ja-JP" dirty="0"/>
              <a:t>More files, upfront design, steeper learning curve</a:t>
            </a:r>
            <a:endParaRPr lang="en-US" altLang="ja-JP" dirty="0"/>
          </a:p>
          <a:p>
            <a:pPr marL="268288" lvl="1" indent="-268288">
              <a:tabLst>
                <a:tab pos="268288" algn="l"/>
              </a:tabLst>
            </a:pPr>
            <a:r>
              <a:rPr lang="ja-JP" altLang="en-GB" dirty="0"/>
              <a:t>👎</a:t>
            </a:r>
            <a:r>
              <a:rPr lang="en-US" altLang="ja-JP" b="1" dirty="0"/>
              <a:t>Slower Start</a:t>
            </a:r>
            <a:r>
              <a:rPr lang="en-US" altLang="ja-JP" dirty="0"/>
              <a:t>: No scaffolding support, overhead for simple features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ja-JP" altLang="en-GB" dirty="0"/>
              <a:t>👎</a:t>
            </a:r>
            <a:r>
              <a:rPr lang="en-US" altLang="ja-JP" b="1" dirty="0"/>
              <a:t>Team Alignment</a:t>
            </a:r>
            <a:r>
              <a:rPr lang="en-US" altLang="ja-JP" dirty="0"/>
              <a:t>: Everyone must follow patterns consistently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ja-JP" altLang="en-GB" dirty="0"/>
              <a:t>👎</a:t>
            </a:r>
            <a:r>
              <a:rPr lang="en-US" altLang="ja-JP" b="1" dirty="0"/>
              <a:t>Debugging</a:t>
            </a:r>
            <a:r>
              <a:rPr lang="en-US" altLang="ja-JP" dirty="0"/>
              <a:t>: Longer call stacks, more indirection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ja-JP" altLang="en-GB" dirty="0"/>
              <a:t>👎</a:t>
            </a:r>
            <a:r>
              <a:rPr lang="en-US" altLang="ja-JP" b="1" dirty="0"/>
              <a:t>M</a:t>
            </a:r>
            <a:r>
              <a:rPr lang="en-GB" altLang="ja-JP" b="1" dirty="0" err="1"/>
              <a:t>igration</a:t>
            </a:r>
            <a:r>
              <a:rPr lang="en-US" altLang="ja-JP" b="1" dirty="0"/>
              <a:t> Costs</a:t>
            </a:r>
            <a:r>
              <a:rPr lang="en-US" altLang="ja-JP" dirty="0"/>
              <a:t>: </a:t>
            </a:r>
            <a:r>
              <a:rPr lang="en-GB" altLang="ja-JP" dirty="0"/>
              <a:t>Continuous </a:t>
            </a:r>
            <a:r>
              <a:rPr lang="en-US" altLang="ja-JP" dirty="0"/>
              <a:t>factoring</a:t>
            </a:r>
            <a:r>
              <a:rPr lang="en-GB" altLang="ja-JP" dirty="0"/>
              <a:t> </a:t>
            </a:r>
            <a:r>
              <a:rPr lang="en-US" altLang="ja-JP" dirty="0"/>
              <a:t>effort for existing apps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AADA44-8693-AD22-DA4C-E277CF8D990A}"/>
              </a:ext>
            </a:extLst>
          </p:cNvPr>
          <p:cNvSpPr/>
          <p:nvPr/>
        </p:nvSpPr>
        <p:spPr>
          <a:xfrm>
            <a:off x="838203" y="2538017"/>
            <a:ext cx="10515597" cy="4054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409A08-39E2-A3BC-BC0C-97BE90EE0EFC}"/>
              </a:ext>
            </a:extLst>
          </p:cNvPr>
          <p:cNvSpPr/>
          <p:nvPr/>
        </p:nvSpPr>
        <p:spPr>
          <a:xfrm>
            <a:off x="830022" y="5393472"/>
            <a:ext cx="10515597" cy="4054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0360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00973E-3E90-515F-410C-0E15B7391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793663-3797-FB04-43E2-40EEABD1F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6. Pragmatic Adoption Strategy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47DE28D-6383-95BD-D0A1-886A05A0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40414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1A4EC0-B956-DACA-5787-4AA39C21E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AB6AED-1F91-7770-6767-5834D083E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6. Pragmatic Adoption Strategy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2F09989-D61B-BC55-FACA-F6E324F3C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41F91B69-5054-868A-DB70-2E8919343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altLang="ja-JP" sz="2600" b="1" dirty="0"/>
              <a:t>✅Appropriate Cases - Enough Return of Investment(ROI)</a:t>
            </a:r>
          </a:p>
          <a:p>
            <a:pPr marL="268288" lvl="1" indent="-268288"/>
            <a:r>
              <a:rPr lang="en-GB" altLang="ja-JP" dirty="0"/>
              <a:t>Beyond MVP stage</a:t>
            </a:r>
          </a:p>
          <a:p>
            <a:pPr marL="268288" lvl="1" indent="-268288"/>
            <a:r>
              <a:rPr lang="en-GB" altLang="ja-JP" dirty="0"/>
              <a:t>Teams of more than 3 developers</a:t>
            </a:r>
          </a:p>
          <a:p>
            <a:pPr marL="268288" lvl="1" indent="-268288"/>
            <a:r>
              <a:rPr lang="en-GB" altLang="ja-JP" dirty="0"/>
              <a:t>Complex business domains</a:t>
            </a:r>
          </a:p>
          <a:p>
            <a:pPr marL="268288" lvl="1" indent="-268288"/>
            <a:r>
              <a:rPr lang="en-GB" altLang="ja-JP" dirty="0"/>
              <a:t>Long-term maintenance</a:t>
            </a:r>
          </a:p>
          <a:p>
            <a:pPr marL="268288" lvl="1" indent="-268288"/>
            <a:r>
              <a:rPr lang="en-GB" altLang="ja-JP" dirty="0"/>
              <a:t>Multiple API clients</a:t>
            </a:r>
          </a:p>
          <a:p>
            <a:pPr marL="268288" lvl="1" indent="-268288"/>
            <a:r>
              <a:rPr lang="en-GB" altLang="ja-JP" dirty="0"/>
              <a:t>Performance concerns due to the traditional MVC architecture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226702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FE1E05-2E51-4FCE-7DB8-A8834BB3A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D24183-A0E0-2F19-17A2-35CE80CAF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6. Pragmatic Adoption Strategy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BE2AD2-DDB5-8BEF-00E7-CA4CA1259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77B4248E-762B-D66F-0F99-EC93830DE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altLang="ja-JP" sz="2600" b="1" dirty="0"/>
              <a:t>❌Inappropriate Cases - Poor Return of Investment(ROI)</a:t>
            </a:r>
          </a:p>
          <a:p>
            <a:pPr marL="268288" lvl="1" indent="-268288"/>
            <a:r>
              <a:rPr lang="en-GB" altLang="ja-JP" dirty="0"/>
              <a:t>Simple CRUD actions only</a:t>
            </a:r>
          </a:p>
          <a:p>
            <a:pPr marL="268288" lvl="1" indent="-268288"/>
            <a:r>
              <a:rPr lang="en-GB" altLang="ja-JP" dirty="0"/>
              <a:t>Prototypes/MVPs</a:t>
            </a:r>
          </a:p>
          <a:p>
            <a:pPr marL="268288" lvl="1" indent="-268288"/>
            <a:r>
              <a:rPr lang="en-GB" altLang="ja-JP" dirty="0"/>
              <a:t>1-2 person teams</a:t>
            </a:r>
          </a:p>
          <a:p>
            <a:pPr marL="268288" lvl="1" indent="-268288"/>
            <a:r>
              <a:rPr lang="en-GB" altLang="ja-JP" dirty="0"/>
              <a:t>Short-lived projects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5504047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59FDDC-41E9-A3CE-B27F-22ABE8BE3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BE5B56-B81C-AECA-5507-36DC258A9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6. Pragmatic Adoption Strategy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2EC6396-28EA-305C-62CB-E8CF3746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E8840426-99C5-F5FA-B6DF-0F1BE6883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850"/>
            <a:ext cx="10515600" cy="4351338"/>
          </a:xfrm>
        </p:spPr>
        <p:txBody>
          <a:bodyPr>
            <a:normAutofit/>
          </a:bodyPr>
          <a:lstStyle/>
          <a:p>
            <a:pPr marL="0" lvl="1" indent="0">
              <a:buNone/>
              <a:tabLst>
                <a:tab pos="357188" algn="l"/>
              </a:tabLst>
            </a:pPr>
            <a:r>
              <a:rPr lang="en-GB" altLang="ja-JP" sz="2800" b="1" dirty="0"/>
              <a:t>Best Practice</a:t>
            </a:r>
          </a:p>
          <a:p>
            <a:pPr marL="357188" lvl="1" indent="-357188">
              <a:buFont typeface="+mj-lt"/>
              <a:buAutoNum type="arabicPeriod"/>
              <a:tabLst>
                <a:tab pos="357188" algn="l"/>
              </a:tabLst>
            </a:pPr>
            <a:r>
              <a:rPr lang="en-GB" altLang="ja-JP" b="1" dirty="0"/>
              <a:t>Start with MVC</a:t>
            </a:r>
            <a:r>
              <a:rPr lang="en-GB" altLang="ja-JP" dirty="0"/>
              <a:t>: The traditional architecture for new projects</a:t>
            </a:r>
          </a:p>
          <a:p>
            <a:pPr marL="357188" lvl="1" indent="-357188">
              <a:buFont typeface="+mj-lt"/>
              <a:buAutoNum type="arabicPeriod"/>
              <a:tabLst>
                <a:tab pos="357188" algn="l"/>
              </a:tabLst>
            </a:pPr>
            <a:r>
              <a:rPr lang="en-GB" altLang="ja-JP" b="1" dirty="0"/>
              <a:t>Keep your eyes peeled on pain thresholds</a:t>
            </a:r>
            <a:r>
              <a:rPr lang="en-GB" altLang="ja-JP" dirty="0"/>
              <a:t>:</a:t>
            </a:r>
          </a:p>
          <a:p>
            <a:pPr marL="717550" lvl="2" indent="-260350">
              <a:tabLst>
                <a:tab pos="357188" algn="l"/>
              </a:tabLst>
            </a:pPr>
            <a:r>
              <a:rPr lang="en-GB" altLang="ja-JP" dirty="0"/>
              <a:t>Multiple models with 200 lines</a:t>
            </a:r>
          </a:p>
          <a:p>
            <a:pPr marL="717550" lvl="2" indent="-260350">
              <a:tabLst>
                <a:tab pos="357188" algn="l"/>
              </a:tabLst>
            </a:pPr>
            <a:r>
              <a:rPr lang="en-GB" altLang="ja-JP" dirty="0"/>
              <a:t>Multiple controllers with complex workflows</a:t>
            </a:r>
          </a:p>
          <a:p>
            <a:pPr marL="717550" lvl="2" indent="-260350">
              <a:tabLst>
                <a:tab pos="357188" algn="l"/>
              </a:tabLst>
            </a:pPr>
            <a:r>
              <a:rPr lang="en-GB" altLang="ja-JP" dirty="0"/>
              <a:t>Slow and unmaintainable tests(including too many untestable behaviours)</a:t>
            </a:r>
          </a:p>
          <a:p>
            <a:pPr marL="357188" lvl="1" indent="-357188">
              <a:buFont typeface="+mj-lt"/>
              <a:buAutoNum type="arabicPeriod"/>
              <a:tabLst>
                <a:tab pos="357188" algn="l"/>
              </a:tabLst>
            </a:pPr>
            <a:r>
              <a:rPr lang="en-GB" altLang="ja-JP" b="1" dirty="0"/>
              <a:t>Extract gradually</a:t>
            </a:r>
            <a:r>
              <a:rPr lang="en-GB" altLang="ja-JP" dirty="0"/>
              <a:t>: Refactor specific areas as needed</a:t>
            </a:r>
          </a:p>
          <a:p>
            <a:pPr marL="357188" lvl="1" indent="-357188">
              <a:buFont typeface="+mj-lt"/>
              <a:buAutoNum type="arabicPeriod"/>
              <a:tabLst>
                <a:tab pos="357188" algn="l"/>
              </a:tabLst>
            </a:pPr>
            <a:r>
              <a:rPr lang="en-GB" altLang="ja-JP" b="1" dirty="0"/>
              <a:t>Follow conventions</a:t>
            </a:r>
            <a:r>
              <a:rPr lang="en-GB" altLang="ja-JP" dirty="0"/>
              <a:t>: Maintain Rails idioms in new layers(e.g. ActiveRecord)</a:t>
            </a:r>
          </a:p>
          <a:p>
            <a:pPr marL="357188" lvl="1" indent="-357188">
              <a:buFont typeface="+mj-lt"/>
              <a:buAutoNum type="arabicPeriod"/>
              <a:tabLst>
                <a:tab pos="357188" algn="l"/>
              </a:tabLst>
            </a:pPr>
            <a:r>
              <a:rPr lang="en-GB" altLang="ja-JP" b="1" dirty="0"/>
              <a:t>Keep hybrid</a:t>
            </a:r>
            <a:r>
              <a:rPr lang="en-GB" altLang="ja-JP" dirty="0"/>
              <a:t>: Traditional MVC where simple, layered where complex</a:t>
            </a:r>
          </a:p>
        </p:txBody>
      </p:sp>
    </p:spTree>
    <p:extLst>
      <p:ext uri="{BB962C8B-B14F-4D97-AF65-F5344CB8AC3E}">
        <p14:creationId xmlns:p14="http://schemas.microsoft.com/office/powerpoint/2010/main" val="39303395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F0B560-5D1E-99FB-264A-63DE888DC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C3DA77-59D3-AB18-7EB7-B18EAF11A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7. Survey and Answers</a:t>
            </a:r>
            <a:endParaRPr lang="en-GB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ABE913B-B13C-C566-97D0-5D077F475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39285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08C178-E239-C0DC-9386-6F2D74706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6FDCB7-D048-45E7-0307-F67E09222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7. Survey and Answers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5EBABC-349C-B19A-2791-BC24C966C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36</a:t>
            </a:fld>
            <a:endParaRPr lang="en-GB"/>
          </a:p>
        </p:txBody>
      </p:sp>
      <p:pic>
        <p:nvPicPr>
          <p:cNvPr id="2052" name="Picture 4" descr="Forms response chart. Question title: Have you ever failed to arrive at an agreement with your Rails app architecture with the keyword &quot;The Rails Way&quot;?. Number of responses: 6 responses.">
            <a:extLst>
              <a:ext uri="{FF2B5EF4-FFF2-40B4-BE49-F238E27FC236}">
                <a16:creationId xmlns:a16="http://schemas.microsoft.com/office/drawing/2014/main" id="{AFC16645-B15A-CD03-A4DA-14E6C51A9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144" y="1825625"/>
            <a:ext cx="960571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B0A6785-5B2F-4735-BC64-A804A9EED46B}"/>
              </a:ext>
            </a:extLst>
          </p:cNvPr>
          <p:cNvSpPr/>
          <p:nvPr/>
        </p:nvSpPr>
        <p:spPr>
          <a:xfrm>
            <a:off x="7296990" y="3314142"/>
            <a:ext cx="642678" cy="5174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9973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1D3624-9A13-9B63-0955-0F35CD1C1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9B519A-CF1E-F59B-7462-9ED2C265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7. Survey and Answers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75CC31F-90AA-8749-6668-973BFFAD2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37</a:t>
            </a:fld>
            <a:endParaRPr lang="en-GB"/>
          </a:p>
        </p:txBody>
      </p:sp>
      <p:pic>
        <p:nvPicPr>
          <p:cNvPr id="3" name="Picture 2" descr="Forms response chart. Question title: &quot;The Rails Way&quot; を合言葉にアーキテクチャーの合意形成に失敗した経験はありますか？. Number of responses: 5 responses.">
            <a:extLst>
              <a:ext uri="{FF2B5EF4-FFF2-40B4-BE49-F238E27FC236}">
                <a16:creationId xmlns:a16="http://schemas.microsoft.com/office/drawing/2014/main" id="{80483A1B-5513-5A31-A06D-40C7524DE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144" y="1825625"/>
            <a:ext cx="9540365" cy="4008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A049BA3-87D9-C1F5-B86B-359E82E46419}"/>
              </a:ext>
            </a:extLst>
          </p:cNvPr>
          <p:cNvSpPr/>
          <p:nvPr/>
        </p:nvSpPr>
        <p:spPr>
          <a:xfrm>
            <a:off x="7247923" y="3247235"/>
            <a:ext cx="682823" cy="2408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74714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540EA8-1B68-0244-4C75-A108CD905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F46C7B-5CA7-F3C9-7567-8669DCBDC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7. Survey and Answers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4810B2-339E-9E69-6B6D-5D9AC355D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38</a:t>
            </a:fld>
            <a:endParaRPr lang="en-GB"/>
          </a:p>
        </p:txBody>
      </p:sp>
      <p:pic>
        <p:nvPicPr>
          <p:cNvPr id="2054" name="Picture 6" descr="Forms response chart. Question title: Here is the concept that the ecosystem generated by `bin/rails g scaffold ...` is treated as &quot;The Rails Way in a narrow sense&quot;.&#10;Do you agree with it?&#10;* e.g.) MVC, CoC, Resposibility segregation. Number of responses: 6 responses.">
            <a:extLst>
              <a:ext uri="{FF2B5EF4-FFF2-40B4-BE49-F238E27FC236}">
                <a16:creationId xmlns:a16="http://schemas.microsoft.com/office/drawing/2014/main" id="{F843CB55-CF48-A9A6-7036-6CE31A08C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2824" y="1825474"/>
            <a:ext cx="9586352" cy="434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9C0C9C4-3F7F-D165-BEDD-ED6127F7DD73}"/>
              </a:ext>
            </a:extLst>
          </p:cNvPr>
          <p:cNvSpPr/>
          <p:nvPr/>
        </p:nvSpPr>
        <p:spPr>
          <a:xfrm>
            <a:off x="7274686" y="3308566"/>
            <a:ext cx="682823" cy="2408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01541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F55B2F-2DCC-B6D7-8537-217F7F0E9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91A5A9-5DD5-9D86-AD2B-B9B53BB40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7. Survey and Answers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468A34F-232B-FF3D-CC42-344706BC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39</a:t>
            </a:fld>
            <a:endParaRPr lang="en-GB"/>
          </a:p>
        </p:txBody>
      </p:sp>
      <p:pic>
        <p:nvPicPr>
          <p:cNvPr id="6146" name="Picture 2" descr="Forms response chart. Question title: Scaffold のエコシステムが「狭義の The Rails Way」という言説がありますが、賛同しますか？&#10;※ 最低限の MVC と CoC. Number of responses: 5 responses.">
            <a:extLst>
              <a:ext uri="{FF2B5EF4-FFF2-40B4-BE49-F238E27FC236}">
                <a16:creationId xmlns:a16="http://schemas.microsoft.com/office/drawing/2014/main" id="{F53F6CFA-CECD-C474-69B0-BA2D0A7E9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144" y="1834395"/>
            <a:ext cx="9586352" cy="434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B111981-E4D9-4F9E-C5EA-BB0EBDA3712E}"/>
              </a:ext>
            </a:extLst>
          </p:cNvPr>
          <p:cNvSpPr/>
          <p:nvPr/>
        </p:nvSpPr>
        <p:spPr>
          <a:xfrm>
            <a:off x="7274686" y="3308566"/>
            <a:ext cx="1012900" cy="2776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8312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8526F4-8893-53BA-600B-088DDDD84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E0339A-0A08-962E-1EA2-2E1B1BB9F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7. Survey and Answers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A51294A-3142-C656-4548-62B397B9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40</a:t>
            </a:fld>
            <a:endParaRPr lang="en-GB"/>
          </a:p>
        </p:txBody>
      </p:sp>
      <p:pic>
        <p:nvPicPr>
          <p:cNvPr id="7170" name="Picture 2" descr="Forms response chart. Question title: Among the following components, what gets your Rails app out of &quot;The Rails Way in a narrow sense&quot;?. Number of responses: 5 responses.">
            <a:extLst>
              <a:ext uri="{FF2B5EF4-FFF2-40B4-BE49-F238E27FC236}">
                <a16:creationId xmlns:a16="http://schemas.microsoft.com/office/drawing/2014/main" id="{F42DE77A-30A6-E748-44EC-05F77377E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066" y="1838855"/>
            <a:ext cx="8555905" cy="434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6144D0C-A04B-376A-8B39-B65A3679BD74}"/>
              </a:ext>
            </a:extLst>
          </p:cNvPr>
          <p:cNvSpPr/>
          <p:nvPr/>
        </p:nvSpPr>
        <p:spPr>
          <a:xfrm>
            <a:off x="1812066" y="3059894"/>
            <a:ext cx="8555905" cy="7984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82299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558273-2D8D-8A11-0612-B6C300EB7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58585B-21F7-F70F-77D7-2BF4C34D7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7. Survey and Answers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B4A2537-68CE-9533-D2EA-54B802E9E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41</a:t>
            </a:fld>
            <a:endParaRPr lang="en-GB"/>
          </a:p>
        </p:txBody>
      </p:sp>
      <p:pic>
        <p:nvPicPr>
          <p:cNvPr id="7172" name="Picture 4" descr="Forms response chart. Question title: 「狭義の The Rails Way」の観点で、以下のエコシステムの中で置き換えられたら「それはもはや The Rails Way ではない」と考えるものを全て選んで下さい。. Number of responses: 5 responses.">
            <a:extLst>
              <a:ext uri="{FF2B5EF4-FFF2-40B4-BE49-F238E27FC236}">
                <a16:creationId xmlns:a16="http://schemas.microsoft.com/office/drawing/2014/main" id="{6B422C7C-1FD7-9D44-633F-FC2582563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065" y="1838855"/>
            <a:ext cx="8555905" cy="4342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890EF70-1856-4685-5970-0996CB8FE74C}"/>
              </a:ext>
            </a:extLst>
          </p:cNvPr>
          <p:cNvSpPr/>
          <p:nvPr/>
        </p:nvSpPr>
        <p:spPr>
          <a:xfrm>
            <a:off x="1812066" y="4023360"/>
            <a:ext cx="8555904" cy="4728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67265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7B9003-DCA1-ADD3-5BA8-5114A6AA0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31A9BA-B729-9CEE-1148-649012155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7. Survey and Answers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EF7FBB-42FF-AE3E-7B9F-991E2516A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42</a:t>
            </a:fld>
            <a:endParaRPr lang="en-GB"/>
          </a:p>
        </p:txBody>
      </p:sp>
      <p:pic>
        <p:nvPicPr>
          <p:cNvPr id="3" name="Picture 2" descr="Forms response chart. Question title: What have you got in trouble with among the following ecosystem of &quot;The Rails Way in a broader sense&quot;?. Number of responses: 5 responses.">
            <a:extLst>
              <a:ext uri="{FF2B5EF4-FFF2-40B4-BE49-F238E27FC236}">
                <a16:creationId xmlns:a16="http://schemas.microsoft.com/office/drawing/2014/main" id="{14DA057A-81DC-E178-27F3-E64CD90DD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065" y="1838855"/>
            <a:ext cx="8555903" cy="434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9C6614F-85DD-0C00-70D4-A747E3D7FF51}"/>
              </a:ext>
            </a:extLst>
          </p:cNvPr>
          <p:cNvSpPr/>
          <p:nvPr/>
        </p:nvSpPr>
        <p:spPr>
          <a:xfrm>
            <a:off x="1812066" y="4514004"/>
            <a:ext cx="8555904" cy="4728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7906E1-B5F3-F72F-0522-4252BB8086B6}"/>
              </a:ext>
            </a:extLst>
          </p:cNvPr>
          <p:cNvSpPr/>
          <p:nvPr/>
        </p:nvSpPr>
        <p:spPr>
          <a:xfrm>
            <a:off x="1807603" y="3082992"/>
            <a:ext cx="8555904" cy="4728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75997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AA9F0E-D942-87EA-BD2B-0372B9B83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EBD40D-1C2C-5731-E10C-943192084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7. Survey and Answers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B659EA2-7036-7428-68C7-6E5B1978A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43</a:t>
            </a:fld>
            <a:endParaRPr lang="en-GB"/>
          </a:p>
        </p:txBody>
      </p:sp>
      <p:pic>
        <p:nvPicPr>
          <p:cNvPr id="5" name="Picture 2" descr="Forms response chart. Question title: 「広義の The Rails Way」において、あなたが最も苦しめられたエコシステムを全て選んで下さい。. Number of responses: 5 responses.">
            <a:extLst>
              <a:ext uri="{FF2B5EF4-FFF2-40B4-BE49-F238E27FC236}">
                <a16:creationId xmlns:a16="http://schemas.microsoft.com/office/drawing/2014/main" id="{E0EA52A0-2CA6-C220-E34F-104DC2407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065" y="1836072"/>
            <a:ext cx="8555903" cy="434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C06800E-3B90-DDED-151A-634924AE76A9}"/>
              </a:ext>
            </a:extLst>
          </p:cNvPr>
          <p:cNvSpPr/>
          <p:nvPr/>
        </p:nvSpPr>
        <p:spPr>
          <a:xfrm>
            <a:off x="1812066" y="3087288"/>
            <a:ext cx="8555904" cy="365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98FA51-2DF4-AF6D-18AA-D0FF7BD9D594}"/>
              </a:ext>
            </a:extLst>
          </p:cNvPr>
          <p:cNvSpPr txBox="1"/>
          <p:nvPr/>
        </p:nvSpPr>
        <p:spPr>
          <a:xfrm>
            <a:off x="401445" y="5709036"/>
            <a:ext cx="7074334" cy="25391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altLang="ja-JP" sz="1050" dirty="0">
                <a:solidFill>
                  <a:schemeClr val="bg1"/>
                </a:solidFill>
              </a:rPr>
              <a:t>Rails-like arbitrary method implementations based on CoC at the application layer(including multiple uses of `method_missing`)</a:t>
            </a:r>
            <a:endParaRPr lang="en-GB" sz="1050" dirty="0">
              <a:solidFill>
                <a:schemeClr val="bg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F61FA9B-0396-2823-04D8-D6BF3AA0A6E2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3363954" y="5383809"/>
            <a:ext cx="574658" cy="3252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4324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092BCD-A38E-B634-72F1-F39A6EF10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59B058-1FCC-D466-65CE-A86C53A6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7. Survey and Answers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BD3A0C-24B9-2BBD-2C99-6651C5099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44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CE41E84A-205D-7DB7-A17D-A4DA9775A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GB" altLang="ja-JP" sz="2600" b="1" dirty="0"/>
              <a:t>Q. Please feel free to describe the requirements which get your Rails app on "The Rails Way"? - International Rubyists</a:t>
            </a:r>
          </a:p>
          <a:p>
            <a:pPr marL="0" lvl="1" indent="0">
              <a:buNone/>
            </a:pPr>
            <a:endParaRPr lang="en-GB" altLang="ja-JP" sz="2600" b="1" dirty="0"/>
          </a:p>
          <a:p>
            <a:pPr marL="268288" lvl="1" indent="-268288">
              <a:tabLst>
                <a:tab pos="268288" algn="l"/>
              </a:tabLst>
            </a:pPr>
            <a:r>
              <a:rPr lang="en-GB" altLang="ja-JP" dirty="0"/>
              <a:t>Not packing everything under umbrella of "Services", not overusing dry-rb, </a:t>
            </a:r>
            <a:r>
              <a:rPr lang="en-GB" altLang="ja-JP" u="sng" dirty="0"/>
              <a:t>accepting ActiveRecord and business logic can be coupled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en-GB" altLang="ja-JP" u="sng" dirty="0"/>
              <a:t>Following Rails' best practices, sticking to community favourites.</a:t>
            </a:r>
            <a:r>
              <a:rPr lang="en-GB" altLang="ja-JP" dirty="0"/>
              <a:t> Though personally I prefer to diverge from the Rails Way in multiple parts, I stick closer to it, when working with a growing team.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en-GB" altLang="ja-JP" dirty="0"/>
              <a:t>Rails is like Lego, they give you the bricks, and </a:t>
            </a:r>
            <a:r>
              <a:rPr lang="en-GB" altLang="ja-JP" u="sng" dirty="0"/>
              <a:t>you build your own spaceship.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en-GB" altLang="ja-JP" dirty="0"/>
              <a:t>Sometime the decision on Rails are less optimized because </a:t>
            </a:r>
            <a:r>
              <a:rPr lang="en-GB" altLang="ja-JP" u="sng" dirty="0"/>
              <a:t>it has to be abstracted.</a:t>
            </a:r>
            <a:endParaRPr lang="en-US" altLang="ja-JP" sz="2000" u="sng" dirty="0"/>
          </a:p>
        </p:txBody>
      </p:sp>
    </p:spTree>
    <p:extLst>
      <p:ext uri="{BB962C8B-B14F-4D97-AF65-F5344CB8AC3E}">
        <p14:creationId xmlns:p14="http://schemas.microsoft.com/office/powerpoint/2010/main" val="33279130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3CC091-CFCA-C607-3D35-589AC6AF6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1839CD-822A-6D5D-06D5-5E223AED4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7. Survey and Answers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9368012-B950-EA4F-8EF8-09B7FFAB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45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52EF323E-0FF1-93E8-5A69-DA323A2FC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GB" altLang="ja-JP" sz="2600" b="1" dirty="0"/>
              <a:t>Q. Please feel free to describe the requirements which get your Rails app on "The Rails Way"? - Japanese Rubyists(Partly extracted and processed)</a:t>
            </a:r>
          </a:p>
          <a:p>
            <a:pPr marL="0" lvl="1" indent="0">
              <a:buNone/>
            </a:pPr>
            <a:endParaRPr lang="en-GB" altLang="ja-JP" sz="2600" b="1" dirty="0"/>
          </a:p>
          <a:p>
            <a:pPr marL="268288" lvl="1" indent="-268288">
              <a:tabLst>
                <a:tab pos="268288" algn="l"/>
              </a:tabLst>
            </a:pPr>
            <a:r>
              <a:rPr lang="en-US" altLang="ja-JP" u="sng" dirty="0"/>
              <a:t>As long as everybody recognize what the architecture is</a:t>
            </a:r>
            <a:r>
              <a:rPr lang="en-US" altLang="ja-JP" dirty="0"/>
              <a:t>, the Rails application is on "The Rails Way"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en-US" altLang="ja-JP" u="sng" dirty="0"/>
              <a:t>rails new + scaffold</a:t>
            </a:r>
            <a:r>
              <a:rPr lang="en-US" altLang="ja-JP" dirty="0"/>
              <a:t> =&gt; "The Rails Way"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en-US" altLang="ja-JP" u="sng" dirty="0"/>
              <a:t>CoC + RESTful resource design + Concentrate business logics on Model layer</a:t>
            </a:r>
            <a:r>
              <a:rPr lang="en-US" altLang="ja-JP" dirty="0"/>
              <a:t> =&gt; "The Rails Way"</a:t>
            </a:r>
          </a:p>
          <a:p>
            <a:pPr marL="268288" lvl="1" indent="-268288">
              <a:tabLst>
                <a:tab pos="268288" algn="l"/>
              </a:tabLst>
            </a:pPr>
            <a:r>
              <a:rPr lang="en-US" altLang="ja-JP" u="sng" dirty="0"/>
              <a:t>The practical ecosystem for the value maximization</a:t>
            </a:r>
            <a:r>
              <a:rPr lang="en-GB" altLang="ja-JP" u="sng" dirty="0"/>
              <a:t> of</a:t>
            </a:r>
            <a:r>
              <a:rPr lang="en-US" altLang="ja-JP" u="sng" dirty="0"/>
              <a:t> delivery of the product</a:t>
            </a:r>
            <a:r>
              <a:rPr lang="en-US" altLang="ja-JP" dirty="0"/>
              <a:t> is "The Rails Way" because </a:t>
            </a:r>
            <a:r>
              <a:rPr lang="en-US" altLang="ja-JP" b="1" dirty="0"/>
              <a:t>no value means no survival</a:t>
            </a:r>
            <a:r>
              <a:rPr lang="en-US" altLang="ja-JP" dirty="0"/>
              <a:t> for startups</a:t>
            </a:r>
          </a:p>
        </p:txBody>
      </p:sp>
    </p:spTree>
    <p:extLst>
      <p:ext uri="{BB962C8B-B14F-4D97-AF65-F5344CB8AC3E}">
        <p14:creationId xmlns:p14="http://schemas.microsoft.com/office/powerpoint/2010/main" val="10028455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CCDFA7-4992-F16D-D6EC-7CEC649ED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F2747A-1B25-C0B5-C576-58A801CDA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8.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Summary</a:t>
            </a:r>
            <a:endParaRPr lang="en-GB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E7E057-7961-381E-91AB-66CA2E742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46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46144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0AE76-31F5-51A6-8BA7-0D03AF5B1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0BE497-BA0E-44FA-3F6B-1748F4BF5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8.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EF9B76-3E62-EEDE-3B04-064242C56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BEFB37BF-5069-01D8-70C9-028FC2F7C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42900" lvl="1" indent="-342900">
              <a:tabLst>
                <a:tab pos="268288" algn="l"/>
              </a:tabLst>
            </a:pPr>
            <a:r>
              <a:rPr lang="en-GB" altLang="ja-JP" b="1" dirty="0"/>
              <a:t>Traditional MVC</a:t>
            </a:r>
            <a:r>
              <a:rPr lang="en-GB" altLang="ja-JP" dirty="0"/>
              <a:t>: </a:t>
            </a:r>
            <a:r>
              <a:rPr lang="en-GB" dirty="0"/>
              <a:t>Short path from idea to implementation, perfect for MVPs</a:t>
            </a:r>
            <a:endParaRPr lang="en-GB" altLang="ja-JP" dirty="0"/>
          </a:p>
          <a:p>
            <a:pPr marL="628650" lvl="2" indent="-171450">
              <a:tabLst>
                <a:tab pos="268288" algn="l"/>
              </a:tabLst>
            </a:pPr>
            <a:r>
              <a:rPr lang="ja-JP" altLang="en-US" dirty="0"/>
              <a:t>→ </a:t>
            </a:r>
            <a:r>
              <a:rPr lang="en-GB" altLang="ja-JP" dirty="0"/>
              <a:t>"The Rails Way" in a </a:t>
            </a:r>
            <a:r>
              <a:rPr lang="en-GB" altLang="ja-JP" b="1" dirty="0"/>
              <a:t>narrower</a:t>
            </a:r>
            <a:r>
              <a:rPr lang="en-GB" altLang="ja-JP" dirty="0"/>
              <a:t> sense</a:t>
            </a:r>
          </a:p>
          <a:p>
            <a:pPr marL="342900" lvl="1" indent="-342900">
              <a:tabLst>
                <a:tab pos="268288" algn="l"/>
              </a:tabLst>
            </a:pPr>
            <a:r>
              <a:rPr lang="en-GB" altLang="ja-JP" b="1" dirty="0"/>
              <a:t>Layered Approach</a:t>
            </a:r>
            <a:r>
              <a:rPr lang="en-GB" altLang="ja-JP" dirty="0"/>
              <a:t>: </a:t>
            </a:r>
            <a:r>
              <a:rPr lang="en-GB" dirty="0"/>
              <a:t>Clear boundaries, testable, maintainable at scale</a:t>
            </a:r>
          </a:p>
          <a:p>
            <a:pPr marL="628650" lvl="2" indent="-171450">
              <a:tabLst>
                <a:tab pos="268288" algn="l"/>
              </a:tabLst>
            </a:pPr>
            <a:r>
              <a:rPr lang="ja-JP" altLang="en-US" dirty="0"/>
              <a:t>→ </a:t>
            </a:r>
            <a:r>
              <a:rPr lang="en-GB" altLang="ja-JP" dirty="0"/>
              <a:t>"The Rails Way" in a </a:t>
            </a:r>
            <a:r>
              <a:rPr lang="en-GB" altLang="ja-JP" b="1" dirty="0"/>
              <a:t>broader</a:t>
            </a:r>
            <a:r>
              <a:rPr lang="en-GB" altLang="ja-JP" dirty="0"/>
              <a:t> sense</a:t>
            </a:r>
          </a:p>
          <a:p>
            <a:pPr marL="342900" lvl="1" indent="-342900">
              <a:tabLst>
                <a:tab pos="268288" algn="l"/>
              </a:tabLst>
            </a:pPr>
            <a:r>
              <a:rPr lang="en-GB" altLang="ja-JP" b="1" dirty="0"/>
              <a:t>Pragmatic Migration</a:t>
            </a:r>
            <a:r>
              <a:rPr lang="en-GB" altLang="ja-JP" dirty="0"/>
              <a:t>: Start simple, add structure when complexity demands it.</a:t>
            </a:r>
          </a:p>
          <a:p>
            <a:pPr marL="342900" lvl="1" indent="-342900">
              <a:tabLst>
                <a:tab pos="268288" algn="l"/>
              </a:tabLst>
            </a:pPr>
            <a:r>
              <a:rPr lang="en-GB" altLang="ja-JP" b="1" dirty="0"/>
              <a:t>Long-term Maintenance</a:t>
            </a:r>
            <a:r>
              <a:rPr lang="en-GB" altLang="ja-JP" dirty="0"/>
              <a:t>: Keep refactoring guided by real pain points</a:t>
            </a:r>
          </a:p>
          <a:p>
            <a:pPr marL="342900" lvl="1" indent="-342900">
              <a:tabLst>
                <a:tab pos="268288" algn="l"/>
              </a:tabLst>
            </a:pPr>
            <a:r>
              <a:rPr lang="en-GB" altLang="ja-JP" b="1" dirty="0"/>
              <a:t>Narrower "The Rails Way"</a:t>
            </a:r>
            <a:r>
              <a:rPr lang="en-GB" altLang="ja-JP" dirty="0"/>
              <a:t>: Most answers agreed with </a:t>
            </a:r>
            <a:r>
              <a:rPr lang="en-GB" altLang="ja-JP" b="1" dirty="0"/>
              <a:t>CoC + MVC</a:t>
            </a:r>
          </a:p>
          <a:p>
            <a:pPr marL="342900" lvl="1" indent="-342900">
              <a:tabLst>
                <a:tab pos="268288" algn="l"/>
              </a:tabLst>
            </a:pPr>
            <a:r>
              <a:rPr lang="en-GB" altLang="ja-JP" b="1" dirty="0"/>
              <a:t>Broader "The Rails Way"</a:t>
            </a:r>
            <a:r>
              <a:rPr lang="en-GB" altLang="ja-JP" dirty="0"/>
              <a:t>: Most answers were unhappy with </a:t>
            </a:r>
            <a:r>
              <a:rPr lang="en-GB" altLang="ja-JP" b="1" dirty="0"/>
              <a:t>Service Objects</a:t>
            </a:r>
          </a:p>
          <a:p>
            <a:pPr marL="342900" lvl="1" indent="-342900">
              <a:tabLst>
                <a:tab pos="268288" algn="l"/>
              </a:tabLst>
            </a:pPr>
            <a:r>
              <a:rPr lang="en-GB" altLang="ja-JP" b="1" dirty="0"/>
              <a:t>Out of "The Rails Way"</a:t>
            </a:r>
            <a:r>
              <a:rPr lang="en-GB" altLang="ja-JP" dirty="0"/>
              <a:t>: The case of </a:t>
            </a:r>
            <a:r>
              <a:rPr lang="en-GB" altLang="ja-JP" b="1" dirty="0"/>
              <a:t>replacement of default ecosystem</a:t>
            </a:r>
            <a:r>
              <a:rPr lang="en-GB" altLang="ja-JP" dirty="0"/>
              <a:t> among international Rubyists, in contrast to that of </a:t>
            </a:r>
            <a:r>
              <a:rPr lang="en-GB" altLang="ja-JP" b="1" dirty="0"/>
              <a:t>definition of other actions than CRUD</a:t>
            </a:r>
            <a:r>
              <a:rPr lang="en-GB" altLang="ja-JP" dirty="0"/>
              <a:t> among Japanese Rubyists</a:t>
            </a:r>
          </a:p>
        </p:txBody>
      </p:sp>
    </p:spTree>
    <p:extLst>
      <p:ext uri="{BB962C8B-B14F-4D97-AF65-F5344CB8AC3E}">
        <p14:creationId xmlns:p14="http://schemas.microsoft.com/office/powerpoint/2010/main" val="12403564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ED815E-49C9-797E-D05D-CC1DFA266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6150BA-4150-77DE-5D2B-2E1AA4E8A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8.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D3EE8FF-CB2A-6BD9-7508-EACBC4E90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E8ADB8FA-EBD5-5B3D-7E6A-805112507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lvl="1" indent="0">
              <a:buNone/>
              <a:tabLst>
                <a:tab pos="268288" algn="l"/>
              </a:tabLst>
            </a:pPr>
            <a:r>
              <a:rPr lang="en-GB" altLang="ja-JP" dirty="0"/>
              <a:t>To cut a long story short…</a:t>
            </a:r>
          </a:p>
          <a:p>
            <a:pPr marL="0" lvl="1" indent="0">
              <a:buNone/>
              <a:tabLst>
                <a:tab pos="268288" algn="l"/>
              </a:tabLst>
            </a:pPr>
            <a:endParaRPr lang="en-GB" altLang="ja-JP" dirty="0"/>
          </a:p>
          <a:p>
            <a:pPr marL="0" lvl="1" indent="0">
              <a:buNone/>
              <a:tabLst>
                <a:tab pos="268288" algn="l"/>
              </a:tabLst>
            </a:pPr>
            <a:endParaRPr lang="en-GB" altLang="ja-JP" dirty="0"/>
          </a:p>
          <a:p>
            <a:pPr marL="0" lvl="1" indent="0">
              <a:buNone/>
              <a:tabLst>
                <a:tab pos="268288" algn="l"/>
              </a:tabLst>
            </a:pPr>
            <a:endParaRPr lang="en-GB" altLang="ja-JP" dirty="0"/>
          </a:p>
          <a:p>
            <a:pPr marL="0" lvl="1" indent="0">
              <a:buNone/>
              <a:tabLst>
                <a:tab pos="268288" algn="l"/>
              </a:tabLst>
            </a:pPr>
            <a:endParaRPr lang="en-GB" altLang="ja-JP" dirty="0"/>
          </a:p>
          <a:p>
            <a:pPr marL="0" lvl="1" indent="0" algn="ctr">
              <a:buNone/>
              <a:tabLst>
                <a:tab pos="268288" algn="l"/>
              </a:tabLst>
            </a:pPr>
            <a:r>
              <a:rPr lang="en-GB" altLang="ja-JP" sz="4400" dirty="0"/>
              <a:t>"</a:t>
            </a:r>
            <a:r>
              <a:rPr lang="en-GB" altLang="ja-JP" sz="4400" b="1" dirty="0"/>
              <a:t>Think Less, Create More!</a:t>
            </a:r>
            <a:r>
              <a:rPr lang="en-GB" altLang="ja-JP" sz="4400" dirty="0"/>
              <a:t>" is The Rails Way!</a:t>
            </a:r>
            <a:endParaRPr lang="en-US" altLang="ja-JP" sz="4400" dirty="0"/>
          </a:p>
        </p:txBody>
      </p:sp>
    </p:spTree>
    <p:extLst>
      <p:ext uri="{BB962C8B-B14F-4D97-AF65-F5344CB8AC3E}">
        <p14:creationId xmlns:p14="http://schemas.microsoft.com/office/powerpoint/2010/main" val="13622976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9.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49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89575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9.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96154D-0AC4-47C9-B8EE-32ED60A2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50</a:t>
            </a:fld>
            <a:endParaRPr lang="en-GB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0A3A8506-B2C4-48D9-8B66-4EF42A117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altLang="ja-JP" dirty="0"/>
              <a:t>Vladimir Dementyev, </a:t>
            </a:r>
            <a:r>
              <a:rPr lang="en-GB" altLang="ja-JP" i="1" dirty="0">
                <a:hlinkClick r:id="rId3"/>
              </a:rPr>
              <a:t>Layered Design for Ruby on Rails Application</a:t>
            </a:r>
            <a:r>
              <a:rPr lang="en-GB" altLang="ja-JP" dirty="0"/>
              <a:t>, Birmingham, 2023</a:t>
            </a:r>
          </a:p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altLang="ja-JP" dirty="0"/>
              <a:t>Hayato Ishida, </a:t>
            </a:r>
            <a:r>
              <a:rPr lang="en-GB" altLang="ja-JP" dirty="0">
                <a:hlinkClick r:id="rId4"/>
              </a:rPr>
              <a:t>Layered Design for Ruby on Rails Application - Full Summary</a:t>
            </a:r>
            <a:r>
              <a:rPr lang="en-GB" altLang="ja-JP" dirty="0"/>
              <a:t>, Tokyo, 2025</a:t>
            </a:r>
          </a:p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altLang="ja-JP" dirty="0"/>
              <a:t>Hayato Ishida, </a:t>
            </a:r>
            <a:r>
              <a:rPr lang="en-GB" altLang="ja-JP" dirty="0">
                <a:hlinkClick r:id="rId5"/>
              </a:rPr>
              <a:t>Layered Design for Ruby on Rails Application - Concise Summary</a:t>
            </a:r>
            <a:r>
              <a:rPr lang="en-GB" altLang="ja-JP" dirty="0"/>
              <a:t>, Tokyo, 2025</a:t>
            </a:r>
          </a:p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altLang="ja-JP" dirty="0">
                <a:hlinkClick r:id="rId6"/>
              </a:rPr>
              <a:t>"The Rails Way" Survey - EN</a:t>
            </a:r>
            <a:endParaRPr lang="en-GB" altLang="ja-JP" dirty="0"/>
          </a:p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altLang="ja-JP" dirty="0">
                <a:hlinkClick r:id="rId7"/>
              </a:rPr>
              <a:t>"The Rails Way" Survey - JP</a:t>
            </a:r>
            <a:endParaRPr lang="en-GB" altLang="ja-JP" dirty="0"/>
          </a:p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altLang="ja-JP" dirty="0">
                <a:hlinkClick r:id="rId8"/>
              </a:rPr>
              <a:t>Statistics of "The Rails Way" Survey</a:t>
            </a:r>
            <a:endParaRPr lang="en-GB" altLang="ja-JP" dirty="0"/>
          </a:p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altLang="ja-JP" dirty="0">
                <a:hlinkClick r:id="rId9"/>
              </a:rPr>
              <a:t>dry-rb Gems</a:t>
            </a:r>
            <a:endParaRPr lang="en-GB" altLang="ja-JP" dirty="0"/>
          </a:p>
          <a:p>
            <a:pPr marL="725488" lvl="2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altLang="ja-JP" dirty="0"/>
              <a:t>Last Accessed At: 12 November 2025</a:t>
            </a:r>
          </a:p>
        </p:txBody>
      </p:sp>
    </p:spTree>
    <p:extLst>
      <p:ext uri="{BB962C8B-B14F-4D97-AF65-F5344CB8AC3E}">
        <p14:creationId xmlns:p14="http://schemas.microsoft.com/office/powerpoint/2010/main" val="30412465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E6BD63-86C0-4411-B65D-4080E9A95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5400" b="1" dirty="0"/>
          </a:p>
          <a:p>
            <a:pPr marL="0" indent="0" algn="ctr">
              <a:buNone/>
            </a:pPr>
            <a:r>
              <a:rPr lang="en-GB" sz="5400" b="1" dirty="0"/>
              <a:t>EOD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458194-12B8-434A-8D6D-E01520C8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35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1140</TotalTime>
  <Words>2371</Words>
  <Application>Microsoft Office PowerPoint</Application>
  <PresentationFormat>Widescreen</PresentationFormat>
  <Paragraphs>397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Calibri (Headings)</vt:lpstr>
      <vt:lpstr>Arial</vt:lpstr>
      <vt:lpstr>Calibri</vt:lpstr>
      <vt:lpstr>Calibri Light</vt:lpstr>
      <vt:lpstr>Office テーマ</vt:lpstr>
      <vt:lpstr>What is The Rails Way</vt:lpstr>
      <vt:lpstr>About Me</vt:lpstr>
      <vt:lpstr>Licences / Certifications</vt:lpstr>
      <vt:lpstr>Skill Stack</vt:lpstr>
      <vt:lpstr>Work Histories</vt:lpstr>
      <vt:lpstr>Work Histories</vt:lpstr>
      <vt:lpstr>International-Exchange Activities</vt:lpstr>
      <vt:lpstr>Agenda</vt:lpstr>
      <vt:lpstr>1. What brought me this interest?</vt:lpstr>
      <vt:lpstr>1. What brought me this interest?</vt:lpstr>
      <vt:lpstr>1. What brought me this interest?</vt:lpstr>
      <vt:lpstr>1. What brought me this interest?</vt:lpstr>
      <vt:lpstr>1. What brought me this interest?</vt:lpstr>
      <vt:lpstr>1. What brought me this interest?</vt:lpstr>
      <vt:lpstr>1. What brought me this interest?</vt:lpstr>
      <vt:lpstr>2. Philosophy of "The Rails Way" -MVC vs. Layered-</vt:lpstr>
      <vt:lpstr>2. Philosophy of "The Rails Way" -MVC vs. Layered-</vt:lpstr>
      <vt:lpstr>2. Philosophy of "The Rails Way" -MVC vs. Layered-</vt:lpstr>
      <vt:lpstr>2. Philosophy of "The Rails Way" -MVC vs. Layered-</vt:lpstr>
      <vt:lpstr>3. Key Responsibilities -MVC vs. Layered-</vt:lpstr>
      <vt:lpstr>3. Key Responsibilities -MVC vs. Layered-</vt:lpstr>
      <vt:lpstr>4. Key Components of The Extended Rails Way(Layered)</vt:lpstr>
      <vt:lpstr>4. Key Components of The Extended Rails Way(Layered)</vt:lpstr>
      <vt:lpstr>4. Key Components of The Extended Rails Way(Layered)</vt:lpstr>
      <vt:lpstr>4. Key Components of The Extended Rails Way(Layered)</vt:lpstr>
      <vt:lpstr>4. Key Components of The Extended Rails Way(Layered)</vt:lpstr>
      <vt:lpstr>5. Pros &amp; Cons</vt:lpstr>
      <vt:lpstr>5. Pros &amp; Cons</vt:lpstr>
      <vt:lpstr>5. Pros &amp; Cons</vt:lpstr>
      <vt:lpstr>5. Pros &amp; Cons</vt:lpstr>
      <vt:lpstr>6. Pragmatic Adoption Strategy</vt:lpstr>
      <vt:lpstr>6. Pragmatic Adoption Strategy</vt:lpstr>
      <vt:lpstr>6. Pragmatic Adoption Strategy</vt:lpstr>
      <vt:lpstr>6. Pragmatic Adoption Strategy</vt:lpstr>
      <vt:lpstr>7. Survey and Answers</vt:lpstr>
      <vt:lpstr>7. Survey and Answers</vt:lpstr>
      <vt:lpstr>7. Survey and Answers</vt:lpstr>
      <vt:lpstr>7. Survey and Answers</vt:lpstr>
      <vt:lpstr>7. Survey and Answers</vt:lpstr>
      <vt:lpstr>7. Survey and Answers</vt:lpstr>
      <vt:lpstr>7. Survey and Answers</vt:lpstr>
      <vt:lpstr>7. Survey and Answers</vt:lpstr>
      <vt:lpstr>7. Survey and Answers</vt:lpstr>
      <vt:lpstr>7. Survey and Answers</vt:lpstr>
      <vt:lpstr>7. Survey and Answers</vt:lpstr>
      <vt:lpstr>8. Summary</vt:lpstr>
      <vt:lpstr>8. Summary</vt:lpstr>
      <vt:lpstr>8. Summary</vt:lpstr>
      <vt:lpstr>9. References</vt:lpstr>
      <vt:lpstr>9.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Hayato Ishida</dc:creator>
  <cp:lastModifiedBy>Hayato Ishida</cp:lastModifiedBy>
  <cp:revision>405</cp:revision>
  <dcterms:modified xsi:type="dcterms:W3CDTF">2025-11-14T11:04:09Z</dcterms:modified>
</cp:coreProperties>
</file>