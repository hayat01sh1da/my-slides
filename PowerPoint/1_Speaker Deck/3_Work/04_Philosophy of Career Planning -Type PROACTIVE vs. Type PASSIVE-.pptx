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87" r:id="rId3"/>
    <p:sldId id="407" r:id="rId4"/>
    <p:sldId id="387" r:id="rId5"/>
    <p:sldId id="286" r:id="rId6"/>
    <p:sldId id="411" r:id="rId7"/>
    <p:sldId id="280" r:id="rId8"/>
    <p:sldId id="311" r:id="rId9"/>
    <p:sldId id="259" r:id="rId10"/>
    <p:sldId id="330" r:id="rId11"/>
    <p:sldId id="393" r:id="rId12"/>
    <p:sldId id="325" r:id="rId13"/>
    <p:sldId id="354" r:id="rId14"/>
    <p:sldId id="394" r:id="rId15"/>
    <p:sldId id="391" r:id="rId16"/>
    <p:sldId id="392" r:id="rId17"/>
    <p:sldId id="395" r:id="rId18"/>
    <p:sldId id="396" r:id="rId19"/>
    <p:sldId id="326" r:id="rId20"/>
    <p:sldId id="336" r:id="rId21"/>
    <p:sldId id="397" r:id="rId22"/>
    <p:sldId id="398" r:id="rId23"/>
    <p:sldId id="399" r:id="rId24"/>
    <p:sldId id="403" r:id="rId25"/>
    <p:sldId id="400" r:id="rId26"/>
    <p:sldId id="401" r:id="rId27"/>
    <p:sldId id="404" r:id="rId28"/>
    <p:sldId id="405" r:id="rId29"/>
    <p:sldId id="406" r:id="rId30"/>
    <p:sldId id="408" r:id="rId31"/>
    <p:sldId id="389" r:id="rId32"/>
    <p:sldId id="390" r:id="rId33"/>
    <p:sldId id="409" r:id="rId34"/>
    <p:sldId id="410" r:id="rId35"/>
    <p:sldId id="385" r:id="rId36"/>
    <p:sldId id="386" r:id="rId37"/>
    <p:sldId id="328" r:id="rId38"/>
    <p:sldId id="295" r:id="rId39"/>
    <p:sldId id="285"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石田 隼人" initials="石田" lastIdx="1" clrIdx="0">
    <p:extLst>
      <p:ext uri="{19B8F6BF-5375-455C-9EA6-DF929625EA0E}">
        <p15:presenceInfo xmlns:p15="http://schemas.microsoft.com/office/powerpoint/2012/main" userId="石田 隼人"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325" autoAdjust="0"/>
    <p:restoredTop sz="94660"/>
  </p:normalViewPr>
  <p:slideViewPr>
    <p:cSldViewPr snapToGrid="0">
      <p:cViewPr varScale="1">
        <p:scale>
          <a:sx n="152" d="100"/>
          <a:sy n="152" d="100"/>
        </p:scale>
        <p:origin x="32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yato Ishida" userId="585fa0fa6384767c" providerId="LiveId" clId="{9B655FD3-2E03-433A-8EE1-C7CE7410AEAE}"/>
    <pc:docChg chg="custSel addSld modSld">
      <pc:chgData name="Hayato Ishida" userId="585fa0fa6384767c" providerId="LiveId" clId="{9B655FD3-2E03-433A-8EE1-C7CE7410AEAE}" dt="2025-08-31T17:51:22.977" v="10"/>
      <pc:docMkLst>
        <pc:docMk/>
      </pc:docMkLst>
      <pc:sldChg chg="addSp delSp modSp mod">
        <pc:chgData name="Hayato Ishida" userId="585fa0fa6384767c" providerId="LiveId" clId="{9B655FD3-2E03-433A-8EE1-C7CE7410AEAE}" dt="2025-08-31T17:50:44.031" v="8"/>
        <pc:sldMkLst>
          <pc:docMk/>
          <pc:sldMk cId="155858466" sldId="286"/>
        </pc:sldMkLst>
        <pc:spChg chg="del">
          <ac:chgData name="Hayato Ishida" userId="585fa0fa6384767c" providerId="LiveId" clId="{9B655FD3-2E03-433A-8EE1-C7CE7410AEAE}" dt="2025-08-31T17:48:45.699" v="4" actId="478"/>
          <ac:spMkLst>
            <pc:docMk/>
            <pc:sldMk cId="155858466" sldId="286"/>
            <ac:spMk id="2" creationId="{47EE1BE8-D383-D88C-DED6-E4BD45B45444}"/>
          </ac:spMkLst>
        </pc:spChg>
        <pc:spChg chg="del">
          <ac:chgData name="Hayato Ishida" userId="585fa0fa6384767c" providerId="LiveId" clId="{9B655FD3-2E03-433A-8EE1-C7CE7410AEAE}" dt="2025-08-31T17:48:45.699" v="4" actId="478"/>
          <ac:spMkLst>
            <pc:docMk/>
            <pc:sldMk cId="155858466" sldId="286"/>
            <ac:spMk id="3" creationId="{5EE35187-6F35-A979-DFF4-335E07D68DCE}"/>
          </ac:spMkLst>
        </pc:spChg>
        <pc:spChg chg="del">
          <ac:chgData name="Hayato Ishida" userId="585fa0fa6384767c" providerId="LiveId" clId="{9B655FD3-2E03-433A-8EE1-C7CE7410AEAE}" dt="2025-08-31T17:48:45.699" v="4" actId="478"/>
          <ac:spMkLst>
            <pc:docMk/>
            <pc:sldMk cId="155858466" sldId="286"/>
            <ac:spMk id="4" creationId="{254D3DE8-E4A1-0F80-2F66-821F5E5537F1}"/>
          </ac:spMkLst>
        </pc:spChg>
        <pc:spChg chg="add del mod">
          <ac:chgData name="Hayato Ishida" userId="585fa0fa6384767c" providerId="LiveId" clId="{9B655FD3-2E03-433A-8EE1-C7CE7410AEAE}" dt="2025-08-31T17:48:46.212" v="5" actId="478"/>
          <ac:spMkLst>
            <pc:docMk/>
            <pc:sldMk cId="155858466" sldId="286"/>
            <ac:spMk id="6" creationId="{6E663936-09D1-746B-8C70-ED2C11F58089}"/>
          </ac:spMkLst>
        </pc:spChg>
        <pc:spChg chg="add mod">
          <ac:chgData name="Hayato Ishida" userId="585fa0fa6384767c" providerId="LiveId" clId="{9B655FD3-2E03-433A-8EE1-C7CE7410AEAE}" dt="2025-08-31T17:50:44.031" v="8"/>
          <ac:spMkLst>
            <pc:docMk/>
            <pc:sldMk cId="155858466" sldId="286"/>
            <ac:spMk id="7" creationId="{8F2356BE-F8B5-AECB-D603-7B1447CE6879}"/>
          </ac:spMkLst>
        </pc:spChg>
        <pc:spChg chg="add mod">
          <ac:chgData name="Hayato Ishida" userId="585fa0fa6384767c" providerId="LiveId" clId="{9B655FD3-2E03-433A-8EE1-C7CE7410AEAE}" dt="2025-08-31T17:50:44.031" v="8"/>
          <ac:spMkLst>
            <pc:docMk/>
            <pc:sldMk cId="155858466" sldId="286"/>
            <ac:spMk id="8" creationId="{0E921CED-71DD-6DDA-7E33-534B8E34406B}"/>
          </ac:spMkLst>
        </pc:spChg>
        <pc:graphicFrameChg chg="add mod">
          <ac:chgData name="Hayato Ishida" userId="585fa0fa6384767c" providerId="LiveId" clId="{9B655FD3-2E03-433A-8EE1-C7CE7410AEAE}" dt="2025-08-31T17:50:44.031" v="8"/>
          <ac:graphicFrameMkLst>
            <pc:docMk/>
            <pc:sldMk cId="155858466" sldId="286"/>
            <ac:graphicFrameMk id="9" creationId="{F639020B-241E-F4C4-9367-BAB85C239D09}"/>
          </ac:graphicFrameMkLst>
        </pc:graphicFrameChg>
      </pc:sldChg>
      <pc:sldChg chg="addSp delSp modSp mod">
        <pc:chgData name="Hayato Ishida" userId="585fa0fa6384767c" providerId="LiveId" clId="{9B655FD3-2E03-433A-8EE1-C7CE7410AEAE}" dt="2025-08-31T17:50:07.904" v="7"/>
        <pc:sldMkLst>
          <pc:docMk/>
          <pc:sldMk cId="654251065" sldId="287"/>
        </pc:sldMkLst>
        <pc:spChg chg="del">
          <ac:chgData name="Hayato Ishida" userId="585fa0fa6384767c" providerId="LiveId" clId="{9B655FD3-2E03-433A-8EE1-C7CE7410AEAE}" dt="2025-08-31T17:48:39.835" v="0" actId="478"/>
          <ac:spMkLst>
            <pc:docMk/>
            <pc:sldMk cId="654251065" sldId="287"/>
            <ac:spMk id="2" creationId="{6BA3BB3B-1214-DCDA-6F81-2215618BF01E}"/>
          </ac:spMkLst>
        </pc:spChg>
        <pc:spChg chg="del">
          <ac:chgData name="Hayato Ishida" userId="585fa0fa6384767c" providerId="LiveId" clId="{9B655FD3-2E03-433A-8EE1-C7CE7410AEAE}" dt="2025-08-31T17:48:39.835" v="0" actId="478"/>
          <ac:spMkLst>
            <pc:docMk/>
            <pc:sldMk cId="654251065" sldId="287"/>
            <ac:spMk id="3" creationId="{337AB082-0D88-1B1D-47AE-74618CEEAFB7}"/>
          </ac:spMkLst>
        </pc:spChg>
        <pc:spChg chg="del">
          <ac:chgData name="Hayato Ishida" userId="585fa0fa6384767c" providerId="LiveId" clId="{9B655FD3-2E03-433A-8EE1-C7CE7410AEAE}" dt="2025-08-31T17:48:39.835" v="0" actId="478"/>
          <ac:spMkLst>
            <pc:docMk/>
            <pc:sldMk cId="654251065" sldId="287"/>
            <ac:spMk id="4" creationId="{B2AB83BB-EA7E-28A2-2793-6345138EEBC9}"/>
          </ac:spMkLst>
        </pc:spChg>
        <pc:spChg chg="add del mod">
          <ac:chgData name="Hayato Ishida" userId="585fa0fa6384767c" providerId="LiveId" clId="{9B655FD3-2E03-433A-8EE1-C7CE7410AEAE}" dt="2025-08-31T17:48:40.297" v="1" actId="478"/>
          <ac:spMkLst>
            <pc:docMk/>
            <pc:sldMk cId="654251065" sldId="287"/>
            <ac:spMk id="7" creationId="{B8F9A53A-690D-D9A1-D084-9BA6C1966322}"/>
          </ac:spMkLst>
        </pc:spChg>
        <pc:spChg chg="add del mod">
          <ac:chgData name="Hayato Ishida" userId="585fa0fa6384767c" providerId="LiveId" clId="{9B655FD3-2E03-433A-8EE1-C7CE7410AEAE}" dt="2025-08-31T17:48:40.297" v="1" actId="478"/>
          <ac:spMkLst>
            <pc:docMk/>
            <pc:sldMk cId="654251065" sldId="287"/>
            <ac:spMk id="9" creationId="{006D8C32-5731-5301-F097-505C8C119951}"/>
          </ac:spMkLst>
        </pc:spChg>
        <pc:spChg chg="add mod">
          <ac:chgData name="Hayato Ishida" userId="585fa0fa6384767c" providerId="LiveId" clId="{9B655FD3-2E03-433A-8EE1-C7CE7410AEAE}" dt="2025-08-31T17:50:07.904" v="7"/>
          <ac:spMkLst>
            <pc:docMk/>
            <pc:sldMk cId="654251065" sldId="287"/>
            <ac:spMk id="11" creationId="{89E68996-2289-272C-370E-386B62BA769F}"/>
          </ac:spMkLst>
        </pc:spChg>
        <pc:spChg chg="add mod">
          <ac:chgData name="Hayato Ishida" userId="585fa0fa6384767c" providerId="LiveId" clId="{9B655FD3-2E03-433A-8EE1-C7CE7410AEAE}" dt="2025-08-31T17:50:07.904" v="7"/>
          <ac:spMkLst>
            <pc:docMk/>
            <pc:sldMk cId="654251065" sldId="287"/>
            <ac:spMk id="12" creationId="{25B9F717-B94D-30C5-13A8-E750CC8A2783}"/>
          </ac:spMkLst>
        </pc:spChg>
        <pc:spChg chg="add mod">
          <ac:chgData name="Hayato Ishida" userId="585fa0fa6384767c" providerId="LiveId" clId="{9B655FD3-2E03-433A-8EE1-C7CE7410AEAE}" dt="2025-08-31T17:50:07.904" v="7"/>
          <ac:spMkLst>
            <pc:docMk/>
            <pc:sldMk cId="654251065" sldId="287"/>
            <ac:spMk id="13" creationId="{2252423B-3E84-F70A-BF38-1AEE32C698DA}"/>
          </ac:spMkLst>
        </pc:spChg>
        <pc:picChg chg="del">
          <ac:chgData name="Hayato Ishida" userId="585fa0fa6384767c" providerId="LiveId" clId="{9B655FD3-2E03-433A-8EE1-C7CE7410AEAE}" dt="2025-08-31T17:48:39.835" v="0" actId="478"/>
          <ac:picMkLst>
            <pc:docMk/>
            <pc:sldMk cId="654251065" sldId="287"/>
            <ac:picMk id="5" creationId="{F94FE195-ACF3-D371-C16D-8E6EDF2B56EA}"/>
          </ac:picMkLst>
        </pc:picChg>
        <pc:picChg chg="add mod">
          <ac:chgData name="Hayato Ishida" userId="585fa0fa6384767c" providerId="LiveId" clId="{9B655FD3-2E03-433A-8EE1-C7CE7410AEAE}" dt="2025-08-31T17:50:07.904" v="7"/>
          <ac:picMkLst>
            <pc:docMk/>
            <pc:sldMk cId="654251065" sldId="287"/>
            <ac:picMk id="10" creationId="{411D8DDD-25F0-79E9-38EE-C5C2B1D6F2A4}"/>
          </ac:picMkLst>
        </pc:picChg>
      </pc:sldChg>
      <pc:sldChg chg="addSp delSp modSp mod">
        <pc:chgData name="Hayato Ishida" userId="585fa0fa6384767c" providerId="LiveId" clId="{9B655FD3-2E03-433A-8EE1-C7CE7410AEAE}" dt="2025-08-31T17:51:22.977" v="10"/>
        <pc:sldMkLst>
          <pc:docMk/>
          <pc:sldMk cId="417452178" sldId="387"/>
        </pc:sldMkLst>
        <pc:spChg chg="add del mod">
          <ac:chgData name="Hayato Ishida" userId="585fa0fa6384767c" providerId="LiveId" clId="{9B655FD3-2E03-433A-8EE1-C7CE7410AEAE}" dt="2025-08-31T17:48:43.570" v="3" actId="478"/>
          <ac:spMkLst>
            <pc:docMk/>
            <pc:sldMk cId="417452178" sldId="387"/>
            <ac:spMk id="3" creationId="{8EFA8C65-0515-4207-DBAB-5A277233A887}"/>
          </ac:spMkLst>
        </pc:spChg>
        <pc:spChg chg="add del mod">
          <ac:chgData name="Hayato Ishida" userId="585fa0fa6384767c" providerId="LiveId" clId="{9B655FD3-2E03-433A-8EE1-C7CE7410AEAE}" dt="2025-08-31T17:48:43.570" v="3" actId="478"/>
          <ac:spMkLst>
            <pc:docMk/>
            <pc:sldMk cId="417452178" sldId="387"/>
            <ac:spMk id="5" creationId="{B1522B1F-F2AE-D981-470F-DC1CB6C6C974}"/>
          </ac:spMkLst>
        </pc:spChg>
        <pc:spChg chg="del">
          <ac:chgData name="Hayato Ishida" userId="585fa0fa6384767c" providerId="LiveId" clId="{9B655FD3-2E03-433A-8EE1-C7CE7410AEAE}" dt="2025-08-31T17:48:43.153" v="2" actId="478"/>
          <ac:spMkLst>
            <pc:docMk/>
            <pc:sldMk cId="417452178" sldId="387"/>
            <ac:spMk id="6" creationId="{4CC4D21A-B798-902A-AD2F-CCEF45BA0CC8}"/>
          </ac:spMkLst>
        </pc:spChg>
        <pc:spChg chg="del">
          <ac:chgData name="Hayato Ishida" userId="585fa0fa6384767c" providerId="LiveId" clId="{9B655FD3-2E03-433A-8EE1-C7CE7410AEAE}" dt="2025-08-31T17:48:43.153" v="2" actId="478"/>
          <ac:spMkLst>
            <pc:docMk/>
            <pc:sldMk cId="417452178" sldId="387"/>
            <ac:spMk id="7" creationId="{F4EECFEB-CDB9-69A5-6CEA-9BCBE6B4DFDF}"/>
          </ac:spMkLst>
        </pc:spChg>
        <pc:spChg chg="del">
          <ac:chgData name="Hayato Ishida" userId="585fa0fa6384767c" providerId="LiveId" clId="{9B655FD3-2E03-433A-8EE1-C7CE7410AEAE}" dt="2025-08-31T17:48:43.153" v="2" actId="478"/>
          <ac:spMkLst>
            <pc:docMk/>
            <pc:sldMk cId="417452178" sldId="387"/>
            <ac:spMk id="8" creationId="{951EF88E-FFFA-549B-2569-5C543AFB3E96}"/>
          </ac:spMkLst>
        </pc:spChg>
        <pc:spChg chg="add mod">
          <ac:chgData name="Hayato Ishida" userId="585fa0fa6384767c" providerId="LiveId" clId="{9B655FD3-2E03-433A-8EE1-C7CE7410AEAE}" dt="2025-08-31T17:51:22.977" v="10"/>
          <ac:spMkLst>
            <pc:docMk/>
            <pc:sldMk cId="417452178" sldId="387"/>
            <ac:spMk id="9" creationId="{110DA00C-90B3-92BA-EF46-E3EDD9D5886A}"/>
          </ac:spMkLst>
        </pc:spChg>
        <pc:spChg chg="add mod">
          <ac:chgData name="Hayato Ishida" userId="585fa0fa6384767c" providerId="LiveId" clId="{9B655FD3-2E03-433A-8EE1-C7CE7410AEAE}" dt="2025-08-31T17:51:22.977" v="10"/>
          <ac:spMkLst>
            <pc:docMk/>
            <pc:sldMk cId="417452178" sldId="387"/>
            <ac:spMk id="10" creationId="{EA6768FC-4A6F-87AA-CAFB-E9F3F4CF928D}"/>
          </ac:spMkLst>
        </pc:spChg>
        <pc:spChg chg="add mod">
          <ac:chgData name="Hayato Ishida" userId="585fa0fa6384767c" providerId="LiveId" clId="{9B655FD3-2E03-433A-8EE1-C7CE7410AEAE}" dt="2025-08-31T17:51:22.977" v="10"/>
          <ac:spMkLst>
            <pc:docMk/>
            <pc:sldMk cId="417452178" sldId="387"/>
            <ac:spMk id="11" creationId="{51F245BE-E4E4-696B-40FA-D36DA741433F}"/>
          </ac:spMkLst>
        </pc:spChg>
      </pc:sldChg>
      <pc:sldChg chg="addSp modSp add">
        <pc:chgData name="Hayato Ishida" userId="585fa0fa6384767c" providerId="LiveId" clId="{9B655FD3-2E03-433A-8EE1-C7CE7410AEAE}" dt="2025-08-31T17:51:06.723" v="9"/>
        <pc:sldMkLst>
          <pc:docMk/>
          <pc:sldMk cId="1497606150" sldId="411"/>
        </pc:sldMkLst>
        <pc:spChg chg="add mod">
          <ac:chgData name="Hayato Ishida" userId="585fa0fa6384767c" providerId="LiveId" clId="{9B655FD3-2E03-433A-8EE1-C7CE7410AEAE}" dt="2025-08-31T17:51:06.723" v="9"/>
          <ac:spMkLst>
            <pc:docMk/>
            <pc:sldMk cId="1497606150" sldId="411"/>
            <ac:spMk id="2" creationId="{49112487-485F-CB44-31D2-465E40EABFA4}"/>
          </ac:spMkLst>
        </pc:spChg>
        <pc:spChg chg="add mod">
          <ac:chgData name="Hayato Ishida" userId="585fa0fa6384767c" providerId="LiveId" clId="{9B655FD3-2E03-433A-8EE1-C7CE7410AEAE}" dt="2025-08-31T17:51:06.723" v="9"/>
          <ac:spMkLst>
            <pc:docMk/>
            <pc:sldMk cId="1497606150" sldId="411"/>
            <ac:spMk id="3" creationId="{FB115C58-4408-D737-85A8-61D8E42FFD69}"/>
          </ac:spMkLst>
        </pc:spChg>
        <pc:graphicFrameChg chg="add mod">
          <ac:chgData name="Hayato Ishida" userId="585fa0fa6384767c" providerId="LiveId" clId="{9B655FD3-2E03-433A-8EE1-C7CE7410AEAE}" dt="2025-08-31T17:51:06.723" v="9"/>
          <ac:graphicFrameMkLst>
            <pc:docMk/>
            <pc:sldMk cId="1497606150" sldId="411"/>
            <ac:graphicFrameMk id="4" creationId="{E116012A-35F9-25B9-B496-EEB0F1A54FD5}"/>
          </ac:graphicFrameMkLst>
        </pc:graphicFrameChg>
      </pc:sldChg>
    </pc:docChg>
  </pc:docChgLst>
  <pc:docChgLst>
    <pc:chgData name="Hayato Ishida" userId="585fa0fa6384767c" providerId="LiveId" clId="{DCD137DC-1AAD-4148-ABB7-41256C79222C}"/>
    <pc:docChg chg="custSel modSld">
      <pc:chgData name="Hayato Ishida" userId="585fa0fa6384767c" providerId="LiveId" clId="{DCD137DC-1AAD-4148-ABB7-41256C79222C}" dt="2025-05-03T11:45:21.928" v="9"/>
      <pc:docMkLst>
        <pc:docMk/>
      </pc:docMkLst>
      <pc:sldChg chg="addSp delSp modSp mod">
        <pc:chgData name="Hayato Ishida" userId="585fa0fa6384767c" providerId="LiveId" clId="{DCD137DC-1AAD-4148-ABB7-41256C79222C}" dt="2025-05-03T11:45:21.928" v="9"/>
        <pc:sldMkLst>
          <pc:docMk/>
          <pc:sldMk cId="2567433019" sldId="280"/>
        </pc:sldMkLst>
      </pc:sldChg>
      <pc:sldChg chg="addSp delSp modSp mod">
        <pc:chgData name="Hayato Ishida" userId="585fa0fa6384767c" providerId="LiveId" clId="{DCD137DC-1AAD-4148-ABB7-41256C79222C}" dt="2025-05-03T11:45:01.103" v="8"/>
        <pc:sldMkLst>
          <pc:docMk/>
          <pc:sldMk cId="155858466" sldId="286"/>
        </pc:sldMkLst>
      </pc:sldChg>
      <pc:sldChg chg="addSp delSp modSp mod">
        <pc:chgData name="Hayato Ishida" userId="585fa0fa6384767c" providerId="LiveId" clId="{DCD137DC-1AAD-4148-ABB7-41256C79222C}" dt="2025-05-03T11:44:19.479" v="7"/>
        <pc:sldMkLst>
          <pc:docMk/>
          <pc:sldMk cId="654251065" sldId="28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44A6FF-6CD0-4509-9AC2-DC76F4CB715A}" type="doc">
      <dgm:prSet loTypeId="urn:microsoft.com/office/officeart/2005/8/layout/venn3" loCatId="relationship" qsTypeId="urn:microsoft.com/office/officeart/2005/8/quickstyle/simple1" qsCatId="simple" csTypeId="urn:microsoft.com/office/officeart/2005/8/colors/accent1_2" csCatId="accent1" phldr="1"/>
      <dgm:spPr/>
      <dgm:t>
        <a:bodyPr/>
        <a:lstStyle/>
        <a:p>
          <a:endParaRPr lang="en-GB"/>
        </a:p>
      </dgm:t>
    </dgm:pt>
    <dgm:pt modelId="{0BCBF355-3B73-45DD-9FB5-B9CB140C1E69}">
      <dgm:prSet phldrT="[Text]" custT="1"/>
      <dgm:spPr>
        <a:solidFill>
          <a:schemeClr val="accent1">
            <a:alpha val="50000"/>
          </a:schemeClr>
        </a:solidFill>
      </dgm:spPr>
      <dgm:t>
        <a:bodyPr/>
        <a:lstStyle/>
        <a:p>
          <a:r>
            <a:rPr lang="en-GB" altLang="ja-JP" sz="2000" b="1" dirty="0"/>
            <a:t>Type ACTIVE</a:t>
          </a:r>
          <a:endParaRPr lang="en-GB" sz="2000" b="1" dirty="0"/>
        </a:p>
      </dgm:t>
    </dgm:pt>
    <dgm:pt modelId="{F3B7436A-2236-4EF5-9F5E-49BEA21D2F8B}" type="parTrans" cxnId="{E95153B7-D010-4214-A25B-3472D0A279C0}">
      <dgm:prSet/>
      <dgm:spPr/>
      <dgm:t>
        <a:bodyPr/>
        <a:lstStyle/>
        <a:p>
          <a:endParaRPr lang="en-GB"/>
        </a:p>
      </dgm:t>
    </dgm:pt>
    <dgm:pt modelId="{250538C2-CAAC-4735-8664-89454101D08A}" type="sibTrans" cxnId="{E95153B7-D010-4214-A25B-3472D0A279C0}">
      <dgm:prSet/>
      <dgm:spPr/>
      <dgm:t>
        <a:bodyPr/>
        <a:lstStyle/>
        <a:p>
          <a:endParaRPr lang="en-GB"/>
        </a:p>
      </dgm:t>
    </dgm:pt>
    <dgm:pt modelId="{488AF57A-C1E0-49BC-88A1-9FDE0C573D57}">
      <dgm:prSet phldrT="[Text]" custT="1"/>
      <dgm:spPr>
        <a:solidFill>
          <a:schemeClr val="accent2">
            <a:alpha val="50000"/>
          </a:schemeClr>
        </a:solidFill>
      </dgm:spPr>
      <dgm:t>
        <a:bodyPr/>
        <a:lstStyle/>
        <a:p>
          <a:r>
            <a:rPr lang="en-GB" altLang="ja-JP" sz="1800" b="1" dirty="0"/>
            <a:t>Type PASSIVE</a:t>
          </a:r>
          <a:endParaRPr lang="en-GB" sz="1800" b="1" dirty="0"/>
        </a:p>
      </dgm:t>
    </dgm:pt>
    <dgm:pt modelId="{E3296C82-985F-4EED-A556-2D1BB1EEEFBB}" type="parTrans" cxnId="{0CB8A08D-4C5A-4E46-AB48-3ACD73E3ACA7}">
      <dgm:prSet/>
      <dgm:spPr/>
      <dgm:t>
        <a:bodyPr/>
        <a:lstStyle/>
        <a:p>
          <a:endParaRPr lang="en-GB"/>
        </a:p>
      </dgm:t>
    </dgm:pt>
    <dgm:pt modelId="{6E691DD8-1BEA-478C-8301-70F8A676E8B5}" type="sibTrans" cxnId="{0CB8A08D-4C5A-4E46-AB48-3ACD73E3ACA7}">
      <dgm:prSet/>
      <dgm:spPr/>
      <dgm:t>
        <a:bodyPr/>
        <a:lstStyle/>
        <a:p>
          <a:endParaRPr lang="en-GB"/>
        </a:p>
      </dgm:t>
    </dgm:pt>
    <dgm:pt modelId="{6F647C73-D99A-4C7B-AA82-68DF5BB1B4B2}" type="pres">
      <dgm:prSet presAssocID="{EA44A6FF-6CD0-4509-9AC2-DC76F4CB715A}" presName="Name0" presStyleCnt="0">
        <dgm:presLayoutVars>
          <dgm:dir/>
          <dgm:resizeHandles val="exact"/>
        </dgm:presLayoutVars>
      </dgm:prSet>
      <dgm:spPr/>
    </dgm:pt>
    <dgm:pt modelId="{956FCD88-FAEE-47A1-99E2-0AFA54B5EBA6}" type="pres">
      <dgm:prSet presAssocID="{0BCBF355-3B73-45DD-9FB5-B9CB140C1E69}" presName="Name5" presStyleLbl="vennNode1" presStyleIdx="0" presStyleCnt="2">
        <dgm:presLayoutVars>
          <dgm:bulletEnabled val="1"/>
        </dgm:presLayoutVars>
      </dgm:prSet>
      <dgm:spPr/>
    </dgm:pt>
    <dgm:pt modelId="{C45BDBE7-71D5-456A-B20C-40A17401FCEE}" type="pres">
      <dgm:prSet presAssocID="{250538C2-CAAC-4735-8664-89454101D08A}" presName="space" presStyleCnt="0"/>
      <dgm:spPr/>
    </dgm:pt>
    <dgm:pt modelId="{4CFCC12C-0257-432F-8E20-81E1611850CD}" type="pres">
      <dgm:prSet presAssocID="{488AF57A-C1E0-49BC-88A1-9FDE0C573D57}" presName="Name5" presStyleLbl="vennNode1" presStyleIdx="1" presStyleCnt="2">
        <dgm:presLayoutVars>
          <dgm:bulletEnabled val="1"/>
        </dgm:presLayoutVars>
      </dgm:prSet>
      <dgm:spPr/>
    </dgm:pt>
  </dgm:ptLst>
  <dgm:cxnLst>
    <dgm:cxn modelId="{53AF4C1B-A8C6-4FA3-98DF-047EF8DC557F}" type="presOf" srcId="{0BCBF355-3B73-45DD-9FB5-B9CB140C1E69}" destId="{956FCD88-FAEE-47A1-99E2-0AFA54B5EBA6}" srcOrd="0" destOrd="0" presId="urn:microsoft.com/office/officeart/2005/8/layout/venn3"/>
    <dgm:cxn modelId="{1D6C1C7E-D22A-49BE-9A56-2C803F10A3A6}" type="presOf" srcId="{488AF57A-C1E0-49BC-88A1-9FDE0C573D57}" destId="{4CFCC12C-0257-432F-8E20-81E1611850CD}" srcOrd="0" destOrd="0" presId="urn:microsoft.com/office/officeart/2005/8/layout/venn3"/>
    <dgm:cxn modelId="{0CB8A08D-4C5A-4E46-AB48-3ACD73E3ACA7}" srcId="{EA44A6FF-6CD0-4509-9AC2-DC76F4CB715A}" destId="{488AF57A-C1E0-49BC-88A1-9FDE0C573D57}" srcOrd="1" destOrd="0" parTransId="{E3296C82-985F-4EED-A556-2D1BB1EEEFBB}" sibTransId="{6E691DD8-1BEA-478C-8301-70F8A676E8B5}"/>
    <dgm:cxn modelId="{E95153B7-D010-4214-A25B-3472D0A279C0}" srcId="{EA44A6FF-6CD0-4509-9AC2-DC76F4CB715A}" destId="{0BCBF355-3B73-45DD-9FB5-B9CB140C1E69}" srcOrd="0" destOrd="0" parTransId="{F3B7436A-2236-4EF5-9F5E-49BEA21D2F8B}" sibTransId="{250538C2-CAAC-4735-8664-89454101D08A}"/>
    <dgm:cxn modelId="{FF2802D0-8CBD-4C3C-9057-E6EAE3C5CC32}" type="presOf" srcId="{EA44A6FF-6CD0-4509-9AC2-DC76F4CB715A}" destId="{6F647C73-D99A-4C7B-AA82-68DF5BB1B4B2}" srcOrd="0" destOrd="0" presId="urn:microsoft.com/office/officeart/2005/8/layout/venn3"/>
    <dgm:cxn modelId="{44B056B7-F946-4864-AEF3-35AA3BF101C2}" type="presParOf" srcId="{6F647C73-D99A-4C7B-AA82-68DF5BB1B4B2}" destId="{956FCD88-FAEE-47A1-99E2-0AFA54B5EBA6}" srcOrd="0" destOrd="0" presId="urn:microsoft.com/office/officeart/2005/8/layout/venn3"/>
    <dgm:cxn modelId="{878C41C2-84CD-44D3-A6E3-41C77244DE4B}" type="presParOf" srcId="{6F647C73-D99A-4C7B-AA82-68DF5BB1B4B2}" destId="{C45BDBE7-71D5-456A-B20C-40A17401FCEE}" srcOrd="1" destOrd="0" presId="urn:microsoft.com/office/officeart/2005/8/layout/venn3"/>
    <dgm:cxn modelId="{C24BF76A-506D-44B7-9638-EEF5BD446509}" type="presParOf" srcId="{6F647C73-D99A-4C7B-AA82-68DF5BB1B4B2}" destId="{4CFCC12C-0257-432F-8E20-81E1611850CD}" srcOrd="2" destOrd="0" presId="urn:microsoft.com/office/officeart/2005/8/layout/ven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A44A6FF-6CD0-4509-9AC2-DC76F4CB715A}" type="doc">
      <dgm:prSet loTypeId="urn:microsoft.com/office/officeart/2005/8/layout/venn3" loCatId="relationship" qsTypeId="urn:microsoft.com/office/officeart/2005/8/quickstyle/simple1" qsCatId="simple" csTypeId="urn:microsoft.com/office/officeart/2005/8/colors/accent1_2" csCatId="accent1" phldr="1"/>
      <dgm:spPr/>
      <dgm:t>
        <a:bodyPr/>
        <a:lstStyle/>
        <a:p>
          <a:endParaRPr lang="en-GB"/>
        </a:p>
      </dgm:t>
    </dgm:pt>
    <dgm:pt modelId="{0BCBF355-3B73-45DD-9FB5-B9CB140C1E69}">
      <dgm:prSet phldrT="[Text]" custT="1"/>
      <dgm:spPr>
        <a:solidFill>
          <a:schemeClr val="accent1">
            <a:alpha val="50000"/>
          </a:schemeClr>
        </a:solidFill>
      </dgm:spPr>
      <dgm:t>
        <a:bodyPr/>
        <a:lstStyle/>
        <a:p>
          <a:r>
            <a:rPr lang="en-GB" altLang="ja-JP" sz="1200" b="1" dirty="0"/>
            <a:t>Type ACTIVE</a:t>
          </a:r>
          <a:endParaRPr lang="en-GB" sz="1200" b="1" dirty="0"/>
        </a:p>
      </dgm:t>
    </dgm:pt>
    <dgm:pt modelId="{F3B7436A-2236-4EF5-9F5E-49BEA21D2F8B}" type="parTrans" cxnId="{E95153B7-D010-4214-A25B-3472D0A279C0}">
      <dgm:prSet/>
      <dgm:spPr/>
      <dgm:t>
        <a:bodyPr/>
        <a:lstStyle/>
        <a:p>
          <a:endParaRPr lang="en-GB"/>
        </a:p>
      </dgm:t>
    </dgm:pt>
    <dgm:pt modelId="{250538C2-CAAC-4735-8664-89454101D08A}" type="sibTrans" cxnId="{E95153B7-D010-4214-A25B-3472D0A279C0}">
      <dgm:prSet/>
      <dgm:spPr/>
      <dgm:t>
        <a:bodyPr/>
        <a:lstStyle/>
        <a:p>
          <a:endParaRPr lang="en-GB"/>
        </a:p>
      </dgm:t>
    </dgm:pt>
    <dgm:pt modelId="{488AF57A-C1E0-49BC-88A1-9FDE0C573D57}">
      <dgm:prSet phldrT="[Text]" custT="1"/>
      <dgm:spPr>
        <a:solidFill>
          <a:schemeClr val="accent2">
            <a:alpha val="50000"/>
          </a:schemeClr>
        </a:solidFill>
      </dgm:spPr>
      <dgm:t>
        <a:bodyPr/>
        <a:lstStyle/>
        <a:p>
          <a:r>
            <a:rPr lang="en-GB" altLang="ja-JP" sz="1100" b="1" dirty="0"/>
            <a:t>Type PASSIVE</a:t>
          </a:r>
          <a:endParaRPr lang="en-GB" sz="1100" b="1" dirty="0"/>
        </a:p>
      </dgm:t>
    </dgm:pt>
    <dgm:pt modelId="{E3296C82-985F-4EED-A556-2D1BB1EEEFBB}" type="parTrans" cxnId="{0CB8A08D-4C5A-4E46-AB48-3ACD73E3ACA7}">
      <dgm:prSet/>
      <dgm:spPr/>
      <dgm:t>
        <a:bodyPr/>
        <a:lstStyle/>
        <a:p>
          <a:endParaRPr lang="en-GB"/>
        </a:p>
      </dgm:t>
    </dgm:pt>
    <dgm:pt modelId="{6E691DD8-1BEA-478C-8301-70F8A676E8B5}" type="sibTrans" cxnId="{0CB8A08D-4C5A-4E46-AB48-3ACD73E3ACA7}">
      <dgm:prSet/>
      <dgm:spPr/>
      <dgm:t>
        <a:bodyPr/>
        <a:lstStyle/>
        <a:p>
          <a:endParaRPr lang="en-GB"/>
        </a:p>
      </dgm:t>
    </dgm:pt>
    <dgm:pt modelId="{6F647C73-D99A-4C7B-AA82-68DF5BB1B4B2}" type="pres">
      <dgm:prSet presAssocID="{EA44A6FF-6CD0-4509-9AC2-DC76F4CB715A}" presName="Name0" presStyleCnt="0">
        <dgm:presLayoutVars>
          <dgm:dir/>
          <dgm:resizeHandles val="exact"/>
        </dgm:presLayoutVars>
      </dgm:prSet>
      <dgm:spPr/>
    </dgm:pt>
    <dgm:pt modelId="{956FCD88-FAEE-47A1-99E2-0AFA54B5EBA6}" type="pres">
      <dgm:prSet presAssocID="{0BCBF355-3B73-45DD-9FB5-B9CB140C1E69}" presName="Name5" presStyleLbl="vennNode1" presStyleIdx="0" presStyleCnt="2">
        <dgm:presLayoutVars>
          <dgm:bulletEnabled val="1"/>
        </dgm:presLayoutVars>
      </dgm:prSet>
      <dgm:spPr/>
    </dgm:pt>
    <dgm:pt modelId="{C45BDBE7-71D5-456A-B20C-40A17401FCEE}" type="pres">
      <dgm:prSet presAssocID="{250538C2-CAAC-4735-8664-89454101D08A}" presName="space" presStyleCnt="0"/>
      <dgm:spPr/>
    </dgm:pt>
    <dgm:pt modelId="{4CFCC12C-0257-432F-8E20-81E1611850CD}" type="pres">
      <dgm:prSet presAssocID="{488AF57A-C1E0-49BC-88A1-9FDE0C573D57}" presName="Name5" presStyleLbl="vennNode1" presStyleIdx="1" presStyleCnt="2">
        <dgm:presLayoutVars>
          <dgm:bulletEnabled val="1"/>
        </dgm:presLayoutVars>
      </dgm:prSet>
      <dgm:spPr/>
    </dgm:pt>
  </dgm:ptLst>
  <dgm:cxnLst>
    <dgm:cxn modelId="{53AF4C1B-A8C6-4FA3-98DF-047EF8DC557F}" type="presOf" srcId="{0BCBF355-3B73-45DD-9FB5-B9CB140C1E69}" destId="{956FCD88-FAEE-47A1-99E2-0AFA54B5EBA6}" srcOrd="0" destOrd="0" presId="urn:microsoft.com/office/officeart/2005/8/layout/venn3"/>
    <dgm:cxn modelId="{1D6C1C7E-D22A-49BE-9A56-2C803F10A3A6}" type="presOf" srcId="{488AF57A-C1E0-49BC-88A1-9FDE0C573D57}" destId="{4CFCC12C-0257-432F-8E20-81E1611850CD}" srcOrd="0" destOrd="0" presId="urn:microsoft.com/office/officeart/2005/8/layout/venn3"/>
    <dgm:cxn modelId="{0CB8A08D-4C5A-4E46-AB48-3ACD73E3ACA7}" srcId="{EA44A6FF-6CD0-4509-9AC2-DC76F4CB715A}" destId="{488AF57A-C1E0-49BC-88A1-9FDE0C573D57}" srcOrd="1" destOrd="0" parTransId="{E3296C82-985F-4EED-A556-2D1BB1EEEFBB}" sibTransId="{6E691DD8-1BEA-478C-8301-70F8A676E8B5}"/>
    <dgm:cxn modelId="{E95153B7-D010-4214-A25B-3472D0A279C0}" srcId="{EA44A6FF-6CD0-4509-9AC2-DC76F4CB715A}" destId="{0BCBF355-3B73-45DD-9FB5-B9CB140C1E69}" srcOrd="0" destOrd="0" parTransId="{F3B7436A-2236-4EF5-9F5E-49BEA21D2F8B}" sibTransId="{250538C2-CAAC-4735-8664-89454101D08A}"/>
    <dgm:cxn modelId="{FF2802D0-8CBD-4C3C-9057-E6EAE3C5CC32}" type="presOf" srcId="{EA44A6FF-6CD0-4509-9AC2-DC76F4CB715A}" destId="{6F647C73-D99A-4C7B-AA82-68DF5BB1B4B2}" srcOrd="0" destOrd="0" presId="urn:microsoft.com/office/officeart/2005/8/layout/venn3"/>
    <dgm:cxn modelId="{44B056B7-F946-4864-AEF3-35AA3BF101C2}" type="presParOf" srcId="{6F647C73-D99A-4C7B-AA82-68DF5BB1B4B2}" destId="{956FCD88-FAEE-47A1-99E2-0AFA54B5EBA6}" srcOrd="0" destOrd="0" presId="urn:microsoft.com/office/officeart/2005/8/layout/venn3"/>
    <dgm:cxn modelId="{878C41C2-84CD-44D3-A6E3-41C77244DE4B}" type="presParOf" srcId="{6F647C73-D99A-4C7B-AA82-68DF5BB1B4B2}" destId="{C45BDBE7-71D5-456A-B20C-40A17401FCEE}" srcOrd="1" destOrd="0" presId="urn:microsoft.com/office/officeart/2005/8/layout/venn3"/>
    <dgm:cxn modelId="{C24BF76A-506D-44B7-9638-EEF5BD446509}" type="presParOf" srcId="{6F647C73-D99A-4C7B-AA82-68DF5BB1B4B2}" destId="{4CFCC12C-0257-432F-8E20-81E1611850CD}" srcOrd="2" destOrd="0" presId="urn:microsoft.com/office/officeart/2005/8/layout/ven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6FCD88-FAEE-47A1-99E2-0AFA54B5EBA6}">
      <dsp:nvSpPr>
        <dsp:cNvPr id="0" name=""/>
        <dsp:cNvSpPr/>
      </dsp:nvSpPr>
      <dsp:spPr>
        <a:xfrm>
          <a:off x="3286" y="61169"/>
          <a:ext cx="2333226" cy="2333226"/>
        </a:xfrm>
        <a:prstGeom prst="ellipse">
          <a:avLst/>
        </a:prstGeom>
        <a:solidFill>
          <a:schemeClr val="accent1">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28405" tIns="25400" rIns="128405" bIns="25400" numCol="1" spcCol="1270" anchor="ctr" anchorCtr="0">
          <a:noAutofit/>
        </a:bodyPr>
        <a:lstStyle/>
        <a:p>
          <a:pPr marL="0" lvl="0" indent="0" algn="ctr" defTabSz="889000">
            <a:lnSpc>
              <a:spcPct val="90000"/>
            </a:lnSpc>
            <a:spcBef>
              <a:spcPct val="0"/>
            </a:spcBef>
            <a:spcAft>
              <a:spcPct val="35000"/>
            </a:spcAft>
            <a:buNone/>
          </a:pPr>
          <a:r>
            <a:rPr lang="en-GB" altLang="ja-JP" sz="2000" b="1" kern="1200" dirty="0"/>
            <a:t>Type ACTIVE</a:t>
          </a:r>
          <a:endParaRPr lang="en-GB" sz="2000" b="1" kern="1200" dirty="0"/>
        </a:p>
      </dsp:txBody>
      <dsp:txXfrm>
        <a:off x="344979" y="402862"/>
        <a:ext cx="1649840" cy="1649840"/>
      </dsp:txXfrm>
    </dsp:sp>
    <dsp:sp modelId="{4CFCC12C-0257-432F-8E20-81E1611850CD}">
      <dsp:nvSpPr>
        <dsp:cNvPr id="0" name=""/>
        <dsp:cNvSpPr/>
      </dsp:nvSpPr>
      <dsp:spPr>
        <a:xfrm>
          <a:off x="1869867" y="61169"/>
          <a:ext cx="2333226" cy="2333226"/>
        </a:xfrm>
        <a:prstGeom prst="ellipse">
          <a:avLst/>
        </a:prstGeom>
        <a:solidFill>
          <a:schemeClr val="accent2">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28405" tIns="22860" rIns="128405" bIns="22860" numCol="1" spcCol="1270" anchor="ctr" anchorCtr="0">
          <a:noAutofit/>
        </a:bodyPr>
        <a:lstStyle/>
        <a:p>
          <a:pPr marL="0" lvl="0" indent="0" algn="ctr" defTabSz="800100">
            <a:lnSpc>
              <a:spcPct val="90000"/>
            </a:lnSpc>
            <a:spcBef>
              <a:spcPct val="0"/>
            </a:spcBef>
            <a:spcAft>
              <a:spcPct val="35000"/>
            </a:spcAft>
            <a:buNone/>
          </a:pPr>
          <a:r>
            <a:rPr lang="en-GB" altLang="ja-JP" sz="1800" b="1" kern="1200" dirty="0"/>
            <a:t>Type PASSIVE</a:t>
          </a:r>
          <a:endParaRPr lang="en-GB" sz="1800" b="1" kern="1200" dirty="0"/>
        </a:p>
      </dsp:txBody>
      <dsp:txXfrm>
        <a:off x="2211560" y="402862"/>
        <a:ext cx="1649840" cy="16498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6FCD88-FAEE-47A1-99E2-0AFA54B5EBA6}">
      <dsp:nvSpPr>
        <dsp:cNvPr id="0" name=""/>
        <dsp:cNvSpPr/>
      </dsp:nvSpPr>
      <dsp:spPr>
        <a:xfrm>
          <a:off x="692779" y="197"/>
          <a:ext cx="1567123" cy="1567123"/>
        </a:xfrm>
        <a:prstGeom prst="ellipse">
          <a:avLst/>
        </a:prstGeom>
        <a:solidFill>
          <a:schemeClr val="accent1">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86244" tIns="15240" rIns="86244" bIns="15240" numCol="1" spcCol="1270" anchor="ctr" anchorCtr="0">
          <a:noAutofit/>
        </a:bodyPr>
        <a:lstStyle/>
        <a:p>
          <a:pPr marL="0" lvl="0" indent="0" algn="ctr" defTabSz="533400">
            <a:lnSpc>
              <a:spcPct val="90000"/>
            </a:lnSpc>
            <a:spcBef>
              <a:spcPct val="0"/>
            </a:spcBef>
            <a:spcAft>
              <a:spcPct val="35000"/>
            </a:spcAft>
            <a:buNone/>
          </a:pPr>
          <a:r>
            <a:rPr lang="en-GB" altLang="ja-JP" sz="1200" b="1" kern="1200" dirty="0"/>
            <a:t>Type ACTIVE</a:t>
          </a:r>
          <a:endParaRPr lang="en-GB" sz="1200" b="1" kern="1200" dirty="0"/>
        </a:p>
      </dsp:txBody>
      <dsp:txXfrm>
        <a:off x="922279" y="229697"/>
        <a:ext cx="1108123" cy="1108123"/>
      </dsp:txXfrm>
    </dsp:sp>
    <dsp:sp modelId="{4CFCC12C-0257-432F-8E20-81E1611850CD}">
      <dsp:nvSpPr>
        <dsp:cNvPr id="0" name=""/>
        <dsp:cNvSpPr/>
      </dsp:nvSpPr>
      <dsp:spPr>
        <a:xfrm>
          <a:off x="1946477" y="197"/>
          <a:ext cx="1567123" cy="1567123"/>
        </a:xfrm>
        <a:prstGeom prst="ellipse">
          <a:avLst/>
        </a:prstGeom>
        <a:solidFill>
          <a:schemeClr val="accent2">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86244" tIns="13970" rIns="86244" bIns="13970" numCol="1" spcCol="1270" anchor="ctr" anchorCtr="0">
          <a:noAutofit/>
        </a:bodyPr>
        <a:lstStyle/>
        <a:p>
          <a:pPr marL="0" lvl="0" indent="0" algn="ctr" defTabSz="488950">
            <a:lnSpc>
              <a:spcPct val="90000"/>
            </a:lnSpc>
            <a:spcBef>
              <a:spcPct val="0"/>
            </a:spcBef>
            <a:spcAft>
              <a:spcPct val="35000"/>
            </a:spcAft>
            <a:buNone/>
          </a:pPr>
          <a:r>
            <a:rPr lang="en-GB" altLang="ja-JP" sz="1100" b="1" kern="1200" dirty="0"/>
            <a:t>Type PASSIVE</a:t>
          </a:r>
          <a:endParaRPr lang="en-GB" sz="1100" b="1" kern="1200" dirty="0"/>
        </a:p>
      </dsp:txBody>
      <dsp:txXfrm>
        <a:off x="2175977" y="229697"/>
        <a:ext cx="1108123" cy="1108123"/>
      </dsp:txXfrm>
    </dsp:sp>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C77555-114C-4D13-A8E9-982D3FBDE682}" type="datetimeFigureOut">
              <a:rPr lang="en-GB" smtClean="0"/>
              <a:t>01/09/2025</a:t>
            </a:fld>
            <a:endParaRPr lang="en-GB"/>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87483F-3F00-45CA-B9CE-71766AA0FCEC}" type="slidenum">
              <a:rPr lang="en-GB" smtClean="0"/>
              <a:t>‹#›</a:t>
            </a:fld>
            <a:endParaRPr lang="en-GB"/>
          </a:p>
        </p:txBody>
      </p:sp>
    </p:spTree>
    <p:extLst>
      <p:ext uri="{BB962C8B-B14F-4D97-AF65-F5344CB8AC3E}">
        <p14:creationId xmlns:p14="http://schemas.microsoft.com/office/powerpoint/2010/main" val="3440713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23A420-A6C3-4DFD-BC9B-A28C54480400}"/>
              </a:ext>
            </a:extLst>
          </p:cNvPr>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GB"/>
          </a:p>
        </p:txBody>
      </p:sp>
      <p:sp>
        <p:nvSpPr>
          <p:cNvPr id="3" name="字幕 2">
            <a:extLst>
              <a:ext uri="{FF2B5EF4-FFF2-40B4-BE49-F238E27FC236}">
                <a16:creationId xmlns:a16="http://schemas.microsoft.com/office/drawing/2014/main" id="{27785ED6-1F11-4995-8802-E7A92ED6F2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GB"/>
          </a:p>
        </p:txBody>
      </p:sp>
      <p:sp>
        <p:nvSpPr>
          <p:cNvPr id="4" name="日付プレースホルダー 3">
            <a:extLst>
              <a:ext uri="{FF2B5EF4-FFF2-40B4-BE49-F238E27FC236}">
                <a16:creationId xmlns:a16="http://schemas.microsoft.com/office/drawing/2014/main" id="{267A83ED-D7FC-4E75-93FA-7CA4EB139197}"/>
              </a:ext>
            </a:extLst>
          </p:cNvPr>
          <p:cNvSpPr>
            <a:spLocks noGrp="1"/>
          </p:cNvSpPr>
          <p:nvPr>
            <p:ph type="dt" sz="half" idx="10"/>
          </p:nvPr>
        </p:nvSpPr>
        <p:spPr/>
        <p:txBody>
          <a:bodyPr/>
          <a:lstStyle/>
          <a:p>
            <a:fld id="{AF5D98A5-C926-421E-8D16-8672B57BCFF1}" type="datetime1">
              <a:rPr lang="en-GB" smtClean="0"/>
              <a:t>01/09/2025</a:t>
            </a:fld>
            <a:endParaRPr lang="en-GB"/>
          </a:p>
        </p:txBody>
      </p:sp>
      <p:sp>
        <p:nvSpPr>
          <p:cNvPr id="5" name="フッター プレースホルダー 4">
            <a:extLst>
              <a:ext uri="{FF2B5EF4-FFF2-40B4-BE49-F238E27FC236}">
                <a16:creationId xmlns:a16="http://schemas.microsoft.com/office/drawing/2014/main" id="{1D536A7D-2F90-40CC-80C9-D5DFA5931BEA}"/>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22F47EE9-ABD2-45F2-8DDF-94F9AFE52B5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438114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762872-9097-4551-92E5-A9EFABF75DFB}"/>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D276671E-317F-404E-8053-6A0A955B7C1C}"/>
              </a:ext>
            </a:extLst>
          </p:cNvPr>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9917538-7854-4E06-A143-495AC9D08204}"/>
              </a:ext>
            </a:extLst>
          </p:cNvPr>
          <p:cNvSpPr>
            <a:spLocks noGrp="1"/>
          </p:cNvSpPr>
          <p:nvPr>
            <p:ph type="dt" sz="half" idx="10"/>
          </p:nvPr>
        </p:nvSpPr>
        <p:spPr/>
        <p:txBody>
          <a:bodyPr/>
          <a:lstStyle/>
          <a:p>
            <a:fld id="{5A2F9E5C-BB41-4DEE-A1EA-DBAEA4256446}" type="datetime1">
              <a:rPr lang="en-GB" smtClean="0"/>
              <a:t>01/09/2025</a:t>
            </a:fld>
            <a:endParaRPr lang="en-GB"/>
          </a:p>
        </p:txBody>
      </p:sp>
      <p:sp>
        <p:nvSpPr>
          <p:cNvPr id="5" name="フッター プレースホルダー 4">
            <a:extLst>
              <a:ext uri="{FF2B5EF4-FFF2-40B4-BE49-F238E27FC236}">
                <a16:creationId xmlns:a16="http://schemas.microsoft.com/office/drawing/2014/main" id="{7A4511E7-C4EE-48B3-832D-D6EE6A960143}"/>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67D71E43-553D-4A66-92CB-9785522DCEB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118800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078576-E3DC-4F83-AFE3-90CF203F3C2A}"/>
              </a:ext>
            </a:extLst>
          </p:cNvPr>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B476DC57-139C-48BA-B542-00433365DC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日付プレースホルダー 3">
            <a:extLst>
              <a:ext uri="{FF2B5EF4-FFF2-40B4-BE49-F238E27FC236}">
                <a16:creationId xmlns:a16="http://schemas.microsoft.com/office/drawing/2014/main" id="{41BA6EC9-A18D-44DC-AC03-EDA535FC4C3D}"/>
              </a:ext>
            </a:extLst>
          </p:cNvPr>
          <p:cNvSpPr>
            <a:spLocks noGrp="1"/>
          </p:cNvSpPr>
          <p:nvPr>
            <p:ph type="dt" sz="half" idx="10"/>
          </p:nvPr>
        </p:nvSpPr>
        <p:spPr/>
        <p:txBody>
          <a:bodyPr/>
          <a:lstStyle/>
          <a:p>
            <a:fld id="{A7E24A89-DB0D-48E1-8471-1D24BDCF8ED1}" type="datetime1">
              <a:rPr lang="en-GB" smtClean="0"/>
              <a:t>01/09/2025</a:t>
            </a:fld>
            <a:endParaRPr lang="en-GB"/>
          </a:p>
        </p:txBody>
      </p:sp>
      <p:sp>
        <p:nvSpPr>
          <p:cNvPr id="5" name="フッター プレースホルダー 4">
            <a:extLst>
              <a:ext uri="{FF2B5EF4-FFF2-40B4-BE49-F238E27FC236}">
                <a16:creationId xmlns:a16="http://schemas.microsoft.com/office/drawing/2014/main" id="{B3649445-1B62-4CF3-8E24-C4237F94565E}"/>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75C343D9-1467-4169-8338-FE5AEB88B05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817010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7CB7BA-528D-4232-B694-570FC36B96A2}"/>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4BAFC298-407B-4183-A4C6-ECFBF7BE4B5D}"/>
              </a:ext>
            </a:extLst>
          </p:cNvPr>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コンテンツ プレースホルダー 3">
            <a:extLst>
              <a:ext uri="{FF2B5EF4-FFF2-40B4-BE49-F238E27FC236}">
                <a16:creationId xmlns:a16="http://schemas.microsoft.com/office/drawing/2014/main" id="{13819996-4F41-4E1B-A7D2-68A930127528}"/>
              </a:ext>
            </a:extLst>
          </p:cNvPr>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日付プレースホルダー 4">
            <a:extLst>
              <a:ext uri="{FF2B5EF4-FFF2-40B4-BE49-F238E27FC236}">
                <a16:creationId xmlns:a16="http://schemas.microsoft.com/office/drawing/2014/main" id="{D87AA123-3779-4C89-A120-D8C36EFF2EEB}"/>
              </a:ext>
            </a:extLst>
          </p:cNvPr>
          <p:cNvSpPr>
            <a:spLocks noGrp="1"/>
          </p:cNvSpPr>
          <p:nvPr>
            <p:ph type="dt" sz="half" idx="10"/>
          </p:nvPr>
        </p:nvSpPr>
        <p:spPr/>
        <p:txBody>
          <a:bodyPr/>
          <a:lstStyle/>
          <a:p>
            <a:fld id="{F64D5387-62D3-481B-BBE0-5C3C88B297B2}" type="datetime1">
              <a:rPr lang="en-GB" smtClean="0"/>
              <a:t>01/09/2025</a:t>
            </a:fld>
            <a:endParaRPr lang="en-GB"/>
          </a:p>
        </p:txBody>
      </p:sp>
      <p:sp>
        <p:nvSpPr>
          <p:cNvPr id="6" name="フッター プレースホルダー 5">
            <a:extLst>
              <a:ext uri="{FF2B5EF4-FFF2-40B4-BE49-F238E27FC236}">
                <a16:creationId xmlns:a16="http://schemas.microsoft.com/office/drawing/2014/main" id="{7BC9968F-4821-42DF-A0AE-DE8C2DAAC784}"/>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4E5EBA0-D3D5-4A64-B7F9-5BDAC45C478E}"/>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842740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2E56CA-F2EB-44BB-AF5E-63BAB6F11795}"/>
              </a:ext>
            </a:extLst>
          </p:cNvPr>
          <p:cNvSpPr>
            <a:spLocks noGrp="1"/>
          </p:cNvSpPr>
          <p:nvPr>
            <p:ph type="title"/>
          </p:nvPr>
        </p:nvSpPr>
        <p:spPr>
          <a:xfrm>
            <a:off x="839788" y="365125"/>
            <a:ext cx="10515600" cy="1325563"/>
          </a:xfrm>
        </p:spPr>
        <p:txBody>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DBC6BB7A-29D5-421E-A385-A3E3EB46BC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a:extLst>
              <a:ext uri="{FF2B5EF4-FFF2-40B4-BE49-F238E27FC236}">
                <a16:creationId xmlns:a16="http://schemas.microsoft.com/office/drawing/2014/main" id="{9AFA027A-6FEA-404B-A426-5714EEEEF59E}"/>
              </a:ext>
            </a:extLst>
          </p:cNvPr>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テキスト プレースホルダー 4">
            <a:extLst>
              <a:ext uri="{FF2B5EF4-FFF2-40B4-BE49-F238E27FC236}">
                <a16:creationId xmlns:a16="http://schemas.microsoft.com/office/drawing/2014/main" id="{E893EF15-B619-40ED-B8BE-2BF8815069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a:extLst>
              <a:ext uri="{FF2B5EF4-FFF2-40B4-BE49-F238E27FC236}">
                <a16:creationId xmlns:a16="http://schemas.microsoft.com/office/drawing/2014/main" id="{1F3F2AE8-4F41-4737-8697-4FF74A0A6C39}"/>
              </a:ext>
            </a:extLst>
          </p:cNvPr>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7" name="日付プレースホルダー 6">
            <a:extLst>
              <a:ext uri="{FF2B5EF4-FFF2-40B4-BE49-F238E27FC236}">
                <a16:creationId xmlns:a16="http://schemas.microsoft.com/office/drawing/2014/main" id="{2D695459-80F1-47BE-B12B-B91FB7221C80}"/>
              </a:ext>
            </a:extLst>
          </p:cNvPr>
          <p:cNvSpPr>
            <a:spLocks noGrp="1"/>
          </p:cNvSpPr>
          <p:nvPr>
            <p:ph type="dt" sz="half" idx="10"/>
          </p:nvPr>
        </p:nvSpPr>
        <p:spPr/>
        <p:txBody>
          <a:bodyPr/>
          <a:lstStyle/>
          <a:p>
            <a:fld id="{43CF17D8-7CE6-4CF7-8FAB-60185E786EB9}" type="datetime1">
              <a:rPr lang="en-GB" smtClean="0"/>
              <a:t>01/09/2025</a:t>
            </a:fld>
            <a:endParaRPr lang="en-GB"/>
          </a:p>
        </p:txBody>
      </p:sp>
      <p:sp>
        <p:nvSpPr>
          <p:cNvPr id="8" name="フッター プレースホルダー 7">
            <a:extLst>
              <a:ext uri="{FF2B5EF4-FFF2-40B4-BE49-F238E27FC236}">
                <a16:creationId xmlns:a16="http://schemas.microsoft.com/office/drawing/2014/main" id="{F522F667-D14E-47A7-8AF2-CA42934D6812}"/>
              </a:ext>
            </a:extLst>
          </p:cNvPr>
          <p:cNvSpPr>
            <a:spLocks noGrp="1"/>
          </p:cNvSpPr>
          <p:nvPr>
            <p:ph type="ftr" sz="quarter" idx="11"/>
          </p:nvPr>
        </p:nvSpPr>
        <p:spPr/>
        <p:txBody>
          <a:bodyPr/>
          <a:lstStyle/>
          <a:p>
            <a:endParaRPr lang="en-GB"/>
          </a:p>
        </p:txBody>
      </p:sp>
      <p:sp>
        <p:nvSpPr>
          <p:cNvPr id="9" name="スライド番号プレースホルダー 8">
            <a:extLst>
              <a:ext uri="{FF2B5EF4-FFF2-40B4-BE49-F238E27FC236}">
                <a16:creationId xmlns:a16="http://schemas.microsoft.com/office/drawing/2014/main" id="{B40F02E5-6D55-4748-8E9E-996F4576B4B9}"/>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681466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9F8DAA-4277-4BAC-B679-1957A2C7AAA9}"/>
              </a:ext>
            </a:extLst>
          </p:cNvPr>
          <p:cNvSpPr>
            <a:spLocks noGrp="1"/>
          </p:cNvSpPr>
          <p:nvPr>
            <p:ph type="title"/>
          </p:nvPr>
        </p:nvSpPr>
        <p:spPr/>
        <p:txBody>
          <a:bodyPr/>
          <a:lstStyle/>
          <a:p>
            <a:r>
              <a:rPr lang="ja-JP" altLang="en-US"/>
              <a:t>マスター タイトルの書式設定</a:t>
            </a:r>
            <a:endParaRPr lang="en-GB"/>
          </a:p>
        </p:txBody>
      </p:sp>
      <p:sp>
        <p:nvSpPr>
          <p:cNvPr id="3" name="日付プレースホルダー 2">
            <a:extLst>
              <a:ext uri="{FF2B5EF4-FFF2-40B4-BE49-F238E27FC236}">
                <a16:creationId xmlns:a16="http://schemas.microsoft.com/office/drawing/2014/main" id="{4B19C73D-345B-49EF-9EE4-390986E8FA04}"/>
              </a:ext>
            </a:extLst>
          </p:cNvPr>
          <p:cNvSpPr>
            <a:spLocks noGrp="1"/>
          </p:cNvSpPr>
          <p:nvPr>
            <p:ph type="dt" sz="half" idx="10"/>
          </p:nvPr>
        </p:nvSpPr>
        <p:spPr/>
        <p:txBody>
          <a:bodyPr/>
          <a:lstStyle/>
          <a:p>
            <a:fld id="{43C7B8A6-723D-47BA-A0C2-370A8E40CF5A}" type="datetime1">
              <a:rPr lang="en-GB" smtClean="0"/>
              <a:t>01/09/2025</a:t>
            </a:fld>
            <a:endParaRPr lang="en-GB"/>
          </a:p>
        </p:txBody>
      </p:sp>
      <p:sp>
        <p:nvSpPr>
          <p:cNvPr id="4" name="フッター プレースホルダー 3">
            <a:extLst>
              <a:ext uri="{FF2B5EF4-FFF2-40B4-BE49-F238E27FC236}">
                <a16:creationId xmlns:a16="http://schemas.microsoft.com/office/drawing/2014/main" id="{787A8E7A-3F8E-4FC5-BB3F-FD7FCEFA65A2}"/>
              </a:ext>
            </a:extLst>
          </p:cNvPr>
          <p:cNvSpPr>
            <a:spLocks noGrp="1"/>
          </p:cNvSpPr>
          <p:nvPr>
            <p:ph type="ftr" sz="quarter" idx="11"/>
          </p:nvPr>
        </p:nvSpPr>
        <p:spPr/>
        <p:txBody>
          <a:bodyPr/>
          <a:lstStyle/>
          <a:p>
            <a:endParaRPr lang="en-GB"/>
          </a:p>
        </p:txBody>
      </p:sp>
      <p:sp>
        <p:nvSpPr>
          <p:cNvPr id="5" name="スライド番号プレースホルダー 4">
            <a:extLst>
              <a:ext uri="{FF2B5EF4-FFF2-40B4-BE49-F238E27FC236}">
                <a16:creationId xmlns:a16="http://schemas.microsoft.com/office/drawing/2014/main" id="{5C3D0E4C-C376-468C-A780-75B4305757BA}"/>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55612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B5D00E3-6A1E-40BC-AA99-CAF238224846}"/>
              </a:ext>
            </a:extLst>
          </p:cNvPr>
          <p:cNvSpPr>
            <a:spLocks noGrp="1"/>
          </p:cNvSpPr>
          <p:nvPr>
            <p:ph type="dt" sz="half" idx="10"/>
          </p:nvPr>
        </p:nvSpPr>
        <p:spPr/>
        <p:txBody>
          <a:bodyPr/>
          <a:lstStyle/>
          <a:p>
            <a:fld id="{FB3FA632-D8E5-4DA3-B4CD-9FEBF68DCEB0}" type="datetime1">
              <a:rPr lang="en-GB" smtClean="0"/>
              <a:t>01/09/2025</a:t>
            </a:fld>
            <a:endParaRPr lang="en-GB"/>
          </a:p>
        </p:txBody>
      </p:sp>
      <p:sp>
        <p:nvSpPr>
          <p:cNvPr id="3" name="フッター プレースホルダー 2">
            <a:extLst>
              <a:ext uri="{FF2B5EF4-FFF2-40B4-BE49-F238E27FC236}">
                <a16:creationId xmlns:a16="http://schemas.microsoft.com/office/drawing/2014/main" id="{45AEBF75-6C76-481B-9AAC-C70F3C28C99E}"/>
              </a:ext>
            </a:extLst>
          </p:cNvPr>
          <p:cNvSpPr>
            <a:spLocks noGrp="1"/>
          </p:cNvSpPr>
          <p:nvPr>
            <p:ph type="ftr" sz="quarter" idx="11"/>
          </p:nvPr>
        </p:nvSpPr>
        <p:spPr/>
        <p:txBody>
          <a:bodyPr/>
          <a:lstStyle/>
          <a:p>
            <a:endParaRPr lang="en-GB"/>
          </a:p>
        </p:txBody>
      </p:sp>
      <p:sp>
        <p:nvSpPr>
          <p:cNvPr id="4" name="スライド番号プレースホルダー 3">
            <a:extLst>
              <a:ext uri="{FF2B5EF4-FFF2-40B4-BE49-F238E27FC236}">
                <a16:creationId xmlns:a16="http://schemas.microsoft.com/office/drawing/2014/main" id="{9CEB2586-BFD5-4D03-9AFF-B3681D6009F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192471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41D1B4-D81C-46C1-A422-8FE83A5AA20B}"/>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1E1E09BE-13F6-4301-AB16-2FB109C5FA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テキスト プレースホルダー 3">
            <a:extLst>
              <a:ext uri="{FF2B5EF4-FFF2-40B4-BE49-F238E27FC236}">
                <a16:creationId xmlns:a16="http://schemas.microsoft.com/office/drawing/2014/main" id="{16B65445-0016-4746-A03B-F99F35DC5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412A4359-9369-4B46-B534-E689E6C82224}"/>
              </a:ext>
            </a:extLst>
          </p:cNvPr>
          <p:cNvSpPr>
            <a:spLocks noGrp="1"/>
          </p:cNvSpPr>
          <p:nvPr>
            <p:ph type="dt" sz="half" idx="10"/>
          </p:nvPr>
        </p:nvSpPr>
        <p:spPr/>
        <p:txBody>
          <a:bodyPr/>
          <a:lstStyle/>
          <a:p>
            <a:fld id="{1A7EE16D-35BE-4BE7-8AC7-B36F6CD3E5EC}" type="datetime1">
              <a:rPr lang="en-GB" smtClean="0"/>
              <a:t>01/09/2025</a:t>
            </a:fld>
            <a:endParaRPr lang="en-GB"/>
          </a:p>
        </p:txBody>
      </p:sp>
      <p:sp>
        <p:nvSpPr>
          <p:cNvPr id="6" name="フッター プレースホルダー 5">
            <a:extLst>
              <a:ext uri="{FF2B5EF4-FFF2-40B4-BE49-F238E27FC236}">
                <a16:creationId xmlns:a16="http://schemas.microsoft.com/office/drawing/2014/main" id="{624D53E0-DB50-4B50-B03D-8BE605AB130B}"/>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9C70555-581F-4360-BAC1-A48E44C00A7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554050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66E174-3B05-4E93-8F98-F5A96D0E2499}"/>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図プレースホルダー 2">
            <a:extLst>
              <a:ext uri="{FF2B5EF4-FFF2-40B4-BE49-F238E27FC236}">
                <a16:creationId xmlns:a16="http://schemas.microsoft.com/office/drawing/2014/main" id="{85CB358A-32CB-4FF7-A5B9-C9D674144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テキスト プレースホルダー 3">
            <a:extLst>
              <a:ext uri="{FF2B5EF4-FFF2-40B4-BE49-F238E27FC236}">
                <a16:creationId xmlns:a16="http://schemas.microsoft.com/office/drawing/2014/main" id="{959E880C-6797-422C-88D2-B2770328C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6792A9D5-AA4C-470B-8443-CDF698845A59}"/>
              </a:ext>
            </a:extLst>
          </p:cNvPr>
          <p:cNvSpPr>
            <a:spLocks noGrp="1"/>
          </p:cNvSpPr>
          <p:nvPr>
            <p:ph type="dt" sz="half" idx="10"/>
          </p:nvPr>
        </p:nvSpPr>
        <p:spPr/>
        <p:txBody>
          <a:bodyPr/>
          <a:lstStyle/>
          <a:p>
            <a:fld id="{92CD8CDB-487D-4044-B328-87D0F47F3BCF}" type="datetime1">
              <a:rPr lang="en-GB" smtClean="0"/>
              <a:t>01/09/2025</a:t>
            </a:fld>
            <a:endParaRPr lang="en-GB"/>
          </a:p>
        </p:txBody>
      </p:sp>
      <p:sp>
        <p:nvSpPr>
          <p:cNvPr id="6" name="フッター プレースホルダー 5">
            <a:extLst>
              <a:ext uri="{FF2B5EF4-FFF2-40B4-BE49-F238E27FC236}">
                <a16:creationId xmlns:a16="http://schemas.microsoft.com/office/drawing/2014/main" id="{CEB74E2E-D53B-4179-9D35-961BC87E14FD}"/>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323E2AE7-E634-4EAE-8F14-FFAD0839CD7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740673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62EB38-BF66-471E-BD00-D145D524BCA6}"/>
              </a:ext>
            </a:extLst>
          </p:cNvPr>
          <p:cNvSpPr>
            <a:spLocks noGrp="1"/>
          </p:cNvSpPr>
          <p:nvPr>
            <p:ph type="title"/>
          </p:nvPr>
        </p:nvSpPr>
        <p:spPr/>
        <p:txBody>
          <a:bodyPr/>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B19676F2-6EB3-4837-8B9B-5101E00BEAC1}"/>
              </a:ext>
            </a:extLst>
          </p:cNvPr>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37AF1E77-D5D4-4EAA-A9ED-CBFF4D522A27}"/>
              </a:ext>
            </a:extLst>
          </p:cNvPr>
          <p:cNvSpPr>
            <a:spLocks noGrp="1"/>
          </p:cNvSpPr>
          <p:nvPr>
            <p:ph type="dt" sz="half" idx="10"/>
          </p:nvPr>
        </p:nvSpPr>
        <p:spPr/>
        <p:txBody>
          <a:bodyPr/>
          <a:lstStyle/>
          <a:p>
            <a:fld id="{2966C4E5-BC84-4427-9D05-A5F29CCAC796}" type="datetime1">
              <a:rPr lang="en-GB" smtClean="0"/>
              <a:t>01/09/2025</a:t>
            </a:fld>
            <a:endParaRPr lang="en-GB"/>
          </a:p>
        </p:txBody>
      </p:sp>
      <p:sp>
        <p:nvSpPr>
          <p:cNvPr id="5" name="フッター プレースホルダー 4">
            <a:extLst>
              <a:ext uri="{FF2B5EF4-FFF2-40B4-BE49-F238E27FC236}">
                <a16:creationId xmlns:a16="http://schemas.microsoft.com/office/drawing/2014/main" id="{8FDD2C66-E530-425A-B11C-F0A1B6D3A392}"/>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178EB1D0-A34F-44ED-9BDE-254AAD35999C}"/>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254094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D4C475-A351-4F11-BDB2-9B6FC662D4D0}"/>
              </a:ext>
            </a:extLst>
          </p:cNvPr>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C5C7FA4F-2A7F-4DD4-9719-303500EF7C46}"/>
              </a:ext>
            </a:extLst>
          </p:cNvPr>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E06604C8-FEBE-4C1F-A49E-F399EBF3DC2C}"/>
              </a:ext>
            </a:extLst>
          </p:cNvPr>
          <p:cNvSpPr>
            <a:spLocks noGrp="1"/>
          </p:cNvSpPr>
          <p:nvPr>
            <p:ph type="dt" sz="half" idx="10"/>
          </p:nvPr>
        </p:nvSpPr>
        <p:spPr/>
        <p:txBody>
          <a:bodyPr/>
          <a:lstStyle/>
          <a:p>
            <a:fld id="{7F1E0025-920B-4CEF-B7FD-D6EA5B89461B}" type="datetime1">
              <a:rPr lang="en-GB" smtClean="0"/>
              <a:t>01/09/2025</a:t>
            </a:fld>
            <a:endParaRPr lang="en-GB"/>
          </a:p>
        </p:txBody>
      </p:sp>
      <p:sp>
        <p:nvSpPr>
          <p:cNvPr id="5" name="フッター プレースホルダー 4">
            <a:extLst>
              <a:ext uri="{FF2B5EF4-FFF2-40B4-BE49-F238E27FC236}">
                <a16:creationId xmlns:a16="http://schemas.microsoft.com/office/drawing/2014/main" id="{0D405AEA-A514-4285-A292-E1F817D0FB27}"/>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F40B7D56-ED17-445E-BFE4-675A762E88CF}"/>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37885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63F3B0D-4141-4D30-8082-577CD41671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A027EF37-390B-4D5F-B2F6-103F90B81A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D639B55-8065-43F8-BF39-9B908098DB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92097A-6903-4692-A2D1-BE7A41A75E71}" type="datetime1">
              <a:rPr lang="en-GB" smtClean="0"/>
              <a:t>01/09/2025</a:t>
            </a:fld>
            <a:endParaRPr lang="en-GB"/>
          </a:p>
        </p:txBody>
      </p:sp>
      <p:sp>
        <p:nvSpPr>
          <p:cNvPr id="5" name="フッター プレースホルダー 4">
            <a:extLst>
              <a:ext uri="{FF2B5EF4-FFF2-40B4-BE49-F238E27FC236}">
                <a16:creationId xmlns:a16="http://schemas.microsoft.com/office/drawing/2014/main" id="{D16F0227-74FF-42A7-8C7D-0BD2B1E11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スライド番号プレースホルダー 5">
            <a:extLst>
              <a:ext uri="{FF2B5EF4-FFF2-40B4-BE49-F238E27FC236}">
                <a16:creationId xmlns:a16="http://schemas.microsoft.com/office/drawing/2014/main" id="{3B34893C-F66E-48FA-BA80-CC18FCF0AD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B731A-DCF7-4273-BA1A-21517ACBB5E5}" type="slidenum">
              <a:rPr lang="en-GB" smtClean="0"/>
              <a:t>‹#›</a:t>
            </a:fld>
            <a:endParaRPr lang="en-GB"/>
          </a:p>
        </p:txBody>
      </p:sp>
    </p:spTree>
    <p:extLst>
      <p:ext uri="{BB962C8B-B14F-4D97-AF65-F5344CB8AC3E}">
        <p14:creationId xmlns:p14="http://schemas.microsoft.com/office/powerpoint/2010/main" val="1019568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docswell.com/s/hayat01sh1da/KP28GQ-philosophy-of-career-planning-type-proactive-vs-type-passive"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docswell.com/user/hayat01sh1da" TargetMode="External"/><Relationship Id="rId3" Type="http://schemas.openxmlformats.org/officeDocument/2006/relationships/image" Target="../media/image2.jpg"/><Relationship Id="rId7" Type="http://schemas.openxmlformats.org/officeDocument/2006/relationships/hyperlink" Target="https://speakerdeck.com/hayat01sh1da"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ww.linkedin.com/in/hayat01sh1da/" TargetMode="External"/><Relationship Id="rId5" Type="http://schemas.openxmlformats.org/officeDocument/2006/relationships/hyperlink" Target="https://hackmd.io/@hayat01sh1da" TargetMode="External"/><Relationship Id="rId4" Type="http://schemas.openxmlformats.org/officeDocument/2006/relationships/hyperlink" Target="https://github.com/hayat01sh1da"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vitaljapan.com/" TargetMode="External"/><Relationship Id="rId3" Type="http://schemas.openxmlformats.org/officeDocument/2006/relationships/hyperlink" Target="http://www.centerye.org/" TargetMode="External"/><Relationship Id="rId7" Type="http://schemas.openxmlformats.org/officeDocument/2006/relationships/hyperlink" Target="https://sunrisetmc.toastmastersclubs.org/"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idiy.biz/teachers-profile/?id=4976" TargetMode="External"/><Relationship Id="rId5" Type="http://schemas.openxmlformats.org/officeDocument/2006/relationships/hyperlink" Target="https://stives-h.schools.nsw.gov.au/" TargetMode="External"/><Relationship Id="rId4" Type="http://schemas.openxmlformats.org/officeDocument/2006/relationships/hyperlink" Target="https://www.hamiltonisland.com.au/" TargetMode="External"/></Relationships>
</file>

<file path=ppt/slides/_rels/slide8.xml.rels><?xml version="1.0" encoding="UTF-8" standalone="yes"?>
<Relationships xmlns="http://schemas.openxmlformats.org/package/2006/relationships"><Relationship Id="rId8" Type="http://schemas.openxmlformats.org/officeDocument/2006/relationships/slide" Target="slide37.xml"/><Relationship Id="rId3" Type="http://schemas.openxmlformats.org/officeDocument/2006/relationships/slide" Target="slide9.xml"/><Relationship Id="rId7" Type="http://schemas.openxmlformats.org/officeDocument/2006/relationships/slide" Target="slide35.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 Target="slide31.xml"/><Relationship Id="rId5" Type="http://schemas.openxmlformats.org/officeDocument/2006/relationships/slide" Target="slide19.xml"/><Relationship Id="rId4" Type="http://schemas.openxmlformats.org/officeDocument/2006/relationships/slide" Target="slide1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recruit.co.jp/blog/culture/20220418_3234.html"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 Target="slide26.xml"/><Relationship Id="rId5" Type="http://schemas.openxmlformats.org/officeDocument/2006/relationships/slide" Target="slide25.xml"/><Relationship Id="rId4" Type="http://schemas.openxmlformats.org/officeDocument/2006/relationships/slide" Target="slide23.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www.recruit.co.jp/blog/culture/20220418_3234.html"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a:stretch>
        </a:blipFill>
        <a:effectLst/>
      </p:bgPr>
    </p:bg>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838FDBDF-AA97-A755-5929-CA04991594C5}"/>
              </a:ext>
            </a:extLst>
          </p:cNvPr>
          <p:cNvSpPr>
            <a:spLocks noGrp="1"/>
          </p:cNvSpPr>
          <p:nvPr>
            <p:ph type="ctrTitle"/>
          </p:nvPr>
        </p:nvSpPr>
        <p:spPr>
          <a:xfrm>
            <a:off x="1470870" y="1824605"/>
            <a:ext cx="9144000" cy="1689552"/>
          </a:xfrm>
          <a:ln>
            <a:noFill/>
          </a:ln>
        </p:spPr>
        <p:txBody>
          <a:bodyPr>
            <a:normAutofit/>
          </a:bodyPr>
          <a:lstStyle/>
          <a:p>
            <a:r>
              <a:rPr lang="en-GB" altLang="ja-JP" sz="5400" b="1" dirty="0">
                <a:effectLst>
                  <a:outerShdw blurRad="38100" dist="38100" dir="2700000" algn="tl">
                    <a:srgbClr val="000000">
                      <a:alpha val="43137"/>
                    </a:srgbClr>
                  </a:outerShdw>
                </a:effectLst>
                <a:latin typeface="Calibri (Headings)"/>
              </a:rPr>
              <a:t>Philosophy of Career Planning</a:t>
            </a:r>
            <a:endParaRPr lang="en-GB" sz="5400" b="1" dirty="0">
              <a:effectLst>
                <a:outerShdw blurRad="38100" dist="38100" dir="2700000" algn="tl">
                  <a:srgbClr val="000000">
                    <a:alpha val="43137"/>
                  </a:srgbClr>
                </a:outerShdw>
              </a:effectLst>
              <a:latin typeface="Calibri (Headings)"/>
            </a:endParaRPr>
          </a:p>
        </p:txBody>
      </p:sp>
      <p:sp>
        <p:nvSpPr>
          <p:cNvPr id="12" name="スライド番号プレースホルダー 3">
            <a:extLst>
              <a:ext uri="{FF2B5EF4-FFF2-40B4-BE49-F238E27FC236}">
                <a16:creationId xmlns:a16="http://schemas.microsoft.com/office/drawing/2014/main" id="{37DCA1F6-8A6F-EFA2-32E0-4107C174B296}"/>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4" name="タイトル 1">
            <a:extLst>
              <a:ext uri="{FF2B5EF4-FFF2-40B4-BE49-F238E27FC236}">
                <a16:creationId xmlns:a16="http://schemas.microsoft.com/office/drawing/2014/main" id="{9384CEEA-9ED1-6887-AFE8-7BA71E626EBF}"/>
              </a:ext>
            </a:extLst>
          </p:cNvPr>
          <p:cNvSpPr txBox="1">
            <a:spLocks/>
          </p:cNvSpPr>
          <p:nvPr/>
        </p:nvSpPr>
        <p:spPr>
          <a:xfrm>
            <a:off x="1470870" y="3514157"/>
            <a:ext cx="9144000" cy="555772"/>
          </a:xfrm>
          <a:prstGeom prst="rect">
            <a:avLst/>
          </a:prstGeom>
          <a:ln>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fr-FR" altLang="ja-JP"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libri (Headings)"/>
              </a:rPr>
              <a:t>-Type ACTIVE vs. Type PASSIVE-</a:t>
            </a:r>
            <a:endParaRPr kumimoji="0" lang="en-GB"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libri (Headings)"/>
            </a:endParaRPr>
          </a:p>
        </p:txBody>
      </p:sp>
      <p:sp>
        <p:nvSpPr>
          <p:cNvPr id="8" name="字幕 2">
            <a:extLst>
              <a:ext uri="{FF2B5EF4-FFF2-40B4-BE49-F238E27FC236}">
                <a16:creationId xmlns:a16="http://schemas.microsoft.com/office/drawing/2014/main" id="{9337A176-5377-6F93-8925-178F6FF51FBF}"/>
              </a:ext>
            </a:extLst>
          </p:cNvPr>
          <p:cNvSpPr>
            <a:spLocks noGrp="1"/>
          </p:cNvSpPr>
          <p:nvPr>
            <p:ph type="subTitle" idx="1"/>
          </p:nvPr>
        </p:nvSpPr>
        <p:spPr>
          <a:xfrm>
            <a:off x="5931017" y="4706224"/>
            <a:ext cx="4683854" cy="496465"/>
          </a:xfrm>
          <a:ln>
            <a:noFill/>
          </a:ln>
        </p:spPr>
        <p:txBody>
          <a:bodyPr>
            <a:normAutofit fontScale="92500" lnSpcReduction="10000"/>
          </a:bodyPr>
          <a:lstStyle/>
          <a:p>
            <a:pPr algn="r"/>
            <a:r>
              <a:rPr lang="en-US" sz="3200" b="1" dirty="0"/>
              <a:t>Composed By: Hayato Ishida</a:t>
            </a:r>
            <a:endParaRPr lang="en-GB" sz="3200" b="1" dirty="0"/>
          </a:p>
        </p:txBody>
      </p:sp>
      <p:sp>
        <p:nvSpPr>
          <p:cNvPr id="9" name="字幕 2">
            <a:extLst>
              <a:ext uri="{FF2B5EF4-FFF2-40B4-BE49-F238E27FC236}">
                <a16:creationId xmlns:a16="http://schemas.microsoft.com/office/drawing/2014/main" id="{8C64EA4D-6C48-3445-A5F5-B43711FB5137}"/>
              </a:ext>
            </a:extLst>
          </p:cNvPr>
          <p:cNvSpPr txBox="1">
            <a:spLocks/>
          </p:cNvSpPr>
          <p:nvPr/>
        </p:nvSpPr>
        <p:spPr>
          <a:xfrm>
            <a:off x="6976843" y="5445970"/>
            <a:ext cx="3638027"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GB" altLang="ja-JP" sz="2000" b="1" dirty="0"/>
              <a:t>Updated</a:t>
            </a:r>
            <a:r>
              <a:rPr lang="ja-JP" altLang="en-US" sz="2000" b="1" dirty="0"/>
              <a:t> </a:t>
            </a:r>
            <a:r>
              <a:rPr lang="en-GB" altLang="ja-JP" sz="2000" b="1" dirty="0"/>
              <a:t>On: 23 July 2024</a:t>
            </a:r>
            <a:endParaRPr lang="en-GB" sz="2000" b="1" dirty="0"/>
          </a:p>
        </p:txBody>
      </p:sp>
      <p:sp>
        <p:nvSpPr>
          <p:cNvPr id="2" name="字幕 2">
            <a:extLst>
              <a:ext uri="{FF2B5EF4-FFF2-40B4-BE49-F238E27FC236}">
                <a16:creationId xmlns:a16="http://schemas.microsoft.com/office/drawing/2014/main" id="{A8D39094-BFD9-D223-966F-5E3F039BCE75}"/>
              </a:ext>
            </a:extLst>
          </p:cNvPr>
          <p:cNvSpPr txBox="1">
            <a:spLocks/>
          </p:cNvSpPr>
          <p:nvPr/>
        </p:nvSpPr>
        <p:spPr>
          <a:xfrm>
            <a:off x="1470871" y="5440495"/>
            <a:ext cx="3457662"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altLang="ja-JP" sz="2000" dirty="0"/>
              <a:t>For Japanese version, click </a:t>
            </a:r>
            <a:r>
              <a:rPr lang="en-GB" altLang="ja-JP" sz="2000" dirty="0">
                <a:hlinkClick r:id="rId3"/>
              </a:rPr>
              <a:t>here</a:t>
            </a:r>
            <a:endParaRPr lang="en-GB" sz="2000" dirty="0"/>
          </a:p>
        </p:txBody>
      </p:sp>
    </p:spTree>
    <p:extLst>
      <p:ext uri="{BB962C8B-B14F-4D97-AF65-F5344CB8AC3E}">
        <p14:creationId xmlns:p14="http://schemas.microsoft.com/office/powerpoint/2010/main" val="3878715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11D8DDD-25F0-79E9-38EE-C5C2B1D6F2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9316" y="1824399"/>
            <a:ext cx="5804483" cy="4352564"/>
          </a:xfrm>
          <a:prstGeom prst="rect">
            <a:avLst/>
          </a:prstGeom>
        </p:spPr>
      </p:pic>
      <p:sp>
        <p:nvSpPr>
          <p:cNvPr id="11" name="タイトル 1">
            <a:extLst>
              <a:ext uri="{FF2B5EF4-FFF2-40B4-BE49-F238E27FC236}">
                <a16:creationId xmlns:a16="http://schemas.microsoft.com/office/drawing/2014/main" id="{89E68996-2289-272C-370E-386B62BA769F}"/>
              </a:ext>
            </a:extLst>
          </p:cNvPr>
          <p:cNvSpPr>
            <a:spLocks noGrp="1"/>
          </p:cNvSpPr>
          <p:nvPr>
            <p:ph type="title"/>
          </p:nvPr>
        </p:nvSpPr>
        <p:spPr>
          <a:xfrm>
            <a:off x="838200" y="365125"/>
            <a:ext cx="10515600" cy="1325563"/>
          </a:xfrm>
        </p:spPr>
        <p:txBody>
          <a:bodyPr/>
          <a:lstStyle/>
          <a:p>
            <a:pPr algn="ctr"/>
            <a:r>
              <a:rPr lang="en-GB" altLang="ja-JP" b="1" dirty="0">
                <a:latin typeface="Calibri (Headings)"/>
              </a:rPr>
              <a:t>About Me</a:t>
            </a:r>
            <a:endParaRPr lang="en-GB" b="1" dirty="0">
              <a:latin typeface="Calibri (Headings)"/>
            </a:endParaRPr>
          </a:p>
        </p:txBody>
      </p:sp>
      <p:sp>
        <p:nvSpPr>
          <p:cNvPr id="12" name="コンテンツ プレースホルダー 2">
            <a:extLst>
              <a:ext uri="{FF2B5EF4-FFF2-40B4-BE49-F238E27FC236}">
                <a16:creationId xmlns:a16="http://schemas.microsoft.com/office/drawing/2014/main" id="{25B9F717-B94D-30C5-13A8-E750CC8A2783}"/>
              </a:ext>
            </a:extLst>
          </p:cNvPr>
          <p:cNvSpPr>
            <a:spLocks noGrp="1"/>
          </p:cNvSpPr>
          <p:nvPr>
            <p:ph idx="1"/>
          </p:nvPr>
        </p:nvSpPr>
        <p:spPr>
          <a:xfrm>
            <a:off x="838200" y="1825625"/>
            <a:ext cx="10515600" cy="4351338"/>
          </a:xfrm>
        </p:spPr>
        <p:txBody>
          <a:bodyPr>
            <a:normAutofit lnSpcReduction="10000"/>
          </a:bodyPr>
          <a:lstStyle/>
          <a:p>
            <a:pPr marL="268288" indent="-268288"/>
            <a:r>
              <a:rPr lang="en-GB" altLang="ja-JP" sz="2400" dirty="0"/>
              <a:t>Accounts</a:t>
            </a:r>
          </a:p>
          <a:p>
            <a:pPr marL="725488" lvl="1" indent="-268288"/>
            <a:r>
              <a:rPr lang="en-US" altLang="ja-JP" sz="2000" dirty="0"/>
              <a:t>GitHub: </a:t>
            </a:r>
            <a:r>
              <a:rPr lang="en-US" altLang="ja-JP" sz="2000" dirty="0">
                <a:hlinkClick r:id="rId4"/>
              </a:rPr>
              <a:t>@hayat01sh1da</a:t>
            </a:r>
            <a:endParaRPr lang="en-US" altLang="ja-JP" sz="2000" dirty="0"/>
          </a:p>
          <a:p>
            <a:pPr marL="725488" lvl="1" indent="-268288"/>
            <a:r>
              <a:rPr lang="en-US" altLang="ja-JP" sz="2000" dirty="0"/>
              <a:t>X: </a:t>
            </a:r>
            <a:r>
              <a:rPr lang="en-US" altLang="ja-JP" sz="2000" dirty="0">
                <a:hlinkClick r:id="rId5"/>
              </a:rPr>
              <a:t>@hayat01sh1da</a:t>
            </a:r>
            <a:endParaRPr lang="en-GB" altLang="ja-JP" sz="2000" dirty="0"/>
          </a:p>
          <a:p>
            <a:pPr marL="725488" lvl="1" indent="-268288"/>
            <a:r>
              <a:rPr lang="en-GB" altLang="ja-JP" sz="2000" dirty="0"/>
              <a:t>LinkedIn: </a:t>
            </a:r>
            <a:r>
              <a:rPr lang="en-US" altLang="ja-JP" sz="2000" dirty="0">
                <a:hlinkClick r:id="rId6"/>
              </a:rPr>
              <a:t>@hayat01sh1da</a:t>
            </a:r>
            <a:endParaRPr lang="en-US" altLang="ja-JP" sz="2000" dirty="0"/>
          </a:p>
          <a:p>
            <a:pPr marL="725488" lvl="1" indent="-268288"/>
            <a:r>
              <a:rPr lang="en-US" altLang="ja-JP" sz="2000" dirty="0"/>
              <a:t>Speaker Deck: </a:t>
            </a:r>
            <a:r>
              <a:rPr lang="en-US" altLang="ja-JP" sz="2000" dirty="0">
                <a:hlinkClick r:id="rId7"/>
              </a:rPr>
              <a:t>@hayat01sh1da</a:t>
            </a:r>
            <a:endParaRPr lang="en-US" altLang="ja-JP" sz="2000" dirty="0"/>
          </a:p>
          <a:p>
            <a:pPr marL="725488" lvl="1" indent="-268288"/>
            <a:r>
              <a:rPr lang="en-US" altLang="ja-JP" sz="2000" dirty="0"/>
              <a:t>Docswell: </a:t>
            </a:r>
            <a:r>
              <a:rPr lang="en-US" altLang="ja-JP" sz="2000" dirty="0">
                <a:hlinkClick r:id="rId8"/>
              </a:rPr>
              <a:t>@hayat01sh1da</a:t>
            </a:r>
            <a:endParaRPr lang="en-US" altLang="ja-JP" sz="2000" dirty="0"/>
          </a:p>
          <a:p>
            <a:pPr marL="268288" indent="-268288"/>
            <a:r>
              <a:rPr lang="en-GB" altLang="ja-JP" sz="2400" dirty="0"/>
              <a:t>Occupation: Software Engineer</a:t>
            </a:r>
          </a:p>
          <a:p>
            <a:pPr marL="268288" indent="-268288"/>
            <a:r>
              <a:rPr lang="en-GB" altLang="ja-JP" sz="2400" dirty="0"/>
              <a:t>Things I Am Into</a:t>
            </a:r>
          </a:p>
          <a:p>
            <a:pPr marL="725488" lvl="1" indent="-268288"/>
            <a:r>
              <a:rPr lang="en-GB" altLang="ja-JP" sz="2000" dirty="0"/>
              <a:t>Linguistics</a:t>
            </a:r>
          </a:p>
          <a:p>
            <a:pPr marL="725488" lvl="1" indent="-268288"/>
            <a:r>
              <a:rPr lang="en-GB" altLang="ja-JP" sz="2000" dirty="0"/>
              <a:t>Singing at Karaoke</a:t>
            </a:r>
          </a:p>
          <a:p>
            <a:pPr marL="725488" lvl="1" indent="-268288"/>
            <a:r>
              <a:rPr lang="en-GB" altLang="ja-JP" sz="2000" dirty="0"/>
              <a:t>Listening to Music</a:t>
            </a:r>
          </a:p>
          <a:p>
            <a:pPr marL="725488" lvl="1" indent="-268288"/>
            <a:r>
              <a:rPr lang="en-GB" altLang="ja-JP" sz="2000" dirty="0"/>
              <a:t>Watching Movies</a:t>
            </a:r>
          </a:p>
          <a:p>
            <a:pPr marL="725488" lvl="1" indent="-268288"/>
            <a:r>
              <a:rPr lang="en-GB" altLang="ja-JP" sz="2000" dirty="0"/>
              <a:t>Cat Feeding</a:t>
            </a:r>
          </a:p>
        </p:txBody>
      </p:sp>
      <p:sp>
        <p:nvSpPr>
          <p:cNvPr id="13" name="スライド番号プレースホルダー 3">
            <a:extLst>
              <a:ext uri="{FF2B5EF4-FFF2-40B4-BE49-F238E27FC236}">
                <a16:creationId xmlns:a16="http://schemas.microsoft.com/office/drawing/2014/main" id="{2252423B-3E84-F70A-BF38-1AEE32C698DA}"/>
              </a:ext>
            </a:extLst>
          </p:cNvPr>
          <p:cNvSpPr>
            <a:spLocks noGrp="1"/>
          </p:cNvSpPr>
          <p:nvPr>
            <p:ph type="sldNum" sz="quarter" idx="12"/>
          </p:nvPr>
        </p:nvSpPr>
        <p:spPr>
          <a:xfrm>
            <a:off x="8610600" y="6356350"/>
            <a:ext cx="2743200" cy="365125"/>
          </a:xfrm>
        </p:spPr>
        <p:txBody>
          <a:bodyPr/>
          <a:lstStyle/>
          <a:p>
            <a:fld id="{CC8B731A-DCF7-4273-BA1A-21517ACBB5E5}" type="slidenum">
              <a:rPr lang="en-GB" smtClean="0"/>
              <a:t>2</a:t>
            </a:fld>
            <a:endParaRPr lang="en-GB"/>
          </a:p>
        </p:txBody>
      </p:sp>
    </p:spTree>
    <p:extLst>
      <p:ext uri="{BB962C8B-B14F-4D97-AF65-F5344CB8AC3E}">
        <p14:creationId xmlns:p14="http://schemas.microsoft.com/office/powerpoint/2010/main" val="65425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a:stretch>
        </a:blipFill>
        <a:effectLst/>
      </p:bgPr>
    </p:bg>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1FBE0558-A36D-E216-E2C1-719E223780D5}"/>
              </a:ext>
            </a:extLst>
          </p:cNvPr>
          <p:cNvSpPr>
            <a:spLocks noGrp="1"/>
          </p:cNvSpPr>
          <p:nvPr>
            <p:ph type="title"/>
          </p:nvPr>
        </p:nvSpPr>
        <p:spPr>
          <a:xfrm>
            <a:off x="838200" y="365125"/>
            <a:ext cx="10515600" cy="1325563"/>
          </a:xfrm>
        </p:spPr>
        <p:txBody>
          <a:bodyPr/>
          <a:lstStyle/>
          <a:p>
            <a:pPr algn="ctr"/>
            <a:r>
              <a:rPr lang="en-GB" altLang="ja-JP" b="1" dirty="0">
                <a:latin typeface="Calibri (Headings)"/>
              </a:rPr>
              <a:t>Licences / Certifications</a:t>
            </a:r>
            <a:endParaRPr lang="en-GB" b="1" dirty="0">
              <a:latin typeface="Calibri (Headings)"/>
            </a:endParaRPr>
          </a:p>
        </p:txBody>
      </p:sp>
      <p:sp>
        <p:nvSpPr>
          <p:cNvPr id="10" name="コンテンツ プレースホルダー 2">
            <a:extLst>
              <a:ext uri="{FF2B5EF4-FFF2-40B4-BE49-F238E27FC236}">
                <a16:creationId xmlns:a16="http://schemas.microsoft.com/office/drawing/2014/main" id="{45885E2A-9A6E-037E-12A8-07D43B0256DF}"/>
              </a:ext>
            </a:extLst>
          </p:cNvPr>
          <p:cNvSpPr>
            <a:spLocks noGrp="1"/>
          </p:cNvSpPr>
          <p:nvPr>
            <p:ph idx="1"/>
          </p:nvPr>
        </p:nvSpPr>
        <p:spPr>
          <a:xfrm>
            <a:off x="838200" y="1825625"/>
            <a:ext cx="10515600" cy="4351338"/>
          </a:xfrm>
        </p:spPr>
        <p:txBody>
          <a:bodyPr>
            <a:normAutofit/>
          </a:bodyPr>
          <a:lstStyle/>
          <a:p>
            <a:pPr marL="268288" lvl="1" indent="-268288"/>
            <a:r>
              <a:rPr lang="en-US" altLang="ja-JP" dirty="0"/>
              <a:t>English</a:t>
            </a:r>
          </a:p>
          <a:p>
            <a:pPr marL="725488" lvl="2" indent="-268288"/>
            <a:r>
              <a:rPr lang="en-US" altLang="ja-JP" dirty="0"/>
              <a:t>TOEIC® Listening &amp; Reading 915</a:t>
            </a:r>
            <a:r>
              <a:rPr lang="en-GB" altLang="ja-JP" dirty="0"/>
              <a:t>: Certified on December 2019</a:t>
            </a:r>
            <a:endParaRPr lang="ja-JP" altLang="en-US" dirty="0"/>
          </a:p>
          <a:p>
            <a:pPr marL="268288" lvl="1" indent="-268288"/>
            <a:r>
              <a:rPr lang="en-GB" altLang="ja-JP" dirty="0"/>
              <a:t>Engineering</a:t>
            </a:r>
          </a:p>
          <a:p>
            <a:pPr marL="725488" lvl="2" indent="-268288"/>
            <a:r>
              <a:rPr lang="en-GB" altLang="ja-JP" dirty="0"/>
              <a:t>Information Security Management: Certified on November 2017</a:t>
            </a:r>
          </a:p>
          <a:p>
            <a:pPr marL="725488" lvl="2" indent="-268288"/>
            <a:r>
              <a:rPr lang="en-GB" altLang="ja-JP" dirty="0"/>
              <a:t>Applied Information Technology Engineer: Certified on June 2017</a:t>
            </a:r>
          </a:p>
          <a:p>
            <a:pPr marL="725488" lvl="2" indent="-268288"/>
            <a:r>
              <a:rPr lang="en-GB" altLang="ja-JP" dirty="0"/>
              <a:t>Fundamental Information Technology Engineer: Certified on November 2016</a:t>
            </a:r>
            <a:endParaRPr lang="ja-JP" altLang="en-US" dirty="0"/>
          </a:p>
          <a:p>
            <a:pPr marL="725488" lvl="2" indent="-268288"/>
            <a:r>
              <a:rPr lang="en-US" altLang="ja-JP" dirty="0"/>
              <a:t>IT Passport</a:t>
            </a:r>
            <a:r>
              <a:rPr lang="en-GB" altLang="ja-JP" dirty="0"/>
              <a:t>: Certified on April 2016</a:t>
            </a:r>
            <a:endParaRPr lang="en-GB" altLang="ja-JP" b="0" i="0" dirty="0">
              <a:solidFill>
                <a:srgbClr val="333333"/>
              </a:solidFill>
              <a:effectLst/>
            </a:endParaRPr>
          </a:p>
          <a:p>
            <a:pPr marL="268288" lvl="1" indent="-268288"/>
            <a:r>
              <a:rPr lang="en-GB" altLang="ja-JP" dirty="0">
                <a:solidFill>
                  <a:srgbClr val="333333"/>
                </a:solidFill>
              </a:rPr>
              <a:t>Others</a:t>
            </a:r>
          </a:p>
          <a:p>
            <a:pPr marL="725488" lvl="2" indent="-268288"/>
            <a:r>
              <a:rPr lang="en-GB" altLang="ja-JP" dirty="0">
                <a:solidFill>
                  <a:srgbClr val="333333"/>
                </a:solidFill>
              </a:rPr>
              <a:t>Abacus 2nd Class: </a:t>
            </a:r>
            <a:r>
              <a:rPr lang="en-GB" altLang="ja-JP" dirty="0"/>
              <a:t>Certified on June 2002</a:t>
            </a:r>
          </a:p>
          <a:p>
            <a:pPr marL="725488" lvl="2" indent="-268288"/>
            <a:r>
              <a:rPr lang="en-GB" altLang="ja-JP" b="0" i="0" dirty="0">
                <a:solidFill>
                  <a:srgbClr val="333333"/>
                </a:solidFill>
                <a:effectLst/>
              </a:rPr>
              <a:t>Mental Arithmetic 3rd Class: </a:t>
            </a:r>
            <a:r>
              <a:rPr lang="en-GB" altLang="ja-JP" dirty="0"/>
              <a:t>Certified on February 2001</a:t>
            </a:r>
          </a:p>
        </p:txBody>
      </p:sp>
      <p:sp>
        <p:nvSpPr>
          <p:cNvPr id="11" name="スライド番号プレースホルダー 3">
            <a:extLst>
              <a:ext uri="{FF2B5EF4-FFF2-40B4-BE49-F238E27FC236}">
                <a16:creationId xmlns:a16="http://schemas.microsoft.com/office/drawing/2014/main" id="{F677BD17-1762-0EE1-CB85-AE8256A27E57}"/>
              </a:ext>
            </a:extLst>
          </p:cNvPr>
          <p:cNvSpPr>
            <a:spLocks noGrp="1"/>
          </p:cNvSpPr>
          <p:nvPr>
            <p:ph type="sldNum" sz="quarter" idx="12"/>
          </p:nvPr>
        </p:nvSpPr>
        <p:spPr>
          <a:xfrm>
            <a:off x="8610600" y="6356350"/>
            <a:ext cx="2743200" cy="365125"/>
          </a:xfrm>
        </p:spPr>
        <p:txBody>
          <a:bodyPr/>
          <a:lstStyle/>
          <a:p>
            <a:fld id="{CC8B731A-DCF7-4273-BA1A-21517ACBB5E5}" type="slidenum">
              <a:rPr lang="en-GB" smtClean="0"/>
              <a:t>3</a:t>
            </a:fld>
            <a:endParaRPr lang="en-GB"/>
          </a:p>
        </p:txBody>
      </p:sp>
    </p:spTree>
    <p:extLst>
      <p:ext uri="{BB962C8B-B14F-4D97-AF65-F5344CB8AC3E}">
        <p14:creationId xmlns:p14="http://schemas.microsoft.com/office/powerpoint/2010/main" val="2978262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a:stretch>
        </a:blipFill>
        <a:effectLst/>
      </p:bgPr>
    </p:bg>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110DA00C-90B3-92BA-EF46-E3EDD9D5886A}"/>
              </a:ext>
            </a:extLst>
          </p:cNvPr>
          <p:cNvSpPr>
            <a:spLocks noGrp="1"/>
          </p:cNvSpPr>
          <p:nvPr>
            <p:ph type="title"/>
          </p:nvPr>
        </p:nvSpPr>
        <p:spPr>
          <a:xfrm>
            <a:off x="838200" y="365125"/>
            <a:ext cx="10515600" cy="1325563"/>
          </a:xfrm>
        </p:spPr>
        <p:txBody>
          <a:bodyPr/>
          <a:lstStyle/>
          <a:p>
            <a:pPr algn="ctr"/>
            <a:r>
              <a:rPr kumimoji="1" lang="en-GB" altLang="ja-JP" b="1" dirty="0">
                <a:latin typeface="Calibri (Headings)"/>
              </a:rPr>
              <a:t>Skill Stack</a:t>
            </a:r>
            <a:endParaRPr lang="en-GB" b="1" dirty="0">
              <a:latin typeface="Calibri (Headings)"/>
            </a:endParaRPr>
          </a:p>
        </p:txBody>
      </p:sp>
      <p:sp>
        <p:nvSpPr>
          <p:cNvPr id="10" name="コンテンツ プレースホルダー 2">
            <a:extLst>
              <a:ext uri="{FF2B5EF4-FFF2-40B4-BE49-F238E27FC236}">
                <a16:creationId xmlns:a16="http://schemas.microsoft.com/office/drawing/2014/main" id="{EA6768FC-4A6F-87AA-CAFB-E9F3F4CF928D}"/>
              </a:ext>
            </a:extLst>
          </p:cNvPr>
          <p:cNvSpPr>
            <a:spLocks noGrp="1"/>
          </p:cNvSpPr>
          <p:nvPr>
            <p:ph idx="1"/>
          </p:nvPr>
        </p:nvSpPr>
        <p:spPr>
          <a:xfrm>
            <a:off x="838200" y="1825625"/>
            <a:ext cx="10515600" cy="4351338"/>
          </a:xfrm>
          <a:ln>
            <a:noFill/>
          </a:ln>
        </p:spPr>
        <p:txBody>
          <a:bodyPr>
            <a:normAutofit/>
          </a:bodyPr>
          <a:lstStyle/>
          <a:p>
            <a:pPr marL="268288" indent="-268288"/>
            <a:r>
              <a:rPr lang="en-GB" altLang="ja-JP" sz="2400" dirty="0"/>
              <a:t>Languages</a:t>
            </a:r>
            <a:endParaRPr lang="ja-JP" altLang="en-US" sz="2400" dirty="0"/>
          </a:p>
          <a:p>
            <a:pPr marL="717550" lvl="1" indent="-260350"/>
            <a:r>
              <a:rPr lang="en-GB" altLang="ja-JP" sz="2000" dirty="0"/>
              <a:t>Japanese: Native Proficiency</a:t>
            </a:r>
          </a:p>
          <a:p>
            <a:pPr marL="717550" lvl="1" indent="-260350"/>
            <a:r>
              <a:rPr lang="en-GB" altLang="ja-JP" sz="2000" dirty="0"/>
              <a:t>English: Full professional Proficiency</a:t>
            </a:r>
          </a:p>
          <a:p>
            <a:pPr marL="268288" indent="-268288"/>
            <a:r>
              <a:rPr lang="en-GB" altLang="ja-JP" sz="2400" dirty="0"/>
              <a:t>Development</a:t>
            </a:r>
          </a:p>
          <a:p>
            <a:pPr marL="717550" lvl="1" indent="-260350"/>
            <a:r>
              <a:rPr lang="en-GB" altLang="ja-JP" sz="2000" b="1" dirty="0"/>
              <a:t>Backend: Ruby(Ruby on Rails)</a:t>
            </a:r>
            <a:r>
              <a:rPr lang="en-GB" altLang="ja-JP" sz="2000" dirty="0"/>
              <a:t>, Python</a:t>
            </a:r>
          </a:p>
          <a:p>
            <a:pPr marL="717550" lvl="1" indent="-260350"/>
            <a:r>
              <a:rPr lang="en-GB" altLang="ja-JP" sz="2000" dirty="0"/>
              <a:t>Frontend: TypeScript + React.js, TypeScript +Vue.js</a:t>
            </a:r>
          </a:p>
          <a:p>
            <a:pPr marL="717550" lvl="1" indent="-260350"/>
            <a:r>
              <a:rPr lang="en-GB" altLang="ja-JP" sz="2000" b="1" dirty="0"/>
              <a:t>Database: MySQL</a:t>
            </a:r>
            <a:r>
              <a:rPr lang="en-GB" altLang="ja-JP" sz="2000" dirty="0"/>
              <a:t>, PostgreSQL, MongoDB</a:t>
            </a:r>
          </a:p>
          <a:p>
            <a:pPr marL="717550" lvl="1" indent="-260350"/>
            <a:r>
              <a:rPr lang="en-GB" altLang="ja-JP" sz="2000" b="1" dirty="0"/>
              <a:t>Architecture: Monolith, Modular Monolith</a:t>
            </a:r>
          </a:p>
          <a:p>
            <a:pPr marL="717550" lvl="1" indent="-260350"/>
            <a:r>
              <a:rPr lang="en-GB" altLang="ja-JP" sz="2000" dirty="0"/>
              <a:t>Hosting: AWS ESK</a:t>
            </a:r>
          </a:p>
          <a:p>
            <a:pPr marL="717550" lvl="1" indent="-260350"/>
            <a:r>
              <a:rPr lang="en-GB" altLang="ja-JP" sz="2000" dirty="0"/>
              <a:t>Versioning: Git, GitHub</a:t>
            </a:r>
          </a:p>
          <a:p>
            <a:pPr marL="717550" lvl="1" indent="-260350"/>
            <a:r>
              <a:rPr lang="en-GB" altLang="ja-JP" sz="2000" b="1" dirty="0"/>
              <a:t>CI/CD: GitHub Actions</a:t>
            </a:r>
            <a:r>
              <a:rPr lang="en-GB" altLang="ja-JP" sz="2000" dirty="0"/>
              <a:t>, ArgoCD</a:t>
            </a:r>
          </a:p>
          <a:p>
            <a:pPr marL="717550" lvl="1" indent="-260350"/>
            <a:r>
              <a:rPr lang="en-GB" altLang="ja-JP" sz="2000" dirty="0"/>
              <a:t>Monitoring: Datadog, Sentry</a:t>
            </a:r>
            <a:endParaRPr lang="en-GB" altLang="ja-JP" dirty="0"/>
          </a:p>
        </p:txBody>
      </p:sp>
      <p:sp>
        <p:nvSpPr>
          <p:cNvPr id="11" name="スライド番号プレースホルダー 3">
            <a:extLst>
              <a:ext uri="{FF2B5EF4-FFF2-40B4-BE49-F238E27FC236}">
                <a16:creationId xmlns:a16="http://schemas.microsoft.com/office/drawing/2014/main" id="{51F245BE-E4E4-696B-40FA-D36DA741433F}"/>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452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a:stretch>
        </a:blipFill>
        <a:effectLst/>
      </p:bgPr>
    </p:bg>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8F2356BE-F8B5-AECB-D603-7B1447CE6879}"/>
              </a:ext>
            </a:extLst>
          </p:cNvPr>
          <p:cNvSpPr>
            <a:spLocks noGrp="1"/>
          </p:cNvSpPr>
          <p:nvPr>
            <p:ph type="title"/>
          </p:nvPr>
        </p:nvSpPr>
        <p:spPr>
          <a:xfrm>
            <a:off x="838200" y="365125"/>
            <a:ext cx="10515600" cy="1325563"/>
          </a:xfrm>
          <a:ln>
            <a:noFill/>
          </a:ln>
        </p:spPr>
        <p:txBody>
          <a:bodyPr/>
          <a:lstStyle/>
          <a:p>
            <a:pPr algn="ctr"/>
            <a:r>
              <a:rPr kumimoji="1" lang="en-GB" altLang="ja-JP" b="1" dirty="0">
                <a:latin typeface="Calibri (Headings)"/>
              </a:rPr>
              <a:t>Work Histories</a:t>
            </a:r>
            <a:endParaRPr kumimoji="1" lang="ja-JP" altLang="en-US" b="1" dirty="0">
              <a:latin typeface="Calibri (Headings)"/>
            </a:endParaRPr>
          </a:p>
        </p:txBody>
      </p:sp>
      <p:sp>
        <p:nvSpPr>
          <p:cNvPr id="8" name="スライド番号プレースホルダー 3">
            <a:extLst>
              <a:ext uri="{FF2B5EF4-FFF2-40B4-BE49-F238E27FC236}">
                <a16:creationId xmlns:a16="http://schemas.microsoft.com/office/drawing/2014/main" id="{0E921CED-71DD-6DDA-7E33-534B8E34406B}"/>
              </a:ext>
            </a:extLst>
          </p:cNvPr>
          <p:cNvSpPr>
            <a:spLocks noGrp="1"/>
          </p:cNvSpPr>
          <p:nvPr>
            <p:ph type="sldNum" sz="quarter" idx="12"/>
          </p:nvPr>
        </p:nvSpPr>
        <p:spPr>
          <a:xfrm>
            <a:off x="8610600" y="6356350"/>
            <a:ext cx="2743200" cy="365125"/>
          </a:xfrm>
          <a:ln>
            <a:noFill/>
          </a:ln>
        </p:spPr>
        <p:txBody>
          <a:bodyPr/>
          <a:lstStyle/>
          <a:p>
            <a:fld id="{CC8B731A-DCF7-4273-BA1A-21517ACBB5E5}" type="slidenum">
              <a:rPr lang="en-GB" smtClean="0"/>
              <a:t>5</a:t>
            </a:fld>
            <a:endParaRPr lang="en-GB"/>
          </a:p>
        </p:txBody>
      </p:sp>
      <p:graphicFrame>
        <p:nvGraphicFramePr>
          <p:cNvPr id="9" name="Table 8">
            <a:extLst>
              <a:ext uri="{FF2B5EF4-FFF2-40B4-BE49-F238E27FC236}">
                <a16:creationId xmlns:a16="http://schemas.microsoft.com/office/drawing/2014/main" id="{F639020B-241E-F4C4-9367-BAB85C239D09}"/>
              </a:ext>
            </a:extLst>
          </p:cNvPr>
          <p:cNvGraphicFramePr>
            <a:graphicFrameLocks noGrp="1"/>
          </p:cNvGraphicFramePr>
          <p:nvPr>
            <p:extLst>
              <p:ext uri="{D42A27DB-BD31-4B8C-83A1-F6EECF244321}">
                <p14:modId xmlns:p14="http://schemas.microsoft.com/office/powerpoint/2010/main" val="561639481"/>
              </p:ext>
            </p:extLst>
          </p:nvPr>
        </p:nvGraphicFramePr>
        <p:xfrm>
          <a:off x="836798" y="1822829"/>
          <a:ext cx="10515600" cy="411988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en-GB" dirty="0"/>
                        <a:t>Period</a:t>
                      </a:r>
                    </a:p>
                  </a:txBody>
                  <a:tcPr/>
                </a:tc>
                <a:tc>
                  <a:txBody>
                    <a:bodyPr/>
                    <a:lstStyle/>
                    <a:p>
                      <a:r>
                        <a:rPr lang="en-GB" dirty="0"/>
                        <a:t>Genre</a:t>
                      </a:r>
                    </a:p>
                  </a:txBody>
                  <a:tcPr/>
                </a:tc>
                <a:tc>
                  <a:txBody>
                    <a:bodyPr/>
                    <a:lstStyle/>
                    <a:p>
                      <a:r>
                        <a:rPr lang="en-GB" dirty="0"/>
                        <a:t>Position</a:t>
                      </a:r>
                    </a:p>
                  </a:txBody>
                  <a:tcPr/>
                </a:tc>
                <a:tc>
                  <a:txBody>
                    <a:bodyPr/>
                    <a:lstStyle/>
                    <a:p>
                      <a:r>
                        <a:rPr lang="en-GB" dirty="0"/>
                        <a:t>Jobs</a:t>
                      </a:r>
                    </a:p>
                  </a:txBody>
                  <a:tcPr/>
                </a:tc>
                <a:extLst>
                  <a:ext uri="{0D108BD9-81ED-4DB2-BD59-A6C34878D82A}">
                    <a16:rowId xmlns:a16="http://schemas.microsoft.com/office/drawing/2014/main" val="2477192480"/>
                  </a:ext>
                </a:extLst>
              </a:tr>
              <a:tr h="370840">
                <a:tc>
                  <a:txBody>
                    <a:bodyPr/>
                    <a:lstStyle/>
                    <a:p>
                      <a:r>
                        <a:rPr lang="en-GB" dirty="0"/>
                        <a:t>Aug 2021 - Present</a:t>
                      </a:r>
                    </a:p>
                  </a:txBody>
                  <a:tcPr/>
                </a:tc>
                <a:tc>
                  <a:txBody>
                    <a:bodyPr/>
                    <a:lstStyle/>
                    <a:p>
                      <a:r>
                        <a:rPr lang="en-GB" dirty="0"/>
                        <a:t>Saas(Educational Service)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Software Engineer</a:t>
                      </a:r>
                    </a:p>
                  </a:txBody>
                  <a:tcPr/>
                </a:tc>
                <a:tc>
                  <a:txBody>
                    <a:bodyPr/>
                    <a:lstStyle/>
                    <a:p>
                      <a:pPr marL="180975" indent="-180975">
                        <a:buFont typeface="Arial" panose="020B0604020202020204" pitchFamily="34" charset="0"/>
                        <a:buChar char="•"/>
                      </a:pPr>
                      <a:r>
                        <a:rPr lang="en-GB" dirty="0"/>
                        <a:t>Backend Development</a:t>
                      </a:r>
                    </a:p>
                    <a:p>
                      <a:pPr marL="180975" indent="-180975">
                        <a:buFont typeface="Arial" panose="020B0604020202020204" pitchFamily="34" charset="0"/>
                        <a:buChar char="•"/>
                      </a:pPr>
                      <a:r>
                        <a:rPr lang="en-GB" dirty="0"/>
                        <a:t>Frontend Development</a:t>
                      </a:r>
                    </a:p>
                    <a:p>
                      <a:pPr marL="180975" indent="-180975">
                        <a:buFont typeface="Arial" panose="020B0604020202020204" pitchFamily="34" charset="0"/>
                        <a:buChar char="•"/>
                      </a:pPr>
                      <a:r>
                        <a:rPr lang="en-GB" dirty="0"/>
                        <a:t>CI/CD Maintenance</a:t>
                      </a:r>
                    </a:p>
                    <a:p>
                      <a:pPr marL="180975" indent="-180975">
                        <a:buFont typeface="Arial" panose="020B0604020202020204" pitchFamily="34" charset="0"/>
                        <a:buChar char="•"/>
                      </a:pPr>
                      <a:r>
                        <a:rPr lang="en-GB" dirty="0"/>
                        <a:t>Weekly Release Manager</a:t>
                      </a:r>
                    </a:p>
                    <a:p>
                      <a:pPr marL="180975" indent="-180975">
                        <a:buFont typeface="Arial" panose="020B0604020202020204" pitchFamily="34" charset="0"/>
                        <a:buChar char="•"/>
                      </a:pPr>
                      <a:r>
                        <a:rPr lang="en-GB" dirty="0"/>
                        <a:t>Troubleshooting</a:t>
                      </a:r>
                    </a:p>
                    <a:p>
                      <a:pPr marL="180975" indent="-180975">
                        <a:buFont typeface="Arial" panose="020B0604020202020204" pitchFamily="34" charset="0"/>
                        <a:buChar char="•"/>
                      </a:pPr>
                      <a:r>
                        <a:rPr lang="en-GB" dirty="0"/>
                        <a:t>Documentation</a:t>
                      </a:r>
                    </a:p>
                    <a:p>
                      <a:pPr marL="180975" indent="-180975">
                        <a:buFont typeface="Arial" panose="020B0604020202020204" pitchFamily="34" charset="0"/>
                        <a:buChar char="•"/>
                      </a:pPr>
                      <a:r>
                        <a:rPr lang="en-GB" dirty="0"/>
                        <a:t>Technical Debt Resolution</a:t>
                      </a:r>
                    </a:p>
                    <a:p>
                      <a:pPr marL="180975" indent="-180975">
                        <a:buFont typeface="Arial" panose="020B0604020202020204" pitchFamily="34" charset="0"/>
                        <a:buChar char="•"/>
                      </a:pPr>
                      <a:r>
                        <a:rPr lang="en-GB" dirty="0"/>
                        <a:t>Tech Blog Entries</a:t>
                      </a:r>
                    </a:p>
                    <a:p>
                      <a:pPr marL="180975" indent="-180975">
                        <a:buFont typeface="Arial" panose="020B0604020202020204" pitchFamily="34" charset="0"/>
                        <a:buChar char="•"/>
                      </a:pPr>
                      <a:r>
                        <a:rPr lang="en-GB" dirty="0"/>
                        <a:t>LT Speaker</a:t>
                      </a:r>
                    </a:p>
                  </a:txBody>
                  <a:tcPr/>
                </a:tc>
                <a:extLst>
                  <a:ext uri="{0D108BD9-81ED-4DB2-BD59-A6C34878D82A}">
                    <a16:rowId xmlns:a16="http://schemas.microsoft.com/office/drawing/2014/main" val="1529764250"/>
                  </a:ext>
                </a:extLst>
              </a:tr>
              <a:tr h="370840">
                <a:tc>
                  <a:txBody>
                    <a:bodyPr/>
                    <a:lstStyle/>
                    <a:p>
                      <a:r>
                        <a:rPr lang="en-GB" dirty="0"/>
                        <a:t>Feb 2020 - Dec 2020</a:t>
                      </a:r>
                    </a:p>
                  </a:txBody>
                  <a:tcPr/>
                </a:tc>
                <a:tc>
                  <a:txBody>
                    <a:bodyPr/>
                    <a:lstStyle/>
                    <a:p>
                      <a:r>
                        <a:rPr lang="en-GB" dirty="0"/>
                        <a:t>SaaS(Chatbot Platform)</a:t>
                      </a:r>
                    </a:p>
                  </a:txBody>
                  <a:tcPr/>
                </a:tc>
                <a:tc>
                  <a:txBody>
                    <a:bodyPr/>
                    <a:lstStyle/>
                    <a:p>
                      <a:r>
                        <a:rPr lang="en-GB" dirty="0"/>
                        <a:t>Backend Engineer</a:t>
                      </a:r>
                    </a:p>
                  </a:txBody>
                  <a:tcPr/>
                </a:tc>
                <a:tc>
                  <a:txBody>
                    <a:bodyPr/>
                    <a:lstStyle/>
                    <a:p>
                      <a:pPr marL="180975" indent="-180975">
                        <a:buFont typeface="Arial" panose="020B0604020202020204" pitchFamily="34" charset="0"/>
                        <a:buChar char="•"/>
                      </a:pPr>
                      <a:r>
                        <a:rPr lang="en-GB" dirty="0"/>
                        <a:t>Backend Development</a:t>
                      </a:r>
                    </a:p>
                    <a:p>
                      <a:pPr marL="180975" indent="-180975">
                        <a:buFont typeface="Arial" panose="020B0604020202020204" pitchFamily="34" charset="0"/>
                        <a:buChar char="•"/>
                      </a:pPr>
                      <a:r>
                        <a:rPr lang="en-GB" dirty="0"/>
                        <a:t>Documentation</a:t>
                      </a:r>
                    </a:p>
                    <a:p>
                      <a:pPr marL="180975" indent="-180975">
                        <a:buFont typeface="Arial" panose="020B0604020202020204" pitchFamily="34" charset="0"/>
                        <a:buChar char="•"/>
                      </a:pPr>
                      <a:r>
                        <a:rPr lang="en-GB" dirty="0"/>
                        <a:t>Technical Debt Resolution</a:t>
                      </a:r>
                    </a:p>
                    <a:p>
                      <a:pPr marL="180975" indent="-180975">
                        <a:buFont typeface="Arial" panose="020B0604020202020204" pitchFamily="34" charset="0"/>
                        <a:buChar char="•"/>
                      </a:pPr>
                      <a:r>
                        <a:rPr lang="en-GB" dirty="0"/>
                        <a:t>Inspection of Alternative API</a:t>
                      </a:r>
                    </a:p>
                  </a:txBody>
                  <a:tcPr/>
                </a:tc>
                <a:extLst>
                  <a:ext uri="{0D108BD9-81ED-4DB2-BD59-A6C34878D82A}">
                    <a16:rowId xmlns:a16="http://schemas.microsoft.com/office/drawing/2014/main" val="2157449828"/>
                  </a:ext>
                </a:extLst>
              </a:tr>
            </a:tbl>
          </a:graphicData>
        </a:graphic>
      </p:graphicFrame>
    </p:spTree>
    <p:extLst>
      <p:ext uri="{BB962C8B-B14F-4D97-AF65-F5344CB8AC3E}">
        <p14:creationId xmlns:p14="http://schemas.microsoft.com/office/powerpoint/2010/main" val="155858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a:stretch>
        </a:blipFill>
        <a:effectLst/>
      </p:bgPr>
    </p:bg>
    <p:spTree>
      <p:nvGrpSpPr>
        <p:cNvPr id="1" name="">
          <a:extLst>
            <a:ext uri="{FF2B5EF4-FFF2-40B4-BE49-F238E27FC236}">
              <a16:creationId xmlns:a16="http://schemas.microsoft.com/office/drawing/2014/main" id="{C34FECD0-7120-AA46-9A00-60A7EDB952F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9112487-485F-CB44-31D2-465E40EABFA4}"/>
              </a:ext>
            </a:extLst>
          </p:cNvPr>
          <p:cNvSpPr>
            <a:spLocks noGrp="1"/>
          </p:cNvSpPr>
          <p:nvPr>
            <p:ph type="title"/>
          </p:nvPr>
        </p:nvSpPr>
        <p:spPr>
          <a:xfrm>
            <a:off x="838200" y="365125"/>
            <a:ext cx="10515600" cy="1325563"/>
          </a:xfrm>
          <a:ln>
            <a:noFill/>
          </a:ln>
        </p:spPr>
        <p:txBody>
          <a:bodyPr/>
          <a:lstStyle/>
          <a:p>
            <a:pPr algn="ctr"/>
            <a:r>
              <a:rPr kumimoji="1" lang="en-GB" altLang="ja-JP" b="1" dirty="0">
                <a:latin typeface="Calibri (Headings)"/>
              </a:rPr>
              <a:t>Work Histories</a:t>
            </a:r>
            <a:endParaRPr kumimoji="1" lang="ja-JP" altLang="en-US" b="1" dirty="0">
              <a:latin typeface="Calibri (Headings)"/>
            </a:endParaRPr>
          </a:p>
        </p:txBody>
      </p:sp>
      <p:sp>
        <p:nvSpPr>
          <p:cNvPr id="3" name="スライド番号プレースホルダー 3">
            <a:extLst>
              <a:ext uri="{FF2B5EF4-FFF2-40B4-BE49-F238E27FC236}">
                <a16:creationId xmlns:a16="http://schemas.microsoft.com/office/drawing/2014/main" id="{FB115C58-4408-D737-85A8-61D8E42FFD69}"/>
              </a:ext>
            </a:extLst>
          </p:cNvPr>
          <p:cNvSpPr>
            <a:spLocks noGrp="1"/>
          </p:cNvSpPr>
          <p:nvPr>
            <p:ph type="sldNum" sz="quarter" idx="12"/>
          </p:nvPr>
        </p:nvSpPr>
        <p:spPr>
          <a:xfrm>
            <a:off x="8610600" y="6356350"/>
            <a:ext cx="2743200" cy="365125"/>
          </a:xfrm>
          <a:ln>
            <a:noFill/>
          </a:ln>
        </p:spPr>
        <p:txBody>
          <a:bodyPr/>
          <a:lstStyle/>
          <a:p>
            <a:fld id="{CC8B731A-DCF7-4273-BA1A-21517ACBB5E5}" type="slidenum">
              <a:rPr lang="en-GB" smtClean="0"/>
              <a:t>6</a:t>
            </a:fld>
            <a:endParaRPr lang="en-GB"/>
          </a:p>
        </p:txBody>
      </p:sp>
      <p:graphicFrame>
        <p:nvGraphicFramePr>
          <p:cNvPr id="4" name="Table 3">
            <a:extLst>
              <a:ext uri="{FF2B5EF4-FFF2-40B4-BE49-F238E27FC236}">
                <a16:creationId xmlns:a16="http://schemas.microsoft.com/office/drawing/2014/main" id="{E116012A-35F9-25B9-B496-EEB0F1A54FD5}"/>
              </a:ext>
            </a:extLst>
          </p:cNvPr>
          <p:cNvGraphicFramePr>
            <a:graphicFrameLocks noGrp="1"/>
          </p:cNvGraphicFramePr>
          <p:nvPr>
            <p:extLst>
              <p:ext uri="{D42A27DB-BD31-4B8C-83A1-F6EECF244321}">
                <p14:modId xmlns:p14="http://schemas.microsoft.com/office/powerpoint/2010/main" val="1427201498"/>
              </p:ext>
            </p:extLst>
          </p:nvPr>
        </p:nvGraphicFramePr>
        <p:xfrm>
          <a:off x="836798" y="1822829"/>
          <a:ext cx="10515600" cy="302260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en-GB" dirty="0"/>
                        <a:t>Period</a:t>
                      </a:r>
                    </a:p>
                  </a:txBody>
                  <a:tcPr/>
                </a:tc>
                <a:tc>
                  <a:txBody>
                    <a:bodyPr/>
                    <a:lstStyle/>
                    <a:p>
                      <a:r>
                        <a:rPr lang="en-GB" dirty="0"/>
                        <a:t>Genre</a:t>
                      </a:r>
                    </a:p>
                  </a:txBody>
                  <a:tcPr/>
                </a:tc>
                <a:tc>
                  <a:txBody>
                    <a:bodyPr/>
                    <a:lstStyle/>
                    <a:p>
                      <a:r>
                        <a:rPr lang="en-GB" dirty="0"/>
                        <a:t>Position</a:t>
                      </a:r>
                    </a:p>
                  </a:txBody>
                  <a:tcPr/>
                </a:tc>
                <a:tc>
                  <a:txBody>
                    <a:bodyPr/>
                    <a:lstStyle/>
                    <a:p>
                      <a:r>
                        <a:rPr lang="en-GB" dirty="0"/>
                        <a:t>Jobs</a:t>
                      </a:r>
                    </a:p>
                  </a:txBody>
                  <a:tcPr/>
                </a:tc>
                <a:extLst>
                  <a:ext uri="{0D108BD9-81ED-4DB2-BD59-A6C34878D82A}">
                    <a16:rowId xmlns:a16="http://schemas.microsoft.com/office/drawing/2014/main" val="2477192480"/>
                  </a:ext>
                </a:extLst>
              </a:tr>
              <a:tr h="370840">
                <a:tc>
                  <a:txBody>
                    <a:bodyPr/>
                    <a:lstStyle/>
                    <a:p>
                      <a:r>
                        <a:rPr lang="en-GB" dirty="0"/>
                        <a:t>Jun 2018 - Jan 2020</a:t>
                      </a:r>
                    </a:p>
                  </a:txBody>
                  <a:tcPr/>
                </a:tc>
                <a:tc>
                  <a:txBody>
                    <a:bodyPr/>
                    <a:lstStyle/>
                    <a:p>
                      <a:r>
                        <a:rPr lang="en-GB" dirty="0"/>
                        <a:t>Contract-basis Developer</a:t>
                      </a:r>
                    </a:p>
                  </a:txBody>
                  <a:tcPr/>
                </a:tc>
                <a:tc>
                  <a:txBody>
                    <a:bodyPr/>
                    <a:lstStyle/>
                    <a:p>
                      <a:r>
                        <a:rPr lang="en-GB" dirty="0"/>
                        <a:t>Software Engineer</a:t>
                      </a:r>
                    </a:p>
                  </a:txBody>
                  <a:tcPr/>
                </a:tc>
                <a:tc>
                  <a:txBody>
                    <a:bodyPr/>
                    <a:lstStyle/>
                    <a:p>
                      <a:pPr marL="180975" indent="-180975">
                        <a:buFont typeface="Arial" panose="020B0604020202020204" pitchFamily="34" charset="0"/>
                        <a:buChar char="•"/>
                      </a:pPr>
                      <a:r>
                        <a:rPr lang="en-GB" dirty="0"/>
                        <a:t>Backend Development</a:t>
                      </a:r>
                    </a:p>
                    <a:p>
                      <a:pPr marL="180975" indent="-180975">
                        <a:buFont typeface="Arial" panose="020B0604020202020204" pitchFamily="34" charset="0"/>
                        <a:buChar char="•"/>
                      </a:pPr>
                      <a:r>
                        <a:rPr lang="en-GB" dirty="0"/>
                        <a:t>Frontend Development</a:t>
                      </a:r>
                    </a:p>
                    <a:p>
                      <a:pPr marL="180975" indent="-180975">
                        <a:buFont typeface="Arial" panose="020B0604020202020204" pitchFamily="34" charset="0"/>
                        <a:buChar char="•"/>
                      </a:pPr>
                      <a:r>
                        <a:rPr lang="en-GB" dirty="0"/>
                        <a:t>Troubleshooting</a:t>
                      </a:r>
                    </a:p>
                    <a:p>
                      <a:pPr marL="180975" indent="-180975">
                        <a:buFont typeface="Arial" panose="020B0604020202020204" pitchFamily="34" charset="0"/>
                        <a:buChar char="•"/>
                      </a:pPr>
                      <a:r>
                        <a:rPr lang="en-GB" dirty="0"/>
                        <a:t>Quality Assurance</a:t>
                      </a:r>
                    </a:p>
                    <a:p>
                      <a:pPr marL="180975" indent="-180975">
                        <a:buFont typeface="Arial" panose="020B0604020202020204" pitchFamily="34" charset="0"/>
                        <a:buChar char="•"/>
                      </a:pPr>
                      <a:r>
                        <a:rPr lang="en-GB" dirty="0"/>
                        <a:t>Tech Blog Entries</a:t>
                      </a:r>
                    </a:p>
                  </a:txBody>
                  <a:tcPr/>
                </a:tc>
                <a:extLst>
                  <a:ext uri="{0D108BD9-81ED-4DB2-BD59-A6C34878D82A}">
                    <a16:rowId xmlns:a16="http://schemas.microsoft.com/office/drawing/2014/main" val="2130531394"/>
                  </a:ext>
                </a:extLst>
              </a:tr>
              <a:tr h="370840">
                <a:tc>
                  <a:txBody>
                    <a:bodyPr/>
                    <a:lstStyle/>
                    <a:p>
                      <a:r>
                        <a:rPr lang="en-GB" dirty="0"/>
                        <a:t>Apr 2016 - Jan 2018 </a:t>
                      </a:r>
                    </a:p>
                  </a:txBody>
                  <a:tcPr/>
                </a:tc>
                <a:tc>
                  <a:txBody>
                    <a:bodyPr/>
                    <a:lstStyle/>
                    <a:p>
                      <a:r>
                        <a:rPr lang="en-GB" dirty="0"/>
                        <a:t>System Engineering Service</a:t>
                      </a:r>
                    </a:p>
                  </a:txBody>
                  <a:tcPr/>
                </a:tc>
                <a:tc>
                  <a:txBody>
                    <a:bodyPr/>
                    <a:lstStyle/>
                    <a:p>
                      <a:r>
                        <a:rPr lang="en-GB" dirty="0"/>
                        <a:t>System Engineer</a:t>
                      </a:r>
                    </a:p>
                  </a:txBody>
                  <a:tcPr/>
                </a:tc>
                <a:tc>
                  <a:txBody>
                    <a:bodyPr/>
                    <a:lstStyle/>
                    <a:p>
                      <a:pPr marL="180975" indent="-180975">
                        <a:buFont typeface="Arial" panose="020B0604020202020204" pitchFamily="34" charset="0"/>
                        <a:buChar char="•"/>
                      </a:pPr>
                      <a:r>
                        <a:rPr lang="en-GB" dirty="0"/>
                        <a:t>Corporate Account Admin</a:t>
                      </a:r>
                    </a:p>
                    <a:p>
                      <a:pPr marL="180975" indent="-180975">
                        <a:buFont typeface="Arial" panose="020B0604020202020204" pitchFamily="34" charset="0"/>
                        <a:buChar char="•"/>
                      </a:pPr>
                      <a:r>
                        <a:rPr lang="en-GB" dirty="0"/>
                        <a:t>Windows Server Maintenance</a:t>
                      </a:r>
                    </a:p>
                    <a:p>
                      <a:pPr marL="180975" indent="-180975">
                        <a:buFont typeface="Arial" panose="020B0604020202020204" pitchFamily="34" charset="0"/>
                        <a:buChar char="•"/>
                      </a:pPr>
                      <a:r>
                        <a:rPr lang="en-GB" dirty="0"/>
                        <a:t>Security Admin Assistant</a:t>
                      </a:r>
                    </a:p>
                    <a:p>
                      <a:pPr marL="180975" indent="-180975">
                        <a:buFont typeface="Arial" panose="020B0604020202020204" pitchFamily="34" charset="0"/>
                        <a:buChar char="•"/>
                      </a:pPr>
                      <a:r>
                        <a:rPr lang="en-GB" dirty="0"/>
                        <a:t>Internationalisation / Localisation</a:t>
                      </a:r>
                    </a:p>
                  </a:txBody>
                  <a:tcPr/>
                </a:tc>
                <a:extLst>
                  <a:ext uri="{0D108BD9-81ED-4DB2-BD59-A6C34878D82A}">
                    <a16:rowId xmlns:a16="http://schemas.microsoft.com/office/drawing/2014/main" val="2598994669"/>
                  </a:ext>
                </a:extLst>
              </a:tr>
            </a:tbl>
          </a:graphicData>
        </a:graphic>
      </p:graphicFrame>
    </p:spTree>
    <p:extLst>
      <p:ext uri="{BB962C8B-B14F-4D97-AF65-F5344CB8AC3E}">
        <p14:creationId xmlns:p14="http://schemas.microsoft.com/office/powerpoint/2010/main" val="1497606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B82EE1-E38F-951E-0F7D-F5C1E0BCA821}"/>
              </a:ext>
            </a:extLst>
          </p:cNvPr>
          <p:cNvSpPr>
            <a:spLocks noGrp="1"/>
          </p:cNvSpPr>
          <p:nvPr>
            <p:ph type="title"/>
          </p:nvPr>
        </p:nvSpPr>
        <p:spPr>
          <a:xfrm>
            <a:off x="838200" y="365125"/>
            <a:ext cx="10515600" cy="1325563"/>
          </a:xfrm>
        </p:spPr>
        <p:txBody>
          <a:bodyPr/>
          <a:lstStyle/>
          <a:p>
            <a:pPr algn="ctr"/>
            <a:r>
              <a:rPr lang="en-GB" altLang="ja-JP" b="1" dirty="0">
                <a:latin typeface="Calibri (Headings)"/>
              </a:rPr>
              <a:t>International-Exchange Activities</a:t>
            </a:r>
            <a:endParaRPr lang="en-GB" b="1" dirty="0">
              <a:latin typeface="Calibri (Headings)"/>
            </a:endParaRPr>
          </a:p>
        </p:txBody>
      </p:sp>
      <p:sp>
        <p:nvSpPr>
          <p:cNvPr id="3" name="スライド番号プレースホルダー 3">
            <a:extLst>
              <a:ext uri="{FF2B5EF4-FFF2-40B4-BE49-F238E27FC236}">
                <a16:creationId xmlns:a16="http://schemas.microsoft.com/office/drawing/2014/main" id="{8D5D106E-9D74-DC1E-836B-DB1EA0FFF46D}"/>
              </a:ext>
            </a:extLst>
          </p:cNvPr>
          <p:cNvSpPr>
            <a:spLocks noGrp="1"/>
          </p:cNvSpPr>
          <p:nvPr>
            <p:ph type="sldNum" sz="quarter" idx="12"/>
          </p:nvPr>
        </p:nvSpPr>
        <p:spPr>
          <a:xfrm>
            <a:off x="8610600" y="6356350"/>
            <a:ext cx="2743200" cy="365125"/>
          </a:xfrm>
        </p:spPr>
        <p:txBody>
          <a:bodyPr/>
          <a:lstStyle/>
          <a:p>
            <a:fld id="{CC8B731A-DCF7-4273-BA1A-21517ACBB5E5}" type="slidenum">
              <a:rPr lang="en-GB" smtClean="0"/>
              <a:t>7</a:t>
            </a:fld>
            <a:endParaRPr lang="en-GB"/>
          </a:p>
        </p:txBody>
      </p:sp>
      <p:sp>
        <p:nvSpPr>
          <p:cNvPr id="4" name="コンテンツ プレースホルダー 2">
            <a:extLst>
              <a:ext uri="{FF2B5EF4-FFF2-40B4-BE49-F238E27FC236}">
                <a16:creationId xmlns:a16="http://schemas.microsoft.com/office/drawing/2014/main" id="{64001852-9BE9-116D-DC26-E554CE510BAA}"/>
              </a:ext>
            </a:extLst>
          </p:cNvPr>
          <p:cNvSpPr>
            <a:spLocks noGrp="1"/>
          </p:cNvSpPr>
          <p:nvPr>
            <p:ph idx="1"/>
          </p:nvPr>
        </p:nvSpPr>
        <p:spPr>
          <a:xfrm>
            <a:off x="838200" y="1830270"/>
            <a:ext cx="10515600" cy="4343898"/>
          </a:xfrm>
          <a:ln>
            <a:noFill/>
          </a:ln>
        </p:spPr>
        <p:txBody>
          <a:bodyPr>
            <a:normAutofit/>
          </a:bodyPr>
          <a:lstStyle/>
          <a:p>
            <a:pPr marL="268288" indent="-268288"/>
            <a:r>
              <a:rPr lang="en-GB" altLang="ja-JP" sz="1600" dirty="0"/>
              <a:t>Activities in University</a:t>
            </a:r>
            <a:endParaRPr lang="ja-JP" altLang="en-US" sz="1600" dirty="0"/>
          </a:p>
          <a:p>
            <a:pPr marL="536575" lvl="1" indent="-268288"/>
            <a:r>
              <a:rPr lang="en-GB" altLang="ja-JP" sz="1400" dirty="0"/>
              <a:t>English Linguistics Seminar</a:t>
            </a:r>
            <a:r>
              <a:rPr lang="en-US" altLang="ja-JP" sz="1400" dirty="0"/>
              <a:t>(</a:t>
            </a:r>
            <a:r>
              <a:rPr lang="en-GB" altLang="ja-JP" sz="1400" dirty="0"/>
              <a:t>Focusing on Mass Media English</a:t>
            </a:r>
            <a:r>
              <a:rPr lang="en-US" altLang="ja-JP" sz="1400" dirty="0"/>
              <a:t>)</a:t>
            </a:r>
          </a:p>
          <a:p>
            <a:pPr marL="536575" lvl="1" indent="-268288"/>
            <a:r>
              <a:rPr lang="en-GB" altLang="ja-JP" sz="1400" dirty="0"/>
              <a:t>International-Exchange Clubs</a:t>
            </a:r>
            <a:r>
              <a:rPr lang="en-US" altLang="ja-JP" sz="1400" dirty="0"/>
              <a:t>(</a:t>
            </a:r>
            <a:r>
              <a:rPr lang="en-GB" altLang="ja-JP" sz="1400" dirty="0"/>
              <a:t>The 2nd Year</a:t>
            </a:r>
            <a:r>
              <a:rPr lang="en-US" altLang="ja-JP" sz="1400" dirty="0"/>
              <a:t>)</a:t>
            </a:r>
          </a:p>
          <a:p>
            <a:pPr marL="536575" lvl="1" indent="-268288"/>
            <a:r>
              <a:rPr lang="en-GB" altLang="ja-JP" sz="1400" dirty="0">
                <a:hlinkClick r:id="rId3"/>
              </a:rPr>
              <a:t>International-Exchange Programmes conducted by Japan Cabinet Office</a:t>
            </a:r>
            <a:r>
              <a:rPr lang="en-US" altLang="ja-JP" sz="1400" dirty="0"/>
              <a:t>(2013</a:t>
            </a:r>
            <a:r>
              <a:rPr lang="ja-JP" altLang="en-US" sz="1400" dirty="0"/>
              <a:t> </a:t>
            </a:r>
            <a:r>
              <a:rPr lang="en-US" altLang="ja-JP" sz="1400" dirty="0"/>
              <a:t>- 2016)</a:t>
            </a:r>
          </a:p>
          <a:p>
            <a:pPr marL="536575" lvl="1" indent="-268288"/>
            <a:r>
              <a:rPr lang="en-GB" altLang="ja-JP" sz="1400" dirty="0"/>
              <a:t>Japanese Linguistics Course(The Final Year)</a:t>
            </a:r>
            <a:endParaRPr lang="en-US" altLang="ja-JP" sz="1400" dirty="0"/>
          </a:p>
          <a:p>
            <a:pPr marL="268288" indent="-268288"/>
            <a:r>
              <a:rPr lang="en-GB" altLang="ja-JP" sz="1600" dirty="0"/>
              <a:t>Overseas Life Experience</a:t>
            </a:r>
            <a:endParaRPr lang="ja-JP" altLang="en-US" sz="1600" dirty="0"/>
          </a:p>
          <a:p>
            <a:pPr marL="536575" lvl="1" indent="-268288"/>
            <a:r>
              <a:rPr lang="en-GB" altLang="ja-JP" sz="1400" dirty="0"/>
              <a:t>Working Holiday in Australia</a:t>
            </a:r>
            <a:r>
              <a:rPr lang="en-US" altLang="ja-JP" sz="1400" dirty="0"/>
              <a:t>(April 2014</a:t>
            </a:r>
            <a:r>
              <a:rPr lang="ja-JP" altLang="en-US" sz="1400" dirty="0"/>
              <a:t> </a:t>
            </a:r>
            <a:r>
              <a:rPr lang="en-US" altLang="ja-JP" sz="1400" dirty="0"/>
              <a:t>- </a:t>
            </a:r>
            <a:r>
              <a:rPr lang="en-GB" altLang="ja-JP" sz="1400" dirty="0"/>
              <a:t>March 2015</a:t>
            </a:r>
            <a:r>
              <a:rPr lang="en-US" altLang="ja-JP" sz="1400" dirty="0"/>
              <a:t>)</a:t>
            </a:r>
          </a:p>
          <a:p>
            <a:pPr marL="728662" lvl="2" indent="-285750"/>
            <a:r>
              <a:rPr lang="en-GB" altLang="ja-JP" sz="1200" dirty="0"/>
              <a:t>Language School for 1 month in Sydney</a:t>
            </a:r>
          </a:p>
          <a:p>
            <a:pPr marL="728662" lvl="2" indent="-285750"/>
            <a:r>
              <a:rPr lang="en-GB" altLang="ja-JP" sz="1200" dirty="0"/>
              <a:t>Work for 6 Months</a:t>
            </a:r>
            <a:r>
              <a:rPr lang="ja-JP" altLang="en-US" sz="1200" dirty="0"/>
              <a:t> </a:t>
            </a:r>
            <a:r>
              <a:rPr lang="en-GB" altLang="ja-JP" sz="1200" dirty="0"/>
              <a:t>in</a:t>
            </a:r>
            <a:r>
              <a:rPr lang="ja-JP" altLang="en-US" sz="1200" dirty="0"/>
              <a:t> </a:t>
            </a:r>
            <a:r>
              <a:rPr lang="en-GB" altLang="ja-JP" sz="1200" dirty="0">
                <a:hlinkClick r:id="rId4"/>
              </a:rPr>
              <a:t>Hamilton Island Resort</a:t>
            </a:r>
            <a:endParaRPr lang="en-GB" altLang="ja-JP" sz="1200" dirty="0"/>
          </a:p>
          <a:p>
            <a:pPr marL="728662" lvl="2" indent="-285750"/>
            <a:r>
              <a:rPr lang="en-GB" altLang="ja-JP" sz="1200" dirty="0"/>
              <a:t>Volunteering for 1 Month as Assistant Teacher of Japanese Language at</a:t>
            </a:r>
            <a:r>
              <a:rPr lang="ja-JP" altLang="en-US" sz="1200" dirty="0"/>
              <a:t> </a:t>
            </a:r>
            <a:r>
              <a:rPr lang="en-GB" altLang="ja-JP" sz="1200" dirty="0">
                <a:hlinkClick r:id="rId5"/>
              </a:rPr>
              <a:t>St Ives High School</a:t>
            </a:r>
            <a:r>
              <a:rPr lang="ja-JP" altLang="en-US" sz="1200" dirty="0"/>
              <a:t> </a:t>
            </a:r>
            <a:r>
              <a:rPr lang="en-GB" altLang="ja-JP" sz="1200" dirty="0"/>
              <a:t>in</a:t>
            </a:r>
            <a:r>
              <a:rPr lang="ja-JP" altLang="en-US" sz="1200" dirty="0"/>
              <a:t> </a:t>
            </a:r>
            <a:r>
              <a:rPr lang="en-GB" altLang="ja-JP" sz="1200" dirty="0"/>
              <a:t>NSW</a:t>
            </a:r>
            <a:endParaRPr lang="en-US" altLang="ja-JP" sz="1200" dirty="0"/>
          </a:p>
          <a:p>
            <a:pPr marL="268288" indent="-268288"/>
            <a:r>
              <a:rPr lang="en-GB" altLang="ja-JP" sz="1600" dirty="0"/>
              <a:t>Other Activities</a:t>
            </a:r>
            <a:endParaRPr lang="ja-JP" altLang="en-US" sz="900" dirty="0"/>
          </a:p>
          <a:p>
            <a:pPr marL="536575" lvl="1" indent="-268288"/>
            <a:r>
              <a:rPr lang="en-GB" altLang="ja-JP" sz="1400" dirty="0"/>
              <a:t>Keep Everyday Journal in English</a:t>
            </a:r>
            <a:r>
              <a:rPr lang="ja-JP" altLang="en-US" sz="1400" dirty="0"/>
              <a:t> </a:t>
            </a:r>
            <a:r>
              <a:rPr lang="en-GB" altLang="ja-JP" sz="1400" dirty="0"/>
              <a:t>(</a:t>
            </a:r>
            <a:r>
              <a:rPr lang="en-US" altLang="ja-JP" sz="1400" dirty="0"/>
              <a:t>April 2014</a:t>
            </a:r>
            <a:r>
              <a:rPr lang="ja-JP" altLang="en-US" sz="1400" dirty="0"/>
              <a:t> </a:t>
            </a:r>
            <a:r>
              <a:rPr lang="en-US" altLang="ja-JP" sz="1400" dirty="0"/>
              <a:t>- Present</a:t>
            </a:r>
            <a:r>
              <a:rPr lang="en-GB" altLang="ja-JP" sz="1400" dirty="0"/>
              <a:t>)</a:t>
            </a:r>
            <a:endParaRPr lang="en-US" altLang="ja-JP" sz="1400" dirty="0">
              <a:hlinkClick r:id="rId6"/>
            </a:endParaRPr>
          </a:p>
          <a:p>
            <a:pPr marL="536575" lvl="1" indent="-268288"/>
            <a:r>
              <a:rPr lang="en-US" altLang="ja-JP" sz="1400" dirty="0">
                <a:hlinkClick r:id="rId7"/>
              </a:rPr>
              <a:t>Sunrise Toastmasters Club</a:t>
            </a:r>
            <a:r>
              <a:rPr lang="en-US" altLang="ja-JP" sz="1400" dirty="0"/>
              <a:t>(February 2017</a:t>
            </a:r>
            <a:r>
              <a:rPr lang="ja-JP" altLang="en-US" sz="1400" dirty="0"/>
              <a:t> </a:t>
            </a:r>
            <a:r>
              <a:rPr lang="en-US" altLang="ja-JP" sz="1400" dirty="0"/>
              <a:t>- March 2018)</a:t>
            </a:r>
          </a:p>
          <a:p>
            <a:pPr marL="536575" lvl="1" indent="-268288"/>
            <a:r>
              <a:rPr lang="en-US" altLang="ja-JP" sz="1400" dirty="0">
                <a:hlinkClick r:id="rId8"/>
              </a:rPr>
              <a:t>Vital Japan</a:t>
            </a:r>
            <a:r>
              <a:rPr lang="en-US" altLang="ja-JP" sz="1400" dirty="0"/>
              <a:t>(January 2018 - July 2019</a:t>
            </a:r>
            <a:r>
              <a:rPr lang="en-GB" altLang="ja-JP" sz="1400" dirty="0"/>
              <a:t>, October 2022 - February 2023</a:t>
            </a:r>
            <a:r>
              <a:rPr lang="en-US" altLang="ja-JP" sz="1400" dirty="0"/>
              <a:t>) </a:t>
            </a:r>
          </a:p>
          <a:p>
            <a:pPr marL="536575" lvl="1" indent="-268288"/>
            <a:r>
              <a:rPr lang="en-GB" altLang="ja-JP" sz="1400" dirty="0"/>
              <a:t>Self Learning and Training of English Language</a:t>
            </a:r>
          </a:p>
          <a:p>
            <a:pPr marL="536575" lvl="1" indent="-268288"/>
            <a:r>
              <a:rPr lang="en-GB" altLang="ja-JP" sz="1400" dirty="0"/>
              <a:t>Participation Ruby-Related </a:t>
            </a:r>
            <a:r>
              <a:rPr lang="en-GB" altLang="ja-JP" sz="1400"/>
              <a:t>Tech Conferences</a:t>
            </a:r>
            <a:endParaRPr lang="en-GB" altLang="ja-JP" sz="1400" dirty="0"/>
          </a:p>
        </p:txBody>
      </p:sp>
    </p:spTree>
    <p:extLst>
      <p:ext uri="{BB962C8B-B14F-4D97-AF65-F5344CB8AC3E}">
        <p14:creationId xmlns:p14="http://schemas.microsoft.com/office/powerpoint/2010/main" val="2567433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alphaModFix amt="15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B69D39-AAC7-42C5-8747-4B518371074C}"/>
              </a:ext>
            </a:extLst>
          </p:cNvPr>
          <p:cNvSpPr>
            <a:spLocks noGrp="1"/>
          </p:cNvSpPr>
          <p:nvPr>
            <p:ph type="title"/>
          </p:nvPr>
        </p:nvSpPr>
        <p:spPr/>
        <p:txBody>
          <a:bodyPr/>
          <a:lstStyle/>
          <a:p>
            <a:pPr algn="ctr"/>
            <a:r>
              <a:rPr lang="en-GB" altLang="ja-JP" b="1" dirty="0">
                <a:latin typeface="Calibri (Headings)"/>
              </a:rPr>
              <a:t>Agenda</a:t>
            </a:r>
            <a:endParaRPr lang="en-GB" b="1" dirty="0">
              <a:latin typeface="Calibri (Headings)"/>
            </a:endParaRPr>
          </a:p>
        </p:txBody>
      </p:sp>
      <p:sp>
        <p:nvSpPr>
          <p:cNvPr id="3" name="コンテンツ プレースホルダー 2">
            <a:extLst>
              <a:ext uri="{FF2B5EF4-FFF2-40B4-BE49-F238E27FC236}">
                <a16:creationId xmlns:a16="http://schemas.microsoft.com/office/drawing/2014/main" id="{6865C527-BB5B-4296-B5C9-8645D3BC7D77}"/>
              </a:ext>
            </a:extLst>
          </p:cNvPr>
          <p:cNvSpPr>
            <a:spLocks noGrp="1"/>
          </p:cNvSpPr>
          <p:nvPr>
            <p:ph idx="1"/>
          </p:nvPr>
        </p:nvSpPr>
        <p:spPr/>
        <p:txBody>
          <a:bodyPr>
            <a:normAutofit/>
          </a:bodyPr>
          <a:lstStyle/>
          <a:p>
            <a:pPr marL="360363" indent="-360363">
              <a:buClr>
                <a:schemeClr val="dk1"/>
              </a:buClr>
              <a:buSzPts val="2800"/>
              <a:buAutoNum type="arabicPeriod"/>
            </a:pPr>
            <a:r>
              <a:rPr lang="en-GB" altLang="ja-JP" sz="2400" dirty="0">
                <a:sym typeface="Arial"/>
                <a:hlinkClick r:id="rId3" action="ppaction://hlinksldjump"/>
              </a:rPr>
              <a:t>Prologue</a:t>
            </a:r>
            <a:endParaRPr lang="en-GB" altLang="ja-JP" sz="2400" dirty="0">
              <a:sym typeface="Arial"/>
            </a:endParaRPr>
          </a:p>
          <a:p>
            <a:pPr marL="360363" indent="-360363">
              <a:buClr>
                <a:schemeClr val="dk1"/>
              </a:buClr>
              <a:buSzPts val="2800"/>
              <a:buAutoNum type="arabicPeriod"/>
            </a:pPr>
            <a:r>
              <a:rPr lang="fr-FR" altLang="ja-JP" sz="2400" dirty="0">
                <a:sym typeface="Arial"/>
                <a:hlinkClick r:id="rId4" action="ppaction://hlinksldjump"/>
              </a:rPr>
              <a:t>Type ACTIVE vs. Type PASSIVE</a:t>
            </a:r>
            <a:endParaRPr lang="en-GB" altLang="ja-JP" sz="2400" dirty="0">
              <a:sym typeface="Arial"/>
            </a:endParaRPr>
          </a:p>
          <a:p>
            <a:pPr marL="360363" indent="-360363">
              <a:buClr>
                <a:schemeClr val="dk1"/>
              </a:buClr>
              <a:buSzPts val="2800"/>
              <a:buAutoNum type="arabicPeriod"/>
            </a:pPr>
            <a:r>
              <a:rPr lang="en-GB" altLang="ja-JP" sz="2400" dirty="0">
                <a:sym typeface="Arial"/>
                <a:hlinkClick r:id="rId5" action="ppaction://hlinksldjump"/>
              </a:rPr>
              <a:t>Career Planning of Type OPEN-PASSIVE</a:t>
            </a:r>
            <a:endParaRPr lang="en-GB" altLang="ja-JP" sz="2400" dirty="0">
              <a:sym typeface="Arial"/>
            </a:endParaRPr>
          </a:p>
          <a:p>
            <a:pPr marL="360363" indent="-360363">
              <a:buClr>
                <a:schemeClr val="dk1"/>
              </a:buClr>
              <a:buSzPts val="2800"/>
              <a:buAutoNum type="arabicPeriod"/>
            </a:pPr>
            <a:r>
              <a:rPr lang="en-GB" altLang="ja-JP" sz="2400" dirty="0">
                <a:sym typeface="Arial"/>
                <a:hlinkClick r:id="rId6" action="ppaction://hlinksldjump"/>
              </a:rPr>
              <a:t>"What do you want?"</a:t>
            </a:r>
            <a:endParaRPr lang="en-GB" altLang="ja-JP" sz="2400" dirty="0">
              <a:sym typeface="Arial"/>
            </a:endParaRPr>
          </a:p>
          <a:p>
            <a:pPr marL="360363" indent="-360363">
              <a:buClr>
                <a:schemeClr val="dk1"/>
              </a:buClr>
              <a:buSzPts val="2800"/>
              <a:buAutoNum type="arabicPeriod"/>
            </a:pPr>
            <a:r>
              <a:rPr lang="en-GB" altLang="ja-JP" sz="2400" dirty="0">
                <a:sym typeface="Arial"/>
                <a:hlinkClick r:id="rId7" action="ppaction://hlinksldjump"/>
              </a:rPr>
              <a:t>Summary</a:t>
            </a:r>
            <a:endParaRPr lang="en-GB" altLang="ja-JP" sz="2400" dirty="0">
              <a:sym typeface="Arial"/>
            </a:endParaRPr>
          </a:p>
          <a:p>
            <a:pPr marL="360363" indent="-360363">
              <a:buClr>
                <a:schemeClr val="dk1"/>
              </a:buClr>
              <a:buSzPts val="2800"/>
              <a:buAutoNum type="arabicPeriod"/>
            </a:pPr>
            <a:r>
              <a:rPr lang="en-GB" altLang="ja-JP" sz="2400" dirty="0">
                <a:sym typeface="Arial"/>
                <a:hlinkClick r:id="rId8" action="ppaction://hlinksldjump"/>
              </a:rPr>
              <a:t>References</a:t>
            </a:r>
            <a:endParaRPr lang="en-GB" altLang="ja-JP" sz="2400" dirty="0">
              <a:sym typeface="Arial"/>
            </a:endParaRPr>
          </a:p>
        </p:txBody>
      </p:sp>
      <p:sp>
        <p:nvSpPr>
          <p:cNvPr id="4" name="スライド番号プレースホルダー 3">
            <a:extLst>
              <a:ext uri="{FF2B5EF4-FFF2-40B4-BE49-F238E27FC236}">
                <a16:creationId xmlns:a16="http://schemas.microsoft.com/office/drawing/2014/main" id="{36D8F513-A7B1-4711-A8CD-4E8A5B622D2A}"/>
              </a:ext>
            </a:extLst>
          </p:cNvPr>
          <p:cNvSpPr>
            <a:spLocks noGrp="1"/>
          </p:cNvSpPr>
          <p:nvPr>
            <p:ph type="sldNum" sz="quarter" idx="12"/>
          </p:nvPr>
        </p:nvSpPr>
        <p:spPr/>
        <p:txBody>
          <a:bodyPr/>
          <a:lstStyle/>
          <a:p>
            <a:fld id="{CC8B731A-DCF7-4273-BA1A-21517ACBB5E5}" type="slidenum">
              <a:rPr lang="en-GB" smtClean="0"/>
              <a:t>8</a:t>
            </a:fld>
            <a:endParaRPr lang="en-GB"/>
          </a:p>
        </p:txBody>
      </p:sp>
    </p:spTree>
    <p:extLst>
      <p:ext uri="{BB962C8B-B14F-4D97-AF65-F5344CB8AC3E}">
        <p14:creationId xmlns:p14="http://schemas.microsoft.com/office/powerpoint/2010/main" val="210825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1</a:t>
            </a:r>
            <a:r>
              <a:rPr lang="en-US" altLang="ja-JP" b="1" dirty="0">
                <a:latin typeface="Calibri (Headings)"/>
              </a:rPr>
              <a:t>. </a:t>
            </a:r>
            <a:r>
              <a:rPr lang="en-GB" altLang="ja-JP" b="1" dirty="0">
                <a:latin typeface="Calibri (Headings)"/>
                <a:sym typeface="Arial"/>
              </a:rPr>
              <a:t>Prologue</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3418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en-GB" altLang="ja-JP" b="1" dirty="0">
                <a:latin typeface="Calibri (Headings)"/>
                <a:sym typeface="Arial"/>
              </a:rPr>
              <a:t>Prologue</a:t>
            </a:r>
            <a:endParaRPr lang="en-GB" b="1" dirty="0">
              <a:latin typeface="+mn-lt"/>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0" lvl="1" indent="0">
              <a:buNone/>
            </a:pPr>
            <a:r>
              <a:rPr lang="en-GB" altLang="ja-JP" dirty="0"/>
              <a:t>On the middle of July 2024, I received an alumni visit request from a new graduate via the career centre of my university and had casual interviews 3 times.</a:t>
            </a:r>
          </a:p>
          <a:p>
            <a:pPr marL="0" lvl="1" indent="0">
              <a:buNone/>
            </a:pPr>
            <a:endParaRPr lang="en-GB" altLang="ja-JP" dirty="0"/>
          </a:p>
          <a:p>
            <a:pPr marL="0" lvl="1" indent="0">
              <a:buNone/>
            </a:pPr>
            <a:r>
              <a:rPr lang="en-GB" altLang="ja-JP" dirty="0"/>
              <a:t>I communicated with her via Email and had her share questions, bothers and uneasiness about job hunting in advance.</a:t>
            </a:r>
          </a:p>
          <a:p>
            <a:pPr marL="0" lvl="1" indent="0">
              <a:buNone/>
            </a:pPr>
            <a:r>
              <a:rPr lang="en-GB" altLang="ja-JP" dirty="0"/>
              <a:t>It turned out that her </a:t>
            </a:r>
            <a:r>
              <a:rPr lang="en-GB" altLang="ja-JP" b="1" dirty="0"/>
              <a:t>PASSVIE</a:t>
            </a:r>
            <a:r>
              <a:rPr lang="en-GB" altLang="ja-JP" dirty="0"/>
              <a:t> career plan was still so ambiguous that she could not help feeling worried about how job hunting activity would be going.</a:t>
            </a:r>
          </a:p>
          <a:p>
            <a:pPr marL="0" lvl="1" indent="0">
              <a:buNone/>
            </a:pPr>
            <a:endParaRPr lang="en-GB" altLang="ja-JP" dirty="0"/>
          </a:p>
          <a:p>
            <a:pPr marL="0" lvl="1" indent="0">
              <a:buNone/>
            </a:pPr>
            <a:r>
              <a:rPr lang="en-GB" altLang="ja-JP" dirty="0"/>
              <a:t>After as many as 3-time meeting, she succeeded in refining her career plan and lowering her uneasiness level from 10 to 1 or 2 by visualising the next actions.</a:t>
            </a:r>
          </a:p>
        </p:txBody>
      </p:sp>
    </p:spTree>
    <p:extLst>
      <p:ext uri="{BB962C8B-B14F-4D97-AF65-F5344CB8AC3E}">
        <p14:creationId xmlns:p14="http://schemas.microsoft.com/office/powerpoint/2010/main" val="3715280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en-GB" altLang="ja-JP" b="1" dirty="0">
                <a:latin typeface="Calibri (Headings)"/>
                <a:sym typeface="Arial"/>
              </a:rPr>
              <a:t>Prologue</a:t>
            </a:r>
            <a:endParaRPr lang="en-GB" b="1" dirty="0">
              <a:latin typeface="+mn-lt"/>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fontScale="92500" lnSpcReduction="10000"/>
          </a:bodyPr>
          <a:lstStyle/>
          <a:p>
            <a:pPr marL="0" lvl="1" indent="0">
              <a:buNone/>
            </a:pPr>
            <a:r>
              <a:rPr lang="en-GB" altLang="ja-JP" dirty="0"/>
              <a:t>To maximise the outcome, resolution of her questions, bothers and uneasiness and determination of the next actions, I myself prepared for the casual interviews by having small talks with members from the same team and self-study to input the following expertise.</a:t>
            </a:r>
          </a:p>
          <a:p>
            <a:pPr marL="0" lvl="1" indent="0">
              <a:buNone/>
            </a:pPr>
            <a:endParaRPr lang="en-GB" altLang="ja-JP" dirty="0"/>
          </a:p>
          <a:p>
            <a:pPr marL="360363" lvl="1" indent="-360363">
              <a:buFont typeface="+mj-lt"/>
              <a:buAutoNum type="arabicPeriod"/>
            </a:pPr>
            <a:r>
              <a:rPr lang="en-GB" altLang="ja-JP" dirty="0"/>
              <a:t>What</a:t>
            </a:r>
            <a:r>
              <a:rPr lang="ja-JP" altLang="en-US" dirty="0"/>
              <a:t> </a:t>
            </a:r>
            <a:r>
              <a:rPr lang="en-GB" altLang="ja-JP" dirty="0"/>
              <a:t>is</a:t>
            </a:r>
            <a:r>
              <a:rPr lang="ja-JP" altLang="en-US" dirty="0"/>
              <a:t> </a:t>
            </a:r>
            <a:r>
              <a:rPr lang="en-GB" altLang="ja-JP" dirty="0"/>
              <a:t>the</a:t>
            </a:r>
            <a:r>
              <a:rPr lang="ja-JP" altLang="en-US" dirty="0"/>
              <a:t> </a:t>
            </a:r>
            <a:r>
              <a:rPr lang="en-GB" altLang="ja-JP" dirty="0"/>
              <a:t>definition</a:t>
            </a:r>
            <a:r>
              <a:rPr lang="ja-JP" altLang="en-US" dirty="0"/>
              <a:t> </a:t>
            </a:r>
            <a:r>
              <a:rPr lang="en-GB" altLang="ja-JP" dirty="0"/>
              <a:t>of </a:t>
            </a:r>
            <a:r>
              <a:rPr lang="fr-FR" altLang="ja-JP" b="1" dirty="0"/>
              <a:t>Type ACTIVE</a:t>
            </a:r>
            <a:r>
              <a:rPr lang="fr-FR" altLang="ja-JP" dirty="0"/>
              <a:t> vs. </a:t>
            </a:r>
            <a:r>
              <a:rPr lang="fr-FR" altLang="ja-JP" b="1" dirty="0"/>
              <a:t>Type PASSIVE</a:t>
            </a:r>
            <a:r>
              <a:rPr lang="fr-FR" altLang="ja-JP" dirty="0"/>
              <a:t> and contrast between them?</a:t>
            </a:r>
            <a:endParaRPr lang="en-GB" altLang="ja-JP" dirty="0"/>
          </a:p>
          <a:p>
            <a:pPr marL="360363" lvl="1" indent="-360363">
              <a:buFont typeface="+mj-lt"/>
              <a:buAutoNum type="arabicPeriod"/>
            </a:pPr>
            <a:r>
              <a:rPr lang="en-GB" altLang="ja-JP" dirty="0"/>
              <a:t>Which type is majority among members around me?</a:t>
            </a:r>
          </a:p>
          <a:p>
            <a:pPr marL="360363" lvl="1" indent="-360363">
              <a:buFont typeface="+mj-lt"/>
              <a:buAutoNum type="arabicPeriod"/>
            </a:pPr>
            <a:r>
              <a:rPr lang="en-GB" altLang="ja-JP" dirty="0"/>
              <a:t>What career plan do those who are </a:t>
            </a:r>
            <a:r>
              <a:rPr lang="fr-FR" altLang="ja-JP" b="1" dirty="0"/>
              <a:t>Type PASSIVE</a:t>
            </a:r>
            <a:r>
              <a:rPr lang="fr-FR" altLang="ja-JP" dirty="0"/>
              <a:t> have?</a:t>
            </a:r>
            <a:endParaRPr lang="en-GB" altLang="ja-JP" dirty="0"/>
          </a:p>
          <a:p>
            <a:pPr marL="0" lvl="1" indent="0">
              <a:buNone/>
            </a:pPr>
            <a:endParaRPr lang="en-GB" altLang="ja-JP" dirty="0"/>
          </a:p>
          <a:p>
            <a:pPr marL="0" lvl="1" indent="0">
              <a:buNone/>
            </a:pPr>
            <a:r>
              <a:rPr lang="en-GB" altLang="ja-JP" dirty="0"/>
              <a:t>I would like to share what I learned from the preparation above and the gatherings with the new graduate.</a:t>
            </a:r>
          </a:p>
          <a:p>
            <a:pPr marL="0" lvl="1" indent="0">
              <a:buNone/>
            </a:pPr>
            <a:r>
              <a:rPr lang="en-GB" altLang="ja-JP" dirty="0"/>
              <a:t>As a little note, this slide focuses mainly on </a:t>
            </a:r>
            <a:r>
              <a:rPr lang="fr-FR" altLang="ja-JP" b="1" dirty="0"/>
              <a:t>Type PASSIVE</a:t>
            </a:r>
            <a:r>
              <a:rPr lang="fr-FR" altLang="ja-JP" dirty="0"/>
              <a:t> and </a:t>
            </a:r>
            <a:r>
              <a:rPr lang="fr-FR" altLang="ja-JP" b="1" dirty="0"/>
              <a:t>Type ACTIVE</a:t>
            </a:r>
            <a:r>
              <a:rPr lang="fr-FR" altLang="ja-JP" dirty="0"/>
              <a:t> appears an object to compare with.</a:t>
            </a:r>
            <a:endParaRPr lang="en-GB" altLang="ja-JP" dirty="0"/>
          </a:p>
        </p:txBody>
      </p:sp>
    </p:spTree>
    <p:extLst>
      <p:ext uri="{BB962C8B-B14F-4D97-AF65-F5344CB8AC3E}">
        <p14:creationId xmlns:p14="http://schemas.microsoft.com/office/powerpoint/2010/main" val="1915461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US" altLang="ja-JP" b="1" dirty="0">
                <a:latin typeface="Calibri (Headings)"/>
              </a:rPr>
              <a:t>2. </a:t>
            </a:r>
            <a:r>
              <a:rPr lang="fr-FR" altLang="ja-JP" b="1" dirty="0">
                <a:latin typeface="Calibri (Headings)"/>
                <a:sym typeface="Arial"/>
              </a:rPr>
              <a:t>Type ACTIVE vs. Type PASSIVE</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1154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fr-FR" altLang="ja-JP" b="1" dirty="0">
                <a:latin typeface="Calibri (Headings)"/>
                <a:sym typeface="Arial"/>
              </a:rPr>
              <a:t>Type ACTIVE vs. Type PASSIVE</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0" lvl="1" indent="0">
              <a:buNone/>
            </a:pPr>
            <a:r>
              <a:rPr lang="en-GB" altLang="ja-JP" dirty="0"/>
              <a:t>First of all, what are </a:t>
            </a:r>
            <a:r>
              <a:rPr lang="en-GB" altLang="ja-JP" b="1" dirty="0"/>
              <a:t>Type ACTIVE</a:t>
            </a:r>
            <a:r>
              <a:rPr lang="en-GB" altLang="ja-JP" dirty="0"/>
              <a:t> and </a:t>
            </a:r>
            <a:r>
              <a:rPr lang="en-GB" altLang="ja-JP" b="1" dirty="0"/>
              <a:t>Type PASSIVE</a:t>
            </a:r>
            <a:r>
              <a:rPr lang="en-GB" altLang="ja-JP" dirty="0"/>
              <a:t>?</a:t>
            </a:r>
          </a:p>
          <a:p>
            <a:pPr marL="0" lvl="1" indent="0">
              <a:buNone/>
            </a:pPr>
            <a:r>
              <a:rPr lang="en-GB" altLang="ja-JP" dirty="0"/>
              <a:t>To interpret</a:t>
            </a:r>
            <a:r>
              <a:rPr lang="ja-JP" altLang="en-US" dirty="0"/>
              <a:t> </a:t>
            </a:r>
            <a:r>
              <a:rPr lang="en-GB" altLang="ja-JP" dirty="0"/>
              <a:t>the content of </a:t>
            </a:r>
            <a:r>
              <a:rPr lang="en-GB" altLang="ja-JP" i="1" dirty="0">
                <a:hlinkClick r:id="rId3"/>
              </a:rPr>
              <a:t>What Career Planning the top player of a division in Recruit Co.,Ltd. thinks of as? What he realise in the timing when he wondered whether or not he should leave the current job(written in Japanese language)</a:t>
            </a:r>
            <a:r>
              <a:rPr lang="en-GB" altLang="ja-JP" dirty="0"/>
              <a:t>, each type can be defined as follows.</a:t>
            </a:r>
          </a:p>
          <a:p>
            <a:pPr marL="0" lvl="1" indent="0">
              <a:buNone/>
            </a:pPr>
            <a:endParaRPr lang="en-GB" altLang="ja-JP" dirty="0"/>
          </a:p>
          <a:p>
            <a:pPr marL="268288" lvl="1" indent="-268288"/>
            <a:r>
              <a:rPr lang="en-GB" altLang="ja-JP" b="1" dirty="0"/>
              <a:t>Type ACTIVE</a:t>
            </a:r>
            <a:r>
              <a:rPr lang="en-GB" altLang="ja-JP" dirty="0"/>
              <a:t>: Those who have a definite goal and </a:t>
            </a:r>
            <a:r>
              <a:rPr lang="en-GB" altLang="ja-JP" u="sng" dirty="0"/>
              <a:t>reach for</a:t>
            </a:r>
            <a:r>
              <a:rPr lang="en-GB" altLang="ja-JP" dirty="0"/>
              <a:t> their ideals with loads of efforts</a:t>
            </a:r>
          </a:p>
          <a:p>
            <a:pPr marL="725488" lvl="2" indent="-268288"/>
            <a:r>
              <a:rPr lang="en-GB" altLang="ja-JP" dirty="0"/>
              <a:t>= </a:t>
            </a:r>
            <a:r>
              <a:rPr lang="en-GB" altLang="ja-JP" u="sng" dirty="0"/>
              <a:t>Actively</a:t>
            </a:r>
            <a:r>
              <a:rPr lang="en-GB" altLang="ja-JP" dirty="0"/>
              <a:t> proceed to their ideals they originally have</a:t>
            </a:r>
            <a:endParaRPr lang="en-GB" altLang="ja-JP" u="sng" dirty="0"/>
          </a:p>
          <a:p>
            <a:pPr marL="268288" lvl="1" indent="-268288"/>
            <a:r>
              <a:rPr lang="en-GB" altLang="ja-JP" b="1" dirty="0"/>
              <a:t>Type PASSIVE</a:t>
            </a:r>
            <a:r>
              <a:rPr lang="en-GB" altLang="ja-JP" dirty="0"/>
              <a:t>: Those who focus on work under their noses, deliver the outcomes and their ideals </a:t>
            </a:r>
            <a:r>
              <a:rPr lang="en-GB" altLang="ja-JP" u="sng" dirty="0"/>
              <a:t>comes close to them</a:t>
            </a:r>
          </a:p>
          <a:p>
            <a:pPr marL="725488" lvl="2" indent="-268288"/>
            <a:r>
              <a:rPr lang="en-GB" altLang="ja-JP" dirty="0"/>
              <a:t>= (Comparatively) Passively look for their ideals in the process of growth</a:t>
            </a:r>
            <a:endParaRPr lang="en-GB" altLang="ja-JP" u="sng" dirty="0"/>
          </a:p>
        </p:txBody>
      </p:sp>
    </p:spTree>
    <p:extLst>
      <p:ext uri="{BB962C8B-B14F-4D97-AF65-F5344CB8AC3E}">
        <p14:creationId xmlns:p14="http://schemas.microsoft.com/office/powerpoint/2010/main" val="1235012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fr-FR" altLang="ja-JP" b="1" dirty="0">
                <a:latin typeface="Calibri (Headings)"/>
                <a:sym typeface="Arial"/>
              </a:rPr>
              <a:t>Type ACTIVE vs. Type PASSIVE</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lnSpcReduction="10000"/>
          </a:bodyPr>
          <a:lstStyle/>
          <a:p>
            <a:pPr marL="0" lvl="1" indent="0">
              <a:buNone/>
            </a:pPr>
            <a:r>
              <a:rPr lang="en-GB" altLang="ja-JP" dirty="0"/>
              <a:t>I input each definition shown on the last page and understand the general descriptions.</a:t>
            </a:r>
          </a:p>
          <a:p>
            <a:pPr marL="0" lvl="1" indent="0">
              <a:buNone/>
            </a:pPr>
            <a:r>
              <a:rPr lang="en-GB" altLang="ja-JP" dirty="0"/>
              <a:t>However, some contradictions remained in me and they were the following riddles.</a:t>
            </a:r>
          </a:p>
          <a:p>
            <a:pPr marL="0" lvl="1" indent="0">
              <a:buNone/>
            </a:pPr>
            <a:endParaRPr lang="en-GB" altLang="ja-JP" dirty="0"/>
          </a:p>
          <a:p>
            <a:pPr marL="268288" lvl="1" indent="-268288">
              <a:tabLst>
                <a:tab pos="268288" algn="l"/>
              </a:tabLst>
            </a:pPr>
            <a:r>
              <a:rPr lang="en-GB" altLang="ja-JP" dirty="0"/>
              <a:t>Even </a:t>
            </a:r>
            <a:r>
              <a:rPr lang="en-GB" altLang="ja-JP" b="1" dirty="0"/>
              <a:t>Type ACTIVE</a:t>
            </a:r>
            <a:r>
              <a:rPr lang="en-GB" altLang="ja-JP" dirty="0"/>
              <a:t> are not allowed to come closer to their ideals without focusing on work under their noses, delivering the outcomes and winning trusts and credits, are they?</a:t>
            </a:r>
          </a:p>
          <a:p>
            <a:pPr marL="268288" lvl="1" indent="-268288">
              <a:tabLst>
                <a:tab pos="268288" algn="l"/>
              </a:tabLst>
            </a:pPr>
            <a:r>
              <a:rPr lang="en-GB" altLang="ja-JP" dirty="0"/>
              <a:t>Even </a:t>
            </a:r>
            <a:r>
              <a:rPr lang="en-GB" altLang="ja-JP" b="1" dirty="0"/>
              <a:t>Type PASSIVE</a:t>
            </a:r>
            <a:r>
              <a:rPr lang="en-GB" altLang="ja-JP" dirty="0"/>
              <a:t> design their plans in the short-to-mid term at least because they must be aware of and  acquire required skills to handle work under their noses, don’t they?</a:t>
            </a:r>
          </a:p>
          <a:p>
            <a:pPr marL="0" lvl="1" indent="0">
              <a:buNone/>
              <a:tabLst>
                <a:tab pos="268288" algn="l"/>
              </a:tabLst>
            </a:pPr>
            <a:endParaRPr lang="en-GB" altLang="ja-JP" dirty="0"/>
          </a:p>
          <a:p>
            <a:pPr marL="0" lvl="1" indent="0">
              <a:buNone/>
              <a:tabLst>
                <a:tab pos="268288" algn="l"/>
              </a:tabLst>
            </a:pPr>
            <a:r>
              <a:rPr lang="en-GB" altLang="ja-JP" dirty="0"/>
              <a:t>The questions above turn into a hypothesis.</a:t>
            </a:r>
          </a:p>
        </p:txBody>
      </p:sp>
    </p:spTree>
    <p:extLst>
      <p:ext uri="{BB962C8B-B14F-4D97-AF65-F5344CB8AC3E}">
        <p14:creationId xmlns:p14="http://schemas.microsoft.com/office/powerpoint/2010/main" val="673478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fr-FR" altLang="ja-JP" b="1" dirty="0">
                <a:latin typeface="Calibri (Headings)"/>
                <a:sym typeface="Arial"/>
              </a:rPr>
              <a:t>Type ACTIVE vs. Type PASSIVE</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0" lvl="1" indent="0">
              <a:buNone/>
            </a:pPr>
            <a:endParaRPr lang="en-GB" altLang="ja-JP" sz="3600" b="1" dirty="0"/>
          </a:p>
          <a:p>
            <a:pPr marL="0" lvl="1" indent="0">
              <a:buNone/>
            </a:pPr>
            <a:endParaRPr lang="en-GB" altLang="ja-JP" sz="3600" b="1" dirty="0"/>
          </a:p>
          <a:p>
            <a:pPr marL="0" lvl="1" indent="0" algn="ctr">
              <a:buNone/>
            </a:pPr>
            <a:r>
              <a:rPr lang="en-GB" altLang="ja-JP" sz="3600" b="1" dirty="0"/>
              <a:t>"Type ACTIVE</a:t>
            </a:r>
            <a:r>
              <a:rPr lang="ja-JP" altLang="en-US" sz="3600" dirty="0"/>
              <a:t> </a:t>
            </a:r>
            <a:r>
              <a:rPr lang="en-GB" altLang="ja-JP" sz="3600" dirty="0"/>
              <a:t>and</a:t>
            </a:r>
            <a:r>
              <a:rPr lang="ja-JP" altLang="en-US" sz="3600" dirty="0"/>
              <a:t> </a:t>
            </a:r>
            <a:r>
              <a:rPr lang="en-GB" altLang="ja-JP" sz="3600" b="1" dirty="0"/>
              <a:t>Type PASSIVE</a:t>
            </a:r>
            <a:r>
              <a:rPr lang="ja-JP" altLang="en-US" sz="3600" dirty="0"/>
              <a:t> </a:t>
            </a:r>
            <a:r>
              <a:rPr lang="en-GB" altLang="ja-JP" sz="3600" dirty="0"/>
              <a:t>are NOT</a:t>
            </a:r>
            <a:r>
              <a:rPr lang="ja-JP" altLang="en-US" sz="3600" dirty="0"/>
              <a:t> </a:t>
            </a:r>
            <a:r>
              <a:rPr lang="en-GB" altLang="ja-JP" sz="3600" dirty="0"/>
              <a:t>the</a:t>
            </a:r>
            <a:r>
              <a:rPr lang="ja-JP" altLang="en-US" sz="3600" dirty="0"/>
              <a:t> </a:t>
            </a:r>
            <a:r>
              <a:rPr lang="en-GB" altLang="ja-JP" sz="3600" dirty="0"/>
              <a:t>structure</a:t>
            </a:r>
            <a:r>
              <a:rPr lang="ja-JP" altLang="en-US" sz="3600" dirty="0"/>
              <a:t> </a:t>
            </a:r>
            <a:r>
              <a:rPr lang="en-GB" altLang="ja-JP" sz="3600" dirty="0"/>
              <a:t>of comparison BUT there exist gradation between them, </a:t>
            </a:r>
          </a:p>
          <a:p>
            <a:pPr marL="0" lvl="1" indent="0" algn="ctr">
              <a:buNone/>
            </a:pPr>
            <a:r>
              <a:rPr lang="en-GB" altLang="ja-JP" sz="3600" dirty="0"/>
              <a:t>does't it?"</a:t>
            </a:r>
          </a:p>
        </p:txBody>
      </p:sp>
    </p:spTree>
    <p:extLst>
      <p:ext uri="{BB962C8B-B14F-4D97-AF65-F5344CB8AC3E}">
        <p14:creationId xmlns:p14="http://schemas.microsoft.com/office/powerpoint/2010/main" val="33483448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fr-FR" altLang="ja-JP" b="1" dirty="0">
                <a:latin typeface="Calibri (Headings)"/>
                <a:sym typeface="Arial"/>
              </a:rPr>
              <a:t>Type ACTIVE vs. Type PASSIVE</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a:ln>
            <a:noFill/>
          </a:ln>
        </p:spPr>
        <p:txBody>
          <a:bodyPr>
            <a:normAutofit/>
          </a:bodyPr>
          <a:lstStyle/>
          <a:p>
            <a:pPr marL="0" lvl="1" indent="0">
              <a:buNone/>
            </a:pPr>
            <a:r>
              <a:rPr lang="en-GB" altLang="ja-JP" dirty="0"/>
              <a:t>That is to say…</a:t>
            </a:r>
          </a:p>
          <a:p>
            <a:pPr marL="0" lvl="1" indent="0">
              <a:buNone/>
            </a:pPr>
            <a:endParaRPr lang="en-GB" altLang="ja-JP" dirty="0"/>
          </a:p>
          <a:p>
            <a:pPr marL="0" lvl="1" indent="0">
              <a:buNone/>
            </a:pPr>
            <a:endParaRPr lang="en-GB" altLang="ja-JP" dirty="0"/>
          </a:p>
          <a:p>
            <a:pPr marL="0" lvl="1" indent="0">
              <a:buNone/>
            </a:pPr>
            <a:endParaRPr lang="en-GB" altLang="ja-JP" dirty="0"/>
          </a:p>
          <a:p>
            <a:pPr marL="0" lvl="1" indent="0">
              <a:buNone/>
            </a:pPr>
            <a:endParaRPr lang="en-GB" altLang="ja-JP" dirty="0"/>
          </a:p>
          <a:p>
            <a:pPr marL="0" lvl="1" indent="0">
              <a:buNone/>
            </a:pPr>
            <a:r>
              <a:rPr lang="en-GB" altLang="ja-JP" b="1" dirty="0"/>
              <a:t>NOT</a:t>
            </a:r>
            <a:r>
              <a:rPr lang="en-GB" altLang="ja-JP" dirty="0"/>
              <a:t>  </a:t>
            </a:r>
            <a:r>
              <a:rPr lang="ja-JP" altLang="en-US" dirty="0"/>
              <a:t>　　　　　　　　　　　　　　         </a:t>
            </a:r>
            <a:r>
              <a:rPr lang="en-GB" altLang="ja-JP" b="1" dirty="0"/>
              <a:t>BUT</a:t>
            </a:r>
          </a:p>
        </p:txBody>
      </p:sp>
      <p:graphicFrame>
        <p:nvGraphicFramePr>
          <p:cNvPr id="5" name="Diagram 4">
            <a:extLst>
              <a:ext uri="{FF2B5EF4-FFF2-40B4-BE49-F238E27FC236}">
                <a16:creationId xmlns:a16="http://schemas.microsoft.com/office/drawing/2014/main" id="{583E0FC4-0275-A385-1247-4F66B0DF764D}"/>
              </a:ext>
            </a:extLst>
          </p:cNvPr>
          <p:cNvGraphicFramePr/>
          <p:nvPr>
            <p:extLst>
              <p:ext uri="{D42A27DB-BD31-4B8C-83A1-F6EECF244321}">
                <p14:modId xmlns:p14="http://schemas.microsoft.com/office/powerpoint/2010/main" val="4115682094"/>
              </p:ext>
            </p:extLst>
          </p:nvPr>
        </p:nvGraphicFramePr>
        <p:xfrm>
          <a:off x="7147420" y="2705450"/>
          <a:ext cx="4206380" cy="24555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Rectangle 10">
            <a:extLst>
              <a:ext uri="{FF2B5EF4-FFF2-40B4-BE49-F238E27FC236}">
                <a16:creationId xmlns:a16="http://schemas.microsoft.com/office/drawing/2014/main" id="{04AC336B-84F0-F937-7F7B-C4629C52BE32}"/>
              </a:ext>
            </a:extLst>
          </p:cNvPr>
          <p:cNvSpPr/>
          <p:nvPr/>
        </p:nvSpPr>
        <p:spPr>
          <a:xfrm>
            <a:off x="1591808" y="2902592"/>
            <a:ext cx="2058798" cy="2013357"/>
          </a:xfrm>
          <a:prstGeom prst="rect">
            <a:avLst/>
          </a:prstGeom>
          <a:solidFill>
            <a:schemeClr val="accent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Type ACTIVE</a:t>
            </a: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660855CD-9005-7A51-ABCC-AC28D2371033}"/>
              </a:ext>
            </a:extLst>
          </p:cNvPr>
          <p:cNvSpPr/>
          <p:nvPr/>
        </p:nvSpPr>
        <p:spPr>
          <a:xfrm>
            <a:off x="4252516" y="2902592"/>
            <a:ext cx="2058798" cy="2013357"/>
          </a:xfrm>
          <a:prstGeom prst="rect">
            <a:avLst/>
          </a:prstGeom>
          <a:solidFill>
            <a:schemeClr val="accent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Type ACTIVE</a:t>
            </a: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5" name="Straight Arrow Connector 14">
            <a:extLst>
              <a:ext uri="{FF2B5EF4-FFF2-40B4-BE49-F238E27FC236}">
                <a16:creationId xmlns:a16="http://schemas.microsoft.com/office/drawing/2014/main" id="{F3A4BCEA-326B-AA8D-6DDD-5CBCE4470B96}"/>
              </a:ext>
            </a:extLst>
          </p:cNvPr>
          <p:cNvCxnSpPr>
            <a:stCxn id="11" idx="3"/>
            <a:endCxn id="13" idx="1"/>
          </p:cNvCxnSpPr>
          <p:nvPr/>
        </p:nvCxnSpPr>
        <p:spPr>
          <a:xfrm>
            <a:off x="3650606" y="3909271"/>
            <a:ext cx="601910" cy="0"/>
          </a:xfrm>
          <a:prstGeom prst="straightConnector1">
            <a:avLst/>
          </a:prstGeom>
          <a:ln w="762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6798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fr-FR" altLang="ja-JP" b="1" dirty="0">
                <a:latin typeface="Calibri (Headings)"/>
                <a:sym typeface="Arial"/>
              </a:rPr>
              <a:t>Type ACTIVE vs. Type PASSIVE</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a:ln>
            <a:noFill/>
          </a:ln>
        </p:spPr>
        <p:txBody>
          <a:bodyPr>
            <a:normAutofit/>
          </a:bodyPr>
          <a:lstStyle/>
          <a:p>
            <a:pPr marL="0" lvl="1" indent="0">
              <a:buNone/>
            </a:pPr>
            <a:r>
              <a:rPr lang="en-GB" altLang="ja-JP" dirty="0"/>
              <a:t>In other words, </a:t>
            </a:r>
            <a:r>
              <a:rPr lang="en-GB" altLang="ja-JP" b="1" dirty="0"/>
              <a:t>Type ACTIVE</a:t>
            </a:r>
            <a:r>
              <a:rPr lang="en-GB" altLang="ja-JP" dirty="0"/>
              <a:t> contains some factors of </a:t>
            </a:r>
            <a:r>
              <a:rPr lang="en-GB" altLang="ja-JP" b="1" dirty="0"/>
              <a:t>Type PASSIVE</a:t>
            </a:r>
            <a:r>
              <a:rPr lang="en-GB" altLang="ja-JP" dirty="0"/>
              <a:t> and vice-versa.</a:t>
            </a:r>
          </a:p>
          <a:p>
            <a:pPr marL="0" lvl="1" indent="0">
              <a:buNone/>
            </a:pPr>
            <a:endParaRPr lang="en-GB" altLang="ja-JP" dirty="0"/>
          </a:p>
          <a:p>
            <a:pPr marL="0" lvl="1" indent="0">
              <a:buNone/>
            </a:pPr>
            <a:r>
              <a:rPr lang="en-GB" altLang="ja-JP" dirty="0"/>
              <a:t>To refine this hypothesis, I had a small talk with a member from the same team to ask his career plan.</a:t>
            </a:r>
          </a:p>
          <a:p>
            <a:pPr marL="0" lvl="1" indent="0">
              <a:buNone/>
            </a:pPr>
            <a:r>
              <a:rPr lang="en-GB" altLang="ja-JP" dirty="0"/>
              <a:t>He described himself as </a:t>
            </a:r>
            <a:r>
              <a:rPr lang="en-GB" altLang="ja-JP" b="1" dirty="0"/>
              <a:t>Type PASSIVE</a:t>
            </a:r>
            <a:r>
              <a:rPr lang="en-GB" altLang="ja-JP" dirty="0"/>
              <a:t> who </a:t>
            </a:r>
            <a:r>
              <a:rPr lang="en-GB" altLang="ja-JP" u="sng" dirty="0"/>
              <a:t>proactively choose</a:t>
            </a:r>
            <a:r>
              <a:rPr lang="en-GB" altLang="ja-JP" dirty="0"/>
              <a:t> which way to proceed.</a:t>
            </a:r>
          </a:p>
          <a:p>
            <a:pPr marL="0" lvl="1" indent="0">
              <a:buNone/>
            </a:pPr>
            <a:endParaRPr lang="en-GB" altLang="ja-JP" dirty="0"/>
          </a:p>
          <a:p>
            <a:pPr marL="0" lvl="1" indent="0">
              <a:buNone/>
            </a:pPr>
            <a:r>
              <a:rPr lang="en-GB" altLang="ja-JP" dirty="0"/>
              <a:t>His feedback helped me to arrive at the conclusion that </a:t>
            </a:r>
            <a:r>
              <a:rPr lang="fr-FR" altLang="ja-JP" b="1" dirty="0"/>
              <a:t>Type ACTIVE vs. Type PASSIVE</a:t>
            </a:r>
            <a:r>
              <a:rPr lang="fr-FR" altLang="ja-JP" dirty="0"/>
              <a:t> are as</a:t>
            </a:r>
            <a:r>
              <a:rPr lang="en-GB" altLang="ja-JP" dirty="0"/>
              <a:t> shown on the next page.</a:t>
            </a:r>
          </a:p>
        </p:txBody>
      </p:sp>
    </p:spTree>
    <p:extLst>
      <p:ext uri="{BB962C8B-B14F-4D97-AF65-F5344CB8AC3E}">
        <p14:creationId xmlns:p14="http://schemas.microsoft.com/office/powerpoint/2010/main" val="16832292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a:ln>
            <a:noFill/>
          </a:ln>
        </p:spPr>
        <p:txBody>
          <a:bodyPr>
            <a:normAutofit/>
          </a:bodyPr>
          <a:lstStyle/>
          <a:p>
            <a:pPr marL="268288" lvl="1" indent="-268288"/>
            <a:r>
              <a:rPr lang="en-GB" altLang="ja-JP" b="1" dirty="0"/>
              <a:t>Type ACTIVE</a:t>
            </a:r>
            <a:r>
              <a:rPr lang="en-GB" altLang="ja-JP" dirty="0"/>
              <a:t>: Those who have a definite goal and </a:t>
            </a:r>
            <a:r>
              <a:rPr lang="en-GB" altLang="ja-JP" u="sng" dirty="0"/>
              <a:t>reach for</a:t>
            </a:r>
            <a:r>
              <a:rPr lang="en-GB" altLang="ja-JP" dirty="0"/>
              <a:t> their ideals with loads of efforts</a:t>
            </a:r>
          </a:p>
          <a:p>
            <a:pPr marL="268288" lvl="1" indent="-268288"/>
            <a:r>
              <a:rPr lang="en-GB" altLang="ja-JP" b="1" dirty="0"/>
              <a:t>Type PASSIVE</a:t>
            </a:r>
            <a:r>
              <a:rPr lang="en-GB" altLang="ja-JP" dirty="0"/>
              <a:t>: Those who focus on work under their noses, deliver the outcomes and their ideals </a:t>
            </a:r>
            <a:r>
              <a:rPr lang="en-GB" altLang="ja-JP" u="sng" dirty="0"/>
              <a:t>comes close to them</a:t>
            </a:r>
          </a:p>
          <a:p>
            <a:pPr marL="725488" lvl="2" indent="-268288"/>
            <a:r>
              <a:rPr lang="en-GB" altLang="ja-JP" b="1" dirty="0"/>
              <a:t>Type SELECTIVE-PASSIVE</a:t>
            </a:r>
            <a:r>
              <a:rPr lang="en-GB" altLang="ja-JP" dirty="0"/>
              <a:t>: Those who repeat feedback cycle between their ideals and the  processes of their growths</a:t>
            </a:r>
          </a:p>
          <a:p>
            <a:pPr marL="725488" lvl="2" indent="-268288"/>
            <a:r>
              <a:rPr lang="en-GB" altLang="ja-JP" b="1" dirty="0"/>
              <a:t>Type OPEN-PASSIVE</a:t>
            </a:r>
            <a:r>
              <a:rPr lang="en-GB" altLang="ja-JP" dirty="0"/>
              <a:t>: Those who focus only on work under their noses without having their ideals</a:t>
            </a:r>
          </a:p>
        </p:txBody>
      </p:sp>
      <p:sp>
        <p:nvSpPr>
          <p:cNvPr id="12" name="Rectangle 11">
            <a:extLst>
              <a:ext uri="{FF2B5EF4-FFF2-40B4-BE49-F238E27FC236}">
                <a16:creationId xmlns:a16="http://schemas.microsoft.com/office/drawing/2014/main" id="{DEC7FA57-8A0D-DA01-7FA4-3BF3E314DA04}"/>
              </a:ext>
            </a:extLst>
          </p:cNvPr>
          <p:cNvSpPr/>
          <p:nvPr/>
        </p:nvSpPr>
        <p:spPr>
          <a:xfrm>
            <a:off x="5150141" y="4260421"/>
            <a:ext cx="1891718" cy="349023"/>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fr-FR" altLang="ja-JP" b="1" dirty="0">
                <a:latin typeface="Calibri (Headings)"/>
                <a:sym typeface="Arial"/>
              </a:rPr>
              <a:t>Type ACTIVE vs. Type PASSIVE</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aphicFrame>
        <p:nvGraphicFramePr>
          <p:cNvPr id="3" name="Diagram 2">
            <a:extLst>
              <a:ext uri="{FF2B5EF4-FFF2-40B4-BE49-F238E27FC236}">
                <a16:creationId xmlns:a16="http://schemas.microsoft.com/office/drawing/2014/main" id="{2AFF33C3-DAD7-0EF1-5B9E-2E896826D9D0}"/>
              </a:ext>
            </a:extLst>
          </p:cNvPr>
          <p:cNvGraphicFramePr/>
          <p:nvPr>
            <p:extLst>
              <p:ext uri="{D42A27DB-BD31-4B8C-83A1-F6EECF244321}">
                <p14:modId xmlns:p14="http://schemas.microsoft.com/office/powerpoint/2010/main" val="1260690553"/>
              </p:ext>
            </p:extLst>
          </p:nvPr>
        </p:nvGraphicFramePr>
        <p:xfrm>
          <a:off x="3992810" y="4609444"/>
          <a:ext cx="4206380" cy="15675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4">
            <a:extLst>
              <a:ext uri="{FF2B5EF4-FFF2-40B4-BE49-F238E27FC236}">
                <a16:creationId xmlns:a16="http://schemas.microsoft.com/office/drawing/2014/main" id="{663E9D7F-E0FF-5514-71DF-477A24AEF788}"/>
              </a:ext>
            </a:extLst>
          </p:cNvPr>
          <p:cNvSpPr/>
          <p:nvPr/>
        </p:nvSpPr>
        <p:spPr>
          <a:xfrm>
            <a:off x="5150141" y="4261319"/>
            <a:ext cx="1891718" cy="349023"/>
          </a:xfrm>
          <a:prstGeom prst="rect">
            <a:avLst/>
          </a:prstGeom>
          <a:solidFill>
            <a:schemeClr val="accent2">
              <a:lumMod val="40000"/>
              <a:lumOff val="6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altLang="ja-JP" sz="1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Type SELECTIVE-PASSIVE</a:t>
            </a: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7" name="Straight Arrow Connector 6">
            <a:extLst>
              <a:ext uri="{FF2B5EF4-FFF2-40B4-BE49-F238E27FC236}">
                <a16:creationId xmlns:a16="http://schemas.microsoft.com/office/drawing/2014/main" id="{C55E5BC8-6157-98F1-BAE7-382847A69FC9}"/>
              </a:ext>
            </a:extLst>
          </p:cNvPr>
          <p:cNvCxnSpPr>
            <a:cxnSpLocks/>
          </p:cNvCxnSpPr>
          <p:nvPr/>
        </p:nvCxnSpPr>
        <p:spPr>
          <a:xfrm>
            <a:off x="6101593" y="4492897"/>
            <a:ext cx="0" cy="950628"/>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6414520D-1DE1-83DD-6E72-30E1EE88951A}"/>
              </a:ext>
            </a:extLst>
          </p:cNvPr>
          <p:cNvSpPr/>
          <p:nvPr/>
        </p:nvSpPr>
        <p:spPr>
          <a:xfrm>
            <a:off x="7219775" y="4260421"/>
            <a:ext cx="1891718" cy="349023"/>
          </a:xfrm>
          <a:prstGeom prst="rect">
            <a:avLst/>
          </a:prstGeom>
          <a:solidFill>
            <a:schemeClr val="accent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altLang="ja-JP" sz="1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Type OPEN-PASSIVE</a:t>
            </a: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 name="Straight Arrow Connector 9">
            <a:extLst>
              <a:ext uri="{FF2B5EF4-FFF2-40B4-BE49-F238E27FC236}">
                <a16:creationId xmlns:a16="http://schemas.microsoft.com/office/drawing/2014/main" id="{4F72480A-35E2-01B9-DB09-A3B9A80BB705}"/>
              </a:ext>
            </a:extLst>
          </p:cNvPr>
          <p:cNvCxnSpPr>
            <a:cxnSpLocks/>
          </p:cNvCxnSpPr>
          <p:nvPr/>
        </p:nvCxnSpPr>
        <p:spPr>
          <a:xfrm flipH="1">
            <a:off x="6778305" y="4609444"/>
            <a:ext cx="1369851" cy="663037"/>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33520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US" altLang="ja-JP" b="1" dirty="0">
                <a:latin typeface="Calibri (Headings)"/>
              </a:rPr>
              <a:t>3.</a:t>
            </a:r>
            <a:r>
              <a:rPr lang="en-GB" altLang="ja-JP" b="1" dirty="0">
                <a:latin typeface="Calibri (Headings)"/>
              </a:rPr>
              <a:t> </a:t>
            </a:r>
            <a:r>
              <a:rPr lang="en-GB" altLang="ja-JP" b="1" dirty="0">
                <a:latin typeface="Calibri (Headings)"/>
                <a:sym typeface="Arial"/>
              </a:rPr>
              <a:t>Career Planning of Type OPEN-PASSIVE</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19341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latin typeface="Calibri (Headings)"/>
              </a:rPr>
              <a:t>3.</a:t>
            </a:r>
            <a:r>
              <a:rPr lang="en-GB" altLang="ja-JP" b="1" dirty="0">
                <a:latin typeface="Calibri (Headings)"/>
              </a:rPr>
              <a:t> </a:t>
            </a:r>
            <a:r>
              <a:rPr lang="en-GB" altLang="ja-JP" b="1" dirty="0">
                <a:latin typeface="Calibri (Headings)"/>
                <a:sym typeface="Arial"/>
              </a:rPr>
              <a:t>Career Planning of Type OPEN-PASSIVE</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0" lvl="1" indent="0">
              <a:buNone/>
            </a:pPr>
            <a:r>
              <a:rPr lang="en-GB" altLang="ja-JP" dirty="0"/>
              <a:t>In this chapter, I dive deeper into </a:t>
            </a:r>
            <a:r>
              <a:rPr lang="en-GB" altLang="ja-JP" b="1" dirty="0"/>
              <a:t>Type SELECTIVE-PASSIVE</a:t>
            </a:r>
            <a:r>
              <a:rPr lang="ja-JP" altLang="en-US" dirty="0"/>
              <a:t> </a:t>
            </a:r>
            <a:r>
              <a:rPr lang="en-GB" altLang="ja-JP" dirty="0"/>
              <a:t>of</a:t>
            </a:r>
            <a:r>
              <a:rPr lang="ja-JP" altLang="en-US" dirty="0"/>
              <a:t> </a:t>
            </a:r>
            <a:r>
              <a:rPr lang="en-GB" altLang="ja-JP" b="1" dirty="0"/>
              <a:t>Type</a:t>
            </a:r>
            <a:r>
              <a:rPr lang="ja-JP" altLang="en-US" b="1" dirty="0"/>
              <a:t> </a:t>
            </a:r>
            <a:r>
              <a:rPr lang="en-GB" altLang="ja-JP" b="1" dirty="0"/>
              <a:t>PASSIVE</a:t>
            </a:r>
            <a:r>
              <a:rPr lang="en-GB" altLang="ja-JP" dirty="0"/>
              <a:t>.</a:t>
            </a:r>
          </a:p>
          <a:p>
            <a:pPr marL="0" lvl="1" indent="0">
              <a:buNone/>
            </a:pPr>
            <a:r>
              <a:rPr lang="en-GB" altLang="ja-JP" dirty="0"/>
              <a:t>The reasons I focus on neither </a:t>
            </a:r>
            <a:r>
              <a:rPr lang="en-GB" altLang="ja-JP" b="1" dirty="0"/>
              <a:t>Type ACTIVE</a:t>
            </a:r>
            <a:r>
              <a:rPr lang="ja-JP" altLang="en-US" dirty="0"/>
              <a:t> </a:t>
            </a:r>
            <a:r>
              <a:rPr lang="en-GB" altLang="ja-JP" dirty="0"/>
              <a:t>nor</a:t>
            </a:r>
            <a:r>
              <a:rPr lang="ja-JP" altLang="en-US" dirty="0"/>
              <a:t> </a:t>
            </a:r>
            <a:r>
              <a:rPr lang="en-GB" altLang="ja-JP" b="1" dirty="0"/>
              <a:t>Type OPEN-PASSIVE</a:t>
            </a:r>
            <a:r>
              <a:rPr lang="en-GB" altLang="ja-JP" dirty="0"/>
              <a:t> are as follows.</a:t>
            </a:r>
          </a:p>
          <a:p>
            <a:pPr marL="0" lvl="1" indent="0">
              <a:buNone/>
            </a:pPr>
            <a:endParaRPr lang="en-GB" altLang="ja-JP" dirty="0"/>
          </a:p>
          <a:p>
            <a:pPr marL="360363" lvl="1" indent="-360363">
              <a:buFont typeface="+mj-lt"/>
              <a:buAutoNum type="arabicPeriod"/>
            </a:pPr>
            <a:r>
              <a:rPr lang="en-GB" altLang="ja-JP" dirty="0"/>
              <a:t>There already are a lot of role models of both types and you can imagine what they are, so I do not have to bother to explain it in details.</a:t>
            </a:r>
          </a:p>
          <a:p>
            <a:pPr marL="360363" lvl="1" indent="-360363">
              <a:buFont typeface="+mj-lt"/>
              <a:buAutoNum type="arabicPeriod"/>
            </a:pPr>
            <a:r>
              <a:rPr lang="en-GB" altLang="ja-JP" dirty="0"/>
              <a:t>Since I, the new graduate and the member from the same team all are</a:t>
            </a:r>
            <a:r>
              <a:rPr lang="ja-JP" altLang="en-US" dirty="0"/>
              <a:t> </a:t>
            </a:r>
            <a:r>
              <a:rPr lang="en-GB" altLang="ja-JP" b="1" dirty="0"/>
              <a:t>Type SELECTIVE-PASSIVE</a:t>
            </a:r>
            <a:r>
              <a:rPr lang="en-GB" altLang="ja-JP" dirty="0"/>
              <a:t>, I am extremely interested in it as the composer.</a:t>
            </a:r>
          </a:p>
          <a:p>
            <a:pPr marL="360363" lvl="1" indent="-360363">
              <a:buFont typeface="+mj-lt"/>
              <a:buAutoNum type="arabicPeriod"/>
            </a:pPr>
            <a:r>
              <a:rPr lang="en-GB" altLang="ja-JP" b="1" dirty="0"/>
              <a:t>Type SELECTIVE-PASSIVE</a:t>
            </a:r>
            <a:r>
              <a:rPr lang="en-GB" altLang="ja-JP" dirty="0"/>
              <a:t> is majority as far as I recognise, but it is highly likely that few of us know about what the type is.</a:t>
            </a:r>
            <a:endParaRPr lang="en-US" altLang="ja-JP" dirty="0"/>
          </a:p>
        </p:txBody>
      </p:sp>
    </p:spTree>
    <p:extLst>
      <p:ext uri="{BB962C8B-B14F-4D97-AF65-F5344CB8AC3E}">
        <p14:creationId xmlns:p14="http://schemas.microsoft.com/office/powerpoint/2010/main" val="23028702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latin typeface="Calibri (Headings)"/>
              </a:rPr>
              <a:t>3.</a:t>
            </a:r>
            <a:r>
              <a:rPr lang="en-GB" altLang="ja-JP" b="1" dirty="0">
                <a:latin typeface="Calibri (Headings)"/>
              </a:rPr>
              <a:t> </a:t>
            </a:r>
            <a:r>
              <a:rPr lang="en-GB" altLang="ja-JP" b="1" dirty="0">
                <a:latin typeface="Calibri (Headings)"/>
                <a:sym typeface="Arial"/>
              </a:rPr>
              <a:t>Career Planning of Type OPEN-PASSIVE</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0" lvl="1" indent="0">
              <a:buNone/>
            </a:pPr>
            <a:r>
              <a:rPr lang="en-GB" altLang="ja-JP" dirty="0"/>
              <a:t>That is why I would like to detail the following elements.</a:t>
            </a:r>
          </a:p>
          <a:p>
            <a:pPr marL="0" lvl="1" indent="0">
              <a:buNone/>
            </a:pPr>
            <a:endParaRPr lang="en-GB" altLang="ja-JP" dirty="0"/>
          </a:p>
          <a:p>
            <a:pPr marL="360363" lvl="1" indent="-360363">
              <a:buFont typeface="+mj-lt"/>
              <a:buAutoNum type="arabicPeriod"/>
            </a:pPr>
            <a:r>
              <a:rPr lang="en-GB" altLang="ja-JP" dirty="0">
                <a:hlinkClick r:id="rId3" action="ppaction://hlinksldjump"/>
              </a:rPr>
              <a:t>Is Type SELECTIVE-PASSIVE Career Planning good or bad?</a:t>
            </a:r>
            <a:endParaRPr lang="en-GB" altLang="ja-JP" dirty="0"/>
          </a:p>
          <a:p>
            <a:pPr marL="360363" lvl="1" indent="-360363">
              <a:buFont typeface="+mj-lt"/>
              <a:buAutoNum type="arabicPeriod"/>
            </a:pPr>
            <a:r>
              <a:rPr lang="en-GB" altLang="ja-JP" dirty="0">
                <a:hlinkClick r:id="rId4" action="ppaction://hlinksldjump"/>
              </a:rPr>
              <a:t>Working belief of Type SELECTIVE-PASSIVE</a:t>
            </a:r>
            <a:endParaRPr lang="en-GB" altLang="ja-JP" dirty="0"/>
          </a:p>
          <a:p>
            <a:pPr marL="360363" lvl="1" indent="-360363">
              <a:buFont typeface="+mj-lt"/>
              <a:buAutoNum type="arabicPeriod"/>
            </a:pPr>
            <a:r>
              <a:rPr lang="en-GB" altLang="ja-JP" dirty="0">
                <a:hlinkClick r:id="rId5" action="ppaction://hlinksldjump"/>
              </a:rPr>
              <a:t>Type SELECTIVE-PASSIVE and Strengths and Preferences Discovery</a:t>
            </a:r>
            <a:endParaRPr lang="en-GB" altLang="ja-JP" dirty="0"/>
          </a:p>
          <a:p>
            <a:pPr marL="360363" lvl="1" indent="-360363">
              <a:buFont typeface="+mj-lt"/>
              <a:buAutoNum type="arabicPeriod"/>
            </a:pPr>
            <a:r>
              <a:rPr lang="en-GB" altLang="ja-JP" dirty="0">
                <a:hlinkClick r:id="rId6" action="ppaction://hlinksldjump"/>
              </a:rPr>
              <a:t>Job Hunting for New Graduates and Type SELECTIVE-PASSIVE Career Planning</a:t>
            </a:r>
            <a:endParaRPr lang="en-US" altLang="ja-JP" dirty="0"/>
          </a:p>
        </p:txBody>
      </p:sp>
    </p:spTree>
    <p:extLst>
      <p:ext uri="{BB962C8B-B14F-4D97-AF65-F5344CB8AC3E}">
        <p14:creationId xmlns:p14="http://schemas.microsoft.com/office/powerpoint/2010/main" val="38658666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latin typeface="Calibri (Headings)"/>
              </a:rPr>
              <a:t>3.</a:t>
            </a:r>
            <a:r>
              <a:rPr lang="en-GB" altLang="ja-JP" b="1" dirty="0">
                <a:latin typeface="Calibri (Headings)"/>
              </a:rPr>
              <a:t> </a:t>
            </a:r>
            <a:r>
              <a:rPr lang="en-GB" altLang="ja-JP" b="1" dirty="0">
                <a:latin typeface="Calibri (Headings)"/>
                <a:sym typeface="Arial"/>
              </a:rPr>
              <a:t>Career Planning of Type OPEN-PASSIVE</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lnSpcReduction="10000"/>
          </a:bodyPr>
          <a:lstStyle/>
          <a:p>
            <a:pPr marL="0" lvl="1" indent="0">
              <a:buNone/>
            </a:pPr>
            <a:r>
              <a:rPr lang="en-GB" altLang="ja-JP" sz="2800" b="1" dirty="0"/>
              <a:t>1. Is Type SELECTIVE-PASSIVE Career Planning good or bad?</a:t>
            </a:r>
          </a:p>
          <a:p>
            <a:pPr marL="0" lvl="1" indent="0">
              <a:buNone/>
            </a:pPr>
            <a:r>
              <a:rPr lang="en-GB" altLang="ja-JP" dirty="0"/>
              <a:t>Personally, I am for this career planning style for the following reasons.</a:t>
            </a:r>
          </a:p>
          <a:p>
            <a:pPr marL="0" lvl="1" indent="0">
              <a:buNone/>
            </a:pPr>
            <a:endParaRPr lang="en-GB" altLang="ja-JP" dirty="0"/>
          </a:p>
          <a:p>
            <a:pPr marL="360363" lvl="1" indent="-360363">
              <a:buFont typeface="+mj-lt"/>
              <a:buAutoNum type="arabicPeriod"/>
            </a:pPr>
            <a:r>
              <a:rPr lang="en-GB" altLang="ja-JP" dirty="0"/>
              <a:t>First of all, it is important to win trusts and credits from those around us by focusing on constantly delivering as satisfactory outcomes as expected, which is quite realistic.</a:t>
            </a:r>
          </a:p>
          <a:p>
            <a:pPr marL="717550" lvl="2" indent="-260350"/>
            <a:r>
              <a:rPr lang="en-GB" altLang="ja-JP" dirty="0"/>
              <a:t>Just like weather forecast, the farther the future is, the less likely it is that things go as originally planned.</a:t>
            </a:r>
          </a:p>
          <a:p>
            <a:pPr marL="360363" lvl="1" indent="-360363">
              <a:buFont typeface="+mj-lt"/>
              <a:buAutoNum type="arabicPeriod"/>
            </a:pPr>
            <a:r>
              <a:rPr lang="en-GB" altLang="ja-JP" dirty="0"/>
              <a:t>This style helps us to avoid getting lost because we are required to design our career plans for the next 1, 3 and possibly 5 years.</a:t>
            </a:r>
          </a:p>
          <a:p>
            <a:pPr marL="717550" lvl="2" indent="-273050"/>
            <a:r>
              <a:rPr lang="en-GB" altLang="ja-JP" dirty="0"/>
              <a:t>It is necessary to constantly make sure what way we are going and fix the direction if the path begins to be different from what is originally planned, which means this style requires maintenance.</a:t>
            </a:r>
            <a:endParaRPr lang="en-US" altLang="ja-JP" dirty="0"/>
          </a:p>
        </p:txBody>
      </p:sp>
    </p:spTree>
    <p:extLst>
      <p:ext uri="{BB962C8B-B14F-4D97-AF65-F5344CB8AC3E}">
        <p14:creationId xmlns:p14="http://schemas.microsoft.com/office/powerpoint/2010/main" val="27072791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latin typeface="Calibri (Headings)"/>
              </a:rPr>
              <a:t>3.</a:t>
            </a:r>
            <a:r>
              <a:rPr lang="en-GB" altLang="ja-JP" b="1" dirty="0">
                <a:latin typeface="Calibri (Headings)"/>
              </a:rPr>
              <a:t> </a:t>
            </a:r>
            <a:r>
              <a:rPr lang="en-GB" altLang="ja-JP" b="1" dirty="0">
                <a:latin typeface="Calibri (Headings)"/>
                <a:sym typeface="Arial"/>
              </a:rPr>
              <a:t>Career Planning of Type OPEN-PASSIVE</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A1BACAA0-B3CB-BF26-9353-A33CBA6E036B}"/>
              </a:ext>
            </a:extLst>
          </p:cNvPr>
          <p:cNvSpPr txBox="1">
            <a:spLocks/>
          </p:cNvSpPr>
          <p:nvPr/>
        </p:nvSpPr>
        <p:spPr>
          <a:xfrm>
            <a:off x="831210" y="1894131"/>
            <a:ext cx="10515600"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lang="en-GB" altLang="ja-JP" sz="3000" b="1" dirty="0">
                <a:solidFill>
                  <a:prstClr val="black"/>
                </a:solidFill>
                <a:latin typeface="Calibri" panose="020F0502020204030204"/>
                <a:ea typeface="游ゴシック" panose="020B0400000000000000" pitchFamily="50" charset="-128"/>
              </a:rPr>
              <a:t>2.</a:t>
            </a:r>
            <a:r>
              <a:rPr lang="ja-JP" altLang="en-US" sz="3000" b="1" dirty="0">
                <a:solidFill>
                  <a:prstClr val="black"/>
                </a:solidFill>
                <a:latin typeface="Calibri" panose="020F0502020204030204"/>
                <a:ea typeface="游ゴシック" panose="020B0400000000000000" pitchFamily="50" charset="-128"/>
              </a:rPr>
              <a:t> </a:t>
            </a:r>
            <a:r>
              <a:rPr kumimoji="0" lang="en-GB" altLang="ja-JP" sz="3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Working belief of Type SELECTIVE-PASSIVE</a:t>
            </a:r>
            <a:endParaRPr kumimoji="0" lang="en-GB" altLang="ja-JP" sz="2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endParaRPr>
          </a:p>
          <a:p>
            <a:pPr marL="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GB" altLang="ja-JP" sz="2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As to delivery of expected outcomes, it can be detailed as the following 3 phases.</a:t>
            </a:r>
          </a:p>
          <a:p>
            <a:pPr marL="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en-GB" altLang="ja-JP" sz="2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endParaRPr>
          </a:p>
          <a:p>
            <a:pPr marL="268288" marR="0" lvl="1" indent="-268288"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GB" altLang="ja-JP" sz="2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Phase 1</a:t>
            </a:r>
            <a:r>
              <a:rPr kumimoji="0" lang="en-US" altLang="ja-JP" sz="2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 </a:t>
            </a:r>
            <a:r>
              <a:rPr kumimoji="0" lang="en-GB" altLang="ja-JP" sz="2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Know the expectation and deliver the outcome as expected.</a:t>
            </a:r>
            <a:endParaRPr kumimoji="0" lang="ja-JP" altLang="en-US" sz="2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endParaRPr>
          </a:p>
          <a:p>
            <a:pPr marL="725488" marR="0" lvl="2" indent="-268288"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GB"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This is the first hurdle to get over!</a:t>
            </a:r>
          </a:p>
          <a:p>
            <a:pPr marL="725488" marR="0" lvl="2" indent="-268288"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GB"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Experience as many expected deliveries as possible and find your own CANs at the same </a:t>
            </a:r>
            <a:r>
              <a:rPr lang="en-GB" altLang="ja-JP" sz="2200" dirty="0">
                <a:solidFill>
                  <a:prstClr val="black"/>
                </a:solidFill>
                <a:latin typeface="Calibri" panose="020F0502020204030204"/>
                <a:ea typeface="游ゴシック" panose="020B0400000000000000" pitchFamily="50" charset="-128"/>
              </a:rPr>
              <a:t>time</a:t>
            </a:r>
            <a:endParaRPr kumimoji="0" lang="ja-JP" altLang="en-US"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endParaRPr>
          </a:p>
          <a:p>
            <a:pPr marL="725488" marR="0" lvl="2" indent="-268288"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lang="en-GB" altLang="ja-JP" sz="2200" dirty="0">
                <a:solidFill>
                  <a:prstClr val="black"/>
                </a:solidFill>
                <a:latin typeface="Calibri" panose="020F0502020204030204"/>
                <a:ea typeface="游ゴシック" panose="020B0400000000000000" pitchFamily="50" charset="-128"/>
              </a:rPr>
              <a:t>Carefully agree with what is expected</a:t>
            </a:r>
            <a:endParaRPr kumimoji="0" lang="ja-JP" altLang="en-US"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endParaRPr>
          </a:p>
          <a:p>
            <a:pPr marL="725488" marR="0" lvl="2" indent="-268288"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GB"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At first, you cannot make sure how to do, so clear all questions by asking your coworkers</a:t>
            </a:r>
            <a:endParaRPr kumimoji="0" lang="ja-JP" altLang="en-US"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endParaRPr>
          </a:p>
          <a:p>
            <a:pPr marL="268288" lvl="1" indent="-268288"/>
            <a:r>
              <a:rPr kumimoji="0" lang="en-GB" altLang="ja-JP" sz="2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Phase</a:t>
            </a:r>
            <a:r>
              <a:rPr lang="ja-JP" altLang="en-US" sz="2600" b="1" dirty="0">
                <a:solidFill>
                  <a:prstClr val="black"/>
                </a:solidFill>
                <a:latin typeface="Calibri" panose="020F0502020204030204"/>
                <a:ea typeface="游ゴシック" panose="020B0400000000000000" pitchFamily="50" charset="-128"/>
              </a:rPr>
              <a:t> </a:t>
            </a:r>
            <a:r>
              <a:rPr lang="en-GB" altLang="ja-JP" sz="2600" b="1" dirty="0">
                <a:solidFill>
                  <a:prstClr val="black"/>
                </a:solidFill>
                <a:latin typeface="Calibri" panose="020F0502020204030204"/>
                <a:ea typeface="游ゴシック" panose="020B0400000000000000" pitchFamily="50" charset="-128"/>
              </a:rPr>
              <a:t>2</a:t>
            </a:r>
            <a:r>
              <a:rPr kumimoji="0" lang="en-US" altLang="ja-JP" sz="2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 </a:t>
            </a:r>
            <a:r>
              <a:rPr kumimoji="0" lang="en-GB" altLang="ja-JP" sz="2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Know the expectation and deliver the outcome more than expected.</a:t>
            </a:r>
            <a:endParaRPr kumimoji="0" lang="ja-JP" altLang="en-US" sz="2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endParaRPr>
          </a:p>
          <a:p>
            <a:pPr marL="725488" marR="0" lvl="2" indent="-268288"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GB"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Be aware that the + </a:t>
            </a:r>
            <a:r>
              <a:rPr kumimoji="0" lang="en-US"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α</a:t>
            </a:r>
            <a:r>
              <a:rPr kumimoji="0" lang="en-GB"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 would never be evaluated </a:t>
            </a:r>
            <a:r>
              <a:rPr lang="en-GB" altLang="ja-JP" sz="2200" dirty="0">
                <a:solidFill>
                  <a:prstClr val="black"/>
                </a:solidFill>
                <a:latin typeface="Calibri" panose="020F0502020204030204"/>
                <a:ea typeface="游ゴシック" panose="020B0400000000000000" pitchFamily="50" charset="-128"/>
              </a:rPr>
              <a:t>without</a:t>
            </a:r>
            <a:r>
              <a:rPr kumimoji="0" lang="en-GB"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 delivering the outcome as expected</a:t>
            </a:r>
            <a:endParaRPr kumimoji="0" lang="ja-JP" altLang="en-US"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endParaRPr>
          </a:p>
          <a:p>
            <a:pPr marL="268288" marR="0" lvl="1" indent="-268288"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GB" altLang="ja-JP" sz="2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Phase</a:t>
            </a:r>
            <a:r>
              <a:rPr lang="ja-JP" altLang="en-US" sz="2600" b="1" dirty="0">
                <a:solidFill>
                  <a:prstClr val="black"/>
                </a:solidFill>
                <a:latin typeface="Calibri" panose="020F0502020204030204"/>
                <a:ea typeface="游ゴシック" panose="020B0400000000000000" pitchFamily="50" charset="-128"/>
              </a:rPr>
              <a:t> </a:t>
            </a:r>
            <a:r>
              <a:rPr lang="en-GB" altLang="ja-JP" sz="2600" b="1" dirty="0">
                <a:solidFill>
                  <a:prstClr val="black"/>
                </a:solidFill>
                <a:latin typeface="Calibri" panose="020F0502020204030204"/>
                <a:ea typeface="游ゴシック" panose="020B0400000000000000" pitchFamily="50" charset="-128"/>
              </a:rPr>
              <a:t>3</a:t>
            </a:r>
            <a:r>
              <a:rPr kumimoji="0" lang="en-US" altLang="ja-JP" sz="2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 </a:t>
            </a:r>
            <a:r>
              <a:rPr kumimoji="0" lang="en-GB" altLang="ja-JP" sz="2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Know the expectation and deliver the outcome before expected.</a:t>
            </a:r>
            <a:endParaRPr kumimoji="0" lang="ja-JP" altLang="en-US" sz="2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endParaRPr>
          </a:p>
          <a:p>
            <a:pPr marL="725488" marR="0" lvl="2" indent="-268288"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GB"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Be aware that the pre-delivery never be evaluated </a:t>
            </a:r>
            <a:r>
              <a:rPr lang="en-GB" altLang="ja-JP" sz="2200" dirty="0">
                <a:solidFill>
                  <a:prstClr val="black"/>
                </a:solidFill>
                <a:latin typeface="Calibri" panose="020F0502020204030204"/>
                <a:ea typeface="游ゴシック" panose="020B0400000000000000" pitchFamily="50" charset="-128"/>
              </a:rPr>
              <a:t>without</a:t>
            </a:r>
            <a:r>
              <a:rPr kumimoji="0" lang="en-GB"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 delivering the outcome as expected and meeting the very demand</a:t>
            </a:r>
            <a:endParaRPr kumimoji="0" lang="ja-JP" altLang="en-US"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9592009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latin typeface="Calibri (Headings)"/>
              </a:rPr>
              <a:t>3.</a:t>
            </a:r>
            <a:r>
              <a:rPr lang="en-GB" altLang="ja-JP" b="1" dirty="0">
                <a:latin typeface="Calibri (Headings)"/>
              </a:rPr>
              <a:t> </a:t>
            </a:r>
            <a:r>
              <a:rPr lang="en-GB" altLang="ja-JP" b="1" dirty="0">
                <a:latin typeface="Calibri (Headings)"/>
                <a:sym typeface="Arial"/>
              </a:rPr>
              <a:t>Career Planning of Type OPEN-PASSIVE</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lnSpcReduction="10000"/>
          </a:bodyPr>
          <a:lstStyle/>
          <a:p>
            <a:pPr marL="0" lvl="1" indent="0">
              <a:buNone/>
            </a:pPr>
            <a:r>
              <a:rPr lang="en-GB" altLang="ja-JP" sz="2800" b="1" dirty="0"/>
              <a:t>2.</a:t>
            </a:r>
            <a:r>
              <a:rPr lang="ja-JP" altLang="en-US" sz="2800" b="1" dirty="0"/>
              <a:t> </a:t>
            </a:r>
            <a:r>
              <a:rPr lang="en-GB" altLang="ja-JP" sz="2800" b="1" dirty="0"/>
              <a:t>Working belief of Type SELECTIVE-PASSIVE</a:t>
            </a:r>
            <a:endParaRPr lang="en-GB" altLang="ja-JP" sz="2800" dirty="0"/>
          </a:p>
          <a:p>
            <a:pPr marL="0" lvl="1" indent="0">
              <a:buNone/>
            </a:pPr>
            <a:r>
              <a:rPr lang="en-GB" altLang="ja-JP" dirty="0"/>
              <a:t>Next, I would like to provide the detailed explanation about work under their noses regardless of the type.</a:t>
            </a:r>
          </a:p>
          <a:p>
            <a:pPr marL="0" lvl="1" indent="0">
              <a:buNone/>
            </a:pPr>
            <a:r>
              <a:rPr lang="en-GB" altLang="ja-JP" dirty="0"/>
              <a:t>Work can be break down to the following 2 categories.</a:t>
            </a:r>
          </a:p>
          <a:p>
            <a:pPr marL="0" lvl="1" indent="0">
              <a:buNone/>
            </a:pPr>
            <a:r>
              <a:rPr lang="en-GB" altLang="ja-JP" dirty="0"/>
              <a:t>We are required to actively work on any of them.</a:t>
            </a:r>
          </a:p>
          <a:p>
            <a:pPr marL="0" lvl="1" indent="0">
              <a:buNone/>
            </a:pPr>
            <a:endParaRPr lang="en-GB" altLang="ja-JP" dirty="0"/>
          </a:p>
          <a:p>
            <a:pPr marL="268288" lvl="1" indent="-268288"/>
            <a:r>
              <a:rPr lang="en-GB" altLang="ja-JP" b="1" dirty="0"/>
              <a:t>Given Tasks</a:t>
            </a:r>
            <a:r>
              <a:rPr lang="en-US" altLang="ja-JP" dirty="0"/>
              <a:t>:</a:t>
            </a:r>
            <a:r>
              <a:rPr lang="en-GB" altLang="ja-JP" dirty="0"/>
              <a:t> Meet the requirements, look for room to improve and share how with your team, department and division if you find any </a:t>
            </a:r>
            <a:r>
              <a:rPr lang="en-GB" altLang="ja-JP" b="1" dirty="0"/>
              <a:t>to meet someone's demand - Basic</a:t>
            </a:r>
            <a:endParaRPr lang="ja-JP" altLang="en-US" b="1" dirty="0"/>
          </a:p>
          <a:p>
            <a:pPr marL="268288" lvl="1" indent="-268288"/>
            <a:r>
              <a:rPr lang="en-GB" altLang="ja-JP" b="1" dirty="0"/>
              <a:t>Tasks you yield</a:t>
            </a:r>
            <a:r>
              <a:rPr lang="en-US" altLang="ja-JP" dirty="0"/>
              <a:t>: </a:t>
            </a:r>
            <a:r>
              <a:rPr lang="en-GB" altLang="ja-JP" dirty="0"/>
              <a:t>In my case, I am good at documentation while other engineers are not, so I delivered the outcome more than expected and share it worldwide by a blog article as a means by which anyone can reproduce it </a:t>
            </a:r>
            <a:r>
              <a:rPr lang="en-GB" altLang="ja-JP" b="1" dirty="0"/>
              <a:t>to deliver additional values - Advanced</a:t>
            </a:r>
          </a:p>
        </p:txBody>
      </p:sp>
    </p:spTree>
    <p:extLst>
      <p:ext uri="{BB962C8B-B14F-4D97-AF65-F5344CB8AC3E}">
        <p14:creationId xmlns:p14="http://schemas.microsoft.com/office/powerpoint/2010/main" val="18440701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latin typeface="Calibri (Headings)"/>
              </a:rPr>
              <a:t>3.</a:t>
            </a:r>
            <a:r>
              <a:rPr lang="en-GB" altLang="ja-JP" b="1" dirty="0">
                <a:latin typeface="Calibri (Headings)"/>
              </a:rPr>
              <a:t> </a:t>
            </a:r>
            <a:r>
              <a:rPr lang="en-GB" altLang="ja-JP" b="1" dirty="0">
                <a:latin typeface="Calibri (Headings)"/>
                <a:sym typeface="Arial"/>
              </a:rPr>
              <a:t>Career Planning of Type OPEN-PASSIVE</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0" lvl="1" indent="0">
              <a:buNone/>
            </a:pPr>
            <a:r>
              <a:rPr lang="en-GB" altLang="ja-JP" sz="2800" b="1" dirty="0"/>
              <a:t>3. Type SELECTIVE-PASSIVE and Strengths and Preferences Discovery</a:t>
            </a:r>
          </a:p>
          <a:p>
            <a:pPr marL="0" lvl="1" indent="0">
              <a:buNone/>
            </a:pPr>
            <a:r>
              <a:rPr lang="en-GB" altLang="ja-JP" sz="2400" b="1" dirty="0"/>
              <a:t>Type ACTIVE</a:t>
            </a:r>
            <a:r>
              <a:rPr lang="en-GB" altLang="ja-JP" sz="2400" dirty="0"/>
              <a:t> are understand what strengths and desires they have while </a:t>
            </a:r>
            <a:r>
              <a:rPr lang="en-GB" altLang="ja-JP" sz="2400" b="1" dirty="0"/>
              <a:t>Type SELECTIVE-PASSIVE</a:t>
            </a:r>
            <a:r>
              <a:rPr lang="ja-JP" altLang="en-US" b="1" dirty="0"/>
              <a:t> </a:t>
            </a:r>
            <a:r>
              <a:rPr lang="en-GB" altLang="ja-JP" dirty="0"/>
              <a:t> is a </a:t>
            </a:r>
            <a:r>
              <a:rPr lang="en-GB" altLang="ja-JP" sz="2400" b="1" dirty="0"/>
              <a:t>Type PASSIVE</a:t>
            </a:r>
            <a:r>
              <a:rPr lang="en-GB" altLang="ja-JP" sz="2400" dirty="0"/>
              <a:t>, which buries their initial ideals under the ground of memory by hectic working days.</a:t>
            </a:r>
          </a:p>
          <a:p>
            <a:pPr marL="0" lvl="1" indent="0">
              <a:buNone/>
            </a:pPr>
            <a:r>
              <a:rPr lang="en-GB" altLang="ja-JP" sz="2400" dirty="0"/>
              <a:t>That is why they should pay attention to what are their CANs and WILLs and take action to discover them.</a:t>
            </a:r>
          </a:p>
          <a:p>
            <a:pPr marL="0" lvl="1" indent="0">
              <a:buNone/>
            </a:pPr>
            <a:r>
              <a:rPr lang="en-GB" altLang="ja-JP" dirty="0"/>
              <a:t>The criteria of assignment of a task is either CANs which make a difference in deliverables or WILLs which are driving force for someone to contribute to it</a:t>
            </a:r>
            <a:r>
              <a:rPr lang="en-US" altLang="ja-JP" dirty="0"/>
              <a:t>(WILL can be more eloquent than CAN)</a:t>
            </a:r>
            <a:r>
              <a:rPr lang="en-GB" altLang="ja-JP" dirty="0"/>
              <a:t>.</a:t>
            </a:r>
          </a:p>
        </p:txBody>
      </p:sp>
    </p:spTree>
    <p:extLst>
      <p:ext uri="{BB962C8B-B14F-4D97-AF65-F5344CB8AC3E}">
        <p14:creationId xmlns:p14="http://schemas.microsoft.com/office/powerpoint/2010/main" val="7503458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latin typeface="Calibri (Headings)"/>
              </a:rPr>
              <a:t>3.</a:t>
            </a:r>
            <a:r>
              <a:rPr lang="en-GB" altLang="ja-JP" b="1" dirty="0">
                <a:latin typeface="Calibri (Headings)"/>
              </a:rPr>
              <a:t> </a:t>
            </a:r>
            <a:r>
              <a:rPr lang="en-GB" altLang="ja-JP" b="1" dirty="0">
                <a:latin typeface="Calibri (Headings)"/>
                <a:sym typeface="Arial"/>
              </a:rPr>
              <a:t>Career Planning of Type OPEN-PASSIVE</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0" lvl="1" indent="0">
              <a:buNone/>
            </a:pPr>
            <a:r>
              <a:rPr lang="en-GB" altLang="ja-JP" b="1" dirty="0"/>
              <a:t>4. Job Hunting for New Graduates and Type SELECTIVE-PASSIVE Career Planning</a:t>
            </a:r>
            <a:endParaRPr lang="en-GB" altLang="ja-JP" sz="2000" b="1" dirty="0"/>
          </a:p>
          <a:p>
            <a:pPr marL="0" lvl="1" indent="0">
              <a:buNone/>
            </a:pPr>
            <a:r>
              <a:rPr lang="en-GB" altLang="ja-JP" sz="2400" dirty="0"/>
              <a:t>As explained in </a:t>
            </a:r>
            <a:r>
              <a:rPr lang="en-US" altLang="ja-JP" sz="2400" dirty="0">
                <a:hlinkClick r:id="rId3" action="ppaction://hlinksldjump"/>
              </a:rPr>
              <a:t>1.</a:t>
            </a:r>
            <a:r>
              <a:rPr lang="en-GB" altLang="ja-JP" dirty="0">
                <a:hlinkClick r:id="rId3" action="ppaction://hlinksldjump"/>
              </a:rPr>
              <a:t> Prologue</a:t>
            </a:r>
            <a:r>
              <a:rPr lang="en-GB" altLang="ja-JP" sz="2400" dirty="0"/>
              <a:t>, the new graduate was </a:t>
            </a:r>
            <a:r>
              <a:rPr lang="en-GB" altLang="ja-JP" dirty="0"/>
              <a:t>uneasy about </a:t>
            </a:r>
            <a:r>
              <a:rPr lang="en-GB" altLang="ja-JP" sz="2400" b="1" dirty="0"/>
              <a:t>Type PASSIVE</a:t>
            </a:r>
            <a:r>
              <a:rPr lang="ja-JP" altLang="en-US" sz="2400" b="1" dirty="0"/>
              <a:t> </a:t>
            </a:r>
            <a:r>
              <a:rPr lang="en-GB" altLang="ja-JP" sz="2400" b="1" dirty="0"/>
              <a:t>Career Planning</a:t>
            </a:r>
            <a:r>
              <a:rPr lang="en-GB" altLang="ja-JP" sz="2400" dirty="0"/>
              <a:t>.</a:t>
            </a:r>
          </a:p>
          <a:p>
            <a:pPr marL="0" lvl="1" indent="0">
              <a:buNone/>
            </a:pPr>
            <a:r>
              <a:rPr lang="en-GB" altLang="ja-JP" dirty="0"/>
              <a:t>I ask her a simple question, "What brought you to </a:t>
            </a:r>
            <a:r>
              <a:rPr lang="en-GB" altLang="ja-JP" sz="2400" b="1" dirty="0"/>
              <a:t>Type PASSIVE</a:t>
            </a:r>
            <a:r>
              <a:rPr lang="ja-JP" altLang="en-US" sz="2400" b="1" dirty="0"/>
              <a:t> </a:t>
            </a:r>
            <a:r>
              <a:rPr lang="en-GB" altLang="ja-JP" sz="2400" b="1" dirty="0"/>
              <a:t>Career Planning</a:t>
            </a:r>
            <a:r>
              <a:rPr lang="en-GB" altLang="ja-JP" sz="2400" dirty="0"/>
              <a:t> which most of new graduates are likely to design their career plans as </a:t>
            </a:r>
            <a:r>
              <a:rPr lang="en-GB" altLang="ja-JP" sz="2400" b="1" dirty="0"/>
              <a:t>Type ACTIVE</a:t>
            </a:r>
            <a:r>
              <a:rPr lang="en-GB" altLang="ja-JP" sz="2400" dirty="0"/>
              <a:t>?</a:t>
            </a:r>
            <a:r>
              <a:rPr lang="en-GB" altLang="ja-JP" dirty="0"/>
              <a:t>"</a:t>
            </a:r>
            <a:endParaRPr lang="en-GB" altLang="ja-JP" sz="2400" dirty="0"/>
          </a:p>
          <a:p>
            <a:pPr marL="0" lvl="1" indent="0">
              <a:buNone/>
            </a:pPr>
            <a:r>
              <a:rPr lang="en-GB" altLang="ja-JP" sz="2400" dirty="0"/>
              <a:t>She provided the answer, "Without working experience, </a:t>
            </a:r>
            <a:r>
              <a:rPr lang="en-GB" altLang="ja-JP" dirty="0"/>
              <a:t>I have reached the limit in clearly visualising my career plan, so I hope to enhance the definition after I start working.</a:t>
            </a:r>
            <a:r>
              <a:rPr lang="en-GB" altLang="ja-JP" sz="2400" dirty="0"/>
              <a:t>"</a:t>
            </a:r>
          </a:p>
          <a:p>
            <a:pPr marL="0" lvl="1" indent="0">
              <a:buNone/>
            </a:pPr>
            <a:r>
              <a:rPr lang="en-GB" altLang="ja-JP" dirty="0"/>
              <a:t>The answer is very realistic, but the new graduate were badly worried about how her job hunting activity would be going.</a:t>
            </a:r>
            <a:endParaRPr lang="en-US" altLang="ja-JP" sz="2400" dirty="0"/>
          </a:p>
        </p:txBody>
      </p:sp>
    </p:spTree>
    <p:extLst>
      <p:ext uri="{BB962C8B-B14F-4D97-AF65-F5344CB8AC3E}">
        <p14:creationId xmlns:p14="http://schemas.microsoft.com/office/powerpoint/2010/main" val="34372766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latin typeface="Calibri (Headings)"/>
              </a:rPr>
              <a:t>3.</a:t>
            </a:r>
            <a:r>
              <a:rPr lang="en-GB" altLang="ja-JP" b="1" dirty="0">
                <a:latin typeface="Calibri (Headings)"/>
              </a:rPr>
              <a:t> </a:t>
            </a:r>
            <a:r>
              <a:rPr lang="en-GB" altLang="ja-JP" b="1" dirty="0">
                <a:latin typeface="Calibri (Headings)"/>
                <a:sym typeface="Arial"/>
              </a:rPr>
              <a:t>Career Planning of Type OPEN-PASSIVE</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0" lvl="1" indent="0">
              <a:buNone/>
            </a:pPr>
            <a:r>
              <a:rPr lang="en-GB" altLang="ja-JP" b="1" dirty="0"/>
              <a:t>4.</a:t>
            </a:r>
            <a:r>
              <a:rPr lang="ja-JP" altLang="en-US" b="1" dirty="0"/>
              <a:t> </a:t>
            </a:r>
            <a:r>
              <a:rPr lang="en-GB" altLang="ja-JP" b="1" dirty="0"/>
              <a:t>Job Hunting for New Graduates and Type SELECTIVE-PASSIVE Career Planning</a:t>
            </a:r>
            <a:endParaRPr lang="en-GB" altLang="ja-JP" sz="2000" b="1" dirty="0"/>
          </a:p>
          <a:p>
            <a:pPr marL="0" lvl="1" indent="0">
              <a:buNone/>
            </a:pPr>
            <a:r>
              <a:rPr lang="en-GB" altLang="ja-JP" sz="2400" dirty="0"/>
              <a:t>On one hand, the question provided by the interviewer tends to be CANs-based on the past working experiences and how the interviewee contribute to the organisation with their soft and hard skills in changing jobs.</a:t>
            </a:r>
          </a:p>
          <a:p>
            <a:pPr marL="0" lvl="1" indent="0">
              <a:buNone/>
            </a:pPr>
            <a:endParaRPr lang="en-GB" altLang="ja-JP" sz="2400" dirty="0"/>
          </a:p>
          <a:p>
            <a:pPr marL="0" lvl="1" indent="0">
              <a:buNone/>
            </a:pPr>
            <a:r>
              <a:rPr lang="en-GB" altLang="ja-JP" sz="2400" dirty="0"/>
              <a:t>The interviewee is allowed to build a story based on their actual working experiences, which is not so </a:t>
            </a:r>
            <a:r>
              <a:rPr lang="en-GB" altLang="ja-JP" dirty="0"/>
              <a:t>difficult for both </a:t>
            </a:r>
            <a:r>
              <a:rPr lang="en-GB" altLang="ja-JP" sz="2400" b="1" dirty="0"/>
              <a:t>Type ACTIVE</a:t>
            </a:r>
            <a:r>
              <a:rPr lang="en-GB" altLang="ja-JP" sz="2400" dirty="0"/>
              <a:t> and </a:t>
            </a:r>
            <a:r>
              <a:rPr lang="en-GB" altLang="ja-JP" sz="2400" b="1" dirty="0"/>
              <a:t>Type PASSIVE</a:t>
            </a:r>
            <a:r>
              <a:rPr lang="en-GB" altLang="ja-JP" sz="2400" dirty="0"/>
              <a:t>.</a:t>
            </a:r>
          </a:p>
          <a:p>
            <a:pPr marL="0" lvl="1" indent="0">
              <a:buNone/>
            </a:pPr>
            <a:endParaRPr lang="en-GB" altLang="ja-JP" dirty="0"/>
          </a:p>
          <a:p>
            <a:pPr marL="0" lvl="1" indent="0">
              <a:buNone/>
            </a:pPr>
            <a:r>
              <a:rPr lang="en-US" altLang="ja-JP" dirty="0"/>
              <a:t>※</a:t>
            </a:r>
            <a:r>
              <a:rPr lang="en-GB" altLang="ja-JP" dirty="0"/>
              <a:t> If no soft and hard skills are acquired via working experiences, the interviewee will is highly like to take a lot of pains in the job interview or the game will be over.</a:t>
            </a:r>
            <a:endParaRPr lang="en-GB" altLang="ja-JP" sz="2400" dirty="0"/>
          </a:p>
        </p:txBody>
      </p:sp>
    </p:spTree>
    <p:extLst>
      <p:ext uri="{BB962C8B-B14F-4D97-AF65-F5344CB8AC3E}">
        <p14:creationId xmlns:p14="http://schemas.microsoft.com/office/powerpoint/2010/main" val="10009413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latin typeface="Calibri (Headings)"/>
              </a:rPr>
              <a:t>3.</a:t>
            </a:r>
            <a:r>
              <a:rPr lang="en-GB" altLang="ja-JP" b="1" dirty="0">
                <a:latin typeface="Calibri (Headings)"/>
              </a:rPr>
              <a:t> </a:t>
            </a:r>
            <a:r>
              <a:rPr lang="en-GB" altLang="ja-JP" b="1" dirty="0">
                <a:latin typeface="Calibri (Headings)"/>
                <a:sym typeface="Arial"/>
              </a:rPr>
              <a:t>Career Planning of Type OPEN-PASSIVE</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0" lvl="1" indent="0">
              <a:buNone/>
            </a:pPr>
            <a:r>
              <a:rPr lang="en-GB" altLang="ja-JP" b="1" dirty="0"/>
              <a:t>4.</a:t>
            </a:r>
            <a:r>
              <a:rPr lang="ja-JP" altLang="en-US" b="1" dirty="0"/>
              <a:t> </a:t>
            </a:r>
            <a:r>
              <a:rPr lang="en-GB" altLang="ja-JP" b="1" dirty="0"/>
              <a:t>Job Hunting for New Graduates and Type SELECTIVE-PASSIVE Career Planning</a:t>
            </a:r>
            <a:endParaRPr lang="en-GB" altLang="ja-JP" sz="2000" b="1" dirty="0"/>
          </a:p>
          <a:p>
            <a:pPr marL="0" lvl="1" indent="0">
              <a:buNone/>
            </a:pPr>
            <a:r>
              <a:rPr lang="en-GB" altLang="ja-JP" sz="2400" dirty="0"/>
              <a:t>On the other hand, the question provided by the interviewer tends to be WILLs-based and what the interviewee would like to realise in the organisation in job hunting for new graduates.</a:t>
            </a:r>
          </a:p>
          <a:p>
            <a:pPr marL="0" lvl="1" indent="0">
              <a:buNone/>
            </a:pPr>
            <a:r>
              <a:rPr lang="en-GB" altLang="ja-JP" dirty="0"/>
              <a:t>The bother is the situation where CANs are often expected to provided as supportive ideas of WILLs.</a:t>
            </a:r>
            <a:endParaRPr lang="en-GB" altLang="ja-JP" sz="2400" dirty="0"/>
          </a:p>
          <a:p>
            <a:pPr marL="0" lvl="1" indent="0">
              <a:buNone/>
            </a:pPr>
            <a:endParaRPr lang="en-GB" altLang="ja-JP" sz="2400" dirty="0"/>
          </a:p>
          <a:p>
            <a:pPr marL="0" lvl="1" indent="0">
              <a:buNone/>
            </a:pPr>
            <a:r>
              <a:rPr lang="en-GB" altLang="ja-JP" sz="2400" dirty="0"/>
              <a:t>New graduates are highly like to wonder how they should answer the question about their CANs without highly technical expertise and skills acquired in a laboratory in university or by themselves, working experiences in university period or a long-term internship.</a:t>
            </a:r>
          </a:p>
        </p:txBody>
      </p:sp>
    </p:spTree>
    <p:extLst>
      <p:ext uri="{BB962C8B-B14F-4D97-AF65-F5344CB8AC3E}">
        <p14:creationId xmlns:p14="http://schemas.microsoft.com/office/powerpoint/2010/main" val="2350921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latin typeface="Calibri (Headings)"/>
              </a:rPr>
              <a:t>3.</a:t>
            </a:r>
            <a:r>
              <a:rPr lang="en-GB" altLang="ja-JP" b="1" dirty="0">
                <a:latin typeface="Calibri (Headings)"/>
              </a:rPr>
              <a:t> </a:t>
            </a:r>
            <a:r>
              <a:rPr lang="en-GB" altLang="ja-JP" b="1" dirty="0">
                <a:latin typeface="Calibri (Headings)"/>
                <a:sym typeface="Arial"/>
              </a:rPr>
              <a:t>Career Planning of Type OPEN-PASSIVE</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0" lvl="1" indent="0">
              <a:buNone/>
            </a:pPr>
            <a:r>
              <a:rPr lang="en-GB" altLang="ja-JP" b="1" dirty="0"/>
              <a:t>4. Job Hunting for New Graduates and Type SELECTIVE-PASSIVE Career Planning</a:t>
            </a:r>
            <a:endParaRPr lang="en-GB" altLang="ja-JP" sz="2000" b="1" dirty="0"/>
          </a:p>
          <a:p>
            <a:pPr marL="0" lvl="1" indent="0">
              <a:buNone/>
            </a:pPr>
            <a:r>
              <a:rPr lang="en-GB" altLang="ja-JP" sz="2400" b="1" dirty="0"/>
              <a:t>Type ACTIVE</a:t>
            </a:r>
            <a:r>
              <a:rPr lang="en-GB" altLang="ja-JP" sz="2400" dirty="0"/>
              <a:t> can provide their definite goals, WILLs and CANs which are supportive ideas of WILLs, which makes their assertions very convincing.</a:t>
            </a:r>
          </a:p>
          <a:p>
            <a:pPr marL="0" lvl="1" indent="0">
              <a:buNone/>
            </a:pPr>
            <a:endParaRPr lang="en-GB" altLang="ja-JP" dirty="0"/>
          </a:p>
          <a:p>
            <a:pPr marL="0" lvl="1" indent="0">
              <a:buNone/>
            </a:pPr>
            <a:r>
              <a:rPr lang="en-GB" altLang="ja-JP" sz="2400" dirty="0"/>
              <a:t>On th</a:t>
            </a:r>
            <a:r>
              <a:rPr lang="en-GB" altLang="ja-JP" dirty="0"/>
              <a:t>e contrary, </a:t>
            </a:r>
            <a:r>
              <a:rPr lang="en-GB" altLang="ja-JP" sz="2400" b="1" dirty="0"/>
              <a:t>Type PASSIVE</a:t>
            </a:r>
            <a:r>
              <a:rPr lang="en-GB" altLang="ja-JP" sz="2400" dirty="0"/>
              <a:t> cannot do the same as </a:t>
            </a:r>
            <a:r>
              <a:rPr lang="en-GB" altLang="ja-JP" sz="2400" b="1" dirty="0"/>
              <a:t>Type ACTIVE</a:t>
            </a:r>
            <a:r>
              <a:rPr lang="en-GB" altLang="ja-JP" sz="2400" dirty="0"/>
              <a:t> without working experiences which are essential for high definition of WILLs and CANs.</a:t>
            </a:r>
          </a:p>
          <a:p>
            <a:pPr marL="0" lvl="1" indent="0">
              <a:buNone/>
            </a:pPr>
            <a:endParaRPr lang="en-GB" altLang="ja-JP" dirty="0"/>
          </a:p>
          <a:p>
            <a:pPr marL="0" lvl="1" indent="0">
              <a:buNone/>
            </a:pPr>
            <a:r>
              <a:rPr lang="en-GB" altLang="ja-JP" dirty="0"/>
              <a:t>To cut a long story short, </a:t>
            </a:r>
            <a:r>
              <a:rPr lang="en-GB" altLang="ja-JP" b="1" dirty="0"/>
              <a:t>Type ACTIVE</a:t>
            </a:r>
            <a:r>
              <a:rPr lang="en-GB" altLang="ja-JP" dirty="0"/>
              <a:t> tend to take advantage over </a:t>
            </a:r>
            <a:r>
              <a:rPr lang="en-GB" altLang="ja-JP" b="1" dirty="0"/>
              <a:t>Type PASSIVE</a:t>
            </a:r>
            <a:r>
              <a:rPr lang="ja-JP" altLang="en-US" dirty="0"/>
              <a:t> </a:t>
            </a:r>
            <a:r>
              <a:rPr lang="en-GB" altLang="ja-JP" dirty="0"/>
              <a:t>in job hunting for new graduates.</a:t>
            </a:r>
            <a:endParaRPr lang="en-GB" altLang="ja-JP" sz="2400" dirty="0"/>
          </a:p>
        </p:txBody>
      </p:sp>
    </p:spTree>
    <p:extLst>
      <p:ext uri="{BB962C8B-B14F-4D97-AF65-F5344CB8AC3E}">
        <p14:creationId xmlns:p14="http://schemas.microsoft.com/office/powerpoint/2010/main" val="1636781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latin typeface="Calibri (Headings)"/>
              </a:rPr>
              <a:t>3.</a:t>
            </a:r>
            <a:r>
              <a:rPr lang="en-GB" altLang="ja-JP" b="1" dirty="0">
                <a:latin typeface="Calibri (Headings)"/>
              </a:rPr>
              <a:t> </a:t>
            </a:r>
            <a:r>
              <a:rPr lang="en-GB" altLang="ja-JP" b="1" dirty="0">
                <a:latin typeface="Calibri (Headings)"/>
                <a:sym typeface="Arial"/>
              </a:rPr>
              <a:t>Career Planning of Type OPEN-PASSIVE</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fontScale="77500" lnSpcReduction="20000"/>
          </a:bodyPr>
          <a:lstStyle/>
          <a:p>
            <a:pPr marL="0" lvl="1" indent="0">
              <a:buNone/>
            </a:pPr>
            <a:r>
              <a:rPr lang="en-GB" altLang="ja-JP" sz="2800" b="1" dirty="0"/>
              <a:t>4.</a:t>
            </a:r>
            <a:r>
              <a:rPr lang="ja-JP" altLang="en-US" sz="2800" b="1" dirty="0"/>
              <a:t> </a:t>
            </a:r>
            <a:r>
              <a:rPr lang="en-GB" altLang="ja-JP" sz="2800" b="1" dirty="0"/>
              <a:t>Job Hunting for New Graduates and Type SELECTIVE-PASSIVE Career Planning</a:t>
            </a:r>
            <a:endParaRPr lang="ja-JP" altLang="en-US" sz="2800" b="1" dirty="0"/>
          </a:p>
          <a:p>
            <a:pPr marL="0" lvl="1" indent="0">
              <a:buNone/>
            </a:pPr>
            <a:r>
              <a:rPr lang="en-GB" altLang="ja-JP" sz="2400" dirty="0"/>
              <a:t>Considering hardship explained till the last page, I took the following 4 steps to resolve bothers and uneasiness the new graduate had.</a:t>
            </a:r>
            <a:endParaRPr lang="en-GB" altLang="ja-JP" dirty="0"/>
          </a:p>
          <a:p>
            <a:pPr marL="0" lvl="1" indent="0">
              <a:buNone/>
            </a:pPr>
            <a:endParaRPr lang="en-GB" altLang="ja-JP" dirty="0"/>
          </a:p>
          <a:p>
            <a:pPr marL="360363" lvl="1" indent="-360363">
              <a:buFont typeface="+mj-lt"/>
              <a:buAutoNum type="arabicPeriod"/>
            </a:pPr>
            <a:r>
              <a:rPr lang="en-GB" altLang="ja-JP" dirty="0"/>
              <a:t>Resolution of uneasiness caused by vague blueprint of her career plan</a:t>
            </a:r>
          </a:p>
          <a:p>
            <a:pPr marL="625475" lvl="2" indent="-168275">
              <a:tabLst>
                <a:tab pos="625475" algn="l"/>
              </a:tabLst>
            </a:pPr>
            <a:r>
              <a:rPr lang="en-GB" altLang="ja-JP" dirty="0"/>
              <a:t>Accept the reality that it is not until they start working that they cannot design a completely definite career plan</a:t>
            </a:r>
          </a:p>
          <a:p>
            <a:pPr marL="625475" lvl="2" indent="-168275">
              <a:tabLst>
                <a:tab pos="625475" algn="l"/>
              </a:tabLst>
            </a:pPr>
            <a:r>
              <a:rPr lang="en-GB" altLang="ja-JP" dirty="0"/>
              <a:t>Focus on not terminating uneasiness but getting along well with it</a:t>
            </a:r>
            <a:endParaRPr lang="ja-JP" altLang="en-US" dirty="0"/>
          </a:p>
          <a:p>
            <a:pPr marL="360363" lvl="1" indent="-360363">
              <a:buFont typeface="+mj-lt"/>
              <a:buAutoNum type="arabicPeriod"/>
            </a:pPr>
            <a:r>
              <a:rPr lang="en-GB" altLang="ja-JP" dirty="0"/>
              <a:t>Resolution of loss of confidence caused by her personality and habits</a:t>
            </a:r>
          </a:p>
          <a:p>
            <a:pPr marL="625475" lvl="2" indent="-168275"/>
            <a:r>
              <a:rPr lang="en-GB" altLang="ja-JP" dirty="0"/>
              <a:t>Relying on those around her was never a bad act as long as she take action herself</a:t>
            </a:r>
          </a:p>
          <a:p>
            <a:pPr marL="625475" lvl="2" indent="-168275"/>
            <a:r>
              <a:rPr lang="en-GB" altLang="ja-JP" dirty="0"/>
              <a:t>Be confident to the act because it proves strength to trust someone else</a:t>
            </a:r>
            <a:endParaRPr lang="ja-JP" altLang="en-US" dirty="0"/>
          </a:p>
          <a:p>
            <a:pPr marL="360363" lvl="1" indent="-360363">
              <a:buFont typeface="+mj-lt"/>
              <a:buAutoNum type="arabicPeriod"/>
            </a:pPr>
            <a:r>
              <a:rPr lang="en-GB" altLang="ja-JP" dirty="0"/>
              <a:t>Resolution of delivery process of an outcome in job hunting different from academia</a:t>
            </a:r>
          </a:p>
          <a:p>
            <a:pPr marL="625475" lvl="2" indent="-168275"/>
            <a:r>
              <a:rPr lang="en-GB" altLang="ja-JP" dirty="0"/>
              <a:t>The gap bothered the new graduate</a:t>
            </a:r>
          </a:p>
          <a:p>
            <a:pPr marL="625475" lvl="2" indent="-168275"/>
            <a:r>
              <a:rPr lang="en-GB" altLang="ja-JP" dirty="0"/>
              <a:t>Be confident to academic outcomes which can be an appealing material that was found by untiring 3-time meetings</a:t>
            </a:r>
            <a:endParaRPr lang="ja-JP" altLang="en-US" dirty="0"/>
          </a:p>
          <a:p>
            <a:pPr marL="360363" lvl="1" indent="-360363">
              <a:buFont typeface="+mj-lt"/>
              <a:buAutoNum type="arabicPeriod"/>
            </a:pPr>
            <a:r>
              <a:rPr lang="en-GB" altLang="ja-JP" dirty="0"/>
              <a:t>Resolution of loss of confidence caused by </a:t>
            </a:r>
            <a:r>
              <a:rPr lang="en-GB" altLang="ja-JP" b="1" dirty="0"/>
              <a:t>Type PASSIVE Career Planning</a:t>
            </a:r>
          </a:p>
          <a:p>
            <a:pPr marL="625475" lvl="2" indent="-168275"/>
            <a:r>
              <a:rPr lang="en-GB" altLang="ja-JP" dirty="0"/>
              <a:t>The 3 steps above have already clarify WILLs and CANs of the new graduate and looked for positions suitable for her</a:t>
            </a:r>
          </a:p>
          <a:p>
            <a:pPr marL="625475" lvl="2" indent="-168275"/>
            <a:r>
              <a:rPr lang="en-GB" altLang="ja-JP" dirty="0"/>
              <a:t>The career plan was clear enough for her to search for industries and corporations she would truly be interested in</a:t>
            </a:r>
          </a:p>
        </p:txBody>
      </p:sp>
    </p:spTree>
    <p:extLst>
      <p:ext uri="{BB962C8B-B14F-4D97-AF65-F5344CB8AC3E}">
        <p14:creationId xmlns:p14="http://schemas.microsoft.com/office/powerpoint/2010/main" val="23650775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US" altLang="ja-JP" b="1" dirty="0">
                <a:latin typeface="Calibri (Headings)"/>
              </a:rPr>
              <a:t>4.</a:t>
            </a:r>
            <a:r>
              <a:rPr lang="en-GB" altLang="ja-JP" b="1" dirty="0">
                <a:latin typeface="Calibri (Headings)"/>
              </a:rPr>
              <a:t> </a:t>
            </a:r>
            <a:r>
              <a:rPr lang="en-GB" altLang="ja-JP" b="1" dirty="0">
                <a:latin typeface="Calibri (Headings)"/>
                <a:sym typeface="Arial"/>
              </a:rPr>
              <a:t>"What do you want?"</a:t>
            </a:r>
            <a:endParaRPr lang="en-GB"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05213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latin typeface="Calibri (Headings)"/>
              </a:rPr>
              <a:t>4.</a:t>
            </a:r>
            <a:r>
              <a:rPr lang="en-GB" altLang="ja-JP" b="1" dirty="0">
                <a:latin typeface="Calibri (Headings)"/>
              </a:rPr>
              <a:t> </a:t>
            </a:r>
            <a:r>
              <a:rPr lang="en-GB" altLang="ja-JP" b="1" dirty="0">
                <a:latin typeface="Calibri (Headings)"/>
                <a:sym typeface="Arial"/>
              </a:rPr>
              <a:t>"What do you want?"</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92490B7A-6E18-A5F8-262B-EABFCBE9F2CD}"/>
              </a:ext>
            </a:extLst>
          </p:cNvPr>
          <p:cNvSpPr>
            <a:spLocks noGrp="1"/>
          </p:cNvSpPr>
          <p:nvPr>
            <p:ph idx="1"/>
          </p:nvPr>
        </p:nvSpPr>
        <p:spPr>
          <a:xfrm>
            <a:off x="838200" y="1825625"/>
            <a:ext cx="10515600" cy="4351338"/>
          </a:xfrm>
        </p:spPr>
        <p:txBody>
          <a:bodyPr>
            <a:normAutofit/>
          </a:bodyPr>
          <a:lstStyle/>
          <a:p>
            <a:pPr marL="0" lvl="1" indent="0">
              <a:buNone/>
            </a:pPr>
            <a:r>
              <a:rPr lang="en-GB" altLang="ja-JP" dirty="0"/>
              <a:t>This phrase is well known among those concerned in Recruit Co.,Ltd. which stands for an extraordinary sense of ownership.</a:t>
            </a:r>
          </a:p>
          <a:p>
            <a:pPr marL="0" lvl="1" indent="0">
              <a:buNone/>
            </a:pPr>
            <a:r>
              <a:rPr lang="en-GB" altLang="ja-JP" dirty="0"/>
              <a:t>Personally, I am not a big fan of this too direct expression, so I would love it to be updated to such a phrase, "What concrete approach do you think is the best?"</a:t>
            </a:r>
          </a:p>
          <a:p>
            <a:pPr marL="0" lvl="1" indent="0">
              <a:buNone/>
            </a:pPr>
            <a:endParaRPr lang="en-GB" altLang="ja-JP" dirty="0"/>
          </a:p>
          <a:p>
            <a:pPr marL="0" lvl="1" indent="0">
              <a:buNone/>
            </a:pPr>
            <a:r>
              <a:rPr lang="en-GB" altLang="ja-JP" dirty="0"/>
              <a:t>Back on the topic, the phrase should imply the import 5Ws1H as a result of my interpretation although it might be distorted understanding.</a:t>
            </a:r>
            <a:endParaRPr lang="en-US" altLang="ja-JP" dirty="0"/>
          </a:p>
        </p:txBody>
      </p:sp>
    </p:spTree>
    <p:extLst>
      <p:ext uri="{BB962C8B-B14F-4D97-AF65-F5344CB8AC3E}">
        <p14:creationId xmlns:p14="http://schemas.microsoft.com/office/powerpoint/2010/main" val="5754400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latin typeface="Calibri (Headings)"/>
              </a:rPr>
              <a:t>4.</a:t>
            </a:r>
            <a:r>
              <a:rPr lang="en-GB" altLang="ja-JP" b="1" dirty="0">
                <a:latin typeface="Calibri (Headings)"/>
              </a:rPr>
              <a:t> </a:t>
            </a:r>
            <a:r>
              <a:rPr lang="en-GB" altLang="ja-JP" b="1" dirty="0">
                <a:latin typeface="Calibri (Headings)"/>
                <a:sym typeface="Arial"/>
              </a:rPr>
              <a:t>"What do you want?"</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92490B7A-6E18-A5F8-262B-EABFCBE9F2CD}"/>
              </a:ext>
            </a:extLst>
          </p:cNvPr>
          <p:cNvSpPr>
            <a:spLocks noGrp="1"/>
          </p:cNvSpPr>
          <p:nvPr>
            <p:ph idx="1"/>
          </p:nvPr>
        </p:nvSpPr>
        <p:spPr>
          <a:xfrm>
            <a:off x="838200" y="1825625"/>
            <a:ext cx="10515600" cy="4351338"/>
          </a:xfrm>
        </p:spPr>
        <p:txBody>
          <a:bodyPr>
            <a:normAutofit/>
          </a:bodyPr>
          <a:lstStyle/>
          <a:p>
            <a:pPr marL="268288" lvl="1" indent="-268288"/>
            <a:r>
              <a:rPr lang="en-US" altLang="ja-JP" b="1" dirty="0"/>
              <a:t>What</a:t>
            </a:r>
            <a:r>
              <a:rPr lang="en-GB" altLang="ja-JP" b="1" dirty="0"/>
              <a:t> do you like to release at work?</a:t>
            </a:r>
            <a:endParaRPr lang="ja-JP" altLang="en-US" b="1" dirty="0"/>
          </a:p>
          <a:p>
            <a:pPr marL="725488" lvl="2" indent="-268288"/>
            <a:r>
              <a:rPr lang="en-GB" altLang="ja-JP" dirty="0"/>
              <a:t>Job</a:t>
            </a:r>
            <a:r>
              <a:rPr lang="en-US" altLang="ja-JP" dirty="0"/>
              <a:t>: </a:t>
            </a:r>
            <a:r>
              <a:rPr lang="en-GB" altLang="ja-JP" dirty="0"/>
              <a:t>What values would you like to provide with the customers?</a:t>
            </a:r>
          </a:p>
          <a:p>
            <a:pPr marL="725488" lvl="2" indent="-268288"/>
            <a:r>
              <a:rPr lang="en-GB" altLang="ja-JP" dirty="0"/>
              <a:t>What effect would you like to have on your stakeholders?</a:t>
            </a:r>
          </a:p>
          <a:p>
            <a:pPr marL="268288" lvl="1" indent="-268288"/>
            <a:r>
              <a:rPr lang="en-US" altLang="ja-JP" b="1" dirty="0"/>
              <a:t>How</a:t>
            </a:r>
            <a:r>
              <a:rPr lang="en-GB" altLang="ja-JP" b="1" dirty="0"/>
              <a:t> do you achieve your goal?</a:t>
            </a:r>
            <a:endParaRPr lang="ja-JP" altLang="en-US" b="1" dirty="0"/>
          </a:p>
          <a:p>
            <a:pPr marL="725488" lvl="2" indent="-268288"/>
            <a:r>
              <a:rPr lang="en-GB" altLang="ja-JP" dirty="0"/>
              <a:t>What process would you take making the most of your CANs?</a:t>
            </a:r>
            <a:endParaRPr lang="ja-JP" altLang="en-US" dirty="0"/>
          </a:p>
          <a:p>
            <a:pPr marL="268288" lvl="1" indent="-268288"/>
            <a:r>
              <a:rPr lang="en-US" altLang="ja-JP" b="1" dirty="0"/>
              <a:t>Where</a:t>
            </a:r>
            <a:r>
              <a:rPr lang="en-GB" altLang="ja-JP" b="1" dirty="0"/>
              <a:t> would it be most appropriate to achieve your goal?</a:t>
            </a:r>
            <a:endParaRPr lang="ja-JP" altLang="en-US" b="1" dirty="0"/>
          </a:p>
          <a:p>
            <a:pPr marL="725488" lvl="2" indent="-268288"/>
            <a:r>
              <a:rPr lang="en-GB" altLang="ja-JP" dirty="0"/>
              <a:t>What environment do you think is the best to realise WHAT and HOW above?</a:t>
            </a:r>
            <a:endParaRPr lang="ja-JP" altLang="en-US" dirty="0"/>
          </a:p>
        </p:txBody>
      </p:sp>
    </p:spTree>
    <p:extLst>
      <p:ext uri="{BB962C8B-B14F-4D97-AF65-F5344CB8AC3E}">
        <p14:creationId xmlns:p14="http://schemas.microsoft.com/office/powerpoint/2010/main" val="33525991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latin typeface="Calibri (Headings)"/>
              </a:rPr>
              <a:t>4.</a:t>
            </a:r>
            <a:r>
              <a:rPr lang="en-GB" altLang="ja-JP" b="1" dirty="0">
                <a:latin typeface="Calibri (Headings)"/>
              </a:rPr>
              <a:t> </a:t>
            </a:r>
            <a:r>
              <a:rPr lang="en-GB" altLang="ja-JP" b="1" dirty="0">
                <a:latin typeface="Calibri (Headings)"/>
                <a:sym typeface="Arial"/>
              </a:rPr>
              <a:t>"What do you want?"</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92490B7A-6E18-A5F8-262B-EABFCBE9F2CD}"/>
              </a:ext>
            </a:extLst>
          </p:cNvPr>
          <p:cNvSpPr>
            <a:spLocks noGrp="1"/>
          </p:cNvSpPr>
          <p:nvPr>
            <p:ph idx="1"/>
          </p:nvPr>
        </p:nvSpPr>
        <p:spPr>
          <a:xfrm>
            <a:off x="838200" y="1825625"/>
            <a:ext cx="10515600" cy="4351338"/>
          </a:xfrm>
        </p:spPr>
        <p:txBody>
          <a:bodyPr>
            <a:normAutofit/>
          </a:bodyPr>
          <a:lstStyle/>
          <a:p>
            <a:pPr marL="268288" lvl="1" indent="-268288"/>
            <a:r>
              <a:rPr lang="en-US" altLang="ja-JP" b="1" dirty="0"/>
              <a:t>Why</a:t>
            </a:r>
            <a:r>
              <a:rPr lang="en-GB" altLang="ja-JP" b="1" dirty="0"/>
              <a:t> would you like to be involved in the work?</a:t>
            </a:r>
            <a:endParaRPr lang="ja-JP" altLang="en-US" b="1" dirty="0"/>
          </a:p>
          <a:p>
            <a:pPr marL="725488" lvl="2" indent="-268288"/>
            <a:r>
              <a:rPr lang="en-GB" altLang="ja-JP" dirty="0"/>
              <a:t>2Ws1H on the last page lead to the answer to this question</a:t>
            </a:r>
            <a:endParaRPr lang="ja-JP" altLang="en-US" dirty="0"/>
          </a:p>
          <a:p>
            <a:pPr marL="725488" lvl="2" indent="-268288"/>
            <a:r>
              <a:rPr lang="en-GB" altLang="ja-JP" dirty="0"/>
              <a:t>In other words, "What makes you think of the work as the best choice?"</a:t>
            </a:r>
            <a:endParaRPr lang="ja-JP" altLang="en-US" dirty="0"/>
          </a:p>
          <a:p>
            <a:pPr marL="268288" lvl="1" indent="-268288"/>
            <a:r>
              <a:rPr lang="en-US" altLang="ja-JP" b="1" dirty="0"/>
              <a:t>Who</a:t>
            </a:r>
            <a:r>
              <a:rPr lang="en-GB" altLang="ja-JP" b="1" dirty="0"/>
              <a:t> are you?</a:t>
            </a:r>
            <a:endParaRPr lang="ja-JP" altLang="en-US" b="1" dirty="0"/>
          </a:p>
          <a:p>
            <a:pPr marL="725488" lvl="2" indent="-268288"/>
            <a:r>
              <a:rPr lang="en-GB" altLang="ja-JP" dirty="0"/>
              <a:t>What strengths do you have and would you like to make the most of them?</a:t>
            </a:r>
          </a:p>
          <a:p>
            <a:pPr marL="1077913" lvl="3" indent="-179388"/>
            <a:r>
              <a:rPr lang="en-GB" altLang="ja-JP" dirty="0"/>
              <a:t>What makes you think of them as your assets?</a:t>
            </a:r>
          </a:p>
          <a:p>
            <a:pPr marL="725488" lvl="2" indent="-268288"/>
            <a:r>
              <a:rPr lang="en-GB" altLang="ja-JP" dirty="0"/>
              <a:t>What faults do you have and how are you facing it? </a:t>
            </a:r>
          </a:p>
          <a:p>
            <a:pPr marL="1182688" lvl="3" indent="-268288"/>
            <a:r>
              <a:rPr lang="en-GB" altLang="ja-JP" dirty="0"/>
              <a:t>What action are you taking to overcome it?</a:t>
            </a:r>
            <a:endParaRPr lang="ja-JP" altLang="en-US" dirty="0"/>
          </a:p>
          <a:p>
            <a:pPr marL="268288" lvl="1" indent="-268288"/>
            <a:r>
              <a:rPr lang="en-US" altLang="ja-JP" b="1" dirty="0"/>
              <a:t>When</a:t>
            </a:r>
            <a:r>
              <a:rPr lang="en-GB" altLang="ja-JP" b="1" dirty="0"/>
              <a:t> would you like to achieve the goal?</a:t>
            </a:r>
            <a:endParaRPr lang="ja-JP" altLang="en-US" b="1" dirty="0"/>
          </a:p>
          <a:p>
            <a:pPr marL="725488" lvl="2" indent="-268288"/>
            <a:r>
              <a:rPr lang="en-GB" altLang="ja-JP" dirty="0"/>
              <a:t>What expertise and skillset do you have to acquire in 1, 3 and 5 years and what should you do every day to come close to the ideal?</a:t>
            </a:r>
          </a:p>
          <a:p>
            <a:pPr marL="725488" lvl="2" indent="-268288"/>
            <a:r>
              <a:rPr lang="en-GB" altLang="ja-JP" dirty="0"/>
              <a:t>The format of personnel evaluation in Recruit Co.,Ltd. adopts the concept above</a:t>
            </a:r>
            <a:endParaRPr lang="ja-JP" altLang="en-US" dirty="0"/>
          </a:p>
        </p:txBody>
      </p:sp>
    </p:spTree>
    <p:extLst>
      <p:ext uri="{BB962C8B-B14F-4D97-AF65-F5344CB8AC3E}">
        <p14:creationId xmlns:p14="http://schemas.microsoft.com/office/powerpoint/2010/main" val="31717409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5</a:t>
            </a:r>
            <a:r>
              <a:rPr lang="en-US" altLang="ja-JP" b="1" dirty="0">
                <a:latin typeface="Calibri (Headings)"/>
              </a:rPr>
              <a:t>.</a:t>
            </a:r>
            <a:r>
              <a:rPr lang="en-GB" altLang="ja-JP" b="1" dirty="0">
                <a:latin typeface="Calibri (Headings)"/>
              </a:rPr>
              <a:t> </a:t>
            </a:r>
            <a:r>
              <a:rPr lang="en-GB" altLang="ja-JP" b="1" dirty="0">
                <a:latin typeface="Calibri (Headings)"/>
                <a:sym typeface="Arial"/>
              </a:rPr>
              <a:t>Summary</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87880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5</a:t>
            </a:r>
            <a:r>
              <a:rPr lang="en-US" altLang="ja-JP" b="1" dirty="0">
                <a:latin typeface="Calibri (Headings)"/>
              </a:rPr>
              <a:t>.</a:t>
            </a:r>
            <a:r>
              <a:rPr lang="en-GB" altLang="ja-JP" b="1" dirty="0">
                <a:latin typeface="Calibri (Headings)"/>
              </a:rPr>
              <a:t> </a:t>
            </a:r>
            <a:r>
              <a:rPr lang="en-GB" altLang="ja-JP" b="1" dirty="0">
                <a:latin typeface="Calibri (Headings)"/>
                <a:sym typeface="Arial"/>
              </a:rPr>
              <a:t>Summary</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92490B7A-6E18-A5F8-262B-EABFCBE9F2CD}"/>
              </a:ext>
            </a:extLst>
          </p:cNvPr>
          <p:cNvSpPr>
            <a:spLocks noGrp="1"/>
          </p:cNvSpPr>
          <p:nvPr>
            <p:ph idx="1"/>
          </p:nvPr>
        </p:nvSpPr>
        <p:spPr>
          <a:xfrm>
            <a:off x="838200" y="1825625"/>
            <a:ext cx="10515600" cy="4351338"/>
          </a:xfrm>
        </p:spPr>
        <p:txBody>
          <a:bodyPr>
            <a:normAutofit fontScale="92500" lnSpcReduction="10000"/>
          </a:bodyPr>
          <a:lstStyle/>
          <a:p>
            <a:pPr marL="360363" lvl="1" indent="-360363">
              <a:buFont typeface="+mj-lt"/>
              <a:buAutoNum type="arabicPeriod"/>
            </a:pPr>
            <a:r>
              <a:rPr lang="en-GB" altLang="ja-JP" dirty="0"/>
              <a:t>The style of career planning can be categorised to the following 2 types.</a:t>
            </a:r>
          </a:p>
          <a:p>
            <a:pPr marL="717550" lvl="2" indent="-260350"/>
            <a:r>
              <a:rPr lang="en-GB" altLang="ja-JP" b="1" dirty="0"/>
              <a:t>Type ACTIVE</a:t>
            </a:r>
          </a:p>
          <a:p>
            <a:pPr marL="717550" lvl="2" indent="-260350"/>
            <a:r>
              <a:rPr lang="en-GB" altLang="ja-JP" b="1" dirty="0"/>
              <a:t>Type PASSIVE</a:t>
            </a:r>
          </a:p>
          <a:p>
            <a:pPr marL="360363" lvl="1" indent="-360363">
              <a:buFont typeface="+mj-lt"/>
              <a:buAutoNum type="arabicPeriod"/>
            </a:pPr>
            <a:r>
              <a:rPr lang="en-GB" altLang="ja-JP" b="1" dirty="0"/>
              <a:t>Type PASSIVE</a:t>
            </a:r>
            <a:r>
              <a:rPr lang="en-GB" altLang="ja-JP" dirty="0"/>
              <a:t> can be categorised to the following sub types.</a:t>
            </a:r>
          </a:p>
          <a:p>
            <a:pPr marL="717550" lvl="2" indent="-260350"/>
            <a:r>
              <a:rPr lang="en-GB" altLang="ja-JP" b="1" dirty="0"/>
              <a:t>Type SELECTIVE-PASSIVE</a:t>
            </a:r>
          </a:p>
          <a:p>
            <a:pPr marL="717550" lvl="2" indent="-260350"/>
            <a:r>
              <a:rPr lang="en-GB" altLang="ja-JP" b="1" dirty="0"/>
              <a:t>Type OPEN-PASSIVE</a:t>
            </a:r>
          </a:p>
          <a:p>
            <a:pPr marL="360363" lvl="1" indent="-360363">
              <a:buFont typeface="+mj-lt"/>
              <a:buAutoNum type="arabicPeriod"/>
            </a:pPr>
            <a:r>
              <a:rPr lang="en-GB" altLang="ja-JP" b="1" dirty="0"/>
              <a:t>Type SELECTIVE-PASSIVE</a:t>
            </a:r>
            <a:r>
              <a:rPr lang="en-GB" altLang="ja-JP" dirty="0"/>
              <a:t> have to be strongly aware of the following 3 points.</a:t>
            </a:r>
          </a:p>
          <a:p>
            <a:pPr marL="717550" lvl="2" indent="-260350"/>
            <a:r>
              <a:rPr lang="en-GB" altLang="ja-JP" dirty="0"/>
              <a:t>Constant assessment and fixation of the gap between the ideal and reality</a:t>
            </a:r>
          </a:p>
          <a:p>
            <a:pPr marL="717550" lvl="2" indent="-260350"/>
            <a:r>
              <a:rPr lang="en-GB" altLang="ja-JP" dirty="0"/>
              <a:t>Proactive attitude and action to work</a:t>
            </a:r>
          </a:p>
          <a:p>
            <a:pPr marL="717550" lvl="2" indent="-260350"/>
            <a:r>
              <a:rPr lang="en-GB" altLang="ja-JP" dirty="0"/>
              <a:t>Awareness and action to find one's own WILLs and CANs</a:t>
            </a:r>
          </a:p>
          <a:p>
            <a:pPr marL="360363" lvl="1" indent="-360363">
              <a:buFont typeface="+mj-lt"/>
              <a:buAutoNum type="arabicPeriod"/>
            </a:pPr>
            <a:r>
              <a:rPr lang="en-GB" altLang="ja-JP" b="1" dirty="0"/>
              <a:t>Type PASSIVE Career Planning</a:t>
            </a:r>
            <a:r>
              <a:rPr lang="en-GB" altLang="ja-JP" dirty="0"/>
              <a:t> tends to be painstaking in job hunting for new graduates, so it is better to find someone trustworthy, which helps their personality analysis, aptitude assessment and study of the best position, industry and corporation.</a:t>
            </a:r>
          </a:p>
          <a:p>
            <a:pPr marL="360363" lvl="1" indent="-360363">
              <a:buFont typeface="+mj-lt"/>
              <a:buAutoNum type="arabicPeriod"/>
            </a:pPr>
            <a:r>
              <a:rPr lang="en-GB" altLang="ja-JP" dirty="0"/>
              <a:t>"What do you want?" implies the very important 5Ws1H</a:t>
            </a:r>
            <a:r>
              <a:rPr lang="en-US" altLang="ja-JP" dirty="0"/>
              <a:t>(</a:t>
            </a:r>
            <a:r>
              <a:rPr lang="en-GB" altLang="ja-JP" dirty="0"/>
              <a:t>my personal understanding</a:t>
            </a:r>
            <a:r>
              <a:rPr lang="en-US" altLang="ja-JP" dirty="0"/>
              <a:t>).</a:t>
            </a:r>
            <a:endParaRPr lang="en-GB" altLang="ja-JP" dirty="0"/>
          </a:p>
        </p:txBody>
      </p:sp>
    </p:spTree>
    <p:extLst>
      <p:ext uri="{BB962C8B-B14F-4D97-AF65-F5344CB8AC3E}">
        <p14:creationId xmlns:p14="http://schemas.microsoft.com/office/powerpoint/2010/main" val="35154773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6. References</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89575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6. References</a:t>
            </a:r>
            <a:endParaRPr lang="en-GB" b="1" dirty="0">
              <a:latin typeface="+mn-lt"/>
            </a:endParaRPr>
          </a:p>
        </p:txBody>
      </p:sp>
      <p:sp>
        <p:nvSpPr>
          <p:cNvPr id="4" name="スライド番号プレースホルダー 3">
            <a:extLst>
              <a:ext uri="{FF2B5EF4-FFF2-40B4-BE49-F238E27FC236}">
                <a16:creationId xmlns:a16="http://schemas.microsoft.com/office/drawing/2014/main" id="{1E96154D-0AC4-47C9-B8EE-32ED60A2B6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6">
            <a:extLst>
              <a:ext uri="{FF2B5EF4-FFF2-40B4-BE49-F238E27FC236}">
                <a16:creationId xmlns:a16="http://schemas.microsoft.com/office/drawing/2014/main" id="{0A3A8506-B2C4-48D9-8B66-4EF42A11727B}"/>
              </a:ext>
            </a:extLst>
          </p:cNvPr>
          <p:cNvSpPr>
            <a:spLocks noGrp="1"/>
          </p:cNvSpPr>
          <p:nvPr>
            <p:ph idx="1"/>
          </p:nvPr>
        </p:nvSpPr>
        <p:spPr/>
        <p:txBody>
          <a:bodyPr>
            <a:normAutofit/>
          </a:bodyPr>
          <a:lstStyle/>
          <a:p>
            <a:pPr marL="268288" lvl="1" indent="-268288">
              <a:spcBef>
                <a:spcPts val="0"/>
              </a:spcBef>
              <a:buClr>
                <a:schemeClr val="dk1"/>
              </a:buClr>
              <a:buSzPts val="2800"/>
            </a:pPr>
            <a:r>
              <a:rPr lang="en-GB" altLang="ja-JP" dirty="0">
                <a:hlinkClick r:id="rId3"/>
              </a:rPr>
              <a:t>What Career Planning the top player of a division in Recruit </a:t>
            </a:r>
            <a:r>
              <a:rPr lang="en-GB" altLang="ja-JP" dirty="0" err="1">
                <a:hlinkClick r:id="rId3"/>
              </a:rPr>
              <a:t>Co.,Ltd</a:t>
            </a:r>
            <a:r>
              <a:rPr lang="en-GB" altLang="ja-JP" dirty="0">
                <a:hlinkClick r:id="rId3"/>
              </a:rPr>
              <a:t>. thinks of as? What he realise in the timing when he wondered whether or not he should leave the current job(written in Japanese language)</a:t>
            </a:r>
            <a:endParaRPr lang="en-GB" altLang="ja-JP" dirty="0"/>
          </a:p>
          <a:p>
            <a:pPr marL="725488" lvl="2" indent="-268288">
              <a:spcBef>
                <a:spcPts val="0"/>
              </a:spcBef>
              <a:buClr>
                <a:schemeClr val="dk1"/>
              </a:buClr>
              <a:buSzPts val="2800"/>
            </a:pPr>
            <a:r>
              <a:rPr lang="en-GB" altLang="ja-JP" dirty="0"/>
              <a:t>Last Accessed On: 18 July 2024</a:t>
            </a:r>
          </a:p>
        </p:txBody>
      </p:sp>
    </p:spTree>
    <p:extLst>
      <p:ext uri="{BB962C8B-B14F-4D97-AF65-F5344CB8AC3E}">
        <p14:creationId xmlns:p14="http://schemas.microsoft.com/office/powerpoint/2010/main" val="30412465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5BE6BD63-86C0-4411-B65D-4080E9A95274}"/>
              </a:ext>
            </a:extLst>
          </p:cNvPr>
          <p:cNvSpPr>
            <a:spLocks noGrp="1"/>
          </p:cNvSpPr>
          <p:nvPr>
            <p:ph idx="1"/>
          </p:nvPr>
        </p:nvSpPr>
        <p:spPr/>
        <p:txBody>
          <a:bodyPr>
            <a:normAutofit/>
          </a:bodyPr>
          <a:lstStyle/>
          <a:p>
            <a:pPr marL="0" indent="0" algn="ctr">
              <a:buNone/>
            </a:pPr>
            <a:endParaRPr lang="en-GB" sz="5400" b="1" dirty="0"/>
          </a:p>
          <a:p>
            <a:pPr marL="0" indent="0" algn="ctr">
              <a:buNone/>
            </a:pPr>
            <a:r>
              <a:rPr lang="en-GB" sz="5400" b="1" dirty="0"/>
              <a:t>EOD</a:t>
            </a:r>
          </a:p>
        </p:txBody>
      </p:sp>
      <p:sp>
        <p:nvSpPr>
          <p:cNvPr id="4" name="スライド番号プレースホルダー 3">
            <a:extLst>
              <a:ext uri="{FF2B5EF4-FFF2-40B4-BE49-F238E27FC236}">
                <a16:creationId xmlns:a16="http://schemas.microsoft.com/office/drawing/2014/main" id="{B2458194-12B8-434A-8D6D-E01520C89A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135762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1073</TotalTime>
  <Words>3173</Words>
  <Application>Microsoft Office PowerPoint</Application>
  <PresentationFormat>Widescreen</PresentationFormat>
  <Paragraphs>353</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Calibri (Headings)</vt:lpstr>
      <vt:lpstr>Arial</vt:lpstr>
      <vt:lpstr>Calibri</vt:lpstr>
      <vt:lpstr>Calibri Light</vt:lpstr>
      <vt:lpstr>Office テーマ</vt:lpstr>
      <vt:lpstr>Philosophy of Career Planning</vt:lpstr>
      <vt:lpstr>About Me</vt:lpstr>
      <vt:lpstr>Licences / Certifications</vt:lpstr>
      <vt:lpstr>Skill Stack</vt:lpstr>
      <vt:lpstr>Work Histories</vt:lpstr>
      <vt:lpstr>Work Histories</vt:lpstr>
      <vt:lpstr>International-Exchange Activities</vt:lpstr>
      <vt:lpstr>Agenda</vt:lpstr>
      <vt:lpstr>1. Prologue</vt:lpstr>
      <vt:lpstr>1. Prologue</vt:lpstr>
      <vt:lpstr>1. Prologue</vt:lpstr>
      <vt:lpstr>2. Type ACTIVE vs. Type PASSIVE</vt:lpstr>
      <vt:lpstr>2. Type ACTIVE vs. Type PASSIVE</vt:lpstr>
      <vt:lpstr>2. Type ACTIVE vs. Type PASSIVE</vt:lpstr>
      <vt:lpstr>2. Type ACTIVE vs. Type PASSIVE</vt:lpstr>
      <vt:lpstr>2. Type ACTIVE vs. Type PASSIVE</vt:lpstr>
      <vt:lpstr>2. Type ACTIVE vs. Type PASSIVE</vt:lpstr>
      <vt:lpstr>2. Type ACTIVE vs. Type PASSIVE</vt:lpstr>
      <vt:lpstr>3. Career Planning of Type OPEN-PASSIVE</vt:lpstr>
      <vt:lpstr>3. Career Planning of Type OPEN-PASSIVE</vt:lpstr>
      <vt:lpstr>3. Career Planning of Type OPEN-PASSIVE</vt:lpstr>
      <vt:lpstr>3. Career Planning of Type OPEN-PASSIVE</vt:lpstr>
      <vt:lpstr>3. Career Planning of Type OPEN-PASSIVE</vt:lpstr>
      <vt:lpstr>3. Career Planning of Type OPEN-PASSIVE</vt:lpstr>
      <vt:lpstr>3. Career Planning of Type OPEN-PASSIVE</vt:lpstr>
      <vt:lpstr>3. Career Planning of Type OPEN-PASSIVE</vt:lpstr>
      <vt:lpstr>3. Career Planning of Type OPEN-PASSIVE</vt:lpstr>
      <vt:lpstr>3. Career Planning of Type OPEN-PASSIVE</vt:lpstr>
      <vt:lpstr>3. Career Planning of Type OPEN-PASSIVE</vt:lpstr>
      <vt:lpstr>3. Career Planning of Type OPEN-PASSIVE</vt:lpstr>
      <vt:lpstr>4. "What do you want?"</vt:lpstr>
      <vt:lpstr>4. "What do you want?"</vt:lpstr>
      <vt:lpstr>4. "What do you want?"</vt:lpstr>
      <vt:lpstr>4. "What do you want?"</vt:lpstr>
      <vt:lpstr>5. Summary</vt:lpstr>
      <vt:lpstr>5. Summary</vt:lpstr>
      <vt:lpstr>6. References</vt:lpstr>
      <vt:lpstr>6. 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Hayato Ishida</dc:creator>
  <cp:lastModifiedBy>Hayato Ishida</cp:lastModifiedBy>
  <cp:revision>213</cp:revision>
  <dcterms:modified xsi:type="dcterms:W3CDTF">2025-08-31T17:51:23Z</dcterms:modified>
</cp:coreProperties>
</file>