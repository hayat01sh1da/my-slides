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4.jpg" ContentType="image/jpg"/>
  <Override PartName="/ppt/media/image5.jpg" ContentType="image/jpg"/>
  <Override PartName="/ppt/media/image6.jpg" ContentType="image/jpg"/>
  <Override PartName="/ppt/media/image7.jpg" ContentType="image/jpg"/>
  <Override PartName="/ppt/media/image8.jpg" ContentType="image/jpg"/>
  <Override PartName="/ppt/media/image9.jpg" ContentType="image/jpg"/>
  <Override PartName="/ppt/media/image10.jpg" ContentType="image/jpg"/>
  <Override PartName="/ppt/media/image14.jpg" ContentType="image/jpg"/>
  <Override PartName="/ppt/media/image15.jpg" ContentType="image/jpg"/>
  <Override PartName="/ppt/media/image16.jpg" ContentType="image/jpg"/>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87" r:id="rId3"/>
    <p:sldId id="388" r:id="rId4"/>
    <p:sldId id="431" r:id="rId5"/>
    <p:sldId id="433" r:id="rId6"/>
    <p:sldId id="432" r:id="rId7"/>
    <p:sldId id="280" r:id="rId8"/>
    <p:sldId id="311" r:id="rId9"/>
    <p:sldId id="259" r:id="rId10"/>
    <p:sldId id="330" r:id="rId11"/>
    <p:sldId id="410" r:id="rId12"/>
    <p:sldId id="408" r:id="rId13"/>
    <p:sldId id="409" r:id="rId14"/>
    <p:sldId id="325" r:id="rId15"/>
    <p:sldId id="354" r:id="rId16"/>
    <p:sldId id="411" r:id="rId17"/>
    <p:sldId id="412" r:id="rId18"/>
    <p:sldId id="413" r:id="rId19"/>
    <p:sldId id="414" r:id="rId20"/>
    <p:sldId id="415" r:id="rId21"/>
    <p:sldId id="416" r:id="rId22"/>
    <p:sldId id="417" r:id="rId23"/>
    <p:sldId id="418" r:id="rId24"/>
    <p:sldId id="419" r:id="rId25"/>
    <p:sldId id="420" r:id="rId26"/>
    <p:sldId id="421" r:id="rId27"/>
    <p:sldId id="422" r:id="rId28"/>
    <p:sldId id="423" r:id="rId29"/>
    <p:sldId id="424" r:id="rId30"/>
    <p:sldId id="425" r:id="rId31"/>
    <p:sldId id="426" r:id="rId32"/>
    <p:sldId id="427" r:id="rId33"/>
    <p:sldId id="428" r:id="rId34"/>
    <p:sldId id="385" r:id="rId35"/>
    <p:sldId id="430" r:id="rId36"/>
    <p:sldId id="386" r:id="rId37"/>
    <p:sldId id="285"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35BFFEB6-B142-43B7-8A57-010A146DA08F}"/>
    <pc:docChg chg="custSel modSld">
      <pc:chgData name="Hayato Ishida" userId="585fa0fa6384767c" providerId="LiveId" clId="{35BFFEB6-B142-43B7-8A57-010A146DA08F}" dt="2025-05-03T11:29:45.618" v="8"/>
      <pc:docMkLst>
        <pc:docMk/>
      </pc:docMkLst>
      <pc:sldChg chg="addSp delSp modSp mod">
        <pc:chgData name="Hayato Ishida" userId="585fa0fa6384767c" providerId="LiveId" clId="{35BFFEB6-B142-43B7-8A57-010A146DA08F}" dt="2025-05-03T11:29:29.909" v="6"/>
        <pc:sldMkLst>
          <pc:docMk/>
          <pc:sldMk cId="2567433019" sldId="280"/>
        </pc:sldMkLst>
      </pc:sldChg>
      <pc:sldChg chg="addSp delSp modSp mod">
        <pc:chgData name="Hayato Ishida" userId="585fa0fa6384767c" providerId="LiveId" clId="{35BFFEB6-B142-43B7-8A57-010A146DA08F}" dt="2025-05-03T11:29:36.567" v="7"/>
        <pc:sldMkLst>
          <pc:docMk/>
          <pc:sldMk cId="155858466" sldId="286"/>
        </pc:sldMkLst>
      </pc:sldChg>
      <pc:sldChg chg="addSp delSp modSp mod">
        <pc:chgData name="Hayato Ishida" userId="585fa0fa6384767c" providerId="LiveId" clId="{35BFFEB6-B142-43B7-8A57-010A146DA08F}" dt="2025-05-03T11:29:45.618" v="8"/>
        <pc:sldMkLst>
          <pc:docMk/>
          <pc:sldMk cId="654251065" sldId="287"/>
        </pc:sldMkLst>
      </pc:sldChg>
    </pc:docChg>
  </pc:docChgLst>
  <pc:docChgLst>
    <pc:chgData name="Hayato Ishida" userId="585fa0fa6384767c" providerId="LiveId" clId="{845F5947-6F8E-46C9-9938-86C7B39B6739}"/>
    <pc:docChg chg="custSel addSld delSld modSld sldOrd">
      <pc:chgData name="Hayato Ishida" userId="585fa0fa6384767c" providerId="LiveId" clId="{845F5947-6F8E-46C9-9938-86C7B39B6739}" dt="2025-09-01T03:38:59.256" v="12"/>
      <pc:docMkLst>
        <pc:docMk/>
      </pc:docMkLst>
      <pc:sldChg chg="del">
        <pc:chgData name="Hayato Ishida" userId="585fa0fa6384767c" providerId="LiveId" clId="{845F5947-6F8E-46C9-9938-86C7B39B6739}" dt="2025-08-31T18:02:06.545" v="2" actId="47"/>
        <pc:sldMkLst>
          <pc:docMk/>
          <pc:sldMk cId="155858466" sldId="286"/>
        </pc:sldMkLst>
      </pc:sldChg>
      <pc:sldChg chg="addSp delSp modSp mod">
        <pc:chgData name="Hayato Ishida" userId="585fa0fa6384767c" providerId="LiveId" clId="{845F5947-6F8E-46C9-9938-86C7B39B6739}" dt="2025-08-31T18:03:49.919" v="8"/>
        <pc:sldMkLst>
          <pc:docMk/>
          <pc:sldMk cId="654251065" sldId="287"/>
        </pc:sldMkLst>
        <pc:spChg chg="add del mod">
          <ac:chgData name="Hayato Ishida" userId="585fa0fa6384767c" providerId="LiveId" clId="{845F5947-6F8E-46C9-9938-86C7B39B6739}" dt="2025-08-31T18:02:03.399" v="1" actId="478"/>
          <ac:spMkLst>
            <pc:docMk/>
            <pc:sldMk cId="654251065" sldId="287"/>
            <ac:spMk id="3" creationId="{F75021C4-5F40-C29F-C17D-967FE49BCA0A}"/>
          </ac:spMkLst>
        </pc:spChg>
        <pc:spChg chg="add del mod">
          <ac:chgData name="Hayato Ishida" userId="585fa0fa6384767c" providerId="LiveId" clId="{845F5947-6F8E-46C9-9938-86C7B39B6739}" dt="2025-08-31T18:02:03.399" v="1" actId="478"/>
          <ac:spMkLst>
            <pc:docMk/>
            <pc:sldMk cId="654251065" sldId="287"/>
            <ac:spMk id="5" creationId="{BC491A6F-0D4B-B25D-400E-91DD1A8E905B}"/>
          </ac:spMkLst>
        </pc:spChg>
        <pc:spChg chg="del">
          <ac:chgData name="Hayato Ishida" userId="585fa0fa6384767c" providerId="LiveId" clId="{845F5947-6F8E-46C9-9938-86C7B39B6739}" dt="2025-08-31T18:02:02.086" v="0" actId="478"/>
          <ac:spMkLst>
            <pc:docMk/>
            <pc:sldMk cId="654251065" sldId="287"/>
            <ac:spMk id="6" creationId="{CF4EFD93-5B46-9804-EDE8-3E4E25D991D5}"/>
          </ac:spMkLst>
        </pc:spChg>
        <pc:spChg chg="del">
          <ac:chgData name="Hayato Ishida" userId="585fa0fa6384767c" providerId="LiveId" clId="{845F5947-6F8E-46C9-9938-86C7B39B6739}" dt="2025-08-31T18:02:02.086" v="0" actId="478"/>
          <ac:spMkLst>
            <pc:docMk/>
            <pc:sldMk cId="654251065" sldId="287"/>
            <ac:spMk id="7" creationId="{C93BF800-4DCB-65F7-AD34-5D7011273DF8}"/>
          </ac:spMkLst>
        </pc:spChg>
        <pc:spChg chg="del">
          <ac:chgData name="Hayato Ishida" userId="585fa0fa6384767c" providerId="LiveId" clId="{845F5947-6F8E-46C9-9938-86C7B39B6739}" dt="2025-08-31T18:02:02.086" v="0" actId="478"/>
          <ac:spMkLst>
            <pc:docMk/>
            <pc:sldMk cId="654251065" sldId="287"/>
            <ac:spMk id="8" creationId="{624C02C4-5CD7-D598-ECC5-68F080BBBFA4}"/>
          </ac:spMkLst>
        </pc:spChg>
        <pc:spChg chg="add mod">
          <ac:chgData name="Hayato Ishida" userId="585fa0fa6384767c" providerId="LiveId" clId="{845F5947-6F8E-46C9-9938-86C7B39B6739}" dt="2025-08-31T18:03:49.919" v="8"/>
          <ac:spMkLst>
            <pc:docMk/>
            <pc:sldMk cId="654251065" sldId="287"/>
            <ac:spMk id="9" creationId="{DD89FB72-DD10-613A-DC6E-C16F71AEDBDE}"/>
          </ac:spMkLst>
        </pc:spChg>
        <pc:spChg chg="add mod">
          <ac:chgData name="Hayato Ishida" userId="585fa0fa6384767c" providerId="LiveId" clId="{845F5947-6F8E-46C9-9938-86C7B39B6739}" dt="2025-08-31T18:03:49.919" v="8"/>
          <ac:spMkLst>
            <pc:docMk/>
            <pc:sldMk cId="654251065" sldId="287"/>
            <ac:spMk id="10" creationId="{CF0107A4-3420-8CD5-F25D-120203A80A1A}"/>
          </ac:spMkLst>
        </pc:spChg>
        <pc:spChg chg="add mod">
          <ac:chgData name="Hayato Ishida" userId="585fa0fa6384767c" providerId="LiveId" clId="{845F5947-6F8E-46C9-9938-86C7B39B6739}" dt="2025-08-31T18:03:49.919" v="8"/>
          <ac:spMkLst>
            <pc:docMk/>
            <pc:sldMk cId="654251065" sldId="287"/>
            <ac:spMk id="11" creationId="{74467A57-8A9C-9A7B-3038-9376D81396EB}"/>
          </ac:spMkLst>
        </pc:spChg>
        <pc:picChg chg="del">
          <ac:chgData name="Hayato Ishida" userId="585fa0fa6384767c" providerId="LiveId" clId="{845F5947-6F8E-46C9-9938-86C7B39B6739}" dt="2025-08-31T18:02:02.086" v="0" actId="478"/>
          <ac:picMkLst>
            <pc:docMk/>
            <pc:sldMk cId="654251065" sldId="287"/>
            <ac:picMk id="12" creationId="{E24D4675-4A06-F7C4-D56B-A9B51839A719}"/>
          </ac:picMkLst>
        </pc:picChg>
        <pc:picChg chg="add mod">
          <ac:chgData name="Hayato Ishida" userId="585fa0fa6384767c" providerId="LiveId" clId="{845F5947-6F8E-46C9-9938-86C7B39B6739}" dt="2025-08-31T18:03:49.919" v="8"/>
          <ac:picMkLst>
            <pc:docMk/>
            <pc:sldMk cId="654251065" sldId="287"/>
            <ac:picMk id="13" creationId="{72B0E133-CA81-7EC6-F8D9-063D54872129}"/>
          </ac:picMkLst>
        </pc:picChg>
      </pc:sldChg>
      <pc:sldChg chg="del">
        <pc:chgData name="Hayato Ishida" userId="585fa0fa6384767c" providerId="LiveId" clId="{845F5947-6F8E-46C9-9938-86C7B39B6739}" dt="2025-08-31T18:02:06.545" v="2" actId="47"/>
        <pc:sldMkLst>
          <pc:docMk/>
          <pc:sldMk cId="3064566856" sldId="387"/>
        </pc:sldMkLst>
      </pc:sldChg>
      <pc:sldChg chg="addSp modSp add ord">
        <pc:chgData name="Hayato Ishida" userId="585fa0fa6384767c" providerId="LiveId" clId="{845F5947-6F8E-46C9-9938-86C7B39B6739}" dt="2025-08-31T18:05:55.632" v="9"/>
        <pc:sldMkLst>
          <pc:docMk/>
          <pc:sldMk cId="1496883501" sldId="431"/>
        </pc:sldMkLst>
        <pc:spChg chg="add mod">
          <ac:chgData name="Hayato Ishida" userId="585fa0fa6384767c" providerId="LiveId" clId="{845F5947-6F8E-46C9-9938-86C7B39B6739}" dt="2025-08-31T18:05:55.632" v="9"/>
          <ac:spMkLst>
            <pc:docMk/>
            <pc:sldMk cId="1496883501" sldId="431"/>
            <ac:spMk id="2" creationId="{8B3FCC98-5AA6-5C55-920D-93A280CAC5DE}"/>
          </ac:spMkLst>
        </pc:spChg>
        <pc:spChg chg="add mod">
          <ac:chgData name="Hayato Ishida" userId="585fa0fa6384767c" providerId="LiveId" clId="{845F5947-6F8E-46C9-9938-86C7B39B6739}" dt="2025-08-31T18:05:55.632" v="9"/>
          <ac:spMkLst>
            <pc:docMk/>
            <pc:sldMk cId="1496883501" sldId="431"/>
            <ac:spMk id="3" creationId="{3931896F-A9AB-8E59-6BD3-F7425A57D382}"/>
          </ac:spMkLst>
        </pc:spChg>
        <pc:spChg chg="add mod">
          <ac:chgData name="Hayato Ishida" userId="585fa0fa6384767c" providerId="LiveId" clId="{845F5947-6F8E-46C9-9938-86C7B39B6739}" dt="2025-08-31T18:05:55.632" v="9"/>
          <ac:spMkLst>
            <pc:docMk/>
            <pc:sldMk cId="1496883501" sldId="431"/>
            <ac:spMk id="4" creationId="{59FD97C1-6AAC-91AC-4555-F6265C8C2DBD}"/>
          </ac:spMkLst>
        </pc:spChg>
      </pc:sldChg>
      <pc:sldChg chg="addSp modSp add">
        <pc:chgData name="Hayato Ishida" userId="585fa0fa6384767c" providerId="LiveId" clId="{845F5947-6F8E-46C9-9938-86C7B39B6739}" dt="2025-09-01T03:38:59.256" v="12"/>
        <pc:sldMkLst>
          <pc:docMk/>
          <pc:sldMk cId="695969608" sldId="432"/>
        </pc:sldMkLst>
        <pc:spChg chg="add mod">
          <ac:chgData name="Hayato Ishida" userId="585fa0fa6384767c" providerId="LiveId" clId="{845F5947-6F8E-46C9-9938-86C7B39B6739}" dt="2025-08-31T18:08:51.804" v="11"/>
          <ac:spMkLst>
            <pc:docMk/>
            <pc:sldMk cId="695969608" sldId="432"/>
            <ac:spMk id="2" creationId="{394860A3-2889-6883-ED9C-E3888ACEB9A9}"/>
          </ac:spMkLst>
        </pc:spChg>
        <pc:spChg chg="add mod">
          <ac:chgData name="Hayato Ishida" userId="585fa0fa6384767c" providerId="LiveId" clId="{845F5947-6F8E-46C9-9938-86C7B39B6739}" dt="2025-08-31T18:08:51.804" v="11"/>
          <ac:spMkLst>
            <pc:docMk/>
            <pc:sldMk cId="695969608" sldId="432"/>
            <ac:spMk id="3" creationId="{8148A306-55C3-B543-8CF4-7E361B191C17}"/>
          </ac:spMkLst>
        </pc:spChg>
        <pc:graphicFrameChg chg="add mod">
          <ac:chgData name="Hayato Ishida" userId="585fa0fa6384767c" providerId="LiveId" clId="{845F5947-6F8E-46C9-9938-86C7B39B6739}" dt="2025-09-01T03:38:59.256" v="12"/>
          <ac:graphicFrameMkLst>
            <pc:docMk/>
            <pc:sldMk cId="695969608" sldId="432"/>
            <ac:graphicFrameMk id="4" creationId="{49E89136-A062-D545-369F-DBD2D1901469}"/>
          </ac:graphicFrameMkLst>
        </pc:graphicFrameChg>
      </pc:sldChg>
      <pc:sldChg chg="addSp modSp add">
        <pc:chgData name="Hayato Ishida" userId="585fa0fa6384767c" providerId="LiveId" clId="{845F5947-6F8E-46C9-9938-86C7B39B6739}" dt="2025-09-01T03:38:59.256" v="12"/>
        <pc:sldMkLst>
          <pc:docMk/>
          <pc:sldMk cId="1606293837" sldId="433"/>
        </pc:sldMkLst>
        <pc:spChg chg="add mod">
          <ac:chgData name="Hayato Ishida" userId="585fa0fa6384767c" providerId="LiveId" clId="{845F5947-6F8E-46C9-9938-86C7B39B6739}" dt="2025-08-31T18:08:30.633" v="10"/>
          <ac:spMkLst>
            <pc:docMk/>
            <pc:sldMk cId="1606293837" sldId="433"/>
            <ac:spMk id="2" creationId="{4456A528-9855-604C-9783-07093CD7D5C9}"/>
          </ac:spMkLst>
        </pc:spChg>
        <pc:spChg chg="add mod">
          <ac:chgData name="Hayato Ishida" userId="585fa0fa6384767c" providerId="LiveId" clId="{845F5947-6F8E-46C9-9938-86C7B39B6739}" dt="2025-08-31T18:08:30.633" v="10"/>
          <ac:spMkLst>
            <pc:docMk/>
            <pc:sldMk cId="1606293837" sldId="433"/>
            <ac:spMk id="3" creationId="{92AFCFB5-75D5-9C05-C83C-55E8D602DB0D}"/>
          </ac:spMkLst>
        </pc:spChg>
        <pc:graphicFrameChg chg="add mod">
          <ac:chgData name="Hayato Ishida" userId="585fa0fa6384767c" providerId="LiveId" clId="{845F5947-6F8E-46C9-9938-86C7B39B6739}" dt="2025-09-01T03:38:59.256" v="12"/>
          <ac:graphicFrameMkLst>
            <pc:docMk/>
            <pc:sldMk cId="1606293837" sldId="433"/>
            <ac:graphicFrameMk id="4" creationId="{F570D801-236A-6614-69CC-785E5B7C23B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eakerdeck.com/hayat01sh1da/top-7-riddles-of-dragon-ball-series"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hyperlink" Target="https://github.com/hayat01sh1da" TargetMode="External"/><Relationship Id="rId7" Type="http://schemas.openxmlformats.org/officeDocument/2006/relationships/hyperlink" Target="https://www.docswell.com/user/hayat01sh1da" TargetMode="Externa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hyperlink" Target="https://speakerdeck.com/hayat01sh1da" TargetMode="External"/><Relationship Id="rId5" Type="http://schemas.openxmlformats.org/officeDocument/2006/relationships/hyperlink" Target="https://www.linkedin.com/in/hayat01sh1da/" TargetMode="External"/><Relationship Id="rId4" Type="http://schemas.openxmlformats.org/officeDocument/2006/relationships/hyperlink" Target="https://hackmd.io/@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slide" Target="slide34.xml"/><Relationship Id="rId4" Type="http://schemas.openxmlformats.org/officeDocument/2006/relationships/slide" Target="slide14.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rmAutofit/>
          </a:bodyPr>
          <a:lstStyle/>
          <a:p>
            <a:r>
              <a:rPr lang="ja-JP" altLang="en-US" sz="5400" b="1" dirty="0">
                <a:effectLst>
                  <a:outerShdw blurRad="38100" dist="38100" dir="2700000" algn="tl">
                    <a:srgbClr val="000000">
                      <a:alpha val="43137"/>
                    </a:srgbClr>
                  </a:outerShdw>
                </a:effectLst>
                <a:latin typeface="+mn-lt"/>
              </a:rPr>
              <a:t>厳選！</a:t>
            </a:r>
            <a:br>
              <a:rPr lang="en-GB" altLang="ja-JP" sz="5400" b="1" dirty="0">
                <a:effectLst>
                  <a:outerShdw blurRad="38100" dist="38100" dir="2700000" algn="tl">
                    <a:srgbClr val="000000">
                      <a:alpha val="43137"/>
                    </a:srgbClr>
                  </a:outerShdw>
                </a:effectLst>
                <a:latin typeface="+mn-lt"/>
              </a:rPr>
            </a:br>
            <a:r>
              <a:rPr lang="ja-JP" altLang="en-US" sz="5400" b="1" dirty="0">
                <a:effectLst>
                  <a:outerShdw blurRad="38100" dist="38100" dir="2700000" algn="tl">
                    <a:srgbClr val="000000">
                      <a:alpha val="43137"/>
                    </a:srgbClr>
                  </a:outerShdw>
                </a:effectLst>
                <a:latin typeface="+mn-lt"/>
              </a:rPr>
              <a:t>ドラゴンボール七不思議</a:t>
            </a:r>
            <a:endParaRPr lang="en-GB" sz="5400" b="1" dirty="0">
              <a:effectLst>
                <a:outerShdw blurRad="38100" dist="38100" dir="2700000" algn="tl">
                  <a:srgbClr val="000000">
                    <a:alpha val="43137"/>
                  </a:srgbClr>
                </a:outerShdw>
              </a:effectLst>
              <a:latin typeface="+mn-lt"/>
            </a:endParaRPr>
          </a:p>
        </p:txBody>
      </p:sp>
      <p:sp>
        <p:nvSpPr>
          <p:cNvPr id="11" name="字幕 2">
            <a:extLst>
              <a:ext uri="{FF2B5EF4-FFF2-40B4-BE49-F238E27FC236}">
                <a16:creationId xmlns:a16="http://schemas.microsoft.com/office/drawing/2014/main" id="{9F3859FD-9718-0C81-33B3-44F030588BC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latin typeface="+mn-ea"/>
              </a:rPr>
              <a:t>作成者</a:t>
            </a:r>
            <a:r>
              <a:rPr lang="en-US" sz="3200" b="1" dirty="0">
                <a:latin typeface="+mn-ea"/>
              </a:rPr>
              <a:t>: </a:t>
            </a:r>
            <a:r>
              <a:rPr lang="ja-JP" altLang="en-US" sz="3200" b="1" dirty="0">
                <a:latin typeface="+mn-ea"/>
              </a:rPr>
              <a:t>石田</a:t>
            </a:r>
            <a:r>
              <a:rPr lang="en-US" sz="3200" b="1" dirty="0">
                <a:latin typeface="+mn-ea"/>
              </a:rPr>
              <a:t> </a:t>
            </a:r>
            <a:r>
              <a:rPr lang="ja-JP" altLang="en-US" sz="3200" b="1" dirty="0">
                <a:latin typeface="+mn-ea"/>
              </a:rPr>
              <a:t>隼人</a:t>
            </a:r>
            <a:endParaRPr lang="en-GB" sz="3200" b="1" dirty="0">
              <a:latin typeface="+mn-ea"/>
            </a:endParaRPr>
          </a:p>
        </p:txBody>
      </p:sp>
      <p:sp>
        <p:nvSpPr>
          <p:cNvPr id="12" name="スライド番号プレースホルダー 3">
            <a:extLst>
              <a:ext uri="{FF2B5EF4-FFF2-40B4-BE49-F238E27FC236}">
                <a16:creationId xmlns:a16="http://schemas.microsoft.com/office/drawing/2014/main" id="{37DCA1F6-8A6F-EFA2-32E0-4107C174B29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3" name="字幕 2">
            <a:extLst>
              <a:ext uri="{FF2B5EF4-FFF2-40B4-BE49-F238E27FC236}">
                <a16:creationId xmlns:a16="http://schemas.microsoft.com/office/drawing/2014/main" id="{7EC127B2-8036-0DBB-686D-9BBD027D4A12}"/>
              </a:ext>
            </a:extLst>
          </p:cNvPr>
          <p:cNvSpPr txBox="1">
            <a:spLocks/>
          </p:cNvSpPr>
          <p:nvPr/>
        </p:nvSpPr>
        <p:spPr>
          <a:xfrm>
            <a:off x="6648275" y="5445970"/>
            <a:ext cx="396659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ja-JP" altLang="en-US" sz="2000" b="1" i="0" u="none" strike="noStrike" kern="1200" cap="none" spc="0" normalizeH="0" baseline="0" noProof="0" dirty="0">
                <a:ln>
                  <a:noFill/>
                </a:ln>
                <a:solidFill>
                  <a:prstClr val="black"/>
                </a:solidFill>
                <a:effectLst/>
                <a:uLnTx/>
                <a:uFillTx/>
                <a:latin typeface="+mn-ea"/>
                <a:cs typeface="+mn-cs"/>
              </a:rPr>
              <a:t>最終更新日</a:t>
            </a:r>
            <a:r>
              <a:rPr kumimoji="0" lang="en-GB" altLang="ja-JP" sz="2000" b="1" i="0" u="none" strike="noStrike" kern="1200" cap="none" spc="0" normalizeH="0" baseline="0" noProof="0" dirty="0">
                <a:ln>
                  <a:noFill/>
                </a:ln>
                <a:solidFill>
                  <a:prstClr val="black"/>
                </a:solidFill>
                <a:effectLst/>
                <a:uLnTx/>
                <a:uFillTx/>
                <a:latin typeface="+mn-ea"/>
                <a:cs typeface="+mn-cs"/>
              </a:rPr>
              <a:t>: </a:t>
            </a:r>
            <a:r>
              <a:rPr kumimoji="0" lang="en-GB" altLang="ja-JP" sz="2000" b="1" i="0" u="none" strike="noStrike" kern="1200" cap="none" spc="0" normalizeH="0" baseline="0" noProof="0" dirty="0">
                <a:ln>
                  <a:noFill/>
                </a:ln>
                <a:solidFill>
                  <a:prstClr val="black"/>
                </a:solidFill>
                <a:effectLst/>
                <a:uLnTx/>
                <a:uFillTx/>
                <a:cs typeface="+mn-cs"/>
              </a:rPr>
              <a:t>2024</a:t>
            </a:r>
            <a:r>
              <a:rPr kumimoji="0" lang="ja-JP" altLang="en-US" sz="2000" b="1" i="0" u="none" strike="noStrike" kern="1200" cap="none" spc="0" normalizeH="0" baseline="0" noProof="0" dirty="0">
                <a:ln>
                  <a:noFill/>
                </a:ln>
                <a:solidFill>
                  <a:prstClr val="black"/>
                </a:solidFill>
                <a:effectLst/>
                <a:uLnTx/>
                <a:uFillTx/>
                <a:latin typeface="+mn-ea"/>
                <a:cs typeface="+mn-cs"/>
              </a:rPr>
              <a:t>年</a:t>
            </a:r>
            <a:r>
              <a:rPr kumimoji="0" lang="en-GB" altLang="ja-JP" sz="2000" b="1" i="0" u="none" strike="noStrike" kern="1200" cap="none" spc="0" normalizeH="0" baseline="0" noProof="0" dirty="0">
                <a:ln>
                  <a:noFill/>
                </a:ln>
                <a:solidFill>
                  <a:prstClr val="black"/>
                </a:solidFill>
                <a:effectLst/>
                <a:uLnTx/>
                <a:uFillTx/>
                <a:cs typeface="+mn-cs"/>
              </a:rPr>
              <a:t>07</a:t>
            </a:r>
            <a:r>
              <a:rPr kumimoji="0" lang="ja-JP" altLang="en-US" sz="2000" b="1" i="0" u="none" strike="noStrike" kern="1200" cap="none" spc="0" normalizeH="0" baseline="0" noProof="0" dirty="0">
                <a:ln>
                  <a:noFill/>
                </a:ln>
                <a:solidFill>
                  <a:prstClr val="black"/>
                </a:solidFill>
                <a:effectLst/>
                <a:uLnTx/>
                <a:uFillTx/>
                <a:latin typeface="+mn-ea"/>
                <a:cs typeface="+mn-cs"/>
              </a:rPr>
              <a:t>月</a:t>
            </a:r>
            <a:r>
              <a:rPr kumimoji="0" lang="en-GB" altLang="ja-JP" sz="2000" b="1" i="0" u="none" strike="noStrike" kern="1200" cap="none" spc="0" normalizeH="0" baseline="0" noProof="0" dirty="0">
                <a:ln>
                  <a:noFill/>
                </a:ln>
                <a:solidFill>
                  <a:prstClr val="black"/>
                </a:solidFill>
                <a:effectLst/>
                <a:uLnTx/>
                <a:uFillTx/>
                <a:cs typeface="+mn-cs"/>
              </a:rPr>
              <a:t>16</a:t>
            </a:r>
            <a:r>
              <a:rPr kumimoji="0" lang="ja-JP" altLang="en-US" sz="2000" b="1" i="0" u="none" strike="noStrike" kern="1200" cap="none" spc="0" normalizeH="0" baseline="0" noProof="0" dirty="0">
                <a:ln>
                  <a:noFill/>
                </a:ln>
                <a:solidFill>
                  <a:prstClr val="black"/>
                </a:solidFill>
                <a:effectLst/>
                <a:uLnTx/>
                <a:uFillTx/>
                <a:latin typeface="+mn-ea"/>
                <a:cs typeface="+mn-cs"/>
              </a:rPr>
              <a:t>日</a:t>
            </a:r>
            <a:endParaRPr kumimoji="0" lang="en-GB" sz="2000" b="1" i="0" u="none" strike="noStrike" kern="1200" cap="none" spc="0" normalizeH="0" baseline="0" noProof="0" dirty="0">
              <a:ln>
                <a:noFill/>
              </a:ln>
              <a:solidFill>
                <a:prstClr val="black"/>
              </a:solidFill>
              <a:effectLst/>
              <a:uLnTx/>
              <a:uFillTx/>
              <a:latin typeface="+mn-ea"/>
              <a:cs typeface="+mn-cs"/>
            </a:endParaRPr>
          </a:p>
        </p:txBody>
      </p:sp>
      <p:sp>
        <p:nvSpPr>
          <p:cNvPr id="2" name="字幕 2">
            <a:extLst>
              <a:ext uri="{FF2B5EF4-FFF2-40B4-BE49-F238E27FC236}">
                <a16:creationId xmlns:a16="http://schemas.microsoft.com/office/drawing/2014/main" id="{9105717C-FCFA-427A-0249-8F2D02825EE3}"/>
              </a:ext>
            </a:extLst>
          </p:cNvPr>
          <p:cNvSpPr txBox="1">
            <a:spLocks/>
          </p:cNvSpPr>
          <p:nvPr/>
        </p:nvSpPr>
        <p:spPr>
          <a:xfrm>
            <a:off x="1470871" y="5440495"/>
            <a:ext cx="196861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3"/>
              </a:rPr>
              <a:t>こちら</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DD89FB72-DD10-613A-DC6E-C16F71AEDBDE}"/>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10" name="コンテンツ プレースホルダー 2">
            <a:extLst>
              <a:ext uri="{FF2B5EF4-FFF2-40B4-BE49-F238E27FC236}">
                <a16:creationId xmlns:a16="http://schemas.microsoft.com/office/drawing/2014/main" id="{CF0107A4-3420-8CD5-F25D-120203A80A1A}"/>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3"/>
              </a:rPr>
              <a:t>@hayat01sh1da</a:t>
            </a:r>
            <a:endParaRPr lang="en-US" altLang="ja-JP" sz="2000" dirty="0"/>
          </a:p>
          <a:p>
            <a:pPr marL="725488" lvl="1" indent="-268288"/>
            <a:r>
              <a:rPr lang="en-US" altLang="ja-JP" sz="2000" dirty="0"/>
              <a:t>X: </a:t>
            </a:r>
            <a:r>
              <a:rPr lang="en-US" altLang="ja-JP" sz="2000" dirty="0">
                <a:hlinkClick r:id="rId4"/>
              </a:rPr>
              <a:t>@hayat01sh1da</a:t>
            </a:r>
            <a:endParaRPr lang="en-GB" altLang="ja-JP" sz="2000" dirty="0"/>
          </a:p>
          <a:p>
            <a:pPr marL="725488" lvl="1" indent="-268288"/>
            <a:r>
              <a:rPr lang="en-GB" altLang="ja-JP" sz="2000" dirty="0"/>
              <a:t>LinkedIn: </a:t>
            </a:r>
            <a:r>
              <a:rPr lang="en-US" altLang="ja-JP" sz="2000" dirty="0">
                <a:hlinkClick r:id="rId5"/>
              </a:rPr>
              <a:t>@hayat01sh1da</a:t>
            </a:r>
            <a:endParaRPr lang="en-US" altLang="ja-JP" sz="2000" dirty="0"/>
          </a:p>
          <a:p>
            <a:pPr marL="725488" lvl="1" indent="-268288"/>
            <a:r>
              <a:rPr lang="en-US" altLang="ja-JP" sz="2000" dirty="0"/>
              <a:t>Speaker Deck: </a:t>
            </a:r>
            <a:r>
              <a:rPr lang="en-US" altLang="ja-JP" sz="2000" dirty="0">
                <a:hlinkClick r:id="rId6"/>
              </a:rPr>
              <a:t>@hayat01sh1da</a:t>
            </a:r>
            <a:endParaRPr lang="en-US" altLang="ja-JP" sz="2000" dirty="0"/>
          </a:p>
          <a:p>
            <a:pPr marL="725488" lvl="1" indent="-268288"/>
            <a:r>
              <a:rPr lang="en-US" altLang="ja-JP" sz="2000" dirty="0"/>
              <a:t>Docswell: </a:t>
            </a:r>
            <a:r>
              <a:rPr lang="en-US" altLang="ja-JP" sz="2000" dirty="0">
                <a:hlinkClick r:id="rId7"/>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11" name="スライド番号プレースホルダー 3">
            <a:extLst>
              <a:ext uri="{FF2B5EF4-FFF2-40B4-BE49-F238E27FC236}">
                <a16:creationId xmlns:a16="http://schemas.microsoft.com/office/drawing/2014/main" id="{74467A57-8A9C-9A7B-3038-9376D81396EB}"/>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72B0E133-CA81-7EC6-F8D9-063D5487212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4" name="スライド番号プレースホルダー 3">
            <a:extLst>
              <a:ext uri="{FF2B5EF4-FFF2-40B4-BE49-F238E27FC236}">
                <a16:creationId xmlns:a16="http://schemas.microsoft.com/office/drawing/2014/main" id="{CF305983-0249-A6CE-AD02-933B3C88710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E40F5729-05D8-6E71-F302-95EE5D23E5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B3FCC98-5AA6-5C55-920D-93A280CAC5DE}"/>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3" name="コンテンツ プレースホルダー 2">
            <a:extLst>
              <a:ext uri="{FF2B5EF4-FFF2-40B4-BE49-F238E27FC236}">
                <a16:creationId xmlns:a16="http://schemas.microsoft.com/office/drawing/2014/main" id="{3931896F-A9AB-8E59-6BD3-F7425A57D382}"/>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4" name="スライド番号プレースホルダー 3">
            <a:extLst>
              <a:ext uri="{FF2B5EF4-FFF2-40B4-BE49-F238E27FC236}">
                <a16:creationId xmlns:a16="http://schemas.microsoft.com/office/drawing/2014/main" id="{59FD97C1-6AAC-91AC-4555-F6265C8C2DBD}"/>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6883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F1470190-1EE1-8B3C-4245-7B3136DBA68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56A528-9855-604C-9783-07093CD7D5C9}"/>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92AFCFB5-75D5-9C05-C83C-55E8D602DB0D}"/>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F570D801-236A-6614-69CC-785E5B7C23B2}"/>
              </a:ext>
            </a:extLst>
          </p:cNvPr>
          <p:cNvGraphicFramePr>
            <a:graphicFrameLocks noGrp="1"/>
          </p:cNvGraphicFramePr>
          <p:nvPr>
            <p:extLst>
              <p:ext uri="{D42A27DB-BD31-4B8C-83A1-F6EECF244321}">
                <p14:modId xmlns:p14="http://schemas.microsoft.com/office/powerpoint/2010/main" val="2016783518"/>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1606293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a:extLst>
            <a:ext uri="{FF2B5EF4-FFF2-40B4-BE49-F238E27FC236}">
              <a16:creationId xmlns:a16="http://schemas.microsoft.com/office/drawing/2014/main" id="{BB8CE5EC-BB4A-0DA8-9A54-833360F511E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94860A3-2889-6883-ED9C-E3888ACEB9A9}"/>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8148A306-55C3-B543-8CF4-7E361B191C17}"/>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49E89136-A062-D545-369F-DBD2D1901469}"/>
              </a:ext>
            </a:extLst>
          </p:cNvPr>
          <p:cNvGraphicFramePr>
            <a:graphicFrameLocks noGrp="1"/>
          </p:cNvGraphicFramePr>
          <p:nvPr>
            <p:extLst>
              <p:ext uri="{D42A27DB-BD31-4B8C-83A1-F6EECF244321}">
                <p14:modId xmlns:p14="http://schemas.microsoft.com/office/powerpoint/2010/main" val="1788297845"/>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695969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DDF10C0C-2963-6B21-4566-87ADF0237144}"/>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7" name="スライド番号プレースホルダー 3">
            <a:extLst>
              <a:ext uri="{FF2B5EF4-FFF2-40B4-BE49-F238E27FC236}">
                <a16:creationId xmlns:a16="http://schemas.microsoft.com/office/drawing/2014/main" id="{7A1CBFBA-2079-F32F-C09D-CC5BDDE19A4B}"/>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コンテンツ プレースホルダー 2">
            <a:extLst>
              <a:ext uri="{FF2B5EF4-FFF2-40B4-BE49-F238E27FC236}">
                <a16:creationId xmlns:a16="http://schemas.microsoft.com/office/drawing/2014/main" id="{21590F39-924F-721C-D4C8-7FA3BF942507}"/>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3"/>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4"/>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5"/>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8"/>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dirty="0"/>
              <a:t>関連カンファレンス参加</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latin typeface="Calibri (Headings)"/>
              </a:rPr>
              <a:t>目次</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ja-JP" altLang="en-US" sz="2400" dirty="0">
                <a:sym typeface="Arial"/>
                <a:hlinkClick r:id="rId3" action="ppaction://hlinksldjump"/>
              </a:rPr>
              <a:t>作品解説</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4" action="ppaction://hlinksldjump"/>
              </a:rPr>
              <a:t>ドラゴンボール七不思議</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5" action="ppaction://hlinksldjump"/>
              </a:rPr>
              <a:t>まとめ</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2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作品解説</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341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US" altLang="ja-JP" b="1" dirty="0">
                <a:latin typeface="Calibri (Headings)"/>
              </a:rPr>
              <a:t>『</a:t>
            </a:r>
            <a:r>
              <a:rPr lang="ja-JP" altLang="en-US" b="1" dirty="0">
                <a:latin typeface="Calibri (Headings)"/>
              </a:rPr>
              <a:t>ドラゴンボール</a:t>
            </a:r>
            <a:r>
              <a:rPr lang="en-US" altLang="ja-JP" b="1" dirty="0">
                <a:latin typeface="Calibri (Headings)"/>
              </a:rPr>
              <a:t>』</a:t>
            </a:r>
            <a:r>
              <a:rPr lang="ja-JP" altLang="en-US" b="1" dirty="0">
                <a:latin typeface="Calibri (Headings)"/>
              </a:rPr>
              <a:t>とは</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8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西遊記にバトル要素を盛り込んだ、少年向け漫画およびアニメ作品。</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590"/>
              </a:lnSpc>
              <a:spcBef>
                <a:spcPts val="1040"/>
              </a:spcBef>
              <a:spcAft>
                <a:spcPts val="0"/>
              </a:spcAft>
              <a:buClrTx/>
              <a:buSzTx/>
              <a:buFontTx/>
              <a:buNone/>
              <a:tabLst/>
              <a:defRPr/>
            </a:pP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7</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つ集めると</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創造主である神様の力が及ぶ範囲で</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何でも願いが叶うというドラゴンボールを巡る冒険や戦闘を描く。</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39370" lvl="0" indent="0" algn="just" defTabSz="914400" eaLnBrk="1" fontAlgn="auto" latinLnBrk="0" hangingPunct="1">
              <a:lnSpc>
                <a:spcPts val="2590"/>
              </a:lnSpc>
              <a:spcBef>
                <a:spcPts val="10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経済効果が凄まじすぎて、フリーザ編でやめたかった作者の鳥山明の意に</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反して長期連載となったためか、あらゆる場面で設定の矛盾が散見される</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のも見どころのひとつ。</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715280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ja-JP" altLang="en-US" b="1" dirty="0">
                <a:latin typeface="Calibri (Headings)"/>
              </a:rPr>
              <a:t>世界観</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280670" marR="0" lvl="0" indent="-267970" defTabSz="914400" eaLnBrk="1" fontAlgn="auto" latinLnBrk="0" hangingPunct="1">
              <a:lnSpc>
                <a:spcPct val="100000"/>
              </a:lnSpc>
              <a:spcBef>
                <a:spcPts val="810"/>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お金の単位</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 </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Z(</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ゼニー、銭が由来</a:t>
            </a:r>
            <a:r>
              <a:rPr kumimoji="0" lang="en-US" altLang="ja-JP" sz="2400" b="0"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280670" marR="53340" lvl="0" indent="-268605" defTabSz="914400" eaLnBrk="1" fontAlgn="auto" latinLnBrk="0" hangingPunct="1">
              <a:lnSpc>
                <a:spcPts val="2590"/>
              </a:lnSpc>
              <a:spcBef>
                <a:spcPts val="1040"/>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使用言語</a:t>
            </a:r>
            <a:r>
              <a:rPr kumimoji="0" lang="en-US" altLang="ja-JP" sz="2400" b="0" i="0" u="none" strike="noStrike" kern="0" cap="none" spc="-50"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宇宙共通語</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現実世界の日本語</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、ナメック語、サイヤ文字</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25" normalizeH="0" baseline="0" noProof="0" dirty="0">
                <a:ln>
                  <a:noFill/>
                </a:ln>
                <a:solidFill>
                  <a:sysClr val="windowText" lastClr="000000"/>
                </a:solidFill>
                <a:effectLst/>
                <a:uLnTx/>
                <a:uFillTx/>
                <a:latin typeface="Yu Gothic"/>
                <a:cs typeface="Yu Gothic"/>
              </a:rPr>
              <a:t>文字</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のみ</a:t>
            </a:r>
            <a:r>
              <a:rPr kumimoji="0" lang="en-US" altLang="ja-JP" sz="2400" b="0"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280670" marR="0" lvl="0" indent="-267970" defTabSz="914400" eaLnBrk="1" fontAlgn="auto" latinLnBrk="0" hangingPunct="1">
              <a:lnSpc>
                <a:spcPct val="100000"/>
              </a:lnSpc>
              <a:spcBef>
                <a:spcPts val="680"/>
              </a:spcBef>
              <a:spcAft>
                <a:spcPts val="0"/>
              </a:spcAft>
              <a:buClrTx/>
              <a:buSzTx/>
              <a:buFont typeface="Arial MT"/>
              <a:buChar char="•"/>
              <a:tabLst>
                <a:tab pos="280670" algn="l"/>
              </a:tabLst>
              <a:defRPr/>
            </a:pP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強さの指標</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ct val="100000"/>
              </a:lnSpc>
              <a:spcBef>
                <a:spcPts val="280"/>
              </a:spcBef>
              <a:spcAft>
                <a:spcPts val="0"/>
              </a:spcAft>
              <a:buClrTx/>
              <a:buSzTx/>
              <a:buFont typeface="Arial MT"/>
              <a:buChar char="•"/>
              <a:tabLst>
                <a:tab pos="730250" algn="l"/>
              </a:tabLst>
              <a:defRPr/>
            </a:pP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戦闘力</a:t>
            </a:r>
            <a:r>
              <a:rPr kumimoji="0" lang="en-US" altLang="ja-JP" sz="2000" b="0" i="0" u="none" strike="noStrike" kern="0" cap="none" spc="35" normalizeH="0" baseline="0" noProof="0" dirty="0">
                <a:ln>
                  <a:noFill/>
                </a:ln>
                <a:solidFill>
                  <a:sysClr val="windowText" lastClr="000000"/>
                </a:solidFill>
                <a:effectLst/>
                <a:uLnTx/>
                <a:uFillTx/>
                <a:latin typeface="Calibri"/>
                <a:cs typeface="Calibri"/>
              </a:rPr>
              <a:t>: </a:t>
            </a: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スカウターによって計測される相手の強さの数値</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1179830" marR="384175" lvl="2" indent="-253365" defTabSz="914400" eaLnBrk="1" fontAlgn="auto" latinLnBrk="0" hangingPunct="1">
              <a:lnSpc>
                <a:spcPts val="1939"/>
              </a:lnSpc>
              <a:spcBef>
                <a:spcPts val="560"/>
              </a:spcBef>
              <a:spcAft>
                <a:spcPts val="0"/>
              </a:spcAft>
              <a:buClrTx/>
              <a:buSzTx/>
              <a:buFont typeface="Arial MT"/>
              <a:buChar char="•"/>
              <a:tabLst>
                <a:tab pos="1179830" algn="l"/>
              </a:tabLst>
              <a:defRPr/>
            </a:pP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孫悟空</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20" normalizeH="0" baseline="0" noProof="0" dirty="0">
                <a:ln>
                  <a:noFill/>
                </a:ln>
                <a:solidFill>
                  <a:sysClr val="windowText" lastClr="000000"/>
                </a:solidFill>
                <a:effectLst/>
                <a:uLnTx/>
                <a:uFillTx/>
                <a:latin typeface="Calibri"/>
                <a:cs typeface="Calibri"/>
              </a:rPr>
              <a:t>10(</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初登場</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 → </a:t>
            </a:r>
            <a:r>
              <a:rPr kumimoji="0" lang="en-US" altLang="ja-JP" sz="1800" b="0" i="0" u="none" strike="noStrike" kern="0" cap="none" spc="-20" normalizeH="0" baseline="0" noProof="0" dirty="0">
                <a:ln>
                  <a:noFill/>
                </a:ln>
                <a:solidFill>
                  <a:sysClr val="windowText" lastClr="000000"/>
                </a:solidFill>
                <a:effectLst/>
                <a:uLnTx/>
                <a:uFillTx/>
                <a:latin typeface="Calibri"/>
                <a:cs typeface="Calibri"/>
              </a:rPr>
              <a:t>180(</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第</a:t>
            </a:r>
            <a:r>
              <a:rPr kumimoji="0" lang="en-US" altLang="ja-JP" sz="1800" b="0" i="0" u="none" strike="noStrike" kern="0" cap="none" spc="-20" normalizeH="0" baseline="0" noProof="0" dirty="0">
                <a:ln>
                  <a:noFill/>
                </a:ln>
                <a:solidFill>
                  <a:sysClr val="windowText" lastClr="000000"/>
                </a:solidFill>
                <a:effectLst/>
                <a:uLnTx/>
                <a:uFillTx/>
                <a:latin typeface="Calibri"/>
                <a:cs typeface="Calibri"/>
              </a:rPr>
              <a:t>22</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回天下一武道会</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 → </a:t>
            </a:r>
            <a:r>
              <a:rPr kumimoji="0" lang="en-US" altLang="ja-JP" sz="1800" b="0" i="0" u="none" strike="noStrike" kern="0" cap="none" spc="-20" normalizeH="0" baseline="0" noProof="0" dirty="0">
                <a:ln>
                  <a:noFill/>
                </a:ln>
                <a:solidFill>
                  <a:sysClr val="windowText" lastClr="000000"/>
                </a:solidFill>
                <a:effectLst/>
                <a:uLnTx/>
                <a:uFillTx/>
                <a:latin typeface="Calibri"/>
                <a:cs typeface="Calibri"/>
              </a:rPr>
              <a:t>260(</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対ピッコロ大魔王</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 → 334 - 416</a:t>
            </a:r>
            <a:r>
              <a:rPr kumimoji="0" lang="ja-JP" altLang="en-US" sz="1800" b="0" i="0" u="none" strike="noStrike" kern="0" cap="none" spc="-25"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25" normalizeH="0" baseline="0" noProof="0" dirty="0">
                <a:ln>
                  <a:noFill/>
                </a:ln>
                <a:solidFill>
                  <a:sysClr val="windowText" lastClr="000000"/>
                </a:solidFill>
                <a:effectLst/>
                <a:uLnTx/>
                <a:uFillTx/>
                <a:latin typeface="Calibri"/>
                <a:cs typeface="Calibri"/>
              </a:rPr>
              <a:t>-</a:t>
            </a:r>
            <a:r>
              <a:rPr kumimoji="0" lang="ja-JP" altLang="en-US" sz="1800" b="0" i="0" u="none" strike="noStrike" kern="0" cap="none" spc="-50"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20" normalizeH="0" baseline="0" noProof="0" dirty="0">
                <a:ln>
                  <a:noFill/>
                </a:ln>
                <a:solidFill>
                  <a:sysClr val="windowText" lastClr="000000"/>
                </a:solidFill>
                <a:effectLst/>
                <a:uLnTx/>
                <a:uFillTx/>
                <a:latin typeface="Calibri"/>
                <a:cs typeface="Calibri"/>
              </a:rPr>
              <a:t>924(</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対ラディッツ</a:t>
            </a:r>
            <a:r>
              <a:rPr kumimoji="0" lang="en-US" altLang="ja-JP" sz="1800" b="0" i="0" u="none" strike="noStrike" kern="0" cap="none" spc="-5" normalizeH="0" baseline="0" noProof="0" dirty="0">
                <a:ln>
                  <a:noFill/>
                </a:ln>
                <a:solidFill>
                  <a:sysClr val="windowText" lastClr="000000"/>
                </a:solidFill>
                <a:effectLst/>
                <a:uLnTx/>
                <a:uFillTx/>
                <a:latin typeface="Calibri"/>
                <a:cs typeface="Calibri"/>
              </a:rPr>
              <a:t>) →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8000</a:t>
            </a:r>
            <a:r>
              <a:rPr kumimoji="0" lang="ja-JP" altLang="en-US" sz="1800" b="0" i="0" u="none" strike="noStrike" kern="0" cap="none" spc="-5"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5"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20" normalizeH="0" baseline="0" noProof="0" dirty="0">
                <a:ln>
                  <a:noFill/>
                </a:ln>
                <a:solidFill>
                  <a:sysClr val="windowText" lastClr="000000"/>
                </a:solidFill>
                <a:effectLst/>
                <a:uLnTx/>
                <a:uFillTx/>
                <a:latin typeface="Calibri"/>
                <a:cs typeface="Calibri"/>
              </a:rPr>
              <a:t>32000(</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対ナッパ・ベジータ</a:t>
            </a:r>
            <a:r>
              <a:rPr kumimoji="0" lang="en-US" altLang="ja-JP" sz="1800" b="0" i="0" u="none" strike="noStrike" kern="0" cap="none" spc="-5" normalizeH="0" baseline="0" noProof="0" dirty="0">
                <a:ln>
                  <a:noFill/>
                </a:ln>
                <a:solidFill>
                  <a:sysClr val="windowText" lastClr="000000"/>
                </a:solidFill>
                <a:effectLst/>
                <a:uLnTx/>
                <a:uFillTx/>
                <a:latin typeface="Calibri"/>
                <a:cs typeface="Calibri"/>
              </a:rPr>
              <a:t>) →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5000</a:t>
            </a:r>
            <a:r>
              <a:rPr kumimoji="0" lang="ja-JP" altLang="en-US" sz="1800" b="0" i="0" u="none" strike="noStrike" kern="0" cap="none" spc="-5"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5"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90000</a:t>
            </a:r>
            <a:r>
              <a:rPr kumimoji="0" lang="ja-JP" altLang="en-US" sz="18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20" normalizeH="0" baseline="0" noProof="0" dirty="0">
                <a:ln>
                  <a:noFill/>
                </a:ln>
                <a:solidFill>
                  <a:sysClr val="windowText" lastClr="000000"/>
                </a:solidFill>
                <a:effectLst/>
                <a:uLnTx/>
                <a:uFillTx/>
                <a:latin typeface="Calibri"/>
                <a:cs typeface="Calibri"/>
              </a:rPr>
              <a:t>180000(</a:t>
            </a:r>
            <a:r>
              <a:rPr kumimoji="0" lang="ja-JP" altLang="en-US" sz="1800" b="0" i="0" u="none" strike="noStrike" kern="0" cap="none" spc="-25" normalizeH="0" baseline="0" noProof="0" dirty="0">
                <a:ln>
                  <a:noFill/>
                </a:ln>
                <a:solidFill>
                  <a:sysClr val="windowText" lastClr="000000"/>
                </a:solidFill>
                <a:effectLst/>
                <a:uLnTx/>
                <a:uFillTx/>
                <a:latin typeface="Yu Gothic"/>
                <a:cs typeface="Yu Gothic"/>
              </a:rPr>
              <a:t>対ギ</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ニュー特戦隊</a:t>
            </a:r>
            <a:r>
              <a:rPr kumimoji="0" lang="en-US" altLang="ja-JP" sz="1800" b="0" i="0" u="none" strike="noStrike" kern="0" cap="none" spc="5" normalizeH="0" baseline="0" noProof="0" dirty="0">
                <a:ln>
                  <a:noFill/>
                </a:ln>
                <a:solidFill>
                  <a:sysClr val="windowText" lastClr="000000"/>
                </a:solidFill>
                <a:effectLst/>
                <a:uLnTx/>
                <a:uFillTx/>
                <a:latin typeface="Calibri"/>
                <a:cs typeface="Calibri"/>
              </a:rPr>
              <a:t>) → </a:t>
            </a:r>
            <a:r>
              <a:rPr kumimoji="0" lang="en-US" altLang="ja-JP" sz="1800" b="0" i="0" u="none" strike="noStrike" kern="0" cap="none" spc="-20" normalizeH="0" baseline="0" noProof="0" dirty="0">
                <a:ln>
                  <a:noFill/>
                </a:ln>
                <a:solidFill>
                  <a:sysClr val="windowText" lastClr="000000"/>
                </a:solidFill>
                <a:effectLst/>
                <a:uLnTx/>
                <a:uFillTx/>
                <a:latin typeface="Calibri"/>
                <a:cs typeface="Calibri"/>
              </a:rPr>
              <a:t>300</a:t>
            </a:r>
            <a:r>
              <a:rPr kumimoji="0" lang="ja-JP" altLang="en-US" sz="1800" b="0" i="0" u="none" strike="noStrike" kern="0" cap="none" spc="-45" normalizeH="0" baseline="0" noProof="0" dirty="0">
                <a:ln>
                  <a:noFill/>
                </a:ln>
                <a:solidFill>
                  <a:sysClr val="windowText" lastClr="000000"/>
                </a:solidFill>
                <a:effectLst/>
                <a:uLnTx/>
                <a:uFillTx/>
                <a:latin typeface="Yu Gothic"/>
                <a:cs typeface="Yu Gothic"/>
              </a:rPr>
              <a:t>万 </a:t>
            </a:r>
            <a:r>
              <a:rPr kumimoji="0" lang="en-US" altLang="ja-JP" sz="1800" b="0" i="0" u="none" strike="noStrike" kern="0" cap="none" spc="5"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20" normalizeH="0" baseline="0" noProof="0" dirty="0">
                <a:ln>
                  <a:noFill/>
                </a:ln>
                <a:solidFill>
                  <a:sysClr val="windowText" lastClr="000000"/>
                </a:solidFill>
                <a:effectLst/>
                <a:uLnTx/>
                <a:uFillTx/>
                <a:latin typeface="Calibri"/>
                <a:cs typeface="Calibri"/>
              </a:rPr>
              <a:t>1</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億</a:t>
            </a:r>
            <a:r>
              <a:rPr kumimoji="0" lang="en-US" altLang="ja-JP" sz="1800" b="0" i="0" u="none" strike="noStrike" kern="0" cap="none" spc="-20" normalizeH="0" baseline="0" noProof="0" dirty="0">
                <a:ln>
                  <a:noFill/>
                </a:ln>
                <a:solidFill>
                  <a:sysClr val="windowText" lastClr="000000"/>
                </a:solidFill>
                <a:effectLst/>
                <a:uLnTx/>
                <a:uFillTx/>
                <a:latin typeface="Calibri"/>
                <a:cs typeface="Calibri"/>
              </a:rPr>
              <a:t>5000</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万</a:t>
            </a:r>
            <a:r>
              <a:rPr kumimoji="0" lang="en-US" altLang="ja-JP" sz="1800" b="0" i="0" u="none" strike="noStrike" kern="0" cap="none" spc="-25" normalizeH="0" baseline="0" noProof="0" dirty="0">
                <a:ln>
                  <a:noFill/>
                </a:ln>
                <a:solidFill>
                  <a:sysClr val="windowText" lastClr="000000"/>
                </a:solidFill>
                <a:effectLst/>
                <a:uLnTx/>
                <a:uFillTx/>
                <a:latin typeface="Calibri"/>
                <a:cs typeface="Calibri"/>
              </a:rPr>
              <a:t>(</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対フリーザ</a:t>
            </a:r>
            <a:r>
              <a:rPr kumimoji="0" lang="en-US" altLang="ja-JP" sz="1800" b="0"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1800" b="0" i="0" u="none" strike="noStrike" kern="0" cap="none" spc="0" normalizeH="0" baseline="0" noProof="0" dirty="0">
              <a:ln>
                <a:noFill/>
              </a:ln>
              <a:solidFill>
                <a:sysClr val="windowText" lastClr="000000"/>
              </a:solidFill>
              <a:effectLst/>
              <a:uLnTx/>
              <a:uFillTx/>
              <a:latin typeface="Calibri"/>
              <a:cs typeface="Calibri"/>
            </a:endParaRPr>
          </a:p>
          <a:p>
            <a:pPr marL="730250" marR="0" lvl="1" indent="-260350" defTabSz="914400" eaLnBrk="1" fontAlgn="auto" latinLnBrk="0" hangingPunct="1">
              <a:lnSpc>
                <a:spcPts val="2280"/>
              </a:lnSpc>
              <a:spcBef>
                <a:spcPts val="225"/>
              </a:spcBef>
              <a:spcAft>
                <a:spcPts val="0"/>
              </a:spcAft>
              <a:buClrTx/>
              <a:buSzTx/>
              <a:buFont typeface="Arial MT"/>
              <a:buChar char="•"/>
              <a:tabLst>
                <a:tab pos="730250" algn="l"/>
              </a:tabLst>
              <a:defRPr/>
            </a:pP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キリ</a:t>
            </a:r>
            <a:r>
              <a:rPr kumimoji="0" lang="en-US" altLang="ja-JP" sz="20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2000" b="0" i="0" u="none" strike="noStrike" kern="0" cap="none" spc="-15" normalizeH="0" baseline="0" noProof="0" dirty="0">
                <a:ln>
                  <a:noFill/>
                </a:ln>
                <a:solidFill>
                  <a:sysClr val="windowText" lastClr="000000"/>
                </a:solidFill>
                <a:effectLst/>
                <a:uLnTx/>
                <a:uFillTx/>
                <a:latin typeface="Yu Gothic"/>
                <a:cs typeface="Yu Gothic"/>
              </a:rPr>
              <a:t>魔導師バビディの計測器で測定される相手の強さの数値。</a:t>
            </a:r>
            <a:r>
              <a:rPr kumimoji="0" lang="en-US" altLang="ja-JP" sz="2000" b="0" i="0" u="none" strike="noStrike" kern="0" cap="none" spc="0" normalizeH="0" baseline="0" noProof="0" dirty="0">
                <a:ln>
                  <a:noFill/>
                </a:ln>
                <a:solidFill>
                  <a:sysClr val="windowText" lastClr="000000"/>
                </a:solidFill>
                <a:effectLst/>
                <a:uLnTx/>
                <a:uFillTx/>
                <a:latin typeface="Calibri"/>
                <a:cs typeface="Calibri"/>
              </a:rPr>
              <a:t>200</a:t>
            </a:r>
            <a:r>
              <a:rPr kumimoji="0" lang="ja-JP" altLang="en-US" sz="2000" b="0" i="0" u="none" strike="noStrike" kern="0" cap="none" spc="-25"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25"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0" normalizeH="0" baseline="0" noProof="0" dirty="0">
                <a:ln>
                  <a:noFill/>
                </a:ln>
                <a:solidFill>
                  <a:sysClr val="windowText" lastClr="000000"/>
                </a:solidFill>
                <a:effectLst/>
                <a:uLnTx/>
                <a:uFillTx/>
                <a:latin typeface="Calibri"/>
                <a:cs typeface="Calibri"/>
              </a:rPr>
              <a:t>300</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キリもあれ</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730250" marR="0" lvl="0" indent="0" defTabSz="914400" eaLnBrk="1" fontAlgn="auto" latinLnBrk="0" hangingPunct="1">
              <a:lnSpc>
                <a:spcPts val="2280"/>
              </a:lnSpc>
              <a:spcBef>
                <a:spcPts val="0"/>
              </a:spcBef>
              <a:spcAft>
                <a:spcPts val="0"/>
              </a:spcAft>
              <a:buClrTx/>
              <a:buSzTx/>
              <a:buFontTx/>
              <a:buNone/>
              <a:tabLst/>
              <a:defRPr/>
            </a:pP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ば惑星の</a:t>
            </a:r>
            <a:r>
              <a:rPr kumimoji="0" lang="en-US" altLang="ja-JP" sz="2000" b="0" i="0" u="none" strike="noStrike" kern="0" cap="none" spc="0" normalizeH="0" baseline="0" noProof="0" dirty="0">
                <a:ln>
                  <a:noFill/>
                </a:ln>
                <a:solidFill>
                  <a:sysClr val="windowText" lastClr="000000"/>
                </a:solidFill>
                <a:effectLst/>
                <a:uLnTx/>
                <a:uFillTx/>
                <a:latin typeface="Calibri"/>
                <a:cs typeface="Calibri"/>
              </a:rPr>
              <a:t>1</a:t>
            </a:r>
            <a:r>
              <a:rPr kumimoji="0" lang="ja-JP" altLang="en-US" sz="2000" b="0" i="0" u="none" strike="noStrike" kern="0" cap="none" spc="-10" normalizeH="0" baseline="0" noProof="0" dirty="0">
                <a:ln>
                  <a:noFill/>
                </a:ln>
                <a:solidFill>
                  <a:sysClr val="windowText" lastClr="000000"/>
                </a:solidFill>
                <a:effectLst/>
                <a:uLnTx/>
                <a:uFillTx/>
                <a:latin typeface="Yu Gothic"/>
                <a:cs typeface="Yu Gothic"/>
              </a:rPr>
              <a:t>つや</a:t>
            </a:r>
            <a:r>
              <a:rPr kumimoji="0" lang="en-US" altLang="ja-JP" sz="2000" b="0" i="0" u="none" strike="noStrike" kern="0" cap="none" spc="0" normalizeH="0" baseline="0" noProof="0" dirty="0">
                <a:ln>
                  <a:noFill/>
                </a:ln>
                <a:solidFill>
                  <a:sysClr val="windowText" lastClr="000000"/>
                </a:solidFill>
                <a:effectLst/>
                <a:uLnTx/>
                <a:uFillTx/>
                <a:latin typeface="Calibri"/>
                <a:cs typeface="Calibri"/>
              </a:rPr>
              <a:t>2</a:t>
            </a:r>
            <a:r>
              <a:rPr kumimoji="0" lang="ja-JP" altLang="en-US" sz="2000" b="0" i="0" u="none" strike="noStrike" kern="0" cap="none" spc="-25" normalizeH="0" baseline="0" noProof="0" dirty="0">
                <a:ln>
                  <a:noFill/>
                </a:ln>
                <a:solidFill>
                  <a:sysClr val="windowText" lastClr="000000"/>
                </a:solidFill>
                <a:effectLst/>
                <a:uLnTx/>
                <a:uFillTx/>
                <a:latin typeface="Yu Gothic"/>
                <a:cs typeface="Yu Gothic"/>
              </a:rPr>
              <a:t>つは破壊可能</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1179830" marR="0" lvl="2" indent="-252729" defTabSz="914400" eaLnBrk="1" fontAlgn="auto" latinLnBrk="0" hangingPunct="1">
              <a:lnSpc>
                <a:spcPct val="100000"/>
              </a:lnSpc>
              <a:spcBef>
                <a:spcPts val="300"/>
              </a:spcBef>
              <a:spcAft>
                <a:spcPts val="0"/>
              </a:spcAft>
              <a:buClrTx/>
              <a:buSzTx/>
              <a:buFont typeface="Arial MT"/>
              <a:buChar char="•"/>
              <a:tabLst>
                <a:tab pos="1179830" algn="l"/>
              </a:tabLst>
              <a:defRPr/>
            </a:pP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孫悟空</a:t>
            </a:r>
            <a:r>
              <a:rPr kumimoji="0" lang="en-US" altLang="ja-JP" sz="18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3000</a:t>
            </a:r>
            <a:r>
              <a:rPr kumimoji="0" lang="ja-JP" altLang="en-US" sz="1800" b="0" i="0" u="none" strike="noStrike" kern="0" cap="none" spc="-10"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キリ</a:t>
            </a:r>
            <a:r>
              <a:rPr kumimoji="0" lang="en-US" altLang="ja-JP" sz="1800" b="0" i="0" u="none" strike="noStrike" kern="0" cap="none" spc="-25" normalizeH="0" baseline="0" noProof="0" dirty="0">
                <a:ln>
                  <a:noFill/>
                </a:ln>
                <a:solidFill>
                  <a:sysClr val="windowText" lastClr="000000"/>
                </a:solidFill>
                <a:effectLst/>
                <a:uLnTx/>
                <a:uFillTx/>
                <a:latin typeface="Calibri"/>
                <a:cs typeface="Calibri"/>
              </a:rPr>
              <a:t>(</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超サイヤ人フルパワー</a:t>
            </a:r>
            <a:r>
              <a:rPr kumimoji="0" lang="en-US" altLang="ja-JP" sz="1800" b="0"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1800" b="0" i="0" u="none" strike="noStrike" kern="0" cap="none" spc="0" normalizeH="0" baseline="0" noProof="0" dirty="0">
              <a:ln>
                <a:noFill/>
              </a:ln>
              <a:solidFill>
                <a:sysClr val="windowText" lastClr="000000"/>
              </a:solidFill>
              <a:effectLst/>
              <a:uLnTx/>
              <a:uFillTx/>
              <a:latin typeface="Calibri"/>
              <a:cs typeface="Calibri"/>
            </a:endParaRPr>
          </a:p>
          <a:p>
            <a:pPr marL="1179830" marR="0" lvl="2" indent="-252729" defTabSz="914400" eaLnBrk="1" fontAlgn="auto" latinLnBrk="0" hangingPunct="1">
              <a:lnSpc>
                <a:spcPct val="100000"/>
              </a:lnSpc>
              <a:spcBef>
                <a:spcPts val="285"/>
              </a:spcBef>
              <a:spcAft>
                <a:spcPts val="0"/>
              </a:spcAft>
              <a:buClrTx/>
              <a:buSzTx/>
              <a:buFont typeface="Arial MT"/>
              <a:buChar char="•"/>
              <a:tabLst>
                <a:tab pos="1179830" algn="l"/>
              </a:tabLst>
              <a:defRPr/>
            </a:pP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ヤコン</a:t>
            </a:r>
            <a:r>
              <a:rPr kumimoji="0" lang="en-US" altLang="ja-JP" sz="18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1800" b="0" i="0" u="none" strike="noStrike" kern="0" cap="none" spc="0" normalizeH="0" baseline="0" noProof="0" dirty="0">
                <a:ln>
                  <a:noFill/>
                </a:ln>
                <a:solidFill>
                  <a:sysClr val="windowText" lastClr="000000"/>
                </a:solidFill>
                <a:effectLst/>
                <a:uLnTx/>
                <a:uFillTx/>
                <a:latin typeface="Calibri"/>
                <a:cs typeface="Calibri"/>
              </a:rPr>
              <a:t>800</a:t>
            </a:r>
            <a:r>
              <a:rPr kumimoji="0" lang="ja-JP" altLang="en-US" sz="1800" b="0" i="0" u="none" strike="noStrike" kern="0" cap="none" spc="-20" normalizeH="0" baseline="0" noProof="0" dirty="0">
                <a:ln>
                  <a:noFill/>
                </a:ln>
                <a:solidFill>
                  <a:sysClr val="windowText" lastClr="000000"/>
                </a:solidFill>
                <a:effectLst/>
                <a:uLnTx/>
                <a:uFillTx/>
                <a:latin typeface="Calibri"/>
                <a:cs typeface="Calibri"/>
              </a:rPr>
              <a:t> </a:t>
            </a:r>
            <a:r>
              <a:rPr kumimoji="0" lang="ja-JP" altLang="en-US" sz="1800" b="0" i="0" u="none" strike="noStrike" kern="0" cap="none" spc="-25" normalizeH="0" baseline="0" noProof="0" dirty="0">
                <a:ln>
                  <a:noFill/>
                </a:ln>
                <a:solidFill>
                  <a:sysClr val="windowText" lastClr="000000"/>
                </a:solidFill>
                <a:effectLst/>
                <a:uLnTx/>
                <a:uFillTx/>
                <a:latin typeface="Yu Gothic"/>
                <a:cs typeface="Yu Gothic"/>
              </a:rPr>
              <a:t>キリ</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831716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ja-JP" altLang="en-US" b="1" dirty="0">
                <a:latin typeface="Calibri (Headings)"/>
              </a:rPr>
              <a:t>種族</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93675" marR="0" lvl="0" indent="-180975" defTabSz="914400" eaLnBrk="1" fontAlgn="auto" latinLnBrk="0" hangingPunct="1">
              <a:lnSpc>
                <a:spcPts val="2135"/>
              </a:lnSpc>
              <a:spcBef>
                <a:spcPts val="100"/>
              </a:spcBef>
              <a:spcAft>
                <a:spcPts val="0"/>
              </a:spcAft>
              <a:buClrTx/>
              <a:buSzTx/>
              <a:buFont typeface="Arial MT"/>
              <a:buChar char="•"/>
              <a:tabLst>
                <a:tab pos="193675" algn="l"/>
              </a:tabLst>
              <a:defRPr/>
            </a:pPr>
            <a:r>
              <a:rPr kumimoji="0" lang="ja-JP" altLang="en-US" sz="1800" b="1" i="0" u="none" strike="noStrike" kern="0" cap="none" spc="-20" normalizeH="0" baseline="0" noProof="0" dirty="0">
                <a:ln>
                  <a:noFill/>
                </a:ln>
                <a:solidFill>
                  <a:sysClr val="windowText" lastClr="000000"/>
                </a:solidFill>
                <a:effectLst/>
                <a:uLnTx/>
                <a:uFillTx/>
                <a:latin typeface="Yu Gothic"/>
                <a:cs typeface="Yu Gothic"/>
              </a:rPr>
              <a:t>地球人</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636270" marR="0" lvl="1" indent="-166370" defTabSz="914400" eaLnBrk="1" fontAlgn="auto" latinLnBrk="0" hangingPunct="1">
              <a:lnSpc>
                <a:spcPts val="1760"/>
              </a:lnSpc>
              <a:spcBef>
                <a:spcPts val="0"/>
              </a:spcBef>
              <a:spcAft>
                <a:spcPts val="0"/>
              </a:spcAft>
              <a:buClrTx/>
              <a:buSzTx/>
              <a:buFont typeface="Arial MT"/>
              <a:buChar char="•"/>
              <a:tabLst>
                <a:tab pos="636270" algn="l"/>
              </a:tabLst>
              <a:defRPr/>
            </a:pP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人間型地球人</a:t>
            </a:r>
            <a:r>
              <a:rPr kumimoji="0" lang="en-US" altLang="ja-JP" sz="15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クリリン、ヤムチャ、亀仙人、天津飯</a:t>
            </a:r>
            <a:r>
              <a:rPr kumimoji="0" lang="en-US" altLang="ja-JP" sz="15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1500" b="0" i="0" u="none" strike="noStrike" kern="0" cap="none" spc="-5" normalizeH="0" baseline="0" noProof="0" dirty="0">
                <a:ln>
                  <a:noFill/>
                </a:ln>
                <a:solidFill>
                  <a:sysClr val="windowText" lastClr="000000"/>
                </a:solidFill>
                <a:effectLst/>
                <a:uLnTx/>
                <a:uFillTx/>
                <a:latin typeface="Yu Gothic"/>
                <a:cs typeface="Yu Gothic"/>
              </a:rPr>
              <a:t>厳密には三つ目人の末裔</a:t>
            </a:r>
            <a:r>
              <a:rPr kumimoji="0" lang="en-US" altLang="ja-JP" sz="1500" b="0" i="0" u="none" strike="noStrike" kern="0" cap="none" spc="0" normalizeH="0" baseline="0" noProof="0" dirty="0">
                <a:ln>
                  <a:noFill/>
                </a:ln>
                <a:solidFill>
                  <a:sysClr val="windowText" lastClr="000000"/>
                </a:solidFill>
                <a:effectLst/>
                <a:uLnTx/>
                <a:uFillTx/>
                <a:latin typeface="Calibri"/>
                <a:cs typeface="Calibri"/>
              </a:rPr>
              <a:t>) </a:t>
            </a:r>
            <a:r>
              <a:rPr kumimoji="0" lang="en-US" altLang="ja-JP" sz="1500" b="0" i="0" u="none" strike="noStrike" kern="0" cap="none" spc="-20" normalizeH="0" baseline="0" noProof="0" dirty="0">
                <a:ln>
                  <a:noFill/>
                </a:ln>
                <a:solidFill>
                  <a:sysClr val="windowText" lastClr="000000"/>
                </a:solidFill>
                <a:effectLst/>
                <a:uLnTx/>
                <a:uFillTx/>
                <a:latin typeface="Calibri"/>
                <a:cs typeface="Calibri"/>
              </a:rPr>
              <a:t>etc.</a:t>
            </a:r>
            <a:endParaRPr kumimoji="0" lang="ja-JP" altLang="en-US" sz="1500" b="0" i="0" u="none" strike="noStrike" kern="0" cap="none" spc="0" normalizeH="0" baseline="0" noProof="0" dirty="0">
              <a:ln>
                <a:noFill/>
              </a:ln>
              <a:solidFill>
                <a:sysClr val="windowText" lastClr="000000"/>
              </a:solidFill>
              <a:effectLst/>
              <a:uLnTx/>
              <a:uFillTx/>
              <a:latin typeface="Calibri"/>
              <a:cs typeface="Calibri"/>
            </a:endParaRPr>
          </a:p>
          <a:p>
            <a:pPr marL="636270" marR="0" lvl="1" indent="-166370" defTabSz="914400" eaLnBrk="1" fontAlgn="auto" latinLnBrk="0" hangingPunct="1">
              <a:lnSpc>
                <a:spcPts val="1764"/>
              </a:lnSpc>
              <a:spcBef>
                <a:spcPts val="0"/>
              </a:spcBef>
              <a:spcAft>
                <a:spcPts val="0"/>
              </a:spcAft>
              <a:buClrTx/>
              <a:buSzTx/>
              <a:buFont typeface="Arial MT"/>
              <a:buChar char="•"/>
              <a:tabLst>
                <a:tab pos="636270" algn="l"/>
              </a:tabLst>
              <a:defRPr/>
            </a:pPr>
            <a:r>
              <a:rPr kumimoji="0" lang="ja-JP" altLang="en-US" sz="1500" b="0" i="0" u="none" strike="noStrike" kern="0" cap="none" spc="-10" normalizeH="0" baseline="0" noProof="0" dirty="0">
                <a:ln>
                  <a:noFill/>
                </a:ln>
                <a:solidFill>
                  <a:sysClr val="windowText" lastClr="000000"/>
                </a:solidFill>
                <a:effectLst/>
                <a:uLnTx/>
                <a:uFillTx/>
                <a:latin typeface="Yu Gothic"/>
                <a:cs typeface="Yu Gothic"/>
              </a:rPr>
              <a:t>動物型地球人</a:t>
            </a:r>
            <a:r>
              <a:rPr kumimoji="0" lang="en-US" altLang="ja-JP" sz="15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500" b="0" i="0" u="none" strike="noStrike" kern="0" cap="none" spc="-15" normalizeH="0" baseline="0" noProof="0" dirty="0">
                <a:ln>
                  <a:noFill/>
                </a:ln>
                <a:solidFill>
                  <a:sysClr val="windowText" lastClr="000000"/>
                </a:solidFill>
                <a:effectLst/>
                <a:uLnTx/>
                <a:uFillTx/>
                <a:latin typeface="Yu Gothic"/>
                <a:cs typeface="Yu Gothic"/>
              </a:rPr>
              <a:t>カリン様、男狼、ギラン </a:t>
            </a:r>
            <a:r>
              <a:rPr kumimoji="0" lang="en-US" altLang="ja-JP" sz="1500" b="0" i="0" u="none" strike="noStrike" kern="0" cap="none" spc="-20" normalizeH="0" baseline="0" noProof="0" dirty="0">
                <a:ln>
                  <a:noFill/>
                </a:ln>
                <a:solidFill>
                  <a:sysClr val="windowText" lastClr="000000"/>
                </a:solidFill>
                <a:effectLst/>
                <a:uLnTx/>
                <a:uFillTx/>
                <a:latin typeface="Calibri"/>
                <a:cs typeface="Calibri"/>
              </a:rPr>
              <a:t>etc.</a:t>
            </a:r>
            <a:endParaRPr kumimoji="0" lang="ja-JP" altLang="en-US" sz="1500" b="0" i="0" u="none" strike="noStrike" kern="0" cap="none" spc="0" normalizeH="0" baseline="0" noProof="0" dirty="0">
              <a:ln>
                <a:noFill/>
              </a:ln>
              <a:solidFill>
                <a:sysClr val="windowText" lastClr="000000"/>
              </a:solidFill>
              <a:effectLst/>
              <a:uLnTx/>
              <a:uFillTx/>
              <a:latin typeface="Calibri"/>
              <a:cs typeface="Calibri"/>
            </a:endParaRPr>
          </a:p>
          <a:p>
            <a:pPr marL="636270" marR="0" lvl="1" indent="-166370" defTabSz="914400" eaLnBrk="1" fontAlgn="auto" latinLnBrk="0" hangingPunct="1">
              <a:lnSpc>
                <a:spcPts val="1785"/>
              </a:lnSpc>
              <a:spcBef>
                <a:spcPts val="0"/>
              </a:spcBef>
              <a:spcAft>
                <a:spcPts val="0"/>
              </a:spcAft>
              <a:buClrTx/>
              <a:buSzTx/>
              <a:buFont typeface="Arial MT"/>
              <a:buChar char="•"/>
              <a:tabLst>
                <a:tab pos="636270" algn="l"/>
              </a:tabLst>
              <a:defRPr/>
            </a:pP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人造人間</a:t>
            </a:r>
            <a:r>
              <a:rPr kumimoji="0" lang="en-US" altLang="ja-JP" sz="1500" b="0" i="0" u="none" strike="noStrike" kern="0" cap="none" spc="25" normalizeH="0" baseline="0" noProof="0" dirty="0">
                <a:ln>
                  <a:noFill/>
                </a:ln>
                <a:solidFill>
                  <a:sysClr val="windowText" lastClr="000000"/>
                </a:solidFill>
                <a:effectLst/>
                <a:uLnTx/>
                <a:uFillTx/>
                <a:latin typeface="Calibri"/>
                <a:cs typeface="Calibri"/>
              </a:rPr>
              <a:t>: </a:t>
            </a:r>
            <a:r>
              <a:rPr kumimoji="0" lang="en-US" altLang="ja-JP" sz="1500" b="0" i="0" u="none" strike="noStrike" kern="0" cap="none" spc="-25" normalizeH="0" baseline="0" noProof="0" dirty="0">
                <a:ln>
                  <a:noFill/>
                </a:ln>
                <a:solidFill>
                  <a:sysClr val="windowText" lastClr="000000"/>
                </a:solidFill>
                <a:effectLst/>
                <a:uLnTx/>
                <a:uFillTx/>
                <a:latin typeface="Calibri"/>
                <a:cs typeface="Calibri"/>
              </a:rPr>
              <a:t>8</a:t>
            </a: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号</a:t>
            </a:r>
            <a:r>
              <a:rPr kumimoji="0" lang="en-US" altLang="ja-JP" sz="15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ハッちゃん</a:t>
            </a:r>
            <a:r>
              <a:rPr kumimoji="0" lang="en-US" altLang="ja-JP" sz="15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a:t>
            </a:r>
            <a:r>
              <a:rPr kumimoji="0" lang="en-US" altLang="ja-JP" sz="1500" b="0" i="0" u="none" strike="noStrike" kern="0" cap="none" spc="-20" normalizeH="0" baseline="0" noProof="0" dirty="0">
                <a:ln>
                  <a:noFill/>
                </a:ln>
                <a:solidFill>
                  <a:sysClr val="windowText" lastClr="000000"/>
                </a:solidFill>
                <a:effectLst/>
                <a:uLnTx/>
                <a:uFillTx/>
                <a:latin typeface="Calibri"/>
                <a:cs typeface="Calibri"/>
              </a:rPr>
              <a:t>17</a:t>
            </a: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号、</a:t>
            </a:r>
            <a:r>
              <a:rPr kumimoji="0" lang="en-US" altLang="ja-JP" sz="1500" b="0" i="0" u="none" strike="noStrike" kern="0" cap="none" spc="-20" normalizeH="0" baseline="0" noProof="0" dirty="0">
                <a:ln>
                  <a:noFill/>
                </a:ln>
                <a:solidFill>
                  <a:sysClr val="windowText" lastClr="000000"/>
                </a:solidFill>
                <a:effectLst/>
                <a:uLnTx/>
                <a:uFillTx/>
                <a:latin typeface="Calibri"/>
                <a:cs typeface="Calibri"/>
              </a:rPr>
              <a:t>18</a:t>
            </a: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号、</a:t>
            </a:r>
            <a:r>
              <a:rPr kumimoji="0" lang="en-US" altLang="ja-JP" sz="1500" b="0" i="0" u="none" strike="noStrike" kern="0" cap="none" spc="-20" normalizeH="0" baseline="0" noProof="0" dirty="0">
                <a:ln>
                  <a:noFill/>
                </a:ln>
                <a:solidFill>
                  <a:sysClr val="windowText" lastClr="000000"/>
                </a:solidFill>
                <a:effectLst/>
                <a:uLnTx/>
                <a:uFillTx/>
                <a:latin typeface="Calibri"/>
                <a:cs typeface="Calibri"/>
              </a:rPr>
              <a:t>20</a:t>
            </a: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号</a:t>
            </a:r>
            <a:r>
              <a:rPr kumimoji="0" lang="en-US" altLang="ja-JP" sz="15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ドクター・ゲロ</a:t>
            </a:r>
            <a:r>
              <a:rPr kumimoji="0" lang="en-US" altLang="ja-JP" sz="15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1500" b="0" i="0" u="none" strike="noStrike" kern="0" cap="none" spc="-20" normalizeH="0" baseline="0" noProof="0" dirty="0">
                <a:ln>
                  <a:noFill/>
                </a:ln>
                <a:solidFill>
                  <a:sysClr val="windowText" lastClr="000000"/>
                </a:solidFill>
                <a:effectLst/>
                <a:uLnTx/>
                <a:uFillTx/>
                <a:latin typeface="Yu Gothic"/>
                <a:cs typeface="Yu Gothic"/>
              </a:rPr>
              <a:t>、セル</a:t>
            </a:r>
            <a:endParaRPr kumimoji="0" lang="ja-JP" altLang="en-US" sz="1500" b="0" i="0" u="none" strike="noStrike" kern="0" cap="none" spc="0" normalizeH="0" baseline="0" noProof="0" dirty="0">
              <a:ln>
                <a:noFill/>
              </a:ln>
              <a:solidFill>
                <a:sysClr val="windowText" lastClr="000000"/>
              </a:solidFill>
              <a:effectLst/>
              <a:uLnTx/>
              <a:uFillTx/>
              <a:latin typeface="Yu Gothic"/>
              <a:cs typeface="Yu Gothic"/>
            </a:endParaRPr>
          </a:p>
          <a:p>
            <a:pPr marL="1090930" marR="0" lvl="2" indent="-163830" defTabSz="914400" eaLnBrk="1" fontAlgn="auto" latinLnBrk="0" hangingPunct="1">
              <a:lnSpc>
                <a:spcPct val="100000"/>
              </a:lnSpc>
              <a:spcBef>
                <a:spcPts val="30"/>
              </a:spcBef>
              <a:spcAft>
                <a:spcPts val="0"/>
              </a:spcAft>
              <a:buClrTx/>
              <a:buSzTx/>
              <a:buFont typeface="Arial MT"/>
              <a:buChar char="•"/>
              <a:tabLst>
                <a:tab pos="1090930" algn="l"/>
              </a:tabLst>
              <a:defRPr/>
            </a:pPr>
            <a:r>
              <a:rPr kumimoji="0" lang="en-US" altLang="ja-JP" sz="1300" b="0" i="0" u="none" strike="noStrike" kern="0" cap="none" spc="0" normalizeH="0" baseline="0" noProof="0" dirty="0">
                <a:ln>
                  <a:noFill/>
                </a:ln>
                <a:solidFill>
                  <a:sysClr val="windowText" lastClr="000000"/>
                </a:solidFill>
                <a:effectLst/>
                <a:uLnTx/>
                <a:uFillTx/>
                <a:latin typeface="Calibri"/>
                <a:cs typeface="Calibri"/>
              </a:rPr>
              <a:t>13</a:t>
            </a:r>
            <a:r>
              <a:rPr kumimoji="0" lang="ja-JP" altLang="en-US" sz="1300" b="0" i="0" u="none" strike="noStrike" kern="0" cap="none" spc="65" normalizeH="0" baseline="0" noProof="0" dirty="0">
                <a:ln>
                  <a:noFill/>
                </a:ln>
                <a:solidFill>
                  <a:sysClr val="windowText" lastClr="000000"/>
                </a:solidFill>
                <a:effectLst/>
                <a:uLnTx/>
                <a:uFillTx/>
                <a:latin typeface="Calibri"/>
                <a:cs typeface="Calibri"/>
              </a:rPr>
              <a:t> </a:t>
            </a:r>
            <a:r>
              <a:rPr kumimoji="0" lang="en-US" altLang="ja-JP" sz="1300" b="0" i="0" u="none" strike="noStrike" kern="0" cap="none" spc="65" normalizeH="0" baseline="0" noProof="0" dirty="0">
                <a:ln>
                  <a:noFill/>
                </a:ln>
                <a:solidFill>
                  <a:sysClr val="windowText" lastClr="000000"/>
                </a:solidFill>
                <a:effectLst/>
                <a:uLnTx/>
                <a:uFillTx/>
                <a:latin typeface="Calibri"/>
                <a:cs typeface="Calibri"/>
              </a:rPr>
              <a:t>- </a:t>
            </a:r>
            <a:r>
              <a:rPr kumimoji="0" lang="en-US" altLang="ja-JP" sz="1300" b="0" i="0" u="none" strike="noStrike" kern="0" cap="none" spc="-10" normalizeH="0" baseline="0" noProof="0" dirty="0">
                <a:ln>
                  <a:noFill/>
                </a:ln>
                <a:solidFill>
                  <a:sysClr val="windowText" lastClr="000000"/>
                </a:solidFill>
                <a:effectLst/>
                <a:uLnTx/>
                <a:uFillTx/>
                <a:latin typeface="Calibri"/>
                <a:cs typeface="Calibri"/>
              </a:rPr>
              <a:t>15</a:t>
            </a:r>
            <a:r>
              <a:rPr kumimoji="0" lang="ja-JP" altLang="en-US" sz="1300" b="0" i="0" u="none" strike="noStrike" kern="0" cap="none" spc="-20" normalizeH="0" baseline="0" noProof="0" dirty="0">
                <a:ln>
                  <a:noFill/>
                </a:ln>
                <a:solidFill>
                  <a:sysClr val="windowText" lastClr="000000"/>
                </a:solidFill>
                <a:effectLst/>
                <a:uLnTx/>
                <a:uFillTx/>
                <a:latin typeface="Yu Gothic"/>
                <a:cs typeface="Yu Gothic"/>
              </a:rPr>
              <a:t>号、</a:t>
            </a:r>
            <a:r>
              <a:rPr kumimoji="0" lang="en-US" altLang="ja-JP" sz="1300" b="0" i="0" u="none" strike="noStrike" kern="0" cap="none" spc="-10" normalizeH="0" baseline="0" noProof="0" dirty="0">
                <a:ln>
                  <a:noFill/>
                </a:ln>
                <a:solidFill>
                  <a:sysClr val="windowText" lastClr="000000"/>
                </a:solidFill>
                <a:effectLst/>
                <a:uLnTx/>
                <a:uFillTx/>
                <a:latin typeface="Calibri"/>
                <a:cs typeface="Calibri"/>
              </a:rPr>
              <a:t>16</a:t>
            </a:r>
            <a:r>
              <a:rPr kumimoji="0" lang="ja-JP" altLang="en-US" sz="1300" b="0" i="0" u="none" strike="noStrike" kern="0" cap="none" spc="-20" normalizeH="0" baseline="0" noProof="0" dirty="0">
                <a:ln>
                  <a:noFill/>
                </a:ln>
                <a:solidFill>
                  <a:sysClr val="windowText" lastClr="000000"/>
                </a:solidFill>
                <a:effectLst/>
                <a:uLnTx/>
                <a:uFillTx/>
                <a:latin typeface="Yu Gothic"/>
                <a:cs typeface="Yu Gothic"/>
              </a:rPr>
              <a:t>号、</a:t>
            </a:r>
            <a:r>
              <a:rPr kumimoji="0" lang="en-US" altLang="ja-JP" sz="1300" b="0" i="0" u="none" strike="noStrike" kern="0" cap="none" spc="-10" normalizeH="0" baseline="0" noProof="0" dirty="0">
                <a:ln>
                  <a:noFill/>
                </a:ln>
                <a:solidFill>
                  <a:sysClr val="windowText" lastClr="000000"/>
                </a:solidFill>
                <a:effectLst/>
                <a:uLnTx/>
                <a:uFillTx/>
                <a:latin typeface="Calibri"/>
                <a:cs typeface="Calibri"/>
              </a:rPr>
              <a:t>19</a:t>
            </a:r>
            <a:r>
              <a:rPr kumimoji="0" lang="ja-JP" altLang="en-US" sz="1300" b="0" i="0" u="none" strike="noStrike" kern="0" cap="none" spc="-25" normalizeH="0" baseline="0" noProof="0" dirty="0">
                <a:ln>
                  <a:noFill/>
                </a:ln>
                <a:solidFill>
                  <a:sysClr val="windowText" lastClr="000000"/>
                </a:solidFill>
                <a:effectLst/>
                <a:uLnTx/>
                <a:uFillTx/>
                <a:latin typeface="Yu Gothic"/>
                <a:cs typeface="Yu Gothic"/>
              </a:rPr>
              <a:t>号は無から作られたサイボーグなのでカウントせず</a:t>
            </a:r>
            <a:endParaRPr kumimoji="0" lang="ja-JP" altLang="en-US" sz="1300" b="0" i="0" u="none" strike="noStrike" kern="0" cap="none" spc="0" normalizeH="0" baseline="0" noProof="0" dirty="0">
              <a:ln>
                <a:noFill/>
              </a:ln>
              <a:solidFill>
                <a:sysClr val="windowText" lastClr="000000"/>
              </a:solidFill>
              <a:effectLst/>
              <a:uLnTx/>
              <a:uFillTx/>
              <a:latin typeface="Yu Gothic"/>
              <a:cs typeface="Yu Gothic"/>
            </a:endParaRPr>
          </a:p>
          <a:p>
            <a:pPr marL="193675" marR="0" lvl="0" indent="-180975" defTabSz="914400" eaLnBrk="1" fontAlgn="auto" latinLnBrk="0" hangingPunct="1">
              <a:lnSpc>
                <a:spcPts val="2135"/>
              </a:lnSpc>
              <a:spcBef>
                <a:spcPts val="355"/>
              </a:spcBef>
              <a:spcAft>
                <a:spcPts val="0"/>
              </a:spcAft>
              <a:buClrTx/>
              <a:buSzTx/>
              <a:buFont typeface="Arial MT"/>
              <a:buChar char="•"/>
              <a:tabLst>
                <a:tab pos="193675" algn="l"/>
              </a:tabLst>
              <a:defRPr/>
            </a:pPr>
            <a:r>
              <a:rPr kumimoji="0" lang="ja-JP" altLang="en-US" sz="1800" b="1" i="0" u="none" strike="noStrike" kern="0" cap="none" spc="-20" normalizeH="0" baseline="0" noProof="0" dirty="0">
                <a:ln>
                  <a:noFill/>
                </a:ln>
                <a:solidFill>
                  <a:sysClr val="windowText" lastClr="000000"/>
                </a:solidFill>
                <a:effectLst/>
                <a:uLnTx/>
                <a:uFillTx/>
                <a:latin typeface="Yu Gothic"/>
                <a:cs typeface="Yu Gothic"/>
              </a:rPr>
              <a:t>宇宙人</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636270" marR="0" lvl="1" indent="-166370" defTabSz="914400" eaLnBrk="1" fontAlgn="auto" latinLnBrk="0" hangingPunct="1">
              <a:lnSpc>
                <a:spcPts val="1760"/>
              </a:lnSpc>
              <a:spcBef>
                <a:spcPts val="0"/>
              </a:spcBef>
              <a:spcAft>
                <a:spcPts val="0"/>
              </a:spcAft>
              <a:buClrTx/>
              <a:buSzTx/>
              <a:buFont typeface="Arial MT"/>
              <a:buChar char="•"/>
              <a:tabLst>
                <a:tab pos="636270" algn="l"/>
              </a:tabLst>
              <a:defRPr/>
            </a:pP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人間型宇宙人</a:t>
            </a:r>
            <a:r>
              <a:rPr kumimoji="0" lang="en-US" altLang="ja-JP" sz="1500" b="0" i="0" u="none" strike="noStrike" kern="0" cap="none" spc="0" normalizeH="0" baseline="0" noProof="0" dirty="0">
                <a:ln>
                  <a:noFill/>
                </a:ln>
                <a:solidFill>
                  <a:sysClr val="windowText" lastClr="000000"/>
                </a:solidFill>
                <a:effectLst/>
                <a:uLnTx/>
                <a:uFillTx/>
                <a:latin typeface="Calibri"/>
                <a:cs typeface="Calibri"/>
              </a:rPr>
              <a:t>: </a:t>
            </a: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サイヤ人</a:t>
            </a:r>
            <a:r>
              <a:rPr kumimoji="0" lang="en-US" altLang="ja-JP" sz="15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1500" b="0" i="0" u="none" strike="noStrike" kern="0" cap="none" spc="15" normalizeH="0" baseline="0" noProof="0" dirty="0">
                <a:ln>
                  <a:noFill/>
                </a:ln>
                <a:solidFill>
                  <a:sysClr val="windowText" lastClr="000000"/>
                </a:solidFill>
                <a:effectLst/>
                <a:uLnTx/>
                <a:uFillTx/>
                <a:latin typeface="Yu Gothic"/>
                <a:cs typeface="Yu Gothic"/>
              </a:rPr>
              <a:t>孫悟空、ベジータ、ナッパ、ラディッツ</a:t>
            </a:r>
            <a:r>
              <a:rPr kumimoji="0" lang="en-US" altLang="ja-JP" sz="1500" b="0" i="0" u="none" strike="noStrike" kern="0" cap="none" spc="-10" normalizeH="0" baseline="0" noProof="0" dirty="0">
                <a:ln>
                  <a:noFill/>
                </a:ln>
                <a:solidFill>
                  <a:sysClr val="windowText" lastClr="000000"/>
                </a:solidFill>
                <a:effectLst/>
                <a:uLnTx/>
                <a:uFillTx/>
                <a:latin typeface="Calibri"/>
                <a:cs typeface="Calibri"/>
              </a:rPr>
              <a:t>etc.)</a:t>
            </a:r>
            <a:r>
              <a:rPr kumimoji="0" lang="ja-JP" altLang="en-US" sz="1500" b="0" i="0" u="none" strike="noStrike" kern="0" cap="none" spc="-10" normalizeH="0" baseline="0" noProof="0" dirty="0">
                <a:ln>
                  <a:noFill/>
                </a:ln>
                <a:solidFill>
                  <a:sysClr val="windowText" lastClr="000000"/>
                </a:solidFill>
                <a:effectLst/>
                <a:uLnTx/>
                <a:uFillTx/>
                <a:latin typeface="Yu Gothic"/>
                <a:cs typeface="Yu Gothic"/>
              </a:rPr>
              <a:t>、リクーム</a:t>
            </a:r>
            <a:endParaRPr kumimoji="0" lang="ja-JP" altLang="en-US" sz="1500" b="0" i="0" u="none" strike="noStrike" kern="0" cap="none" spc="0" normalizeH="0" baseline="0" noProof="0" dirty="0">
              <a:ln>
                <a:noFill/>
              </a:ln>
              <a:solidFill>
                <a:sysClr val="windowText" lastClr="000000"/>
              </a:solidFill>
              <a:effectLst/>
              <a:uLnTx/>
              <a:uFillTx/>
              <a:latin typeface="Yu Gothic"/>
              <a:cs typeface="Yu Gothic"/>
            </a:endParaRPr>
          </a:p>
          <a:p>
            <a:pPr marL="636270" marR="0" lvl="1" indent="-166370" defTabSz="914400" eaLnBrk="1" fontAlgn="auto" latinLnBrk="0" hangingPunct="1">
              <a:lnSpc>
                <a:spcPts val="1764"/>
              </a:lnSpc>
              <a:spcBef>
                <a:spcPts val="0"/>
              </a:spcBef>
              <a:spcAft>
                <a:spcPts val="0"/>
              </a:spcAft>
              <a:buClrTx/>
              <a:buSzTx/>
              <a:buFont typeface="Arial MT"/>
              <a:buChar char="•"/>
              <a:tabLst>
                <a:tab pos="636270" algn="l"/>
              </a:tabLst>
              <a:defRPr/>
            </a:pP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非人間型宇宙人</a:t>
            </a:r>
            <a:r>
              <a:rPr kumimoji="0" lang="en-US" altLang="ja-JP" sz="15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ナメック星人</a:t>
            </a:r>
            <a:r>
              <a:rPr kumimoji="0" lang="en-US" altLang="ja-JP" sz="15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1500" b="0" i="0" u="none" strike="noStrike" kern="0" cap="none" spc="80" normalizeH="0" baseline="0" noProof="0" dirty="0">
                <a:ln>
                  <a:noFill/>
                </a:ln>
                <a:solidFill>
                  <a:sysClr val="windowText" lastClr="000000"/>
                </a:solidFill>
                <a:effectLst/>
                <a:uLnTx/>
                <a:uFillTx/>
                <a:latin typeface="Yu Gothic"/>
                <a:cs typeface="Yu Gothic"/>
              </a:rPr>
              <a:t>ピッコロ</a:t>
            </a:r>
            <a:r>
              <a:rPr kumimoji="0" lang="en-US" altLang="ja-JP" sz="1500" b="0" i="0" u="none" strike="noStrike" kern="0" cap="none" spc="-10" normalizeH="0" baseline="0" noProof="0" dirty="0">
                <a:ln>
                  <a:noFill/>
                </a:ln>
                <a:solidFill>
                  <a:sysClr val="windowText" lastClr="000000"/>
                </a:solidFill>
                <a:effectLst/>
                <a:uLnTx/>
                <a:uFillTx/>
                <a:latin typeface="Calibri"/>
                <a:cs typeface="Calibri"/>
              </a:rPr>
              <a:t>etc.)</a:t>
            </a:r>
            <a:r>
              <a:rPr kumimoji="0" lang="ja-JP" altLang="en-US" sz="1500" b="0" i="0" u="none" strike="noStrike" kern="0" cap="none" spc="-10" normalizeH="0" baseline="0" noProof="0" dirty="0">
                <a:ln>
                  <a:noFill/>
                </a:ln>
                <a:solidFill>
                  <a:sysClr val="windowText" lastClr="000000"/>
                </a:solidFill>
                <a:effectLst/>
                <a:uLnTx/>
                <a:uFillTx/>
                <a:latin typeface="Yu Gothic"/>
                <a:cs typeface="Yu Gothic"/>
              </a:rPr>
              <a:t>、キュイ、グルド、ドドリア </a:t>
            </a:r>
            <a:r>
              <a:rPr kumimoji="0" lang="en-US" altLang="ja-JP" sz="1500" b="0" i="0" u="none" strike="noStrike" kern="0" cap="none" spc="-20" normalizeH="0" baseline="0" noProof="0" dirty="0">
                <a:ln>
                  <a:noFill/>
                </a:ln>
                <a:solidFill>
                  <a:sysClr val="windowText" lastClr="000000"/>
                </a:solidFill>
                <a:effectLst/>
                <a:uLnTx/>
                <a:uFillTx/>
                <a:latin typeface="Calibri"/>
                <a:cs typeface="Calibri"/>
              </a:rPr>
              <a:t>etc.</a:t>
            </a:r>
            <a:endParaRPr kumimoji="0" lang="ja-JP" altLang="en-US" sz="1500" b="0" i="0" u="none" strike="noStrike" kern="0" cap="none" spc="0" normalizeH="0" baseline="0" noProof="0" dirty="0">
              <a:ln>
                <a:noFill/>
              </a:ln>
              <a:solidFill>
                <a:sysClr val="windowText" lastClr="000000"/>
              </a:solidFill>
              <a:effectLst/>
              <a:uLnTx/>
              <a:uFillTx/>
              <a:latin typeface="Calibri"/>
              <a:cs typeface="Calibri"/>
            </a:endParaRPr>
          </a:p>
          <a:p>
            <a:pPr marL="636270" marR="0" lvl="1" indent="-166370" defTabSz="914400" eaLnBrk="1" fontAlgn="auto" latinLnBrk="0" hangingPunct="1">
              <a:lnSpc>
                <a:spcPts val="1785"/>
              </a:lnSpc>
              <a:spcBef>
                <a:spcPts val="0"/>
              </a:spcBef>
              <a:spcAft>
                <a:spcPts val="0"/>
              </a:spcAft>
              <a:buClrTx/>
              <a:buSzTx/>
              <a:buFont typeface="Arial MT"/>
              <a:buChar char="•"/>
              <a:tabLst>
                <a:tab pos="636270" algn="l"/>
              </a:tabLst>
              <a:defRPr/>
            </a:pP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変身型宇宙人</a:t>
            </a:r>
            <a:r>
              <a:rPr kumimoji="0" lang="en-US" altLang="ja-JP" sz="15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1500" b="0" i="0" u="none" strike="noStrike" kern="0" cap="none" spc="-5" normalizeH="0" baseline="0" noProof="0" dirty="0">
                <a:ln>
                  <a:noFill/>
                </a:ln>
                <a:solidFill>
                  <a:sysClr val="windowText" lastClr="000000"/>
                </a:solidFill>
                <a:effectLst/>
                <a:uLnTx/>
                <a:uFillTx/>
                <a:latin typeface="Yu Gothic"/>
                <a:cs typeface="Yu Gothic"/>
              </a:rPr>
              <a:t>フリーザ、クウラ、ザーボン</a:t>
            </a:r>
            <a:endParaRPr kumimoji="0" lang="ja-JP" altLang="en-US" sz="1500" b="0" i="0" u="none" strike="noStrike" kern="0" cap="none" spc="0" normalizeH="0" baseline="0" noProof="0" dirty="0">
              <a:ln>
                <a:noFill/>
              </a:ln>
              <a:solidFill>
                <a:sysClr val="windowText" lastClr="000000"/>
              </a:solidFill>
              <a:effectLst/>
              <a:uLnTx/>
              <a:uFillTx/>
              <a:latin typeface="Yu Gothic"/>
              <a:cs typeface="Yu Gothic"/>
            </a:endParaRPr>
          </a:p>
          <a:p>
            <a:pPr marL="193675" marR="0" lvl="0" indent="-180975" defTabSz="914400" eaLnBrk="1" fontAlgn="auto" latinLnBrk="0" hangingPunct="1">
              <a:lnSpc>
                <a:spcPts val="2140"/>
              </a:lnSpc>
              <a:spcBef>
                <a:spcPts val="345"/>
              </a:spcBef>
              <a:spcAft>
                <a:spcPts val="0"/>
              </a:spcAft>
              <a:buClrTx/>
              <a:buSzTx/>
              <a:buFont typeface="Arial MT"/>
              <a:buChar char="•"/>
              <a:tabLst>
                <a:tab pos="193675" algn="l"/>
              </a:tabLst>
              <a:defRPr/>
            </a:pPr>
            <a:r>
              <a:rPr kumimoji="0" lang="ja-JP" altLang="en-US" sz="1800" b="1" i="0" u="none" strike="noStrike" kern="0" cap="none" spc="-25" normalizeH="0" baseline="0" noProof="0" dirty="0">
                <a:ln>
                  <a:noFill/>
                </a:ln>
                <a:solidFill>
                  <a:sysClr val="windowText" lastClr="000000"/>
                </a:solidFill>
                <a:effectLst/>
                <a:uLnTx/>
                <a:uFillTx/>
                <a:latin typeface="Yu Gothic"/>
                <a:cs typeface="Yu Gothic"/>
              </a:rPr>
              <a:t>魔族</a:t>
            </a:r>
            <a:endParaRPr kumimoji="0" lang="ja-JP" altLang="en-US" sz="1800" b="0" i="0" u="none" strike="noStrike" kern="0" cap="none" spc="0" normalizeH="0" baseline="0" noProof="0" dirty="0">
              <a:ln>
                <a:noFill/>
              </a:ln>
              <a:solidFill>
                <a:sysClr val="windowText" lastClr="000000"/>
              </a:solidFill>
              <a:effectLst/>
              <a:uLnTx/>
              <a:uFillTx/>
              <a:latin typeface="Yu Gothic"/>
              <a:cs typeface="Yu Gothic"/>
            </a:endParaRPr>
          </a:p>
          <a:p>
            <a:pPr marL="636270" marR="0" lvl="1" indent="-166370" defTabSz="914400" eaLnBrk="1" fontAlgn="auto" latinLnBrk="0" hangingPunct="1">
              <a:lnSpc>
                <a:spcPts val="1760"/>
              </a:lnSpc>
              <a:spcBef>
                <a:spcPts val="0"/>
              </a:spcBef>
              <a:spcAft>
                <a:spcPts val="0"/>
              </a:spcAft>
              <a:buClrTx/>
              <a:buSzTx/>
              <a:buFont typeface="Arial MT"/>
              <a:buChar char="•"/>
              <a:tabLst>
                <a:tab pos="636270" algn="l"/>
              </a:tabLst>
              <a:defRPr/>
            </a:pPr>
            <a:r>
              <a:rPr kumimoji="0" lang="ja-JP" altLang="en-US" sz="1500" b="0" i="0" u="none" strike="noStrike" kern="0" cap="none" spc="0" normalizeH="0" baseline="0" noProof="0" dirty="0">
                <a:ln>
                  <a:noFill/>
                </a:ln>
                <a:solidFill>
                  <a:sysClr val="windowText" lastClr="000000"/>
                </a:solidFill>
                <a:effectLst/>
                <a:uLnTx/>
                <a:uFillTx/>
                <a:latin typeface="Yu Gothic"/>
                <a:cs typeface="Yu Gothic"/>
              </a:rPr>
              <a:t>魔凶星出身との触れ込みだが、ピッコロ大魔王のように地球出身者もいるため、地球人</a:t>
            </a:r>
            <a:r>
              <a:rPr kumimoji="0" lang="en-US" altLang="ja-JP" sz="1500" b="0" i="0" u="none" strike="noStrike" kern="0" cap="none" spc="-10" normalizeH="0" baseline="0" noProof="0" dirty="0">
                <a:ln>
                  <a:noFill/>
                </a:ln>
                <a:solidFill>
                  <a:sysClr val="windowText" lastClr="000000"/>
                </a:solidFill>
                <a:effectLst/>
                <a:uLnTx/>
                <a:uFillTx/>
                <a:latin typeface="Calibri"/>
                <a:cs typeface="Calibri"/>
              </a:rPr>
              <a:t>/</a:t>
            </a:r>
            <a:r>
              <a:rPr kumimoji="0" lang="ja-JP" altLang="en-US" sz="1500" b="0" i="0" u="none" strike="noStrike" kern="0" cap="none" spc="-5" normalizeH="0" baseline="0" noProof="0" dirty="0">
                <a:ln>
                  <a:noFill/>
                </a:ln>
                <a:solidFill>
                  <a:sysClr val="windowText" lastClr="000000"/>
                </a:solidFill>
                <a:effectLst/>
                <a:uLnTx/>
                <a:uFillTx/>
                <a:latin typeface="Yu Gothic"/>
                <a:cs typeface="Yu Gothic"/>
              </a:rPr>
              <a:t>宇宙人の区別は難しい</a:t>
            </a:r>
            <a:endParaRPr kumimoji="0" lang="ja-JP" altLang="en-US" sz="1500" b="0" i="0" u="none" strike="noStrike" kern="0" cap="none" spc="0" normalizeH="0" baseline="0" noProof="0" dirty="0">
              <a:ln>
                <a:noFill/>
              </a:ln>
              <a:solidFill>
                <a:sysClr val="windowText" lastClr="000000"/>
              </a:solidFill>
              <a:effectLst/>
              <a:uLnTx/>
              <a:uFillTx/>
              <a:latin typeface="Yu Gothic"/>
              <a:cs typeface="Yu Gothic"/>
            </a:endParaRPr>
          </a:p>
          <a:p>
            <a:pPr marL="636270" marR="0" lvl="1" indent="-166370" defTabSz="914400" eaLnBrk="1" fontAlgn="auto" latinLnBrk="0" hangingPunct="1">
              <a:lnSpc>
                <a:spcPts val="1760"/>
              </a:lnSpc>
              <a:spcBef>
                <a:spcPts val="0"/>
              </a:spcBef>
              <a:spcAft>
                <a:spcPts val="0"/>
              </a:spcAft>
              <a:buClrTx/>
              <a:buSzTx/>
              <a:buFont typeface="Arial MT"/>
              <a:buChar char="•"/>
              <a:tabLst>
                <a:tab pos="636270" algn="l"/>
              </a:tabLst>
              <a:defRPr/>
            </a:pPr>
            <a:r>
              <a:rPr kumimoji="0" lang="ja-JP" altLang="en-US" sz="1500" b="0" i="0" u="none" strike="noStrike" kern="0" cap="none" spc="-5" normalizeH="0" baseline="0" noProof="0" dirty="0">
                <a:ln>
                  <a:noFill/>
                </a:ln>
                <a:solidFill>
                  <a:sysClr val="windowText" lastClr="000000"/>
                </a:solidFill>
                <a:effectLst/>
                <a:uLnTx/>
                <a:uFillTx/>
                <a:latin typeface="Yu Gothic"/>
                <a:cs typeface="Yu Gothic"/>
              </a:rPr>
              <a:t>肉体は、生まれながらに成体か、もしくは成長速度が著しく速い</a:t>
            </a:r>
            <a:endParaRPr kumimoji="0" lang="ja-JP" altLang="en-US" sz="1500" b="0" i="0" u="none" strike="noStrike" kern="0" cap="none" spc="0" normalizeH="0" baseline="0" noProof="0" dirty="0">
              <a:ln>
                <a:noFill/>
              </a:ln>
              <a:solidFill>
                <a:sysClr val="windowText" lastClr="000000"/>
              </a:solidFill>
              <a:effectLst/>
              <a:uLnTx/>
              <a:uFillTx/>
              <a:latin typeface="Yu Gothic"/>
              <a:cs typeface="Yu Gothic"/>
            </a:endParaRPr>
          </a:p>
          <a:p>
            <a:pPr marL="636270" marR="0" lvl="1" indent="-166370" defTabSz="914400" eaLnBrk="1" fontAlgn="auto" latinLnBrk="0" hangingPunct="1">
              <a:lnSpc>
                <a:spcPts val="1780"/>
              </a:lnSpc>
              <a:spcBef>
                <a:spcPts val="0"/>
              </a:spcBef>
              <a:spcAft>
                <a:spcPts val="0"/>
              </a:spcAft>
              <a:buClrTx/>
              <a:buSzTx/>
              <a:buFont typeface="Arial MT"/>
              <a:buChar char="•"/>
              <a:tabLst>
                <a:tab pos="636270" algn="l"/>
              </a:tabLst>
              <a:defRPr/>
            </a:pPr>
            <a:r>
              <a:rPr kumimoji="0" lang="ja-JP" altLang="en-US" sz="1500" b="0" i="0" u="none" strike="noStrike" kern="0" cap="none" spc="-5" normalizeH="0" baseline="0" noProof="0" dirty="0">
                <a:ln>
                  <a:noFill/>
                </a:ln>
                <a:solidFill>
                  <a:sysClr val="windowText" lastClr="000000"/>
                </a:solidFill>
                <a:effectLst/>
                <a:uLnTx/>
                <a:uFillTx/>
                <a:latin typeface="Yu Gothic"/>
                <a:cs typeface="Yu Gothic"/>
              </a:rPr>
              <a:t>魔族に殺された者の魂はあの世へ行かず、成仏できずに空中を漂い苦しみ続ける</a:t>
            </a:r>
            <a:endParaRPr kumimoji="0" lang="ja-JP" altLang="en-US" sz="1500" b="0" i="0" u="none" strike="noStrike" kern="0" cap="none" spc="0" normalizeH="0" baseline="0" noProof="0" dirty="0">
              <a:ln>
                <a:noFill/>
              </a:ln>
              <a:solidFill>
                <a:sysClr val="windowText" lastClr="000000"/>
              </a:solidFill>
              <a:effectLst/>
              <a:uLnTx/>
              <a:uFillTx/>
              <a:latin typeface="Yu Gothic"/>
              <a:cs typeface="Yu Gothic"/>
            </a:endParaRPr>
          </a:p>
          <a:p>
            <a:pPr marL="12700" marR="363220" lvl="0" indent="0" defTabSz="914400" eaLnBrk="1" fontAlgn="auto" latinLnBrk="0" hangingPunct="1">
              <a:lnSpc>
                <a:spcPct val="116100"/>
              </a:lnSpc>
              <a:spcBef>
                <a:spcPts val="1770"/>
              </a:spcBef>
              <a:spcAft>
                <a:spcPts val="0"/>
              </a:spcAft>
              <a:buClrTx/>
              <a:buSzTx/>
              <a:buFontTx/>
              <a:buNone/>
              <a:tabLst/>
              <a:defRPr/>
            </a:pP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このうち、人間型同士は交配によって子孫</a:t>
            </a:r>
            <a:r>
              <a:rPr kumimoji="0" lang="en-US" altLang="ja-JP" sz="1800" b="0" i="0" u="none" strike="noStrike" kern="0" cap="none" spc="-25" normalizeH="0" baseline="0" noProof="0" dirty="0">
                <a:ln>
                  <a:noFill/>
                </a:ln>
                <a:solidFill>
                  <a:sysClr val="windowText" lastClr="000000"/>
                </a:solidFill>
                <a:effectLst/>
                <a:uLnTx/>
                <a:uFillTx/>
                <a:latin typeface="Calibri"/>
                <a:cs typeface="Calibri"/>
              </a:rPr>
              <a:t>(</a:t>
            </a:r>
            <a:r>
              <a:rPr kumimoji="0" lang="ja-JP" altLang="en-US" sz="1800" b="0" i="0" u="none" strike="noStrike" kern="0" cap="none" spc="30" normalizeH="0" baseline="0" noProof="0" dirty="0">
                <a:ln>
                  <a:noFill/>
                </a:ln>
                <a:solidFill>
                  <a:sysClr val="windowText" lastClr="000000"/>
                </a:solidFill>
                <a:effectLst/>
                <a:uLnTx/>
                <a:uFillTx/>
                <a:latin typeface="Yu Gothic"/>
                <a:cs typeface="Yu Gothic"/>
              </a:rPr>
              <a:t>孫悟飯、孫悟天、トランクス</a:t>
            </a:r>
            <a:r>
              <a:rPr kumimoji="0" lang="en-US" altLang="ja-JP" sz="1800" b="0" i="0" u="none" strike="noStrike" kern="0" cap="none" spc="-25" normalizeH="0" baseline="0" noProof="0" dirty="0">
                <a:ln>
                  <a:noFill/>
                </a:ln>
                <a:solidFill>
                  <a:sysClr val="windowText" lastClr="000000"/>
                </a:solidFill>
                <a:effectLst/>
                <a:uLnTx/>
                <a:uFillTx/>
                <a:latin typeface="Calibri"/>
                <a:cs typeface="Calibri"/>
              </a:rPr>
              <a:t>etc.)</a:t>
            </a:r>
            <a:r>
              <a:rPr kumimoji="0" lang="ja-JP" altLang="en-US" sz="1800" b="0" i="0" u="none" strike="noStrike" kern="0" cap="none" spc="-10" normalizeH="0" baseline="0" noProof="0" dirty="0">
                <a:ln>
                  <a:noFill/>
                </a:ln>
                <a:solidFill>
                  <a:sysClr val="windowText" lastClr="000000"/>
                </a:solidFill>
                <a:effectLst/>
                <a:uLnTx/>
                <a:uFillTx/>
                <a:latin typeface="Yu Gothic"/>
                <a:cs typeface="Yu Gothic"/>
              </a:rPr>
              <a:t>を残すことが可能</a:t>
            </a:r>
            <a:r>
              <a:rPr kumimoji="0" lang="ja-JP" altLang="en-US" sz="1800" b="0" i="0" u="none" strike="noStrike" kern="0" cap="none" spc="-50" normalizeH="0" baseline="0" noProof="0" dirty="0">
                <a:ln>
                  <a:noFill/>
                </a:ln>
                <a:solidFill>
                  <a:sysClr val="windowText" lastClr="000000"/>
                </a:solidFill>
                <a:effectLst/>
                <a:uLnTx/>
                <a:uFillTx/>
                <a:latin typeface="Yu Gothic"/>
                <a:cs typeface="Yu Gothic"/>
              </a:rPr>
              <a:t> </a:t>
            </a:r>
            <a:r>
              <a:rPr kumimoji="0" lang="en-US" altLang="ja-JP" sz="1800" b="0" i="0" u="none" strike="noStrike" kern="0" cap="none" spc="-20" normalizeH="0" baseline="0" noProof="0" dirty="0">
                <a:ln>
                  <a:noFill/>
                </a:ln>
                <a:solidFill>
                  <a:sysClr val="windowText" lastClr="000000"/>
                </a:solidFill>
                <a:effectLst/>
                <a:uLnTx/>
                <a:uFillTx/>
                <a:latin typeface="Calibri"/>
                <a:cs typeface="Calibri"/>
              </a:rPr>
              <a:t>(17</a:t>
            </a:r>
            <a:r>
              <a:rPr kumimoji="0" lang="ja-JP" altLang="en-US" sz="1800" b="0" i="0" u="none" strike="noStrike" kern="0" cap="none" spc="-5" normalizeH="0" baseline="0" noProof="0" dirty="0">
                <a:ln>
                  <a:noFill/>
                </a:ln>
                <a:solidFill>
                  <a:sysClr val="windowText" lastClr="000000"/>
                </a:solidFill>
                <a:effectLst/>
                <a:uLnTx/>
                <a:uFillTx/>
                <a:latin typeface="Yu Gothic"/>
                <a:cs typeface="Yu Gothic"/>
              </a:rPr>
              <a:t>号と</a:t>
            </a:r>
            <a:r>
              <a:rPr kumimoji="0" lang="en-US" altLang="ja-JP" sz="1800" b="0" i="0" u="none" strike="noStrike" kern="0" cap="none" spc="-20" normalizeH="0" baseline="0" noProof="0" dirty="0">
                <a:ln>
                  <a:noFill/>
                </a:ln>
                <a:solidFill>
                  <a:sysClr val="windowText" lastClr="000000"/>
                </a:solidFill>
                <a:effectLst/>
                <a:uLnTx/>
                <a:uFillTx/>
                <a:latin typeface="Calibri"/>
                <a:cs typeface="Calibri"/>
              </a:rPr>
              <a:t>18</a:t>
            </a:r>
            <a:r>
              <a:rPr kumimoji="0" lang="ja-JP" altLang="en-US" sz="1800" b="0" i="0" u="none" strike="noStrike" kern="0" cap="none" spc="0" normalizeH="0" baseline="0" noProof="0" dirty="0">
                <a:ln>
                  <a:noFill/>
                </a:ln>
                <a:solidFill>
                  <a:sysClr val="windowText" lastClr="000000"/>
                </a:solidFill>
                <a:effectLst/>
                <a:uLnTx/>
                <a:uFillTx/>
                <a:latin typeface="Yu Gothic"/>
                <a:cs typeface="Yu Gothic"/>
              </a:rPr>
              <a:t>号は元々人間なので生殖能力あり</a:t>
            </a:r>
            <a:r>
              <a:rPr kumimoji="0" lang="en-US" altLang="ja-JP" sz="1800" b="0"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1800" b="0" i="0" u="none" strike="noStrike" kern="0" cap="none" spc="0" normalizeH="0" baseline="0" noProof="0" dirty="0">
              <a:ln>
                <a:noFill/>
              </a:ln>
              <a:solidFill>
                <a:sysClr val="windowText" lastClr="000000"/>
              </a:solidFill>
              <a:effectLst/>
              <a:uLnTx/>
              <a:uFillTx/>
              <a:latin typeface="Calibri"/>
              <a:cs typeface="Calibri"/>
            </a:endParaRPr>
          </a:p>
        </p:txBody>
      </p:sp>
    </p:spTree>
    <p:extLst>
      <p:ext uri="{BB962C8B-B14F-4D97-AF65-F5344CB8AC3E}">
        <p14:creationId xmlns:p14="http://schemas.microsoft.com/office/powerpoint/2010/main" val="3361320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ja-JP" altLang="en-US" b="1" dirty="0">
                <a:latin typeface="Calibri (Headings)"/>
              </a:rPr>
              <a:t>サイヤ人の形態</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280670" marR="5080" lvl="0" indent="-268605" defTabSz="914400" eaLnBrk="1" fontAlgn="auto" latinLnBrk="0" hangingPunct="1">
              <a:lnSpc>
                <a:spcPct val="70000"/>
              </a:lnSpc>
              <a:spcBef>
                <a:spcPts val="885"/>
              </a:spcBef>
              <a:spcAft>
                <a:spcPts val="0"/>
              </a:spcAft>
              <a:buClrTx/>
              <a:buSzTx/>
              <a:buFont typeface="Arial MT"/>
              <a:buChar char="•"/>
              <a:tabLst>
                <a:tab pos="280670" algn="l"/>
              </a:tabLst>
              <a:defRPr/>
            </a:pPr>
            <a:r>
              <a:rPr kumimoji="0" lang="ja-JP" altLang="en-US" sz="2200" b="1" i="0" u="none" strike="noStrike" kern="0" cap="none" spc="-35" normalizeH="0" baseline="0" noProof="0" dirty="0">
                <a:ln>
                  <a:noFill/>
                </a:ln>
                <a:solidFill>
                  <a:sysClr val="windowText" lastClr="000000"/>
                </a:solidFill>
                <a:effectLst/>
                <a:uLnTx/>
                <a:uFillTx/>
                <a:latin typeface="Yu Gothic"/>
                <a:cs typeface="Yu Gothic"/>
              </a:rPr>
              <a:t>ノーマル形態</a:t>
            </a:r>
            <a:r>
              <a:rPr kumimoji="0" lang="en-US" altLang="ja-JP" sz="2200" b="0" i="0" u="none" strike="noStrike" kern="0" cap="none" spc="0" normalizeH="0" baseline="0" noProof="0" dirty="0">
                <a:ln>
                  <a:noFill/>
                </a:ln>
                <a:solidFill>
                  <a:sysClr val="windowText" lastClr="000000"/>
                </a:solidFill>
                <a:effectLst/>
                <a:uLnTx/>
                <a:uFillTx/>
                <a:latin typeface="Calibri"/>
                <a:cs typeface="Calibri"/>
              </a:rPr>
              <a:t>: </a:t>
            </a:r>
            <a:r>
              <a:rPr kumimoji="0" lang="ja-JP" altLang="en-US" sz="2200" b="0" i="0" u="none" strike="noStrike" kern="0" cap="none" spc="-30" normalizeH="0" baseline="0" noProof="0" dirty="0">
                <a:ln>
                  <a:noFill/>
                </a:ln>
                <a:solidFill>
                  <a:sysClr val="windowText" lastClr="000000"/>
                </a:solidFill>
                <a:effectLst/>
                <a:uLnTx/>
                <a:uFillTx/>
                <a:latin typeface="Yu Gothic"/>
                <a:cs typeface="Yu Gothic"/>
              </a:rPr>
              <a:t>いわゆる通常時。悟空やベジータらは戦闘力を</a:t>
            </a:r>
            <a:r>
              <a:rPr kumimoji="0" lang="en-US" altLang="ja-JP" sz="2200" b="0" i="0" u="none" strike="noStrike" kern="0" cap="none" spc="0" normalizeH="0" baseline="0" noProof="0" dirty="0">
                <a:ln>
                  <a:noFill/>
                </a:ln>
                <a:solidFill>
                  <a:sysClr val="windowText" lastClr="000000"/>
                </a:solidFill>
                <a:effectLst/>
                <a:uLnTx/>
                <a:uFillTx/>
                <a:latin typeface="Calibri"/>
                <a:cs typeface="Calibri"/>
              </a:rPr>
              <a:t>0</a:t>
            </a: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からフルパワーまで自在にコントロール可能。</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ts val="2550"/>
              </a:lnSpc>
              <a:spcBef>
                <a:spcPts val="210"/>
              </a:spcBef>
              <a:spcAft>
                <a:spcPts val="0"/>
              </a:spcAft>
              <a:buClrTx/>
              <a:buSzTx/>
              <a:buFont typeface="Arial MT"/>
              <a:buChar char="•"/>
              <a:tabLst>
                <a:tab pos="280670" algn="l"/>
              </a:tabLst>
              <a:defRPr/>
            </a:pPr>
            <a:r>
              <a:rPr kumimoji="0" lang="ja-JP" altLang="en-US" sz="2200" b="1" i="0" u="none" strike="noStrike" kern="0" cap="none" spc="-35" normalizeH="0" baseline="0" noProof="0" dirty="0">
                <a:ln>
                  <a:noFill/>
                </a:ln>
                <a:solidFill>
                  <a:sysClr val="windowText" lastClr="000000"/>
                </a:solidFill>
                <a:effectLst/>
                <a:uLnTx/>
                <a:uFillTx/>
                <a:latin typeface="Yu Gothic"/>
                <a:cs typeface="Yu Gothic"/>
              </a:rPr>
              <a:t>超サイヤ人</a:t>
            </a:r>
            <a:r>
              <a:rPr kumimoji="0" lang="en-US" altLang="ja-JP" sz="2200" b="1" i="0" u="none" strike="noStrike" kern="0" cap="none" spc="-25" normalizeH="0" baseline="0" noProof="0" dirty="0">
                <a:ln>
                  <a:noFill/>
                </a:ln>
                <a:solidFill>
                  <a:sysClr val="windowText" lastClr="000000"/>
                </a:solidFill>
                <a:effectLst/>
                <a:uLnTx/>
                <a:uFillTx/>
                <a:latin typeface="Calibri"/>
                <a:cs typeface="Calibri"/>
              </a:rPr>
              <a:t>1:</a:t>
            </a:r>
            <a:endParaRPr kumimoji="0" lang="ja-JP" altLang="en-US" sz="2200" b="0" i="0" u="none" strike="noStrike" kern="0" cap="none" spc="0" normalizeH="0" baseline="0" noProof="0" dirty="0">
              <a:ln>
                <a:noFill/>
              </a:ln>
              <a:solidFill>
                <a:sysClr val="windowText" lastClr="000000"/>
              </a:solidFill>
              <a:effectLst/>
              <a:uLnTx/>
              <a:uFillTx/>
              <a:latin typeface="Calibri"/>
              <a:cs typeface="Calibri"/>
            </a:endParaRPr>
          </a:p>
          <a:p>
            <a:pPr marL="730250" marR="0" lvl="1" indent="-260350" defTabSz="914400" eaLnBrk="1" fontAlgn="auto" latinLnBrk="0" hangingPunct="1">
              <a:lnSpc>
                <a:spcPts val="2095"/>
              </a:lnSpc>
              <a:spcBef>
                <a:spcPts val="0"/>
              </a:spcBef>
              <a:spcAft>
                <a:spcPts val="0"/>
              </a:spcAft>
              <a:buClrTx/>
              <a:buSzTx/>
              <a:buFont typeface="Arial MT"/>
              <a:buChar char="•"/>
              <a:tabLst>
                <a:tab pos="730250" algn="l"/>
              </a:tabLst>
              <a:defRPr/>
            </a:pPr>
            <a:r>
              <a:rPr kumimoji="0" lang="ja-JP" altLang="en-US" sz="1900" b="0" i="0" u="none" strike="noStrike" kern="0" cap="none" spc="-25" normalizeH="0" baseline="0" noProof="0" dirty="0">
                <a:ln>
                  <a:noFill/>
                </a:ln>
                <a:solidFill>
                  <a:sysClr val="windowText" lastClr="000000"/>
                </a:solidFill>
                <a:effectLst/>
                <a:uLnTx/>
                <a:uFillTx/>
                <a:latin typeface="Yu Gothic"/>
                <a:cs typeface="Yu Gothic"/>
              </a:rPr>
              <a:t>第一段階</a:t>
            </a:r>
            <a:r>
              <a:rPr kumimoji="0" lang="en-US" altLang="ja-JP" sz="1900" b="0" i="0" u="none" strike="noStrike" kern="0" cap="none" spc="85" normalizeH="0" baseline="0" noProof="0" dirty="0">
                <a:ln>
                  <a:noFill/>
                </a:ln>
                <a:solidFill>
                  <a:sysClr val="windowText" lastClr="000000"/>
                </a:solidFill>
                <a:effectLst/>
                <a:uLnTx/>
                <a:uFillTx/>
                <a:latin typeface="Calibri"/>
                <a:cs typeface="Calibri"/>
              </a:rPr>
              <a:t>: </a:t>
            </a:r>
            <a:r>
              <a:rPr kumimoji="0" lang="ja-JP" altLang="en-US" sz="1900" b="0" i="0" u="none" strike="noStrike" kern="0" cap="none" spc="-25" normalizeH="0" baseline="0" noProof="0" dirty="0">
                <a:ln>
                  <a:noFill/>
                </a:ln>
                <a:solidFill>
                  <a:sysClr val="windowText" lastClr="000000"/>
                </a:solidFill>
                <a:effectLst/>
                <a:uLnTx/>
                <a:uFillTx/>
                <a:latin typeface="Yu Gothic"/>
                <a:cs typeface="Yu Gothic"/>
              </a:rPr>
              <a:t>覚醒したての興奮状態にある形態。</a:t>
            </a:r>
            <a:r>
              <a:rPr kumimoji="0" lang="ja-JP" altLang="en-US" sz="1900" b="1" i="0" u="none" strike="noStrike" kern="0" cap="none" spc="-25" normalizeH="0" baseline="0" noProof="0" dirty="0">
                <a:ln>
                  <a:noFill/>
                </a:ln>
                <a:solidFill>
                  <a:sysClr val="windowText" lastClr="000000"/>
                </a:solidFill>
                <a:effectLst/>
                <a:uLnTx/>
                <a:uFillTx/>
                <a:latin typeface="Yu Gothic"/>
                <a:cs typeface="Yu Gothic"/>
              </a:rPr>
              <a:t>通常時の</a:t>
            </a:r>
            <a:r>
              <a:rPr kumimoji="0" lang="en-US" altLang="ja-JP" sz="1900" b="1" i="0" u="none" strike="noStrike" kern="0" cap="none" spc="-10" normalizeH="0" baseline="0" noProof="0" dirty="0">
                <a:ln>
                  <a:noFill/>
                </a:ln>
                <a:solidFill>
                  <a:sysClr val="windowText" lastClr="000000"/>
                </a:solidFill>
                <a:effectLst/>
                <a:uLnTx/>
                <a:uFillTx/>
                <a:latin typeface="Calibri"/>
                <a:cs typeface="Calibri"/>
              </a:rPr>
              <a:t>50</a:t>
            </a:r>
            <a:r>
              <a:rPr kumimoji="0" lang="ja-JP" altLang="en-US" sz="1900" b="1" i="0" u="none" strike="noStrike" kern="0" cap="none" spc="-25" normalizeH="0" baseline="0" noProof="0" dirty="0">
                <a:ln>
                  <a:noFill/>
                </a:ln>
                <a:solidFill>
                  <a:sysClr val="windowText" lastClr="000000"/>
                </a:solidFill>
                <a:effectLst/>
                <a:uLnTx/>
                <a:uFillTx/>
                <a:latin typeface="Yu Gothic"/>
                <a:cs typeface="Yu Gothic"/>
              </a:rPr>
              <a:t>倍</a:t>
            </a:r>
            <a:r>
              <a:rPr kumimoji="0" lang="ja-JP" altLang="en-US" sz="1900" b="0" i="0" u="none" strike="noStrike" kern="0" cap="none" spc="-30" normalizeH="0" baseline="0" noProof="0" dirty="0">
                <a:ln>
                  <a:noFill/>
                </a:ln>
                <a:solidFill>
                  <a:sysClr val="windowText" lastClr="000000"/>
                </a:solidFill>
                <a:effectLst/>
                <a:uLnTx/>
                <a:uFillTx/>
                <a:latin typeface="Yu Gothic"/>
                <a:cs typeface="Yu Gothic"/>
              </a:rPr>
              <a:t>の戦闘力。</a:t>
            </a:r>
            <a:endParaRPr kumimoji="0" lang="ja-JP" altLang="en-US" sz="1900" b="0" i="0" u="none" strike="noStrike" kern="0" cap="none" spc="0" normalizeH="0" baseline="0" noProof="0" dirty="0">
              <a:ln>
                <a:noFill/>
              </a:ln>
              <a:solidFill>
                <a:sysClr val="windowText" lastClr="000000"/>
              </a:solidFill>
              <a:effectLst/>
              <a:uLnTx/>
              <a:uFillTx/>
              <a:latin typeface="Yu Gothic"/>
              <a:cs typeface="Yu Gothic"/>
            </a:endParaRPr>
          </a:p>
          <a:p>
            <a:pPr marL="730250" marR="24130" lvl="1" indent="-260985" defTabSz="914400" eaLnBrk="1" fontAlgn="auto" latinLnBrk="0" hangingPunct="1">
              <a:lnSpc>
                <a:spcPct val="70000"/>
              </a:lnSpc>
              <a:spcBef>
                <a:spcPts val="585"/>
              </a:spcBef>
              <a:spcAft>
                <a:spcPts val="0"/>
              </a:spcAft>
              <a:buClrTx/>
              <a:buSzTx/>
              <a:buFont typeface="Arial MT"/>
              <a:buChar char="•"/>
              <a:tabLst>
                <a:tab pos="730250" algn="l"/>
              </a:tabLst>
              <a:defRPr/>
            </a:pPr>
            <a:r>
              <a:rPr kumimoji="0" lang="ja-JP" altLang="en-US" sz="1900" b="0" i="0" u="none" strike="noStrike" kern="0" cap="none" spc="-25" normalizeH="0" baseline="0" noProof="0" dirty="0">
                <a:ln>
                  <a:noFill/>
                </a:ln>
                <a:solidFill>
                  <a:sysClr val="windowText" lastClr="000000"/>
                </a:solidFill>
                <a:effectLst/>
                <a:uLnTx/>
                <a:uFillTx/>
                <a:latin typeface="Yu Gothic"/>
                <a:cs typeface="Yu Gothic"/>
              </a:rPr>
              <a:t>第二段階</a:t>
            </a:r>
            <a:r>
              <a:rPr kumimoji="0" lang="en-US" altLang="ja-JP" sz="1900" b="0" i="0" u="none" strike="noStrike" kern="0" cap="none" spc="0" normalizeH="0" baseline="0" noProof="0" dirty="0">
                <a:ln>
                  <a:noFill/>
                </a:ln>
                <a:solidFill>
                  <a:sysClr val="windowText" lastClr="000000"/>
                </a:solidFill>
                <a:effectLst/>
                <a:uLnTx/>
                <a:uFillTx/>
                <a:latin typeface="Calibri"/>
                <a:cs typeface="Calibri"/>
              </a:rPr>
              <a:t>: </a:t>
            </a:r>
            <a:r>
              <a:rPr kumimoji="0" lang="ja-JP" altLang="en-US" sz="1900" b="0" i="0" u="none" strike="noStrike" kern="0" cap="none" spc="-30" normalizeH="0" baseline="0" noProof="0" dirty="0">
                <a:ln>
                  <a:noFill/>
                </a:ln>
                <a:solidFill>
                  <a:sysClr val="windowText" lastClr="000000"/>
                </a:solidFill>
                <a:effectLst/>
                <a:uLnTx/>
                <a:uFillTx/>
                <a:latin typeface="Yu Gothic"/>
                <a:cs typeface="Yu Gothic"/>
              </a:rPr>
              <a:t>パワーとスピードが第一段階より遥かに増した形態。 筋肉が盛り上がり、発するオーラがバーナーの炎のように激しくなる。</a:t>
            </a:r>
            <a:endParaRPr kumimoji="0" lang="ja-JP" altLang="en-US" sz="1900" b="0" i="0" u="none" strike="noStrike" kern="0" cap="none" spc="0" normalizeH="0" baseline="0" noProof="0" dirty="0">
              <a:ln>
                <a:noFill/>
              </a:ln>
              <a:solidFill>
                <a:sysClr val="windowText" lastClr="000000"/>
              </a:solidFill>
              <a:effectLst/>
              <a:uLnTx/>
              <a:uFillTx/>
              <a:latin typeface="Yu Gothic"/>
              <a:cs typeface="Yu Gothic"/>
            </a:endParaRPr>
          </a:p>
          <a:p>
            <a:pPr marL="730250" marR="0" lvl="1" indent="-260350" defTabSz="914400" eaLnBrk="1" fontAlgn="auto" latinLnBrk="0" hangingPunct="1">
              <a:lnSpc>
                <a:spcPts val="2010"/>
              </a:lnSpc>
              <a:spcBef>
                <a:spcPts val="0"/>
              </a:spcBef>
              <a:spcAft>
                <a:spcPts val="0"/>
              </a:spcAft>
              <a:buClrTx/>
              <a:buSzTx/>
              <a:buFont typeface="Arial MT"/>
              <a:buChar char="•"/>
              <a:tabLst>
                <a:tab pos="730250" algn="l"/>
              </a:tabLst>
              <a:defRPr/>
            </a:pPr>
            <a:r>
              <a:rPr kumimoji="0" lang="ja-JP" altLang="en-US" sz="1900" b="0" i="0" u="none" strike="noStrike" kern="0" cap="none" spc="-25" normalizeH="0" baseline="0" noProof="0" dirty="0">
                <a:ln>
                  <a:noFill/>
                </a:ln>
                <a:solidFill>
                  <a:sysClr val="windowText" lastClr="000000"/>
                </a:solidFill>
                <a:effectLst/>
                <a:uLnTx/>
                <a:uFillTx/>
                <a:latin typeface="Yu Gothic"/>
                <a:cs typeface="Yu Gothic"/>
              </a:rPr>
              <a:t>第三段階</a:t>
            </a:r>
            <a:r>
              <a:rPr kumimoji="0" lang="en-US" altLang="ja-JP" sz="1900" b="0" i="0" u="none" strike="noStrike" kern="0" cap="none" spc="85" normalizeH="0" baseline="0" noProof="0" dirty="0">
                <a:ln>
                  <a:noFill/>
                </a:ln>
                <a:solidFill>
                  <a:sysClr val="windowText" lastClr="000000"/>
                </a:solidFill>
                <a:effectLst/>
                <a:uLnTx/>
                <a:uFillTx/>
                <a:latin typeface="Calibri"/>
                <a:cs typeface="Calibri"/>
              </a:rPr>
              <a:t>: </a:t>
            </a:r>
            <a:r>
              <a:rPr kumimoji="0" lang="ja-JP" altLang="en-US" sz="1900" b="0" i="0" u="none" strike="noStrike" kern="0" cap="none" spc="-30" normalizeH="0" baseline="0" noProof="0" dirty="0">
                <a:ln>
                  <a:noFill/>
                </a:ln>
                <a:solidFill>
                  <a:sysClr val="windowText" lastClr="000000"/>
                </a:solidFill>
                <a:effectLst/>
                <a:uLnTx/>
                <a:uFillTx/>
                <a:latin typeface="Yu Gothic"/>
                <a:cs typeface="Yu Gothic"/>
              </a:rPr>
              <a:t>パワーを重視するあまりスピードが殺されたムキムキ形態。</a:t>
            </a:r>
            <a:endParaRPr kumimoji="0" lang="ja-JP" altLang="en-US" sz="1900" b="0" i="0" u="none" strike="noStrike" kern="0" cap="none" spc="0" normalizeH="0" baseline="0" noProof="0" dirty="0">
              <a:ln>
                <a:noFill/>
              </a:ln>
              <a:solidFill>
                <a:sysClr val="windowText" lastClr="000000"/>
              </a:solidFill>
              <a:effectLst/>
              <a:uLnTx/>
              <a:uFillTx/>
              <a:latin typeface="Yu Gothic"/>
              <a:cs typeface="Yu Gothic"/>
            </a:endParaRPr>
          </a:p>
          <a:p>
            <a:pPr marL="730250" marR="86360" lvl="1" indent="-260985" defTabSz="914400" eaLnBrk="1" fontAlgn="auto" latinLnBrk="0" hangingPunct="1">
              <a:lnSpc>
                <a:spcPct val="70000"/>
              </a:lnSpc>
              <a:spcBef>
                <a:spcPts val="595"/>
              </a:spcBef>
              <a:spcAft>
                <a:spcPts val="0"/>
              </a:spcAft>
              <a:buClrTx/>
              <a:buSzTx/>
              <a:buFont typeface="Arial MT"/>
              <a:buChar char="•"/>
              <a:tabLst>
                <a:tab pos="730250" algn="l"/>
              </a:tabLst>
              <a:defRPr/>
            </a:pPr>
            <a:r>
              <a:rPr kumimoji="0" lang="ja-JP" altLang="en-US" sz="1900" b="0" i="0" u="none" strike="noStrike" kern="0" cap="none" spc="-25" normalizeH="0" baseline="0" noProof="0" dirty="0">
                <a:ln>
                  <a:noFill/>
                </a:ln>
                <a:solidFill>
                  <a:sysClr val="windowText" lastClr="000000"/>
                </a:solidFill>
                <a:effectLst/>
                <a:uLnTx/>
                <a:uFillTx/>
                <a:latin typeface="Yu Gothic"/>
                <a:cs typeface="Yu Gothic"/>
              </a:rPr>
              <a:t>フルパワー</a:t>
            </a:r>
            <a:r>
              <a:rPr kumimoji="0" lang="en-US" altLang="ja-JP" sz="1900" b="0" i="0" u="none" strike="noStrike" kern="0" cap="none" spc="0" normalizeH="0" baseline="0" noProof="0" dirty="0">
                <a:ln>
                  <a:noFill/>
                </a:ln>
                <a:solidFill>
                  <a:sysClr val="windowText" lastClr="000000"/>
                </a:solidFill>
                <a:effectLst/>
                <a:uLnTx/>
                <a:uFillTx/>
                <a:latin typeface="Calibri"/>
                <a:cs typeface="Calibri"/>
              </a:rPr>
              <a:t>: </a:t>
            </a:r>
            <a:r>
              <a:rPr kumimoji="0" lang="ja-JP" altLang="en-US" sz="1900" b="0" i="0" u="none" strike="noStrike" kern="0" cap="none" spc="-30" normalizeH="0" baseline="0" noProof="0" dirty="0">
                <a:ln>
                  <a:noFill/>
                </a:ln>
                <a:solidFill>
                  <a:sysClr val="windowText" lastClr="000000"/>
                </a:solidFill>
                <a:effectLst/>
                <a:uLnTx/>
                <a:uFillTx/>
                <a:latin typeface="Yu Gothic"/>
                <a:cs typeface="Yu Gothic"/>
              </a:rPr>
              <a:t>常時第一段階でいることで身体を慣らし、精神的な落ち着きを取り戻すとともに、良好な身体バランスを保ったまま極小の負担でパワーを解放した形態。</a:t>
            </a:r>
            <a:endParaRPr kumimoji="0" lang="ja-JP" altLang="en-US" sz="1900" b="0" i="0" u="none" strike="noStrike" kern="0" cap="none" spc="0" normalizeH="0" baseline="0" noProof="0" dirty="0">
              <a:ln>
                <a:noFill/>
              </a:ln>
              <a:solidFill>
                <a:sysClr val="windowText" lastClr="000000"/>
              </a:solidFill>
              <a:effectLst/>
              <a:uLnTx/>
              <a:uFillTx/>
              <a:latin typeface="Yu Gothic"/>
              <a:cs typeface="Yu Gothic"/>
            </a:endParaRPr>
          </a:p>
          <a:p>
            <a:pPr marL="280670" marR="141605" lvl="0" indent="-268605" defTabSz="914400" eaLnBrk="1" fontAlgn="auto" latinLnBrk="0" hangingPunct="1">
              <a:lnSpc>
                <a:spcPct val="70000"/>
              </a:lnSpc>
              <a:spcBef>
                <a:spcPts val="1000"/>
              </a:spcBef>
              <a:spcAft>
                <a:spcPts val="0"/>
              </a:spcAft>
              <a:buClrTx/>
              <a:buSzTx/>
              <a:buFont typeface="Arial MT"/>
              <a:buChar char="•"/>
              <a:tabLst>
                <a:tab pos="280670" algn="l"/>
              </a:tabLst>
              <a:defRPr/>
            </a:pPr>
            <a:r>
              <a:rPr kumimoji="0" lang="ja-JP" altLang="en-US" sz="2200" b="1" i="0" u="none" strike="noStrike" kern="0" cap="none" spc="-35" normalizeH="0" baseline="0" noProof="0" dirty="0">
                <a:ln>
                  <a:noFill/>
                </a:ln>
                <a:solidFill>
                  <a:sysClr val="windowText" lastClr="000000"/>
                </a:solidFill>
                <a:effectLst/>
                <a:uLnTx/>
                <a:uFillTx/>
                <a:latin typeface="Yu Gothic"/>
                <a:cs typeface="Yu Gothic"/>
              </a:rPr>
              <a:t>超サイヤ人</a:t>
            </a:r>
            <a:r>
              <a:rPr kumimoji="0" lang="en-US" altLang="ja-JP" sz="2200" b="1" i="0" u="none" strike="noStrike" kern="0" cap="none" spc="0" normalizeH="0" baseline="0" noProof="0" dirty="0">
                <a:ln>
                  <a:noFill/>
                </a:ln>
                <a:solidFill>
                  <a:sysClr val="windowText" lastClr="000000"/>
                </a:solidFill>
                <a:effectLst/>
                <a:uLnTx/>
                <a:uFillTx/>
                <a:latin typeface="Calibri"/>
                <a:cs typeface="Calibri"/>
              </a:rPr>
              <a:t>2</a:t>
            </a:r>
            <a:r>
              <a:rPr kumimoji="0" lang="en-US" altLang="ja-JP" sz="2200" b="0" i="0" u="none" strike="noStrike" kern="0" cap="none" spc="0" normalizeH="0" baseline="0" noProof="0" dirty="0">
                <a:ln>
                  <a:noFill/>
                </a:ln>
                <a:solidFill>
                  <a:sysClr val="windowText" lastClr="000000"/>
                </a:solidFill>
                <a:effectLst/>
                <a:uLnTx/>
                <a:uFillTx/>
                <a:latin typeface="Calibri"/>
                <a:cs typeface="Calibri"/>
              </a:rPr>
              <a:t>: </a:t>
            </a:r>
            <a:r>
              <a:rPr kumimoji="0" lang="ja-JP" altLang="en-US" sz="2200" b="1" i="0" u="none" strike="noStrike" kern="0" cap="none" spc="-30" normalizeH="0" baseline="0" noProof="0" dirty="0">
                <a:ln>
                  <a:noFill/>
                </a:ln>
                <a:solidFill>
                  <a:sysClr val="windowText" lastClr="000000"/>
                </a:solidFill>
                <a:effectLst/>
                <a:uLnTx/>
                <a:uFillTx/>
                <a:latin typeface="Yu Gothic"/>
                <a:cs typeface="Yu Gothic"/>
              </a:rPr>
              <a:t>通常時の</a:t>
            </a:r>
            <a:r>
              <a:rPr kumimoji="0" lang="en-US" altLang="ja-JP" sz="2200" b="1" i="0" u="none" strike="noStrike" kern="0" cap="none" spc="0" normalizeH="0" baseline="0" noProof="0" dirty="0">
                <a:ln>
                  <a:noFill/>
                </a:ln>
                <a:solidFill>
                  <a:sysClr val="windowText" lastClr="000000"/>
                </a:solidFill>
                <a:effectLst/>
                <a:uLnTx/>
                <a:uFillTx/>
                <a:latin typeface="Calibri"/>
                <a:cs typeface="Calibri"/>
              </a:rPr>
              <a:t>100</a:t>
            </a:r>
            <a:r>
              <a:rPr kumimoji="0" lang="ja-JP" altLang="en-US" sz="2200" b="1" i="0" u="none" strike="noStrike" kern="0" cap="none" spc="-30" normalizeH="0" baseline="0" noProof="0" dirty="0">
                <a:ln>
                  <a:noFill/>
                </a:ln>
                <a:solidFill>
                  <a:sysClr val="windowText" lastClr="000000"/>
                </a:solidFill>
                <a:effectLst/>
                <a:uLnTx/>
                <a:uFillTx/>
                <a:latin typeface="Yu Gothic"/>
                <a:cs typeface="Yu Gothic"/>
              </a:rPr>
              <a:t>倍</a:t>
            </a: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の戦闘力。前髪が一束垂れ下がり、髪がさらに細かく逆立つ。発するオーラにスパークが纏うようになる。</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200"/>
              </a:spcBef>
              <a:spcAft>
                <a:spcPts val="0"/>
              </a:spcAft>
              <a:buClrTx/>
              <a:buSzTx/>
              <a:buFont typeface="Arial MT"/>
              <a:buChar char="•"/>
              <a:tabLst>
                <a:tab pos="280670" algn="l"/>
              </a:tabLst>
              <a:defRPr/>
            </a:pPr>
            <a:r>
              <a:rPr kumimoji="0" lang="ja-JP" altLang="en-US" sz="2200" b="1" i="0" u="none" strike="noStrike" kern="0" cap="none" spc="-35" normalizeH="0" baseline="0" noProof="0" dirty="0">
                <a:ln>
                  <a:noFill/>
                </a:ln>
                <a:solidFill>
                  <a:sysClr val="windowText" lastClr="000000"/>
                </a:solidFill>
                <a:effectLst/>
                <a:uLnTx/>
                <a:uFillTx/>
                <a:latin typeface="Yu Gothic"/>
                <a:cs typeface="Yu Gothic"/>
              </a:rPr>
              <a:t>超サイヤ人</a:t>
            </a:r>
            <a:r>
              <a:rPr kumimoji="0" lang="en-US" altLang="ja-JP" sz="2200" b="1" i="0" u="none" strike="noStrike" kern="0" cap="none" spc="0" normalizeH="0" baseline="0" noProof="0" dirty="0">
                <a:ln>
                  <a:noFill/>
                </a:ln>
                <a:solidFill>
                  <a:sysClr val="windowText" lastClr="000000"/>
                </a:solidFill>
                <a:effectLst/>
                <a:uLnTx/>
                <a:uFillTx/>
                <a:latin typeface="Calibri"/>
                <a:cs typeface="Calibri"/>
              </a:rPr>
              <a:t>3</a:t>
            </a:r>
            <a:r>
              <a:rPr kumimoji="0" lang="en-US" altLang="ja-JP" sz="2200" b="0" i="0" u="none" strike="noStrike" kern="0" cap="none" spc="110" normalizeH="0" baseline="0" noProof="0" dirty="0">
                <a:ln>
                  <a:noFill/>
                </a:ln>
                <a:solidFill>
                  <a:sysClr val="windowText" lastClr="000000"/>
                </a:solidFill>
                <a:effectLst/>
                <a:uLnTx/>
                <a:uFillTx/>
                <a:latin typeface="Calibri"/>
                <a:cs typeface="Calibri"/>
              </a:rPr>
              <a:t>: </a:t>
            </a:r>
            <a:r>
              <a:rPr kumimoji="0" lang="ja-JP" altLang="en-US" sz="2200" b="1" i="0" u="none" strike="noStrike" kern="0" cap="none" spc="-35" normalizeH="0" baseline="0" noProof="0" dirty="0">
                <a:ln>
                  <a:noFill/>
                </a:ln>
                <a:solidFill>
                  <a:sysClr val="windowText" lastClr="000000"/>
                </a:solidFill>
                <a:effectLst/>
                <a:uLnTx/>
                <a:uFillTx/>
                <a:latin typeface="Yu Gothic"/>
                <a:cs typeface="Yu Gothic"/>
              </a:rPr>
              <a:t>通常時の</a:t>
            </a:r>
            <a:r>
              <a:rPr kumimoji="0" lang="en-US" altLang="ja-JP" sz="2200" b="1" i="0" u="none" strike="noStrike" kern="0" cap="none" spc="0" normalizeH="0" baseline="0" noProof="0" dirty="0">
                <a:ln>
                  <a:noFill/>
                </a:ln>
                <a:solidFill>
                  <a:sysClr val="windowText" lastClr="000000"/>
                </a:solidFill>
                <a:effectLst/>
                <a:uLnTx/>
                <a:uFillTx/>
                <a:latin typeface="Calibri"/>
                <a:cs typeface="Calibri"/>
              </a:rPr>
              <a:t>400</a:t>
            </a:r>
            <a:r>
              <a:rPr kumimoji="0" lang="ja-JP" altLang="en-US" sz="2200" b="1" i="0" u="none" strike="noStrike" kern="0" cap="none" spc="-35" normalizeH="0" baseline="0" noProof="0" dirty="0">
                <a:ln>
                  <a:noFill/>
                </a:ln>
                <a:solidFill>
                  <a:sysClr val="windowText" lastClr="000000"/>
                </a:solidFill>
                <a:effectLst/>
                <a:uLnTx/>
                <a:uFillTx/>
                <a:latin typeface="Yu Gothic"/>
                <a:cs typeface="Yu Gothic"/>
              </a:rPr>
              <a:t>倍</a:t>
            </a:r>
            <a:r>
              <a:rPr kumimoji="0" lang="ja-JP" altLang="en-US" sz="2200" b="0" i="0" u="none" strike="noStrike" kern="0" cap="none" spc="-40" normalizeH="0" baseline="0" noProof="0" dirty="0">
                <a:ln>
                  <a:noFill/>
                </a:ln>
                <a:solidFill>
                  <a:sysClr val="windowText" lastClr="000000"/>
                </a:solidFill>
                <a:effectLst/>
                <a:uLnTx/>
                <a:uFillTx/>
                <a:latin typeface="Yu Gothic"/>
                <a:cs typeface="Yu Gothic"/>
              </a:rPr>
              <a:t>の戦闘力。髪が伸び、眉毛が消える。</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220"/>
              </a:spcBef>
              <a:spcAft>
                <a:spcPts val="0"/>
              </a:spcAft>
              <a:buClrTx/>
              <a:buSzTx/>
              <a:buFont typeface="Arial MT"/>
              <a:buChar char="•"/>
              <a:tabLst>
                <a:tab pos="280670" algn="l"/>
              </a:tabLst>
              <a:defRPr/>
            </a:pPr>
            <a:r>
              <a:rPr kumimoji="0" lang="ja-JP" altLang="en-US" sz="2200" b="1" i="0" u="none" strike="noStrike" kern="0" cap="none" spc="-35" normalizeH="0" baseline="0" noProof="0" dirty="0">
                <a:ln>
                  <a:noFill/>
                </a:ln>
                <a:solidFill>
                  <a:sysClr val="windowText" lastClr="000000"/>
                </a:solidFill>
                <a:effectLst/>
                <a:uLnTx/>
                <a:uFillTx/>
                <a:latin typeface="Yu Gothic"/>
                <a:cs typeface="Yu Gothic"/>
              </a:rPr>
              <a:t>伝説の超サイヤ人</a:t>
            </a:r>
            <a:r>
              <a:rPr kumimoji="0" lang="en-US" altLang="ja-JP" sz="2200" b="0" i="0" u="none" strike="noStrike" kern="0" cap="none" spc="150" normalizeH="0" baseline="0" noProof="0" dirty="0">
                <a:ln>
                  <a:noFill/>
                </a:ln>
                <a:solidFill>
                  <a:sysClr val="windowText" lastClr="000000"/>
                </a:solidFill>
                <a:effectLst/>
                <a:uLnTx/>
                <a:uFillTx/>
                <a:latin typeface="Calibri"/>
                <a:cs typeface="Calibri"/>
              </a:rPr>
              <a:t>: </a:t>
            </a: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ブロリーのみ変身可能。純粋に♛と戦闘を好む凶暴な形態。</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204"/>
              </a:spcBef>
              <a:spcAft>
                <a:spcPts val="0"/>
              </a:spcAft>
              <a:buClrTx/>
              <a:buSzTx/>
              <a:buFont typeface="Arial MT"/>
              <a:buChar char="•"/>
              <a:tabLst>
                <a:tab pos="280670" algn="l"/>
              </a:tabLst>
              <a:defRPr/>
            </a:pPr>
            <a:r>
              <a:rPr kumimoji="0" lang="ja-JP" altLang="en-US" sz="2200" b="1" i="0" u="none" strike="noStrike" kern="0" cap="none" spc="-35" normalizeH="0" baseline="0" noProof="0" dirty="0">
                <a:ln>
                  <a:noFill/>
                </a:ln>
                <a:solidFill>
                  <a:sysClr val="windowText" lastClr="000000"/>
                </a:solidFill>
                <a:effectLst/>
                <a:uLnTx/>
                <a:uFillTx/>
                <a:latin typeface="Yu Gothic"/>
                <a:cs typeface="Yu Gothic"/>
              </a:rPr>
              <a:t>大猿</a:t>
            </a:r>
            <a:r>
              <a:rPr kumimoji="0" lang="en-US" altLang="ja-JP" sz="2200" b="0" i="0" u="none" strike="noStrike" kern="0" cap="none" spc="125" normalizeH="0" baseline="0" noProof="0" dirty="0">
                <a:ln>
                  <a:noFill/>
                </a:ln>
                <a:solidFill>
                  <a:sysClr val="windowText" lastClr="000000"/>
                </a:solidFill>
                <a:effectLst/>
                <a:uLnTx/>
                <a:uFillTx/>
                <a:latin typeface="Calibri"/>
                <a:cs typeface="Calibri"/>
              </a:rPr>
              <a:t>: </a:t>
            </a:r>
            <a:r>
              <a:rPr kumimoji="0" lang="ja-JP" altLang="en-US" sz="2200" b="0" i="0" u="none" strike="noStrike" kern="0" cap="none" spc="-30" normalizeH="0" baseline="0" noProof="0" dirty="0">
                <a:ln>
                  <a:noFill/>
                </a:ln>
                <a:solidFill>
                  <a:sysClr val="windowText" lastClr="000000"/>
                </a:solidFill>
                <a:effectLst/>
                <a:uLnTx/>
                <a:uFillTx/>
                <a:latin typeface="Yu Gothic"/>
                <a:cs typeface="Yu Gothic"/>
              </a:rPr>
              <a:t>通常時の</a:t>
            </a:r>
            <a:r>
              <a:rPr kumimoji="0" lang="en-US" altLang="ja-JP" sz="2200" b="0" i="0" u="none" strike="noStrike" kern="0" cap="none" spc="0" normalizeH="0" baseline="0" noProof="0" dirty="0">
                <a:ln>
                  <a:noFill/>
                </a:ln>
                <a:solidFill>
                  <a:sysClr val="windowText" lastClr="000000"/>
                </a:solidFill>
                <a:effectLst/>
                <a:uLnTx/>
                <a:uFillTx/>
                <a:latin typeface="Calibri"/>
                <a:cs typeface="Calibri"/>
              </a:rPr>
              <a:t>10</a:t>
            </a:r>
            <a:r>
              <a:rPr kumimoji="0" lang="ja-JP" altLang="en-US" sz="2200" b="0" i="0" u="none" strike="noStrike" kern="0" cap="none" spc="-35" normalizeH="0" baseline="0" noProof="0" dirty="0">
                <a:ln>
                  <a:noFill/>
                </a:ln>
                <a:solidFill>
                  <a:sysClr val="windowText" lastClr="000000"/>
                </a:solidFill>
                <a:effectLst/>
                <a:uLnTx/>
                <a:uFillTx/>
                <a:latin typeface="Yu Gothic"/>
                <a:cs typeface="Yu Gothic"/>
              </a:rPr>
              <a:t>倍の戦闘力。王族やエリートのみ理性を保つことが可能。</a:t>
            </a:r>
            <a:endParaRPr kumimoji="0" lang="ja-JP" altLang="en-US" sz="22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746098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b="1" dirty="0">
                <a:latin typeface="Calibri (Headings)"/>
              </a:rPr>
              <a:t>2. </a:t>
            </a:r>
            <a:r>
              <a:rPr lang="ja-JP" altLang="en-US" b="1" dirty="0">
                <a:latin typeface="Calibri (Headings)"/>
                <a:sym typeface="Arial"/>
              </a:rPr>
              <a:t>ドラゴンボール七不思議</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1154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ja-JP" altLang="en-US" b="1" dirty="0">
                <a:latin typeface="Calibri (Headings)"/>
              </a:rPr>
              <a:t>注釈</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760"/>
              </a:spcBef>
              <a:spcAft>
                <a:spcPts val="0"/>
              </a:spcAft>
              <a:buClrTx/>
              <a:buSzTx/>
              <a:buFontTx/>
              <a:buNone/>
              <a:tabLst/>
              <a:defRPr/>
            </a:pPr>
            <a:r>
              <a:rPr kumimoji="0" lang="en-US" altLang="ja-JP" sz="2800" b="0" i="0" u="none" strike="noStrike" kern="0" cap="none" spc="-25" normalizeH="0" baseline="0" noProof="0" dirty="0">
                <a:ln>
                  <a:noFill/>
                </a:ln>
                <a:solidFill>
                  <a:sysClr val="windowText" lastClr="000000"/>
                </a:solidFill>
                <a:effectLst/>
                <a:uLnTx/>
                <a:uFillTx/>
                <a:latin typeface="Calibri"/>
                <a:cs typeface="Calibri"/>
              </a:rPr>
              <a:t>[</a:t>
            </a:r>
            <a:r>
              <a:rPr kumimoji="0" lang="ja-JP" altLang="en-US" sz="2800" b="0" i="0" u="none" strike="noStrike" kern="0" cap="none" spc="-40" normalizeH="0" baseline="0" noProof="0" dirty="0">
                <a:ln>
                  <a:noFill/>
                </a:ln>
                <a:solidFill>
                  <a:sysClr val="windowText" lastClr="000000"/>
                </a:solidFill>
                <a:effectLst/>
                <a:uLnTx/>
                <a:uFillTx/>
                <a:latin typeface="Yu Gothic"/>
                <a:cs typeface="Yu Gothic"/>
              </a:rPr>
              <a:t>共通</a:t>
            </a:r>
            <a:r>
              <a:rPr kumimoji="0" lang="en-US" altLang="ja-JP" sz="2800" b="0" i="0" u="none" strike="noStrike" kern="0" cap="none" spc="50" normalizeH="0" baseline="0" noProof="0" dirty="0">
                <a:ln>
                  <a:noFill/>
                </a:ln>
                <a:solidFill>
                  <a:sysClr val="windowText" lastClr="000000"/>
                </a:solidFill>
                <a:effectLst/>
                <a:uLnTx/>
                <a:uFillTx/>
                <a:latin typeface="Calibri"/>
                <a:cs typeface="Calibri"/>
              </a:rPr>
              <a:t>] </a:t>
            </a:r>
            <a:r>
              <a:rPr kumimoji="0" lang="ja-JP" altLang="en-US" sz="2800" b="0" i="0" u="none" strike="noStrike" kern="0" cap="none" spc="-40" normalizeH="0" baseline="0" noProof="0" dirty="0">
                <a:ln>
                  <a:noFill/>
                </a:ln>
                <a:solidFill>
                  <a:sysClr val="windowText" lastClr="000000"/>
                </a:solidFill>
                <a:effectLst/>
                <a:uLnTx/>
                <a:uFillTx/>
                <a:latin typeface="Yu Gothic"/>
                <a:cs typeface="Yu Gothic"/>
              </a:rPr>
              <a:t>漫画原作、アニメ共通</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665"/>
              </a:spcBef>
              <a:spcAft>
                <a:spcPts val="0"/>
              </a:spcAft>
              <a:buClrTx/>
              <a:buSzTx/>
              <a:buFontTx/>
              <a:buNone/>
              <a:tabLst/>
              <a:defRPr/>
            </a:pPr>
            <a:r>
              <a:rPr kumimoji="0" lang="en-US" altLang="ja-JP" sz="2800" b="0" i="0" u="none" strike="noStrike" kern="0" cap="none" spc="-25" normalizeH="0" baseline="0" noProof="0" dirty="0">
                <a:ln>
                  <a:noFill/>
                </a:ln>
                <a:solidFill>
                  <a:sysClr val="windowText" lastClr="000000"/>
                </a:solidFill>
                <a:effectLst/>
                <a:uLnTx/>
                <a:uFillTx/>
                <a:latin typeface="Calibri"/>
                <a:cs typeface="Calibri"/>
              </a:rPr>
              <a:t>[</a:t>
            </a:r>
            <a:r>
              <a:rPr kumimoji="0" lang="ja-JP" altLang="en-US" sz="2800" b="0" i="0" u="none" strike="noStrike" kern="0" cap="none" spc="-35" normalizeH="0" baseline="0" noProof="0" dirty="0">
                <a:ln>
                  <a:noFill/>
                </a:ln>
                <a:solidFill>
                  <a:sysClr val="windowText" lastClr="000000"/>
                </a:solidFill>
                <a:effectLst/>
                <a:uLnTx/>
                <a:uFillTx/>
                <a:latin typeface="Yu Gothic"/>
                <a:cs typeface="Yu Gothic"/>
              </a:rPr>
              <a:t>ア</a:t>
            </a:r>
            <a:r>
              <a:rPr kumimoji="0" lang="en-US" altLang="ja-JP" sz="2800" b="0" i="0" u="none" strike="noStrike" kern="0" cap="none" spc="40" normalizeH="0" baseline="0" noProof="0" dirty="0">
                <a:ln>
                  <a:noFill/>
                </a:ln>
                <a:solidFill>
                  <a:sysClr val="windowText" lastClr="000000"/>
                </a:solidFill>
                <a:effectLst/>
                <a:uLnTx/>
                <a:uFillTx/>
                <a:latin typeface="Calibri"/>
                <a:cs typeface="Calibri"/>
              </a:rPr>
              <a:t>] </a:t>
            </a:r>
            <a:r>
              <a:rPr kumimoji="0" lang="ja-JP" altLang="en-US" sz="2800" b="0" i="0" u="none" strike="noStrike" kern="0" cap="none" spc="-40" normalizeH="0" baseline="0" noProof="0" dirty="0">
                <a:ln>
                  <a:noFill/>
                </a:ln>
                <a:solidFill>
                  <a:sysClr val="windowText" lastClr="000000"/>
                </a:solidFill>
                <a:effectLst/>
                <a:uLnTx/>
                <a:uFillTx/>
                <a:latin typeface="Yu Gothic"/>
                <a:cs typeface="Yu Gothic"/>
              </a:rPr>
              <a:t>アニメオリジナル設定</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1235012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a:t>
            </a:r>
            <a:r>
              <a:rPr lang="ja-JP" altLang="en-US" b="1" dirty="0">
                <a:latin typeface="Calibri (Headings)"/>
              </a:rPr>
              <a:t>共通</a:t>
            </a:r>
            <a:r>
              <a:rPr lang="en-US" altLang="ja-JP" b="1" dirty="0">
                <a:latin typeface="Calibri (Headings)"/>
              </a:rPr>
              <a:t>] </a:t>
            </a:r>
            <a:r>
              <a:rPr lang="ja-JP" altLang="en-US" b="1" dirty="0">
                <a:latin typeface="Calibri (Headings)"/>
              </a:rPr>
              <a:t>其の一</a:t>
            </a:r>
            <a:r>
              <a:rPr lang="en-US" altLang="ja-JP" b="1" dirty="0">
                <a:latin typeface="Calibri (Headings)"/>
              </a:rPr>
              <a:t>: </a:t>
            </a:r>
            <a:r>
              <a:rPr lang="ja-JP" altLang="en-US" b="1" dirty="0">
                <a:latin typeface="Calibri (Headings)"/>
              </a:rPr>
              <a:t>桃白白の移動手段</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object 3"/>
          <p:cNvSpPr txBox="1"/>
          <p:nvPr/>
        </p:nvSpPr>
        <p:spPr>
          <a:xfrm>
            <a:off x="916939" y="1710817"/>
            <a:ext cx="6488430" cy="2683427"/>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8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自分が投げた柱に飛び乗って</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1529080" lvl="0" indent="0" defTabSz="914400" eaLnBrk="1" fontAlgn="auto" latinLnBrk="0" hangingPunct="1">
              <a:lnSpc>
                <a:spcPts val="3600"/>
              </a:lnSpc>
              <a:spcBef>
                <a:spcPts val="229"/>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目的地まで一っ飛びするという、</a:t>
            </a:r>
            <a:endParaRPr kumimoji="0" lang="en-GB" altLang="ja-JP" sz="2400" b="0" i="0" u="none" strike="noStrike" kern="0" cap="none" spc="-5" normalizeH="0" baseline="0" noProof="0" dirty="0">
              <a:ln>
                <a:noFill/>
              </a:ln>
              <a:solidFill>
                <a:sysClr val="windowText" lastClr="000000"/>
              </a:solidFill>
              <a:effectLst/>
              <a:uLnTx/>
              <a:uFillTx/>
              <a:latin typeface="Yu Gothic"/>
              <a:cs typeface="Yu Gothic"/>
            </a:endParaRPr>
          </a:p>
          <a:p>
            <a:pPr marL="12700" marR="1529080" lvl="0" indent="0" defTabSz="914400" eaLnBrk="1" fontAlgn="auto" latinLnBrk="0" hangingPunct="1">
              <a:lnSpc>
                <a:spcPts val="3600"/>
              </a:lnSpc>
              <a:spcBef>
                <a:spcPts val="229"/>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アクロバティックな方法。</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47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理論上、目的地まで到着できるほどの</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初速を有する物体に飛び乗れるならば、</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2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自分の脚力だけで目的地に一っ飛びできる。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pic>
        <p:nvPicPr>
          <p:cNvPr id="7" name="object 4"/>
          <p:cNvPicPr/>
          <p:nvPr/>
        </p:nvPicPr>
        <p:blipFill>
          <a:blip r:embed="rId3" cstate="print"/>
          <a:stretch>
            <a:fillRect/>
          </a:stretch>
        </p:blipFill>
        <p:spPr>
          <a:xfrm>
            <a:off x="7936992" y="1392936"/>
            <a:ext cx="3015996" cy="4963668"/>
          </a:xfrm>
          <a:prstGeom prst="rect">
            <a:avLst/>
          </a:prstGeom>
        </p:spPr>
      </p:pic>
    </p:spTree>
    <p:extLst>
      <p:ext uri="{BB962C8B-B14F-4D97-AF65-F5344CB8AC3E}">
        <p14:creationId xmlns:p14="http://schemas.microsoft.com/office/powerpoint/2010/main" val="3653796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a:t>
            </a:r>
            <a:r>
              <a:rPr lang="ja-JP" altLang="en-US" b="1" dirty="0">
                <a:latin typeface="Calibri (Headings)"/>
              </a:rPr>
              <a:t>共通</a:t>
            </a:r>
            <a:r>
              <a:rPr lang="en-US" altLang="ja-JP" b="1" dirty="0">
                <a:latin typeface="Calibri (Headings)"/>
              </a:rPr>
              <a:t>] </a:t>
            </a:r>
            <a:r>
              <a:rPr lang="ja-JP" altLang="en-US" b="1" dirty="0">
                <a:latin typeface="Calibri (Headings)"/>
              </a:rPr>
              <a:t>其の一</a:t>
            </a:r>
            <a:r>
              <a:rPr lang="en-US" altLang="ja-JP" b="1" dirty="0">
                <a:latin typeface="Calibri (Headings)"/>
              </a:rPr>
              <a:t>: </a:t>
            </a:r>
            <a:r>
              <a:rPr lang="ja-JP" altLang="en-US" b="1" dirty="0">
                <a:latin typeface="Calibri (Headings)"/>
              </a:rPr>
              <a:t>桃白白の移動手段</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3705225" marR="5080" lvl="0" indent="-3693160" algn="ctr" defTabSz="914400" eaLnBrk="1" fontAlgn="auto" latinLnBrk="0" hangingPunct="1">
              <a:lnSpc>
                <a:spcPts val="8770"/>
              </a:lnSpc>
              <a:spcBef>
                <a:spcPts val="85"/>
              </a:spcBef>
              <a:spcAft>
                <a:spcPts val="0"/>
              </a:spcAft>
              <a:buClrTx/>
              <a:buSzTx/>
              <a:buFontTx/>
              <a:buNone/>
              <a:tabLst/>
              <a:defRPr/>
            </a:pPr>
            <a:endParaRPr kumimoji="0" lang="en-GB" altLang="ja-JP" sz="7200" b="1" i="0" u="none" strike="noStrike" kern="0" cap="none" spc="0" normalizeH="0" baseline="0" noProof="0" dirty="0">
              <a:ln>
                <a:noFill/>
              </a:ln>
              <a:solidFill>
                <a:sysClr val="windowText" lastClr="000000"/>
              </a:solidFill>
              <a:effectLst/>
              <a:uLnTx/>
              <a:uFillTx/>
              <a:latin typeface="Calibri"/>
              <a:cs typeface="Calibri"/>
            </a:endParaRPr>
          </a:p>
          <a:p>
            <a:pPr marL="3705225" marR="5080" lvl="0" indent="-3693160" algn="ctr" defTabSz="914400" eaLnBrk="1" fontAlgn="auto" latinLnBrk="0" hangingPunct="1">
              <a:lnSpc>
                <a:spcPts val="8770"/>
              </a:lnSpc>
              <a:spcBef>
                <a:spcPts val="85"/>
              </a:spcBef>
              <a:spcAft>
                <a:spcPts val="0"/>
              </a:spcAft>
              <a:buClrTx/>
              <a:buSzTx/>
              <a:buFontTx/>
              <a:buNone/>
              <a:tabLst/>
              <a:defRPr/>
            </a:pPr>
            <a:r>
              <a:rPr kumimoji="0" lang="ja-JP" altLang="en-US" sz="7200" b="1" i="0" u="none" strike="noStrike" kern="0" cap="none" spc="0" normalizeH="0" baseline="0" noProof="0" dirty="0">
                <a:ln>
                  <a:noFill/>
                </a:ln>
                <a:solidFill>
                  <a:sysClr val="windowText" lastClr="000000"/>
                </a:solidFill>
                <a:effectLst/>
                <a:uLnTx/>
                <a:uFillTx/>
                <a:latin typeface="Calibri"/>
                <a:cs typeface="Calibri"/>
              </a:rPr>
              <a:t>柱いらなくね？</a:t>
            </a:r>
          </a:p>
        </p:txBody>
      </p:sp>
    </p:spTree>
    <p:extLst>
      <p:ext uri="{BB962C8B-B14F-4D97-AF65-F5344CB8AC3E}">
        <p14:creationId xmlns:p14="http://schemas.microsoft.com/office/powerpoint/2010/main" val="1559510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a:t>
            </a:r>
            <a:r>
              <a:rPr lang="ja-JP" altLang="en-US" b="1" dirty="0">
                <a:latin typeface="Calibri (Headings)"/>
              </a:rPr>
              <a:t>共通</a:t>
            </a:r>
            <a:r>
              <a:rPr lang="en-US" altLang="ja-JP" b="1" dirty="0">
                <a:latin typeface="Calibri (Headings)"/>
              </a:rPr>
              <a:t>] </a:t>
            </a:r>
            <a:r>
              <a:rPr lang="ja-JP" altLang="en-US" b="1" dirty="0">
                <a:latin typeface="Calibri (Headings)"/>
              </a:rPr>
              <a:t>其の一</a:t>
            </a:r>
            <a:r>
              <a:rPr lang="en-US" altLang="ja-JP" b="1" dirty="0">
                <a:latin typeface="Calibri (Headings)"/>
              </a:rPr>
              <a:t>: </a:t>
            </a:r>
            <a:r>
              <a:rPr lang="ja-JP" altLang="en-US" b="1" dirty="0">
                <a:latin typeface="Calibri (Headings)"/>
              </a:rPr>
              <a:t>桃白白の移動手段</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ところが</a:t>
            </a:r>
            <a:r>
              <a:rPr kumimoji="0" lang="en-US" altLang="ja-JP" sz="2400" b="0"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0" marR="0" lvl="0" indent="0" defTabSz="914400" eaLnBrk="1" fontAlgn="auto" latinLnBrk="0" hangingPunct="1">
              <a:lnSpc>
                <a:spcPct val="100000"/>
              </a:lnSpc>
              <a:spcBef>
                <a:spcPts val="1705"/>
              </a:spcBef>
              <a:spcAft>
                <a:spcPts val="0"/>
              </a:spcAft>
              <a:buClrTx/>
              <a:buSzTx/>
              <a:buFontTx/>
              <a:buNone/>
              <a:tabLst/>
              <a:defRPr/>
            </a:pP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12700" marR="5080" lvl="0" indent="0" defTabSz="914400" eaLnBrk="1" fontAlgn="auto" latinLnBrk="0" hangingPunct="1">
              <a:lnSpc>
                <a:spcPts val="2590"/>
              </a:lnSpc>
              <a:spcBef>
                <a:spcPts val="5"/>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実際は人間の体重程度の質量では、空気抵抗や重力等によって途中で失速</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する可能性がある。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ts val="2735"/>
              </a:lnSpc>
              <a:spcBef>
                <a:spcPts val="670"/>
              </a:spcBef>
              <a:spcAft>
                <a:spcPts val="0"/>
              </a:spcAft>
              <a:buClrTx/>
              <a:buSzTx/>
              <a:buFontTx/>
              <a:buNone/>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そのため、柱のような質量の大きな物体に乗って移動するのは理に適って</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ts val="2735"/>
              </a:lnSpc>
              <a:spcBef>
                <a:spcPts val="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いる</a:t>
            </a:r>
            <a:r>
              <a:rPr kumimoji="0" lang="en-US" altLang="ja-JP" sz="2400" b="0" i="0" u="none" strike="noStrike" kern="0" cap="none" spc="-25"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25" normalizeH="0" baseline="0" noProof="0" dirty="0">
                <a:ln>
                  <a:noFill/>
                </a:ln>
                <a:solidFill>
                  <a:sysClr val="windowText" lastClr="000000"/>
                </a:solidFill>
                <a:effectLst/>
                <a:uLnTx/>
                <a:uFillTx/>
                <a:latin typeface="Yu Gothic"/>
                <a:cs typeface="Yu Gothic"/>
              </a:rPr>
              <a:t>？</a:t>
            </a:r>
            <a:r>
              <a:rPr kumimoji="0" lang="en-US" altLang="ja-JP" sz="2400" b="0" i="0" u="none" strike="noStrike" kern="0" cap="none" spc="-25" normalizeH="0" baseline="0" noProof="0" dirty="0">
                <a:ln>
                  <a:noFill/>
                </a:ln>
                <a:solidFill>
                  <a:sysClr val="windowText" lastClr="000000"/>
                </a:solidFill>
                <a:effectLst/>
                <a:uLnTx/>
                <a:uFillTx/>
                <a:latin typeface="Calibri"/>
                <a:cs typeface="Calibri"/>
              </a:rPr>
              <a:t>)</a:t>
            </a: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p:txBody>
      </p:sp>
    </p:spTree>
    <p:extLst>
      <p:ext uri="{BB962C8B-B14F-4D97-AF65-F5344CB8AC3E}">
        <p14:creationId xmlns:p14="http://schemas.microsoft.com/office/powerpoint/2010/main" val="339449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sz="3800" b="1" dirty="0">
                <a:latin typeface="Calibri (Headings)"/>
              </a:rPr>
              <a:t>[</a:t>
            </a:r>
            <a:r>
              <a:rPr lang="ja-JP" altLang="en-US" sz="3800" b="1" dirty="0">
                <a:latin typeface="Calibri (Headings)"/>
              </a:rPr>
              <a:t>共通</a:t>
            </a:r>
            <a:r>
              <a:rPr lang="en-US" altLang="ja-JP" sz="3800" b="1" dirty="0">
                <a:latin typeface="Calibri (Headings)"/>
              </a:rPr>
              <a:t>] </a:t>
            </a:r>
            <a:r>
              <a:rPr lang="ja-JP" altLang="en-US" sz="3800" b="1" dirty="0">
                <a:latin typeface="Calibri (Headings)"/>
              </a:rPr>
              <a:t>其の二</a:t>
            </a:r>
            <a:r>
              <a:rPr lang="en-US" altLang="ja-JP" sz="3800" b="1" dirty="0">
                <a:latin typeface="Calibri (Headings)"/>
              </a:rPr>
              <a:t>: </a:t>
            </a:r>
            <a:r>
              <a:rPr lang="ja-JP" altLang="en-US" sz="3800" b="1" dirty="0">
                <a:latin typeface="Calibri (Headings)"/>
              </a:rPr>
              <a:t>悟飯の大猿化時のピッコロの反応</a:t>
            </a:r>
            <a:endParaRPr lang="en-GB" sz="38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6" name="object 5">
            <a:extLst>
              <a:ext uri="{FF2B5EF4-FFF2-40B4-BE49-F238E27FC236}">
                <a16:creationId xmlns:a16="http://schemas.microsoft.com/office/drawing/2014/main" id="{20E3972C-0A67-5B03-061D-18EC3C4C2278}"/>
              </a:ext>
            </a:extLst>
          </p:cNvPr>
          <p:cNvPicPr/>
          <p:nvPr/>
        </p:nvPicPr>
        <p:blipFill>
          <a:blip r:embed="rId3" cstate="print"/>
          <a:stretch>
            <a:fillRect/>
          </a:stretch>
        </p:blipFill>
        <p:spPr>
          <a:xfrm>
            <a:off x="8115300" y="3925824"/>
            <a:ext cx="3086100" cy="2314956"/>
          </a:xfrm>
          <a:prstGeom prst="rect">
            <a:avLst/>
          </a:prstGeom>
        </p:spPr>
      </p:pic>
      <p:sp>
        <p:nvSpPr>
          <p:cNvPr id="7" name="object 6">
            <a:extLst>
              <a:ext uri="{FF2B5EF4-FFF2-40B4-BE49-F238E27FC236}">
                <a16:creationId xmlns:a16="http://schemas.microsoft.com/office/drawing/2014/main" id="{50D2AC4D-A360-9CAC-121D-EBF4AF90E2FA}"/>
              </a:ext>
            </a:extLst>
          </p:cNvPr>
          <p:cNvSpPr txBox="1"/>
          <p:nvPr/>
        </p:nvSpPr>
        <p:spPr>
          <a:xfrm>
            <a:off x="916939" y="1710817"/>
            <a:ext cx="7187565" cy="4134485"/>
          </a:xfrm>
          <a:prstGeom prst="rect">
            <a:avLst/>
          </a:prstGeom>
        </p:spPr>
        <p:txBody>
          <a:bodyPr vert="horz" wrap="square" lIns="0" tIns="104139" rIns="0" bIns="0" rtlCol="0">
            <a:spAutoFit/>
          </a:bodyPr>
          <a:lstStyle/>
          <a:p>
            <a:pPr marL="12700" marR="0" lvl="0" indent="0" defTabSz="914400" eaLnBrk="1" fontAlgn="auto" latinLnBrk="0" hangingPunct="1">
              <a:lnSpc>
                <a:spcPct val="100000"/>
              </a:lnSpc>
              <a:spcBef>
                <a:spcPts val="810"/>
              </a:spcBef>
              <a:spcAft>
                <a:spcPts val="0"/>
              </a:spcAft>
              <a:buClrTx/>
              <a:buSzTx/>
              <a:buFontTx/>
              <a:buNone/>
              <a:tabLst/>
              <a:defRPr/>
            </a:pP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ラディッツ戦後、</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10"/>
              </a:spcBef>
              <a:spcAft>
                <a:spcPts val="0"/>
              </a:spcAft>
              <a:buClrTx/>
              <a:buSzTx/>
              <a:buFontTx/>
              <a:buNone/>
              <a:tabLst/>
              <a:defRPr/>
            </a:pP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年後のナッパ・ベジータ戦に備え</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925830" lvl="0" indent="0" defTabSz="914400" eaLnBrk="1" fontAlgn="auto" latinLnBrk="0" hangingPunct="1">
              <a:lnSpc>
                <a:spcPct val="124600"/>
              </a:lnSpc>
              <a:spcBef>
                <a:spcPts val="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修行のため悟飯を荒野で生き延びさせる課題を課したピッコロ。</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621030" lvl="0" indent="0" defTabSz="914400" eaLnBrk="1" fontAlgn="auto" latinLnBrk="0" hangingPunct="1">
              <a:lnSpc>
                <a:spcPts val="3600"/>
              </a:lnSpc>
              <a:spcBef>
                <a:spcPts val="229"/>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ある夜、偶然満月を見た悟飯が大猿化し、そのパワーにおののくシーンがある。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47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しかし、当時の悟飯の戦闘力は、</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1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感情が高ぶっていない通常状態で</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2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大猿化で</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10</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倍になっても戦闘力は</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10</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しかない。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pic>
        <p:nvPicPr>
          <p:cNvPr id="8" name="object 4">
            <a:extLst>
              <a:ext uri="{FF2B5EF4-FFF2-40B4-BE49-F238E27FC236}">
                <a16:creationId xmlns:a16="http://schemas.microsoft.com/office/drawing/2014/main" id="{1A2355D7-D947-BEEB-017A-DFAEE81E3DCB}"/>
              </a:ext>
            </a:extLst>
          </p:cNvPr>
          <p:cNvPicPr/>
          <p:nvPr/>
        </p:nvPicPr>
        <p:blipFill>
          <a:blip r:embed="rId4" cstate="print"/>
          <a:stretch>
            <a:fillRect/>
          </a:stretch>
        </p:blipFill>
        <p:spPr>
          <a:xfrm>
            <a:off x="8115300" y="1530096"/>
            <a:ext cx="3194304" cy="2395728"/>
          </a:xfrm>
          <a:prstGeom prst="rect">
            <a:avLst/>
          </a:prstGeom>
        </p:spPr>
      </p:pic>
    </p:spTree>
    <p:extLst>
      <p:ext uri="{BB962C8B-B14F-4D97-AF65-F5344CB8AC3E}">
        <p14:creationId xmlns:p14="http://schemas.microsoft.com/office/powerpoint/2010/main" val="3123236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共通</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其の二</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悟飯の大猿化時のピッコロの反応</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2137410" marR="5080" lvl="0" indent="-2125345" algn="ctr" defTabSz="914400" eaLnBrk="1" fontAlgn="auto" latinLnBrk="0" hangingPunct="1">
              <a:lnSpc>
                <a:spcPts val="8770"/>
              </a:lnSpc>
              <a:spcBef>
                <a:spcPts val="85"/>
              </a:spcBef>
              <a:spcAft>
                <a:spcPts val="0"/>
              </a:spcAft>
              <a:buClrTx/>
              <a:buSzTx/>
              <a:buFontTx/>
              <a:buNone/>
              <a:tabLst/>
              <a:defRPr/>
            </a:pPr>
            <a:endParaRPr kumimoji="0" lang="en-GB" altLang="ja-JP" sz="7200" b="1" i="0" u="none" strike="noStrike" kern="0" cap="none" spc="0" normalizeH="0" baseline="0" noProof="0" dirty="0">
              <a:ln>
                <a:noFill/>
              </a:ln>
              <a:solidFill>
                <a:sysClr val="windowText" lastClr="000000"/>
              </a:solidFill>
              <a:effectLst/>
              <a:uLnTx/>
              <a:uFillTx/>
              <a:latin typeface="Calibri"/>
              <a:cs typeface="Calibri"/>
            </a:endParaRPr>
          </a:p>
          <a:p>
            <a:pPr marL="2137410" marR="5080" lvl="0" indent="-2125345" algn="ctr" defTabSz="914400" eaLnBrk="1" fontAlgn="auto" latinLnBrk="0" hangingPunct="1">
              <a:lnSpc>
                <a:spcPts val="8770"/>
              </a:lnSpc>
              <a:spcBef>
                <a:spcPts val="85"/>
              </a:spcBef>
              <a:spcAft>
                <a:spcPts val="0"/>
              </a:spcAft>
              <a:buClrTx/>
              <a:buSzTx/>
              <a:buFontTx/>
              <a:buNone/>
              <a:tabLst/>
              <a:defRPr/>
            </a:pPr>
            <a:r>
              <a:rPr kumimoji="0" lang="ja-JP" altLang="en-US" sz="7200" b="1" i="0" u="none" strike="noStrike" kern="0" cap="none" spc="0" normalizeH="0" baseline="0" noProof="0" dirty="0">
                <a:ln>
                  <a:noFill/>
                </a:ln>
                <a:solidFill>
                  <a:sysClr val="windowText" lastClr="000000"/>
                </a:solidFill>
                <a:effectLst/>
                <a:uLnTx/>
                <a:uFillTx/>
                <a:latin typeface="Calibri"/>
                <a:cs typeface="Calibri"/>
              </a:rPr>
              <a:t>ピッコロ弱くね？</a:t>
            </a:r>
          </a:p>
        </p:txBody>
      </p:sp>
    </p:spTree>
    <p:extLst>
      <p:ext uri="{BB962C8B-B14F-4D97-AF65-F5344CB8AC3E}">
        <p14:creationId xmlns:p14="http://schemas.microsoft.com/office/powerpoint/2010/main" val="975751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共通</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其の二</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悟飯の大猿化時のピッコロの反応</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ところが</a:t>
            </a:r>
            <a:r>
              <a:rPr kumimoji="0" lang="en-US" altLang="ja-JP" sz="2400" b="0"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0" marR="0" lvl="0" indent="0" defTabSz="914400" eaLnBrk="1" fontAlgn="auto" latinLnBrk="0" hangingPunct="1">
              <a:lnSpc>
                <a:spcPct val="100000"/>
              </a:lnSpc>
              <a:spcBef>
                <a:spcPts val="1705"/>
              </a:spcBef>
              <a:spcAft>
                <a:spcPts val="0"/>
              </a:spcAft>
              <a:buClrTx/>
              <a:buSzTx/>
              <a:buFontTx/>
              <a:buNone/>
              <a:tabLst/>
              <a:defRPr/>
            </a:pP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12700" marR="5080" lvl="0" indent="0" defTabSz="914400" eaLnBrk="1" fontAlgn="auto" latinLnBrk="0" hangingPunct="1">
              <a:lnSpc>
                <a:spcPts val="2590"/>
              </a:lnSpc>
              <a:spcBef>
                <a:spcPts val="5"/>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公式設定でも言及されていないのであくまで仮説だが、大猿化時の戦闘力</a:t>
            </a:r>
            <a:r>
              <a:rPr kumimoji="0" lang="ja-JP" altLang="en-US" sz="2400" b="0" i="0" u="none" strike="noStrike" kern="0" cap="none" spc="-30" normalizeH="0" baseline="0" noProof="0" dirty="0">
                <a:ln>
                  <a:noFill/>
                </a:ln>
                <a:solidFill>
                  <a:sysClr val="windowText" lastClr="000000"/>
                </a:solidFill>
                <a:effectLst/>
                <a:uLnTx/>
                <a:uFillTx/>
                <a:latin typeface="Yu Gothic"/>
                <a:cs typeface="Yu Gothic"/>
              </a:rPr>
              <a:t>が通常時の </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MAX</a:t>
            </a:r>
            <a:r>
              <a:rPr kumimoji="0" lang="ja-JP" altLang="en-US" sz="2400" b="0" i="0" u="none" strike="noStrike" kern="0" cap="none" spc="-114"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を基準とするならば、ラディッツに突撃した時の悟飯の戦</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闘力は</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1307</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なので、大猿時はその</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10</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倍の</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13070</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もある計算になる。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226060" lvl="0" indent="0" defTabSz="914400" eaLnBrk="1" fontAlgn="auto" latinLnBrk="0" hangingPunct="1">
              <a:lnSpc>
                <a:spcPts val="2590"/>
              </a:lnSpc>
              <a:spcBef>
                <a:spcPts val="100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当時</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ラディッツ戦</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のピッコロの戦闘力は、</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408</a:t>
            </a:r>
            <a:r>
              <a:rPr kumimoji="0" lang="ja-JP" altLang="en-US" sz="2400" b="0"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2400" b="0"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1330</a:t>
            </a:r>
            <a:r>
              <a:rPr kumimoji="0" lang="ja-JP" altLang="en-US" sz="2400" b="0"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2400" b="0"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1480</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なので、実に</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 </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10</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倍近くの開きがある。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675"/>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むしろ無事で済んだのが奇跡的かもしれない。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159310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a:t>
            </a:r>
            <a:r>
              <a:rPr lang="ja-JP" altLang="en-US" b="1" dirty="0">
                <a:latin typeface="Calibri (Headings)"/>
              </a:rPr>
              <a:t>ア</a:t>
            </a:r>
            <a:r>
              <a:rPr lang="en-US" altLang="ja-JP" b="1" dirty="0">
                <a:latin typeface="Calibri (Headings)"/>
              </a:rPr>
              <a:t>] </a:t>
            </a:r>
            <a:r>
              <a:rPr lang="ja-JP" altLang="en-US" b="1" dirty="0">
                <a:latin typeface="Calibri (Headings)"/>
              </a:rPr>
              <a:t>其の三</a:t>
            </a:r>
            <a:r>
              <a:rPr lang="en-US" altLang="ja-JP" b="1" dirty="0">
                <a:latin typeface="Calibri (Headings)"/>
              </a:rPr>
              <a:t>: </a:t>
            </a:r>
            <a:r>
              <a:rPr lang="ja-JP" altLang="en-US" b="1" dirty="0">
                <a:latin typeface="Calibri (Headings)"/>
              </a:rPr>
              <a:t>ベジータの宇宙空間での行動</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6" name="object 5">
            <a:extLst>
              <a:ext uri="{FF2B5EF4-FFF2-40B4-BE49-F238E27FC236}">
                <a16:creationId xmlns:a16="http://schemas.microsoft.com/office/drawing/2014/main" id="{421E322F-E4DF-55FE-370C-972CDCBC982D}"/>
              </a:ext>
            </a:extLst>
          </p:cNvPr>
          <p:cNvPicPr/>
          <p:nvPr/>
        </p:nvPicPr>
        <p:blipFill>
          <a:blip r:embed="rId3" cstate="print"/>
          <a:stretch>
            <a:fillRect/>
          </a:stretch>
        </p:blipFill>
        <p:spPr>
          <a:xfrm>
            <a:off x="7559039" y="3525011"/>
            <a:ext cx="3134867" cy="2376643"/>
          </a:xfrm>
          <a:prstGeom prst="rect">
            <a:avLst/>
          </a:prstGeom>
        </p:spPr>
      </p:pic>
      <p:sp>
        <p:nvSpPr>
          <p:cNvPr id="7" name="object 6">
            <a:extLst>
              <a:ext uri="{FF2B5EF4-FFF2-40B4-BE49-F238E27FC236}">
                <a16:creationId xmlns:a16="http://schemas.microsoft.com/office/drawing/2014/main" id="{0C04A682-167E-8B31-544D-CEA8D37223C9}"/>
              </a:ext>
            </a:extLst>
          </p:cNvPr>
          <p:cNvSpPr txBox="1"/>
          <p:nvPr/>
        </p:nvSpPr>
        <p:spPr>
          <a:xfrm>
            <a:off x="928217" y="1695114"/>
            <a:ext cx="6630823" cy="4153060"/>
          </a:xfrm>
          <a:prstGeom prst="rect">
            <a:avLst/>
          </a:prstGeom>
        </p:spPr>
        <p:txBody>
          <a:bodyPr vert="horz" wrap="square" lIns="0" tIns="104775" rIns="0" bIns="0" rtlCol="0">
            <a:spAutoFit/>
          </a:bodyPr>
          <a:lstStyle/>
          <a:p>
            <a:pPr marL="12700" marR="0" lvl="0" indent="0" defTabSz="914400" eaLnBrk="1" fontAlgn="auto" latinLnBrk="0" hangingPunct="1">
              <a:lnSpc>
                <a:spcPct val="100000"/>
              </a:lnSpc>
              <a:spcBef>
                <a:spcPts val="810"/>
              </a:spcBef>
              <a:spcAft>
                <a:spcPts val="0"/>
              </a:spcAft>
              <a:buClrTx/>
              <a:buSzTx/>
              <a:buFontTx/>
              <a:buNone/>
              <a:tabLst/>
              <a:defRPr/>
            </a:pP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フリーザ曰く、</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3600"/>
              </a:lnSpc>
              <a:spcBef>
                <a:spcPts val="229"/>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サイヤ人は宇宙空間では生き延びられないし、</a:t>
            </a:r>
            <a:endParaRPr kumimoji="0" lang="en-GB" altLang="ja-JP" sz="2400" b="0" i="0" u="none" strike="noStrike" kern="0" cap="none" spc="-5"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3600"/>
              </a:lnSpc>
              <a:spcBef>
                <a:spcPts val="229"/>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公式設定でもそのように定義されていたはず。</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1833880" lvl="0" indent="0" defTabSz="914400" eaLnBrk="1" fontAlgn="auto" latinLnBrk="0" hangingPunct="1">
              <a:lnSpc>
                <a:spcPct val="125000"/>
              </a:lnSpc>
              <a:spcBef>
                <a:spcPts val="334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しかし、地球襲来前に立ち寄ったアーリア星を滅ぼす際や、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2138680" lvl="0" indent="0" defTabSz="914400" eaLnBrk="1" fontAlgn="auto" latinLnBrk="0" hangingPunct="1">
              <a:lnSpc>
                <a:spcPct val="124600"/>
              </a:lnSpc>
              <a:spcBef>
                <a:spcPts val="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フリーザ戦後に悟空を探して</a:t>
            </a:r>
            <a:endParaRPr lang="en-GB" altLang="ja-JP" sz="2400" kern="0" spc="-50" dirty="0">
              <a:solidFill>
                <a:sysClr val="windowText" lastClr="000000"/>
              </a:solidFill>
              <a:latin typeface="Yu Gothic"/>
              <a:cs typeface="Yu Gothic"/>
            </a:endParaRPr>
          </a:p>
          <a:p>
            <a:pPr marL="12700" marR="2138680" lvl="0" indent="0" defTabSz="914400" eaLnBrk="1" fontAlgn="auto" latinLnBrk="0" hangingPunct="1">
              <a:lnSpc>
                <a:spcPct val="124600"/>
              </a:lnSpc>
              <a:spcBef>
                <a:spcPts val="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フリーザ軍残党と戦った際は、</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2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宇宙空間で活動していた。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pic>
        <p:nvPicPr>
          <p:cNvPr id="8" name="object 4">
            <a:extLst>
              <a:ext uri="{FF2B5EF4-FFF2-40B4-BE49-F238E27FC236}">
                <a16:creationId xmlns:a16="http://schemas.microsoft.com/office/drawing/2014/main" id="{3EE3EAE7-70AA-E3F6-1A1E-875C148F48D2}"/>
              </a:ext>
            </a:extLst>
          </p:cNvPr>
          <p:cNvPicPr/>
          <p:nvPr/>
        </p:nvPicPr>
        <p:blipFill>
          <a:blip r:embed="rId4" cstate="print"/>
          <a:stretch>
            <a:fillRect/>
          </a:stretch>
        </p:blipFill>
        <p:spPr>
          <a:xfrm>
            <a:off x="7559040" y="1827276"/>
            <a:ext cx="3134868" cy="1697736"/>
          </a:xfrm>
          <a:prstGeom prst="rect">
            <a:avLst/>
          </a:prstGeom>
        </p:spPr>
      </p:pic>
    </p:spTree>
    <p:extLst>
      <p:ext uri="{BB962C8B-B14F-4D97-AF65-F5344CB8AC3E}">
        <p14:creationId xmlns:p14="http://schemas.microsoft.com/office/powerpoint/2010/main" val="1847737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a:t>
            </a:r>
            <a:r>
              <a:rPr lang="ja-JP" altLang="en-US" b="1" dirty="0">
                <a:latin typeface="Calibri (Headings)"/>
              </a:rPr>
              <a:t>ア</a:t>
            </a:r>
            <a:r>
              <a:rPr lang="en-US" altLang="ja-JP" b="1" dirty="0">
                <a:latin typeface="Calibri (Headings)"/>
              </a:rPr>
              <a:t>] </a:t>
            </a:r>
            <a:r>
              <a:rPr lang="ja-JP" altLang="en-US" b="1" dirty="0">
                <a:latin typeface="Calibri (Headings)"/>
              </a:rPr>
              <a:t>其の三</a:t>
            </a:r>
            <a:r>
              <a:rPr lang="en-US" altLang="ja-JP" b="1" dirty="0">
                <a:latin typeface="Calibri (Headings)"/>
              </a:rPr>
              <a:t>: </a:t>
            </a:r>
            <a:r>
              <a:rPr lang="ja-JP" altLang="en-US" b="1" dirty="0">
                <a:latin typeface="Calibri (Headings)"/>
              </a:rPr>
              <a:t>ベジータの宇宙空間での行動</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830705" marR="5080" lvl="0" indent="-1818639" algn="ctr" defTabSz="914400" eaLnBrk="1" fontAlgn="auto" latinLnBrk="0" hangingPunct="1">
              <a:lnSpc>
                <a:spcPts val="7130"/>
              </a:lnSpc>
              <a:spcBef>
                <a:spcPts val="990"/>
              </a:spcBef>
              <a:spcAft>
                <a:spcPts val="0"/>
              </a:spcAft>
              <a:buClrTx/>
              <a:buSzTx/>
              <a:buFontTx/>
              <a:buNone/>
              <a:tabLst/>
              <a:defRPr/>
            </a:pPr>
            <a:endParaRPr kumimoji="0" lang="en-GB" altLang="ja-JP" sz="6600" b="1" i="0" u="none" strike="noStrike" kern="0" cap="none" spc="0" normalizeH="0" baseline="0" noProof="0" dirty="0">
              <a:ln>
                <a:noFill/>
              </a:ln>
              <a:solidFill>
                <a:sysClr val="windowText" lastClr="000000"/>
              </a:solidFill>
              <a:effectLst/>
              <a:uLnTx/>
              <a:uFillTx/>
              <a:latin typeface="Calibri"/>
              <a:cs typeface="Calibri"/>
            </a:endParaRPr>
          </a:p>
          <a:p>
            <a:pPr marL="1830705" marR="5080" lvl="0" indent="-1818639" algn="ctr" defTabSz="914400" eaLnBrk="1" fontAlgn="auto" latinLnBrk="0" hangingPunct="1">
              <a:lnSpc>
                <a:spcPts val="7130"/>
              </a:lnSpc>
              <a:spcBef>
                <a:spcPts val="990"/>
              </a:spcBef>
              <a:spcAft>
                <a:spcPts val="0"/>
              </a:spcAft>
              <a:buClrTx/>
              <a:buSzTx/>
              <a:buFontTx/>
              <a:buNone/>
              <a:tabLst/>
              <a:defRPr/>
            </a:pPr>
            <a:r>
              <a:rPr kumimoji="0" lang="ja-JP" altLang="en-US" sz="6600" b="1" i="0" u="none" strike="noStrike" kern="0" cap="none" spc="0" normalizeH="0" baseline="0" noProof="0" dirty="0">
                <a:ln>
                  <a:noFill/>
                </a:ln>
                <a:solidFill>
                  <a:sysClr val="windowText" lastClr="000000"/>
                </a:solidFill>
                <a:effectLst/>
                <a:uLnTx/>
                <a:uFillTx/>
                <a:latin typeface="Calibri"/>
                <a:cs typeface="Calibri"/>
              </a:rPr>
              <a:t>普通に行動してね？</a:t>
            </a:r>
          </a:p>
        </p:txBody>
      </p:sp>
    </p:spTree>
    <p:extLst>
      <p:ext uri="{BB962C8B-B14F-4D97-AF65-F5344CB8AC3E}">
        <p14:creationId xmlns:p14="http://schemas.microsoft.com/office/powerpoint/2010/main" val="2231592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sz="3600" b="1" dirty="0">
                <a:latin typeface="Calibri (Headings)"/>
              </a:rPr>
              <a:t>[</a:t>
            </a:r>
            <a:r>
              <a:rPr lang="ja-JP" altLang="en-US" sz="3600" b="1" dirty="0">
                <a:latin typeface="Calibri (Headings)"/>
              </a:rPr>
              <a:t>共通</a:t>
            </a:r>
            <a:r>
              <a:rPr lang="en-US" altLang="ja-JP" sz="3600" b="1" dirty="0">
                <a:latin typeface="Calibri (Headings)"/>
              </a:rPr>
              <a:t>] </a:t>
            </a:r>
            <a:r>
              <a:rPr lang="ja-JP" altLang="en-US" sz="3600" b="1" dirty="0">
                <a:latin typeface="Calibri (Headings)"/>
              </a:rPr>
              <a:t>其の四</a:t>
            </a:r>
            <a:r>
              <a:rPr lang="en-US" altLang="ja-JP" sz="3600" b="1" dirty="0">
                <a:latin typeface="Calibri (Headings)"/>
              </a:rPr>
              <a:t>: </a:t>
            </a:r>
            <a:r>
              <a:rPr lang="ja-JP" altLang="en-US" sz="3600" b="1" dirty="0">
                <a:latin typeface="Calibri (Headings)"/>
              </a:rPr>
              <a:t>ドクター・ゲロの人造人間への改造</a:t>
            </a:r>
            <a:endParaRPr lang="en-GB" sz="36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5" name="object 4">
            <a:extLst>
              <a:ext uri="{FF2B5EF4-FFF2-40B4-BE49-F238E27FC236}">
                <a16:creationId xmlns:a16="http://schemas.microsoft.com/office/drawing/2014/main" id="{985D83F3-BEEA-B21F-3C7C-90CE1F8ACF80}"/>
              </a:ext>
            </a:extLst>
          </p:cNvPr>
          <p:cNvPicPr/>
          <p:nvPr/>
        </p:nvPicPr>
        <p:blipFill>
          <a:blip r:embed="rId3" cstate="print"/>
          <a:stretch>
            <a:fillRect/>
          </a:stretch>
        </p:blipFill>
        <p:spPr>
          <a:xfrm>
            <a:off x="8243316" y="4154423"/>
            <a:ext cx="3110483" cy="1958339"/>
          </a:xfrm>
          <a:prstGeom prst="rect">
            <a:avLst/>
          </a:prstGeom>
        </p:spPr>
      </p:pic>
      <p:sp>
        <p:nvSpPr>
          <p:cNvPr id="7" name="object 6">
            <a:extLst>
              <a:ext uri="{FF2B5EF4-FFF2-40B4-BE49-F238E27FC236}">
                <a16:creationId xmlns:a16="http://schemas.microsoft.com/office/drawing/2014/main" id="{AE4E4180-FAF5-FCCA-D5F3-F77B20E68A9D}"/>
              </a:ext>
            </a:extLst>
          </p:cNvPr>
          <p:cNvSpPr txBox="1"/>
          <p:nvPr/>
        </p:nvSpPr>
        <p:spPr>
          <a:xfrm>
            <a:off x="928217" y="1691781"/>
            <a:ext cx="7315099" cy="3234219"/>
          </a:xfrm>
          <a:prstGeom prst="rect">
            <a:avLst/>
          </a:prstGeom>
        </p:spPr>
        <p:txBody>
          <a:bodyPr vert="horz" wrap="square" lIns="0" tIns="12700" rIns="0" bIns="0" rtlCol="0">
            <a:spAutoFit/>
          </a:bodyPr>
          <a:lstStyle/>
          <a:p>
            <a:pPr marL="12700" marR="1069975" lvl="0" indent="0" defTabSz="914400" eaLnBrk="1" fontAlgn="auto" latinLnBrk="0" hangingPunct="1">
              <a:lnSpc>
                <a:spcPct val="124600"/>
              </a:lnSpc>
              <a:spcBef>
                <a:spcPts val="95"/>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フリーザ地球襲来時から</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3</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年後までの間に、</a:t>
            </a:r>
            <a:endParaRPr kumimoji="0" lang="en-GB" altLang="ja-JP" sz="2400" b="0" i="0" u="none" strike="noStrike" kern="0" cap="none" spc="-10" normalizeH="0" baseline="0" noProof="0" dirty="0">
              <a:ln>
                <a:noFill/>
              </a:ln>
              <a:solidFill>
                <a:sysClr val="windowText" lastClr="000000"/>
              </a:solidFill>
              <a:effectLst/>
              <a:uLnTx/>
              <a:uFillTx/>
              <a:latin typeface="Yu Gothic"/>
              <a:cs typeface="Yu Gothic"/>
            </a:endParaRPr>
          </a:p>
          <a:p>
            <a:pPr marL="12700" marR="1069975" lvl="0" indent="0" defTabSz="914400" eaLnBrk="1" fontAlgn="auto" latinLnBrk="0" hangingPunct="1">
              <a:lnSpc>
                <a:spcPct val="124600"/>
              </a:lnSpc>
              <a:spcBef>
                <a:spcPts val="95"/>
              </a:spcBef>
              <a:spcAft>
                <a:spcPts val="0"/>
              </a:spcAft>
              <a:buClrTx/>
              <a:buSzTx/>
              <a:buFontTx/>
              <a:buNone/>
              <a:tabLst/>
              <a:defRPr/>
            </a:pP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ドクター・ゲロは</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19</a:t>
            </a: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号を製造し、</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25"/>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自分自身も人造人間になった。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4295"/>
              </a:spcBef>
              <a:spcAft>
                <a:spcPts val="0"/>
              </a:spcAft>
              <a:buClrTx/>
              <a:buSzTx/>
              <a:buFontTx/>
              <a:buNone/>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しかし、旧式のエネルギー吸収型を選択したため、</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2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自分より遥かに戦闘力を上回る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1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永久エネルギー式の</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17</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号に殺されてしまった。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pic>
        <p:nvPicPr>
          <p:cNvPr id="8" name="object 5">
            <a:extLst>
              <a:ext uri="{FF2B5EF4-FFF2-40B4-BE49-F238E27FC236}">
                <a16:creationId xmlns:a16="http://schemas.microsoft.com/office/drawing/2014/main" id="{CA46BF83-542C-F30B-A13D-3449184D4821}"/>
              </a:ext>
            </a:extLst>
          </p:cNvPr>
          <p:cNvPicPr/>
          <p:nvPr/>
        </p:nvPicPr>
        <p:blipFill>
          <a:blip r:embed="rId4" cstate="print"/>
          <a:stretch>
            <a:fillRect/>
          </a:stretch>
        </p:blipFill>
        <p:spPr>
          <a:xfrm>
            <a:off x="8243316" y="1805393"/>
            <a:ext cx="1307592" cy="2348483"/>
          </a:xfrm>
          <a:prstGeom prst="rect">
            <a:avLst/>
          </a:prstGeom>
        </p:spPr>
      </p:pic>
    </p:spTree>
    <p:extLst>
      <p:ext uri="{BB962C8B-B14F-4D97-AF65-F5344CB8AC3E}">
        <p14:creationId xmlns:p14="http://schemas.microsoft.com/office/powerpoint/2010/main" val="624381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共通</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其の四</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ドクター・ゲロの人造人間への改造</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5080" lvl="0" indent="-1270" algn="ctr" defTabSz="914400" eaLnBrk="1" fontAlgn="auto" latinLnBrk="0" hangingPunct="1">
              <a:lnSpc>
                <a:spcPct val="97700"/>
              </a:lnSpc>
              <a:spcBef>
                <a:spcPts val="250"/>
              </a:spcBef>
              <a:spcAft>
                <a:spcPts val="0"/>
              </a:spcAft>
              <a:buClrTx/>
              <a:buSzTx/>
              <a:buFontTx/>
              <a:buNone/>
              <a:tabLst/>
              <a:defRPr/>
            </a:pPr>
            <a:endParaRPr kumimoji="0" lang="en-GB" altLang="ja-JP" sz="5400" b="1" i="0" u="none" strike="noStrike" kern="0" cap="none" spc="0" normalizeH="0" baseline="0" noProof="0" dirty="0">
              <a:ln>
                <a:noFill/>
              </a:ln>
              <a:solidFill>
                <a:sysClr val="windowText" lastClr="000000"/>
              </a:solidFill>
              <a:effectLst/>
              <a:uLnTx/>
              <a:uFillTx/>
              <a:latin typeface="Calibri"/>
              <a:cs typeface="Calibri"/>
            </a:endParaRPr>
          </a:p>
          <a:p>
            <a:pPr marL="12700" marR="5080" lvl="0" indent="-1270" algn="ctr" defTabSz="914400" eaLnBrk="1" fontAlgn="auto" latinLnBrk="0" hangingPunct="1">
              <a:lnSpc>
                <a:spcPct val="97700"/>
              </a:lnSpc>
              <a:spcBef>
                <a:spcPts val="250"/>
              </a:spcBef>
              <a:spcAft>
                <a:spcPts val="0"/>
              </a:spcAft>
              <a:buClrTx/>
              <a:buSzTx/>
              <a:buFontTx/>
              <a:buNone/>
              <a:tabLst/>
              <a:defRPr/>
            </a:pPr>
            <a:r>
              <a:rPr kumimoji="0" lang="ja-JP" altLang="en-US" sz="5400" b="1" i="0" u="none" strike="noStrike" kern="0" cap="none" spc="0" normalizeH="0" baseline="0" noProof="0" dirty="0">
                <a:ln>
                  <a:noFill/>
                </a:ln>
                <a:solidFill>
                  <a:sysClr val="windowText" lastClr="000000"/>
                </a:solidFill>
                <a:effectLst/>
                <a:uLnTx/>
                <a:uFillTx/>
                <a:latin typeface="Calibri"/>
                <a:cs typeface="Calibri"/>
              </a:rPr>
              <a:t>自分も永久エネルギー式に</a:t>
            </a:r>
            <a:endParaRPr kumimoji="0" lang="en-GB" altLang="ja-JP" sz="5400" b="1" i="0" u="none" strike="noStrike" kern="0" cap="none" spc="0" normalizeH="0" baseline="0" noProof="0" dirty="0">
              <a:ln>
                <a:noFill/>
              </a:ln>
              <a:solidFill>
                <a:sysClr val="windowText" lastClr="000000"/>
              </a:solidFill>
              <a:effectLst/>
              <a:uLnTx/>
              <a:uFillTx/>
              <a:latin typeface="Calibri"/>
              <a:cs typeface="Calibri"/>
            </a:endParaRPr>
          </a:p>
          <a:p>
            <a:pPr marL="12700" marR="5080" lvl="0" indent="-1270" algn="ctr" defTabSz="914400" eaLnBrk="1" fontAlgn="auto" latinLnBrk="0" hangingPunct="1">
              <a:lnSpc>
                <a:spcPct val="97700"/>
              </a:lnSpc>
              <a:spcBef>
                <a:spcPts val="250"/>
              </a:spcBef>
              <a:spcAft>
                <a:spcPts val="0"/>
              </a:spcAft>
              <a:buClrTx/>
              <a:buSzTx/>
              <a:buFontTx/>
              <a:buNone/>
              <a:tabLst/>
              <a:defRPr/>
            </a:pPr>
            <a:r>
              <a:rPr kumimoji="0" lang="ja-JP" altLang="en-US" sz="5400" b="1" i="0" u="none" strike="noStrike" kern="0" cap="none" spc="0" normalizeH="0" baseline="0" noProof="0" dirty="0">
                <a:ln>
                  <a:noFill/>
                </a:ln>
                <a:solidFill>
                  <a:sysClr val="windowText" lastClr="000000"/>
                </a:solidFill>
                <a:effectLst/>
                <a:uLnTx/>
                <a:uFillTx/>
                <a:latin typeface="Calibri"/>
                <a:cs typeface="Calibri"/>
              </a:rPr>
              <a:t>なってれば良かったんじゃね？</a:t>
            </a:r>
          </a:p>
        </p:txBody>
      </p:sp>
    </p:spTree>
    <p:extLst>
      <p:ext uri="{BB962C8B-B14F-4D97-AF65-F5344CB8AC3E}">
        <p14:creationId xmlns:p14="http://schemas.microsoft.com/office/powerpoint/2010/main" val="27788161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共通</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其の四</a:t>
            </a:r>
            <a:r>
              <a:rPr kumimoji="0" lang="en-US" altLang="ja-JP"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ja-JP" altLang="en-US" sz="36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ドクター・ゲロの人造人間への改造</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lnSpcReduction="10000"/>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ところが</a:t>
            </a:r>
            <a:r>
              <a:rPr kumimoji="0" lang="en-US" altLang="ja-JP" sz="2400" b="0"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0" marR="0" lvl="0" indent="0" defTabSz="914400" eaLnBrk="1" fontAlgn="auto" latinLnBrk="0" hangingPunct="1">
              <a:lnSpc>
                <a:spcPct val="100000"/>
              </a:lnSpc>
              <a:spcBef>
                <a:spcPts val="1090"/>
              </a:spcBef>
              <a:spcAft>
                <a:spcPts val="0"/>
              </a:spcAft>
              <a:buClrTx/>
              <a:buSzTx/>
              <a:buFontTx/>
              <a:buNone/>
              <a:tabLst/>
              <a:defRPr/>
            </a:pP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12700" marR="197485" lvl="0" indent="0" defTabSz="914400" eaLnBrk="1" fontAlgn="auto" latinLnBrk="0" hangingPunct="1">
              <a:lnSpc>
                <a:spcPct val="70000"/>
              </a:lnSpc>
              <a:spcBef>
                <a:spcPts val="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最新のメカトロニクスからバイオテクノロジーまで操る超天才科学者のド</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クターゲロが唯一苦手としていたのが</a:t>
            </a: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性格のコントロール</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であった。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495934" lvl="0" indent="0" defTabSz="914400" eaLnBrk="1" fontAlgn="auto" latinLnBrk="0" hangingPunct="1">
              <a:lnSpc>
                <a:spcPct val="70000"/>
              </a:lnSpc>
              <a:spcBef>
                <a:spcPts val="100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実際、</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17</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号と</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18</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号は言うことを聞かなかったため、制御しやすいエネル</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ギー吸収式を採用して</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19</a:t>
            </a: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号を製造した。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190500" lvl="0" indent="0" defTabSz="914400" eaLnBrk="1" fontAlgn="auto" latinLnBrk="0" hangingPunct="1">
              <a:lnSpc>
                <a:spcPct val="70000"/>
              </a:lnSpc>
              <a:spcBef>
                <a:spcPts val="994"/>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また、</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ドクターゲロを人造人間に改造したのは</a:t>
            </a:r>
            <a:r>
              <a:rPr kumimoji="0" lang="en-US" altLang="ja-JP" sz="2400" b="1" i="0" u="none" strike="noStrike" kern="0" cap="none" spc="-10" normalizeH="0" baseline="0" noProof="0" dirty="0">
                <a:ln>
                  <a:noFill/>
                </a:ln>
                <a:solidFill>
                  <a:sysClr val="windowText" lastClr="000000"/>
                </a:solidFill>
                <a:effectLst/>
                <a:uLnTx/>
                <a:uFillTx/>
                <a:latin typeface="Calibri"/>
                <a:cs typeface="Calibri"/>
              </a:rPr>
              <a:t>19</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号</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あったため、もし</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19</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号</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を永久式にしていたら言うことを聞かずに自身を改造できなかったかも。</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197485" lvl="0" indent="0" defTabSz="914400" eaLnBrk="1" fontAlgn="auto" latinLnBrk="0" hangingPunct="1">
              <a:lnSpc>
                <a:spcPct val="70000"/>
              </a:lnSpc>
              <a:spcBef>
                <a:spcPts val="10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自分自身の永久エネルギー式への改造に成功しても、性格のコントロール</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に失敗して自我を失っていた可能性もある。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ct val="70000"/>
              </a:lnSpc>
              <a:spcBef>
                <a:spcPts val="401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そう考えると、やはり</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19</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号、</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20</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号</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ドクターゲロ</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はエネルギー吸収式を選択せざるを得なかったのかも知れない。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8890664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a:t>
            </a:r>
            <a:r>
              <a:rPr lang="ja-JP" altLang="en-US" b="1" dirty="0">
                <a:latin typeface="Calibri (Headings)"/>
              </a:rPr>
              <a:t>ア</a:t>
            </a:r>
            <a:r>
              <a:rPr lang="en-US" altLang="ja-JP" b="1" dirty="0">
                <a:latin typeface="Calibri (Headings)"/>
              </a:rPr>
              <a:t>] </a:t>
            </a:r>
            <a:r>
              <a:rPr lang="ja-JP" altLang="en-US" b="1" dirty="0">
                <a:latin typeface="Calibri (Headings)"/>
              </a:rPr>
              <a:t>其の五</a:t>
            </a:r>
            <a:r>
              <a:rPr lang="en-US" altLang="ja-JP" b="1" dirty="0">
                <a:latin typeface="Calibri (Headings)"/>
              </a:rPr>
              <a:t>: </a:t>
            </a:r>
            <a:r>
              <a:rPr lang="ja-JP" altLang="en-US" b="1" dirty="0">
                <a:latin typeface="Calibri (Headings)"/>
              </a:rPr>
              <a:t>セルジュニアの数</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3" name="object 3">
            <a:extLst>
              <a:ext uri="{FF2B5EF4-FFF2-40B4-BE49-F238E27FC236}">
                <a16:creationId xmlns:a16="http://schemas.microsoft.com/office/drawing/2014/main" id="{7B39DC35-131B-A3E4-2DFC-434213FFCA22}"/>
              </a:ext>
            </a:extLst>
          </p:cNvPr>
          <p:cNvGrpSpPr/>
          <p:nvPr/>
        </p:nvGrpSpPr>
        <p:grpSpPr>
          <a:xfrm>
            <a:off x="7903464" y="3063239"/>
            <a:ext cx="3444240" cy="3063240"/>
            <a:chOff x="7903464" y="3063239"/>
            <a:chExt cx="3444240" cy="3063240"/>
          </a:xfrm>
        </p:grpSpPr>
        <p:pic>
          <p:nvPicPr>
            <p:cNvPr id="5" name="object 4">
              <a:extLst>
                <a:ext uri="{FF2B5EF4-FFF2-40B4-BE49-F238E27FC236}">
                  <a16:creationId xmlns:a16="http://schemas.microsoft.com/office/drawing/2014/main" id="{A64A6E2D-907F-6270-262A-DB5E2DEC965F}"/>
                </a:ext>
              </a:extLst>
            </p:cNvPr>
            <p:cNvPicPr/>
            <p:nvPr/>
          </p:nvPicPr>
          <p:blipFill>
            <a:blip r:embed="rId3" cstate="print"/>
            <a:stretch>
              <a:fillRect/>
            </a:stretch>
          </p:blipFill>
          <p:spPr>
            <a:xfrm>
              <a:off x="7903464" y="3063239"/>
              <a:ext cx="3444239" cy="3063240"/>
            </a:xfrm>
            <a:prstGeom prst="rect">
              <a:avLst/>
            </a:prstGeom>
          </p:spPr>
        </p:pic>
        <p:sp>
          <p:nvSpPr>
            <p:cNvPr id="6" name="object 5">
              <a:extLst>
                <a:ext uri="{FF2B5EF4-FFF2-40B4-BE49-F238E27FC236}">
                  <a16:creationId xmlns:a16="http://schemas.microsoft.com/office/drawing/2014/main" id="{05D967A7-67A3-5FEE-A24E-E57FAE3A0B50}"/>
                </a:ext>
              </a:extLst>
            </p:cNvPr>
            <p:cNvSpPr/>
            <p:nvPr/>
          </p:nvSpPr>
          <p:spPr>
            <a:xfrm>
              <a:off x="8089392" y="4547615"/>
              <a:ext cx="166370" cy="172720"/>
            </a:xfrm>
            <a:custGeom>
              <a:avLst/>
              <a:gdLst/>
              <a:ahLst/>
              <a:cxnLst/>
              <a:rect l="l" t="t" r="r" b="b"/>
              <a:pathLst>
                <a:path w="166370" h="172720">
                  <a:moveTo>
                    <a:pt x="166116" y="0"/>
                  </a:moveTo>
                  <a:lnTo>
                    <a:pt x="0" y="0"/>
                  </a:lnTo>
                  <a:lnTo>
                    <a:pt x="0" y="172212"/>
                  </a:lnTo>
                  <a:lnTo>
                    <a:pt x="166116" y="172212"/>
                  </a:lnTo>
                  <a:lnTo>
                    <a:pt x="166116"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object 6">
            <a:extLst>
              <a:ext uri="{FF2B5EF4-FFF2-40B4-BE49-F238E27FC236}">
                <a16:creationId xmlns:a16="http://schemas.microsoft.com/office/drawing/2014/main" id="{469A2BBD-2715-B043-9D01-4DABCC382620}"/>
              </a:ext>
            </a:extLst>
          </p:cNvPr>
          <p:cNvSpPr txBox="1"/>
          <p:nvPr/>
        </p:nvSpPr>
        <p:spPr>
          <a:xfrm>
            <a:off x="8125459" y="4528820"/>
            <a:ext cx="96520" cy="19367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1</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8" name="object 7">
            <a:extLst>
              <a:ext uri="{FF2B5EF4-FFF2-40B4-BE49-F238E27FC236}">
                <a16:creationId xmlns:a16="http://schemas.microsoft.com/office/drawing/2014/main" id="{22F61CE6-4484-D341-4EB9-1FAB2000D4D4}"/>
              </a:ext>
            </a:extLst>
          </p:cNvPr>
          <p:cNvSpPr/>
          <p:nvPr/>
        </p:nvSpPr>
        <p:spPr>
          <a:xfrm>
            <a:off x="8482583" y="4509515"/>
            <a:ext cx="166370" cy="170815"/>
          </a:xfrm>
          <a:custGeom>
            <a:avLst/>
            <a:gdLst/>
            <a:ahLst/>
            <a:cxnLst/>
            <a:rect l="l" t="t" r="r" b="b"/>
            <a:pathLst>
              <a:path w="166370" h="170814">
                <a:moveTo>
                  <a:pt x="166116" y="0"/>
                </a:moveTo>
                <a:lnTo>
                  <a:pt x="0" y="0"/>
                </a:lnTo>
                <a:lnTo>
                  <a:pt x="0" y="170687"/>
                </a:lnTo>
                <a:lnTo>
                  <a:pt x="166116" y="170687"/>
                </a:lnTo>
                <a:lnTo>
                  <a:pt x="166116"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object 8">
            <a:extLst>
              <a:ext uri="{FF2B5EF4-FFF2-40B4-BE49-F238E27FC236}">
                <a16:creationId xmlns:a16="http://schemas.microsoft.com/office/drawing/2014/main" id="{D823BA33-C756-9885-59CD-5D083E6A84E7}"/>
              </a:ext>
            </a:extLst>
          </p:cNvPr>
          <p:cNvSpPr txBox="1"/>
          <p:nvPr/>
        </p:nvSpPr>
        <p:spPr>
          <a:xfrm>
            <a:off x="8518906" y="4490465"/>
            <a:ext cx="96520" cy="19367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2</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11" name="object 9">
            <a:extLst>
              <a:ext uri="{FF2B5EF4-FFF2-40B4-BE49-F238E27FC236}">
                <a16:creationId xmlns:a16="http://schemas.microsoft.com/office/drawing/2014/main" id="{98265C8F-2F90-9D0C-096C-C3893AE1000A}"/>
              </a:ext>
            </a:extLst>
          </p:cNvPr>
          <p:cNvSpPr/>
          <p:nvPr/>
        </p:nvSpPr>
        <p:spPr>
          <a:xfrm>
            <a:off x="8935211" y="4680203"/>
            <a:ext cx="166370" cy="172720"/>
          </a:xfrm>
          <a:custGeom>
            <a:avLst/>
            <a:gdLst/>
            <a:ahLst/>
            <a:cxnLst/>
            <a:rect l="l" t="t" r="r" b="b"/>
            <a:pathLst>
              <a:path w="166370" h="172720">
                <a:moveTo>
                  <a:pt x="166116" y="0"/>
                </a:moveTo>
                <a:lnTo>
                  <a:pt x="0" y="0"/>
                </a:lnTo>
                <a:lnTo>
                  <a:pt x="0" y="172212"/>
                </a:lnTo>
                <a:lnTo>
                  <a:pt x="166116" y="172212"/>
                </a:lnTo>
                <a:lnTo>
                  <a:pt x="166116"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object 10">
            <a:extLst>
              <a:ext uri="{FF2B5EF4-FFF2-40B4-BE49-F238E27FC236}">
                <a16:creationId xmlns:a16="http://schemas.microsoft.com/office/drawing/2014/main" id="{761E5047-6B20-4206-69EA-3826CA405EAB}"/>
              </a:ext>
            </a:extLst>
          </p:cNvPr>
          <p:cNvSpPr txBox="1"/>
          <p:nvPr/>
        </p:nvSpPr>
        <p:spPr>
          <a:xfrm>
            <a:off x="8970644" y="4662042"/>
            <a:ext cx="96520" cy="19367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3</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13" name="object 11">
            <a:extLst>
              <a:ext uri="{FF2B5EF4-FFF2-40B4-BE49-F238E27FC236}">
                <a16:creationId xmlns:a16="http://schemas.microsoft.com/office/drawing/2014/main" id="{8656D113-BF15-9E0C-8F95-B02B85D1E3A7}"/>
              </a:ext>
            </a:extLst>
          </p:cNvPr>
          <p:cNvSpPr/>
          <p:nvPr/>
        </p:nvSpPr>
        <p:spPr>
          <a:xfrm>
            <a:off x="9418319" y="4136135"/>
            <a:ext cx="166370" cy="172720"/>
          </a:xfrm>
          <a:custGeom>
            <a:avLst/>
            <a:gdLst/>
            <a:ahLst/>
            <a:cxnLst/>
            <a:rect l="l" t="t" r="r" b="b"/>
            <a:pathLst>
              <a:path w="166370" h="172720">
                <a:moveTo>
                  <a:pt x="166116" y="0"/>
                </a:moveTo>
                <a:lnTo>
                  <a:pt x="0" y="0"/>
                </a:lnTo>
                <a:lnTo>
                  <a:pt x="0" y="172212"/>
                </a:lnTo>
                <a:lnTo>
                  <a:pt x="166116" y="172212"/>
                </a:lnTo>
                <a:lnTo>
                  <a:pt x="166116"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bject 12">
            <a:extLst>
              <a:ext uri="{FF2B5EF4-FFF2-40B4-BE49-F238E27FC236}">
                <a16:creationId xmlns:a16="http://schemas.microsoft.com/office/drawing/2014/main" id="{992E8AFF-AB8B-7C3A-A103-D52D46730F44}"/>
              </a:ext>
            </a:extLst>
          </p:cNvPr>
          <p:cNvSpPr txBox="1"/>
          <p:nvPr/>
        </p:nvSpPr>
        <p:spPr>
          <a:xfrm>
            <a:off x="9454388" y="4117340"/>
            <a:ext cx="96520" cy="19367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4</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15" name="object 13">
            <a:extLst>
              <a:ext uri="{FF2B5EF4-FFF2-40B4-BE49-F238E27FC236}">
                <a16:creationId xmlns:a16="http://schemas.microsoft.com/office/drawing/2014/main" id="{EAB4780D-196E-BE47-0F58-F963880A60F3}"/>
              </a:ext>
            </a:extLst>
          </p:cNvPr>
          <p:cNvSpPr/>
          <p:nvPr/>
        </p:nvSpPr>
        <p:spPr>
          <a:xfrm>
            <a:off x="10754868" y="4178808"/>
            <a:ext cx="166370" cy="170815"/>
          </a:xfrm>
          <a:custGeom>
            <a:avLst/>
            <a:gdLst/>
            <a:ahLst/>
            <a:cxnLst/>
            <a:rect l="l" t="t" r="r" b="b"/>
            <a:pathLst>
              <a:path w="166370" h="170814">
                <a:moveTo>
                  <a:pt x="166116" y="0"/>
                </a:moveTo>
                <a:lnTo>
                  <a:pt x="0" y="0"/>
                </a:lnTo>
                <a:lnTo>
                  <a:pt x="0" y="170688"/>
                </a:lnTo>
                <a:lnTo>
                  <a:pt x="166116" y="170688"/>
                </a:lnTo>
                <a:lnTo>
                  <a:pt x="166116"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object 14">
            <a:extLst>
              <a:ext uri="{FF2B5EF4-FFF2-40B4-BE49-F238E27FC236}">
                <a16:creationId xmlns:a16="http://schemas.microsoft.com/office/drawing/2014/main" id="{D3A2B21C-6E2D-C481-B901-378D24C77D1C}"/>
              </a:ext>
            </a:extLst>
          </p:cNvPr>
          <p:cNvSpPr txBox="1"/>
          <p:nvPr/>
        </p:nvSpPr>
        <p:spPr>
          <a:xfrm>
            <a:off x="10790681" y="4159377"/>
            <a:ext cx="96520" cy="19367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6</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17" name="object 15">
            <a:extLst>
              <a:ext uri="{FF2B5EF4-FFF2-40B4-BE49-F238E27FC236}">
                <a16:creationId xmlns:a16="http://schemas.microsoft.com/office/drawing/2014/main" id="{1C3BBD62-9E5F-B3E2-0402-94F57BD5A3E7}"/>
              </a:ext>
            </a:extLst>
          </p:cNvPr>
          <p:cNvSpPr/>
          <p:nvPr/>
        </p:nvSpPr>
        <p:spPr>
          <a:xfrm>
            <a:off x="10130028" y="4331208"/>
            <a:ext cx="167640" cy="170815"/>
          </a:xfrm>
          <a:custGeom>
            <a:avLst/>
            <a:gdLst/>
            <a:ahLst/>
            <a:cxnLst/>
            <a:rect l="l" t="t" r="r" b="b"/>
            <a:pathLst>
              <a:path w="167640" h="170814">
                <a:moveTo>
                  <a:pt x="167640" y="0"/>
                </a:moveTo>
                <a:lnTo>
                  <a:pt x="0" y="0"/>
                </a:lnTo>
                <a:lnTo>
                  <a:pt x="0" y="170688"/>
                </a:lnTo>
                <a:lnTo>
                  <a:pt x="167640" y="170688"/>
                </a:lnTo>
                <a:lnTo>
                  <a:pt x="167640"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object 16">
            <a:extLst>
              <a:ext uri="{FF2B5EF4-FFF2-40B4-BE49-F238E27FC236}">
                <a16:creationId xmlns:a16="http://schemas.microsoft.com/office/drawing/2014/main" id="{2BED3672-0B7C-3682-AB42-93E342F4FC93}"/>
              </a:ext>
            </a:extLst>
          </p:cNvPr>
          <p:cNvSpPr txBox="1"/>
          <p:nvPr/>
        </p:nvSpPr>
        <p:spPr>
          <a:xfrm>
            <a:off x="10166731" y="4311777"/>
            <a:ext cx="96520" cy="19367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5</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19" name="object 17">
            <a:extLst>
              <a:ext uri="{FF2B5EF4-FFF2-40B4-BE49-F238E27FC236}">
                <a16:creationId xmlns:a16="http://schemas.microsoft.com/office/drawing/2014/main" id="{5166612F-8777-FEB0-276B-CB89B165C2A0}"/>
              </a:ext>
            </a:extLst>
          </p:cNvPr>
          <p:cNvSpPr/>
          <p:nvPr/>
        </p:nvSpPr>
        <p:spPr>
          <a:xfrm>
            <a:off x="11178540" y="4366259"/>
            <a:ext cx="166370" cy="172720"/>
          </a:xfrm>
          <a:custGeom>
            <a:avLst/>
            <a:gdLst/>
            <a:ahLst/>
            <a:cxnLst/>
            <a:rect l="l" t="t" r="r" b="b"/>
            <a:pathLst>
              <a:path w="166370" h="172720">
                <a:moveTo>
                  <a:pt x="166116" y="0"/>
                </a:moveTo>
                <a:lnTo>
                  <a:pt x="0" y="0"/>
                </a:lnTo>
                <a:lnTo>
                  <a:pt x="0" y="172212"/>
                </a:lnTo>
                <a:lnTo>
                  <a:pt x="166116" y="172212"/>
                </a:lnTo>
                <a:lnTo>
                  <a:pt x="166116"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object 18">
            <a:extLst>
              <a:ext uri="{FF2B5EF4-FFF2-40B4-BE49-F238E27FC236}">
                <a16:creationId xmlns:a16="http://schemas.microsoft.com/office/drawing/2014/main" id="{63B12D75-142E-0CB7-ABAB-4AF7FACFB87C}"/>
              </a:ext>
            </a:extLst>
          </p:cNvPr>
          <p:cNvSpPr txBox="1"/>
          <p:nvPr/>
        </p:nvSpPr>
        <p:spPr>
          <a:xfrm>
            <a:off x="11214354" y="4347717"/>
            <a:ext cx="96520" cy="19367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7</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21" name="object 19">
            <a:extLst>
              <a:ext uri="{FF2B5EF4-FFF2-40B4-BE49-F238E27FC236}">
                <a16:creationId xmlns:a16="http://schemas.microsoft.com/office/drawing/2014/main" id="{10F6AFDC-FDA4-39B0-F68D-4ED6415D5D4E}"/>
              </a:ext>
            </a:extLst>
          </p:cNvPr>
          <p:cNvSpPr txBox="1"/>
          <p:nvPr/>
        </p:nvSpPr>
        <p:spPr>
          <a:xfrm>
            <a:off x="923645" y="1751533"/>
            <a:ext cx="9941560" cy="2122376"/>
          </a:xfrm>
          <a:prstGeom prst="rect">
            <a:avLst/>
          </a:prstGeom>
          <a:ln>
            <a:noFill/>
          </a:ln>
        </p:spPr>
        <p:txBody>
          <a:bodyPr vert="horz" wrap="square" lIns="0" tIns="49530" rIns="0" bIns="0" rtlCol="0">
            <a:spAutoFit/>
          </a:bodyPr>
          <a:lstStyle/>
          <a:p>
            <a:pPr marL="12700" marR="0" lvl="0" indent="0" defTabSz="914400" eaLnBrk="1" fontAlgn="auto" latinLnBrk="0" hangingPunct="1">
              <a:lnSpc>
                <a:spcPts val="2735"/>
              </a:lnSpc>
              <a:spcBef>
                <a:spcPts val="100"/>
              </a:spcBef>
              <a:spcAft>
                <a:spcPts val="0"/>
              </a:spcAft>
              <a:buClrTx/>
              <a:buSzTx/>
              <a:buFontTx/>
              <a:buNone/>
              <a:tabLst/>
              <a:defRPr/>
            </a:pPr>
            <a:r>
              <a:rPr kumimoji="0" lang="ja-JP" altLang="en-US" sz="2400" b="0" i="0" u="none" strike="noStrike" kern="0" cap="none" spc="-10" normalizeH="0" baseline="0" noProof="0" dirty="0">
                <a:ln>
                  <a:noFill/>
                </a:ln>
                <a:solidFill>
                  <a:prstClr val="black"/>
                </a:solidFill>
                <a:effectLst/>
                <a:uLnTx/>
                <a:uFillTx/>
                <a:latin typeface="Yu Gothic"/>
                <a:ea typeface="+mn-ea"/>
              </a:rPr>
              <a:t>セルゲームにて、悟飯の真のパワーを引き出す目的で</a:t>
            </a:r>
            <a:r>
              <a:rPr kumimoji="0" lang="en-US" altLang="ja-JP" sz="2400" b="0" i="0" u="none" strike="noStrike" kern="0" cap="none" spc="-10" normalizeH="0" baseline="0" noProof="0" dirty="0">
                <a:ln>
                  <a:noFill/>
                </a:ln>
                <a:solidFill>
                  <a:prstClr val="black"/>
                </a:solidFill>
                <a:effectLst/>
                <a:uLnTx/>
                <a:uFillTx/>
                <a:latin typeface="Calibri"/>
                <a:ea typeface="+mn-ea"/>
                <a:cs typeface="Calibri"/>
              </a:rPr>
              <a:t>7</a:t>
            </a:r>
            <a:r>
              <a:rPr kumimoji="0" lang="ja-JP" altLang="en-US" sz="2400" b="0" i="0" u="none" strike="noStrike" kern="0" cap="none" spc="-15" normalizeH="0" baseline="0" noProof="0" dirty="0">
                <a:ln>
                  <a:noFill/>
                </a:ln>
                <a:solidFill>
                  <a:prstClr val="black"/>
                </a:solidFill>
                <a:effectLst/>
                <a:uLnTx/>
                <a:uFillTx/>
                <a:latin typeface="Yu Gothic"/>
                <a:ea typeface="+mn-ea"/>
              </a:rPr>
              <a:t>体のセルジュニアを</a:t>
            </a:r>
            <a:r>
              <a:rPr kumimoji="0" lang="ja-JP" altLang="en-US" sz="2400" b="0" i="0" u="none" strike="noStrike" kern="0" cap="none" spc="0" normalizeH="0" baseline="0" noProof="0" dirty="0">
                <a:ln>
                  <a:noFill/>
                </a:ln>
                <a:solidFill>
                  <a:prstClr val="black"/>
                </a:solidFill>
                <a:effectLst/>
                <a:uLnTx/>
                <a:uFillTx/>
                <a:latin typeface="Yu Gothic"/>
                <a:ea typeface="+mn-ea"/>
              </a:rPr>
              <a:t>生み出し、観戦中の</a:t>
            </a:r>
            <a:r>
              <a:rPr kumimoji="0" lang="en-US" altLang="ja-JP" sz="2400" b="0" i="0" u="none" strike="noStrike" kern="0" cap="none" spc="-10" normalizeH="0" baseline="0" noProof="0" dirty="0">
                <a:ln>
                  <a:noFill/>
                </a:ln>
                <a:solidFill>
                  <a:prstClr val="black"/>
                </a:solidFill>
                <a:effectLst/>
                <a:uLnTx/>
                <a:uFillTx/>
                <a:latin typeface="Calibri"/>
                <a:ea typeface="+mn-ea"/>
                <a:cs typeface="Calibri"/>
              </a:rPr>
              <a:t>7</a:t>
            </a:r>
            <a:r>
              <a:rPr kumimoji="0" lang="ja-JP" altLang="en-US" sz="2400" b="0" i="0" u="none" strike="noStrike" kern="0" cap="none" spc="270" normalizeH="0" baseline="0" noProof="0" dirty="0">
                <a:ln>
                  <a:noFill/>
                </a:ln>
                <a:solidFill>
                  <a:prstClr val="black"/>
                </a:solidFill>
                <a:effectLst/>
                <a:uLnTx/>
                <a:uFillTx/>
                <a:latin typeface="Yu Gothic"/>
                <a:ea typeface="+mn-ea"/>
              </a:rPr>
              <a:t>人の</a:t>
            </a:r>
            <a:r>
              <a:rPr kumimoji="0" lang="en-US" altLang="ja-JP" sz="2400" b="0" i="0" u="none" strike="noStrike" kern="0" cap="none" spc="0" normalizeH="0" baseline="0" noProof="0" dirty="0">
                <a:ln>
                  <a:noFill/>
                </a:ln>
                <a:solidFill>
                  <a:prstClr val="black"/>
                </a:solidFill>
                <a:effectLst/>
                <a:uLnTx/>
                <a:uFillTx/>
                <a:latin typeface="Calibri"/>
                <a:ea typeface="+mn-ea"/>
                <a:cs typeface="Calibri"/>
              </a:rPr>
              <a:t>Z</a:t>
            </a:r>
            <a:r>
              <a:rPr kumimoji="0" lang="ja-JP" altLang="en-US" sz="2400" b="0" i="0" u="none" strike="noStrike" kern="0" cap="none" spc="-25" normalizeH="0" baseline="0" noProof="0" dirty="0">
                <a:ln>
                  <a:noFill/>
                </a:ln>
                <a:solidFill>
                  <a:prstClr val="black"/>
                </a:solidFill>
                <a:effectLst/>
                <a:uLnTx/>
                <a:uFillTx/>
                <a:latin typeface="Calibri"/>
                <a:ea typeface="+mn-ea"/>
                <a:cs typeface="Calibri"/>
              </a:rPr>
              <a:t> </a:t>
            </a:r>
            <a:r>
              <a:rPr kumimoji="0" lang="ja-JP" altLang="en-US" sz="2400" b="0" i="0" u="none" strike="noStrike" kern="0" cap="none" spc="-5" normalizeH="0" baseline="0" noProof="0" dirty="0">
                <a:ln>
                  <a:noFill/>
                </a:ln>
                <a:solidFill>
                  <a:prstClr val="black"/>
                </a:solidFill>
                <a:effectLst/>
                <a:uLnTx/>
                <a:uFillTx/>
                <a:latin typeface="Yu Gothic"/>
                <a:ea typeface="+mn-ea"/>
              </a:rPr>
              <a:t>戦士を痛めつけさせた。</a:t>
            </a:r>
          </a:p>
          <a:p>
            <a:pPr marL="12700" marR="0" lvl="0" indent="0" defTabSz="914400" eaLnBrk="1" fontAlgn="auto" latinLnBrk="0" hangingPunct="1">
              <a:lnSpc>
                <a:spcPct val="100000"/>
              </a:lnSpc>
              <a:spcBef>
                <a:spcPts val="4310"/>
              </a:spcBef>
              <a:spcAft>
                <a:spcPts val="0"/>
              </a:spcAft>
              <a:buClrTx/>
              <a:buSzTx/>
              <a:buFontTx/>
              <a:buNone/>
              <a:tabLst/>
              <a:defRPr/>
            </a:pPr>
            <a:r>
              <a:rPr kumimoji="0" lang="ja-JP" altLang="en-US" sz="2400" b="0" i="0" u="none" strike="noStrike" kern="0" cap="none" spc="-10" normalizeH="0" baseline="0" noProof="0" dirty="0">
                <a:ln>
                  <a:noFill/>
                </a:ln>
                <a:solidFill>
                  <a:prstClr val="black"/>
                </a:solidFill>
                <a:effectLst/>
                <a:uLnTx/>
                <a:uFillTx/>
                <a:latin typeface="Yu Gothic"/>
                <a:ea typeface="+mn-ea"/>
              </a:rPr>
              <a:t>しかし、生み出したのは</a:t>
            </a:r>
            <a:r>
              <a:rPr kumimoji="0" lang="en-US" altLang="ja-JP" sz="2400" b="0" i="0" u="none" strike="noStrike" kern="0" cap="none" spc="-10" normalizeH="0" baseline="0" noProof="0" dirty="0">
                <a:ln>
                  <a:noFill/>
                </a:ln>
                <a:solidFill>
                  <a:prstClr val="black"/>
                </a:solidFill>
                <a:effectLst/>
                <a:uLnTx/>
                <a:uFillTx/>
                <a:latin typeface="Calibri"/>
                <a:ea typeface="+mn-ea"/>
                <a:cs typeface="Calibri"/>
              </a:rPr>
              <a:t>7</a:t>
            </a:r>
            <a:r>
              <a:rPr kumimoji="0" lang="ja-JP" altLang="en-US" sz="2400" b="0" i="0" u="none" strike="noStrike" kern="0" cap="none" spc="-20" normalizeH="0" baseline="0" noProof="0" dirty="0">
                <a:ln>
                  <a:noFill/>
                </a:ln>
                <a:solidFill>
                  <a:prstClr val="black"/>
                </a:solidFill>
                <a:effectLst/>
                <a:uLnTx/>
                <a:uFillTx/>
                <a:latin typeface="Yu Gothic"/>
                <a:ea typeface="+mn-ea"/>
              </a:rPr>
              <a:t>体にも関わらず、</a:t>
            </a:r>
          </a:p>
          <a:p>
            <a:pPr marL="12700" marR="0" lvl="0" indent="0" defTabSz="914400" eaLnBrk="1" fontAlgn="auto" latinLnBrk="0" hangingPunct="1">
              <a:lnSpc>
                <a:spcPct val="100000"/>
              </a:lnSpc>
              <a:spcBef>
                <a:spcPts val="710"/>
              </a:spcBef>
              <a:spcAft>
                <a:spcPts val="0"/>
              </a:spcAft>
              <a:buClrTx/>
              <a:buSzTx/>
              <a:buFontTx/>
              <a:buNone/>
              <a:tabLst/>
              <a:defRPr/>
            </a:pPr>
            <a:r>
              <a:rPr kumimoji="0" lang="ja-JP" altLang="en-US" sz="2400" b="0" i="0" u="none" strike="noStrike" kern="0" cap="none" spc="0" normalizeH="0" baseline="0" noProof="0" dirty="0">
                <a:ln>
                  <a:noFill/>
                </a:ln>
                <a:solidFill>
                  <a:prstClr val="black"/>
                </a:solidFill>
                <a:effectLst/>
                <a:uLnTx/>
                <a:uFillTx/>
                <a:latin typeface="Yu Gothic"/>
                <a:ea typeface="+mn-ea"/>
              </a:rPr>
              <a:t>実際に悟飯に倒されたのは</a:t>
            </a:r>
            <a:r>
              <a:rPr kumimoji="0" lang="en-US" altLang="ja-JP" sz="2400" b="0" i="0" u="none" strike="noStrike" kern="0" cap="none" spc="-10" normalizeH="0" baseline="0" noProof="0" dirty="0">
                <a:ln>
                  <a:noFill/>
                </a:ln>
                <a:solidFill>
                  <a:prstClr val="black"/>
                </a:solidFill>
                <a:effectLst/>
                <a:uLnTx/>
                <a:uFillTx/>
                <a:latin typeface="Calibri"/>
                <a:ea typeface="+mn-ea"/>
                <a:cs typeface="Calibri"/>
              </a:rPr>
              <a:t>8</a:t>
            </a:r>
            <a:r>
              <a:rPr kumimoji="0" lang="ja-JP" altLang="en-US" sz="2400" b="0" i="0" u="none" strike="noStrike" kern="0" cap="none" spc="-10" normalizeH="0" baseline="0" noProof="0" dirty="0">
                <a:ln>
                  <a:noFill/>
                </a:ln>
                <a:solidFill>
                  <a:prstClr val="black"/>
                </a:solidFill>
                <a:effectLst/>
                <a:uLnTx/>
                <a:uFillTx/>
                <a:latin typeface="Yu Gothic"/>
                <a:ea typeface="+mn-ea"/>
              </a:rPr>
              <a:t>体であった。</a:t>
            </a:r>
          </a:p>
        </p:txBody>
      </p:sp>
    </p:spTree>
    <p:extLst>
      <p:ext uri="{BB962C8B-B14F-4D97-AF65-F5344CB8AC3E}">
        <p14:creationId xmlns:p14="http://schemas.microsoft.com/office/powerpoint/2010/main" val="14204967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a:t>
            </a:r>
            <a:r>
              <a:rPr lang="ja-JP" altLang="en-US" b="1" dirty="0">
                <a:latin typeface="Calibri (Headings)"/>
              </a:rPr>
              <a:t>ア</a:t>
            </a:r>
            <a:r>
              <a:rPr lang="en-US" altLang="ja-JP" b="1" dirty="0">
                <a:latin typeface="Calibri (Headings)"/>
              </a:rPr>
              <a:t>] </a:t>
            </a:r>
            <a:r>
              <a:rPr lang="ja-JP" altLang="en-US" b="1" dirty="0">
                <a:latin typeface="Calibri (Headings)"/>
              </a:rPr>
              <a:t>其の五</a:t>
            </a:r>
            <a:r>
              <a:rPr lang="en-US" altLang="ja-JP" b="1" dirty="0">
                <a:latin typeface="Calibri (Headings)"/>
              </a:rPr>
              <a:t>: </a:t>
            </a:r>
            <a:r>
              <a:rPr lang="ja-JP" altLang="en-US" b="1" dirty="0">
                <a:latin typeface="Calibri (Headings)"/>
              </a:rPr>
              <a:t>セルジュニアの数</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3" name="object 3">
            <a:extLst>
              <a:ext uri="{FF2B5EF4-FFF2-40B4-BE49-F238E27FC236}">
                <a16:creationId xmlns:a16="http://schemas.microsoft.com/office/drawing/2014/main" id="{4EAF0FFB-90B9-010E-10EA-A6988624CF68}"/>
              </a:ext>
            </a:extLst>
          </p:cNvPr>
          <p:cNvGrpSpPr/>
          <p:nvPr/>
        </p:nvGrpSpPr>
        <p:grpSpPr>
          <a:xfrm>
            <a:off x="431291" y="2046732"/>
            <a:ext cx="10791825" cy="4051300"/>
            <a:chOff x="431291" y="2046732"/>
            <a:chExt cx="10791825" cy="4051300"/>
          </a:xfrm>
        </p:grpSpPr>
        <p:pic>
          <p:nvPicPr>
            <p:cNvPr id="5" name="object 4">
              <a:extLst>
                <a:ext uri="{FF2B5EF4-FFF2-40B4-BE49-F238E27FC236}">
                  <a16:creationId xmlns:a16="http://schemas.microsoft.com/office/drawing/2014/main" id="{1B5ABCF6-B0D7-C715-7743-7130AC53CB27}"/>
                </a:ext>
              </a:extLst>
            </p:cNvPr>
            <p:cNvPicPr/>
            <p:nvPr/>
          </p:nvPicPr>
          <p:blipFill>
            <a:blip r:embed="rId3" cstate="print"/>
            <a:stretch>
              <a:fillRect/>
            </a:stretch>
          </p:blipFill>
          <p:spPr>
            <a:xfrm>
              <a:off x="431291" y="2046732"/>
              <a:ext cx="10783823" cy="2025396"/>
            </a:xfrm>
            <a:prstGeom prst="rect">
              <a:avLst/>
            </a:prstGeom>
          </p:spPr>
        </p:pic>
        <p:pic>
          <p:nvPicPr>
            <p:cNvPr id="6" name="object 5">
              <a:extLst>
                <a:ext uri="{FF2B5EF4-FFF2-40B4-BE49-F238E27FC236}">
                  <a16:creationId xmlns:a16="http://schemas.microsoft.com/office/drawing/2014/main" id="{27AD186D-08C5-6DAC-4F9F-5671903C5045}"/>
                </a:ext>
              </a:extLst>
            </p:cNvPr>
            <p:cNvPicPr/>
            <p:nvPr/>
          </p:nvPicPr>
          <p:blipFill>
            <a:blip r:embed="rId4" cstate="print"/>
            <a:stretch>
              <a:fillRect/>
            </a:stretch>
          </p:blipFill>
          <p:spPr>
            <a:xfrm>
              <a:off x="443483" y="4072127"/>
              <a:ext cx="10779252" cy="2025396"/>
            </a:xfrm>
            <a:prstGeom prst="rect">
              <a:avLst/>
            </a:prstGeom>
          </p:spPr>
        </p:pic>
      </p:grpSp>
      <p:sp>
        <p:nvSpPr>
          <p:cNvPr id="7" name="object 6">
            <a:extLst>
              <a:ext uri="{FF2B5EF4-FFF2-40B4-BE49-F238E27FC236}">
                <a16:creationId xmlns:a16="http://schemas.microsoft.com/office/drawing/2014/main" id="{D4E1EE57-288C-5B81-982C-477B2D1C7DD9}"/>
              </a:ext>
            </a:extLst>
          </p:cNvPr>
          <p:cNvSpPr/>
          <p:nvPr/>
        </p:nvSpPr>
        <p:spPr>
          <a:xfrm>
            <a:off x="428244" y="2046732"/>
            <a:ext cx="166370" cy="170815"/>
          </a:xfrm>
          <a:custGeom>
            <a:avLst/>
            <a:gdLst/>
            <a:ahLst/>
            <a:cxnLst/>
            <a:rect l="l" t="t" r="r" b="b"/>
            <a:pathLst>
              <a:path w="166370" h="170814">
                <a:moveTo>
                  <a:pt x="166115" y="0"/>
                </a:moveTo>
                <a:lnTo>
                  <a:pt x="0" y="0"/>
                </a:lnTo>
                <a:lnTo>
                  <a:pt x="0" y="170687"/>
                </a:lnTo>
                <a:lnTo>
                  <a:pt x="166115" y="170687"/>
                </a:lnTo>
                <a:lnTo>
                  <a:pt x="166115"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object 7">
            <a:extLst>
              <a:ext uri="{FF2B5EF4-FFF2-40B4-BE49-F238E27FC236}">
                <a16:creationId xmlns:a16="http://schemas.microsoft.com/office/drawing/2014/main" id="{BFC4EA23-DCBD-CF78-C67C-DC148589FA1D}"/>
              </a:ext>
            </a:extLst>
          </p:cNvPr>
          <p:cNvSpPr txBox="1"/>
          <p:nvPr/>
        </p:nvSpPr>
        <p:spPr>
          <a:xfrm>
            <a:off x="462787" y="2027047"/>
            <a:ext cx="96520" cy="19367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1</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10" name="object 8">
            <a:extLst>
              <a:ext uri="{FF2B5EF4-FFF2-40B4-BE49-F238E27FC236}">
                <a16:creationId xmlns:a16="http://schemas.microsoft.com/office/drawing/2014/main" id="{22B4CB31-5753-A036-8ACD-9D0CCB0E8D52}"/>
              </a:ext>
            </a:extLst>
          </p:cNvPr>
          <p:cNvSpPr/>
          <p:nvPr/>
        </p:nvSpPr>
        <p:spPr>
          <a:xfrm>
            <a:off x="3113532" y="2049779"/>
            <a:ext cx="166370" cy="170815"/>
          </a:xfrm>
          <a:custGeom>
            <a:avLst/>
            <a:gdLst/>
            <a:ahLst/>
            <a:cxnLst/>
            <a:rect l="l" t="t" r="r" b="b"/>
            <a:pathLst>
              <a:path w="166370" h="170814">
                <a:moveTo>
                  <a:pt x="166116" y="0"/>
                </a:moveTo>
                <a:lnTo>
                  <a:pt x="0" y="0"/>
                </a:lnTo>
                <a:lnTo>
                  <a:pt x="0" y="170687"/>
                </a:lnTo>
                <a:lnTo>
                  <a:pt x="166116" y="170687"/>
                </a:lnTo>
                <a:lnTo>
                  <a:pt x="166116"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object 9">
            <a:extLst>
              <a:ext uri="{FF2B5EF4-FFF2-40B4-BE49-F238E27FC236}">
                <a16:creationId xmlns:a16="http://schemas.microsoft.com/office/drawing/2014/main" id="{99BCF66F-1494-7EA7-4B3F-1C16113BAC7D}"/>
              </a:ext>
            </a:extLst>
          </p:cNvPr>
          <p:cNvSpPr txBox="1"/>
          <p:nvPr/>
        </p:nvSpPr>
        <p:spPr>
          <a:xfrm>
            <a:off x="3148964" y="2030095"/>
            <a:ext cx="96520" cy="19367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2</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12" name="object 10">
            <a:extLst>
              <a:ext uri="{FF2B5EF4-FFF2-40B4-BE49-F238E27FC236}">
                <a16:creationId xmlns:a16="http://schemas.microsoft.com/office/drawing/2014/main" id="{C65B0549-422E-25D4-9B01-F94AE71CB762}"/>
              </a:ext>
            </a:extLst>
          </p:cNvPr>
          <p:cNvSpPr/>
          <p:nvPr/>
        </p:nvSpPr>
        <p:spPr>
          <a:xfrm>
            <a:off x="5817108" y="2046732"/>
            <a:ext cx="166370" cy="170815"/>
          </a:xfrm>
          <a:custGeom>
            <a:avLst/>
            <a:gdLst/>
            <a:ahLst/>
            <a:cxnLst/>
            <a:rect l="l" t="t" r="r" b="b"/>
            <a:pathLst>
              <a:path w="166370" h="170814">
                <a:moveTo>
                  <a:pt x="166115" y="0"/>
                </a:moveTo>
                <a:lnTo>
                  <a:pt x="0" y="0"/>
                </a:lnTo>
                <a:lnTo>
                  <a:pt x="0" y="170687"/>
                </a:lnTo>
                <a:lnTo>
                  <a:pt x="166115" y="170687"/>
                </a:lnTo>
                <a:lnTo>
                  <a:pt x="166115"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object 11">
            <a:extLst>
              <a:ext uri="{FF2B5EF4-FFF2-40B4-BE49-F238E27FC236}">
                <a16:creationId xmlns:a16="http://schemas.microsoft.com/office/drawing/2014/main" id="{22370CF5-9072-8B30-D767-14307392D752}"/>
              </a:ext>
            </a:extLst>
          </p:cNvPr>
          <p:cNvSpPr txBox="1"/>
          <p:nvPr/>
        </p:nvSpPr>
        <p:spPr>
          <a:xfrm>
            <a:off x="5852540" y="2027047"/>
            <a:ext cx="96520" cy="19367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3</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14" name="object 12">
            <a:extLst>
              <a:ext uri="{FF2B5EF4-FFF2-40B4-BE49-F238E27FC236}">
                <a16:creationId xmlns:a16="http://schemas.microsoft.com/office/drawing/2014/main" id="{AA6B0ACB-91E2-7260-3A28-992260FD0869}"/>
              </a:ext>
            </a:extLst>
          </p:cNvPr>
          <p:cNvSpPr/>
          <p:nvPr/>
        </p:nvSpPr>
        <p:spPr>
          <a:xfrm>
            <a:off x="8494776" y="2046732"/>
            <a:ext cx="167640" cy="170815"/>
          </a:xfrm>
          <a:custGeom>
            <a:avLst/>
            <a:gdLst/>
            <a:ahLst/>
            <a:cxnLst/>
            <a:rect l="l" t="t" r="r" b="b"/>
            <a:pathLst>
              <a:path w="167640" h="170814">
                <a:moveTo>
                  <a:pt x="167640" y="0"/>
                </a:moveTo>
                <a:lnTo>
                  <a:pt x="0" y="0"/>
                </a:lnTo>
                <a:lnTo>
                  <a:pt x="0" y="170687"/>
                </a:lnTo>
                <a:lnTo>
                  <a:pt x="167640" y="170687"/>
                </a:lnTo>
                <a:lnTo>
                  <a:pt x="167640"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object 13">
            <a:extLst>
              <a:ext uri="{FF2B5EF4-FFF2-40B4-BE49-F238E27FC236}">
                <a16:creationId xmlns:a16="http://schemas.microsoft.com/office/drawing/2014/main" id="{A818608B-D791-3793-6B63-1773D52172A9}"/>
              </a:ext>
            </a:extLst>
          </p:cNvPr>
          <p:cNvSpPr txBox="1"/>
          <p:nvPr/>
        </p:nvSpPr>
        <p:spPr>
          <a:xfrm>
            <a:off x="8531097" y="2027047"/>
            <a:ext cx="96520" cy="19367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4</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16" name="object 14">
            <a:extLst>
              <a:ext uri="{FF2B5EF4-FFF2-40B4-BE49-F238E27FC236}">
                <a16:creationId xmlns:a16="http://schemas.microsoft.com/office/drawing/2014/main" id="{9818660F-CCFD-3D50-4A06-2A4102A56048}"/>
              </a:ext>
            </a:extLst>
          </p:cNvPr>
          <p:cNvSpPr/>
          <p:nvPr/>
        </p:nvSpPr>
        <p:spPr>
          <a:xfrm>
            <a:off x="3127248" y="4069079"/>
            <a:ext cx="166370" cy="170815"/>
          </a:xfrm>
          <a:custGeom>
            <a:avLst/>
            <a:gdLst/>
            <a:ahLst/>
            <a:cxnLst/>
            <a:rect l="l" t="t" r="r" b="b"/>
            <a:pathLst>
              <a:path w="166370" h="170814">
                <a:moveTo>
                  <a:pt x="166115" y="0"/>
                </a:moveTo>
                <a:lnTo>
                  <a:pt x="0" y="0"/>
                </a:lnTo>
                <a:lnTo>
                  <a:pt x="0" y="170688"/>
                </a:lnTo>
                <a:lnTo>
                  <a:pt x="166115" y="170688"/>
                </a:lnTo>
                <a:lnTo>
                  <a:pt x="166115"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object 15">
            <a:extLst>
              <a:ext uri="{FF2B5EF4-FFF2-40B4-BE49-F238E27FC236}">
                <a16:creationId xmlns:a16="http://schemas.microsoft.com/office/drawing/2014/main" id="{759804F4-2886-772D-E86F-E0D440815BB8}"/>
              </a:ext>
            </a:extLst>
          </p:cNvPr>
          <p:cNvSpPr txBox="1"/>
          <p:nvPr/>
        </p:nvSpPr>
        <p:spPr>
          <a:xfrm>
            <a:off x="3162426" y="4049344"/>
            <a:ext cx="97155" cy="19431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6</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18" name="object 16">
            <a:extLst>
              <a:ext uri="{FF2B5EF4-FFF2-40B4-BE49-F238E27FC236}">
                <a16:creationId xmlns:a16="http://schemas.microsoft.com/office/drawing/2014/main" id="{A637AB2A-EEB2-B18B-240B-97EF2E93C173}"/>
              </a:ext>
            </a:extLst>
          </p:cNvPr>
          <p:cNvSpPr/>
          <p:nvPr/>
        </p:nvSpPr>
        <p:spPr>
          <a:xfrm>
            <a:off x="443483" y="4069079"/>
            <a:ext cx="166370" cy="170815"/>
          </a:xfrm>
          <a:custGeom>
            <a:avLst/>
            <a:gdLst/>
            <a:ahLst/>
            <a:cxnLst/>
            <a:rect l="l" t="t" r="r" b="b"/>
            <a:pathLst>
              <a:path w="166370" h="170814">
                <a:moveTo>
                  <a:pt x="166115" y="0"/>
                </a:moveTo>
                <a:lnTo>
                  <a:pt x="0" y="0"/>
                </a:lnTo>
                <a:lnTo>
                  <a:pt x="0" y="170688"/>
                </a:lnTo>
                <a:lnTo>
                  <a:pt x="166115" y="170688"/>
                </a:lnTo>
                <a:lnTo>
                  <a:pt x="166115"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object 17">
            <a:extLst>
              <a:ext uri="{FF2B5EF4-FFF2-40B4-BE49-F238E27FC236}">
                <a16:creationId xmlns:a16="http://schemas.microsoft.com/office/drawing/2014/main" id="{2BFABB27-259C-2652-B32E-38CBFC25D44D}"/>
              </a:ext>
            </a:extLst>
          </p:cNvPr>
          <p:cNvSpPr txBox="1"/>
          <p:nvPr/>
        </p:nvSpPr>
        <p:spPr>
          <a:xfrm>
            <a:off x="478332" y="4049344"/>
            <a:ext cx="97155" cy="19431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5</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20" name="object 18">
            <a:extLst>
              <a:ext uri="{FF2B5EF4-FFF2-40B4-BE49-F238E27FC236}">
                <a16:creationId xmlns:a16="http://schemas.microsoft.com/office/drawing/2014/main" id="{27B17960-10CA-AB4D-92E8-50158BE51159}"/>
              </a:ext>
            </a:extLst>
          </p:cNvPr>
          <p:cNvSpPr/>
          <p:nvPr/>
        </p:nvSpPr>
        <p:spPr>
          <a:xfrm>
            <a:off x="5826252" y="4069079"/>
            <a:ext cx="166370" cy="170815"/>
          </a:xfrm>
          <a:custGeom>
            <a:avLst/>
            <a:gdLst/>
            <a:ahLst/>
            <a:cxnLst/>
            <a:rect l="l" t="t" r="r" b="b"/>
            <a:pathLst>
              <a:path w="166370" h="170814">
                <a:moveTo>
                  <a:pt x="166115" y="0"/>
                </a:moveTo>
                <a:lnTo>
                  <a:pt x="0" y="0"/>
                </a:lnTo>
                <a:lnTo>
                  <a:pt x="0" y="170688"/>
                </a:lnTo>
                <a:lnTo>
                  <a:pt x="166115" y="170688"/>
                </a:lnTo>
                <a:lnTo>
                  <a:pt x="166115"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object 19">
            <a:extLst>
              <a:ext uri="{FF2B5EF4-FFF2-40B4-BE49-F238E27FC236}">
                <a16:creationId xmlns:a16="http://schemas.microsoft.com/office/drawing/2014/main" id="{BDA4A593-1741-BEEF-5E36-7C96E2CC004A}"/>
              </a:ext>
            </a:extLst>
          </p:cNvPr>
          <p:cNvSpPr txBox="1"/>
          <p:nvPr/>
        </p:nvSpPr>
        <p:spPr>
          <a:xfrm>
            <a:off x="5861430" y="4049344"/>
            <a:ext cx="97155" cy="19431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7</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22" name="object 20">
            <a:extLst>
              <a:ext uri="{FF2B5EF4-FFF2-40B4-BE49-F238E27FC236}">
                <a16:creationId xmlns:a16="http://schemas.microsoft.com/office/drawing/2014/main" id="{9C53A616-FC45-9825-293B-DEADA77B48B3}"/>
              </a:ext>
            </a:extLst>
          </p:cNvPr>
          <p:cNvSpPr/>
          <p:nvPr/>
        </p:nvSpPr>
        <p:spPr>
          <a:xfrm>
            <a:off x="8516111" y="4079747"/>
            <a:ext cx="167640" cy="170815"/>
          </a:xfrm>
          <a:custGeom>
            <a:avLst/>
            <a:gdLst/>
            <a:ahLst/>
            <a:cxnLst/>
            <a:rect l="l" t="t" r="r" b="b"/>
            <a:pathLst>
              <a:path w="167640" h="170814">
                <a:moveTo>
                  <a:pt x="167640" y="0"/>
                </a:moveTo>
                <a:lnTo>
                  <a:pt x="0" y="0"/>
                </a:lnTo>
                <a:lnTo>
                  <a:pt x="0" y="170687"/>
                </a:lnTo>
                <a:lnTo>
                  <a:pt x="167640" y="170687"/>
                </a:lnTo>
                <a:lnTo>
                  <a:pt x="167640" y="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object 21">
            <a:extLst>
              <a:ext uri="{FF2B5EF4-FFF2-40B4-BE49-F238E27FC236}">
                <a16:creationId xmlns:a16="http://schemas.microsoft.com/office/drawing/2014/main" id="{07F990B4-0CBD-02CA-FC44-BC3AA07E0B4E}"/>
              </a:ext>
            </a:extLst>
          </p:cNvPr>
          <p:cNvSpPr txBox="1"/>
          <p:nvPr/>
        </p:nvSpPr>
        <p:spPr>
          <a:xfrm>
            <a:off x="8552815" y="4060697"/>
            <a:ext cx="96520" cy="19367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100" b="0" i="0" u="none" strike="noStrike" kern="1200" cap="none" spc="-50" normalizeH="0" baseline="0" noProof="0" dirty="0">
                <a:ln>
                  <a:noFill/>
                </a:ln>
                <a:solidFill>
                  <a:srgbClr val="FFFFFF"/>
                </a:solidFill>
                <a:effectLst/>
                <a:uLnTx/>
                <a:uFillTx/>
                <a:latin typeface="Calibri"/>
                <a:ea typeface="+mn-ea"/>
                <a:cs typeface="Calibri"/>
              </a:rPr>
              <a:t>8</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1246415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a:t>
            </a:r>
            <a:r>
              <a:rPr lang="ja-JP" altLang="en-US" b="1" dirty="0">
                <a:latin typeface="Calibri (Headings)"/>
              </a:rPr>
              <a:t>ア</a:t>
            </a:r>
            <a:r>
              <a:rPr lang="en-US" altLang="ja-JP" b="1" dirty="0">
                <a:latin typeface="Calibri (Headings)"/>
              </a:rPr>
              <a:t>] </a:t>
            </a:r>
            <a:r>
              <a:rPr lang="ja-JP" altLang="en-US" b="1" dirty="0">
                <a:latin typeface="Calibri (Headings)"/>
              </a:rPr>
              <a:t>其の五</a:t>
            </a:r>
            <a:r>
              <a:rPr lang="en-US" altLang="ja-JP" b="1" dirty="0">
                <a:latin typeface="Calibri (Headings)"/>
              </a:rPr>
              <a:t>: </a:t>
            </a:r>
            <a:r>
              <a:rPr lang="ja-JP" altLang="en-US" b="1" dirty="0">
                <a:latin typeface="Calibri (Headings)"/>
              </a:rPr>
              <a:t>セルジュニアの数</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algn="ctr" defTabSz="914400" eaLnBrk="1" fontAlgn="auto" latinLnBrk="0" hangingPunct="1">
              <a:lnSpc>
                <a:spcPct val="100000"/>
              </a:lnSpc>
              <a:spcBef>
                <a:spcPts val="100"/>
              </a:spcBef>
              <a:spcAft>
                <a:spcPts val="0"/>
              </a:spcAft>
              <a:buClrTx/>
              <a:buSzTx/>
              <a:buFontTx/>
              <a:buNone/>
              <a:tabLst/>
              <a:defRPr/>
            </a:pPr>
            <a:endParaRPr kumimoji="0" lang="en-GB" altLang="ja-JP" sz="6000" b="1" i="0" u="none" strike="noStrike" kern="0" cap="none" spc="0" normalizeH="0" baseline="0" noProof="0" dirty="0">
              <a:ln>
                <a:noFill/>
              </a:ln>
              <a:solidFill>
                <a:sysClr val="windowText" lastClr="000000"/>
              </a:solidFill>
              <a:effectLst/>
              <a:uLnTx/>
              <a:uFillTx/>
              <a:latin typeface="Calibri"/>
              <a:cs typeface="Calibri"/>
            </a:endParaRPr>
          </a:p>
          <a:p>
            <a:pPr marL="12700" marR="0" lvl="0" indent="0" algn="ctr" defTabSz="914400" eaLnBrk="1" fontAlgn="auto" latinLnBrk="0" hangingPunct="1">
              <a:lnSpc>
                <a:spcPct val="100000"/>
              </a:lnSpc>
              <a:spcBef>
                <a:spcPts val="100"/>
              </a:spcBef>
              <a:spcAft>
                <a:spcPts val="0"/>
              </a:spcAft>
              <a:buClrTx/>
              <a:buSzTx/>
              <a:buFontTx/>
              <a:buNone/>
              <a:tabLst/>
              <a:defRPr/>
            </a:pPr>
            <a:r>
              <a:rPr kumimoji="0" lang="ja-JP" altLang="en-US" sz="6000" b="1" i="0" u="none" strike="noStrike" kern="0" cap="none" spc="0" normalizeH="0" baseline="0" noProof="0" dirty="0">
                <a:ln>
                  <a:noFill/>
                </a:ln>
                <a:solidFill>
                  <a:sysClr val="windowText" lastClr="000000"/>
                </a:solidFill>
                <a:effectLst/>
                <a:uLnTx/>
                <a:uFillTx/>
                <a:latin typeface="Calibri"/>
                <a:cs typeface="Calibri"/>
              </a:rPr>
              <a:t>もう</a:t>
            </a:r>
            <a:r>
              <a:rPr kumimoji="0" lang="en-US" altLang="ja-JP" sz="6000" b="1" i="0" u="none" strike="noStrike" kern="0" cap="none" spc="0" normalizeH="0" baseline="0" noProof="0" dirty="0">
                <a:ln>
                  <a:noFill/>
                </a:ln>
                <a:solidFill>
                  <a:sysClr val="windowText" lastClr="000000"/>
                </a:solidFill>
                <a:effectLst/>
                <a:uLnTx/>
                <a:uFillTx/>
                <a:latin typeface="Calibri"/>
                <a:cs typeface="Calibri"/>
              </a:rPr>
              <a:t>1</a:t>
            </a:r>
            <a:r>
              <a:rPr kumimoji="0" lang="ja-JP" altLang="en-US" sz="6000" b="1" i="0" u="none" strike="noStrike" kern="0" cap="none" spc="0" normalizeH="0" baseline="0" noProof="0" dirty="0">
                <a:ln>
                  <a:noFill/>
                </a:ln>
                <a:solidFill>
                  <a:sysClr val="windowText" lastClr="000000"/>
                </a:solidFill>
                <a:effectLst/>
                <a:uLnTx/>
                <a:uFillTx/>
                <a:latin typeface="Calibri"/>
                <a:cs typeface="Calibri"/>
              </a:rPr>
              <a:t>体はどこから？</a:t>
            </a:r>
          </a:p>
        </p:txBody>
      </p:sp>
    </p:spTree>
    <p:extLst>
      <p:ext uri="{BB962C8B-B14F-4D97-AF65-F5344CB8AC3E}">
        <p14:creationId xmlns:p14="http://schemas.microsoft.com/office/powerpoint/2010/main" val="41280717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sz="3800" b="1" dirty="0">
                <a:latin typeface="Calibri (Headings)"/>
              </a:rPr>
              <a:t>[</a:t>
            </a:r>
            <a:r>
              <a:rPr lang="ja-JP" altLang="en-US" sz="3800" b="1" dirty="0">
                <a:latin typeface="Calibri (Headings)"/>
              </a:rPr>
              <a:t>ア</a:t>
            </a:r>
            <a:r>
              <a:rPr lang="en-US" altLang="ja-JP" sz="3800" b="1" dirty="0">
                <a:latin typeface="Calibri (Headings)"/>
              </a:rPr>
              <a:t>] </a:t>
            </a:r>
            <a:r>
              <a:rPr lang="ja-JP" altLang="en-US" sz="3800" b="1" dirty="0">
                <a:latin typeface="Calibri (Headings)"/>
              </a:rPr>
              <a:t>其の六</a:t>
            </a:r>
            <a:r>
              <a:rPr lang="en-US" altLang="ja-JP" sz="3800" b="1" dirty="0">
                <a:latin typeface="Calibri (Headings)"/>
              </a:rPr>
              <a:t>: </a:t>
            </a:r>
            <a:r>
              <a:rPr lang="ja-JP" altLang="en-US" sz="3800" b="1" dirty="0">
                <a:latin typeface="Calibri (Headings)"/>
              </a:rPr>
              <a:t>オレンジスターハイスクールの授業</a:t>
            </a:r>
            <a:endParaRPr lang="en-GB" sz="38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5" name="object 4">
            <a:extLst>
              <a:ext uri="{FF2B5EF4-FFF2-40B4-BE49-F238E27FC236}">
                <a16:creationId xmlns:a16="http://schemas.microsoft.com/office/drawing/2014/main" id="{97498568-7FFC-3CFC-7312-367B2A4B6B75}"/>
              </a:ext>
            </a:extLst>
          </p:cNvPr>
          <p:cNvPicPr/>
          <p:nvPr/>
        </p:nvPicPr>
        <p:blipFill>
          <a:blip r:embed="rId3" cstate="print"/>
          <a:stretch>
            <a:fillRect/>
          </a:stretch>
        </p:blipFill>
        <p:spPr>
          <a:xfrm>
            <a:off x="7699247" y="1762878"/>
            <a:ext cx="3653028" cy="2738628"/>
          </a:xfrm>
          <a:prstGeom prst="rect">
            <a:avLst/>
          </a:prstGeom>
        </p:spPr>
      </p:pic>
      <p:sp>
        <p:nvSpPr>
          <p:cNvPr id="9" name="object 3">
            <a:extLst>
              <a:ext uri="{FF2B5EF4-FFF2-40B4-BE49-F238E27FC236}">
                <a16:creationId xmlns:a16="http://schemas.microsoft.com/office/drawing/2014/main" id="{CEF11CD0-9072-5D28-BA87-EFC526A14893}"/>
              </a:ext>
            </a:extLst>
          </p:cNvPr>
          <p:cNvSpPr txBox="1"/>
          <p:nvPr/>
        </p:nvSpPr>
        <p:spPr>
          <a:xfrm>
            <a:off x="923194" y="1758684"/>
            <a:ext cx="6685915" cy="3122201"/>
          </a:xfrm>
          <a:prstGeom prst="rect">
            <a:avLst/>
          </a:prstGeom>
        </p:spPr>
        <p:txBody>
          <a:bodyPr vert="horz" wrap="square" lIns="0" tIns="13970" rIns="0" bIns="0" rtlCol="0">
            <a:spAutoFit/>
          </a:bodyPr>
          <a:lstStyle/>
          <a:p>
            <a:pPr marL="12700" marR="0" lvl="0" indent="0" defTabSz="914400" eaLnBrk="1" fontAlgn="auto" latinLnBrk="0" hangingPunct="1">
              <a:lnSpc>
                <a:spcPct val="100000"/>
              </a:lnSpc>
              <a:spcBef>
                <a:spcPts val="810"/>
              </a:spcBef>
              <a:spcAft>
                <a:spcPts val="0"/>
              </a:spcAft>
              <a:buClrTx/>
              <a:buSzTx/>
              <a:buFontTx/>
              <a:buNone/>
              <a:tabLst/>
              <a:defRPr/>
            </a:pP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セルゲームから</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7</a:t>
            </a:r>
            <a:r>
              <a:rPr kumimoji="0" lang="ja-JP" altLang="en-US" sz="2400" b="0" i="0" u="none" strike="noStrike" kern="0" cap="none" spc="-25" normalizeH="0" baseline="0" noProof="0" dirty="0">
                <a:ln>
                  <a:noFill/>
                </a:ln>
                <a:solidFill>
                  <a:sysClr val="windowText" lastClr="000000"/>
                </a:solidFill>
                <a:effectLst/>
                <a:uLnTx/>
                <a:uFillTx/>
                <a:latin typeface="Yu Gothic"/>
                <a:cs typeface="Yu Gothic"/>
              </a:rPr>
              <a:t>年後、</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495934" lvl="0" indent="0" defTabSz="914400" eaLnBrk="1" fontAlgn="auto" latinLnBrk="0" hangingPunct="1">
              <a:lnSpc>
                <a:spcPts val="3600"/>
              </a:lnSpc>
              <a:spcBef>
                <a:spcPts val="229"/>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悟飯が通うオレンジスターハイスクールで</a:t>
            </a:r>
            <a:endParaRPr kumimoji="0" lang="en-GB" altLang="ja-JP" sz="2400" b="0" i="0" u="none" strike="noStrike" kern="0" cap="none" spc="-5" normalizeH="0" baseline="0" noProof="0" dirty="0">
              <a:ln>
                <a:noFill/>
              </a:ln>
              <a:solidFill>
                <a:sysClr val="windowText" lastClr="000000"/>
              </a:solidFill>
              <a:effectLst/>
              <a:uLnTx/>
              <a:uFillTx/>
              <a:latin typeface="Yu Gothic"/>
              <a:cs typeface="Yu Gothic"/>
            </a:endParaRPr>
          </a:p>
          <a:p>
            <a:pPr marL="12700" marR="495934" lvl="0" indent="0" defTabSz="914400" eaLnBrk="1" fontAlgn="auto" latinLnBrk="0" hangingPunct="1">
              <a:lnSpc>
                <a:spcPts val="3600"/>
              </a:lnSpc>
              <a:spcBef>
                <a:spcPts val="229"/>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英語の授業をしているシーンがある。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406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しかし、ドラゴンボールの世界では、</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ct val="124700"/>
              </a:lnSpc>
              <a:spcBef>
                <a:spcPts val="1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宇宙共通語</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現実世界の日本語</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さえ話せれば、</a:t>
            </a:r>
            <a:endParaRPr kumimoji="0" lang="en-GB" altLang="ja-JP" sz="2400" b="0" i="0" u="none" strike="noStrike" kern="0" cap="none" spc="-1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ct val="124700"/>
              </a:lnSpc>
              <a:spcBef>
                <a:spcPts val="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全宇宙の種族とコミュニケーションが可能。</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502566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ア</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其の六</a:t>
            </a:r>
            <a:r>
              <a:rPr kumimoji="0" lang="en-US" altLang="ja-JP"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ja-JP" altLang="en-US" sz="3800"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オレンジスターハイスクールの授業</a:t>
            </a:r>
            <a:endParaRPr lang="en-GB" sz="38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3220720" marR="5080" lvl="0" indent="-3208655" algn="ctr" defTabSz="914400" eaLnBrk="1" fontAlgn="auto" latinLnBrk="0" hangingPunct="1">
              <a:lnSpc>
                <a:spcPct val="105400"/>
              </a:lnSpc>
              <a:spcBef>
                <a:spcPts val="100"/>
              </a:spcBef>
              <a:spcAft>
                <a:spcPts val="0"/>
              </a:spcAft>
              <a:buClrTx/>
              <a:buSzTx/>
              <a:buFontTx/>
              <a:buNone/>
              <a:tabLst/>
              <a:defRPr/>
            </a:pPr>
            <a:endParaRPr kumimoji="0" lang="en-GB" altLang="ja-JP" sz="5400" b="1" i="0" u="none" strike="noStrike" kern="0" cap="none" spc="0" normalizeH="0" baseline="0" noProof="0" dirty="0">
              <a:ln>
                <a:noFill/>
              </a:ln>
              <a:solidFill>
                <a:sysClr val="windowText" lastClr="000000"/>
              </a:solidFill>
              <a:effectLst/>
              <a:uLnTx/>
              <a:uFillTx/>
              <a:latin typeface="Calibri"/>
              <a:cs typeface="Calibri"/>
            </a:endParaRPr>
          </a:p>
          <a:p>
            <a:pPr marL="3220720" marR="5080" lvl="0" indent="-3208655" algn="ctr" defTabSz="914400" eaLnBrk="1" fontAlgn="auto" latinLnBrk="0" hangingPunct="1">
              <a:lnSpc>
                <a:spcPct val="105400"/>
              </a:lnSpc>
              <a:spcBef>
                <a:spcPts val="100"/>
              </a:spcBef>
              <a:spcAft>
                <a:spcPts val="0"/>
              </a:spcAft>
              <a:buClrTx/>
              <a:buSzTx/>
              <a:buFontTx/>
              <a:buNone/>
              <a:tabLst/>
              <a:defRPr/>
            </a:pPr>
            <a:r>
              <a:rPr kumimoji="0" lang="ja-JP" altLang="en-US" sz="5400" b="1" i="0" u="none" strike="noStrike" kern="0" cap="none" spc="0" normalizeH="0" baseline="0" noProof="0" dirty="0">
                <a:ln>
                  <a:noFill/>
                </a:ln>
                <a:solidFill>
                  <a:sysClr val="windowText" lastClr="000000"/>
                </a:solidFill>
                <a:effectLst/>
                <a:uLnTx/>
                <a:uFillTx/>
                <a:latin typeface="Calibri"/>
                <a:cs typeface="Calibri"/>
              </a:rPr>
              <a:t>英語勉強しても使わなくね？</a:t>
            </a:r>
          </a:p>
        </p:txBody>
      </p:sp>
    </p:spTree>
    <p:extLst>
      <p:ext uri="{BB962C8B-B14F-4D97-AF65-F5344CB8AC3E}">
        <p14:creationId xmlns:p14="http://schemas.microsoft.com/office/powerpoint/2010/main" val="27309001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a:t>
            </a:r>
            <a:r>
              <a:rPr lang="ja-JP" altLang="en-US" b="1" dirty="0">
                <a:latin typeface="Calibri (Headings)"/>
              </a:rPr>
              <a:t>共通</a:t>
            </a:r>
            <a:r>
              <a:rPr lang="en-US" altLang="ja-JP" b="1" dirty="0">
                <a:latin typeface="Calibri (Headings)"/>
              </a:rPr>
              <a:t>] </a:t>
            </a:r>
            <a:r>
              <a:rPr lang="ja-JP" altLang="en-US" b="1" dirty="0">
                <a:latin typeface="Calibri (Headings)"/>
              </a:rPr>
              <a:t>其の七</a:t>
            </a:r>
            <a:r>
              <a:rPr lang="en-US" altLang="ja-JP" b="1" dirty="0">
                <a:latin typeface="Calibri (Headings)"/>
              </a:rPr>
              <a:t>: </a:t>
            </a:r>
            <a:r>
              <a:rPr lang="ja-JP" altLang="en-US" b="1" dirty="0">
                <a:latin typeface="Calibri (Headings)"/>
              </a:rPr>
              <a:t>孫悟飯の加齢</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object 3">
            <a:extLst>
              <a:ext uri="{FF2B5EF4-FFF2-40B4-BE49-F238E27FC236}">
                <a16:creationId xmlns:a16="http://schemas.microsoft.com/office/drawing/2014/main" id="{A2DEC537-139C-17EE-4A2F-7926FC64FEA0}"/>
              </a:ext>
            </a:extLst>
          </p:cNvPr>
          <p:cNvSpPr txBox="1"/>
          <p:nvPr/>
        </p:nvSpPr>
        <p:spPr>
          <a:xfrm>
            <a:off x="954912" y="1775460"/>
            <a:ext cx="4305935" cy="2706510"/>
          </a:xfrm>
          <a:prstGeom prst="rect">
            <a:avLst/>
          </a:prstGeom>
        </p:spPr>
        <p:txBody>
          <a:bodyPr vert="horz" wrap="square" lIns="0" tIns="104775" rIns="0" bIns="0" rtlCol="0">
            <a:spAutoFit/>
          </a:bodyPr>
          <a:lstStyle/>
          <a:p>
            <a:pPr marL="12700" marR="0" lvl="0" indent="0" defTabSz="914400" eaLnBrk="1" fontAlgn="auto" latinLnBrk="0" hangingPunct="1">
              <a:lnSpc>
                <a:spcPct val="100000"/>
              </a:lnSpc>
              <a:spcBef>
                <a:spcPts val="810"/>
              </a:spcBef>
              <a:spcAft>
                <a:spcPts val="0"/>
              </a:spcAft>
              <a:buClrTx/>
              <a:buSzTx/>
              <a:buFontTx/>
              <a:buNone/>
              <a:tabLst/>
              <a:defRPr/>
            </a:pP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セル編の悟飯は</a:t>
            </a:r>
            <a:r>
              <a:rPr kumimoji="0" lang="en-US" altLang="ja-JP" sz="2400" b="1" i="0" u="none" strike="noStrike" kern="0" cap="none" spc="-10" normalizeH="0" baseline="0" noProof="0" dirty="0">
                <a:ln>
                  <a:noFill/>
                </a:ln>
                <a:solidFill>
                  <a:sysClr val="windowText" lastClr="000000"/>
                </a:solidFill>
                <a:effectLst/>
                <a:uLnTx/>
                <a:uFillTx/>
                <a:latin typeface="Calibri"/>
                <a:cs typeface="Calibri"/>
              </a:rPr>
              <a:t>11</a:t>
            </a: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歳</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10"/>
              </a:spcBef>
              <a:spcAft>
                <a:spcPts val="0"/>
              </a:spcAft>
              <a:buClrTx/>
              <a:buSzTx/>
              <a:buFontTx/>
              <a:buNone/>
              <a:tabLst/>
              <a:defRPr/>
            </a:pPr>
            <a:r>
              <a:rPr kumimoji="0" lang="en-US" altLang="ja-JP" sz="2400" b="1" i="0" u="none" strike="noStrike" kern="0" cap="none" spc="-10" normalizeH="0" baseline="0" noProof="0" dirty="0">
                <a:ln>
                  <a:noFill/>
                </a:ln>
                <a:solidFill>
                  <a:sysClr val="windowText" lastClr="000000"/>
                </a:solidFill>
                <a:effectLst/>
                <a:uLnTx/>
                <a:uFillTx/>
                <a:latin typeface="Calibri"/>
                <a:cs typeface="Calibri"/>
              </a:rPr>
              <a:t>7</a:t>
            </a: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年後</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の魔人ブウ編での</a:t>
            </a:r>
            <a:endParaRPr kumimoji="0" lang="en-GB" altLang="ja-JP" sz="2400" b="0" i="0" u="none" strike="noStrike" kern="0" cap="none" spc="-1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10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悟飯の年齢は</a:t>
            </a:r>
            <a:r>
              <a:rPr kumimoji="0" lang="en-US" altLang="ja-JP" sz="2400" b="1" i="0" u="none" strike="noStrike" kern="0" cap="none" spc="-10" normalizeH="0" baseline="0" noProof="0" dirty="0">
                <a:ln>
                  <a:noFill/>
                </a:ln>
                <a:solidFill>
                  <a:sysClr val="windowText" lastClr="000000"/>
                </a:solidFill>
                <a:effectLst/>
                <a:uLnTx/>
                <a:uFillTx/>
                <a:latin typeface="Calibri"/>
                <a:cs typeface="Calibri"/>
              </a:rPr>
              <a:t>16</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歳</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10"/>
              </a:spcBef>
              <a:spcAft>
                <a:spcPts val="0"/>
              </a:spcAft>
              <a:buClrTx/>
              <a:buSzTx/>
              <a:buFontTx/>
              <a:buNone/>
              <a:tabLst/>
              <a:defRPr/>
            </a:pPr>
            <a:endParaRPr kumimoji="0" lang="en-GB" altLang="ja-JP"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82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11</a:t>
            </a:r>
            <a:r>
              <a:rPr kumimoji="0" lang="ja-JP" altLang="en-US" sz="24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7</a:t>
            </a:r>
            <a:r>
              <a:rPr kumimoji="0" lang="ja-JP" altLang="en-US" sz="2400" b="0"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2400" b="0" i="0" u="none" strike="noStrike" kern="0" cap="none" spc="-15" normalizeH="0" baseline="0" noProof="0" dirty="0">
                <a:ln>
                  <a:noFill/>
                </a:ln>
                <a:solidFill>
                  <a:sysClr val="windowText" lastClr="000000"/>
                </a:solidFill>
                <a:effectLst/>
                <a:uLnTx/>
                <a:uFillTx/>
                <a:latin typeface="Calibri"/>
                <a:cs typeface="Calibri"/>
              </a:rPr>
              <a:t>= </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18</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」だから、</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20"/>
              </a:spcBef>
              <a:spcAft>
                <a:spcPts val="0"/>
              </a:spcAft>
              <a:buClrTx/>
              <a:buSzTx/>
              <a:buFontTx/>
              <a:buNone/>
              <a:tabLst/>
              <a:defRPr/>
            </a:pP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本来は</a:t>
            </a:r>
            <a:r>
              <a:rPr kumimoji="0" lang="en-US" altLang="ja-JP" sz="2400" b="1" i="0" u="none" strike="noStrike" kern="0" cap="none" spc="-10" normalizeH="0" baseline="0" noProof="0" dirty="0">
                <a:ln>
                  <a:noFill/>
                </a:ln>
                <a:solidFill>
                  <a:sysClr val="windowText" lastClr="000000"/>
                </a:solidFill>
                <a:effectLst/>
                <a:uLnTx/>
                <a:uFillTx/>
                <a:latin typeface="Calibri"/>
                <a:cs typeface="Calibri"/>
              </a:rPr>
              <a:t>18</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歳</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のはず。</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grpSp>
        <p:nvGrpSpPr>
          <p:cNvPr id="6" name="object 5">
            <a:extLst>
              <a:ext uri="{FF2B5EF4-FFF2-40B4-BE49-F238E27FC236}">
                <a16:creationId xmlns:a16="http://schemas.microsoft.com/office/drawing/2014/main" id="{E054F4DB-EAB2-01D1-FF9D-5888F872C204}"/>
              </a:ext>
            </a:extLst>
          </p:cNvPr>
          <p:cNvGrpSpPr/>
          <p:nvPr/>
        </p:nvGrpSpPr>
        <p:grpSpPr>
          <a:xfrm>
            <a:off x="5340096" y="1775460"/>
            <a:ext cx="6012180" cy="2966085"/>
            <a:chOff x="5340096" y="1775460"/>
            <a:chExt cx="6012180" cy="2966085"/>
          </a:xfrm>
        </p:grpSpPr>
        <p:pic>
          <p:nvPicPr>
            <p:cNvPr id="7" name="object 6">
              <a:extLst>
                <a:ext uri="{FF2B5EF4-FFF2-40B4-BE49-F238E27FC236}">
                  <a16:creationId xmlns:a16="http://schemas.microsoft.com/office/drawing/2014/main" id="{006185AF-0CED-B202-9EF2-C0C9BBCFFA37}"/>
                </a:ext>
              </a:extLst>
            </p:cNvPr>
            <p:cNvPicPr/>
            <p:nvPr/>
          </p:nvPicPr>
          <p:blipFill>
            <a:blip r:embed="rId3" cstate="print"/>
            <a:stretch>
              <a:fillRect/>
            </a:stretch>
          </p:blipFill>
          <p:spPr>
            <a:xfrm>
              <a:off x="9334500" y="1775460"/>
              <a:ext cx="2017776" cy="2965704"/>
            </a:xfrm>
            <a:prstGeom prst="rect">
              <a:avLst/>
            </a:prstGeom>
          </p:spPr>
        </p:pic>
        <p:pic>
          <p:nvPicPr>
            <p:cNvPr id="8" name="object 7">
              <a:extLst>
                <a:ext uri="{FF2B5EF4-FFF2-40B4-BE49-F238E27FC236}">
                  <a16:creationId xmlns:a16="http://schemas.microsoft.com/office/drawing/2014/main" id="{94E1B12E-857C-861B-ECFD-5BBF6C46E5EC}"/>
                </a:ext>
              </a:extLst>
            </p:cNvPr>
            <p:cNvPicPr/>
            <p:nvPr/>
          </p:nvPicPr>
          <p:blipFill>
            <a:blip r:embed="rId4" cstate="print"/>
            <a:stretch>
              <a:fillRect/>
            </a:stretch>
          </p:blipFill>
          <p:spPr>
            <a:xfrm>
              <a:off x="5340096" y="1775460"/>
              <a:ext cx="2956559" cy="2955036"/>
            </a:xfrm>
            <a:prstGeom prst="rect">
              <a:avLst/>
            </a:prstGeom>
          </p:spPr>
        </p:pic>
      </p:grpSp>
      <p:sp>
        <p:nvSpPr>
          <p:cNvPr id="10" name="object 8">
            <a:extLst>
              <a:ext uri="{FF2B5EF4-FFF2-40B4-BE49-F238E27FC236}">
                <a16:creationId xmlns:a16="http://schemas.microsoft.com/office/drawing/2014/main" id="{1582A432-CE3C-AA2A-3555-B5E0415D49BE}"/>
              </a:ext>
            </a:extLst>
          </p:cNvPr>
          <p:cNvSpPr txBox="1"/>
          <p:nvPr/>
        </p:nvSpPr>
        <p:spPr>
          <a:xfrm>
            <a:off x="6374891" y="4730496"/>
            <a:ext cx="885825" cy="219710"/>
          </a:xfrm>
          <a:prstGeom prst="rect">
            <a:avLst/>
          </a:prstGeom>
          <a:solidFill>
            <a:srgbClr val="000000"/>
          </a:solidFill>
        </p:spPr>
        <p:txBody>
          <a:bodyPr vert="horz" wrap="square" lIns="0" tIns="18415" rIns="0" bIns="0" rtlCol="0">
            <a:spAutoFit/>
          </a:bodyPr>
          <a:lstStyle/>
          <a:p>
            <a:pPr marL="92710" marR="0" lvl="0" indent="0" algn="l" defTabSz="914400" rtl="0" eaLnBrk="1" fontAlgn="auto" latinLnBrk="0" hangingPunct="1">
              <a:lnSpc>
                <a:spcPct val="100000"/>
              </a:lnSpc>
              <a:spcBef>
                <a:spcPts val="145"/>
              </a:spcBef>
              <a:spcAft>
                <a:spcPts val="0"/>
              </a:spcAft>
              <a:buClrTx/>
              <a:buSzTx/>
              <a:buFontTx/>
              <a:buNone/>
              <a:tabLst/>
              <a:defRPr/>
            </a:pPr>
            <a:r>
              <a:rPr kumimoji="0" sz="1100" b="1" i="0" u="none" strike="noStrike" kern="1200" cap="none" spc="0" normalizeH="0" baseline="0" noProof="0" dirty="0">
                <a:ln>
                  <a:noFill/>
                </a:ln>
                <a:solidFill>
                  <a:srgbClr val="FFFFFF"/>
                </a:solidFill>
                <a:effectLst/>
                <a:uLnTx/>
                <a:uFillTx/>
                <a:latin typeface="Calibri"/>
                <a:ea typeface="+mn-ea"/>
                <a:cs typeface="Calibri"/>
              </a:rPr>
              <a:t>11</a:t>
            </a:r>
            <a:r>
              <a:rPr kumimoji="0" sz="1100" b="1" i="0" u="none" strike="noStrike" kern="1200" cap="none" spc="-5" normalizeH="0" baseline="0" noProof="0" dirty="0">
                <a:ln>
                  <a:noFill/>
                </a:ln>
                <a:solidFill>
                  <a:srgbClr val="FFFFFF"/>
                </a:solidFill>
                <a:effectLst/>
                <a:uLnTx/>
                <a:uFillTx/>
                <a:latin typeface="Calibri"/>
                <a:ea typeface="+mn-ea"/>
                <a:cs typeface="Calibri"/>
              </a:rPr>
              <a:t> </a:t>
            </a:r>
            <a:r>
              <a:rPr kumimoji="0" sz="1100" b="1" i="0" u="none" strike="noStrike" kern="1200" cap="none" spc="0" normalizeH="0" baseline="0" noProof="0" dirty="0">
                <a:ln>
                  <a:noFill/>
                </a:ln>
                <a:solidFill>
                  <a:srgbClr val="FFFFFF"/>
                </a:solidFill>
                <a:effectLst/>
                <a:uLnTx/>
                <a:uFillTx/>
                <a:latin typeface="Calibri"/>
                <a:ea typeface="+mn-ea"/>
                <a:cs typeface="Calibri"/>
              </a:rPr>
              <a:t>years</a:t>
            </a:r>
            <a:r>
              <a:rPr kumimoji="0" sz="1100" b="1" i="0" u="none" strike="noStrike" kern="1200" cap="none" spc="-25" normalizeH="0" baseline="0" noProof="0" dirty="0">
                <a:ln>
                  <a:noFill/>
                </a:ln>
                <a:solidFill>
                  <a:srgbClr val="FFFFFF"/>
                </a:solidFill>
                <a:effectLst/>
                <a:uLnTx/>
                <a:uFillTx/>
                <a:latin typeface="Calibri"/>
                <a:ea typeface="+mn-ea"/>
                <a:cs typeface="Calibri"/>
              </a:rPr>
              <a:t> old</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11" name="object 9">
            <a:extLst>
              <a:ext uri="{FF2B5EF4-FFF2-40B4-BE49-F238E27FC236}">
                <a16:creationId xmlns:a16="http://schemas.microsoft.com/office/drawing/2014/main" id="{7D9406A0-CEF3-05F8-5A44-1B50AB697406}"/>
              </a:ext>
            </a:extLst>
          </p:cNvPr>
          <p:cNvSpPr/>
          <p:nvPr/>
        </p:nvSpPr>
        <p:spPr>
          <a:xfrm>
            <a:off x="8296656" y="2970276"/>
            <a:ext cx="1038225" cy="283845"/>
          </a:xfrm>
          <a:custGeom>
            <a:avLst/>
            <a:gdLst/>
            <a:ahLst/>
            <a:cxnLst/>
            <a:rect l="l" t="t" r="r" b="b"/>
            <a:pathLst>
              <a:path w="1038225" h="283845">
                <a:moveTo>
                  <a:pt x="896112" y="0"/>
                </a:moveTo>
                <a:lnTo>
                  <a:pt x="896112" y="70865"/>
                </a:lnTo>
                <a:lnTo>
                  <a:pt x="0" y="70865"/>
                </a:lnTo>
                <a:lnTo>
                  <a:pt x="0" y="212598"/>
                </a:lnTo>
                <a:lnTo>
                  <a:pt x="896112" y="212598"/>
                </a:lnTo>
                <a:lnTo>
                  <a:pt x="896112" y="283463"/>
                </a:lnTo>
                <a:lnTo>
                  <a:pt x="1037844" y="141732"/>
                </a:lnTo>
                <a:lnTo>
                  <a:pt x="896112" y="0"/>
                </a:lnTo>
                <a:close/>
              </a:path>
            </a:pathLst>
          </a:custGeom>
          <a:solidFill>
            <a:srgbClr val="C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object 10">
            <a:extLst>
              <a:ext uri="{FF2B5EF4-FFF2-40B4-BE49-F238E27FC236}">
                <a16:creationId xmlns:a16="http://schemas.microsoft.com/office/drawing/2014/main" id="{D64E0E35-3B6F-D9E4-A3F0-839D02034CE8}"/>
              </a:ext>
            </a:extLst>
          </p:cNvPr>
          <p:cNvSpPr txBox="1"/>
          <p:nvPr/>
        </p:nvSpPr>
        <p:spPr>
          <a:xfrm>
            <a:off x="8375904" y="2750820"/>
            <a:ext cx="821690" cy="219710"/>
          </a:xfrm>
          <a:prstGeom prst="rect">
            <a:avLst/>
          </a:prstGeom>
          <a:solidFill>
            <a:srgbClr val="000000"/>
          </a:solidFill>
        </p:spPr>
        <p:txBody>
          <a:bodyPr vert="horz" wrap="square" lIns="0" tIns="18415" rIns="0" bIns="0" rtlCol="0">
            <a:spAutoFit/>
          </a:bodyPr>
          <a:lstStyle/>
          <a:p>
            <a:pPr marL="132715" marR="0" lvl="0" indent="0" algn="l" defTabSz="914400" rtl="0" eaLnBrk="1" fontAlgn="auto" latinLnBrk="0" hangingPunct="1">
              <a:lnSpc>
                <a:spcPct val="100000"/>
              </a:lnSpc>
              <a:spcBef>
                <a:spcPts val="145"/>
              </a:spcBef>
              <a:spcAft>
                <a:spcPts val="0"/>
              </a:spcAft>
              <a:buClrTx/>
              <a:buSzTx/>
              <a:buFontTx/>
              <a:buNone/>
              <a:tabLst/>
              <a:defRPr/>
            </a:pPr>
            <a:r>
              <a:rPr kumimoji="0" sz="1100" b="1" i="0" u="none" strike="noStrike" kern="1200" cap="none" spc="0" normalizeH="0" baseline="0" noProof="0" dirty="0">
                <a:ln>
                  <a:noFill/>
                </a:ln>
                <a:solidFill>
                  <a:srgbClr val="FFFFFF"/>
                </a:solidFill>
                <a:effectLst/>
                <a:uLnTx/>
                <a:uFillTx/>
                <a:latin typeface="Calibri"/>
                <a:ea typeface="+mn-ea"/>
                <a:cs typeface="Calibri"/>
              </a:rPr>
              <a:t>In</a:t>
            </a:r>
            <a:r>
              <a:rPr kumimoji="0" sz="1100" b="1" i="0" u="none" strike="noStrike" kern="1200" cap="none" spc="-15" normalizeH="0" baseline="0" noProof="0" dirty="0">
                <a:ln>
                  <a:noFill/>
                </a:ln>
                <a:solidFill>
                  <a:srgbClr val="FFFFFF"/>
                </a:solidFill>
                <a:effectLst/>
                <a:uLnTx/>
                <a:uFillTx/>
                <a:latin typeface="Calibri"/>
                <a:ea typeface="+mn-ea"/>
                <a:cs typeface="Calibri"/>
              </a:rPr>
              <a:t> </a:t>
            </a:r>
            <a:r>
              <a:rPr kumimoji="0" sz="1100" b="1" i="0" u="none" strike="noStrike" kern="1200" cap="none" spc="0" normalizeH="0" baseline="0" noProof="0" dirty="0">
                <a:ln>
                  <a:noFill/>
                </a:ln>
                <a:solidFill>
                  <a:srgbClr val="FFFFFF"/>
                </a:solidFill>
                <a:effectLst/>
                <a:uLnTx/>
                <a:uFillTx/>
                <a:latin typeface="Calibri"/>
                <a:ea typeface="+mn-ea"/>
                <a:cs typeface="Calibri"/>
              </a:rPr>
              <a:t>7</a:t>
            </a:r>
            <a:r>
              <a:rPr kumimoji="0" sz="1100" b="1" i="0" u="none" strike="noStrike" kern="1200" cap="none" spc="-5" normalizeH="0" baseline="0" noProof="0" dirty="0">
                <a:ln>
                  <a:noFill/>
                </a:ln>
                <a:solidFill>
                  <a:srgbClr val="FFFFFF"/>
                </a:solidFill>
                <a:effectLst/>
                <a:uLnTx/>
                <a:uFillTx/>
                <a:latin typeface="Calibri"/>
                <a:ea typeface="+mn-ea"/>
                <a:cs typeface="Calibri"/>
              </a:rPr>
              <a:t> </a:t>
            </a:r>
            <a:r>
              <a:rPr kumimoji="0" sz="1100" b="1" i="0" u="none" strike="noStrike" kern="1200" cap="none" spc="-10" normalizeH="0" baseline="0" noProof="0" dirty="0">
                <a:ln>
                  <a:noFill/>
                </a:ln>
                <a:solidFill>
                  <a:srgbClr val="FFFFFF"/>
                </a:solidFill>
                <a:effectLst/>
                <a:uLnTx/>
                <a:uFillTx/>
                <a:latin typeface="Calibri"/>
                <a:ea typeface="+mn-ea"/>
                <a:cs typeface="Calibri"/>
              </a:rPr>
              <a:t>years</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
        <p:nvSpPr>
          <p:cNvPr id="13" name="object 11">
            <a:extLst>
              <a:ext uri="{FF2B5EF4-FFF2-40B4-BE49-F238E27FC236}">
                <a16:creationId xmlns:a16="http://schemas.microsoft.com/office/drawing/2014/main" id="{5D116D52-818E-AB8B-1FAC-F04E601F998F}"/>
              </a:ext>
            </a:extLst>
          </p:cNvPr>
          <p:cNvSpPr txBox="1"/>
          <p:nvPr/>
        </p:nvSpPr>
        <p:spPr>
          <a:xfrm>
            <a:off x="9899904" y="4730496"/>
            <a:ext cx="885825" cy="219710"/>
          </a:xfrm>
          <a:prstGeom prst="rect">
            <a:avLst/>
          </a:prstGeom>
          <a:solidFill>
            <a:srgbClr val="000000"/>
          </a:solidFill>
        </p:spPr>
        <p:txBody>
          <a:bodyPr vert="horz" wrap="square" lIns="0" tIns="18415" rIns="0" bIns="0" rtlCol="0">
            <a:spAutoFit/>
          </a:bodyPr>
          <a:lstStyle/>
          <a:p>
            <a:pPr marL="92710" marR="0" lvl="0" indent="0" algn="l" defTabSz="914400" rtl="0" eaLnBrk="1" fontAlgn="auto" latinLnBrk="0" hangingPunct="1">
              <a:lnSpc>
                <a:spcPct val="100000"/>
              </a:lnSpc>
              <a:spcBef>
                <a:spcPts val="145"/>
              </a:spcBef>
              <a:spcAft>
                <a:spcPts val="0"/>
              </a:spcAft>
              <a:buClrTx/>
              <a:buSzTx/>
              <a:buFontTx/>
              <a:buNone/>
              <a:tabLst/>
              <a:defRPr/>
            </a:pPr>
            <a:r>
              <a:rPr kumimoji="0" sz="1100" b="1" i="0" u="none" strike="noStrike" kern="1200" cap="none" spc="0" normalizeH="0" baseline="0" noProof="0" dirty="0">
                <a:ln>
                  <a:noFill/>
                </a:ln>
                <a:solidFill>
                  <a:srgbClr val="FFFFFF"/>
                </a:solidFill>
                <a:effectLst/>
                <a:uLnTx/>
                <a:uFillTx/>
                <a:latin typeface="Calibri"/>
                <a:ea typeface="+mn-ea"/>
                <a:cs typeface="Calibri"/>
              </a:rPr>
              <a:t>16</a:t>
            </a:r>
            <a:r>
              <a:rPr kumimoji="0" sz="1100" b="1" i="0" u="none" strike="noStrike" kern="1200" cap="none" spc="-5" normalizeH="0" baseline="0" noProof="0" dirty="0">
                <a:ln>
                  <a:noFill/>
                </a:ln>
                <a:solidFill>
                  <a:srgbClr val="FFFFFF"/>
                </a:solidFill>
                <a:effectLst/>
                <a:uLnTx/>
                <a:uFillTx/>
                <a:latin typeface="Calibri"/>
                <a:ea typeface="+mn-ea"/>
                <a:cs typeface="Calibri"/>
              </a:rPr>
              <a:t> </a:t>
            </a:r>
            <a:r>
              <a:rPr kumimoji="0" sz="1100" b="1" i="0" u="none" strike="noStrike" kern="1200" cap="none" spc="0" normalizeH="0" baseline="0" noProof="0" dirty="0">
                <a:ln>
                  <a:noFill/>
                </a:ln>
                <a:solidFill>
                  <a:srgbClr val="FFFFFF"/>
                </a:solidFill>
                <a:effectLst/>
                <a:uLnTx/>
                <a:uFillTx/>
                <a:latin typeface="Calibri"/>
                <a:ea typeface="+mn-ea"/>
                <a:cs typeface="Calibri"/>
              </a:rPr>
              <a:t>years</a:t>
            </a:r>
            <a:r>
              <a:rPr kumimoji="0" sz="1100" b="1" i="0" u="none" strike="noStrike" kern="1200" cap="none" spc="-20" normalizeH="0" baseline="0" noProof="0" dirty="0">
                <a:ln>
                  <a:noFill/>
                </a:ln>
                <a:solidFill>
                  <a:srgbClr val="FFFFFF"/>
                </a:solidFill>
                <a:effectLst/>
                <a:uLnTx/>
                <a:uFillTx/>
                <a:latin typeface="Calibri"/>
                <a:ea typeface="+mn-ea"/>
                <a:cs typeface="Calibri"/>
              </a:rPr>
              <a:t> </a:t>
            </a:r>
            <a:r>
              <a:rPr kumimoji="0" sz="1100" b="1" i="0" u="none" strike="noStrike" kern="1200" cap="none" spc="-25" normalizeH="0" baseline="0" noProof="0" dirty="0">
                <a:ln>
                  <a:noFill/>
                </a:ln>
                <a:solidFill>
                  <a:srgbClr val="FFFFFF"/>
                </a:solidFill>
                <a:effectLst/>
                <a:uLnTx/>
                <a:uFillTx/>
                <a:latin typeface="Calibri"/>
                <a:ea typeface="+mn-ea"/>
                <a:cs typeface="Calibri"/>
              </a:rPr>
              <a:t>old</a:t>
            </a:r>
            <a:endParaRPr kumimoji="0" sz="1100" b="0" i="0" u="none" strike="noStrike" kern="1200" cap="none" spc="0" normalizeH="0" baseline="0" noProof="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8271003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a:t>
            </a:r>
            <a:r>
              <a:rPr lang="ja-JP" altLang="en-US" b="1" dirty="0">
                <a:latin typeface="Calibri (Headings)"/>
              </a:rPr>
              <a:t>共通</a:t>
            </a:r>
            <a:r>
              <a:rPr lang="en-US" altLang="ja-JP" b="1" dirty="0">
                <a:latin typeface="Calibri (Headings)"/>
              </a:rPr>
              <a:t>] </a:t>
            </a:r>
            <a:r>
              <a:rPr lang="ja-JP" altLang="en-US" b="1" dirty="0">
                <a:latin typeface="Calibri (Headings)"/>
              </a:rPr>
              <a:t>其の七</a:t>
            </a:r>
            <a:r>
              <a:rPr lang="en-US" altLang="ja-JP" b="1" dirty="0">
                <a:latin typeface="Calibri (Headings)"/>
              </a:rPr>
              <a:t>: </a:t>
            </a:r>
            <a:r>
              <a:rPr lang="ja-JP" altLang="en-US" b="1" dirty="0">
                <a:latin typeface="Calibri (Headings)"/>
              </a:rPr>
              <a:t>孫悟飯の加齢</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100"/>
              </a:spcBef>
              <a:spcAft>
                <a:spcPts val="0"/>
              </a:spcAft>
              <a:buClrTx/>
              <a:buSzTx/>
              <a:buFontTx/>
              <a:buNone/>
              <a:tabLst/>
              <a:defRPr/>
            </a:pPr>
            <a:endParaRPr kumimoji="0" lang="en-GB" sz="6000" b="1" i="0" u="none" strike="noStrike" kern="0" cap="none" spc="-1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100"/>
              </a:spcBef>
              <a:spcAft>
                <a:spcPts val="0"/>
              </a:spcAft>
              <a:buClrTx/>
              <a:buSzTx/>
              <a:buFontTx/>
              <a:buNone/>
              <a:tabLst/>
              <a:defRPr/>
            </a:pPr>
            <a:r>
              <a:rPr kumimoji="0" lang="en-GB" sz="6000" b="1" i="0" u="none" strike="noStrike" kern="0" cap="none" spc="-10" normalizeH="0" baseline="0" noProof="0" dirty="0">
                <a:ln>
                  <a:noFill/>
                </a:ln>
                <a:solidFill>
                  <a:sysClr val="windowText" lastClr="000000"/>
                </a:solidFill>
                <a:effectLst/>
                <a:uLnTx/>
                <a:uFillTx/>
                <a:latin typeface="Yu Gothic"/>
                <a:cs typeface="Yu Gothic"/>
              </a:rPr>
              <a:t>？？？？？？？？？？？？？</a:t>
            </a:r>
            <a:endParaRPr kumimoji="0" lang="en-GB" sz="60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6150525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US" altLang="ja-JP" b="1" dirty="0">
                <a:latin typeface="Calibri (Headings)"/>
              </a:rPr>
              <a:t>3.</a:t>
            </a:r>
            <a:r>
              <a:rPr lang="en-GB" altLang="ja-JP" b="1" dirty="0">
                <a:latin typeface="Calibri (Headings)"/>
              </a:rPr>
              <a:t> </a:t>
            </a:r>
            <a:r>
              <a:rPr lang="ja-JP" altLang="en-US" b="1" dirty="0">
                <a:latin typeface="Calibri (Headings)"/>
                <a:sym typeface="Arial"/>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87880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3.</a:t>
            </a:r>
            <a:r>
              <a:rPr lang="en-GB" altLang="ja-JP" b="1" dirty="0">
                <a:latin typeface="Calibri (Headings)"/>
              </a:rPr>
              <a:t> </a:t>
            </a:r>
            <a:r>
              <a:rPr lang="ja-JP" altLang="en-US" b="1" dirty="0">
                <a:latin typeface="Calibri (Headings)"/>
                <a:sym typeface="Arial"/>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810"/>
              </a:spcBef>
              <a:spcAft>
                <a:spcPts val="0"/>
              </a:spcAft>
              <a:buClrTx/>
              <a:buSzTx/>
              <a:buFontTx/>
              <a:buNone/>
              <a:tabLst/>
              <a:defRPr/>
            </a:pP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作者とアニメ制作スタッフの認識のすり合わせ不足や、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作者自身の発言の変容性により、</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2443480" lvl="0" indent="0" defTabSz="914400" eaLnBrk="1" fontAlgn="auto" latinLnBrk="0" hangingPunct="1">
              <a:lnSpc>
                <a:spcPct val="124700"/>
              </a:lnSpc>
              <a:spcBef>
                <a:spcPts val="1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原作、アニメともに設定の矛盾がてんこ盛りの作品。</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 </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しかし、それが突っ込みどころが満載で面白くもある。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5080" lvl="0" indent="0" defTabSz="914400" eaLnBrk="1" fontAlgn="auto" latinLnBrk="0" hangingPunct="1">
              <a:lnSpc>
                <a:spcPts val="2590"/>
              </a:lnSpc>
              <a:spcBef>
                <a:spcPts val="1035"/>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また、純粋なバトル漫画・アニメとしても作画のレベルが高く、臨場感にあふれるため、大人になって観ても胸が熱くなる。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685"/>
              </a:spcBef>
              <a:spcAft>
                <a:spcPts val="0"/>
              </a:spcAft>
              <a:buClrTx/>
              <a:buSzTx/>
              <a:buFontTx/>
              <a:buNone/>
              <a:tabLst/>
              <a:defRPr/>
            </a:pP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漫画原作は全編、アニメは無印と </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Z</a:t>
            </a:r>
            <a:r>
              <a:rPr kumimoji="0" lang="ja-JP" altLang="en-US" sz="2400" b="0" i="0" u="none" strike="noStrike" kern="0" cap="none" spc="35"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までは面白い！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10"/>
              </a:spcBef>
              <a:spcAft>
                <a:spcPts val="0"/>
              </a:spcAft>
              <a:buClrTx/>
              <a:buSzTx/>
              <a:buFontTx/>
              <a:buNone/>
              <a:tabLst/>
              <a:defRPr/>
            </a:pP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魔人ブウ編は賛否両論あるけど、個人的には好き</a:t>
            </a:r>
            <a:r>
              <a:rPr kumimoji="0" lang="en-US" altLang="ja-JP" sz="2400" b="0"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p:txBody>
      </p:sp>
    </p:spTree>
    <p:extLst>
      <p:ext uri="{BB962C8B-B14F-4D97-AF65-F5344CB8AC3E}">
        <p14:creationId xmlns:p14="http://schemas.microsoft.com/office/powerpoint/2010/main" val="4448261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3.</a:t>
            </a:r>
            <a:r>
              <a:rPr lang="en-GB" altLang="ja-JP" b="1" dirty="0">
                <a:latin typeface="Calibri (Headings)"/>
              </a:rPr>
              <a:t> </a:t>
            </a:r>
            <a:r>
              <a:rPr lang="ja-JP" altLang="en-US" b="1" dirty="0">
                <a:latin typeface="Calibri (Headings)"/>
                <a:sym typeface="Arial"/>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ja-JP" altLang="en-US" sz="2800" b="0" i="0" u="none" strike="noStrike" kern="0" cap="none" spc="-35" normalizeH="0" baseline="0" noProof="0" dirty="0">
                <a:ln>
                  <a:noFill/>
                </a:ln>
                <a:solidFill>
                  <a:sysClr val="windowText" lastClr="000000"/>
                </a:solidFill>
                <a:effectLst/>
                <a:uLnTx/>
                <a:uFillTx/>
                <a:latin typeface="Yu Gothic"/>
                <a:cs typeface="Yu Gothic"/>
              </a:rPr>
              <a:t>なんだかんだ言ったけど</a:t>
            </a:r>
            <a:r>
              <a:rPr kumimoji="0" lang="en-US" altLang="ja-JP" sz="2800" b="0" i="0" u="none" strike="noStrike" kern="0" cap="none" spc="-50" normalizeH="0" baseline="0" noProof="0" dirty="0">
                <a:ln>
                  <a:noFill/>
                </a:ln>
                <a:solidFill>
                  <a:sysClr val="windowText" lastClr="000000"/>
                </a:solidFill>
                <a:effectLst/>
                <a:uLnTx/>
                <a:uFillTx/>
                <a:latin typeface="Calibri"/>
                <a:cs typeface="Calibri"/>
              </a:rPr>
              <a:t>…</a:t>
            </a:r>
          </a:p>
          <a:p>
            <a:pPr marL="12700" marR="0" lvl="0" indent="0" defTabSz="914400" eaLnBrk="1" fontAlgn="auto" latinLnBrk="0" hangingPunct="1">
              <a:lnSpc>
                <a:spcPct val="100000"/>
              </a:lnSpc>
              <a:spcBef>
                <a:spcPts val="105"/>
              </a:spcBef>
              <a:spcAft>
                <a:spcPts val="0"/>
              </a:spcAft>
              <a:buClrTx/>
              <a:buSzTx/>
              <a:buFontTx/>
              <a:buNone/>
              <a:tabLst/>
              <a:defRPr/>
            </a:pPr>
            <a:endParaRPr kumimoji="0" lang="en-GB" altLang="ja-JP" sz="8000" b="1" i="0" u="none" strike="noStrike" kern="0" cap="none" spc="-5"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105"/>
              </a:spcBef>
              <a:spcAft>
                <a:spcPts val="0"/>
              </a:spcAft>
              <a:buClrTx/>
              <a:buSzTx/>
              <a:buFontTx/>
              <a:buNone/>
              <a:tabLst/>
              <a:defRPr/>
            </a:pPr>
            <a:r>
              <a:rPr kumimoji="0" lang="ja-JP" altLang="en-US" sz="8000" b="1" i="0" u="none" strike="noStrike" kern="0" cap="none" spc="-5" normalizeH="0" baseline="0" noProof="0" dirty="0">
                <a:ln>
                  <a:noFill/>
                </a:ln>
                <a:solidFill>
                  <a:sysClr val="windowText" lastClr="000000"/>
                </a:solidFill>
                <a:effectLst/>
                <a:uLnTx/>
                <a:uFillTx/>
                <a:latin typeface="Yu Gothic"/>
                <a:cs typeface="Yu Gothic"/>
              </a:rPr>
              <a:t>ドラゴンボール最高</a:t>
            </a:r>
            <a:r>
              <a:rPr kumimoji="0" lang="en-US" altLang="ja-JP" sz="8000" b="1" i="0" u="none" strike="noStrike" kern="0" cap="none" spc="-25" normalizeH="0" baseline="0" noProof="0" dirty="0">
                <a:ln>
                  <a:noFill/>
                </a:ln>
                <a:solidFill>
                  <a:sysClr val="windowText" lastClr="000000"/>
                </a:solidFill>
                <a:effectLst/>
                <a:uLnTx/>
                <a:uFillTx/>
                <a:latin typeface="Calibri"/>
                <a:cs typeface="Calibri"/>
              </a:rPr>
              <a:t>!!</a:t>
            </a:r>
            <a:endParaRPr kumimoji="0" lang="ja-JP" altLang="en-US" sz="8000" b="0" i="0" u="none" strike="noStrike" kern="0" cap="none" spc="0" normalizeH="0" baseline="0" noProof="0" dirty="0">
              <a:ln>
                <a:noFill/>
              </a:ln>
              <a:solidFill>
                <a:sysClr val="windowText" lastClr="000000"/>
              </a:solidFill>
              <a:effectLst/>
              <a:uLnTx/>
              <a:uFillTx/>
              <a:latin typeface="Calibri"/>
              <a:cs typeface="Calibri"/>
            </a:endParaRPr>
          </a:p>
        </p:txBody>
      </p:sp>
    </p:spTree>
    <p:extLst>
      <p:ext uri="{BB962C8B-B14F-4D97-AF65-F5344CB8AC3E}">
        <p14:creationId xmlns:p14="http://schemas.microsoft.com/office/powerpoint/2010/main" val="35154773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9000" b="-9000"/>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4192</Words>
  <Application>Microsoft Office PowerPoint</Application>
  <PresentationFormat>Widescreen</PresentationFormat>
  <Paragraphs>319</Paragraphs>
  <Slides>37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-apple-system</vt:lpstr>
      <vt:lpstr>Arial MT</vt:lpstr>
      <vt:lpstr>Calibri (Headings)</vt:lpstr>
      <vt:lpstr>Yu Gothic</vt:lpstr>
      <vt:lpstr>Arial</vt:lpstr>
      <vt:lpstr>Calibri</vt:lpstr>
      <vt:lpstr>Calibri Light</vt:lpstr>
      <vt:lpstr>Office テーマ</vt:lpstr>
      <vt:lpstr>厳選！ ドラゴンボール七不思議</vt:lpstr>
      <vt:lpstr>自己紹介</vt:lpstr>
      <vt:lpstr>免許 / 資格</vt:lpstr>
      <vt:lpstr>スキルスタック</vt:lpstr>
      <vt:lpstr>職歴</vt:lpstr>
      <vt:lpstr>職歴</vt:lpstr>
      <vt:lpstr>国際交流活動</vt:lpstr>
      <vt:lpstr>目次</vt:lpstr>
      <vt:lpstr>1. 作品解説</vt:lpstr>
      <vt:lpstr>『ドラゴンボール』とは</vt:lpstr>
      <vt:lpstr>世界観</vt:lpstr>
      <vt:lpstr>種族</vt:lpstr>
      <vt:lpstr>サイヤ人の形態</vt:lpstr>
      <vt:lpstr>2. ドラゴンボール七不思議</vt:lpstr>
      <vt:lpstr>注釈</vt:lpstr>
      <vt:lpstr>[共通] 其の一: 桃白白の移動手段</vt:lpstr>
      <vt:lpstr>[共通] 其の一: 桃白白の移動手段</vt:lpstr>
      <vt:lpstr>[共通] 其の一: 桃白白の移動手段</vt:lpstr>
      <vt:lpstr>[共通] 其の二: 悟飯の大猿化時のピッコロの反応</vt:lpstr>
      <vt:lpstr>[共通] 其の二: 悟飯の大猿化時のピッコロの反応</vt:lpstr>
      <vt:lpstr>[共通] 其の二: 悟飯の大猿化時のピッコロの反応</vt:lpstr>
      <vt:lpstr>[ア] 其の三: ベジータの宇宙空間での行動</vt:lpstr>
      <vt:lpstr>[ア] 其の三: ベジータの宇宙空間での行動</vt:lpstr>
      <vt:lpstr>[共通] 其の四: ドクター・ゲロの人造人間への改造</vt:lpstr>
      <vt:lpstr>[共通] 其の四: ドクター・ゲロの人造人間への改造</vt:lpstr>
      <vt:lpstr>[共通] 其の四: ドクター・ゲロの人造人間への改造</vt:lpstr>
      <vt:lpstr>[ア] 其の五: セルジュニアの数</vt:lpstr>
      <vt:lpstr>[ア] 其の五: セルジュニアの数</vt:lpstr>
      <vt:lpstr>[ア] 其の五: セルジュニアの数</vt:lpstr>
      <vt:lpstr>[ア] 其の六: オレンジスターハイスクールの授業</vt:lpstr>
      <vt:lpstr>[ア] 其の六: オレンジスターハイスクールの授業</vt:lpstr>
      <vt:lpstr>[共通] 其の七: 孫悟飯の加齢</vt:lpstr>
      <vt:lpstr>[共通] 其の七: 孫悟飯の加齢</vt:lpstr>
      <vt:lpstr>3. まとめ</vt:lpstr>
      <vt:lpstr>3. まとめ</vt:lpstr>
      <vt:lpstr>3. まとめ</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56</cp:revision>
  <dcterms:modified xsi:type="dcterms:W3CDTF">2025-09-01T03:39:02Z</dcterms:modified>
</cp:coreProperties>
</file>