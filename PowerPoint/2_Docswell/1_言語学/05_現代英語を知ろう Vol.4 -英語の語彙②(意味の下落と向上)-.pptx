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87" r:id="rId3"/>
    <p:sldId id="388" r:id="rId4"/>
    <p:sldId id="387" r:id="rId5"/>
    <p:sldId id="286" r:id="rId6"/>
    <p:sldId id="419" r:id="rId7"/>
    <p:sldId id="280" r:id="rId8"/>
    <p:sldId id="408" r:id="rId9"/>
    <p:sldId id="311" r:id="rId10"/>
    <p:sldId id="259" r:id="rId11"/>
    <p:sldId id="330" r:id="rId12"/>
    <p:sldId id="409" r:id="rId13"/>
    <p:sldId id="410" r:id="rId14"/>
    <p:sldId id="411" r:id="rId15"/>
    <p:sldId id="412" r:id="rId16"/>
    <p:sldId id="413" r:id="rId17"/>
    <p:sldId id="325" r:id="rId18"/>
    <p:sldId id="354" r:id="rId19"/>
    <p:sldId id="414" r:id="rId20"/>
    <p:sldId id="415" r:id="rId21"/>
    <p:sldId id="416" r:id="rId22"/>
    <p:sldId id="417" r:id="rId23"/>
    <p:sldId id="418" r:id="rId24"/>
    <p:sldId id="385" r:id="rId25"/>
    <p:sldId id="386" r:id="rId26"/>
    <p:sldId id="328" r:id="rId27"/>
    <p:sldId id="295" r:id="rId28"/>
    <p:sldId id="28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70D697E9-43C2-45BB-959B-BC8E6D287FE6}"/>
    <pc:docChg chg="custSel addSld modSld">
      <pc:chgData name="Hayato Ishida" userId="585fa0fa6384767c" providerId="LiveId" clId="{70D697E9-43C2-45BB-959B-BC8E6D287FE6}" dt="2025-09-01T03:30:52.944" v="14"/>
      <pc:docMkLst>
        <pc:docMk/>
      </pc:docMkLst>
      <pc:sldChg chg="addSp delSp modSp mod">
        <pc:chgData name="Hayato Ishida" userId="585fa0fa6384767c" providerId="LiveId" clId="{70D697E9-43C2-45BB-959B-BC8E6D287FE6}" dt="2025-09-01T03:30:52.944" v="14"/>
        <pc:sldMkLst>
          <pc:docMk/>
          <pc:sldMk cId="155858466" sldId="286"/>
        </pc:sldMkLst>
        <pc:spChg chg="add del mod">
          <ac:chgData name="Hayato Ishida" userId="585fa0fa6384767c" providerId="LiveId" clId="{70D697E9-43C2-45BB-959B-BC8E6D287FE6}" dt="2025-08-31T18:06:33.235" v="10" actId="478"/>
          <ac:spMkLst>
            <pc:docMk/>
            <pc:sldMk cId="155858466" sldId="286"/>
            <ac:spMk id="3" creationId="{DD5C8B8A-BC47-1783-12F6-A44BC245D6C1}"/>
          </ac:spMkLst>
        </pc:spChg>
        <pc:spChg chg="del">
          <ac:chgData name="Hayato Ishida" userId="585fa0fa6384767c" providerId="LiveId" clId="{70D697E9-43C2-45BB-959B-BC8E6D287FE6}" dt="2025-08-31T17:54:35.933" v="4" actId="478"/>
          <ac:spMkLst>
            <pc:docMk/>
            <pc:sldMk cId="155858466" sldId="286"/>
            <ac:spMk id="4" creationId="{917A4EC4-505F-8C72-D547-F1BC5A7B2DD5}"/>
          </ac:spMkLst>
        </pc:spChg>
        <pc:spChg chg="del">
          <ac:chgData name="Hayato Ishida" userId="585fa0fa6384767c" providerId="LiveId" clId="{70D697E9-43C2-45BB-959B-BC8E6D287FE6}" dt="2025-08-31T17:54:35.933" v="4" actId="478"/>
          <ac:spMkLst>
            <pc:docMk/>
            <pc:sldMk cId="155858466" sldId="286"/>
            <ac:spMk id="5" creationId="{7820CA6D-70AE-59AB-7D9A-778A02A850AF}"/>
          </ac:spMkLst>
        </pc:spChg>
        <pc:spChg chg="del">
          <ac:chgData name="Hayato Ishida" userId="585fa0fa6384767c" providerId="LiveId" clId="{70D697E9-43C2-45BB-959B-BC8E6D287FE6}" dt="2025-08-31T17:54:35.933" v="4" actId="478"/>
          <ac:spMkLst>
            <pc:docMk/>
            <pc:sldMk cId="155858466" sldId="286"/>
            <ac:spMk id="6" creationId="{C5A02475-A22C-8596-6CAD-28B80F0CB532}"/>
          </ac:spMkLst>
        </pc:spChg>
        <pc:spChg chg="add del mod">
          <ac:chgData name="Hayato Ishida" userId="585fa0fa6384767c" providerId="LiveId" clId="{70D697E9-43C2-45BB-959B-BC8E6D287FE6}" dt="2025-08-31T18:06:32.297" v="9" actId="478"/>
          <ac:spMkLst>
            <pc:docMk/>
            <pc:sldMk cId="155858466" sldId="286"/>
            <ac:spMk id="7" creationId="{8C4193DB-0230-4196-F535-585E6B226C77}"/>
          </ac:spMkLst>
        </pc:spChg>
        <pc:spChg chg="add del mod">
          <ac:chgData name="Hayato Ishida" userId="585fa0fa6384767c" providerId="LiveId" clId="{70D697E9-43C2-45BB-959B-BC8E6D287FE6}" dt="2025-08-31T18:06:32.297" v="9" actId="478"/>
          <ac:spMkLst>
            <pc:docMk/>
            <pc:sldMk cId="155858466" sldId="286"/>
            <ac:spMk id="8" creationId="{6D0E8C76-C15B-7AC1-74E2-ACE334F9B9CB}"/>
          </ac:spMkLst>
        </pc:spChg>
        <pc:spChg chg="add mod">
          <ac:chgData name="Hayato Ishida" userId="585fa0fa6384767c" providerId="LiveId" clId="{70D697E9-43C2-45BB-959B-BC8E6D287FE6}" dt="2025-08-31T18:06:34.095" v="11"/>
          <ac:spMkLst>
            <pc:docMk/>
            <pc:sldMk cId="155858466" sldId="286"/>
            <ac:spMk id="10" creationId="{CAE9D56B-7541-07BA-4226-A0C6B8C43C56}"/>
          </ac:spMkLst>
        </pc:spChg>
        <pc:spChg chg="add mod">
          <ac:chgData name="Hayato Ishida" userId="585fa0fa6384767c" providerId="LiveId" clId="{70D697E9-43C2-45BB-959B-BC8E6D287FE6}" dt="2025-08-31T18:06:34.095" v="11"/>
          <ac:spMkLst>
            <pc:docMk/>
            <pc:sldMk cId="155858466" sldId="286"/>
            <ac:spMk id="11" creationId="{05E89555-7FF3-A816-270F-2D9C98650A85}"/>
          </ac:spMkLst>
        </pc:spChg>
        <pc:graphicFrameChg chg="add del mod">
          <ac:chgData name="Hayato Ishida" userId="585fa0fa6384767c" providerId="LiveId" clId="{70D697E9-43C2-45BB-959B-BC8E6D287FE6}" dt="2025-08-31T18:06:32.297" v="9" actId="478"/>
          <ac:graphicFrameMkLst>
            <pc:docMk/>
            <pc:sldMk cId="155858466" sldId="286"/>
            <ac:graphicFrameMk id="9" creationId="{2069A566-1070-5AE5-DAA1-41815DFF9BBF}"/>
          </ac:graphicFrameMkLst>
        </pc:graphicFrameChg>
        <pc:graphicFrameChg chg="add mod">
          <ac:chgData name="Hayato Ishida" userId="585fa0fa6384767c" providerId="LiveId" clId="{70D697E9-43C2-45BB-959B-BC8E6D287FE6}" dt="2025-09-01T03:30:52.944" v="14"/>
          <ac:graphicFrameMkLst>
            <pc:docMk/>
            <pc:sldMk cId="155858466" sldId="286"/>
            <ac:graphicFrameMk id="12" creationId="{131D04E8-0C57-8A64-43A9-8F8574C1C4F1}"/>
          </ac:graphicFrameMkLst>
        </pc:graphicFrameChg>
      </pc:sldChg>
      <pc:sldChg chg="addSp delSp modSp mod">
        <pc:chgData name="Hayato Ishida" userId="585fa0fa6384767c" providerId="LiveId" clId="{70D697E9-43C2-45BB-959B-BC8E6D287FE6}" dt="2025-08-31T18:02:28.972" v="6"/>
        <pc:sldMkLst>
          <pc:docMk/>
          <pc:sldMk cId="654251065" sldId="287"/>
        </pc:sldMkLst>
        <pc:spChg chg="add del mod">
          <ac:chgData name="Hayato Ishida" userId="585fa0fa6384767c" providerId="LiveId" clId="{70D697E9-43C2-45BB-959B-BC8E6D287FE6}" dt="2025-08-31T17:54:29.490" v="1" actId="478"/>
          <ac:spMkLst>
            <pc:docMk/>
            <pc:sldMk cId="654251065" sldId="287"/>
            <ac:spMk id="3" creationId="{A8B68312-6C34-A639-19BD-FCB27DB2A362}"/>
          </ac:spMkLst>
        </pc:spChg>
        <pc:spChg chg="add del mod">
          <ac:chgData name="Hayato Ishida" userId="585fa0fa6384767c" providerId="LiveId" clId="{70D697E9-43C2-45BB-959B-BC8E6D287FE6}" dt="2025-08-31T17:54:29.490" v="1" actId="478"/>
          <ac:spMkLst>
            <pc:docMk/>
            <pc:sldMk cId="654251065" sldId="287"/>
            <ac:spMk id="5" creationId="{6AA048A2-1A69-DA3D-707F-9E40A612589F}"/>
          </ac:spMkLst>
        </pc:spChg>
        <pc:spChg chg="del">
          <ac:chgData name="Hayato Ishida" userId="585fa0fa6384767c" providerId="LiveId" clId="{70D697E9-43C2-45BB-959B-BC8E6D287FE6}" dt="2025-08-31T17:54:27.472" v="0" actId="478"/>
          <ac:spMkLst>
            <pc:docMk/>
            <pc:sldMk cId="654251065" sldId="287"/>
            <ac:spMk id="6" creationId="{4DD4168E-933C-6954-0D9B-C1F88244D25D}"/>
          </ac:spMkLst>
        </pc:spChg>
        <pc:spChg chg="del">
          <ac:chgData name="Hayato Ishida" userId="585fa0fa6384767c" providerId="LiveId" clId="{70D697E9-43C2-45BB-959B-BC8E6D287FE6}" dt="2025-08-31T17:54:27.472" v="0" actId="478"/>
          <ac:spMkLst>
            <pc:docMk/>
            <pc:sldMk cId="654251065" sldId="287"/>
            <ac:spMk id="7" creationId="{43868E1A-BFAC-F455-82C1-939364EF251A}"/>
          </ac:spMkLst>
        </pc:spChg>
        <pc:spChg chg="del">
          <ac:chgData name="Hayato Ishida" userId="585fa0fa6384767c" providerId="LiveId" clId="{70D697E9-43C2-45BB-959B-BC8E6D287FE6}" dt="2025-08-31T17:54:27.472" v="0" actId="478"/>
          <ac:spMkLst>
            <pc:docMk/>
            <pc:sldMk cId="654251065" sldId="287"/>
            <ac:spMk id="8" creationId="{811E23FF-F0C6-693B-E87C-D8B3E0E74339}"/>
          </ac:spMkLst>
        </pc:spChg>
        <pc:spChg chg="add mod">
          <ac:chgData name="Hayato Ishida" userId="585fa0fa6384767c" providerId="LiveId" clId="{70D697E9-43C2-45BB-959B-BC8E6D287FE6}" dt="2025-08-31T18:02:28.972" v="6"/>
          <ac:spMkLst>
            <pc:docMk/>
            <pc:sldMk cId="654251065" sldId="287"/>
            <ac:spMk id="9" creationId="{0D1E28FC-B29A-CD74-2F2B-C82B8A288833}"/>
          </ac:spMkLst>
        </pc:spChg>
        <pc:spChg chg="add mod">
          <ac:chgData name="Hayato Ishida" userId="585fa0fa6384767c" providerId="LiveId" clId="{70D697E9-43C2-45BB-959B-BC8E6D287FE6}" dt="2025-08-31T18:02:28.972" v="6"/>
          <ac:spMkLst>
            <pc:docMk/>
            <pc:sldMk cId="654251065" sldId="287"/>
            <ac:spMk id="10" creationId="{F139BD27-034D-E031-E67B-DABF23CE217C}"/>
          </ac:spMkLst>
        </pc:spChg>
        <pc:spChg chg="add mod">
          <ac:chgData name="Hayato Ishida" userId="585fa0fa6384767c" providerId="LiveId" clId="{70D697E9-43C2-45BB-959B-BC8E6D287FE6}" dt="2025-08-31T18:02:28.972" v="6"/>
          <ac:spMkLst>
            <pc:docMk/>
            <pc:sldMk cId="654251065" sldId="287"/>
            <ac:spMk id="11" creationId="{F1BFC70B-D84D-10A5-CAFF-3D3BACC6BBB6}"/>
          </ac:spMkLst>
        </pc:spChg>
        <pc:picChg chg="del">
          <ac:chgData name="Hayato Ishida" userId="585fa0fa6384767c" providerId="LiveId" clId="{70D697E9-43C2-45BB-959B-BC8E6D287FE6}" dt="2025-08-31T17:54:27.472" v="0" actId="478"/>
          <ac:picMkLst>
            <pc:docMk/>
            <pc:sldMk cId="654251065" sldId="287"/>
            <ac:picMk id="12" creationId="{92AB5CB8-A29C-223F-CB36-9DC680521B09}"/>
          </ac:picMkLst>
        </pc:picChg>
        <pc:picChg chg="add mod">
          <ac:chgData name="Hayato Ishida" userId="585fa0fa6384767c" providerId="LiveId" clId="{70D697E9-43C2-45BB-959B-BC8E6D287FE6}" dt="2025-08-31T18:02:28.972" v="6"/>
          <ac:picMkLst>
            <pc:docMk/>
            <pc:sldMk cId="654251065" sldId="287"/>
            <ac:picMk id="13" creationId="{BD95791F-81CE-BED9-9B23-6D556567E5EA}"/>
          </ac:picMkLst>
        </pc:picChg>
      </pc:sldChg>
      <pc:sldChg chg="addSp delSp modSp mod">
        <pc:chgData name="Hayato Ishida" userId="585fa0fa6384767c" providerId="LiveId" clId="{70D697E9-43C2-45BB-959B-BC8E6D287FE6}" dt="2025-08-31T18:04:15.285" v="7"/>
        <pc:sldMkLst>
          <pc:docMk/>
          <pc:sldMk cId="3064566856" sldId="387"/>
        </pc:sldMkLst>
        <pc:spChg chg="add del mod">
          <ac:chgData name="Hayato Ishida" userId="585fa0fa6384767c" providerId="LiveId" clId="{70D697E9-43C2-45BB-959B-BC8E6D287FE6}" dt="2025-08-31T17:54:33.207" v="3" actId="478"/>
          <ac:spMkLst>
            <pc:docMk/>
            <pc:sldMk cId="3064566856" sldId="387"/>
            <ac:spMk id="3" creationId="{BFB11D26-F829-3D93-EE18-47CC2FDAD31C}"/>
          </ac:spMkLst>
        </pc:spChg>
        <pc:spChg chg="add del mod">
          <ac:chgData name="Hayato Ishida" userId="585fa0fa6384767c" providerId="LiveId" clId="{70D697E9-43C2-45BB-959B-BC8E6D287FE6}" dt="2025-08-31T17:54:33.207" v="3" actId="478"/>
          <ac:spMkLst>
            <pc:docMk/>
            <pc:sldMk cId="3064566856" sldId="387"/>
            <ac:spMk id="5" creationId="{4501F3F9-6498-9947-3323-9C2CC7CC3C72}"/>
          </ac:spMkLst>
        </pc:spChg>
        <pc:spChg chg="add mod">
          <ac:chgData name="Hayato Ishida" userId="585fa0fa6384767c" providerId="LiveId" clId="{70D697E9-43C2-45BB-959B-BC8E6D287FE6}" dt="2025-08-31T18:04:15.285" v="7"/>
          <ac:spMkLst>
            <pc:docMk/>
            <pc:sldMk cId="3064566856" sldId="387"/>
            <ac:spMk id="6" creationId="{FE2DB748-63B0-16B1-24A2-509FA4242E2E}"/>
          </ac:spMkLst>
        </pc:spChg>
        <pc:spChg chg="add mod">
          <ac:chgData name="Hayato Ishida" userId="585fa0fa6384767c" providerId="LiveId" clId="{70D697E9-43C2-45BB-959B-BC8E6D287FE6}" dt="2025-08-31T18:04:15.285" v="7"/>
          <ac:spMkLst>
            <pc:docMk/>
            <pc:sldMk cId="3064566856" sldId="387"/>
            <ac:spMk id="7" creationId="{D09D0F47-D7E1-D59A-84FA-7763A7EF8077}"/>
          </ac:spMkLst>
        </pc:spChg>
        <pc:spChg chg="add mod">
          <ac:chgData name="Hayato Ishida" userId="585fa0fa6384767c" providerId="LiveId" clId="{70D697E9-43C2-45BB-959B-BC8E6D287FE6}" dt="2025-08-31T18:04:15.285" v="7"/>
          <ac:spMkLst>
            <pc:docMk/>
            <pc:sldMk cId="3064566856" sldId="387"/>
            <ac:spMk id="8" creationId="{6FA39D6B-9B7B-6FF4-D506-DEDA2BDB834D}"/>
          </ac:spMkLst>
        </pc:spChg>
        <pc:spChg chg="del">
          <ac:chgData name="Hayato Ishida" userId="585fa0fa6384767c" providerId="LiveId" clId="{70D697E9-43C2-45BB-959B-BC8E6D287FE6}" dt="2025-08-31T17:54:32.469" v="2" actId="478"/>
          <ac:spMkLst>
            <pc:docMk/>
            <pc:sldMk cId="3064566856" sldId="387"/>
            <ac:spMk id="9" creationId="{BF8E831C-C70C-07DF-8FE9-3317578A9193}"/>
          </ac:spMkLst>
        </pc:spChg>
        <pc:spChg chg="del">
          <ac:chgData name="Hayato Ishida" userId="585fa0fa6384767c" providerId="LiveId" clId="{70D697E9-43C2-45BB-959B-BC8E6D287FE6}" dt="2025-08-31T17:54:32.469" v="2" actId="478"/>
          <ac:spMkLst>
            <pc:docMk/>
            <pc:sldMk cId="3064566856" sldId="387"/>
            <ac:spMk id="10" creationId="{0BBBFD2C-EE03-7A81-957E-B0640D3A8CBA}"/>
          </ac:spMkLst>
        </pc:spChg>
        <pc:spChg chg="del">
          <ac:chgData name="Hayato Ishida" userId="585fa0fa6384767c" providerId="LiveId" clId="{70D697E9-43C2-45BB-959B-BC8E6D287FE6}" dt="2025-08-31T17:54:32.469" v="2" actId="478"/>
          <ac:spMkLst>
            <pc:docMk/>
            <pc:sldMk cId="3064566856" sldId="387"/>
            <ac:spMk id="11" creationId="{B466E99F-DE8D-B5C8-FF3D-07A77B49FC4F}"/>
          </ac:spMkLst>
        </pc:spChg>
      </pc:sldChg>
      <pc:sldChg chg="addSp delSp modSp add mod">
        <pc:chgData name="Hayato Ishida" userId="585fa0fa6384767c" providerId="LiveId" clId="{70D697E9-43C2-45BB-959B-BC8E6D287FE6}" dt="2025-09-01T03:30:52.944" v="14"/>
        <pc:sldMkLst>
          <pc:docMk/>
          <pc:sldMk cId="2471877087" sldId="419"/>
        </pc:sldMkLst>
        <pc:spChg chg="add mod">
          <ac:chgData name="Hayato Ishida" userId="585fa0fa6384767c" providerId="LiveId" clId="{70D697E9-43C2-45BB-959B-BC8E6D287FE6}" dt="2025-08-31T18:10:36.048" v="13"/>
          <ac:spMkLst>
            <pc:docMk/>
            <pc:sldMk cId="2471877087" sldId="419"/>
            <ac:spMk id="2" creationId="{838DB7F4-01D5-1BD1-B852-BBB7A089BAA5}"/>
          </ac:spMkLst>
        </pc:spChg>
        <pc:spChg chg="del">
          <ac:chgData name="Hayato Ishida" userId="585fa0fa6384767c" providerId="LiveId" clId="{70D697E9-43C2-45BB-959B-BC8E6D287FE6}" dt="2025-08-31T18:06:37.446" v="12" actId="478"/>
          <ac:spMkLst>
            <pc:docMk/>
            <pc:sldMk cId="2471877087" sldId="419"/>
            <ac:spMk id="3" creationId="{ADAE009E-5948-3640-DB04-F3DC6B3F1239}"/>
          </ac:spMkLst>
        </pc:spChg>
        <pc:spChg chg="add mod">
          <ac:chgData name="Hayato Ishida" userId="585fa0fa6384767c" providerId="LiveId" clId="{70D697E9-43C2-45BB-959B-BC8E6D287FE6}" dt="2025-08-31T18:10:36.048" v="13"/>
          <ac:spMkLst>
            <pc:docMk/>
            <pc:sldMk cId="2471877087" sldId="419"/>
            <ac:spMk id="4" creationId="{B61A8904-9F44-BA53-49C4-01CF92B66994}"/>
          </ac:spMkLst>
        </pc:spChg>
        <pc:graphicFrameChg chg="add mod">
          <ac:chgData name="Hayato Ishida" userId="585fa0fa6384767c" providerId="LiveId" clId="{70D697E9-43C2-45BB-959B-BC8E6D287FE6}" dt="2025-09-01T03:30:52.944" v="14"/>
          <ac:graphicFrameMkLst>
            <pc:docMk/>
            <pc:sldMk cId="2471877087" sldId="419"/>
            <ac:graphicFrameMk id="5" creationId="{7B636220-FA29-282C-EB76-C046526681CF}"/>
          </ac:graphicFrameMkLst>
        </pc:graphicFrameChg>
      </pc:sldChg>
    </pc:docChg>
  </pc:docChgLst>
  <pc:docChgLst>
    <pc:chgData name="Hayato Ishida" userId="585fa0fa6384767c" providerId="LiveId" clId="{13D34C97-F494-40CC-BFFB-5B1C27A0ACCF}"/>
    <pc:docChg chg="custSel modSld">
      <pc:chgData name="Hayato Ishida" userId="585fa0fa6384767c" providerId="LiveId" clId="{13D34C97-F494-40CC-BFFB-5B1C27A0ACCF}" dt="2025-05-03T11:23:02.293" v="8"/>
      <pc:docMkLst>
        <pc:docMk/>
      </pc:docMkLst>
      <pc:sldChg chg="modSp mod">
        <pc:chgData name="Hayato Ishida" userId="585fa0fa6384767c" providerId="LiveId" clId="{13D34C97-F494-40CC-BFFB-5B1C27A0ACCF}" dt="2025-05-03T11:23:02.293" v="8"/>
        <pc:sldMkLst>
          <pc:docMk/>
          <pc:sldMk cId="2567433019" sldId="280"/>
        </pc:sldMkLst>
      </pc:sldChg>
      <pc:sldChg chg="addSp delSp modSp mod">
        <pc:chgData name="Hayato Ishida" userId="585fa0fa6384767c" providerId="LiveId" clId="{13D34C97-F494-40CC-BFFB-5B1C27A0ACCF}" dt="2025-05-03T11:15:54.136" v="5"/>
        <pc:sldMkLst>
          <pc:docMk/>
          <pc:sldMk cId="155858466" sldId="286"/>
        </pc:sldMkLst>
      </pc:sldChg>
      <pc:sldChg chg="addSp delSp modSp mod">
        <pc:chgData name="Hayato Ishida" userId="585fa0fa6384767c" providerId="LiveId" clId="{13D34C97-F494-40CC-BFFB-5B1C27A0ACCF}" dt="2025-05-03T11:22:39.751" v="7"/>
        <pc:sldMkLst>
          <pc:docMk/>
          <pc:sldMk cId="654251065"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peakerdeck.com/hayat01sh1da/dive-deeper-into-presentday-english-vol4-english-vocabulary-2-pejoration-and-amelioration"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hyperlink" Target="https://github.com/hayat01sh1da" TargetMode="External"/><Relationship Id="rId7" Type="http://schemas.openxmlformats.org/officeDocument/2006/relationships/hyperlink" Target="https://www.docswell.com/user/hayat01sh1da"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speakerdeck.com/hayat01sh1da" TargetMode="External"/><Relationship Id="rId5" Type="http://schemas.openxmlformats.org/officeDocument/2006/relationships/hyperlink" Target="https://www.linkedin.com/in/hayat01sh1da/" TargetMode="External"/><Relationship Id="rId4" Type="http://schemas.openxmlformats.org/officeDocument/2006/relationships/hyperlink" Target="https://hackmd.io/@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 Target="slide26.xml"/><Relationship Id="rId5" Type="http://schemas.openxmlformats.org/officeDocument/2006/relationships/slide" Target="slide24.xml"/><Relationship Id="rId4" Type="http://schemas.openxmlformats.org/officeDocument/2006/relationships/slide" Target="slide1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dictionary.com/browse/silly"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ww.dictionary.com/"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dictionary.com/"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ww.dictionary.com/browse/seely"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dictionary.com/"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www.dictionary.com/browse/silly#panel-%3Ar2" TargetMode="External"/><Relationship Id="rId4" Type="http://schemas.openxmlformats.org/officeDocument/2006/relationships/hyperlink" Target="https://www.dictionary.com/browse/silly"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dictionary.com/browse/knave"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www.dictionary.com/browse/cunning" TargetMode="External"/><Relationship Id="rId4" Type="http://schemas.openxmlformats.org/officeDocument/2006/relationships/hyperlink" Target="https://www.dictionary.com/browse/villain"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dictionary.com/browse/nice"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ww.dictionary.com/"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dictionary.com/"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dictionary.com/browse/boy"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www.dictionary.com/browse/pretty" TargetMode="External"/><Relationship Id="rId4" Type="http://schemas.openxmlformats.org/officeDocument/2006/relationships/hyperlink" Target="https://www.dictionary.com/browse/fame"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dictionary.com/"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rmAutofit/>
          </a:bodyPr>
          <a:lstStyle/>
          <a:p>
            <a:r>
              <a:rPr lang="ja-JP" altLang="en-US" sz="5400" b="1" dirty="0">
                <a:effectLst>
                  <a:outerShdw blurRad="38100" dist="38100" dir="2700000" algn="tl">
                    <a:srgbClr val="000000">
                      <a:alpha val="43137"/>
                    </a:srgbClr>
                  </a:outerShdw>
                </a:effectLst>
                <a:latin typeface="+mn-lt"/>
              </a:rPr>
              <a:t>現代英語を知ろう</a:t>
            </a:r>
            <a:endParaRPr lang="en-GB" sz="5400" b="1" dirty="0">
              <a:effectLst>
                <a:outerShdw blurRad="38100" dist="38100" dir="2700000" algn="tl">
                  <a:srgbClr val="000000">
                    <a:alpha val="43137"/>
                  </a:srgbClr>
                </a:outerShdw>
              </a:effectLst>
              <a:latin typeface="+mn-lt"/>
            </a:endParaRPr>
          </a:p>
        </p:txBody>
      </p:sp>
      <p:sp>
        <p:nvSpPr>
          <p:cNvPr id="11" name="字幕 2">
            <a:extLst>
              <a:ext uri="{FF2B5EF4-FFF2-40B4-BE49-F238E27FC236}">
                <a16:creationId xmlns:a16="http://schemas.microsoft.com/office/drawing/2014/main" id="{9F3859FD-9718-0C81-33B3-44F030588BC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ja-JP" altLang="en-US" sz="3200" b="1" dirty="0">
                <a:latin typeface="+mn-ea"/>
              </a:rPr>
              <a:t>作成者</a:t>
            </a:r>
            <a:r>
              <a:rPr lang="en-US" sz="3200" b="1" dirty="0">
                <a:latin typeface="+mn-ea"/>
              </a:rPr>
              <a:t>: </a:t>
            </a:r>
            <a:r>
              <a:rPr lang="ja-JP" altLang="en-US" sz="3200" b="1" dirty="0">
                <a:latin typeface="+mn-ea"/>
              </a:rPr>
              <a:t>石田</a:t>
            </a:r>
            <a:r>
              <a:rPr lang="en-US" sz="3200" b="1" dirty="0">
                <a:latin typeface="+mn-ea"/>
              </a:rPr>
              <a:t> </a:t>
            </a:r>
            <a:r>
              <a:rPr lang="ja-JP" altLang="en-US" sz="3200" b="1" dirty="0">
                <a:latin typeface="+mn-ea"/>
              </a:rPr>
              <a:t>隼人</a:t>
            </a:r>
            <a:endParaRPr lang="en-GB" sz="3200" b="1" dirty="0">
              <a:latin typeface="+mn-ea"/>
            </a:endParaRPr>
          </a:p>
        </p:txBody>
      </p:sp>
      <p:sp>
        <p:nvSpPr>
          <p:cNvPr id="12" name="スライド番号プレースホルダー 3">
            <a:extLst>
              <a:ext uri="{FF2B5EF4-FFF2-40B4-BE49-F238E27FC236}">
                <a16:creationId xmlns:a16="http://schemas.microsoft.com/office/drawing/2014/main" id="{37DCA1F6-8A6F-EFA2-32E0-4107C174B296}"/>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3" name="字幕 2">
            <a:extLst>
              <a:ext uri="{FF2B5EF4-FFF2-40B4-BE49-F238E27FC236}">
                <a16:creationId xmlns:a16="http://schemas.microsoft.com/office/drawing/2014/main" id="{7EC127B2-8036-0DBB-686D-9BBD027D4A12}"/>
              </a:ext>
            </a:extLst>
          </p:cNvPr>
          <p:cNvSpPr txBox="1">
            <a:spLocks/>
          </p:cNvSpPr>
          <p:nvPr/>
        </p:nvSpPr>
        <p:spPr>
          <a:xfrm>
            <a:off x="6648275" y="5445970"/>
            <a:ext cx="396659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ja-JP" altLang="en-US" sz="2000" b="1" i="0" u="none" strike="noStrike" kern="1200" cap="none" spc="0" normalizeH="0" baseline="0" noProof="0" dirty="0">
                <a:ln>
                  <a:noFill/>
                </a:ln>
                <a:solidFill>
                  <a:prstClr val="black"/>
                </a:solidFill>
                <a:effectLst/>
                <a:uLnTx/>
                <a:uFillTx/>
                <a:latin typeface="+mn-ea"/>
                <a:cs typeface="+mn-cs"/>
              </a:rPr>
              <a:t>最終更新日</a:t>
            </a:r>
            <a:r>
              <a:rPr kumimoji="0" lang="en-GB" altLang="ja-JP" sz="2000" b="1" i="0" u="none" strike="noStrike" kern="1200" cap="none" spc="0" normalizeH="0" baseline="0" noProof="0" dirty="0">
                <a:ln>
                  <a:noFill/>
                </a:ln>
                <a:solidFill>
                  <a:prstClr val="black"/>
                </a:solidFill>
                <a:effectLst/>
                <a:uLnTx/>
                <a:uFillTx/>
                <a:latin typeface="+mn-ea"/>
                <a:cs typeface="+mn-cs"/>
              </a:rPr>
              <a:t>: </a:t>
            </a:r>
            <a:r>
              <a:rPr kumimoji="0" lang="en-GB" altLang="ja-JP" sz="2000" b="1" i="0" u="none" strike="noStrike" kern="1200" cap="none" spc="0" normalizeH="0" baseline="0" noProof="0" dirty="0">
                <a:ln>
                  <a:noFill/>
                </a:ln>
                <a:solidFill>
                  <a:prstClr val="black"/>
                </a:solidFill>
                <a:effectLst/>
                <a:uLnTx/>
                <a:uFillTx/>
                <a:cs typeface="+mn-cs"/>
              </a:rPr>
              <a:t>2024</a:t>
            </a:r>
            <a:r>
              <a:rPr kumimoji="0" lang="ja-JP" altLang="en-US" sz="2000" b="1" i="0" u="none" strike="noStrike" kern="1200" cap="none" spc="0" normalizeH="0" baseline="0" noProof="0" dirty="0">
                <a:ln>
                  <a:noFill/>
                </a:ln>
                <a:solidFill>
                  <a:prstClr val="black"/>
                </a:solidFill>
                <a:effectLst/>
                <a:uLnTx/>
                <a:uFillTx/>
                <a:latin typeface="+mn-ea"/>
                <a:cs typeface="+mn-cs"/>
              </a:rPr>
              <a:t>年</a:t>
            </a:r>
            <a:r>
              <a:rPr kumimoji="0" lang="en-GB" altLang="ja-JP" sz="2000" b="1" i="0" u="none" strike="noStrike" kern="1200" cap="none" spc="0" normalizeH="0" baseline="0" noProof="0" dirty="0">
                <a:ln>
                  <a:noFill/>
                </a:ln>
                <a:solidFill>
                  <a:prstClr val="black"/>
                </a:solidFill>
                <a:effectLst/>
                <a:uLnTx/>
                <a:uFillTx/>
                <a:cs typeface="+mn-cs"/>
              </a:rPr>
              <a:t>07</a:t>
            </a:r>
            <a:r>
              <a:rPr kumimoji="0" lang="ja-JP" altLang="en-US" sz="2000" b="1" i="0" u="none" strike="noStrike" kern="1200" cap="none" spc="0" normalizeH="0" baseline="0" noProof="0" dirty="0">
                <a:ln>
                  <a:noFill/>
                </a:ln>
                <a:solidFill>
                  <a:prstClr val="black"/>
                </a:solidFill>
                <a:effectLst/>
                <a:uLnTx/>
                <a:uFillTx/>
                <a:latin typeface="+mn-ea"/>
                <a:cs typeface="+mn-cs"/>
              </a:rPr>
              <a:t>月</a:t>
            </a:r>
            <a:r>
              <a:rPr kumimoji="0" lang="en-GB" altLang="ja-JP" sz="2000" b="1" i="0" u="none" strike="noStrike" kern="1200" cap="none" spc="0" normalizeH="0" baseline="0" noProof="0" dirty="0">
                <a:ln>
                  <a:noFill/>
                </a:ln>
                <a:solidFill>
                  <a:prstClr val="black"/>
                </a:solidFill>
                <a:effectLst/>
                <a:uLnTx/>
                <a:uFillTx/>
                <a:cs typeface="+mn-cs"/>
              </a:rPr>
              <a:t>16</a:t>
            </a:r>
            <a:r>
              <a:rPr kumimoji="0" lang="ja-JP" altLang="en-US" sz="2000" b="1" i="0" u="none" strike="noStrike" kern="1200" cap="none" spc="0" normalizeH="0" baseline="0" noProof="0" dirty="0">
                <a:ln>
                  <a:noFill/>
                </a:ln>
                <a:solidFill>
                  <a:prstClr val="black"/>
                </a:solidFill>
                <a:effectLst/>
                <a:uLnTx/>
                <a:uFillTx/>
                <a:latin typeface="+mn-ea"/>
                <a:cs typeface="+mn-cs"/>
              </a:rPr>
              <a:t>日</a:t>
            </a:r>
            <a:endParaRPr kumimoji="0" lang="en-GB" sz="2000" b="1" i="0" u="none" strike="noStrike" kern="1200" cap="none" spc="0" normalizeH="0" baseline="0" noProof="0" dirty="0">
              <a:ln>
                <a:noFill/>
              </a:ln>
              <a:solidFill>
                <a:prstClr val="black"/>
              </a:solidFill>
              <a:effectLst/>
              <a:uLnTx/>
              <a:uFillTx/>
              <a:latin typeface="+mn-ea"/>
              <a:cs typeface="+mn-cs"/>
            </a:endParaRPr>
          </a:p>
        </p:txBody>
      </p:sp>
      <p:sp>
        <p:nvSpPr>
          <p:cNvPr id="14" name="タイトル 1">
            <a:extLst>
              <a:ext uri="{FF2B5EF4-FFF2-40B4-BE49-F238E27FC236}">
                <a16:creationId xmlns:a16="http://schemas.microsoft.com/office/drawing/2014/main" id="{9384CEEA-9ED1-6887-AFE8-7BA71E626EBF}"/>
              </a:ext>
            </a:extLst>
          </p:cNvPr>
          <p:cNvSpPr txBox="1">
            <a:spLocks/>
          </p:cNvSpPr>
          <p:nvPr/>
        </p:nvSpPr>
        <p:spPr>
          <a:xfrm>
            <a:off x="1470870" y="3514157"/>
            <a:ext cx="9144000" cy="555772"/>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altLang="ja-JP" sz="32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mn-lt"/>
                <a:cs typeface="+mj-cs"/>
              </a:rPr>
              <a:t>Vol.4 -</a:t>
            </a:r>
            <a:r>
              <a:rPr kumimoji="0" lang="ja-JP" altLang="en-US"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英語の語彙②</a:t>
            </a: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r>
              <a:rPr kumimoji="0" lang="ja-JP" altLang="en-US"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意味の下落と向上</a:t>
            </a: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r>
              <a:rPr kumimoji="0" lang="en-GB"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endParaRPr kumimoji="0" lang="en-GB"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j-ea"/>
              <a:cs typeface="+mj-cs"/>
            </a:endParaRPr>
          </a:p>
        </p:txBody>
      </p:sp>
      <p:sp>
        <p:nvSpPr>
          <p:cNvPr id="2" name="字幕 2">
            <a:extLst>
              <a:ext uri="{FF2B5EF4-FFF2-40B4-BE49-F238E27FC236}">
                <a16:creationId xmlns:a16="http://schemas.microsoft.com/office/drawing/2014/main" id="{9105717C-FCFA-427A-0249-8F2D02825EE3}"/>
              </a:ext>
            </a:extLst>
          </p:cNvPr>
          <p:cNvSpPr txBox="1">
            <a:spLocks/>
          </p:cNvSpPr>
          <p:nvPr/>
        </p:nvSpPr>
        <p:spPr>
          <a:xfrm>
            <a:off x="1470871" y="5440495"/>
            <a:ext cx="196861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ja-JP" altLang="en-US" sz="2000" dirty="0"/>
              <a:t>英語版は</a:t>
            </a:r>
            <a:r>
              <a:rPr lang="ja-JP" altLang="en-US" sz="2000" dirty="0">
                <a:hlinkClick r:id="rId3"/>
              </a:rPr>
              <a:t>こちら</a:t>
            </a:r>
            <a:endParaRPr lang="en-GB" sz="2000" dirty="0"/>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0D1E28FC-B29A-CD74-2F2B-C82B8A288833}"/>
              </a:ext>
            </a:extLst>
          </p:cNvPr>
          <p:cNvSpPr>
            <a:spLocks noGrp="1"/>
          </p:cNvSpPr>
          <p:nvPr>
            <p:ph type="title"/>
          </p:nvPr>
        </p:nvSpPr>
        <p:spPr>
          <a:xfrm>
            <a:off x="838200" y="365125"/>
            <a:ext cx="10515600" cy="1325563"/>
          </a:xfrm>
        </p:spPr>
        <p:txBody>
          <a:bodyPr/>
          <a:lstStyle/>
          <a:p>
            <a:pPr algn="ctr"/>
            <a:r>
              <a:rPr lang="ja-JP" altLang="en-US" b="1" dirty="0"/>
              <a:t>自己紹介</a:t>
            </a:r>
            <a:endParaRPr lang="en-GB" b="1" dirty="0"/>
          </a:p>
        </p:txBody>
      </p:sp>
      <p:sp>
        <p:nvSpPr>
          <p:cNvPr id="10" name="コンテンツ プレースホルダー 2">
            <a:extLst>
              <a:ext uri="{FF2B5EF4-FFF2-40B4-BE49-F238E27FC236}">
                <a16:creationId xmlns:a16="http://schemas.microsoft.com/office/drawing/2014/main" id="{F139BD27-034D-E031-E67B-DABF23CE217C}"/>
              </a:ext>
            </a:extLst>
          </p:cNvPr>
          <p:cNvSpPr>
            <a:spLocks noGrp="1"/>
          </p:cNvSpPr>
          <p:nvPr>
            <p:ph idx="1"/>
          </p:nvPr>
        </p:nvSpPr>
        <p:spPr>
          <a:xfrm>
            <a:off x="838200" y="1825625"/>
            <a:ext cx="10515600" cy="4351338"/>
          </a:xfrm>
        </p:spPr>
        <p:txBody>
          <a:bodyPr>
            <a:normAutofit lnSpcReduction="10000"/>
          </a:bodyPr>
          <a:lstStyle/>
          <a:p>
            <a:pPr marL="268288" indent="-268288"/>
            <a:r>
              <a:rPr lang="ja-JP" altLang="en-US" sz="2400" dirty="0"/>
              <a:t>各種アカウント</a:t>
            </a:r>
            <a:endParaRPr lang="en-GB" altLang="ja-JP" sz="2400" dirty="0"/>
          </a:p>
          <a:p>
            <a:pPr marL="725488" lvl="1" indent="-268288"/>
            <a:r>
              <a:rPr lang="en-US" altLang="ja-JP" sz="2000" dirty="0"/>
              <a:t>GitHub: </a:t>
            </a:r>
            <a:r>
              <a:rPr lang="en-US" altLang="ja-JP" sz="2000" dirty="0">
                <a:hlinkClick r:id="rId3"/>
              </a:rPr>
              <a:t>@hayat01sh1da</a:t>
            </a:r>
            <a:endParaRPr lang="en-US" altLang="ja-JP" sz="2000" dirty="0"/>
          </a:p>
          <a:p>
            <a:pPr marL="725488" lvl="1" indent="-268288"/>
            <a:r>
              <a:rPr lang="en-US" altLang="ja-JP" sz="2000" dirty="0"/>
              <a:t>X: </a:t>
            </a:r>
            <a:r>
              <a:rPr lang="en-US" altLang="ja-JP" sz="2000" dirty="0">
                <a:hlinkClick r:id="rId4"/>
              </a:rPr>
              <a:t>@hayat01sh1da</a:t>
            </a:r>
            <a:endParaRPr lang="en-GB" altLang="ja-JP" sz="2000" dirty="0"/>
          </a:p>
          <a:p>
            <a:pPr marL="725488" lvl="1" indent="-268288"/>
            <a:r>
              <a:rPr lang="en-GB" altLang="ja-JP" sz="2000" dirty="0"/>
              <a:t>LinkedIn: </a:t>
            </a:r>
            <a:r>
              <a:rPr lang="en-US" altLang="ja-JP" sz="2000" dirty="0">
                <a:hlinkClick r:id="rId5"/>
              </a:rPr>
              <a:t>@hayat01sh1da</a:t>
            </a:r>
            <a:endParaRPr lang="en-US" altLang="ja-JP" sz="2000" dirty="0"/>
          </a:p>
          <a:p>
            <a:pPr marL="725488" lvl="1" indent="-268288"/>
            <a:r>
              <a:rPr lang="en-US" altLang="ja-JP" sz="2000" dirty="0"/>
              <a:t>Speaker Deck: </a:t>
            </a:r>
            <a:r>
              <a:rPr lang="en-US" altLang="ja-JP" sz="2000" dirty="0">
                <a:hlinkClick r:id="rId6"/>
              </a:rPr>
              <a:t>@hayat01sh1da</a:t>
            </a:r>
            <a:endParaRPr lang="en-US" altLang="ja-JP" sz="2000" dirty="0"/>
          </a:p>
          <a:p>
            <a:pPr marL="725488" lvl="1" indent="-268288"/>
            <a:r>
              <a:rPr lang="en-US" altLang="ja-JP" sz="2000" dirty="0"/>
              <a:t>Docswell: </a:t>
            </a:r>
            <a:r>
              <a:rPr lang="en-US" altLang="ja-JP" sz="2000" dirty="0">
                <a:hlinkClick r:id="rId7"/>
              </a:rPr>
              <a:t>@hayat01sh1da</a:t>
            </a:r>
            <a:endParaRPr lang="en-US" altLang="ja-JP" sz="2000" dirty="0"/>
          </a:p>
          <a:p>
            <a:pPr marL="268288" indent="-268288"/>
            <a:r>
              <a:rPr lang="ja-JP" altLang="en-US" sz="2400" dirty="0"/>
              <a:t>職業</a:t>
            </a:r>
            <a:r>
              <a:rPr lang="en-GB" altLang="ja-JP" sz="2400" dirty="0"/>
              <a:t>: </a:t>
            </a:r>
            <a:r>
              <a:rPr lang="ja-JP" altLang="en-US" sz="2400" dirty="0"/>
              <a:t>ソフトウェアエンジニア</a:t>
            </a:r>
            <a:endParaRPr lang="en-GB" altLang="ja-JP" sz="2400" dirty="0"/>
          </a:p>
          <a:p>
            <a:pPr marL="268288" indent="-268288"/>
            <a:r>
              <a:rPr lang="ja-JP" altLang="en-US" sz="2400" dirty="0"/>
              <a:t>趣味</a:t>
            </a:r>
            <a:endParaRPr lang="en-GB" altLang="ja-JP" sz="2400" dirty="0"/>
          </a:p>
          <a:p>
            <a:pPr marL="725488" lvl="1" indent="-268288"/>
            <a:r>
              <a:rPr lang="ja-JP" altLang="en-US" sz="2000" dirty="0"/>
              <a:t>言語学</a:t>
            </a:r>
            <a:endParaRPr lang="en-GB" altLang="ja-JP" sz="2000" dirty="0"/>
          </a:p>
          <a:p>
            <a:pPr marL="725488" lvl="1" indent="-268288"/>
            <a:r>
              <a:rPr lang="ja-JP" altLang="en-US" sz="2000" dirty="0"/>
              <a:t>カラオケ</a:t>
            </a:r>
            <a:endParaRPr lang="en-GB" altLang="ja-JP" sz="2000" dirty="0"/>
          </a:p>
          <a:p>
            <a:pPr marL="725488" lvl="1" indent="-268288"/>
            <a:r>
              <a:rPr lang="ja-JP" altLang="en-US" sz="2000" dirty="0"/>
              <a:t>音楽鑑賞</a:t>
            </a:r>
            <a:endParaRPr lang="en-GB" altLang="ja-JP" sz="2000" dirty="0"/>
          </a:p>
          <a:p>
            <a:pPr marL="725488" lvl="1" indent="-268288"/>
            <a:r>
              <a:rPr lang="ja-JP" altLang="en-US" sz="2000" dirty="0"/>
              <a:t>映画鑑賞</a:t>
            </a:r>
            <a:endParaRPr lang="en-GB" altLang="ja-JP" sz="2000" dirty="0"/>
          </a:p>
          <a:p>
            <a:pPr marL="725488" lvl="1" indent="-268288"/>
            <a:r>
              <a:rPr lang="ja-JP" altLang="en-US" sz="2000" dirty="0"/>
              <a:t>猫飼育</a:t>
            </a:r>
            <a:endParaRPr lang="en-GB" altLang="ja-JP" sz="2000" dirty="0"/>
          </a:p>
        </p:txBody>
      </p:sp>
      <p:sp>
        <p:nvSpPr>
          <p:cNvPr id="11" name="スライド番号プレースホルダー 3">
            <a:extLst>
              <a:ext uri="{FF2B5EF4-FFF2-40B4-BE49-F238E27FC236}">
                <a16:creationId xmlns:a16="http://schemas.microsoft.com/office/drawing/2014/main" id="{F1BFC70B-D84D-10A5-CAFF-3D3BACC6BBB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BD95791F-81CE-BED9-9B23-6D556567E5E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ja-JP" altLang="en-US" b="1" dirty="0">
                <a:latin typeface="+mj-ea"/>
              </a:rPr>
              <a:t>免許</a:t>
            </a:r>
            <a:r>
              <a:rPr lang="en-GB" altLang="ja-JP" b="1" dirty="0">
                <a:latin typeface="+mj-ea"/>
              </a:rPr>
              <a:t> / </a:t>
            </a:r>
            <a:r>
              <a:rPr lang="ja-JP" altLang="en-US" b="1" dirty="0">
                <a:latin typeface="+mj-ea"/>
              </a:rPr>
              <a:t>資格</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ja-JP" altLang="en-US" dirty="0"/>
              <a:t>英語</a:t>
            </a:r>
            <a:endParaRPr lang="en-US" altLang="ja-JP" dirty="0"/>
          </a:p>
          <a:p>
            <a:pPr marL="725488" lvl="2" indent="-268288"/>
            <a:r>
              <a:rPr lang="en-US" altLang="ja-JP" dirty="0"/>
              <a:t>TOEIC® Listening &amp; Reading 915</a:t>
            </a:r>
            <a:r>
              <a:rPr lang="ja-JP" altLang="en-US" dirty="0"/>
              <a:t>点</a:t>
            </a:r>
            <a:r>
              <a:rPr lang="en-GB" altLang="ja-JP" dirty="0"/>
              <a:t>: 2019</a:t>
            </a:r>
            <a:r>
              <a:rPr lang="ja-JP" altLang="en-US" dirty="0"/>
              <a:t>年</a:t>
            </a:r>
            <a:r>
              <a:rPr lang="en-US" altLang="ja-JP" dirty="0"/>
              <a:t>12</a:t>
            </a:r>
            <a:r>
              <a:rPr lang="ja-JP" altLang="en-US" dirty="0"/>
              <a:t>月</a:t>
            </a:r>
            <a:r>
              <a:rPr lang="en-GB" altLang="ja-JP" dirty="0"/>
              <a:t> </a:t>
            </a:r>
            <a:r>
              <a:rPr lang="ja-JP" altLang="en-US" dirty="0"/>
              <a:t>取得</a:t>
            </a:r>
          </a:p>
          <a:p>
            <a:pPr marL="268288" lvl="1" indent="-268288"/>
            <a:r>
              <a:rPr lang="ja-JP" altLang="en-US" dirty="0"/>
              <a:t>エンジニアリング</a:t>
            </a:r>
            <a:endParaRPr lang="en-GB" altLang="ja-JP" dirty="0"/>
          </a:p>
          <a:p>
            <a:pPr marL="725488" lvl="2" indent="-268288"/>
            <a:r>
              <a:rPr lang="ja-JP" altLang="en-US" dirty="0"/>
              <a:t>情報セキュリティマネジメント</a:t>
            </a:r>
            <a:r>
              <a:rPr lang="en-GB" altLang="ja-JP" dirty="0"/>
              <a:t>: 2017</a:t>
            </a:r>
            <a:r>
              <a:rPr lang="ja-JP" altLang="en-US" dirty="0"/>
              <a:t>年</a:t>
            </a:r>
            <a:r>
              <a:rPr lang="en-US" altLang="ja-JP" dirty="0"/>
              <a:t>11</a:t>
            </a:r>
            <a:r>
              <a:rPr lang="ja-JP" altLang="en-US" dirty="0"/>
              <a:t>月</a:t>
            </a:r>
            <a:r>
              <a:rPr lang="en-GB" altLang="ja-JP" dirty="0"/>
              <a:t> </a:t>
            </a:r>
            <a:r>
              <a:rPr lang="ja-JP" altLang="en-US" dirty="0"/>
              <a:t>取得</a:t>
            </a:r>
            <a:endParaRPr lang="en-GB" altLang="ja-JP" dirty="0"/>
          </a:p>
          <a:p>
            <a:pPr marL="725488" lvl="2" indent="-268288"/>
            <a:r>
              <a:rPr lang="ja-JP" altLang="en-US" dirty="0"/>
              <a:t>応用情報技術者</a:t>
            </a:r>
            <a:r>
              <a:rPr lang="en-GB" altLang="ja-JP" dirty="0"/>
              <a:t>: 2017</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t>基本情報技術者</a:t>
            </a:r>
            <a:r>
              <a:rPr lang="en-GB" altLang="ja-JP" dirty="0"/>
              <a:t>: 2016</a:t>
            </a:r>
            <a:r>
              <a:rPr lang="ja-JP" altLang="en-US" dirty="0"/>
              <a:t>年</a:t>
            </a:r>
            <a:r>
              <a:rPr lang="en-US" altLang="ja-JP" dirty="0"/>
              <a:t>11</a:t>
            </a:r>
            <a:r>
              <a:rPr lang="ja-JP" altLang="en-US" dirty="0"/>
              <a:t>月</a:t>
            </a:r>
            <a:r>
              <a:rPr lang="en-GB" altLang="ja-JP" dirty="0"/>
              <a:t> </a:t>
            </a:r>
            <a:r>
              <a:rPr lang="ja-JP" altLang="en-US" dirty="0"/>
              <a:t>取得</a:t>
            </a:r>
          </a:p>
          <a:p>
            <a:pPr marL="725488" lvl="2" indent="-268288"/>
            <a:r>
              <a:rPr lang="en-US" altLang="ja-JP" dirty="0"/>
              <a:t>IT </a:t>
            </a:r>
            <a:r>
              <a:rPr lang="ja-JP" altLang="en-US" dirty="0"/>
              <a:t>パスポート</a:t>
            </a:r>
            <a:r>
              <a:rPr lang="en-GB" altLang="ja-JP" dirty="0"/>
              <a:t>: 2016</a:t>
            </a:r>
            <a:r>
              <a:rPr lang="ja-JP" altLang="en-US" dirty="0"/>
              <a:t>年</a:t>
            </a:r>
            <a:r>
              <a:rPr lang="en-US" altLang="ja-JP" dirty="0"/>
              <a:t>04</a:t>
            </a:r>
            <a:r>
              <a:rPr lang="ja-JP" altLang="en-US" dirty="0"/>
              <a:t>月</a:t>
            </a:r>
            <a:r>
              <a:rPr lang="en-GB" altLang="ja-JP" dirty="0"/>
              <a:t> </a:t>
            </a:r>
            <a:r>
              <a:rPr lang="ja-JP" altLang="en-US" dirty="0"/>
              <a:t>取得</a:t>
            </a:r>
            <a:endParaRPr lang="en-GB" altLang="ja-JP" b="0" i="0" dirty="0">
              <a:solidFill>
                <a:srgbClr val="333333"/>
              </a:solidFill>
              <a:effectLst/>
              <a:latin typeface="-apple-system"/>
            </a:endParaRPr>
          </a:p>
          <a:p>
            <a:pPr marL="268288" lvl="1" indent="-268288"/>
            <a:r>
              <a:rPr lang="ja-JP" altLang="en-US" dirty="0">
                <a:solidFill>
                  <a:srgbClr val="333333"/>
                </a:solidFill>
                <a:latin typeface="-apple-system"/>
              </a:rPr>
              <a:t>その他</a:t>
            </a:r>
            <a:endParaRPr lang="en-GB" altLang="ja-JP" dirty="0">
              <a:solidFill>
                <a:srgbClr val="333333"/>
              </a:solidFill>
              <a:latin typeface="-apple-system"/>
            </a:endParaRPr>
          </a:p>
          <a:p>
            <a:pPr marL="725488" lvl="2" indent="-268288"/>
            <a:r>
              <a:rPr lang="ja-JP" altLang="en-US" dirty="0">
                <a:solidFill>
                  <a:srgbClr val="333333"/>
                </a:solidFill>
                <a:latin typeface="-apple-system"/>
              </a:rPr>
              <a:t>珠算</a:t>
            </a:r>
            <a:r>
              <a:rPr lang="en-GB" altLang="ja-JP" dirty="0">
                <a:solidFill>
                  <a:srgbClr val="333333"/>
                </a:solidFill>
                <a:latin typeface="-apple-system"/>
              </a:rPr>
              <a:t>2</a:t>
            </a:r>
            <a:r>
              <a:rPr lang="ja-JP" altLang="en-US" dirty="0">
                <a:solidFill>
                  <a:srgbClr val="333333"/>
                </a:solidFill>
                <a:latin typeface="-apple-system"/>
              </a:rPr>
              <a:t>級</a:t>
            </a:r>
            <a:r>
              <a:rPr lang="en-GB" altLang="ja-JP" dirty="0">
                <a:solidFill>
                  <a:srgbClr val="333333"/>
                </a:solidFill>
                <a:latin typeface="-apple-system"/>
              </a:rPr>
              <a:t>: </a:t>
            </a:r>
            <a:r>
              <a:rPr lang="en-GB" altLang="ja-JP" dirty="0"/>
              <a:t>2002</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solidFill>
                  <a:srgbClr val="333333"/>
                </a:solidFill>
                <a:latin typeface="-apple-system"/>
              </a:rPr>
              <a:t>暗算</a:t>
            </a:r>
            <a:r>
              <a:rPr lang="en-US" altLang="ja-JP" dirty="0">
                <a:solidFill>
                  <a:srgbClr val="333333"/>
                </a:solidFill>
                <a:latin typeface="-apple-system"/>
              </a:rPr>
              <a:t>3</a:t>
            </a:r>
            <a:r>
              <a:rPr lang="ja-JP" altLang="en-US" dirty="0">
                <a:solidFill>
                  <a:srgbClr val="333333"/>
                </a:solidFill>
                <a:latin typeface="-apple-system"/>
              </a:rPr>
              <a:t>級</a:t>
            </a:r>
            <a:r>
              <a:rPr lang="en-GB" altLang="ja-JP" b="0" i="0" dirty="0">
                <a:solidFill>
                  <a:srgbClr val="333333"/>
                </a:solidFill>
                <a:effectLst/>
                <a:latin typeface="-apple-system"/>
              </a:rPr>
              <a:t>: </a:t>
            </a:r>
            <a:r>
              <a:rPr lang="en-GB" altLang="ja-JP" dirty="0"/>
              <a:t>2001</a:t>
            </a:r>
            <a:r>
              <a:rPr lang="ja-JP" altLang="en-US" dirty="0"/>
              <a:t>年</a:t>
            </a:r>
            <a:r>
              <a:rPr lang="en-US" altLang="ja-JP" dirty="0"/>
              <a:t>02</a:t>
            </a:r>
            <a:r>
              <a:rPr lang="ja-JP" altLang="en-US" dirty="0"/>
              <a:t>月</a:t>
            </a:r>
            <a:r>
              <a:rPr lang="en-GB" altLang="ja-JP" dirty="0"/>
              <a:t> </a:t>
            </a:r>
            <a:r>
              <a:rPr lang="ja-JP" altLang="en-US" dirty="0"/>
              <a:t>取得</a:t>
            </a:r>
            <a:endParaRPr lang="en-GB" altLang="ja-JP" dirty="0"/>
          </a:p>
        </p:txBody>
      </p:sp>
      <p:sp>
        <p:nvSpPr>
          <p:cNvPr id="4" name="スライド番号プレースホルダー 3">
            <a:extLst>
              <a:ext uri="{FF2B5EF4-FFF2-40B4-BE49-F238E27FC236}">
                <a16:creationId xmlns:a16="http://schemas.microsoft.com/office/drawing/2014/main" id="{CF305983-0249-A6CE-AD02-933B3C88710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FE2DB748-63B0-16B1-24A2-509FA4242E2E}"/>
              </a:ext>
            </a:extLst>
          </p:cNvPr>
          <p:cNvSpPr>
            <a:spLocks noGrp="1"/>
          </p:cNvSpPr>
          <p:nvPr>
            <p:ph type="title"/>
          </p:nvPr>
        </p:nvSpPr>
        <p:spPr>
          <a:xfrm>
            <a:off x="838200" y="365125"/>
            <a:ext cx="10515600" cy="1325563"/>
          </a:xfrm>
        </p:spPr>
        <p:txBody>
          <a:bodyPr/>
          <a:lstStyle/>
          <a:p>
            <a:pPr algn="ctr"/>
            <a:r>
              <a:rPr kumimoji="1" lang="ja-JP" altLang="en-US" b="1" dirty="0">
                <a:latin typeface="+mn-lt"/>
              </a:rPr>
              <a:t>スキルスタック</a:t>
            </a:r>
            <a:endParaRPr lang="en-GB" b="1" dirty="0"/>
          </a:p>
        </p:txBody>
      </p:sp>
      <p:sp>
        <p:nvSpPr>
          <p:cNvPr id="7" name="コンテンツ プレースホルダー 2">
            <a:extLst>
              <a:ext uri="{FF2B5EF4-FFF2-40B4-BE49-F238E27FC236}">
                <a16:creationId xmlns:a16="http://schemas.microsoft.com/office/drawing/2014/main" id="{D09D0F47-D7E1-D59A-84FA-7763A7EF8077}"/>
              </a:ext>
            </a:extLst>
          </p:cNvPr>
          <p:cNvSpPr>
            <a:spLocks noGrp="1"/>
          </p:cNvSpPr>
          <p:nvPr>
            <p:ph idx="1"/>
          </p:nvPr>
        </p:nvSpPr>
        <p:spPr>
          <a:xfrm>
            <a:off x="838200" y="1825625"/>
            <a:ext cx="10515600" cy="4351338"/>
          </a:xfrm>
          <a:ln>
            <a:noFill/>
          </a:ln>
        </p:spPr>
        <p:txBody>
          <a:bodyPr>
            <a:normAutofit/>
          </a:bodyPr>
          <a:lstStyle/>
          <a:p>
            <a:pPr marL="268288" indent="-268288"/>
            <a:r>
              <a:rPr lang="ja-JP" altLang="en-US" sz="2400" dirty="0"/>
              <a:t>自然言語</a:t>
            </a:r>
          </a:p>
          <a:p>
            <a:pPr marL="717550" lvl="1" indent="-260350"/>
            <a:r>
              <a:rPr lang="ja-JP" altLang="en-US" sz="2000" dirty="0"/>
              <a:t>日本語</a:t>
            </a:r>
            <a:r>
              <a:rPr lang="en-GB" altLang="ja-JP" sz="2000" dirty="0"/>
              <a:t>: </a:t>
            </a:r>
            <a:r>
              <a:rPr lang="ja-JP" altLang="en-US" sz="2000" dirty="0"/>
              <a:t>母語</a:t>
            </a:r>
            <a:endParaRPr lang="en-GB" altLang="ja-JP" sz="2000" dirty="0"/>
          </a:p>
          <a:p>
            <a:pPr marL="717550" lvl="1" indent="-260350"/>
            <a:r>
              <a:rPr lang="ja-JP" altLang="en-US" sz="2000" dirty="0"/>
              <a:t>英語</a:t>
            </a:r>
            <a:r>
              <a:rPr lang="en-GB" altLang="ja-JP" sz="2000" dirty="0"/>
              <a:t>: </a:t>
            </a:r>
            <a:r>
              <a:rPr lang="ja-JP" altLang="en-US" sz="2000" dirty="0"/>
              <a:t>ビジネスレベル</a:t>
            </a:r>
            <a:endParaRPr lang="en-GB" altLang="ja-JP" sz="2000" dirty="0"/>
          </a:p>
          <a:p>
            <a:pPr marL="268288" indent="-268288"/>
            <a:r>
              <a:rPr lang="ja-JP" altLang="en-US" sz="2400" dirty="0"/>
              <a:t>開発</a:t>
            </a:r>
            <a:endParaRPr lang="en-GB" altLang="ja-JP" sz="2400" dirty="0"/>
          </a:p>
          <a:p>
            <a:pPr marL="717550" lvl="1" indent="-260350"/>
            <a:r>
              <a:rPr lang="ja-JP" altLang="en-US" sz="2000" b="1" dirty="0"/>
              <a:t>バックエンド</a:t>
            </a:r>
            <a:r>
              <a:rPr lang="en-GB" altLang="ja-JP" sz="2000" b="1" dirty="0"/>
              <a:t>: Ruby(Ruby on Rails)</a:t>
            </a:r>
            <a:r>
              <a:rPr lang="en-GB" altLang="ja-JP" sz="2000" dirty="0"/>
              <a:t>, Python</a:t>
            </a:r>
          </a:p>
          <a:p>
            <a:pPr marL="717550" lvl="1" indent="-260350"/>
            <a:r>
              <a:rPr lang="ja-JP" altLang="en-US" sz="2000" dirty="0"/>
              <a:t>フロントエンド</a:t>
            </a:r>
            <a:r>
              <a:rPr lang="en-GB" altLang="ja-JP" sz="2000" dirty="0"/>
              <a:t>: TypeScript + React.js, TypeScript +Vue.js</a:t>
            </a:r>
          </a:p>
          <a:p>
            <a:pPr marL="717550" lvl="1" indent="-260350"/>
            <a:r>
              <a:rPr lang="ja-JP" altLang="en-US" sz="2000" b="1" dirty="0"/>
              <a:t>データベース</a:t>
            </a:r>
            <a:r>
              <a:rPr lang="en-GB" altLang="ja-JP" sz="2000" b="1" dirty="0"/>
              <a:t>: MySQL</a:t>
            </a:r>
            <a:r>
              <a:rPr lang="en-GB" altLang="ja-JP" sz="2000" dirty="0"/>
              <a:t>, PostgreSQL, MongoDB</a:t>
            </a:r>
          </a:p>
          <a:p>
            <a:pPr marL="717550" lvl="1" indent="-260350"/>
            <a:r>
              <a:rPr lang="ja-JP" altLang="en-US" sz="2000" b="1" dirty="0"/>
              <a:t>アーキテクチャー</a:t>
            </a:r>
            <a:r>
              <a:rPr lang="en-GB" altLang="ja-JP" sz="2000" b="1" dirty="0"/>
              <a:t>: </a:t>
            </a:r>
            <a:r>
              <a:rPr lang="ja-JP" altLang="en-US" sz="2000" b="1" dirty="0"/>
              <a:t>モノリス</a:t>
            </a:r>
            <a:r>
              <a:rPr lang="en-GB" altLang="ja-JP" sz="2000" b="1" dirty="0"/>
              <a:t>, </a:t>
            </a:r>
            <a:r>
              <a:rPr lang="ja-JP" altLang="en-US" sz="2000" b="1" dirty="0"/>
              <a:t>モジューラーモノリス</a:t>
            </a:r>
            <a:endParaRPr lang="en-GB" altLang="ja-JP" sz="2000" b="1" dirty="0"/>
          </a:p>
          <a:p>
            <a:pPr marL="717550" lvl="1" indent="-260350"/>
            <a:r>
              <a:rPr lang="ja-JP" altLang="en-US" sz="2000" dirty="0"/>
              <a:t>ホスティング</a:t>
            </a:r>
            <a:r>
              <a:rPr lang="en-GB" altLang="ja-JP" sz="2000" dirty="0"/>
              <a:t>: AWS ESK</a:t>
            </a:r>
          </a:p>
          <a:p>
            <a:pPr marL="717550" lvl="1" indent="-260350"/>
            <a:r>
              <a:rPr lang="ja-JP" altLang="en-US" sz="2000" dirty="0"/>
              <a:t>バージョン管理</a:t>
            </a:r>
            <a:r>
              <a:rPr lang="en-GB" altLang="ja-JP" sz="2000" dirty="0"/>
              <a:t>: Git, GitHub</a:t>
            </a:r>
          </a:p>
          <a:p>
            <a:pPr marL="717550" lvl="1" indent="-260350"/>
            <a:r>
              <a:rPr lang="en-GB" altLang="ja-JP" sz="2000" b="1" dirty="0"/>
              <a:t>CI/CD: GitHub Actions</a:t>
            </a:r>
            <a:r>
              <a:rPr lang="en-GB" altLang="ja-JP" sz="2000" dirty="0"/>
              <a:t>, ArgoCD</a:t>
            </a:r>
          </a:p>
          <a:p>
            <a:pPr marL="717550" lvl="1" indent="-260350"/>
            <a:r>
              <a:rPr lang="ja-JP" altLang="en-US" sz="2000" dirty="0"/>
              <a:t>監視</a:t>
            </a:r>
            <a:r>
              <a:rPr lang="en-GB" altLang="ja-JP" sz="2000" dirty="0"/>
              <a:t>: Datadog, Sentry</a:t>
            </a:r>
            <a:endParaRPr lang="en-GB" altLang="ja-JP" dirty="0"/>
          </a:p>
        </p:txBody>
      </p:sp>
      <p:sp>
        <p:nvSpPr>
          <p:cNvPr id="8" name="スライド番号プレースホルダー 3">
            <a:extLst>
              <a:ext uri="{FF2B5EF4-FFF2-40B4-BE49-F238E27FC236}">
                <a16:creationId xmlns:a16="http://schemas.microsoft.com/office/drawing/2014/main" id="{6FA39D6B-9B7B-6FF4-D506-DEDA2BDB834D}"/>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4566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CAE9D56B-7541-07BA-4226-A0C6B8C43C56}"/>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11" name="スライド番号プレースホルダー 3">
            <a:extLst>
              <a:ext uri="{FF2B5EF4-FFF2-40B4-BE49-F238E27FC236}">
                <a16:creationId xmlns:a16="http://schemas.microsoft.com/office/drawing/2014/main" id="{05E89555-7FF3-A816-270F-2D9C98650A85}"/>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2" name="Table 11">
            <a:extLst>
              <a:ext uri="{FF2B5EF4-FFF2-40B4-BE49-F238E27FC236}">
                <a16:creationId xmlns:a16="http://schemas.microsoft.com/office/drawing/2014/main" id="{131D04E8-0C57-8A64-43A9-8F8574C1C4F1}"/>
              </a:ext>
            </a:extLst>
          </p:cNvPr>
          <p:cNvGraphicFramePr>
            <a:graphicFrameLocks noGrp="1"/>
          </p:cNvGraphicFramePr>
          <p:nvPr>
            <p:extLst>
              <p:ext uri="{D42A27DB-BD31-4B8C-83A1-F6EECF244321}">
                <p14:modId xmlns:p14="http://schemas.microsoft.com/office/powerpoint/2010/main" val="812265345"/>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2021</a:t>
                      </a:r>
                      <a:r>
                        <a:rPr lang="ja-JP" altLang="en-US" dirty="0"/>
                        <a:t>年</a:t>
                      </a:r>
                      <a:r>
                        <a:rPr lang="en-GB" altLang="ja-JP" dirty="0"/>
                        <a:t>08</a:t>
                      </a:r>
                      <a:r>
                        <a:rPr lang="ja-JP" altLang="en-US" dirty="0"/>
                        <a:t>月</a:t>
                      </a:r>
                      <a:r>
                        <a:rPr lang="en-GB" altLang="ja-JP" dirty="0"/>
                        <a:t>-</a:t>
                      </a:r>
                    </a:p>
                    <a:p>
                      <a:r>
                        <a:rPr lang="en-GB" dirty="0"/>
                        <a:t>Present</a:t>
                      </a:r>
                    </a:p>
                  </a:txBody>
                  <a:tcPr/>
                </a:tc>
                <a:tc>
                  <a:txBody>
                    <a:bodyPr/>
                    <a:lstStyle/>
                    <a:p>
                      <a:r>
                        <a:rPr lang="en-GB" dirty="0"/>
                        <a:t>EdTech SaaS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ソフトウェア</a:t>
                      </a:r>
                      <a:endParaRPr lang="en-GB"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en-GB" dirty="0"/>
                        <a:t>CI/CD </a:t>
                      </a:r>
                      <a:r>
                        <a:rPr lang="ja-JP" altLang="en-US" dirty="0"/>
                        <a:t>運用・保守</a:t>
                      </a:r>
                      <a:endParaRPr lang="en-GB" dirty="0"/>
                    </a:p>
                    <a:p>
                      <a:pPr marL="180975" indent="-180975">
                        <a:buFont typeface="Arial" panose="020B0604020202020204" pitchFamily="34" charset="0"/>
                        <a:buChar char="•"/>
                      </a:pPr>
                      <a:r>
                        <a:rPr lang="ja-JP" altLang="en-US" dirty="0"/>
                        <a:t>週次リリースマネージャー</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altLang="ja-JP" dirty="0"/>
                    </a:p>
                    <a:p>
                      <a:pPr marL="180975" indent="-180975">
                        <a:buFont typeface="Arial" panose="020B0604020202020204" pitchFamily="34" charset="0"/>
                        <a:buChar char="•"/>
                      </a:pPr>
                      <a:r>
                        <a:rPr lang="ja-JP" altLang="en-US" dirty="0"/>
                        <a:t>技術ブログ記事執筆</a:t>
                      </a:r>
                      <a:endParaRPr lang="en-GB" dirty="0"/>
                    </a:p>
                    <a:p>
                      <a:pPr marL="180975" indent="-180975">
                        <a:buFont typeface="Arial" panose="020B0604020202020204" pitchFamily="34" charset="0"/>
                        <a:buChar char="•"/>
                      </a:pPr>
                      <a:r>
                        <a:rPr lang="en-GB" dirty="0"/>
                        <a:t>LT </a:t>
                      </a:r>
                      <a:r>
                        <a:rPr lang="ja-JP" altLang="en-US" dirty="0"/>
                        <a:t>登壇</a:t>
                      </a:r>
                      <a:endParaRPr lang="en-GB" dirty="0"/>
                    </a:p>
                  </a:txBody>
                  <a:tcPr/>
                </a:tc>
                <a:extLst>
                  <a:ext uri="{0D108BD9-81ED-4DB2-BD59-A6C34878D82A}">
                    <a16:rowId xmlns:a16="http://schemas.microsoft.com/office/drawing/2014/main" val="1529764250"/>
                  </a:ext>
                </a:extLst>
              </a:tr>
              <a:tr h="370840">
                <a:tc>
                  <a:txBody>
                    <a:bodyPr/>
                    <a:lstStyle/>
                    <a:p>
                      <a:r>
                        <a:rPr lang="en-GB" dirty="0"/>
                        <a:t>2020</a:t>
                      </a:r>
                      <a:r>
                        <a:rPr lang="ja-JP" altLang="en-US" dirty="0"/>
                        <a:t>年</a:t>
                      </a:r>
                      <a:r>
                        <a:rPr lang="en-GB" altLang="ja-JP" dirty="0"/>
                        <a:t>02</a:t>
                      </a:r>
                      <a:r>
                        <a:rPr lang="ja-JP" altLang="en-US" dirty="0"/>
                        <a:t>月</a:t>
                      </a:r>
                      <a:r>
                        <a:rPr lang="en-GB" dirty="0"/>
                        <a:t>-</a:t>
                      </a:r>
                    </a:p>
                    <a:p>
                      <a:r>
                        <a:rPr lang="en-GB" dirty="0"/>
                        <a:t>2020</a:t>
                      </a:r>
                      <a:r>
                        <a:rPr lang="ja-JP" altLang="en-US" dirty="0"/>
                        <a:t>年</a:t>
                      </a:r>
                      <a:r>
                        <a:rPr lang="en-GB" altLang="ja-JP" dirty="0"/>
                        <a:t>12</a:t>
                      </a:r>
                      <a:r>
                        <a:rPr lang="ja-JP" altLang="en-US" dirty="0"/>
                        <a:t>月</a:t>
                      </a:r>
                      <a:endParaRPr lang="en-GB" dirty="0"/>
                    </a:p>
                  </a:txBody>
                  <a:tcPr/>
                </a:tc>
                <a:tc>
                  <a:txBody>
                    <a:bodyPr/>
                    <a:lstStyle/>
                    <a:p>
                      <a:r>
                        <a:rPr lang="ja-JP" altLang="en-US" dirty="0"/>
                        <a:t>チャットボット系</a:t>
                      </a:r>
                      <a:r>
                        <a:rPr lang="en-GB" altLang="ja-JP" dirty="0"/>
                        <a:t> </a:t>
                      </a:r>
                      <a:r>
                        <a:rPr lang="en-GB" dirty="0"/>
                        <a:t>SaaS</a:t>
                      </a:r>
                    </a:p>
                  </a:txBody>
                  <a:tcPr/>
                </a:tc>
                <a:tc>
                  <a:txBody>
                    <a:bodyPr/>
                    <a:lstStyle/>
                    <a:p>
                      <a:r>
                        <a:rPr lang="ja-JP" altLang="en-US" dirty="0"/>
                        <a:t>バックエンド</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dirty="0"/>
                    </a:p>
                    <a:p>
                      <a:pPr marL="180975" indent="-180975">
                        <a:buFont typeface="Arial" panose="020B0604020202020204" pitchFamily="34" charset="0"/>
                        <a:buChar char="•"/>
                      </a:pPr>
                      <a:r>
                        <a:rPr lang="ja-JP" altLang="en-US" dirty="0"/>
                        <a:t>代替</a:t>
                      </a:r>
                      <a:r>
                        <a:rPr lang="en-GB" dirty="0"/>
                        <a:t> API </a:t>
                      </a:r>
                      <a:r>
                        <a:rPr lang="ja-JP" altLang="en-US" dirty="0"/>
                        <a:t>検証</a:t>
                      </a:r>
                      <a:endParaRPr lang="en-GB" dirty="0"/>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155858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a:extLst>
            <a:ext uri="{FF2B5EF4-FFF2-40B4-BE49-F238E27FC236}">
              <a16:creationId xmlns:a16="http://schemas.microsoft.com/office/drawing/2014/main" id="{0A97D47B-3DDF-31F1-D23E-6996A58E67D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8DB7F4-01D5-1BD1-B852-BBB7A089BAA5}"/>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4" name="スライド番号プレースホルダー 3">
            <a:extLst>
              <a:ext uri="{FF2B5EF4-FFF2-40B4-BE49-F238E27FC236}">
                <a16:creationId xmlns:a16="http://schemas.microsoft.com/office/drawing/2014/main" id="{B61A8904-9F44-BA53-49C4-01CF92B66994}"/>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5" name="Table 4">
            <a:extLst>
              <a:ext uri="{FF2B5EF4-FFF2-40B4-BE49-F238E27FC236}">
                <a16:creationId xmlns:a16="http://schemas.microsoft.com/office/drawing/2014/main" id="{7B636220-FA29-282C-EB76-C046526681CF}"/>
              </a:ext>
            </a:extLst>
          </p:cNvPr>
          <p:cNvGraphicFramePr>
            <a:graphicFrameLocks noGrp="1"/>
          </p:cNvGraphicFramePr>
          <p:nvPr>
            <p:extLst>
              <p:ext uri="{D42A27DB-BD31-4B8C-83A1-F6EECF244321}">
                <p14:modId xmlns:p14="http://schemas.microsoft.com/office/powerpoint/2010/main" val="1788297845"/>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2018</a:t>
                      </a:r>
                      <a:r>
                        <a:rPr lang="ja-JP" altLang="en-US" dirty="0"/>
                        <a:t>年</a:t>
                      </a:r>
                      <a:r>
                        <a:rPr lang="en-US" altLang="ja-JP" dirty="0"/>
                        <a:t>06</a:t>
                      </a:r>
                      <a:r>
                        <a:rPr lang="ja-JP" altLang="en-US" dirty="0"/>
                        <a:t>月</a:t>
                      </a:r>
                      <a:r>
                        <a:rPr lang="en-GB" dirty="0"/>
                        <a:t> -</a:t>
                      </a:r>
                    </a:p>
                    <a:p>
                      <a:r>
                        <a:rPr lang="en-GB" dirty="0"/>
                        <a:t>2020</a:t>
                      </a:r>
                      <a:r>
                        <a:rPr lang="ja-JP" altLang="en-US" dirty="0"/>
                        <a:t>年</a:t>
                      </a:r>
                      <a:r>
                        <a:rPr lang="en-US" altLang="ja-JP" dirty="0"/>
                        <a:t>01</a:t>
                      </a:r>
                      <a:r>
                        <a:rPr lang="ja-JP" altLang="en-US" dirty="0"/>
                        <a:t>月</a:t>
                      </a:r>
                      <a:endParaRPr lang="en-GB" dirty="0"/>
                    </a:p>
                  </a:txBody>
                  <a:tcPr/>
                </a:tc>
                <a:tc>
                  <a:txBody>
                    <a:bodyPr/>
                    <a:lstStyle/>
                    <a:p>
                      <a:r>
                        <a:rPr lang="ja-JP" altLang="en-US" dirty="0"/>
                        <a:t>受託開発</a:t>
                      </a:r>
                      <a:endParaRPr lang="en-GB" dirty="0"/>
                    </a:p>
                  </a:txBody>
                  <a:tcPr/>
                </a:tc>
                <a:tc>
                  <a:txBody>
                    <a:bodyPr/>
                    <a:lstStyle/>
                    <a:p>
                      <a:r>
                        <a:rPr lang="ja-JP" altLang="en-US" dirty="0"/>
                        <a:t>ソフトウェア</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en-GB" dirty="0"/>
                        <a:t>QA</a:t>
                      </a:r>
                    </a:p>
                    <a:p>
                      <a:pPr marL="180975" indent="-180975">
                        <a:buFont typeface="Arial" panose="020B0604020202020204" pitchFamily="34" charset="0"/>
                        <a:buChar char="•"/>
                      </a:pPr>
                      <a:r>
                        <a:rPr lang="ja-JP" altLang="en-US" dirty="0"/>
                        <a:t>技術ブログ記事執筆</a:t>
                      </a:r>
                      <a:endParaRPr lang="en-GB" dirty="0"/>
                    </a:p>
                  </a:txBody>
                  <a:tcPr/>
                </a:tc>
                <a:extLst>
                  <a:ext uri="{0D108BD9-81ED-4DB2-BD59-A6C34878D82A}">
                    <a16:rowId xmlns:a16="http://schemas.microsoft.com/office/drawing/2014/main" val="2130531394"/>
                  </a:ext>
                </a:extLst>
              </a:tr>
              <a:tr h="370840">
                <a:tc>
                  <a:txBody>
                    <a:bodyPr/>
                    <a:lstStyle/>
                    <a:p>
                      <a:r>
                        <a:rPr lang="en-GB" dirty="0"/>
                        <a:t>2016</a:t>
                      </a:r>
                      <a:r>
                        <a:rPr lang="ja-JP" altLang="en-US" dirty="0"/>
                        <a:t>年</a:t>
                      </a:r>
                      <a:r>
                        <a:rPr lang="en-US" altLang="ja-JP" dirty="0"/>
                        <a:t>04</a:t>
                      </a:r>
                      <a:r>
                        <a:rPr lang="ja-JP" altLang="en-US" dirty="0"/>
                        <a:t>月</a:t>
                      </a:r>
                      <a:r>
                        <a:rPr lang="en-GB" dirty="0"/>
                        <a:t> -</a:t>
                      </a:r>
                    </a:p>
                    <a:p>
                      <a:r>
                        <a:rPr lang="en-GB" dirty="0"/>
                        <a:t>2018</a:t>
                      </a:r>
                      <a:r>
                        <a:rPr lang="ja-JP" altLang="en-US" dirty="0"/>
                        <a:t>年</a:t>
                      </a:r>
                      <a:r>
                        <a:rPr lang="en-US" altLang="ja-JP" dirty="0"/>
                        <a:t>01</a:t>
                      </a:r>
                      <a:r>
                        <a:rPr lang="ja-JP" altLang="en-US" dirty="0"/>
                        <a:t>月</a:t>
                      </a:r>
                      <a:endParaRPr lang="en-GB" dirty="0"/>
                    </a:p>
                  </a:txBody>
                  <a:tcPr/>
                </a:tc>
                <a:tc>
                  <a:txBody>
                    <a:bodyPr/>
                    <a:lstStyle/>
                    <a:p>
                      <a:r>
                        <a:rPr lang="en-GB" altLang="ja-JP" dirty="0"/>
                        <a:t>SES</a:t>
                      </a:r>
                      <a:endParaRPr lang="en-GB" dirty="0"/>
                    </a:p>
                  </a:txBody>
                  <a:tcPr/>
                </a:tc>
                <a:tc>
                  <a:txBody>
                    <a:bodyPr/>
                    <a:lstStyle/>
                    <a:p>
                      <a:r>
                        <a:rPr lang="ja-JP" altLang="en-US" dirty="0"/>
                        <a:t>システムエンジニア</a:t>
                      </a:r>
                      <a:endParaRPr lang="en-GB" dirty="0"/>
                    </a:p>
                  </a:txBody>
                  <a:tcPr/>
                </a:tc>
                <a:tc>
                  <a:txBody>
                    <a:bodyPr/>
                    <a:lstStyle/>
                    <a:p>
                      <a:pPr marL="180975" indent="-180975">
                        <a:buFont typeface="Arial" panose="020B0604020202020204" pitchFamily="34" charset="0"/>
                        <a:buChar char="•"/>
                      </a:pPr>
                      <a:r>
                        <a:rPr lang="ja-JP" altLang="en-US" dirty="0"/>
                        <a:t>全社アカウント管理者</a:t>
                      </a:r>
                      <a:endParaRPr lang="en-GB" dirty="0"/>
                    </a:p>
                    <a:p>
                      <a:pPr marL="180975" indent="-180975">
                        <a:buFont typeface="Arial" panose="020B0604020202020204" pitchFamily="34" charset="0"/>
                        <a:buChar char="•"/>
                      </a:pPr>
                      <a:r>
                        <a:rPr lang="en-GB" dirty="0"/>
                        <a:t>Windows Server </a:t>
                      </a:r>
                      <a:r>
                        <a:rPr lang="ja-JP" altLang="en-US" dirty="0"/>
                        <a:t>運用・保守</a:t>
                      </a:r>
                      <a:endParaRPr lang="en-GB" dirty="0"/>
                    </a:p>
                    <a:p>
                      <a:pPr marL="180975" indent="-180975">
                        <a:buFont typeface="Arial" panose="020B0604020202020204" pitchFamily="34" charset="0"/>
                        <a:buChar char="•"/>
                      </a:pPr>
                      <a:r>
                        <a:rPr lang="ja-JP" altLang="en-US" dirty="0"/>
                        <a:t>セキュリティ管理者助手</a:t>
                      </a:r>
                      <a:endParaRPr lang="en-GB" dirty="0"/>
                    </a:p>
                    <a:p>
                      <a:pPr marL="180975" indent="-180975">
                        <a:buFont typeface="Arial" panose="020B0604020202020204" pitchFamily="34" charset="0"/>
                        <a:buChar char="•"/>
                      </a:pPr>
                      <a:r>
                        <a:rPr lang="ja-JP" altLang="en-US" dirty="0"/>
                        <a:t>翻訳・通訳</a:t>
                      </a:r>
                      <a:endParaRPr lang="en-GB" dirty="0"/>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2471877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378C05C1-87B1-BA30-D593-66D492FF1152}"/>
              </a:ext>
            </a:extLst>
          </p:cNvPr>
          <p:cNvSpPr>
            <a:spLocks noGrp="1"/>
          </p:cNvSpPr>
          <p:nvPr>
            <p:ph type="title"/>
          </p:nvPr>
        </p:nvSpPr>
        <p:spPr>
          <a:xfrm>
            <a:off x="838200" y="365125"/>
            <a:ext cx="10515600" cy="1325563"/>
          </a:xfrm>
        </p:spPr>
        <p:txBody>
          <a:bodyPr/>
          <a:lstStyle/>
          <a:p>
            <a:pPr algn="ctr"/>
            <a:r>
              <a:rPr lang="ja-JP" altLang="en-US" b="1" dirty="0"/>
              <a:t>国際交流活動</a:t>
            </a:r>
            <a:endParaRPr lang="en-GB" b="1" dirty="0"/>
          </a:p>
        </p:txBody>
      </p:sp>
      <p:sp>
        <p:nvSpPr>
          <p:cNvPr id="10" name="スライド番号プレースホルダー 3">
            <a:extLst>
              <a:ext uri="{FF2B5EF4-FFF2-40B4-BE49-F238E27FC236}">
                <a16:creationId xmlns:a16="http://schemas.microsoft.com/office/drawing/2014/main" id="{D7C9EA79-C769-23E2-9F3D-D4890F3C11E9}"/>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コンテンツ プレースホルダー 2">
            <a:extLst>
              <a:ext uri="{FF2B5EF4-FFF2-40B4-BE49-F238E27FC236}">
                <a16:creationId xmlns:a16="http://schemas.microsoft.com/office/drawing/2014/main" id="{1A2A920C-FA0F-BEBB-BB45-6CBA82FEACD1}"/>
              </a:ext>
            </a:extLst>
          </p:cNvPr>
          <p:cNvSpPr>
            <a:spLocks noGrp="1"/>
          </p:cNvSpPr>
          <p:nvPr>
            <p:ph idx="1"/>
          </p:nvPr>
        </p:nvSpPr>
        <p:spPr>
          <a:xfrm>
            <a:off x="838200" y="1830270"/>
            <a:ext cx="10515600" cy="4343898"/>
          </a:xfrm>
          <a:ln>
            <a:noFill/>
          </a:ln>
        </p:spPr>
        <p:txBody>
          <a:bodyPr>
            <a:normAutofit/>
          </a:bodyPr>
          <a:lstStyle/>
          <a:p>
            <a:pPr marL="268288" indent="-268288"/>
            <a:r>
              <a:rPr lang="ja-JP" altLang="en-US" sz="1600" dirty="0"/>
              <a:t>大学時代</a:t>
            </a:r>
          </a:p>
          <a:p>
            <a:pPr marL="536575" lvl="1" indent="-268288"/>
            <a:r>
              <a:rPr lang="ja-JP" altLang="en-US" sz="1400" dirty="0"/>
              <a:t>英語学ゼミ</a:t>
            </a:r>
            <a:r>
              <a:rPr lang="en-US" altLang="ja-JP" sz="1400" dirty="0"/>
              <a:t>(</a:t>
            </a:r>
            <a:r>
              <a:rPr lang="ja-JP" altLang="en-US" sz="1400" dirty="0"/>
              <a:t>マスメディア英語</a:t>
            </a:r>
            <a:r>
              <a:rPr lang="en-US" altLang="ja-JP" sz="1400" dirty="0"/>
              <a:t>)</a:t>
            </a:r>
          </a:p>
          <a:p>
            <a:pPr marL="536575" lvl="1" indent="-268288"/>
            <a:r>
              <a:rPr lang="ja-JP" altLang="en-US" sz="1400" dirty="0"/>
              <a:t>国際交流サークル兼部</a:t>
            </a:r>
            <a:r>
              <a:rPr lang="en-US" altLang="ja-JP" sz="1400" dirty="0"/>
              <a:t>(2</a:t>
            </a:r>
            <a:r>
              <a:rPr lang="ja-JP" altLang="en-US" sz="1400" dirty="0"/>
              <a:t>年次</a:t>
            </a:r>
            <a:r>
              <a:rPr lang="en-US" altLang="ja-JP" sz="1400" dirty="0"/>
              <a:t>)</a:t>
            </a:r>
          </a:p>
          <a:p>
            <a:pPr marL="536575" lvl="1" indent="-268288"/>
            <a:r>
              <a:rPr lang="ja-JP" altLang="en-US" sz="1400" dirty="0">
                <a:hlinkClick r:id="rId3"/>
              </a:rPr>
              <a:t>内閣府主催国際交流プログラム</a:t>
            </a:r>
            <a:r>
              <a:rPr lang="en-US" altLang="ja-JP" sz="1400" dirty="0"/>
              <a:t>(2013</a:t>
            </a:r>
            <a:r>
              <a:rPr lang="ja-JP" altLang="en-US" sz="1400" dirty="0"/>
              <a:t>年 </a:t>
            </a:r>
            <a:r>
              <a:rPr lang="en-GB" altLang="ja-JP" sz="1400" dirty="0"/>
              <a:t>-</a:t>
            </a:r>
            <a:r>
              <a:rPr lang="en-US" altLang="ja-JP" sz="1400" dirty="0"/>
              <a:t> 2016</a:t>
            </a:r>
            <a:r>
              <a:rPr lang="ja-JP" altLang="en-US" sz="1400" dirty="0"/>
              <a:t>年</a:t>
            </a:r>
            <a:r>
              <a:rPr lang="en-US" altLang="ja-JP" sz="1400" dirty="0"/>
              <a:t>)</a:t>
            </a:r>
          </a:p>
          <a:p>
            <a:pPr marL="536575" lvl="1" indent="-268288"/>
            <a:r>
              <a:rPr lang="ja-JP" altLang="en-US" sz="1400" dirty="0"/>
              <a:t>日本語学の授業の</a:t>
            </a:r>
            <a:r>
              <a:rPr lang="en-GB" altLang="ja-JP" sz="1400" dirty="0"/>
              <a:t> S </a:t>
            </a:r>
            <a:r>
              <a:rPr lang="ja-JP" altLang="en-US" sz="1400" dirty="0"/>
              <a:t>単位取得</a:t>
            </a:r>
            <a:r>
              <a:rPr lang="en-GB" altLang="ja-JP" sz="1400" dirty="0"/>
              <a:t>(</a:t>
            </a:r>
            <a:r>
              <a:rPr lang="ja-JP" altLang="en-US" sz="1400" dirty="0"/>
              <a:t>最終年次</a:t>
            </a:r>
            <a:r>
              <a:rPr lang="en-GB" altLang="ja-JP" sz="1400" dirty="0"/>
              <a:t>)</a:t>
            </a:r>
            <a:endParaRPr lang="en-US" altLang="ja-JP" sz="1400" dirty="0"/>
          </a:p>
          <a:p>
            <a:pPr marL="268288" indent="-268288"/>
            <a:r>
              <a:rPr lang="ja-JP" altLang="en-US" sz="1600" dirty="0"/>
              <a:t>海外生活</a:t>
            </a:r>
          </a:p>
          <a:p>
            <a:pPr marL="536575" lvl="1" indent="-268288"/>
            <a:r>
              <a:rPr lang="ja-JP" altLang="en-US" sz="1400" dirty="0"/>
              <a:t>オーストラリアでのワーキングホリデー</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en-GB" altLang="ja-JP" sz="1400" dirty="0"/>
              <a:t>2015</a:t>
            </a:r>
            <a:r>
              <a:rPr lang="ja-JP" altLang="en-US" sz="1400" dirty="0"/>
              <a:t>年</a:t>
            </a:r>
            <a:r>
              <a:rPr lang="en-US" altLang="ja-JP" sz="1400" dirty="0"/>
              <a:t>03</a:t>
            </a:r>
            <a:r>
              <a:rPr lang="ja-JP" altLang="en-US" sz="1400" dirty="0"/>
              <a:t>月</a:t>
            </a:r>
            <a:r>
              <a:rPr lang="en-US" altLang="ja-JP" sz="1400" dirty="0"/>
              <a:t>)</a:t>
            </a:r>
          </a:p>
          <a:p>
            <a:pPr marL="728662" lvl="2" indent="-285750"/>
            <a:r>
              <a:rPr lang="en-GB" altLang="ja-JP" sz="1200" dirty="0"/>
              <a:t>2</a:t>
            </a:r>
            <a:r>
              <a:rPr lang="ja-JP" altLang="en-US" sz="1200" dirty="0"/>
              <a:t>ヶ月間のシドニーの語学学校通学</a:t>
            </a:r>
            <a:endParaRPr lang="en-GB" altLang="ja-JP" sz="1200" dirty="0"/>
          </a:p>
          <a:p>
            <a:pPr marL="728662" lvl="2" indent="-285750"/>
            <a:r>
              <a:rPr lang="en-US" altLang="ja-JP" sz="1200" dirty="0"/>
              <a:t>6</a:t>
            </a:r>
            <a:r>
              <a:rPr lang="ja-JP" altLang="en-US" sz="1200" dirty="0"/>
              <a:t>ヶ月間の</a:t>
            </a:r>
            <a:r>
              <a:rPr lang="en-GB" altLang="ja-JP" sz="1200" dirty="0"/>
              <a:t> </a:t>
            </a:r>
            <a:r>
              <a:rPr lang="en-GB" altLang="ja-JP" sz="1200" dirty="0">
                <a:hlinkClick r:id="rId4"/>
              </a:rPr>
              <a:t>Hamilton Island Resort</a:t>
            </a:r>
            <a:r>
              <a:rPr lang="en-GB" altLang="ja-JP" sz="1200" dirty="0"/>
              <a:t> </a:t>
            </a:r>
            <a:r>
              <a:rPr lang="ja-JP" altLang="en-US" sz="1200" dirty="0"/>
              <a:t>での就労</a:t>
            </a:r>
            <a:endParaRPr lang="en-GB" altLang="ja-JP" sz="1200" dirty="0"/>
          </a:p>
          <a:p>
            <a:pPr marL="728662" lvl="2" indent="-285750"/>
            <a:r>
              <a:rPr lang="en-US" altLang="ja-JP" sz="1200" dirty="0"/>
              <a:t>1</a:t>
            </a:r>
            <a:r>
              <a:rPr lang="ja-JP" altLang="en-US" sz="1200" dirty="0"/>
              <a:t>ヶ月間の </a:t>
            </a:r>
            <a:r>
              <a:rPr lang="en-GB" altLang="ja-JP" sz="1200" dirty="0"/>
              <a:t>NSW </a:t>
            </a:r>
            <a:r>
              <a:rPr lang="ja-JP" altLang="en-US" sz="1200" dirty="0"/>
              <a:t>州の </a:t>
            </a:r>
            <a:r>
              <a:rPr lang="en-GB" altLang="ja-JP" sz="1200" dirty="0">
                <a:hlinkClick r:id="rId5"/>
              </a:rPr>
              <a:t>St Ives High School</a:t>
            </a:r>
            <a:r>
              <a:rPr lang="ja-JP" altLang="en-US" sz="1200" dirty="0"/>
              <a:t> での日本語教師アシスタントボランティア活動</a:t>
            </a:r>
            <a:endParaRPr lang="en-US" altLang="ja-JP" sz="1200" dirty="0"/>
          </a:p>
          <a:p>
            <a:pPr marL="268288" indent="-268288"/>
            <a:r>
              <a:rPr lang="ja-JP" altLang="en-US" sz="1600" dirty="0"/>
              <a:t>その他活動</a:t>
            </a:r>
            <a:endParaRPr lang="ja-JP" altLang="en-US" sz="900" dirty="0"/>
          </a:p>
          <a:p>
            <a:pPr marL="536575" lvl="1" indent="-268288"/>
            <a:r>
              <a:rPr lang="ja-JP" altLang="en-US" sz="1400" dirty="0"/>
              <a:t>英語での日々の日記</a:t>
            </a:r>
            <a:r>
              <a:rPr lang="en-GB" altLang="ja-JP" sz="1400" dirty="0"/>
              <a:t>(</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ja-JP" altLang="en-US" sz="1400" dirty="0"/>
              <a:t>現在</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GB" altLang="ja-JP" sz="1400" dirty="0"/>
              <a:t> </a:t>
            </a:r>
            <a:r>
              <a:rPr lang="ja-JP" altLang="en-US" sz="1400" dirty="0"/>
              <a:t>参加</a:t>
            </a:r>
            <a:r>
              <a:rPr lang="en-US" altLang="ja-JP" sz="1400" dirty="0"/>
              <a:t>(2017</a:t>
            </a:r>
            <a:r>
              <a:rPr lang="ja-JP" altLang="en-US" sz="1400" dirty="0"/>
              <a:t>年</a:t>
            </a:r>
            <a:r>
              <a:rPr lang="en-US" altLang="ja-JP" sz="1400" dirty="0"/>
              <a:t>02</a:t>
            </a:r>
            <a:r>
              <a:rPr lang="ja-JP" altLang="en-US" sz="1400" dirty="0"/>
              <a:t>月 </a:t>
            </a:r>
            <a:r>
              <a:rPr lang="en-US" altLang="ja-JP" sz="1400" dirty="0"/>
              <a:t>- 2018</a:t>
            </a:r>
            <a:r>
              <a:rPr lang="ja-JP" altLang="en-US" sz="1400" dirty="0"/>
              <a:t>年</a:t>
            </a:r>
            <a:r>
              <a:rPr lang="en-US" altLang="ja-JP" sz="1400" dirty="0"/>
              <a:t>03</a:t>
            </a:r>
            <a:r>
              <a:rPr lang="ja-JP" altLang="en-US" sz="1400" dirty="0"/>
              <a:t>月</a:t>
            </a:r>
            <a:r>
              <a:rPr lang="en-US" altLang="ja-JP" sz="1400" dirty="0"/>
              <a:t>)</a:t>
            </a:r>
          </a:p>
          <a:p>
            <a:pPr marL="536575" lvl="1" indent="-268288"/>
            <a:r>
              <a:rPr lang="en-US" altLang="ja-JP" sz="1400" dirty="0">
                <a:hlinkClick r:id="rId8"/>
              </a:rPr>
              <a:t>Vital Japan</a:t>
            </a:r>
            <a:r>
              <a:rPr lang="en-US" altLang="ja-JP" sz="1400" dirty="0"/>
              <a:t> </a:t>
            </a:r>
            <a:r>
              <a:rPr lang="ja-JP" altLang="en-US" sz="1400" dirty="0"/>
              <a:t>参加</a:t>
            </a:r>
            <a:r>
              <a:rPr lang="en-US" altLang="ja-JP" sz="1400" dirty="0"/>
              <a:t>(2018</a:t>
            </a:r>
            <a:r>
              <a:rPr lang="ja-JP" altLang="en-US" sz="1400" dirty="0"/>
              <a:t>年</a:t>
            </a:r>
            <a:r>
              <a:rPr lang="en-US" altLang="ja-JP" sz="1400" dirty="0"/>
              <a:t>0</a:t>
            </a:r>
            <a:r>
              <a:rPr lang="en-GB" altLang="ja-JP" sz="1400" dirty="0"/>
              <a:t>1</a:t>
            </a:r>
            <a:r>
              <a:rPr lang="ja-JP" altLang="en-US" sz="1400" dirty="0"/>
              <a:t>月 </a:t>
            </a:r>
            <a:r>
              <a:rPr lang="en-US" altLang="ja-JP" sz="1400" dirty="0"/>
              <a:t>- 2019</a:t>
            </a:r>
            <a:r>
              <a:rPr lang="ja-JP" altLang="en-US" sz="1400" dirty="0"/>
              <a:t>年</a:t>
            </a:r>
            <a:r>
              <a:rPr lang="en-US" altLang="ja-JP" sz="1400" dirty="0"/>
              <a:t>0</a:t>
            </a:r>
            <a:r>
              <a:rPr lang="en-GB" altLang="ja-JP" sz="1400" dirty="0"/>
              <a:t>7</a:t>
            </a:r>
            <a:r>
              <a:rPr lang="ja-JP" altLang="en-US" sz="1400" dirty="0"/>
              <a:t>月、</a:t>
            </a:r>
            <a:r>
              <a:rPr lang="en-US" altLang="ja-JP" sz="1400" dirty="0"/>
              <a:t>2022</a:t>
            </a:r>
            <a:r>
              <a:rPr lang="ja-JP" altLang="en-US" sz="1400" dirty="0"/>
              <a:t>年</a:t>
            </a:r>
            <a:r>
              <a:rPr lang="en-US" altLang="ja-JP" sz="1400" dirty="0"/>
              <a:t>10</a:t>
            </a:r>
            <a:r>
              <a:rPr lang="ja-JP" altLang="en-US" sz="1400" dirty="0"/>
              <a:t>月 </a:t>
            </a:r>
            <a:r>
              <a:rPr lang="en-US" altLang="ja-JP" sz="1400" dirty="0"/>
              <a:t>- 2023</a:t>
            </a:r>
            <a:r>
              <a:rPr lang="ja-JP" altLang="en-US" sz="1400" dirty="0"/>
              <a:t>年</a:t>
            </a:r>
            <a:r>
              <a:rPr lang="en-US" altLang="ja-JP" sz="1400" dirty="0"/>
              <a:t>0</a:t>
            </a:r>
            <a:r>
              <a:rPr lang="en-GB" altLang="ja-JP" sz="1400" dirty="0"/>
              <a:t>2</a:t>
            </a:r>
            <a:r>
              <a:rPr lang="ja-JP" altLang="en-US" sz="1400" dirty="0"/>
              <a:t>月</a:t>
            </a:r>
            <a:r>
              <a:rPr lang="en-US" altLang="ja-JP" sz="1400" dirty="0"/>
              <a:t>) </a:t>
            </a:r>
          </a:p>
          <a:p>
            <a:pPr marL="536575" lvl="1" indent="-268288"/>
            <a:r>
              <a:rPr lang="ja-JP" altLang="en-US" sz="1400" dirty="0"/>
              <a:t>英語自己学習</a:t>
            </a:r>
            <a:endParaRPr lang="en-GB" altLang="ja-JP" sz="1400" dirty="0"/>
          </a:p>
          <a:p>
            <a:pPr marL="536575" lvl="1" indent="-268288"/>
            <a:r>
              <a:rPr lang="en-GB" altLang="ja-JP" sz="1400" dirty="0"/>
              <a:t>Ruby </a:t>
            </a:r>
            <a:r>
              <a:rPr lang="ja-JP" altLang="en-US" sz="1400"/>
              <a:t>関連カンファレンス参加</a:t>
            </a:r>
            <a:endParaRPr lang="en-GB" altLang="ja-JP" sz="1400" dirty="0"/>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ja-JP" altLang="en-US" b="1" dirty="0">
                <a:latin typeface="Calibri (Headings)"/>
              </a:rPr>
              <a:t>このシリーズのコンセプト</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280670" marR="0" lvl="0" indent="-268605" algn="l" defTabSz="914400" rtl="0" eaLnBrk="1" fontAlgn="auto" latinLnBrk="0" hangingPunct="1">
              <a:lnSpc>
                <a:spcPct val="100000"/>
              </a:lnSpc>
              <a:spcBef>
                <a:spcPts val="100"/>
              </a:spcBef>
              <a:spcAft>
                <a:spcPts val="0"/>
              </a:spcAft>
              <a:buClrTx/>
              <a:buSzPct val="116666"/>
              <a:buFont typeface="Arial MT"/>
              <a:buChar char="•"/>
              <a:tabLst>
                <a:tab pos="281305" algn="l"/>
              </a:tabLst>
              <a:defRPr/>
            </a:pP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英語の奥深さを知る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730250" marR="0" lvl="1" indent="-268605" algn="l" defTabSz="914400" rtl="0" eaLnBrk="1" fontAlgn="auto" latinLnBrk="0" hangingPunct="1">
              <a:lnSpc>
                <a:spcPct val="100000"/>
              </a:lnSpc>
              <a:spcBef>
                <a:spcPts val="290"/>
              </a:spcBef>
              <a:spcAft>
                <a:spcPts val="0"/>
              </a:spcAft>
              <a:buClrTx/>
              <a:buSzPct val="140000"/>
              <a:buFont typeface="Arial MT"/>
              <a:buChar char="•"/>
              <a:tabLst>
                <a:tab pos="73088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単なるコミュニケーシ</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ョ</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ン手</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段</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では</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な</a:t>
            </a:r>
            <a:r>
              <a:rPr kumimoji="0" lang="ja-JP" altLang="en-US" sz="2000" b="0" i="0" u="none" strike="noStrike" kern="1200" cap="none" spc="5" normalizeH="0" baseline="0" noProof="0" dirty="0">
                <a:ln>
                  <a:noFill/>
                </a:ln>
                <a:solidFill>
                  <a:prstClr val="black"/>
                </a:solidFill>
                <a:effectLst/>
                <a:uLnTx/>
                <a:uFillTx/>
                <a:latin typeface="Yu Gothic"/>
                <a:ea typeface="+mn-ea"/>
                <a:cs typeface="Yu Gothic"/>
              </a:rPr>
              <a:t>い</a:t>
            </a:r>
            <a:endParaRPr kumimoji="0" lang="ja-JP" altLang="en-US" sz="2000" b="0" i="0" u="none" strike="noStrike" kern="1200" cap="none" spc="0" normalizeH="0" baseline="0" noProof="0" dirty="0">
              <a:ln>
                <a:noFill/>
              </a:ln>
              <a:solidFill>
                <a:prstClr val="black"/>
              </a:solidFill>
              <a:effectLst/>
              <a:uLnTx/>
              <a:uFillTx/>
              <a:latin typeface="Yu Gothic"/>
              <a:ea typeface="+mn-ea"/>
              <a:cs typeface="Yu Gothic"/>
            </a:endParaRPr>
          </a:p>
          <a:p>
            <a:pPr marL="280670" marR="0" lvl="0" indent="-268605" algn="l" defTabSz="914400" rtl="0" eaLnBrk="1" fontAlgn="auto" latinLnBrk="0" hangingPunct="1">
              <a:lnSpc>
                <a:spcPct val="100000"/>
              </a:lnSpc>
              <a:spcBef>
                <a:spcPts val="685"/>
              </a:spcBef>
              <a:spcAft>
                <a:spcPts val="0"/>
              </a:spcAft>
              <a:buClrTx/>
              <a:buSzPct val="116666"/>
              <a:buFont typeface="Arial MT"/>
              <a:buChar char="•"/>
              <a:tabLst>
                <a:tab pos="281305" algn="l"/>
              </a:tabLst>
              <a:defRPr/>
            </a:pP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英語を知ることで日本語を知る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730250" marR="0" lvl="1" indent="-268605" algn="l" defTabSz="914400" rtl="0" eaLnBrk="1" fontAlgn="auto" latinLnBrk="0" hangingPunct="1">
              <a:lnSpc>
                <a:spcPct val="100000"/>
              </a:lnSpc>
              <a:spcBef>
                <a:spcPts val="290"/>
              </a:spcBef>
              <a:spcAft>
                <a:spcPts val="0"/>
              </a:spcAft>
              <a:buClrTx/>
              <a:buSzPct val="140000"/>
              <a:buFont typeface="Arial MT"/>
              <a:buChar char="•"/>
              <a:tabLst>
                <a:tab pos="73088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一つの言語しか知らな</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い</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こと</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は</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何一</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つ</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知ら</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な</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いの</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と</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同じ</a:t>
            </a:r>
          </a:p>
          <a:p>
            <a:pPr marL="280670" marR="0" lvl="0" indent="-268605" algn="l" defTabSz="914400" rtl="0" eaLnBrk="1" fontAlgn="auto" latinLnBrk="0" hangingPunct="1">
              <a:lnSpc>
                <a:spcPct val="100000"/>
              </a:lnSpc>
              <a:spcBef>
                <a:spcPts val="680"/>
              </a:spcBef>
              <a:spcAft>
                <a:spcPts val="0"/>
              </a:spcAft>
              <a:buClrTx/>
              <a:buSzPct val="116666"/>
              <a:buFont typeface="Arial MT"/>
              <a:buChar char="•"/>
              <a:tabLst>
                <a:tab pos="281305" algn="l"/>
              </a:tabLst>
              <a:defRPr/>
            </a:pP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すぐに役に立たないことを追求する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730250" marR="0" lvl="1" indent="-268605" algn="l" defTabSz="914400" rtl="0" eaLnBrk="1" fontAlgn="auto" latinLnBrk="0" hangingPunct="1">
              <a:lnSpc>
                <a:spcPct val="100000"/>
              </a:lnSpc>
              <a:spcBef>
                <a:spcPts val="295"/>
              </a:spcBef>
              <a:spcAft>
                <a:spcPts val="0"/>
              </a:spcAft>
              <a:buClrTx/>
              <a:buSzPct val="140000"/>
              <a:buFont typeface="Arial MT"/>
              <a:buChar char="•"/>
              <a:tabLst>
                <a:tab pos="73088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無意味に思えることに</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こ</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そ本</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質</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がある</a:t>
            </a: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0831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ja-JP" altLang="en-US" b="1" dirty="0">
                <a:latin typeface="Calibri (Headings)"/>
              </a:rPr>
              <a:t>目次</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60363" indent="-360363">
              <a:buClr>
                <a:schemeClr val="dk1"/>
              </a:buClr>
              <a:buSzPts val="2800"/>
              <a:buAutoNum type="arabicPeriod"/>
            </a:pPr>
            <a:r>
              <a:rPr lang="ja-JP" altLang="en-US" sz="2400" dirty="0">
                <a:sym typeface="Arial"/>
                <a:hlinkClick r:id="rId3" action="ppaction://hlinksldjump"/>
              </a:rPr>
              <a:t>意味の下落</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4" action="ppaction://hlinksldjump"/>
              </a:rPr>
              <a:t>意味の向上</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5" action="ppaction://hlinksldjump"/>
              </a:rPr>
              <a:t>まとめ</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6" action="ppaction://hlinksldjump"/>
              </a:rPr>
              <a:t>参考文献</a:t>
            </a:r>
            <a:endParaRPr lang="en-GB" altLang="ja-JP" sz="2400" dirty="0">
              <a:sym typeface="Arial"/>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25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意味の下落</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3418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意味の下落</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ts val="2735"/>
              </a:lnSpc>
              <a:spcBef>
                <a:spcPts val="100"/>
              </a:spcBef>
              <a:spcAft>
                <a:spcPts val="0"/>
              </a:spcAft>
              <a:buClrTx/>
              <a:buSzTx/>
              <a:buFontTx/>
              <a:buNone/>
              <a:tabLst/>
              <a:defRPr/>
            </a:pP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英語には元々良い意味で使われていたのが、現代では悪い意味でつかわれ</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735"/>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ている語彙が存在する。</a:t>
            </a:r>
          </a:p>
          <a:p>
            <a:pPr marL="12700" marR="0" lvl="0" indent="0" algn="l" defTabSz="914400" rtl="0" eaLnBrk="1" fontAlgn="auto" latinLnBrk="0" hangingPunct="1">
              <a:lnSpc>
                <a:spcPts val="2735"/>
              </a:lnSpc>
              <a:spcBef>
                <a:spcPts val="71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英語の長い歴史の中で良い意味から悪い意味に言語学的に変化する現象を</a:t>
            </a:r>
          </a:p>
          <a:p>
            <a:pPr marL="12700" marR="0" lvl="0" indent="0" algn="l" defTabSz="914400" rtl="0" eaLnBrk="1" fontAlgn="auto" latinLnBrk="0" hangingPunct="1">
              <a:lnSpc>
                <a:spcPts val="2735"/>
              </a:lnSpc>
              <a:spcBef>
                <a:spcPts val="0"/>
              </a:spcBef>
              <a:spcAft>
                <a:spcPts val="0"/>
              </a:spcAft>
              <a:buClrTx/>
              <a:buSzTx/>
              <a:buFontTx/>
              <a:buNone/>
              <a:tabLst/>
              <a:defRPr/>
            </a:pP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意味の下落</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en-US" altLang="ja-JP" sz="2400" b="1" i="0" u="none" strike="noStrike" kern="1200" cap="none" spc="-45" normalizeH="0" baseline="0" noProof="0" dirty="0">
                <a:ln>
                  <a:noFill/>
                </a:ln>
                <a:solidFill>
                  <a:prstClr val="black"/>
                </a:solidFill>
                <a:effectLst/>
                <a:uLnTx/>
                <a:uFillTx/>
                <a:latin typeface="Calibri"/>
                <a:ea typeface="+mn-ea"/>
                <a:cs typeface="Calibri"/>
              </a:rPr>
              <a:t>P</a:t>
            </a:r>
            <a:r>
              <a:rPr kumimoji="0" lang="en-US" altLang="ja-JP" sz="2400" b="1" i="0" u="none" strike="noStrike" kern="1200" cap="none" spc="-5" normalizeH="0" baseline="0" noProof="0" dirty="0">
                <a:ln>
                  <a:noFill/>
                </a:ln>
                <a:solidFill>
                  <a:prstClr val="black"/>
                </a:solidFill>
                <a:effectLst/>
                <a:uLnTx/>
                <a:uFillTx/>
                <a:latin typeface="Calibri"/>
                <a:ea typeface="+mn-ea"/>
                <a:cs typeface="Calibri"/>
              </a:rPr>
              <a:t>ej</a:t>
            </a:r>
            <a:r>
              <a:rPr kumimoji="0" lang="en-US" altLang="ja-JP" sz="2400" b="1" i="0" u="none" strike="noStrike" kern="1200" cap="none" spc="5" normalizeH="0" baseline="0" noProof="0" dirty="0">
                <a:ln>
                  <a:noFill/>
                </a:ln>
                <a:solidFill>
                  <a:prstClr val="black"/>
                </a:solidFill>
                <a:effectLst/>
                <a:uLnTx/>
                <a:uFillTx/>
                <a:latin typeface="Calibri"/>
                <a:ea typeface="+mn-ea"/>
                <a:cs typeface="Calibri"/>
              </a:rPr>
              <a:t>o</a:t>
            </a:r>
            <a:r>
              <a:rPr kumimoji="0" lang="en-US" altLang="ja-JP" sz="2400" b="1" i="0" u="none" strike="noStrike" kern="1200" cap="none" spc="-50" normalizeH="0" baseline="0" noProof="0" dirty="0">
                <a:ln>
                  <a:noFill/>
                </a:ln>
                <a:solidFill>
                  <a:prstClr val="black"/>
                </a:solidFill>
                <a:effectLst/>
                <a:uLnTx/>
                <a:uFillTx/>
                <a:latin typeface="Calibri"/>
                <a:ea typeface="+mn-ea"/>
                <a:cs typeface="Calibri"/>
              </a:rPr>
              <a:t>r</a:t>
            </a:r>
            <a:r>
              <a:rPr kumimoji="0" lang="en-US" altLang="ja-JP" sz="2400" b="1" i="0" u="none" strike="noStrike" kern="1200" cap="none" spc="-25" normalizeH="0" baseline="0" noProof="0" dirty="0">
                <a:ln>
                  <a:noFill/>
                </a:ln>
                <a:solidFill>
                  <a:prstClr val="black"/>
                </a:solidFill>
                <a:effectLst/>
                <a:uLnTx/>
                <a:uFillTx/>
                <a:latin typeface="Calibri"/>
                <a:ea typeface="+mn-ea"/>
                <a:cs typeface="Calibri"/>
              </a:rPr>
              <a:t>a</a:t>
            </a:r>
            <a:r>
              <a:rPr kumimoji="0" lang="en-US" altLang="ja-JP" sz="2400" b="1" i="0" u="none" strike="noStrike" kern="1200" cap="none" spc="0" normalizeH="0" baseline="0" noProof="0" dirty="0">
                <a:ln>
                  <a:noFill/>
                </a:ln>
                <a:solidFill>
                  <a:prstClr val="black"/>
                </a:solidFill>
                <a:effectLst/>
                <a:uLnTx/>
                <a:uFillTx/>
                <a:latin typeface="Calibri"/>
                <a:ea typeface="+mn-ea"/>
                <a:cs typeface="Calibri"/>
              </a:rPr>
              <a:t>t</a:t>
            </a:r>
            <a:r>
              <a:rPr kumimoji="0" lang="en-US" altLang="ja-JP" sz="2400" b="1" i="0" u="none" strike="noStrike" kern="1200" cap="none" spc="-10" normalizeH="0" baseline="0" noProof="0" dirty="0">
                <a:ln>
                  <a:noFill/>
                </a:ln>
                <a:solidFill>
                  <a:prstClr val="black"/>
                </a:solidFill>
                <a:effectLst/>
                <a:uLnTx/>
                <a:uFillTx/>
                <a:latin typeface="Calibri"/>
                <a:ea typeface="+mn-ea"/>
                <a:cs typeface="Calibri"/>
              </a:rPr>
              <a:t>i</a:t>
            </a:r>
            <a:r>
              <a:rPr kumimoji="0" lang="en-US" altLang="ja-JP" sz="2400" b="1" i="0" u="none" strike="noStrike" kern="1200" cap="none" spc="0" normalizeH="0" baseline="0" noProof="0" dirty="0">
                <a:ln>
                  <a:noFill/>
                </a:ln>
                <a:solidFill>
                  <a:prstClr val="black"/>
                </a:solidFill>
                <a:effectLst/>
                <a:uLnTx/>
                <a:uFillTx/>
                <a:latin typeface="Calibri"/>
                <a:ea typeface="+mn-ea"/>
                <a:cs typeface="Calibri"/>
              </a:rPr>
              <a:t>o</a:t>
            </a:r>
            <a:r>
              <a:rPr kumimoji="0" lang="en-US" altLang="ja-JP" sz="2400" b="1" i="0" u="none" strike="noStrike" kern="1200" cap="none" spc="5" normalizeH="0" baseline="0" noProof="0" dirty="0">
                <a:ln>
                  <a:noFill/>
                </a:ln>
                <a:solidFill>
                  <a:prstClr val="black"/>
                </a:solidFill>
                <a:effectLst/>
                <a:uLnTx/>
                <a:uFillTx/>
                <a:latin typeface="Calibri"/>
                <a:ea typeface="+mn-ea"/>
                <a:cs typeface="Calibri"/>
              </a:rPr>
              <a:t>n</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と呼ぶ</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ts val="2590"/>
              </a:lnSpc>
              <a:spcBef>
                <a:spcPts val="1050"/>
              </a:spcBef>
              <a:spcAft>
                <a:spcPts val="0"/>
              </a:spcAft>
              <a:buClrTx/>
              <a:buSzTx/>
              <a:buFontTx/>
              <a:buNone/>
              <a:tabLst/>
              <a:defRPr/>
            </a:pPr>
            <a:r>
              <a:rPr kumimoji="0" lang="en-US" altLang="ja-JP" sz="2400" b="0" i="1"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3"/>
              </a:rPr>
              <a:t>silly</a:t>
            </a:r>
            <a:r>
              <a:rPr kumimoji="0" lang="ja-JP" altLang="en-US" sz="2400" b="0" i="1" u="none" strike="noStrike" kern="1200" cap="none" spc="-15" normalizeH="0" baseline="0" noProof="0" dirty="0">
                <a:ln>
                  <a:noFill/>
                </a:ln>
                <a:solidFill>
                  <a:srgbClr val="0462C1"/>
                </a:solidFill>
                <a:effectLst/>
                <a:uLnTx/>
                <a:uFillTx/>
                <a:latin typeface="Calibri"/>
                <a:ea typeface="+mn-ea"/>
                <a:cs typeface="Calibri"/>
                <a:hlinkClick r:id="rId3"/>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はその代表例であり</a:t>
            </a:r>
            <a:r>
              <a:rPr kumimoji="0" lang="ja-JP" altLang="en-US" sz="2400" b="0" i="0" u="none" strike="noStrike" kern="1200" cap="none" spc="-160" normalizeH="0" baseline="0" noProof="0" dirty="0">
                <a:ln>
                  <a:noFill/>
                </a:ln>
                <a:solidFill>
                  <a:prstClr val="black"/>
                </a:solidFill>
                <a:effectLst/>
                <a:uLnTx/>
                <a:uFillTx/>
                <a:latin typeface="Yu Gothic"/>
                <a:ea typeface="+mn-ea"/>
                <a:cs typeface="Yu Gothic"/>
              </a:rPr>
              <a:t> </a:t>
            </a:r>
            <a:r>
              <a:rPr kumimoji="0" lang="en-US" altLang="ja-JP" sz="2400" b="0" i="0" u="heavy" strike="noStrike" kern="1200" cap="none" spc="-20" normalizeH="0" baseline="0" noProof="0" dirty="0">
                <a:ln>
                  <a:noFill/>
                </a:ln>
                <a:solidFill>
                  <a:srgbClr val="0462C1"/>
                </a:solidFill>
                <a:effectLst/>
                <a:uLnTx/>
                <a:uFill>
                  <a:solidFill>
                    <a:srgbClr val="0462C1"/>
                  </a:solidFill>
                </a:uFill>
                <a:latin typeface="Calibri"/>
                <a:ea typeface="+mn-ea"/>
                <a:cs typeface="Calibri"/>
                <a:hlinkClick r:id="rId4"/>
              </a:rPr>
              <a:t>Dictionary.com</a:t>
            </a:r>
            <a:r>
              <a:rPr kumimoji="0" lang="ja-JP" altLang="en-US" sz="2400" b="0" i="0" u="none" strike="noStrike" kern="1200" cap="none" spc="-40" normalizeH="0" baseline="0" noProof="0" dirty="0">
                <a:ln>
                  <a:noFill/>
                </a:ln>
                <a:solidFill>
                  <a:srgbClr val="0462C1"/>
                </a:solidFill>
                <a:effectLst/>
                <a:uLnTx/>
                <a:uFillTx/>
                <a:latin typeface="Calibri"/>
                <a:ea typeface="+mn-ea"/>
                <a:cs typeface="Calibri"/>
                <a:hlinkClick r:id="rId4"/>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に詳細が掲載されているので、その 意味の変遷を探求してみよう。</a:t>
            </a:r>
          </a:p>
        </p:txBody>
      </p:sp>
    </p:spTree>
    <p:extLst>
      <p:ext uri="{BB962C8B-B14F-4D97-AF65-F5344CB8AC3E}">
        <p14:creationId xmlns:p14="http://schemas.microsoft.com/office/powerpoint/2010/main" val="3715280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意味の下落</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280670" marR="0" lvl="0" indent="-268605" algn="l" defTabSz="914400" rtl="0" eaLnBrk="1" fontAlgn="auto" latinLnBrk="0" hangingPunct="1">
              <a:lnSpc>
                <a:spcPct val="100000"/>
              </a:lnSpc>
              <a:spcBef>
                <a:spcPts val="440"/>
              </a:spcBef>
              <a:spcAft>
                <a:spcPts val="0"/>
              </a:spcAft>
              <a:buClr>
                <a:srgbClr val="000000"/>
              </a:buClr>
              <a:buSzTx/>
              <a:buFont typeface="Arial MT"/>
              <a:buChar char="•"/>
              <a:tabLst>
                <a:tab pos="280670" algn="l"/>
                <a:tab pos="281305" algn="l"/>
              </a:tabLst>
              <a:defRPr/>
            </a:pPr>
            <a:r>
              <a:rPr kumimoji="0" lang="en-US" altLang="ja-JP" sz="2400" b="1" i="0" u="heavy" strike="noStrike" kern="1200" cap="none" spc="-15" normalizeH="0" baseline="0" noProof="0" dirty="0">
                <a:ln>
                  <a:noFill/>
                </a:ln>
                <a:solidFill>
                  <a:srgbClr val="0462C1"/>
                </a:solidFill>
                <a:effectLst/>
                <a:uLnTx/>
                <a:uFill>
                  <a:solidFill>
                    <a:srgbClr val="0462C1"/>
                  </a:solidFill>
                </a:uFill>
                <a:latin typeface="Calibri"/>
                <a:ea typeface="+mn-ea"/>
                <a:cs typeface="Calibri"/>
                <a:hlinkClick r:id="rId3"/>
              </a:rPr>
              <a:t>Dictionary.com</a:t>
            </a:r>
            <a:r>
              <a:rPr kumimoji="0" lang="ja-JP" altLang="en-US" sz="2400" b="1" i="0" u="none" strike="noStrike" kern="1200" cap="none" spc="-60" normalizeH="0" baseline="0" noProof="0" dirty="0">
                <a:ln>
                  <a:noFill/>
                </a:ln>
                <a:solidFill>
                  <a:srgbClr val="0462C1"/>
                </a:solidFill>
                <a:effectLst/>
                <a:uLnTx/>
                <a:uFillTx/>
                <a:latin typeface="Calibri"/>
                <a:ea typeface="+mn-ea"/>
                <a:cs typeface="Calibri"/>
                <a:hlinkClick r:id="rId3"/>
              </a:rPr>
              <a:t> </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掲載からの抜粋語義</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730250" marR="0" lvl="1" indent="-268605" algn="l" defTabSz="914400" rtl="0" eaLnBrk="1" fontAlgn="auto" latinLnBrk="0" hangingPunct="1">
              <a:lnSpc>
                <a:spcPct val="100000"/>
              </a:lnSpc>
              <a:spcBef>
                <a:spcPts val="290"/>
              </a:spcBef>
              <a:spcAft>
                <a:spcPts val="0"/>
              </a:spcAft>
              <a:buClrTx/>
              <a:buSzTx/>
              <a:buFont typeface="Arial MT"/>
              <a:buChar char="•"/>
              <a:tabLst>
                <a:tab pos="730250" algn="l"/>
                <a:tab pos="73088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優柔不断な、常識や良</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識</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に欠</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け</a:t>
            </a:r>
            <a:r>
              <a:rPr kumimoji="0" lang="ja-JP" altLang="en-US" sz="2000" b="0" i="0" u="none" strike="noStrike" kern="1200" cap="none" spc="5" normalizeH="0" baseline="0" noProof="0" dirty="0">
                <a:ln>
                  <a:noFill/>
                </a:ln>
                <a:solidFill>
                  <a:prstClr val="black"/>
                </a:solidFill>
                <a:effectLst/>
                <a:uLnTx/>
                <a:uFillTx/>
                <a:latin typeface="Yu Gothic"/>
                <a:ea typeface="+mn-ea"/>
                <a:cs typeface="Yu Gothic"/>
              </a:rPr>
              <a:t>た</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114" normalizeH="0" baseline="0" noProof="0" dirty="0">
                <a:ln>
                  <a:noFill/>
                </a:ln>
                <a:solidFill>
                  <a:prstClr val="black"/>
                </a:solidFill>
                <a:effectLst/>
                <a:uLnTx/>
                <a:uFillTx/>
                <a:latin typeface="Calibri"/>
                <a:ea typeface="+mn-ea"/>
                <a:cs typeface="Calibri"/>
              </a:rPr>
              <a:t> </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馬鹿な、愚かな</a:t>
            </a:r>
          </a:p>
          <a:p>
            <a:pPr marL="730250" marR="0" lvl="1" indent="-268605" algn="l" defTabSz="914400" rtl="0" eaLnBrk="1" fontAlgn="auto" latinLnBrk="0" hangingPunct="1">
              <a:lnSpc>
                <a:spcPct val="100000"/>
              </a:lnSpc>
              <a:spcBef>
                <a:spcPts val="254"/>
              </a:spcBef>
              <a:spcAft>
                <a:spcPts val="0"/>
              </a:spcAft>
              <a:buClrTx/>
              <a:buSzTx/>
              <a:buFont typeface="Arial MT"/>
              <a:buChar char="•"/>
              <a:tabLst>
                <a:tab pos="730250" algn="l"/>
                <a:tab pos="73088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馬鹿げた</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45" normalizeH="0" baseline="0" noProof="0" dirty="0">
                <a:ln>
                  <a:noFill/>
                </a:ln>
                <a:solidFill>
                  <a:prstClr val="black"/>
                </a:solidFill>
                <a:effectLst/>
                <a:uLnTx/>
                <a:uFillTx/>
                <a:latin typeface="Calibri"/>
                <a:ea typeface="+mn-ea"/>
                <a:cs typeface="Calibri"/>
              </a:rPr>
              <a:t> </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馬鹿馬鹿しい</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50" normalizeH="0" baseline="0" noProof="0" dirty="0">
                <a:ln>
                  <a:noFill/>
                </a:ln>
                <a:solidFill>
                  <a:prstClr val="black"/>
                </a:solidFill>
                <a:effectLst/>
                <a:uLnTx/>
                <a:uFillTx/>
                <a:latin typeface="Calibri"/>
                <a:ea typeface="+mn-ea"/>
                <a:cs typeface="Calibri"/>
              </a:rPr>
              <a:t> </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不条理な</a:t>
            </a:r>
          </a:p>
          <a:p>
            <a:pPr marL="730250" marR="0" lvl="1" indent="-268605" algn="l" defTabSz="914400" rtl="0" eaLnBrk="1" fontAlgn="auto" latinLnBrk="0" hangingPunct="1">
              <a:lnSpc>
                <a:spcPct val="100000"/>
              </a:lnSpc>
              <a:spcBef>
                <a:spcPts val="265"/>
              </a:spcBef>
              <a:spcAft>
                <a:spcPts val="0"/>
              </a:spcAft>
              <a:buClrTx/>
              <a:buSzTx/>
              <a:buFont typeface="Arial MT"/>
              <a:buChar char="•"/>
              <a:tabLst>
                <a:tab pos="730250" algn="l"/>
                <a:tab pos="730885" algn="l"/>
              </a:tabLst>
              <a:defRPr/>
            </a:pPr>
            <a:r>
              <a:rPr kumimoji="0" lang="en-US" altLang="ja-JP" sz="2000" b="1"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古</a:t>
            </a:r>
            <a:r>
              <a:rPr kumimoji="0" lang="en-US" altLang="ja-JP" sz="2000" b="1"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30" normalizeH="0" baseline="0" noProof="0" dirty="0">
                <a:ln>
                  <a:noFill/>
                </a:ln>
                <a:solidFill>
                  <a:prstClr val="black"/>
                </a:solidFill>
                <a:effectLst/>
                <a:uLnTx/>
                <a:uFillTx/>
                <a:latin typeface="Calibri"/>
                <a:ea typeface="+mn-ea"/>
                <a:cs typeface="Calibri"/>
              </a:rPr>
              <a:t> </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朴訥な</a:t>
            </a:r>
            <a:r>
              <a:rPr kumimoji="0" lang="en-US" altLang="ja-JP" sz="2000" b="1"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20" normalizeH="0" baseline="0" noProof="0" dirty="0">
                <a:ln>
                  <a:noFill/>
                </a:ln>
                <a:solidFill>
                  <a:prstClr val="black"/>
                </a:solidFill>
                <a:effectLst/>
                <a:uLnTx/>
                <a:uFillTx/>
                <a:latin typeface="Calibri"/>
                <a:ea typeface="+mn-ea"/>
                <a:cs typeface="Calibri"/>
              </a:rPr>
              <a:t> </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質素な</a:t>
            </a:r>
            <a:r>
              <a:rPr kumimoji="0" lang="en-US" altLang="ja-JP" sz="2000" b="1"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40" normalizeH="0" baseline="0" noProof="0" dirty="0">
                <a:ln>
                  <a:noFill/>
                </a:ln>
                <a:solidFill>
                  <a:prstClr val="black"/>
                </a:solidFill>
                <a:effectLst/>
                <a:uLnTx/>
                <a:uFillTx/>
                <a:latin typeface="Calibri"/>
                <a:ea typeface="+mn-ea"/>
                <a:cs typeface="Calibri"/>
              </a:rPr>
              <a:t> </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純朴な</a:t>
            </a:r>
            <a:endParaRPr kumimoji="0" lang="ja-JP" altLang="en-US" sz="2000" b="0" i="0" u="none" strike="noStrike" kern="1200" cap="none" spc="0" normalizeH="0" baseline="0" noProof="0" dirty="0">
              <a:ln>
                <a:noFill/>
              </a:ln>
              <a:solidFill>
                <a:prstClr val="black"/>
              </a:solidFill>
              <a:effectLst/>
              <a:uLnTx/>
              <a:uFillTx/>
              <a:latin typeface="Yu Gothic"/>
              <a:ea typeface="+mn-ea"/>
              <a:cs typeface="Yu Gothic"/>
            </a:endParaRPr>
          </a:p>
          <a:p>
            <a:pPr marL="730250" marR="0" lvl="1" indent="-268605" algn="l" defTabSz="914400" rtl="0" eaLnBrk="1" fontAlgn="auto" latinLnBrk="0" hangingPunct="1">
              <a:lnSpc>
                <a:spcPct val="100000"/>
              </a:lnSpc>
              <a:spcBef>
                <a:spcPts val="265"/>
              </a:spcBef>
              <a:spcAft>
                <a:spcPts val="0"/>
              </a:spcAft>
              <a:buClrTx/>
              <a:buSzTx/>
              <a:buFont typeface="Arial MT"/>
              <a:buChar char="•"/>
              <a:tabLst>
                <a:tab pos="730250" algn="l"/>
                <a:tab pos="730885" algn="l"/>
              </a:tabLst>
              <a:defRPr/>
            </a:pPr>
            <a:r>
              <a:rPr kumimoji="0" lang="en-US" altLang="ja-JP" sz="2000" b="1"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古</a:t>
            </a:r>
            <a:r>
              <a:rPr kumimoji="0" lang="en-US" altLang="ja-JP" sz="2000" b="1"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35" normalizeH="0" baseline="0" noProof="0" dirty="0">
                <a:ln>
                  <a:noFill/>
                </a:ln>
                <a:solidFill>
                  <a:prstClr val="black"/>
                </a:solidFill>
                <a:effectLst/>
                <a:uLnTx/>
                <a:uFillTx/>
                <a:latin typeface="Calibri"/>
                <a:ea typeface="+mn-ea"/>
                <a:cs typeface="Calibri"/>
              </a:rPr>
              <a:t> </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弱い</a:t>
            </a:r>
            <a:r>
              <a:rPr kumimoji="0" lang="en-US" altLang="ja-JP" sz="2000" b="1"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30" normalizeH="0" baseline="0" noProof="0" dirty="0">
                <a:ln>
                  <a:noFill/>
                </a:ln>
                <a:solidFill>
                  <a:prstClr val="black"/>
                </a:solidFill>
                <a:effectLst/>
                <a:uLnTx/>
                <a:uFillTx/>
                <a:latin typeface="Calibri"/>
                <a:ea typeface="+mn-ea"/>
                <a:cs typeface="Calibri"/>
              </a:rPr>
              <a:t> </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無防備な</a:t>
            </a:r>
            <a:endParaRPr kumimoji="0" lang="ja-JP" altLang="en-US" sz="2000" b="0" i="0" u="none" strike="noStrike" kern="1200" cap="none" spc="0" normalizeH="0" baseline="0" noProof="0" dirty="0">
              <a:ln>
                <a:noFill/>
              </a:ln>
              <a:solidFill>
                <a:prstClr val="black"/>
              </a:solidFill>
              <a:effectLst/>
              <a:uLnTx/>
              <a:uFillTx/>
              <a:latin typeface="Yu Gothic"/>
              <a:ea typeface="+mn-ea"/>
              <a:cs typeface="Yu Gothic"/>
            </a:endParaRPr>
          </a:p>
          <a:p>
            <a:pPr marL="730250" marR="0" lvl="1" indent="-268605" algn="l" defTabSz="914400" rtl="0" eaLnBrk="1" fontAlgn="auto" latinLnBrk="0" hangingPunct="1">
              <a:lnSpc>
                <a:spcPct val="100000"/>
              </a:lnSpc>
              <a:spcBef>
                <a:spcPts val="250"/>
              </a:spcBef>
              <a:spcAft>
                <a:spcPts val="0"/>
              </a:spcAft>
              <a:buClrTx/>
              <a:buSzTx/>
              <a:buFont typeface="Arial MT"/>
              <a:buChar char="•"/>
              <a:tabLst>
                <a:tab pos="730250" algn="l"/>
                <a:tab pos="730885" algn="l"/>
              </a:tabLst>
              <a:defRPr/>
            </a:pPr>
            <a:r>
              <a:rPr kumimoji="0" lang="en-US" altLang="ja-JP" sz="2000" b="1"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古</a:t>
            </a:r>
            <a:r>
              <a:rPr kumimoji="0" lang="en-US" altLang="ja-JP" sz="2000" b="1"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40" normalizeH="0" baseline="0" noProof="0" dirty="0">
                <a:ln>
                  <a:noFill/>
                </a:ln>
                <a:solidFill>
                  <a:prstClr val="black"/>
                </a:solidFill>
                <a:effectLst/>
                <a:uLnTx/>
                <a:uFillTx/>
                <a:latin typeface="Calibri"/>
                <a:ea typeface="+mn-ea"/>
                <a:cs typeface="Calibri"/>
              </a:rPr>
              <a:t> </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身分の低い</a:t>
            </a:r>
            <a:r>
              <a:rPr kumimoji="0" lang="en-US" altLang="ja-JP" sz="2000" b="1"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50" normalizeH="0" baseline="0" noProof="0" dirty="0">
                <a:ln>
                  <a:noFill/>
                </a:ln>
                <a:solidFill>
                  <a:prstClr val="black"/>
                </a:solidFill>
                <a:effectLst/>
                <a:uLnTx/>
                <a:uFillTx/>
                <a:latin typeface="Calibri"/>
                <a:ea typeface="+mn-ea"/>
                <a:cs typeface="Calibri"/>
              </a:rPr>
              <a:t> </a:t>
            </a:r>
            <a:r>
              <a:rPr kumimoji="0" lang="ja-JP" altLang="en-US" sz="2000" b="1" i="0" u="none" strike="noStrike" kern="1200" cap="none" spc="5" normalizeH="0" baseline="0" noProof="0" dirty="0">
                <a:ln>
                  <a:noFill/>
                </a:ln>
                <a:solidFill>
                  <a:prstClr val="black"/>
                </a:solidFill>
                <a:effectLst/>
                <a:uLnTx/>
                <a:uFillTx/>
                <a:latin typeface="Yu Gothic"/>
                <a:ea typeface="+mn-ea"/>
                <a:cs typeface="Yu Gothic"/>
              </a:rPr>
              <a:t>謙虚な</a:t>
            </a:r>
            <a:endParaRPr kumimoji="0" lang="ja-JP" altLang="en-US" sz="2000" b="0" i="0" u="none" strike="noStrike" kern="1200" cap="none" spc="0" normalizeH="0" baseline="0" noProof="0" dirty="0">
              <a:ln>
                <a:noFill/>
              </a:ln>
              <a:solidFill>
                <a:prstClr val="black"/>
              </a:solidFill>
              <a:effectLst/>
              <a:uLnTx/>
              <a:uFillTx/>
              <a:latin typeface="Yu Gothic"/>
              <a:ea typeface="+mn-ea"/>
              <a:cs typeface="Yu Gothic"/>
            </a:endParaRPr>
          </a:p>
          <a:p>
            <a:pPr marL="280670" marR="0" lvl="0" indent="-268605" algn="l" defTabSz="914400" rtl="0" eaLnBrk="1" fontAlgn="auto" latinLnBrk="0" hangingPunct="1">
              <a:lnSpc>
                <a:spcPct val="100000"/>
              </a:lnSpc>
              <a:spcBef>
                <a:spcPts val="695"/>
              </a:spcBef>
              <a:spcAft>
                <a:spcPts val="0"/>
              </a:spcAft>
              <a:buClrTx/>
              <a:buSzTx/>
              <a:buFont typeface="Arial MT"/>
              <a:buChar char="•"/>
              <a:tabLst>
                <a:tab pos="280670" algn="l"/>
                <a:tab pos="281305" algn="l"/>
              </a:tabLst>
              <a:defRPr/>
            </a:pP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歴史的語形変化</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730250" marR="0" lvl="1" indent="-268605" algn="l" defTabSz="914400" rtl="0" eaLnBrk="1" fontAlgn="auto" latinLnBrk="0" hangingPunct="1">
              <a:lnSpc>
                <a:spcPct val="100000"/>
              </a:lnSpc>
              <a:spcBef>
                <a:spcPts val="280"/>
              </a:spcBef>
              <a:spcAft>
                <a:spcPts val="0"/>
              </a:spcAft>
              <a:buClrTx/>
              <a:buSzTx/>
              <a:buFont typeface="Arial MT"/>
              <a:buChar char="•"/>
              <a:tabLst>
                <a:tab pos="730250" algn="l"/>
                <a:tab pos="73088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古英語</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35" normalizeH="0" baseline="0" noProof="0" dirty="0">
                <a:ln>
                  <a:noFill/>
                </a:ln>
                <a:solidFill>
                  <a:prstClr val="black"/>
                </a:solidFill>
                <a:effectLst/>
                <a:uLnTx/>
                <a:uFillTx/>
                <a:latin typeface="Calibri"/>
                <a:ea typeface="+mn-ea"/>
                <a:cs typeface="Calibri"/>
              </a:rPr>
              <a:t> </a:t>
            </a:r>
            <a:r>
              <a:rPr kumimoji="0" lang="en-US" altLang="ja-JP" sz="2000" b="0" i="1" u="none" strike="noStrike" kern="1200" cap="none" spc="-5" normalizeH="0" baseline="0" noProof="0" dirty="0" err="1">
                <a:ln>
                  <a:noFill/>
                </a:ln>
                <a:solidFill>
                  <a:prstClr val="black"/>
                </a:solidFill>
                <a:effectLst/>
                <a:uLnTx/>
                <a:uFillTx/>
                <a:latin typeface="Calibri"/>
                <a:ea typeface="+mn-ea"/>
                <a:cs typeface="Calibri"/>
              </a:rPr>
              <a:t>gesǣlig</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「幸福な</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45" normalizeH="0" baseline="0" noProof="0" dirty="0">
                <a:ln>
                  <a:noFill/>
                </a:ln>
                <a:solidFill>
                  <a:prstClr val="black"/>
                </a:solidFill>
                <a:effectLst/>
                <a:uLnTx/>
                <a:uFillTx/>
                <a:latin typeface="Calibri"/>
                <a:ea typeface="+mn-ea"/>
                <a:cs typeface="Calibri"/>
              </a:rPr>
              <a:t> </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祝福された」</a:t>
            </a:r>
          </a:p>
          <a:p>
            <a:pPr marL="1091565" marR="0" lvl="2" indent="-172720" algn="l" defTabSz="914400" rtl="0" eaLnBrk="1" fontAlgn="auto" latinLnBrk="0" hangingPunct="1">
              <a:lnSpc>
                <a:spcPct val="100000"/>
              </a:lnSpc>
              <a:spcBef>
                <a:spcPts val="340"/>
              </a:spcBef>
              <a:spcAft>
                <a:spcPts val="0"/>
              </a:spcAft>
              <a:buClrTx/>
              <a:buSzTx/>
              <a:buFont typeface="Arial MT"/>
              <a:buChar char="•"/>
              <a:tabLst>
                <a:tab pos="1092200" algn="l"/>
              </a:tabLst>
              <a:defRPr/>
            </a:pPr>
            <a:r>
              <a:rPr kumimoji="0" lang="ja-JP" altLang="en-US" sz="1600" b="0" i="0" u="none" strike="noStrike" kern="1200" cap="none" spc="-5" normalizeH="0" baseline="0" noProof="0" dirty="0">
                <a:ln>
                  <a:noFill/>
                </a:ln>
                <a:solidFill>
                  <a:prstClr val="black"/>
                </a:solidFill>
                <a:effectLst/>
                <a:uLnTx/>
                <a:uFillTx/>
                <a:latin typeface="Yu Gothic"/>
                <a:ea typeface="+mn-ea"/>
                <a:cs typeface="Yu Gothic"/>
              </a:rPr>
              <a:t>接頭辞</a:t>
            </a:r>
            <a:r>
              <a:rPr kumimoji="0" lang="ja-JP" altLang="en-US" sz="1600" b="0" i="0" u="none" strike="noStrike" kern="1200" cap="none" spc="-90" normalizeH="0" baseline="0" noProof="0" dirty="0">
                <a:ln>
                  <a:noFill/>
                </a:ln>
                <a:solidFill>
                  <a:prstClr val="black"/>
                </a:solidFill>
                <a:effectLst/>
                <a:uLnTx/>
                <a:uFillTx/>
                <a:latin typeface="Yu Gothic"/>
                <a:ea typeface="+mn-ea"/>
                <a:cs typeface="Yu Gothic"/>
              </a:rPr>
              <a:t> </a:t>
            </a:r>
            <a:r>
              <a:rPr kumimoji="0" lang="en-US" altLang="ja-JP" sz="1600" b="0" i="1" u="none" strike="noStrike" kern="1200" cap="none" spc="-5" normalizeH="0" baseline="0" noProof="0" dirty="0">
                <a:ln>
                  <a:noFill/>
                </a:ln>
                <a:solidFill>
                  <a:prstClr val="black"/>
                </a:solidFill>
                <a:effectLst/>
                <a:uLnTx/>
                <a:uFillTx/>
                <a:latin typeface="Calibri"/>
                <a:ea typeface="+mn-ea"/>
                <a:cs typeface="Calibri"/>
              </a:rPr>
              <a:t>-</a:t>
            </a:r>
            <a:r>
              <a:rPr kumimoji="0" lang="en-US" altLang="ja-JP" sz="1600" b="0" i="1" u="none" strike="noStrike" kern="1200" cap="none" spc="-5" normalizeH="0" baseline="0" noProof="0" dirty="0" err="1">
                <a:ln>
                  <a:noFill/>
                </a:ln>
                <a:solidFill>
                  <a:prstClr val="black"/>
                </a:solidFill>
                <a:effectLst/>
                <a:uLnTx/>
                <a:uFillTx/>
                <a:latin typeface="Calibri"/>
                <a:ea typeface="+mn-ea"/>
                <a:cs typeface="Calibri"/>
              </a:rPr>
              <a:t>ge</a:t>
            </a:r>
            <a:r>
              <a:rPr kumimoji="0" lang="ja-JP" altLang="en-US" sz="1600" b="0" i="1" u="none" strike="noStrike" kern="1200" cap="none" spc="0" normalizeH="0" baseline="0" noProof="0" dirty="0">
                <a:ln>
                  <a:noFill/>
                </a:ln>
                <a:solidFill>
                  <a:prstClr val="black"/>
                </a:solidFill>
                <a:effectLst/>
                <a:uLnTx/>
                <a:uFillTx/>
                <a:latin typeface="Calibri"/>
                <a:ea typeface="+mn-ea"/>
                <a:cs typeface="Calibri"/>
              </a:rPr>
              <a:t> </a:t>
            </a:r>
            <a:r>
              <a:rPr kumimoji="0" lang="ja-JP" altLang="en-US" sz="1600" b="0" i="0" u="none" strike="noStrike" kern="1200" cap="none" spc="-5" normalizeH="0" baseline="0" noProof="0" dirty="0">
                <a:ln>
                  <a:noFill/>
                </a:ln>
                <a:solidFill>
                  <a:prstClr val="black"/>
                </a:solidFill>
                <a:effectLst/>
                <a:uLnTx/>
                <a:uFillTx/>
                <a:latin typeface="Yu Gothic"/>
                <a:ea typeface="+mn-ea"/>
                <a:cs typeface="Yu Gothic"/>
              </a:rPr>
              <a:t>が脱落し、接尾辞</a:t>
            </a:r>
            <a:r>
              <a:rPr kumimoji="0" lang="ja-JP" altLang="en-US" sz="1600" b="0" i="0" u="none" strike="noStrike" kern="1200" cap="none" spc="-60" normalizeH="0" baseline="0" noProof="0" dirty="0">
                <a:ln>
                  <a:noFill/>
                </a:ln>
                <a:solidFill>
                  <a:prstClr val="black"/>
                </a:solidFill>
                <a:effectLst/>
                <a:uLnTx/>
                <a:uFillTx/>
                <a:latin typeface="Yu Gothic"/>
                <a:ea typeface="+mn-ea"/>
                <a:cs typeface="Yu Gothic"/>
              </a:rPr>
              <a:t> </a:t>
            </a:r>
            <a:r>
              <a:rPr kumimoji="0" lang="en-US" altLang="ja-JP" sz="1600" b="0" i="1" u="none" strike="noStrike" kern="1200" cap="none" spc="0" normalizeH="0" baseline="0" noProof="0" dirty="0">
                <a:ln>
                  <a:noFill/>
                </a:ln>
                <a:solidFill>
                  <a:prstClr val="black"/>
                </a:solidFill>
                <a:effectLst/>
                <a:uLnTx/>
                <a:uFillTx/>
                <a:latin typeface="Calibri"/>
                <a:ea typeface="+mn-ea"/>
                <a:cs typeface="Calibri"/>
              </a:rPr>
              <a:t>-</a:t>
            </a:r>
            <a:r>
              <a:rPr kumimoji="0" lang="en-US" altLang="ja-JP" sz="1600" b="0" i="1" u="none" strike="noStrike" kern="1200" cap="none" spc="0" normalizeH="0" baseline="0" noProof="0" dirty="0" err="1">
                <a:ln>
                  <a:noFill/>
                </a:ln>
                <a:solidFill>
                  <a:prstClr val="black"/>
                </a:solidFill>
                <a:effectLst/>
                <a:uLnTx/>
                <a:uFillTx/>
                <a:latin typeface="Calibri"/>
                <a:ea typeface="+mn-ea"/>
                <a:cs typeface="Calibri"/>
              </a:rPr>
              <a:t>ig</a:t>
            </a:r>
            <a:r>
              <a:rPr kumimoji="0" lang="ja-JP" altLang="en-US" sz="1600" b="0" i="1" u="none" strike="noStrike" kern="1200" cap="none" spc="-10" normalizeH="0" baseline="0" noProof="0" dirty="0">
                <a:ln>
                  <a:noFill/>
                </a:ln>
                <a:solidFill>
                  <a:prstClr val="black"/>
                </a:solidFill>
                <a:effectLst/>
                <a:uLnTx/>
                <a:uFillTx/>
                <a:latin typeface="Calibri"/>
                <a:ea typeface="+mn-ea"/>
                <a:cs typeface="Calibri"/>
              </a:rPr>
              <a:t> </a:t>
            </a:r>
            <a:r>
              <a:rPr kumimoji="0" lang="ja-JP" altLang="en-US" sz="1600" b="0" i="0" u="none" strike="noStrike" kern="1200" cap="none" spc="-5" normalizeH="0" baseline="0" noProof="0" dirty="0">
                <a:ln>
                  <a:noFill/>
                </a:ln>
                <a:solidFill>
                  <a:prstClr val="black"/>
                </a:solidFill>
                <a:effectLst/>
                <a:uLnTx/>
                <a:uFillTx/>
                <a:latin typeface="Yu Gothic"/>
                <a:ea typeface="+mn-ea"/>
                <a:cs typeface="Yu Gothic"/>
              </a:rPr>
              <a:t>が</a:t>
            </a:r>
            <a:r>
              <a:rPr kumimoji="0" lang="ja-JP" altLang="en-US" sz="1600" b="0" i="0" u="none" strike="noStrike" kern="1200" cap="none" spc="-85" normalizeH="0" baseline="0" noProof="0" dirty="0">
                <a:ln>
                  <a:noFill/>
                </a:ln>
                <a:solidFill>
                  <a:prstClr val="black"/>
                </a:solidFill>
                <a:effectLst/>
                <a:uLnTx/>
                <a:uFillTx/>
                <a:latin typeface="Yu Gothic"/>
                <a:ea typeface="+mn-ea"/>
                <a:cs typeface="Yu Gothic"/>
              </a:rPr>
              <a:t> </a:t>
            </a:r>
            <a:r>
              <a:rPr kumimoji="0" lang="en-US" altLang="ja-JP" sz="1600" b="0" i="1" u="none" strike="noStrike" kern="1200" cap="none" spc="-10" normalizeH="0" baseline="0" noProof="0" dirty="0">
                <a:ln>
                  <a:noFill/>
                </a:ln>
                <a:solidFill>
                  <a:prstClr val="black"/>
                </a:solidFill>
                <a:effectLst/>
                <a:uLnTx/>
                <a:uFillTx/>
                <a:latin typeface="Calibri"/>
                <a:ea typeface="+mn-ea"/>
                <a:cs typeface="Calibri"/>
              </a:rPr>
              <a:t>juicy</a:t>
            </a:r>
            <a:r>
              <a:rPr kumimoji="0" lang="ja-JP" altLang="en-US" sz="1600" b="0" i="1" u="none" strike="noStrike" kern="1200" cap="none" spc="5" normalizeH="0" baseline="0" noProof="0" dirty="0">
                <a:ln>
                  <a:noFill/>
                </a:ln>
                <a:solidFill>
                  <a:prstClr val="black"/>
                </a:solidFill>
                <a:effectLst/>
                <a:uLnTx/>
                <a:uFillTx/>
                <a:latin typeface="Calibri"/>
                <a:ea typeface="+mn-ea"/>
                <a:cs typeface="Calibri"/>
              </a:rPr>
              <a:t> </a:t>
            </a:r>
            <a:r>
              <a:rPr kumimoji="0" lang="ja-JP" altLang="en-US" sz="1600" b="0" i="0" u="none" strike="noStrike" kern="1200" cap="none" spc="-5" normalizeH="0" baseline="0" noProof="0" dirty="0">
                <a:ln>
                  <a:noFill/>
                </a:ln>
                <a:solidFill>
                  <a:prstClr val="black"/>
                </a:solidFill>
                <a:effectLst/>
                <a:uLnTx/>
                <a:uFillTx/>
                <a:latin typeface="Yu Gothic"/>
                <a:ea typeface="+mn-ea"/>
                <a:cs typeface="Yu Gothic"/>
              </a:rPr>
              <a:t>や</a:t>
            </a:r>
            <a:r>
              <a:rPr kumimoji="0" lang="ja-JP" altLang="en-US" sz="1600" b="0" i="0" u="none" strike="noStrike" kern="1200" cap="none" spc="-105" normalizeH="0" baseline="0" noProof="0" dirty="0">
                <a:ln>
                  <a:noFill/>
                </a:ln>
                <a:solidFill>
                  <a:prstClr val="black"/>
                </a:solidFill>
                <a:effectLst/>
                <a:uLnTx/>
                <a:uFillTx/>
                <a:latin typeface="Yu Gothic"/>
                <a:ea typeface="+mn-ea"/>
                <a:cs typeface="Yu Gothic"/>
              </a:rPr>
              <a:t> </a:t>
            </a:r>
            <a:r>
              <a:rPr kumimoji="0" lang="en-US" altLang="ja-JP" sz="1600" b="0" i="1" u="none" strike="noStrike" kern="1200" cap="none" spc="-15" normalizeH="0" baseline="0" noProof="0" dirty="0">
                <a:ln>
                  <a:noFill/>
                </a:ln>
                <a:solidFill>
                  <a:prstClr val="black"/>
                </a:solidFill>
                <a:effectLst/>
                <a:uLnTx/>
                <a:uFillTx/>
                <a:latin typeface="Calibri"/>
                <a:ea typeface="+mn-ea"/>
                <a:cs typeface="Calibri"/>
              </a:rPr>
              <a:t>dreamy</a:t>
            </a:r>
            <a:r>
              <a:rPr kumimoji="0" lang="ja-JP" altLang="en-US" sz="1600" b="0" i="1" u="none" strike="noStrike" kern="1200" cap="none" spc="10" normalizeH="0" baseline="0" noProof="0" dirty="0">
                <a:ln>
                  <a:noFill/>
                </a:ln>
                <a:solidFill>
                  <a:prstClr val="black"/>
                </a:solidFill>
                <a:effectLst/>
                <a:uLnTx/>
                <a:uFillTx/>
                <a:latin typeface="Calibri"/>
                <a:ea typeface="+mn-ea"/>
                <a:cs typeface="Calibri"/>
              </a:rPr>
              <a:t> </a:t>
            </a:r>
            <a:r>
              <a:rPr kumimoji="0" lang="ja-JP" altLang="en-US" sz="1600" b="0" i="0" u="none" strike="noStrike" kern="1200" cap="none" spc="-5" normalizeH="0" baseline="0" noProof="0" dirty="0">
                <a:ln>
                  <a:noFill/>
                </a:ln>
                <a:solidFill>
                  <a:prstClr val="black"/>
                </a:solidFill>
                <a:effectLst/>
                <a:uLnTx/>
                <a:uFillTx/>
                <a:latin typeface="Yu Gothic"/>
                <a:ea typeface="+mn-ea"/>
                <a:cs typeface="Yu Gothic"/>
              </a:rPr>
              <a:t>など現代英語のあらゆる語彙で</a:t>
            </a:r>
            <a:r>
              <a:rPr kumimoji="0" lang="ja-JP" altLang="en-US" sz="1600" b="0" i="0" u="none" strike="noStrike" kern="1200" cap="none" spc="5" normalizeH="0" baseline="0" noProof="0" dirty="0">
                <a:ln>
                  <a:noFill/>
                </a:ln>
                <a:solidFill>
                  <a:prstClr val="black"/>
                </a:solidFill>
                <a:effectLst/>
                <a:uLnTx/>
                <a:uFillTx/>
                <a:latin typeface="Yu Gothic"/>
                <a:ea typeface="+mn-ea"/>
                <a:cs typeface="Yu Gothic"/>
              </a:rPr>
              <a:t>観</a:t>
            </a:r>
            <a:r>
              <a:rPr kumimoji="0" lang="ja-JP" altLang="en-US" sz="1600" b="0" i="0" u="none" strike="noStrike" kern="1200" cap="none" spc="-5" normalizeH="0" baseline="0" noProof="0" dirty="0">
                <a:ln>
                  <a:noFill/>
                </a:ln>
                <a:solidFill>
                  <a:prstClr val="black"/>
                </a:solidFill>
                <a:effectLst/>
                <a:uLnTx/>
                <a:uFillTx/>
                <a:latin typeface="Yu Gothic"/>
                <a:ea typeface="+mn-ea"/>
                <a:cs typeface="Yu Gothic"/>
              </a:rPr>
              <a:t>測さ</a:t>
            </a:r>
            <a:r>
              <a:rPr kumimoji="0" lang="ja-JP" altLang="en-US" sz="1600" b="0" i="0" u="none" strike="noStrike" kern="1200" cap="none" spc="5" normalizeH="0" baseline="0" noProof="0" dirty="0">
                <a:ln>
                  <a:noFill/>
                </a:ln>
                <a:solidFill>
                  <a:prstClr val="black"/>
                </a:solidFill>
                <a:effectLst/>
                <a:uLnTx/>
                <a:uFillTx/>
                <a:latin typeface="Yu Gothic"/>
                <a:ea typeface="+mn-ea"/>
                <a:cs typeface="Yu Gothic"/>
              </a:rPr>
              <a:t>れ</a:t>
            </a:r>
            <a:r>
              <a:rPr kumimoji="0" lang="ja-JP" altLang="en-US" sz="1600" b="0" i="0" u="none" strike="noStrike" kern="1200" cap="none" spc="-5" normalizeH="0" baseline="0" noProof="0" dirty="0">
                <a:ln>
                  <a:noFill/>
                </a:ln>
                <a:solidFill>
                  <a:prstClr val="black"/>
                </a:solidFill>
                <a:effectLst/>
                <a:uLnTx/>
                <a:uFillTx/>
                <a:latin typeface="Yu Gothic"/>
                <a:ea typeface="+mn-ea"/>
                <a:cs typeface="Yu Gothic"/>
              </a:rPr>
              <a:t>る</a:t>
            </a:r>
            <a:r>
              <a:rPr kumimoji="0" lang="ja-JP" altLang="en-US" sz="1600" b="0" i="0" u="none" strike="noStrike" kern="1200" cap="none" spc="-35" normalizeH="0" baseline="0" noProof="0" dirty="0">
                <a:ln>
                  <a:noFill/>
                </a:ln>
                <a:solidFill>
                  <a:prstClr val="black"/>
                </a:solidFill>
                <a:effectLst/>
                <a:uLnTx/>
                <a:uFillTx/>
                <a:latin typeface="Yu Gothic"/>
                <a:ea typeface="+mn-ea"/>
                <a:cs typeface="Yu Gothic"/>
              </a:rPr>
              <a:t> </a:t>
            </a:r>
            <a:r>
              <a:rPr kumimoji="0" lang="en-US" altLang="ja-JP" sz="1600" b="0" i="1" u="none" strike="noStrike" kern="1200" cap="none" spc="0" normalizeH="0" baseline="0" noProof="0" dirty="0">
                <a:ln>
                  <a:noFill/>
                </a:ln>
                <a:solidFill>
                  <a:prstClr val="black"/>
                </a:solidFill>
                <a:effectLst/>
                <a:uLnTx/>
                <a:uFillTx/>
                <a:latin typeface="Calibri"/>
                <a:ea typeface="+mn-ea"/>
                <a:cs typeface="Calibri"/>
              </a:rPr>
              <a:t>-</a:t>
            </a:r>
            <a:r>
              <a:rPr kumimoji="0" lang="en-US" altLang="ja-JP" sz="1600" b="0" i="1" u="none" strike="noStrike" kern="1200" cap="none" spc="0" normalizeH="0" baseline="0" noProof="0" dirty="0" err="1">
                <a:ln>
                  <a:noFill/>
                </a:ln>
                <a:solidFill>
                  <a:prstClr val="black"/>
                </a:solidFill>
                <a:effectLst/>
                <a:uLnTx/>
                <a:uFillTx/>
                <a:latin typeface="Calibri"/>
                <a:ea typeface="+mn-ea"/>
                <a:cs typeface="Calibri"/>
              </a:rPr>
              <a:t>ly</a:t>
            </a:r>
            <a:r>
              <a:rPr kumimoji="0" lang="ja-JP" altLang="en-US" sz="1600" b="0" i="1" u="none" strike="noStrike" kern="1200" cap="none" spc="-20" normalizeH="0" baseline="0" noProof="0" dirty="0">
                <a:ln>
                  <a:noFill/>
                </a:ln>
                <a:solidFill>
                  <a:prstClr val="black"/>
                </a:solidFill>
                <a:effectLst/>
                <a:uLnTx/>
                <a:uFillTx/>
                <a:latin typeface="Calibri"/>
                <a:ea typeface="+mn-ea"/>
                <a:cs typeface="Calibri"/>
              </a:rPr>
              <a:t> </a:t>
            </a:r>
            <a:r>
              <a:rPr kumimoji="0" lang="ja-JP" altLang="en-US" sz="1600" b="0" i="0" u="none" strike="noStrike" kern="1200" cap="none" spc="-5" normalizeH="0" baseline="0" noProof="0" dirty="0">
                <a:ln>
                  <a:noFill/>
                </a:ln>
                <a:solidFill>
                  <a:prstClr val="black"/>
                </a:solidFill>
                <a:effectLst/>
                <a:uLnTx/>
                <a:uFillTx/>
                <a:latin typeface="Yu Gothic"/>
                <a:ea typeface="+mn-ea"/>
                <a:cs typeface="Yu Gothic"/>
              </a:rPr>
              <a:t>に変化</a:t>
            </a:r>
            <a:endParaRPr kumimoji="0" lang="ja-JP" altLang="en-US" sz="1600" b="0" i="0" u="none" strike="noStrike" kern="1200" cap="none" spc="0" normalizeH="0" baseline="0" noProof="0" dirty="0">
              <a:ln>
                <a:noFill/>
              </a:ln>
              <a:solidFill>
                <a:prstClr val="black"/>
              </a:solidFill>
              <a:effectLst/>
              <a:uLnTx/>
              <a:uFillTx/>
              <a:latin typeface="Yu Gothic"/>
              <a:ea typeface="+mn-ea"/>
              <a:cs typeface="Yu Gothic"/>
            </a:endParaRPr>
          </a:p>
          <a:p>
            <a:pPr marL="1091565" marR="0" lvl="2" indent="-172720" algn="l" defTabSz="914400" rtl="0" eaLnBrk="1" fontAlgn="auto" latinLnBrk="0" hangingPunct="1">
              <a:lnSpc>
                <a:spcPct val="100000"/>
              </a:lnSpc>
              <a:spcBef>
                <a:spcPts val="315"/>
              </a:spcBef>
              <a:spcAft>
                <a:spcPts val="0"/>
              </a:spcAft>
              <a:buClrTx/>
              <a:buSzTx/>
              <a:buFont typeface="Arial MT"/>
              <a:buChar char="•"/>
              <a:tabLst>
                <a:tab pos="1092200" algn="l"/>
              </a:tabLst>
              <a:defRPr/>
            </a:pPr>
            <a:r>
              <a:rPr kumimoji="0" lang="en-US" altLang="ja-JP" sz="1600" b="0" i="1" u="none" strike="noStrike" kern="1200" cap="none" spc="-5" normalizeH="0" baseline="0" noProof="0" dirty="0" err="1">
                <a:ln>
                  <a:noFill/>
                </a:ln>
                <a:solidFill>
                  <a:prstClr val="black"/>
                </a:solidFill>
                <a:effectLst/>
                <a:uLnTx/>
                <a:uFillTx/>
                <a:latin typeface="Calibri"/>
                <a:ea typeface="+mn-ea"/>
                <a:cs typeface="Calibri"/>
              </a:rPr>
              <a:t>sǣl</a:t>
            </a:r>
            <a:r>
              <a:rPr kumimoji="0" lang="ja-JP" altLang="en-US" sz="1600" b="0" i="1" u="none" strike="noStrike" kern="1200" cap="none" spc="-25" normalizeH="0" baseline="0" noProof="0" dirty="0">
                <a:ln>
                  <a:noFill/>
                </a:ln>
                <a:solidFill>
                  <a:prstClr val="black"/>
                </a:solidFill>
                <a:effectLst/>
                <a:uLnTx/>
                <a:uFillTx/>
                <a:latin typeface="Calibri"/>
                <a:ea typeface="+mn-ea"/>
                <a:cs typeface="Calibri"/>
              </a:rPr>
              <a:t> </a:t>
            </a:r>
            <a:r>
              <a:rPr kumimoji="0" lang="ja-JP" altLang="en-US" sz="1600" b="0" i="0" u="none" strike="noStrike" kern="1200" cap="none" spc="-10" normalizeH="0" baseline="0" noProof="0" dirty="0">
                <a:ln>
                  <a:noFill/>
                </a:ln>
                <a:solidFill>
                  <a:prstClr val="black"/>
                </a:solidFill>
                <a:effectLst/>
                <a:uLnTx/>
                <a:uFillTx/>
                <a:latin typeface="Yu Gothic"/>
                <a:ea typeface="+mn-ea"/>
                <a:cs typeface="Yu Gothic"/>
              </a:rPr>
              <a:t>「幸福」</a:t>
            </a:r>
            <a:endParaRPr kumimoji="0" lang="ja-JP" altLang="en-US" sz="1600" b="0" i="0" u="none" strike="noStrike" kern="1200" cap="none" spc="0" normalizeH="0" baseline="0" noProof="0" dirty="0">
              <a:ln>
                <a:noFill/>
              </a:ln>
              <a:solidFill>
                <a:prstClr val="black"/>
              </a:solidFill>
              <a:effectLst/>
              <a:uLnTx/>
              <a:uFillTx/>
              <a:latin typeface="Yu Gothic"/>
              <a:ea typeface="+mn-ea"/>
              <a:cs typeface="Yu Gothic"/>
            </a:endParaRPr>
          </a:p>
          <a:p>
            <a:pPr marL="730250" marR="0" lvl="1" indent="-268605" algn="l" defTabSz="914400" rtl="0" eaLnBrk="1" fontAlgn="auto" latinLnBrk="0" hangingPunct="1">
              <a:lnSpc>
                <a:spcPct val="100000"/>
              </a:lnSpc>
              <a:spcBef>
                <a:spcPts val="225"/>
              </a:spcBef>
              <a:spcAft>
                <a:spcPts val="0"/>
              </a:spcAft>
              <a:buClrTx/>
              <a:buSzTx/>
              <a:buFont typeface="Arial MT"/>
              <a:buChar char="•"/>
              <a:tabLst>
                <a:tab pos="730250" algn="l"/>
                <a:tab pos="73088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中英語初期</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55" normalizeH="0" baseline="0" noProof="0" dirty="0">
                <a:ln>
                  <a:noFill/>
                </a:ln>
                <a:solidFill>
                  <a:prstClr val="black"/>
                </a:solidFill>
                <a:effectLst/>
                <a:uLnTx/>
                <a:uFillTx/>
                <a:latin typeface="Calibri"/>
                <a:ea typeface="+mn-ea"/>
                <a:cs typeface="Calibri"/>
              </a:rPr>
              <a:t> </a:t>
            </a:r>
            <a:r>
              <a:rPr kumimoji="0" lang="en-US" altLang="ja-JP" sz="2000" b="0" i="1" u="none" strike="noStrike" kern="1200" cap="none" spc="-10" normalizeH="0" baseline="0" noProof="0" dirty="0" err="1">
                <a:ln>
                  <a:noFill/>
                </a:ln>
                <a:solidFill>
                  <a:prstClr val="black"/>
                </a:solidFill>
                <a:effectLst/>
                <a:uLnTx/>
                <a:uFillTx/>
                <a:latin typeface="Calibri"/>
                <a:ea typeface="+mn-ea"/>
                <a:cs typeface="Calibri"/>
              </a:rPr>
              <a:t>sylie</a:t>
            </a:r>
            <a:r>
              <a:rPr kumimoji="0" lang="en-US" altLang="ja-JP" sz="2000" b="0" i="0" u="none" strike="noStrike" kern="1200" cap="none" spc="-1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35" normalizeH="0" baseline="0" noProof="0" dirty="0">
                <a:ln>
                  <a:noFill/>
                </a:ln>
                <a:solidFill>
                  <a:prstClr val="black"/>
                </a:solidFill>
                <a:effectLst/>
                <a:uLnTx/>
                <a:uFillTx/>
                <a:latin typeface="Calibri"/>
                <a:ea typeface="+mn-ea"/>
                <a:cs typeface="Calibri"/>
              </a:rPr>
              <a:t> </a:t>
            </a:r>
            <a:r>
              <a:rPr kumimoji="0" lang="en-US" altLang="ja-JP" sz="2000" b="0" i="1" u="none" strike="noStrike" kern="1200" cap="none" spc="-5" normalizeH="0" baseline="0" noProof="0" dirty="0" err="1">
                <a:ln>
                  <a:noFill/>
                </a:ln>
                <a:solidFill>
                  <a:prstClr val="black"/>
                </a:solidFill>
                <a:effectLst/>
                <a:uLnTx/>
                <a:uFillTx/>
                <a:latin typeface="Calibri"/>
                <a:ea typeface="+mn-ea"/>
                <a:cs typeface="Calibri"/>
              </a:rPr>
              <a:t>sillie</a:t>
            </a:r>
            <a:endParaRPr kumimoji="0" lang="ja-JP" altLang="en-US" sz="2000" b="0" i="0" u="none" strike="noStrike" kern="1200" cap="none" spc="0" normalizeH="0" baseline="0" noProof="0" dirty="0">
              <a:ln>
                <a:noFill/>
              </a:ln>
              <a:solidFill>
                <a:prstClr val="black"/>
              </a:solidFill>
              <a:effectLst/>
              <a:uLnTx/>
              <a:uFillTx/>
              <a:latin typeface="Calibri"/>
              <a:ea typeface="+mn-ea"/>
              <a:cs typeface="Calibri"/>
            </a:endParaRPr>
          </a:p>
          <a:p>
            <a:pPr marL="730250" marR="0" lvl="1" indent="-268605" algn="l" defTabSz="914400" rtl="0" eaLnBrk="1" fontAlgn="auto" latinLnBrk="0" hangingPunct="1">
              <a:lnSpc>
                <a:spcPct val="100000"/>
              </a:lnSpc>
              <a:spcBef>
                <a:spcPts val="265"/>
              </a:spcBef>
              <a:spcAft>
                <a:spcPts val="0"/>
              </a:spcAft>
              <a:buClrTx/>
              <a:buSzTx/>
              <a:buFont typeface="Arial MT"/>
              <a:buChar char="•"/>
              <a:tabLst>
                <a:tab pos="730250" algn="l"/>
                <a:tab pos="73088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中英語後期</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25" normalizeH="0" baseline="0" noProof="0" dirty="0">
                <a:ln>
                  <a:noFill/>
                </a:ln>
                <a:solidFill>
                  <a:prstClr val="black"/>
                </a:solidFill>
                <a:effectLst/>
                <a:uLnTx/>
                <a:uFillTx/>
                <a:latin typeface="Calibri"/>
                <a:ea typeface="+mn-ea"/>
                <a:cs typeface="Calibri"/>
              </a:rPr>
              <a:t> </a:t>
            </a:r>
            <a:r>
              <a:rPr kumimoji="0" lang="en-US" altLang="ja-JP" sz="2000" b="0" i="1" u="none" strike="noStrike" kern="1200" cap="none" spc="-10" normalizeH="0" baseline="0" noProof="0" dirty="0" err="1">
                <a:ln>
                  <a:noFill/>
                </a:ln>
                <a:solidFill>
                  <a:prstClr val="black"/>
                </a:solidFill>
                <a:effectLst/>
                <a:uLnTx/>
                <a:uFillTx/>
                <a:latin typeface="Calibri"/>
                <a:ea typeface="+mn-ea"/>
                <a:cs typeface="Calibri"/>
              </a:rPr>
              <a:t>syly</a:t>
            </a:r>
            <a:r>
              <a:rPr kumimoji="0" lang="en-US" altLang="ja-JP" sz="2000" b="0" i="1" u="none" strike="noStrike" kern="1200" cap="none" spc="-10" normalizeH="0" baseline="0" noProof="0" dirty="0">
                <a:ln>
                  <a:noFill/>
                </a:ln>
                <a:solidFill>
                  <a:prstClr val="black"/>
                </a:solidFill>
                <a:effectLst/>
                <a:uLnTx/>
                <a:uFillTx/>
                <a:latin typeface="Calibri"/>
                <a:ea typeface="+mn-ea"/>
                <a:cs typeface="Calibri"/>
              </a:rPr>
              <a:t>(</a:t>
            </a:r>
            <a:r>
              <a:rPr kumimoji="0" lang="en-US" altLang="ja-JP" sz="2000" b="0" i="1" u="none" strike="noStrike" kern="1200" cap="none" spc="-10" normalizeH="0" baseline="0" noProof="0" dirty="0" err="1">
                <a:ln>
                  <a:noFill/>
                </a:ln>
                <a:solidFill>
                  <a:prstClr val="black"/>
                </a:solidFill>
                <a:effectLst/>
                <a:uLnTx/>
                <a:uFillTx/>
                <a:latin typeface="Calibri"/>
                <a:ea typeface="+mn-ea"/>
                <a:cs typeface="Calibri"/>
              </a:rPr>
              <a:t>sely</a:t>
            </a:r>
            <a:r>
              <a:rPr kumimoji="0" lang="ja-JP" altLang="en-US" sz="2000" b="0" i="1" u="none" strike="noStrike" kern="1200" cap="none" spc="0" normalizeH="0" baseline="0" noProof="0" dirty="0">
                <a:ln>
                  <a:noFill/>
                </a:ln>
                <a:solidFill>
                  <a:prstClr val="black"/>
                </a:solidFill>
                <a:effectLst/>
                <a:uLnTx/>
                <a:uFillTx/>
                <a:latin typeface="Calibri"/>
                <a:ea typeface="+mn-ea"/>
                <a:cs typeface="Calibri"/>
              </a:rPr>
              <a:t> </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や</a:t>
            </a:r>
            <a:r>
              <a:rPr kumimoji="0" lang="ja-JP" altLang="en-US" sz="2000" b="0" i="0" u="none" strike="noStrike" kern="1200" cap="none" spc="-130" normalizeH="0" baseline="0" noProof="0" dirty="0">
                <a:ln>
                  <a:noFill/>
                </a:ln>
                <a:solidFill>
                  <a:srgbClr val="0462C1"/>
                </a:solidFill>
                <a:effectLst/>
                <a:uLnTx/>
                <a:uFillTx/>
                <a:latin typeface="Yu Gothic"/>
                <a:ea typeface="+mn-ea"/>
                <a:cs typeface="Yu Gothic"/>
              </a:rPr>
              <a:t> </a:t>
            </a:r>
            <a:r>
              <a:rPr kumimoji="0" lang="en-US" altLang="ja-JP" sz="2000" b="0" i="1" u="sng" strike="noStrike" kern="1200" cap="none" spc="-5" normalizeH="0" baseline="0" noProof="0" dirty="0" err="1">
                <a:ln>
                  <a:noFill/>
                </a:ln>
                <a:solidFill>
                  <a:srgbClr val="0462C1"/>
                </a:solidFill>
                <a:effectLst/>
                <a:uLnTx/>
                <a:uFill>
                  <a:solidFill>
                    <a:srgbClr val="0462C1"/>
                  </a:solidFill>
                </a:uFill>
                <a:latin typeface="Calibri"/>
                <a:ea typeface="+mn-ea"/>
                <a:cs typeface="Calibri"/>
                <a:hlinkClick r:id="rId4"/>
              </a:rPr>
              <a:t>seely</a:t>
            </a:r>
            <a:r>
              <a:rPr kumimoji="0" lang="ja-JP" altLang="en-US" sz="2000" b="0" i="1" u="none" strike="noStrike" kern="1200" cap="none" spc="-20" normalizeH="0" baseline="0" noProof="0" dirty="0">
                <a:ln>
                  <a:noFill/>
                </a:ln>
                <a:solidFill>
                  <a:srgbClr val="0462C1"/>
                </a:solidFill>
                <a:effectLst/>
                <a:uLnTx/>
                <a:uFillTx/>
                <a:latin typeface="Calibri"/>
                <a:ea typeface="+mn-ea"/>
                <a:cs typeface="Calibri"/>
                <a:hlinkClick r:id="rId4"/>
              </a:rPr>
              <a:t> </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の異表記</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p>
        </p:txBody>
      </p:sp>
    </p:spTree>
    <p:extLst>
      <p:ext uri="{BB962C8B-B14F-4D97-AF65-F5344CB8AC3E}">
        <p14:creationId xmlns:p14="http://schemas.microsoft.com/office/powerpoint/2010/main" val="1286019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意味の下落</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歴史的意味変化</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p:txBody>
      </p:sp>
      <p:graphicFrame>
        <p:nvGraphicFramePr>
          <p:cNvPr id="6" name="object 4">
            <a:extLst>
              <a:ext uri="{FF2B5EF4-FFF2-40B4-BE49-F238E27FC236}">
                <a16:creationId xmlns:a16="http://schemas.microsoft.com/office/drawing/2014/main" id="{3FB16BB2-84FC-6F18-E2D4-7C45CC451933}"/>
              </a:ext>
            </a:extLst>
          </p:cNvPr>
          <p:cNvGraphicFramePr>
            <a:graphicFrameLocks noGrp="1"/>
          </p:cNvGraphicFramePr>
          <p:nvPr/>
        </p:nvGraphicFramePr>
        <p:xfrm>
          <a:off x="948601" y="2301748"/>
          <a:ext cx="7363459" cy="1854197"/>
        </p:xfrm>
        <a:graphic>
          <a:graphicData uri="http://schemas.openxmlformats.org/drawingml/2006/table">
            <a:tbl>
              <a:tblPr firstRow="1" bandRow="1">
                <a:tableStyleId>{2D5ABB26-0587-4C30-8999-92F81FD0307C}</a:tableStyleId>
              </a:tblPr>
              <a:tblGrid>
                <a:gridCol w="1423670">
                  <a:extLst>
                    <a:ext uri="{9D8B030D-6E8A-4147-A177-3AD203B41FA5}">
                      <a16:colId xmlns:a16="http://schemas.microsoft.com/office/drawing/2014/main" val="20000"/>
                    </a:ext>
                  </a:extLst>
                </a:gridCol>
                <a:gridCol w="5939789">
                  <a:extLst>
                    <a:ext uri="{9D8B030D-6E8A-4147-A177-3AD203B41FA5}">
                      <a16:colId xmlns:a16="http://schemas.microsoft.com/office/drawing/2014/main" val="20001"/>
                    </a:ext>
                  </a:extLst>
                </a:gridCol>
              </a:tblGrid>
              <a:tr h="370839">
                <a:tc>
                  <a:txBody>
                    <a:bodyPr/>
                    <a:lstStyle/>
                    <a:p>
                      <a:pPr marL="90805">
                        <a:lnSpc>
                          <a:spcPct val="100000"/>
                        </a:lnSpc>
                        <a:spcBef>
                          <a:spcPts val="229"/>
                        </a:spcBef>
                      </a:pPr>
                      <a:r>
                        <a:rPr sz="1800" b="1" dirty="0">
                          <a:solidFill>
                            <a:srgbClr val="FFFFFF"/>
                          </a:solidFill>
                          <a:latin typeface="Yu Gothic"/>
                          <a:cs typeface="Yu Gothic"/>
                        </a:rPr>
                        <a:t>時代区分</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5" dirty="0">
                          <a:solidFill>
                            <a:srgbClr val="FFFFFF"/>
                          </a:solidFill>
                          <a:latin typeface="Yu Gothic"/>
                          <a:cs typeface="Yu Gothic"/>
                        </a:rPr>
                        <a:t>意味</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839">
                <a:tc>
                  <a:txBody>
                    <a:bodyPr/>
                    <a:lstStyle/>
                    <a:p>
                      <a:pPr marL="90805">
                        <a:lnSpc>
                          <a:spcPct val="100000"/>
                        </a:lnSpc>
                        <a:spcBef>
                          <a:spcPts val="220"/>
                        </a:spcBef>
                      </a:pPr>
                      <a:r>
                        <a:rPr sz="1800" dirty="0">
                          <a:latin typeface="Yu Gothic"/>
                          <a:cs typeface="Yu Gothic"/>
                        </a:rPr>
                        <a:t>古英語</a:t>
                      </a:r>
                      <a:endParaRPr sz="1800">
                        <a:latin typeface="Yu Gothic"/>
                        <a:cs typeface="Yu Gothic"/>
                      </a:endParaRPr>
                    </a:p>
                  </a:txBody>
                  <a:tcPr marL="0" marR="0" marT="2794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220"/>
                        </a:spcBef>
                      </a:pPr>
                      <a:r>
                        <a:rPr sz="1800" dirty="0">
                          <a:latin typeface="Yu Gothic"/>
                          <a:cs typeface="Yu Gothic"/>
                        </a:rPr>
                        <a:t>幸福な、祝福された</a:t>
                      </a:r>
                      <a:endParaRPr sz="1800">
                        <a:latin typeface="Yu Gothic"/>
                        <a:cs typeface="Yu Gothic"/>
                      </a:endParaRPr>
                    </a:p>
                  </a:txBody>
                  <a:tcPr marL="0" marR="0" marT="2794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839">
                <a:tc>
                  <a:txBody>
                    <a:bodyPr/>
                    <a:lstStyle/>
                    <a:p>
                      <a:pPr marL="90805">
                        <a:lnSpc>
                          <a:spcPct val="100000"/>
                        </a:lnSpc>
                        <a:spcBef>
                          <a:spcPts val="220"/>
                        </a:spcBef>
                      </a:pPr>
                      <a:r>
                        <a:rPr sz="1800" dirty="0">
                          <a:latin typeface="Yu Gothic"/>
                          <a:cs typeface="Yu Gothic"/>
                        </a:rPr>
                        <a:t>中英語初期</a:t>
                      </a:r>
                      <a:endParaRPr sz="1800">
                        <a:latin typeface="Yu Gothic"/>
                        <a:cs typeface="Yu Gothic"/>
                      </a:endParaRPr>
                    </a:p>
                  </a:txBody>
                  <a:tcPr marL="0" marR="0" marT="279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220"/>
                        </a:spcBef>
                      </a:pPr>
                      <a:r>
                        <a:rPr sz="1800" dirty="0">
                          <a:latin typeface="Yu Gothic"/>
                          <a:cs typeface="Yu Gothic"/>
                        </a:rPr>
                        <a:t>神聖な、無垢な、無防備な</a:t>
                      </a:r>
                      <a:endParaRPr sz="1800">
                        <a:latin typeface="Yu Gothic"/>
                        <a:cs typeface="Yu Gothic"/>
                      </a:endParaRPr>
                    </a:p>
                  </a:txBody>
                  <a:tcPr marL="0" marR="0" marT="279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840">
                <a:tc>
                  <a:txBody>
                    <a:bodyPr/>
                    <a:lstStyle/>
                    <a:p>
                      <a:pPr marL="90805">
                        <a:lnSpc>
                          <a:spcPct val="100000"/>
                        </a:lnSpc>
                        <a:spcBef>
                          <a:spcPts val="220"/>
                        </a:spcBef>
                      </a:pPr>
                      <a:r>
                        <a:rPr sz="1800" dirty="0">
                          <a:latin typeface="Yu Gothic"/>
                          <a:cs typeface="Yu Gothic"/>
                        </a:rPr>
                        <a:t>中英語中期</a:t>
                      </a:r>
                      <a:endParaRPr sz="1800">
                        <a:latin typeface="Yu Gothic"/>
                        <a:cs typeface="Yu Gothic"/>
                      </a:endParaRPr>
                    </a:p>
                  </a:txBody>
                  <a:tcPr marL="0" marR="0" marT="279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220"/>
                        </a:spcBef>
                      </a:pPr>
                      <a:r>
                        <a:rPr sz="1800" dirty="0">
                          <a:latin typeface="Yu Gothic"/>
                          <a:cs typeface="Yu Gothic"/>
                        </a:rPr>
                        <a:t>惨めな、取るに足らない</a:t>
                      </a:r>
                      <a:r>
                        <a:rPr sz="1800" dirty="0">
                          <a:latin typeface="Calibri"/>
                          <a:cs typeface="Calibri"/>
                        </a:rPr>
                        <a:t>;</a:t>
                      </a:r>
                      <a:r>
                        <a:rPr sz="1800" spc="-90" dirty="0">
                          <a:latin typeface="Calibri"/>
                          <a:cs typeface="Calibri"/>
                        </a:rPr>
                        <a:t> </a:t>
                      </a:r>
                      <a:r>
                        <a:rPr sz="1800" dirty="0">
                          <a:latin typeface="Yu Gothic"/>
                          <a:cs typeface="Yu Gothic"/>
                        </a:rPr>
                        <a:t>単純な、無知な</a:t>
                      </a:r>
                      <a:endParaRPr sz="1800">
                        <a:latin typeface="Yu Gothic"/>
                        <a:cs typeface="Yu Gothic"/>
                      </a:endParaRPr>
                    </a:p>
                  </a:txBody>
                  <a:tcPr marL="0" marR="0" marT="279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40">
                <a:tc>
                  <a:txBody>
                    <a:bodyPr/>
                    <a:lstStyle/>
                    <a:p>
                      <a:pPr marL="90805">
                        <a:lnSpc>
                          <a:spcPct val="100000"/>
                        </a:lnSpc>
                        <a:spcBef>
                          <a:spcPts val="220"/>
                        </a:spcBef>
                      </a:pPr>
                      <a:r>
                        <a:rPr sz="1800" dirty="0">
                          <a:latin typeface="Yu Gothic"/>
                          <a:cs typeface="Yu Gothic"/>
                        </a:rPr>
                        <a:t>中英語後期</a:t>
                      </a:r>
                      <a:endParaRPr sz="1800">
                        <a:latin typeface="Yu Gothic"/>
                        <a:cs typeface="Yu Gothic"/>
                      </a:endParaRPr>
                    </a:p>
                  </a:txBody>
                  <a:tcPr marL="0" marR="0" marT="279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220"/>
                        </a:spcBef>
                      </a:pPr>
                      <a:r>
                        <a:rPr sz="1800" dirty="0">
                          <a:latin typeface="Yu Gothic"/>
                          <a:cs typeface="Yu Gothic"/>
                        </a:rPr>
                        <a:t>常識や良識に欠けた、馬鹿な、不条理な、馬鹿馬鹿しい</a:t>
                      </a:r>
                    </a:p>
                  </a:txBody>
                  <a:tcPr marL="0" marR="0" marT="279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68513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意味の下落</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770"/>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歴史的意味変化をより深く</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ct val="100000"/>
              </a:lnSpc>
              <a:spcBef>
                <a:spcPts val="640"/>
              </a:spcBef>
              <a:spcAft>
                <a:spcPts val="0"/>
              </a:spcAft>
              <a:buClrTx/>
              <a:buSzTx/>
              <a:buFontTx/>
              <a:buNone/>
              <a:tabLst/>
              <a:defRPr/>
            </a:pPr>
            <a:r>
              <a:rPr kumimoji="0" lang="ja-JP" altLang="en-US" sz="2400" b="1" i="0" u="none" strike="noStrike" kern="1200" cap="none" spc="-100" normalizeH="0" baseline="0" noProof="0" dirty="0">
                <a:ln>
                  <a:noFill/>
                </a:ln>
                <a:solidFill>
                  <a:prstClr val="black"/>
                </a:solidFill>
                <a:effectLst/>
                <a:uLnTx/>
                <a:uFillTx/>
                <a:latin typeface="Yu Gothic"/>
                <a:ea typeface="+mn-ea"/>
                <a:cs typeface="Yu Gothic"/>
              </a:rPr>
              <a:t>幸福な</a:t>
            </a:r>
            <a:r>
              <a:rPr kumimoji="0" lang="ja-JP" altLang="en-US" sz="2400" b="0" i="0" u="none" strike="noStrike" kern="1200" cap="none" spc="-100" normalizeH="0" baseline="0" noProof="0" dirty="0">
                <a:ln>
                  <a:noFill/>
                </a:ln>
                <a:solidFill>
                  <a:prstClr val="black"/>
                </a:solidFill>
                <a:effectLst/>
                <a:uLnTx/>
                <a:uFillTx/>
                <a:latin typeface="Yu Gothic"/>
                <a:ea typeface="+mn-ea"/>
                <a:cs typeface="Yu Gothic"/>
              </a:rPr>
              <a:t>ものは</a:t>
            </a:r>
            <a:r>
              <a:rPr kumimoji="0" lang="ja-JP" altLang="en-US" sz="2400" b="1" i="0" u="none" strike="noStrike" kern="1200" cap="none" spc="-100" normalizeH="0" baseline="0" noProof="0" dirty="0">
                <a:ln>
                  <a:noFill/>
                </a:ln>
                <a:solidFill>
                  <a:prstClr val="black"/>
                </a:solidFill>
                <a:effectLst/>
                <a:uLnTx/>
                <a:uFillTx/>
                <a:latin typeface="Yu Gothic"/>
                <a:ea typeface="+mn-ea"/>
                <a:cs typeface="Yu Gothic"/>
              </a:rPr>
              <a:t>神の加護を受けた</a:t>
            </a:r>
            <a:r>
              <a:rPr kumimoji="0" lang="ja-JP" altLang="en-US" sz="2400" b="0" i="0" u="none" strike="noStrike" kern="1200" cap="none" spc="-100" normalizeH="0" baseline="0" noProof="0" dirty="0">
                <a:ln>
                  <a:noFill/>
                </a:ln>
                <a:solidFill>
                  <a:prstClr val="black"/>
                </a:solidFill>
                <a:effectLst/>
                <a:uLnTx/>
                <a:uFillTx/>
                <a:latin typeface="Yu Gothic"/>
                <a:ea typeface="+mn-ea"/>
                <a:cs typeface="Yu Gothic"/>
              </a:rPr>
              <a:t>ものと考えられる。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276860" lvl="0" indent="0" algn="l" defTabSz="914400" rtl="0" eaLnBrk="1" fontAlgn="auto" latinLnBrk="0" hangingPunct="1">
              <a:lnSpc>
                <a:spcPts val="2590"/>
              </a:lnSpc>
              <a:spcBef>
                <a:spcPts val="1025"/>
              </a:spcBef>
              <a:spcAft>
                <a:spcPts val="0"/>
              </a:spcAft>
              <a:buClrTx/>
              <a:buSzTx/>
              <a:buFontTx/>
              <a:buNone/>
              <a:tabLst/>
              <a:defRPr/>
            </a:pPr>
            <a:r>
              <a:rPr kumimoji="0" lang="ja-JP" altLang="en-US" sz="2400" b="1" i="0" u="none" strike="noStrike" kern="1200" cap="none" spc="-100" normalizeH="0" baseline="0" noProof="0" dirty="0">
                <a:ln>
                  <a:noFill/>
                </a:ln>
                <a:solidFill>
                  <a:prstClr val="black"/>
                </a:solidFill>
                <a:effectLst/>
                <a:uLnTx/>
                <a:uFillTx/>
                <a:latin typeface="Yu Gothic"/>
                <a:ea typeface="+mn-ea"/>
                <a:cs typeface="Yu Gothic"/>
              </a:rPr>
              <a:t>神の加護を受けた</a:t>
            </a:r>
            <a:r>
              <a:rPr kumimoji="0" lang="ja-JP" altLang="en-US" sz="2400" b="0" i="0" u="none" strike="noStrike" kern="1200" cap="none" spc="-100" normalizeH="0" baseline="0" noProof="0" dirty="0">
                <a:ln>
                  <a:noFill/>
                </a:ln>
                <a:solidFill>
                  <a:prstClr val="black"/>
                </a:solidFill>
                <a:effectLst/>
                <a:uLnTx/>
                <a:uFillTx/>
                <a:latin typeface="Yu Gothic"/>
                <a:ea typeface="+mn-ea"/>
                <a:cs typeface="Yu Gothic"/>
              </a:rPr>
              <a:t>ものは</a:t>
            </a:r>
            <a:r>
              <a:rPr kumimoji="0" lang="ja-JP" altLang="en-US" sz="2400" b="1" i="0" u="none" strike="noStrike" kern="1200" cap="none" spc="-100" normalizeH="0" baseline="0" noProof="0" dirty="0">
                <a:ln>
                  <a:noFill/>
                </a:ln>
                <a:solidFill>
                  <a:prstClr val="black"/>
                </a:solidFill>
                <a:effectLst/>
                <a:uLnTx/>
                <a:uFillTx/>
                <a:latin typeface="Yu Gothic"/>
                <a:ea typeface="+mn-ea"/>
                <a:cs typeface="Yu Gothic"/>
              </a:rPr>
              <a:t>神聖</a:t>
            </a:r>
            <a:r>
              <a:rPr kumimoji="0" lang="ja-JP" altLang="en-US" sz="2400" b="0" i="0" u="none" strike="noStrike" kern="1200" cap="none" spc="-100" normalizeH="0" baseline="0" noProof="0" dirty="0">
                <a:ln>
                  <a:noFill/>
                </a:ln>
                <a:solidFill>
                  <a:prstClr val="black"/>
                </a:solidFill>
                <a:effectLst/>
                <a:uLnTx/>
                <a:uFillTx/>
                <a:latin typeface="Yu Gothic"/>
                <a:ea typeface="+mn-ea"/>
                <a:cs typeface="Yu Gothic"/>
              </a:rPr>
              <a:t>でとても</a:t>
            </a:r>
            <a:r>
              <a:rPr kumimoji="0" lang="ja-JP" altLang="en-US" sz="2400" b="1" i="0" u="none" strike="noStrike" kern="1200" cap="none" spc="-100" normalizeH="0" baseline="0" noProof="0" dirty="0">
                <a:ln>
                  <a:noFill/>
                </a:ln>
                <a:solidFill>
                  <a:prstClr val="black"/>
                </a:solidFill>
                <a:effectLst/>
                <a:uLnTx/>
                <a:uFillTx/>
                <a:latin typeface="Yu Gothic"/>
                <a:ea typeface="+mn-ea"/>
                <a:cs typeface="Yu Gothic"/>
              </a:rPr>
              <a:t>無垢</a:t>
            </a:r>
            <a:r>
              <a:rPr kumimoji="0" lang="ja-JP" altLang="en-US" sz="2400" b="1" i="0" u="none" strike="noStrike" kern="1200" cap="none" spc="-105" normalizeH="0" baseline="0" noProof="0" dirty="0">
                <a:ln>
                  <a:noFill/>
                </a:ln>
                <a:solidFill>
                  <a:prstClr val="black"/>
                </a:solidFill>
                <a:effectLst/>
                <a:uLnTx/>
                <a:uFillTx/>
                <a:latin typeface="Yu Gothic"/>
                <a:ea typeface="+mn-ea"/>
                <a:cs typeface="Yu Gothic"/>
              </a:rPr>
              <a:t>な</a:t>
            </a:r>
            <a:r>
              <a:rPr kumimoji="0" lang="ja-JP" altLang="en-US" sz="2400" b="0" i="0" u="none" strike="noStrike" kern="1200" cap="none" spc="-95" normalizeH="0" baseline="0" noProof="0" dirty="0">
                <a:ln>
                  <a:noFill/>
                </a:ln>
                <a:solidFill>
                  <a:prstClr val="black"/>
                </a:solidFill>
                <a:effectLst/>
                <a:uLnTx/>
                <a:uFillTx/>
                <a:latin typeface="Yu Gothic"/>
                <a:ea typeface="+mn-ea"/>
                <a:cs typeface="Yu Gothic"/>
              </a:rPr>
              <a:t>ものであり、そしてそれは小 </a:t>
            </a:r>
            <a:r>
              <a:rPr kumimoji="0" lang="ja-JP" altLang="en-US" sz="2400" b="0" i="0" u="none" strike="noStrike" kern="1200" cap="none" spc="-100" normalizeH="0" baseline="0" noProof="0" dirty="0">
                <a:ln>
                  <a:noFill/>
                </a:ln>
                <a:solidFill>
                  <a:prstClr val="black"/>
                </a:solidFill>
                <a:effectLst/>
                <a:uLnTx/>
                <a:uFillTx/>
                <a:latin typeface="Yu Gothic"/>
                <a:ea typeface="+mn-ea"/>
                <a:cs typeface="Yu Gothic"/>
              </a:rPr>
              <a:t>動物や幼い子どものよう</a:t>
            </a:r>
            <a:r>
              <a:rPr kumimoji="0" lang="ja-JP" altLang="en-US" sz="2400" b="0" i="0" u="none" strike="noStrike" kern="1200" cap="none" spc="-95" normalizeH="0" baseline="0" noProof="0" dirty="0">
                <a:ln>
                  <a:noFill/>
                </a:ln>
                <a:solidFill>
                  <a:prstClr val="black"/>
                </a:solidFill>
                <a:effectLst/>
                <a:uLnTx/>
                <a:uFillTx/>
                <a:latin typeface="Yu Gothic"/>
                <a:ea typeface="+mn-ea"/>
                <a:cs typeface="Yu Gothic"/>
              </a:rPr>
              <a:t>に</a:t>
            </a:r>
            <a:r>
              <a:rPr kumimoji="0" lang="ja-JP" altLang="en-US" sz="2400" b="1" i="0" u="none" strike="noStrike" kern="1200" cap="none" spc="-100" normalizeH="0" baseline="0" noProof="0" dirty="0">
                <a:ln>
                  <a:noFill/>
                </a:ln>
                <a:solidFill>
                  <a:prstClr val="black"/>
                </a:solidFill>
                <a:effectLst/>
                <a:uLnTx/>
                <a:uFillTx/>
                <a:latin typeface="Yu Gothic"/>
                <a:ea typeface="+mn-ea"/>
                <a:cs typeface="Yu Gothic"/>
              </a:rPr>
              <a:t>無害</a:t>
            </a:r>
            <a:r>
              <a:rPr kumimoji="0" lang="ja-JP" altLang="en-US" sz="2400" b="0" i="0" u="none" strike="noStrike" kern="1200" cap="none" spc="-100" normalizeH="0" baseline="0" noProof="0" dirty="0">
                <a:ln>
                  <a:noFill/>
                </a:ln>
                <a:solidFill>
                  <a:prstClr val="black"/>
                </a:solidFill>
                <a:effectLst/>
                <a:uLnTx/>
                <a:uFillTx/>
                <a:latin typeface="Yu Gothic"/>
                <a:ea typeface="+mn-ea"/>
                <a:cs typeface="Yu Gothic"/>
              </a:rPr>
              <a:t>で</a:t>
            </a:r>
            <a:r>
              <a:rPr kumimoji="0" lang="ja-JP" altLang="en-US" sz="2400" b="1" i="0" u="none" strike="noStrike" kern="1200" cap="none" spc="-100" normalizeH="0" baseline="0" noProof="0" dirty="0">
                <a:ln>
                  <a:noFill/>
                </a:ln>
                <a:solidFill>
                  <a:prstClr val="black"/>
                </a:solidFill>
                <a:effectLst/>
                <a:uLnTx/>
                <a:uFillTx/>
                <a:latin typeface="Yu Gothic"/>
                <a:ea typeface="+mn-ea"/>
                <a:cs typeface="Yu Gothic"/>
              </a:rPr>
              <a:t>無防備な</a:t>
            </a:r>
            <a:r>
              <a:rPr kumimoji="0" lang="ja-JP" altLang="en-US" sz="2400" b="0" i="0" u="none" strike="noStrike" kern="1200" cap="none" spc="-100" normalizeH="0" baseline="0" noProof="0" dirty="0">
                <a:ln>
                  <a:noFill/>
                </a:ln>
                <a:solidFill>
                  <a:prstClr val="black"/>
                </a:solidFill>
                <a:effectLst/>
                <a:uLnTx/>
                <a:uFillTx/>
                <a:latin typeface="Yu Gothic"/>
                <a:ea typeface="+mn-ea"/>
                <a:cs typeface="Yu Gothic"/>
              </a:rPr>
              <a:t>ものともいえる。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276225" lvl="0" indent="0" algn="l" defTabSz="914400" rtl="0" eaLnBrk="1" fontAlgn="auto" latinLnBrk="0" hangingPunct="1">
              <a:lnSpc>
                <a:spcPts val="2590"/>
              </a:lnSpc>
              <a:spcBef>
                <a:spcPts val="1000"/>
              </a:spcBef>
              <a:spcAft>
                <a:spcPts val="0"/>
              </a:spcAft>
              <a:buClrTx/>
              <a:buSzTx/>
              <a:buFontTx/>
              <a:buNone/>
              <a:tabLst/>
              <a:defRPr/>
            </a:pPr>
            <a:r>
              <a:rPr kumimoji="0" lang="ja-JP" altLang="en-US" sz="2400" b="0" i="0" u="none" strike="noStrike" kern="1200" cap="none" spc="-105" normalizeH="0" baseline="0" noProof="0" dirty="0">
                <a:ln>
                  <a:noFill/>
                </a:ln>
                <a:solidFill>
                  <a:prstClr val="black"/>
                </a:solidFill>
                <a:effectLst/>
                <a:uLnTx/>
                <a:uFillTx/>
                <a:latin typeface="Yu Gothic"/>
                <a:ea typeface="+mn-ea"/>
                <a:cs typeface="Yu Gothic"/>
              </a:rPr>
              <a:t>そして自分自身の身を守れなかったり力がない場合、その者</a:t>
            </a:r>
            <a:r>
              <a:rPr kumimoji="0" lang="ja-JP" altLang="en-US" sz="2400" b="0" i="0" u="none" strike="noStrike" kern="1200" cap="none" spc="-95" normalizeH="0" baseline="0" noProof="0" dirty="0">
                <a:ln>
                  <a:noFill/>
                </a:ln>
                <a:solidFill>
                  <a:prstClr val="black"/>
                </a:solidFill>
                <a:effectLst/>
                <a:uLnTx/>
                <a:uFillTx/>
                <a:latin typeface="Yu Gothic"/>
                <a:ea typeface="+mn-ea"/>
                <a:cs typeface="Yu Gothic"/>
              </a:rPr>
              <a:t>は</a:t>
            </a:r>
            <a:r>
              <a:rPr kumimoji="0" lang="ja-JP" altLang="en-US" sz="2400" b="1" i="0" u="none" strike="noStrike" kern="1200" cap="none" spc="-105" normalizeH="0" baseline="0" noProof="0" dirty="0">
                <a:ln>
                  <a:noFill/>
                </a:ln>
                <a:solidFill>
                  <a:prstClr val="black"/>
                </a:solidFill>
                <a:effectLst/>
                <a:uLnTx/>
                <a:uFillTx/>
                <a:latin typeface="Yu Gothic"/>
                <a:ea typeface="+mn-ea"/>
                <a:cs typeface="Yu Gothic"/>
              </a:rPr>
              <a:t>無価値</a:t>
            </a:r>
            <a:r>
              <a:rPr kumimoji="0" lang="ja-JP" altLang="en-US" sz="2400" b="0" i="0" u="none" strike="noStrike" kern="1200" cap="none" spc="-105" normalizeH="0" baseline="0" noProof="0" dirty="0">
                <a:ln>
                  <a:noFill/>
                </a:ln>
                <a:solidFill>
                  <a:prstClr val="black"/>
                </a:solidFill>
                <a:effectLst/>
                <a:uLnTx/>
                <a:uFillTx/>
                <a:latin typeface="Yu Gothic"/>
                <a:ea typeface="+mn-ea"/>
                <a:cs typeface="Yu Gothic"/>
              </a:rPr>
              <a:t>で</a:t>
            </a:r>
            <a:r>
              <a:rPr kumimoji="0" lang="ja-JP" altLang="en-US" sz="2400" b="1" i="0" u="none" strike="noStrike" kern="1200" cap="none" spc="-100" normalizeH="0" baseline="0" noProof="0" dirty="0">
                <a:ln>
                  <a:noFill/>
                </a:ln>
                <a:solidFill>
                  <a:prstClr val="black"/>
                </a:solidFill>
                <a:effectLst/>
                <a:uLnTx/>
                <a:uFillTx/>
                <a:latin typeface="Yu Gothic"/>
                <a:ea typeface="+mn-ea"/>
                <a:cs typeface="Yu Gothic"/>
              </a:rPr>
              <a:t>惨 め</a:t>
            </a:r>
            <a:r>
              <a:rPr kumimoji="0" lang="ja-JP" altLang="en-US" sz="2400" b="0" i="0" u="none" strike="noStrike" kern="1200" cap="none" spc="-100" normalizeH="0" baseline="0" noProof="0" dirty="0">
                <a:ln>
                  <a:noFill/>
                </a:ln>
                <a:solidFill>
                  <a:prstClr val="black"/>
                </a:solidFill>
                <a:effectLst/>
                <a:uLnTx/>
                <a:uFillTx/>
                <a:latin typeface="Yu Gothic"/>
                <a:ea typeface="+mn-ea"/>
                <a:cs typeface="Yu Gothic"/>
              </a:rPr>
              <a:t>だと見做され得る。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ct val="100000"/>
              </a:lnSpc>
              <a:spcBef>
                <a:spcPts val="575"/>
              </a:spcBef>
              <a:spcAft>
                <a:spcPts val="0"/>
              </a:spcAft>
              <a:buClrTx/>
              <a:buSzTx/>
              <a:buFontTx/>
              <a:buNone/>
              <a:tabLst/>
              <a:defRPr/>
            </a:pPr>
            <a:r>
              <a:rPr kumimoji="0" lang="ja-JP" altLang="en-US" sz="2400" b="0" i="0" u="none" strike="noStrike" kern="1200" cap="none" spc="-100" normalizeH="0" baseline="0" noProof="0" dirty="0">
                <a:ln>
                  <a:noFill/>
                </a:ln>
                <a:solidFill>
                  <a:prstClr val="black"/>
                </a:solidFill>
                <a:effectLst/>
                <a:uLnTx/>
                <a:uFillTx/>
                <a:latin typeface="Yu Gothic"/>
                <a:ea typeface="+mn-ea"/>
                <a:cs typeface="Yu Gothic"/>
              </a:rPr>
              <a:t>この意味から馬鹿なものを表すように意味が大きく変化したようだ。</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0" marR="0" lvl="0" indent="0" algn="r" defTabSz="914400" rtl="0" eaLnBrk="1" fontAlgn="auto" latinLnBrk="0" hangingPunct="1">
              <a:lnSpc>
                <a:spcPct val="100000"/>
              </a:lnSpc>
              <a:spcBef>
                <a:spcPts val="810"/>
              </a:spcBef>
              <a:spcAft>
                <a:spcPts val="0"/>
              </a:spcAft>
              <a:buClrTx/>
              <a:buSzTx/>
              <a:buFontTx/>
              <a:buNone/>
              <a:tabLst/>
              <a:defRPr/>
            </a:pPr>
            <a:r>
              <a:rPr kumimoji="0" lang="ja-JP" altLang="en-US" sz="1800" b="0" i="0" u="none" strike="noStrike" kern="1200" cap="none" spc="0" normalizeH="0" baseline="0" noProof="0" dirty="0">
                <a:ln>
                  <a:noFill/>
                </a:ln>
                <a:solidFill>
                  <a:prstClr val="black"/>
                </a:solidFill>
                <a:effectLst/>
                <a:uLnTx/>
                <a:uFillTx/>
                <a:latin typeface="Yu Gothic"/>
                <a:ea typeface="+mn-ea"/>
                <a:cs typeface="Yu Gothic"/>
              </a:rPr>
              <a:t>参考</a:t>
            </a:r>
            <a:r>
              <a:rPr kumimoji="0" lang="en-US" altLang="ja-JP" sz="18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1800" b="0" i="0" u="none" strike="noStrike" kern="1200" cap="none" spc="10" normalizeH="0" baseline="0" noProof="0" dirty="0">
                <a:ln>
                  <a:noFill/>
                </a:ln>
                <a:solidFill>
                  <a:prstClr val="black"/>
                </a:solidFill>
                <a:effectLst/>
                <a:uLnTx/>
                <a:uFillTx/>
                <a:latin typeface="Calibri"/>
                <a:ea typeface="+mn-ea"/>
                <a:cs typeface="Calibri"/>
              </a:rPr>
              <a:t> </a:t>
            </a:r>
            <a:r>
              <a:rPr kumimoji="0" lang="en-US" altLang="ja-JP" sz="1800" b="0" i="0" u="heavy" strike="noStrike" kern="1200" cap="none" spc="-15" normalizeH="0" baseline="0" noProof="0" dirty="0">
                <a:ln>
                  <a:noFill/>
                </a:ln>
                <a:solidFill>
                  <a:srgbClr val="0462C1"/>
                </a:solidFill>
                <a:effectLst/>
                <a:uLnTx/>
                <a:uFill>
                  <a:solidFill>
                    <a:srgbClr val="0462C1"/>
                  </a:solidFill>
                </a:uFill>
                <a:latin typeface="Calibri"/>
                <a:ea typeface="+mn-ea"/>
                <a:cs typeface="Calibri"/>
                <a:hlinkClick r:id="rId3"/>
              </a:rPr>
              <a:t>Dictionary.com</a:t>
            </a:r>
            <a:r>
              <a:rPr kumimoji="0" lang="ja-JP" altLang="en-US" sz="1800" b="0" i="0" u="none" strike="noStrike" kern="1200" cap="none" spc="30" normalizeH="0" baseline="0" noProof="0" dirty="0">
                <a:ln>
                  <a:noFill/>
                </a:ln>
                <a:solidFill>
                  <a:srgbClr val="0462C1"/>
                </a:solidFill>
                <a:effectLst/>
                <a:uLnTx/>
                <a:uFillTx/>
                <a:latin typeface="Calibri"/>
                <a:ea typeface="+mn-ea"/>
                <a:cs typeface="Calibri"/>
                <a:hlinkClick r:id="rId3"/>
              </a:rPr>
              <a:t> </a:t>
            </a:r>
            <a:r>
              <a:rPr kumimoji="0" lang="en-US" altLang="ja-JP" sz="1800" b="0" i="1" u="none" strike="noStrike" kern="1200" cap="none" spc="0" normalizeH="0" baseline="0" noProof="0" dirty="0">
                <a:ln>
                  <a:noFill/>
                </a:ln>
                <a:solidFill>
                  <a:prstClr val="black"/>
                </a:solidFill>
                <a:effectLst/>
                <a:uLnTx/>
                <a:uFillTx/>
                <a:latin typeface="Calibri"/>
                <a:ea typeface="+mn-ea"/>
                <a:cs typeface="Calibri"/>
              </a:rPr>
              <a:t>&gt; </a:t>
            </a:r>
            <a:r>
              <a:rPr kumimoji="0" lang="en-US" altLang="ja-JP" sz="18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4"/>
              </a:rPr>
              <a:t>Silly</a:t>
            </a:r>
            <a:r>
              <a:rPr kumimoji="0" lang="ja-JP" altLang="en-US" sz="1800" b="0" i="0" u="none" strike="noStrike" kern="1200" cap="none" spc="15" normalizeH="0" baseline="0" noProof="0" dirty="0">
                <a:ln>
                  <a:noFill/>
                </a:ln>
                <a:solidFill>
                  <a:srgbClr val="0462C1"/>
                </a:solidFill>
                <a:effectLst/>
                <a:uLnTx/>
                <a:uFillTx/>
                <a:latin typeface="Calibri"/>
                <a:ea typeface="+mn-ea"/>
                <a:cs typeface="Calibri"/>
                <a:hlinkClick r:id="rId4"/>
              </a:rPr>
              <a:t> </a:t>
            </a:r>
            <a:r>
              <a:rPr kumimoji="0" lang="en-US" altLang="ja-JP" sz="1800" b="0" i="0" u="none" strike="noStrike" kern="1200" cap="none" spc="0" normalizeH="0" baseline="0" noProof="0" dirty="0">
                <a:ln>
                  <a:noFill/>
                </a:ln>
                <a:solidFill>
                  <a:prstClr val="black"/>
                </a:solidFill>
                <a:effectLst/>
                <a:uLnTx/>
                <a:uFillTx/>
                <a:latin typeface="Calibri"/>
                <a:ea typeface="+mn-ea"/>
                <a:cs typeface="Calibri"/>
              </a:rPr>
              <a:t>&gt;</a:t>
            </a:r>
            <a:r>
              <a:rPr kumimoji="0" lang="ja-JP" altLang="en-US" sz="1800" b="0" i="0" u="none" strike="noStrike" kern="1200" cap="none" spc="15" normalizeH="0" baseline="0" noProof="0" dirty="0">
                <a:ln>
                  <a:noFill/>
                </a:ln>
                <a:solidFill>
                  <a:prstClr val="black"/>
                </a:solidFill>
                <a:effectLst/>
                <a:uLnTx/>
                <a:uFillTx/>
                <a:latin typeface="Calibri"/>
                <a:ea typeface="+mn-ea"/>
                <a:cs typeface="Calibri"/>
              </a:rPr>
              <a:t> </a:t>
            </a:r>
            <a:r>
              <a:rPr kumimoji="0" lang="en-US" altLang="ja-JP" sz="18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5"/>
              </a:rPr>
              <a:t>MORE</a:t>
            </a:r>
            <a:r>
              <a:rPr kumimoji="0" lang="ja-JP" altLang="en-US" sz="18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5"/>
              </a:rPr>
              <a:t> </a:t>
            </a:r>
            <a:r>
              <a:rPr kumimoji="0" lang="en-US" altLang="ja-JP" sz="18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5"/>
              </a:rPr>
              <a:t>ABOUT</a:t>
            </a:r>
            <a:r>
              <a:rPr kumimoji="0" lang="ja-JP" altLang="en-US" sz="1800" b="0" i="0" u="heavy" strike="noStrike" kern="1200" cap="none" spc="-15" normalizeH="0" baseline="0" noProof="0" dirty="0">
                <a:ln>
                  <a:noFill/>
                </a:ln>
                <a:solidFill>
                  <a:srgbClr val="0462C1"/>
                </a:solidFill>
                <a:effectLst/>
                <a:uLnTx/>
                <a:uFill>
                  <a:solidFill>
                    <a:srgbClr val="0462C1"/>
                  </a:solidFill>
                </a:uFill>
                <a:latin typeface="Calibri"/>
                <a:ea typeface="+mn-ea"/>
                <a:cs typeface="Calibri"/>
                <a:hlinkClick r:id="rId5"/>
              </a:rPr>
              <a:t> </a:t>
            </a:r>
            <a:r>
              <a:rPr kumimoji="0" lang="en-US" altLang="ja-JP" sz="1800" b="0" i="0" u="heavy" strike="noStrike" kern="1200" cap="none" spc="-35" normalizeH="0" baseline="0" noProof="0" dirty="0">
                <a:ln>
                  <a:noFill/>
                </a:ln>
                <a:solidFill>
                  <a:srgbClr val="0462C1"/>
                </a:solidFill>
                <a:effectLst/>
                <a:uLnTx/>
                <a:uFill>
                  <a:solidFill>
                    <a:srgbClr val="0462C1"/>
                  </a:solidFill>
                </a:uFill>
                <a:latin typeface="Calibri"/>
                <a:ea typeface="+mn-ea"/>
                <a:cs typeface="Calibri"/>
                <a:hlinkClick r:id="rId5"/>
              </a:rPr>
              <a:t>SILLY</a:t>
            </a:r>
            <a:r>
              <a:rPr kumimoji="0" lang="ja-JP" altLang="en-US" sz="1800" b="0" i="0" u="none" strike="noStrike" kern="1200" cap="none" spc="15" normalizeH="0" baseline="0" noProof="0" dirty="0">
                <a:ln>
                  <a:noFill/>
                </a:ln>
                <a:solidFill>
                  <a:srgbClr val="0462C1"/>
                </a:solidFill>
                <a:effectLst/>
                <a:uLnTx/>
                <a:uFillTx/>
                <a:latin typeface="Calibri"/>
                <a:ea typeface="+mn-ea"/>
                <a:cs typeface="Calibri"/>
                <a:hlinkClick r:id="rId5"/>
              </a:rPr>
              <a:t> </a:t>
            </a:r>
            <a:r>
              <a:rPr kumimoji="0" lang="en-US" altLang="ja-JP" sz="1800" b="0" i="0" u="none" strike="noStrike" kern="1200" cap="none" spc="0" normalizeH="0" baseline="0" noProof="0" dirty="0">
                <a:ln>
                  <a:noFill/>
                </a:ln>
                <a:solidFill>
                  <a:prstClr val="black"/>
                </a:solidFill>
                <a:effectLst/>
                <a:uLnTx/>
                <a:uFillTx/>
                <a:latin typeface="Calibri"/>
                <a:ea typeface="+mn-ea"/>
                <a:cs typeface="Calibri"/>
              </a:rPr>
              <a:t>&gt; </a:t>
            </a:r>
            <a:r>
              <a:rPr kumimoji="0" lang="en-US" altLang="ja-JP" sz="1800" b="0" i="0" u="none" strike="noStrike" kern="1200" cap="none" spc="-5" normalizeH="0" baseline="0" noProof="0" dirty="0">
                <a:ln>
                  <a:noFill/>
                </a:ln>
                <a:solidFill>
                  <a:prstClr val="black"/>
                </a:solidFill>
                <a:effectLst/>
                <a:uLnTx/>
                <a:uFillTx/>
                <a:latin typeface="Calibri"/>
                <a:ea typeface="+mn-ea"/>
                <a:cs typeface="Calibri"/>
              </a:rPr>
              <a:t>Dig</a:t>
            </a:r>
            <a:r>
              <a:rPr kumimoji="0" lang="ja-JP" altLang="en-US" sz="1800" b="0" i="0" u="none" strike="noStrike" kern="1200" cap="none" spc="5" normalizeH="0" baseline="0" noProof="0" dirty="0">
                <a:ln>
                  <a:noFill/>
                </a:ln>
                <a:solidFill>
                  <a:prstClr val="black"/>
                </a:solidFill>
                <a:effectLst/>
                <a:uLnTx/>
                <a:uFillTx/>
                <a:latin typeface="Calibri"/>
                <a:ea typeface="+mn-ea"/>
                <a:cs typeface="Calibri"/>
              </a:rPr>
              <a:t> </a:t>
            </a:r>
            <a:r>
              <a:rPr kumimoji="0" lang="en-US" altLang="ja-JP" sz="1800" b="0" i="0" u="none" strike="noStrike" kern="1200" cap="none" spc="-5" normalizeH="0" baseline="0" noProof="0" dirty="0">
                <a:ln>
                  <a:noFill/>
                </a:ln>
                <a:solidFill>
                  <a:prstClr val="black"/>
                </a:solidFill>
                <a:effectLst/>
                <a:uLnTx/>
                <a:uFillTx/>
                <a:latin typeface="Calibri"/>
                <a:ea typeface="+mn-ea"/>
                <a:cs typeface="Calibri"/>
              </a:rPr>
              <a:t>Deeper</a:t>
            </a:r>
            <a:endParaRPr kumimoji="0" lang="ja-JP" altLang="en-US" sz="1800" b="0" i="0" u="none" strike="noStrike" kern="120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442999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意味の下落</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98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同義語とのニュアンスの違い</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280670" marR="0" lvl="0" indent="-268605" algn="l" defTabSz="914400" rtl="0" eaLnBrk="1" fontAlgn="auto" latinLnBrk="0" hangingPunct="1">
              <a:lnSpc>
                <a:spcPct val="100000"/>
              </a:lnSpc>
              <a:spcBef>
                <a:spcPts val="760"/>
              </a:spcBef>
              <a:spcAft>
                <a:spcPts val="0"/>
              </a:spcAft>
              <a:buClrTx/>
              <a:buSzTx/>
              <a:buFont typeface="Arial MT"/>
              <a:buChar char="•"/>
              <a:tabLst>
                <a:tab pos="280670" algn="l"/>
                <a:tab pos="281305" algn="l"/>
              </a:tabLst>
              <a:defRPr/>
            </a:pPr>
            <a:r>
              <a:rPr kumimoji="0" lang="en-GB" sz="2400" b="0" i="1" u="none" strike="noStrike" kern="1200" cap="none" spc="0" normalizeH="0" baseline="0" noProof="0" dirty="0">
                <a:ln>
                  <a:noFill/>
                </a:ln>
                <a:solidFill>
                  <a:prstClr val="black"/>
                </a:solidFill>
                <a:effectLst/>
                <a:uLnTx/>
                <a:uFillTx/>
                <a:latin typeface="Calibri"/>
                <a:ea typeface="+mn-ea"/>
                <a:cs typeface="Calibri"/>
              </a:rPr>
              <a:t>A</a:t>
            </a:r>
            <a:r>
              <a:rPr kumimoji="0" lang="en-GB" sz="2400" b="0" i="1" u="none" strike="noStrike" kern="1200" cap="none" spc="-20"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friend</a:t>
            </a:r>
            <a:r>
              <a:rPr kumimoji="0" lang="en-GB" sz="2400" b="0" i="1" u="none" strike="noStrike" kern="1200" cap="none" spc="-10" normalizeH="0" baseline="0" noProof="0" dirty="0">
                <a:ln>
                  <a:noFill/>
                </a:ln>
                <a:solidFill>
                  <a:prstClr val="black"/>
                </a:solidFill>
                <a:effectLst/>
                <a:uLnTx/>
                <a:uFillTx/>
                <a:latin typeface="Calibri"/>
                <a:ea typeface="+mn-ea"/>
                <a:cs typeface="Calibri"/>
              </a:rPr>
              <a:t> </a:t>
            </a:r>
            <a:r>
              <a:rPr kumimoji="0" lang="en-GB" sz="2400" b="0" i="1" u="none" strike="noStrike" kern="1200" cap="none" spc="0" normalizeH="0" baseline="0" noProof="0" dirty="0">
                <a:ln>
                  <a:noFill/>
                </a:ln>
                <a:solidFill>
                  <a:prstClr val="black"/>
                </a:solidFill>
                <a:effectLst/>
                <a:uLnTx/>
                <a:uFillTx/>
                <a:latin typeface="Calibri"/>
                <a:ea typeface="+mn-ea"/>
                <a:cs typeface="Calibri"/>
              </a:rPr>
              <a:t>of</a:t>
            </a:r>
            <a:r>
              <a:rPr kumimoji="0" lang="en-GB" sz="2400" b="0" i="1" u="none" strike="noStrike" kern="1200" cap="none" spc="5"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mine</a:t>
            </a:r>
            <a:r>
              <a:rPr kumimoji="0" lang="en-GB" sz="2400" b="0" i="1" u="none" strike="noStrike" kern="1200" cap="none" spc="-10" normalizeH="0" baseline="0" noProof="0" dirty="0">
                <a:ln>
                  <a:noFill/>
                </a:ln>
                <a:solidFill>
                  <a:prstClr val="black"/>
                </a:solidFill>
                <a:effectLst/>
                <a:uLnTx/>
                <a:uFillTx/>
                <a:latin typeface="Calibri"/>
                <a:ea typeface="+mn-ea"/>
                <a:cs typeface="Calibri"/>
              </a:rPr>
              <a:t> often </a:t>
            </a:r>
            <a:r>
              <a:rPr kumimoji="0" lang="en-GB" sz="2400" b="0" i="1" u="none" strike="noStrike" kern="1200" cap="none" spc="-5" normalizeH="0" baseline="0" noProof="0" dirty="0">
                <a:ln>
                  <a:noFill/>
                </a:ln>
                <a:solidFill>
                  <a:prstClr val="black"/>
                </a:solidFill>
                <a:effectLst/>
                <a:uLnTx/>
                <a:uFillTx/>
                <a:latin typeface="Calibri"/>
                <a:ea typeface="+mn-ea"/>
                <a:cs typeface="Calibri"/>
              </a:rPr>
              <a:t>tells</a:t>
            </a:r>
            <a:r>
              <a:rPr kumimoji="0" lang="en-GB" sz="2400" b="0" i="1" u="none" strike="noStrike" kern="1200" cap="none" spc="-15"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me, </a:t>
            </a:r>
            <a:r>
              <a:rPr kumimoji="0" lang="en-GB" sz="2400" b="0" i="1" u="none" strike="noStrike" kern="1200" cap="none" spc="-45" normalizeH="0" baseline="0" noProof="0" dirty="0">
                <a:ln>
                  <a:noFill/>
                </a:ln>
                <a:solidFill>
                  <a:prstClr val="black"/>
                </a:solidFill>
                <a:effectLst/>
                <a:uLnTx/>
                <a:uFillTx/>
                <a:latin typeface="Calibri"/>
                <a:ea typeface="+mn-ea"/>
                <a:cs typeface="Calibri"/>
              </a:rPr>
              <a:t>"You</a:t>
            </a:r>
            <a:r>
              <a:rPr kumimoji="0" lang="en-GB" sz="2400" b="0" i="1" u="none" strike="noStrike" kern="1200" cap="none" spc="15"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are</a:t>
            </a:r>
            <a:r>
              <a:rPr kumimoji="0" lang="en-GB" sz="2400" b="0" i="1" u="none" strike="noStrike" kern="1200" cap="none" spc="-15"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stupid".</a:t>
            </a:r>
            <a:endParaRPr kumimoji="0" lang="en-GB" sz="2400" b="0" i="0" u="none" strike="noStrike" kern="1200" cap="none" spc="0" normalizeH="0" baseline="0" noProof="0" dirty="0">
              <a:ln>
                <a:noFill/>
              </a:ln>
              <a:solidFill>
                <a:prstClr val="black"/>
              </a:solidFill>
              <a:effectLst/>
              <a:uLnTx/>
              <a:uFillTx/>
              <a:latin typeface="Calibri"/>
              <a:ea typeface="+mn-ea"/>
              <a:cs typeface="Calibri"/>
            </a:endParaRPr>
          </a:p>
          <a:p>
            <a:pPr marL="730250" marR="0" lvl="1" indent="-260985" algn="l" defTabSz="914400" rtl="0" eaLnBrk="1" fontAlgn="auto" latinLnBrk="0" hangingPunct="1">
              <a:lnSpc>
                <a:spcPct val="100000"/>
              </a:lnSpc>
              <a:spcBef>
                <a:spcPts val="270"/>
              </a:spcBef>
              <a:spcAft>
                <a:spcPts val="0"/>
              </a:spcAft>
              <a:buClrTx/>
              <a:buSzTx/>
              <a:buFont typeface="Arial MT"/>
              <a:buChar char="•"/>
              <a:tabLst>
                <a:tab pos="730250" algn="l"/>
                <a:tab pos="730885" algn="l"/>
              </a:tabLst>
              <a:defRPr/>
            </a:pPr>
            <a:r>
              <a:rPr kumimoji="0" lang="en-GB" sz="2000" b="0"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馬鹿！」と強く断定</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し</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てい</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る</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ニュ</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ア</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ンス</a:t>
            </a:r>
          </a:p>
          <a:p>
            <a:pPr marL="280670" marR="0" lvl="0" indent="-268605" algn="l" defTabSz="914400" rtl="0" eaLnBrk="1" fontAlgn="auto" latinLnBrk="0" hangingPunct="1">
              <a:lnSpc>
                <a:spcPct val="100000"/>
              </a:lnSpc>
              <a:spcBef>
                <a:spcPts val="705"/>
              </a:spcBef>
              <a:spcAft>
                <a:spcPts val="0"/>
              </a:spcAft>
              <a:buClrTx/>
              <a:buSzTx/>
              <a:buFont typeface="Arial MT"/>
              <a:buChar char="•"/>
              <a:tabLst>
                <a:tab pos="280670" algn="l"/>
                <a:tab pos="281305" algn="l"/>
              </a:tabLst>
              <a:defRPr/>
            </a:pPr>
            <a:r>
              <a:rPr kumimoji="0" lang="en-GB" sz="2400" b="0" i="1" u="none" strike="noStrike" kern="1200" cap="none" spc="0" normalizeH="0" baseline="0" noProof="0" dirty="0">
                <a:ln>
                  <a:noFill/>
                </a:ln>
                <a:solidFill>
                  <a:prstClr val="black"/>
                </a:solidFill>
                <a:effectLst/>
                <a:uLnTx/>
                <a:uFillTx/>
                <a:latin typeface="Calibri"/>
                <a:ea typeface="+mn-ea"/>
                <a:cs typeface="Calibri"/>
              </a:rPr>
              <a:t>A</a:t>
            </a:r>
            <a:r>
              <a:rPr kumimoji="0" lang="en-GB" sz="2400" b="0" i="1" u="none" strike="noStrike" kern="1200" cap="none" spc="-20"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friend</a:t>
            </a:r>
            <a:r>
              <a:rPr kumimoji="0" lang="en-GB" sz="2400" b="0" i="1" u="none" strike="noStrike" kern="1200" cap="none" spc="-10" normalizeH="0" baseline="0" noProof="0" dirty="0">
                <a:ln>
                  <a:noFill/>
                </a:ln>
                <a:solidFill>
                  <a:prstClr val="black"/>
                </a:solidFill>
                <a:effectLst/>
                <a:uLnTx/>
                <a:uFillTx/>
                <a:latin typeface="Calibri"/>
                <a:ea typeface="+mn-ea"/>
                <a:cs typeface="Calibri"/>
              </a:rPr>
              <a:t> </a:t>
            </a:r>
            <a:r>
              <a:rPr kumimoji="0" lang="en-GB" sz="2400" b="0" i="1" u="none" strike="noStrike" kern="1200" cap="none" spc="0" normalizeH="0" baseline="0" noProof="0" dirty="0">
                <a:ln>
                  <a:noFill/>
                </a:ln>
                <a:solidFill>
                  <a:prstClr val="black"/>
                </a:solidFill>
                <a:effectLst/>
                <a:uLnTx/>
                <a:uFillTx/>
                <a:latin typeface="Calibri"/>
                <a:ea typeface="+mn-ea"/>
                <a:cs typeface="Calibri"/>
              </a:rPr>
              <a:t>of</a:t>
            </a:r>
            <a:r>
              <a:rPr kumimoji="0" lang="en-GB" sz="2400" b="0" i="1" u="none" strike="noStrike" kern="1200" cap="none" spc="10" normalizeH="0" baseline="0" noProof="0" dirty="0">
                <a:ln>
                  <a:noFill/>
                </a:ln>
                <a:solidFill>
                  <a:prstClr val="black"/>
                </a:solidFill>
                <a:effectLst/>
                <a:uLnTx/>
                <a:uFillTx/>
                <a:latin typeface="Calibri"/>
                <a:ea typeface="+mn-ea"/>
                <a:cs typeface="Calibri"/>
              </a:rPr>
              <a:t> </a:t>
            </a:r>
            <a:r>
              <a:rPr kumimoji="0" lang="en-GB" sz="2400" b="0" i="1" u="none" strike="noStrike" kern="1200" cap="none" spc="0" normalizeH="0" baseline="0" noProof="0" dirty="0">
                <a:ln>
                  <a:noFill/>
                </a:ln>
                <a:solidFill>
                  <a:prstClr val="black"/>
                </a:solidFill>
                <a:effectLst/>
                <a:uLnTx/>
                <a:uFillTx/>
                <a:latin typeface="Calibri"/>
                <a:ea typeface="+mn-ea"/>
                <a:cs typeface="Calibri"/>
              </a:rPr>
              <a:t>mine</a:t>
            </a:r>
            <a:r>
              <a:rPr kumimoji="0" lang="en-GB" sz="2400" b="0" i="1" u="none" strike="noStrike" kern="1200" cap="none" spc="-5" normalizeH="0" baseline="0" noProof="0" dirty="0">
                <a:ln>
                  <a:noFill/>
                </a:ln>
                <a:solidFill>
                  <a:prstClr val="black"/>
                </a:solidFill>
                <a:effectLst/>
                <a:uLnTx/>
                <a:uFillTx/>
                <a:latin typeface="Calibri"/>
                <a:ea typeface="+mn-ea"/>
                <a:cs typeface="Calibri"/>
              </a:rPr>
              <a:t> </a:t>
            </a:r>
            <a:r>
              <a:rPr kumimoji="0" lang="en-GB" sz="2400" b="0" i="1" u="none" strike="noStrike" kern="1200" cap="none" spc="-10" normalizeH="0" baseline="0" noProof="0" dirty="0">
                <a:ln>
                  <a:noFill/>
                </a:ln>
                <a:solidFill>
                  <a:prstClr val="black"/>
                </a:solidFill>
                <a:effectLst/>
                <a:uLnTx/>
                <a:uFillTx/>
                <a:latin typeface="Calibri"/>
                <a:ea typeface="+mn-ea"/>
                <a:cs typeface="Calibri"/>
              </a:rPr>
              <a:t>often</a:t>
            </a:r>
            <a:r>
              <a:rPr kumimoji="0" lang="en-GB" sz="2400" b="0" i="1" u="none" strike="noStrike" kern="1200" cap="none" spc="-15"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tells</a:t>
            </a:r>
            <a:r>
              <a:rPr kumimoji="0" lang="en-GB" sz="2400" b="0" i="1" u="none" strike="noStrike" kern="1200" cap="none" spc="-15"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me,</a:t>
            </a:r>
            <a:r>
              <a:rPr kumimoji="0" lang="en-GB" sz="2400" b="0" i="1" u="none" strike="noStrike" kern="1200" cap="none" spc="-10" normalizeH="0" baseline="0" noProof="0" dirty="0">
                <a:ln>
                  <a:noFill/>
                </a:ln>
                <a:solidFill>
                  <a:prstClr val="black"/>
                </a:solidFill>
                <a:effectLst/>
                <a:uLnTx/>
                <a:uFillTx/>
                <a:latin typeface="Calibri"/>
                <a:ea typeface="+mn-ea"/>
                <a:cs typeface="Calibri"/>
              </a:rPr>
              <a:t> </a:t>
            </a:r>
            <a:r>
              <a:rPr kumimoji="0" lang="en-GB" sz="2400" b="0" i="1" u="none" strike="noStrike" kern="1200" cap="none" spc="-45" normalizeH="0" baseline="0" noProof="0" dirty="0">
                <a:ln>
                  <a:noFill/>
                </a:ln>
                <a:solidFill>
                  <a:prstClr val="black"/>
                </a:solidFill>
                <a:effectLst/>
                <a:uLnTx/>
                <a:uFillTx/>
                <a:latin typeface="Calibri"/>
                <a:ea typeface="+mn-ea"/>
                <a:cs typeface="Calibri"/>
              </a:rPr>
              <a:t>"You</a:t>
            </a:r>
            <a:r>
              <a:rPr kumimoji="0" lang="en-GB" sz="2400" b="0" i="1" u="none" strike="noStrike" kern="1200" cap="none" spc="15"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are</a:t>
            </a:r>
            <a:r>
              <a:rPr kumimoji="0" lang="en-GB" sz="2400" b="0" i="1" u="none" strike="noStrike" kern="1200" cap="none" spc="-15"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silly".</a:t>
            </a:r>
            <a:endParaRPr kumimoji="0" lang="en-GB" sz="2400" b="0" i="0" u="none" strike="noStrike" kern="1200" cap="none" spc="0" normalizeH="0" baseline="0" noProof="0" dirty="0">
              <a:ln>
                <a:noFill/>
              </a:ln>
              <a:solidFill>
                <a:prstClr val="black"/>
              </a:solidFill>
              <a:effectLst/>
              <a:uLnTx/>
              <a:uFillTx/>
              <a:latin typeface="Calibri"/>
              <a:ea typeface="+mn-ea"/>
              <a:cs typeface="Calibri"/>
            </a:endParaRPr>
          </a:p>
          <a:p>
            <a:pPr marL="730250" marR="0" lvl="1" indent="-260985" algn="l" defTabSz="914400" rtl="0" eaLnBrk="1" fontAlgn="auto" latinLnBrk="0" hangingPunct="1">
              <a:lnSpc>
                <a:spcPct val="100000"/>
              </a:lnSpc>
              <a:spcBef>
                <a:spcPts val="265"/>
              </a:spcBef>
              <a:spcAft>
                <a:spcPts val="0"/>
              </a:spcAft>
              <a:buClrTx/>
              <a:buSzTx/>
              <a:buFont typeface="Arial MT"/>
              <a:buChar char="•"/>
              <a:tabLst>
                <a:tab pos="730250" algn="l"/>
                <a:tab pos="73088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どこか憎めず、哀れみ</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や</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同情</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の</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念を</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持</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つ「</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馬</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鹿だ</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ね</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ぇ」</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の</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ニュ</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ア</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ンス</a:t>
            </a:r>
          </a:p>
          <a:p>
            <a:pPr marL="730250" marR="0" lvl="1" indent="-260985" algn="l" defTabSz="914400" rtl="0" eaLnBrk="1" fontAlgn="auto" latinLnBrk="0" hangingPunct="1">
              <a:lnSpc>
                <a:spcPct val="100000"/>
              </a:lnSpc>
              <a:spcBef>
                <a:spcPts val="270"/>
              </a:spcBef>
              <a:spcAft>
                <a:spcPts val="0"/>
              </a:spcAft>
              <a:buClrTx/>
              <a:buSzTx/>
              <a:buFont typeface="Arial MT"/>
              <a:buChar char="•"/>
              <a:tabLst>
                <a:tab pos="730250" algn="l"/>
                <a:tab pos="73088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先述の意味変化は現代</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英</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語に</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お</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いて</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ニ</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ュア</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ン</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スの</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違</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いを</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生</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む</a:t>
            </a:r>
          </a:p>
        </p:txBody>
      </p:sp>
    </p:spTree>
    <p:extLst>
      <p:ext uri="{BB962C8B-B14F-4D97-AF65-F5344CB8AC3E}">
        <p14:creationId xmlns:p14="http://schemas.microsoft.com/office/powerpoint/2010/main" val="2788258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意味の下落</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意味の下落の他の例</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p:txBody>
      </p:sp>
      <p:graphicFrame>
        <p:nvGraphicFramePr>
          <p:cNvPr id="6" name="object 4">
            <a:extLst>
              <a:ext uri="{FF2B5EF4-FFF2-40B4-BE49-F238E27FC236}">
                <a16:creationId xmlns:a16="http://schemas.microsoft.com/office/drawing/2014/main" id="{3BB94E10-91CF-CD4E-A8B5-F60AE093E981}"/>
              </a:ext>
            </a:extLst>
          </p:cNvPr>
          <p:cNvGraphicFramePr>
            <a:graphicFrameLocks noGrp="1"/>
          </p:cNvGraphicFramePr>
          <p:nvPr/>
        </p:nvGraphicFramePr>
        <p:xfrm>
          <a:off x="943940" y="2305304"/>
          <a:ext cx="10245089" cy="2997199"/>
        </p:xfrm>
        <a:graphic>
          <a:graphicData uri="http://schemas.openxmlformats.org/drawingml/2006/table">
            <a:tbl>
              <a:tblPr firstRow="1" bandRow="1">
                <a:tableStyleId>{2D5ABB26-0587-4C30-8999-92F81FD0307C}</a:tableStyleId>
              </a:tblPr>
              <a:tblGrid>
                <a:gridCol w="953769">
                  <a:extLst>
                    <a:ext uri="{9D8B030D-6E8A-4147-A177-3AD203B41FA5}">
                      <a16:colId xmlns:a16="http://schemas.microsoft.com/office/drawing/2014/main" val="20000"/>
                    </a:ext>
                  </a:extLst>
                </a:gridCol>
                <a:gridCol w="7021830">
                  <a:extLst>
                    <a:ext uri="{9D8B030D-6E8A-4147-A177-3AD203B41FA5}">
                      <a16:colId xmlns:a16="http://schemas.microsoft.com/office/drawing/2014/main" val="20001"/>
                    </a:ext>
                  </a:extLst>
                </a:gridCol>
                <a:gridCol w="2269490">
                  <a:extLst>
                    <a:ext uri="{9D8B030D-6E8A-4147-A177-3AD203B41FA5}">
                      <a16:colId xmlns:a16="http://schemas.microsoft.com/office/drawing/2014/main" val="20002"/>
                    </a:ext>
                  </a:extLst>
                </a:gridCol>
              </a:tblGrid>
              <a:tr h="337820">
                <a:tc>
                  <a:txBody>
                    <a:bodyPr/>
                    <a:lstStyle/>
                    <a:p>
                      <a:pPr marL="69850">
                        <a:lnSpc>
                          <a:spcPct val="100000"/>
                        </a:lnSpc>
                        <a:spcBef>
                          <a:spcPts val="120"/>
                        </a:spcBef>
                      </a:pPr>
                      <a:r>
                        <a:rPr sz="1800" b="1" spc="-5" dirty="0">
                          <a:solidFill>
                            <a:srgbClr val="FFFFFF"/>
                          </a:solidFill>
                          <a:latin typeface="Yu Gothic"/>
                          <a:cs typeface="Yu Gothic"/>
                        </a:rPr>
                        <a:t>語彙</a:t>
                      </a:r>
                      <a:endParaRPr sz="1800">
                        <a:latin typeface="Yu Gothic"/>
                        <a:cs typeface="Yu Gothic"/>
                      </a:endParaRPr>
                    </a:p>
                  </a:txBody>
                  <a:tcPr marL="0" marR="0" marT="152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69850">
                        <a:lnSpc>
                          <a:spcPct val="100000"/>
                        </a:lnSpc>
                        <a:spcBef>
                          <a:spcPts val="120"/>
                        </a:spcBef>
                      </a:pPr>
                      <a:r>
                        <a:rPr sz="1800" b="1" spc="-5" dirty="0">
                          <a:solidFill>
                            <a:srgbClr val="FFFFFF"/>
                          </a:solidFill>
                          <a:latin typeface="Yu Gothic"/>
                          <a:cs typeface="Yu Gothic"/>
                        </a:rPr>
                        <a:t>起源</a:t>
                      </a:r>
                      <a:endParaRPr sz="1800">
                        <a:latin typeface="Yu Gothic"/>
                        <a:cs typeface="Yu Gothic"/>
                      </a:endParaRPr>
                    </a:p>
                  </a:txBody>
                  <a:tcPr marL="0" marR="0" marT="152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70485">
                        <a:lnSpc>
                          <a:spcPct val="100000"/>
                        </a:lnSpc>
                        <a:spcBef>
                          <a:spcPts val="120"/>
                        </a:spcBef>
                      </a:pPr>
                      <a:r>
                        <a:rPr sz="1800" b="1" spc="-5" dirty="0">
                          <a:solidFill>
                            <a:srgbClr val="FFFFFF"/>
                          </a:solidFill>
                          <a:latin typeface="Yu Gothic"/>
                          <a:cs typeface="Yu Gothic"/>
                        </a:rPr>
                        <a:t>現在の意味</a:t>
                      </a:r>
                      <a:endParaRPr sz="1800">
                        <a:latin typeface="Yu Gothic"/>
                        <a:cs typeface="Yu Gothic"/>
                      </a:endParaRPr>
                    </a:p>
                  </a:txBody>
                  <a:tcPr marL="0" marR="0" marT="152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886460">
                <a:tc>
                  <a:txBody>
                    <a:bodyPr/>
                    <a:lstStyle/>
                    <a:p>
                      <a:pPr>
                        <a:lnSpc>
                          <a:spcPct val="100000"/>
                        </a:lnSpc>
                        <a:spcBef>
                          <a:spcPts val="50"/>
                        </a:spcBef>
                      </a:pPr>
                      <a:endParaRPr sz="1950">
                        <a:latin typeface="Times New Roman"/>
                        <a:cs typeface="Times New Roman"/>
                      </a:endParaRPr>
                    </a:p>
                    <a:p>
                      <a:pPr marL="69850">
                        <a:lnSpc>
                          <a:spcPct val="100000"/>
                        </a:lnSpc>
                      </a:pPr>
                      <a:r>
                        <a:rPr sz="1800" u="heavy" spc="-10" dirty="0">
                          <a:solidFill>
                            <a:srgbClr val="0462C1"/>
                          </a:solidFill>
                          <a:uFill>
                            <a:solidFill>
                              <a:srgbClr val="0462C1"/>
                            </a:solidFill>
                          </a:uFill>
                          <a:latin typeface="Calibri"/>
                          <a:cs typeface="Calibri"/>
                          <a:hlinkClick r:id="rId3"/>
                        </a:rPr>
                        <a:t>knave</a:t>
                      </a:r>
                      <a:endParaRPr sz="1800">
                        <a:latin typeface="Calibri"/>
                        <a:cs typeface="Calibri"/>
                      </a:endParaRPr>
                    </a:p>
                  </a:txBody>
                  <a:tcPr marL="0" marR="0" marT="63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356235" indent="-287020">
                        <a:lnSpc>
                          <a:spcPct val="100000"/>
                        </a:lnSpc>
                        <a:spcBef>
                          <a:spcPts val="110"/>
                        </a:spcBef>
                        <a:buFont typeface="Arial MT"/>
                        <a:buChar char="•"/>
                        <a:tabLst>
                          <a:tab pos="356235" algn="l"/>
                          <a:tab pos="356870" algn="l"/>
                        </a:tabLst>
                      </a:pPr>
                      <a:r>
                        <a:rPr sz="1800" dirty="0">
                          <a:latin typeface="Yu Gothic"/>
                          <a:cs typeface="Yu Gothic"/>
                        </a:rPr>
                        <a:t>古英語</a:t>
                      </a:r>
                      <a:r>
                        <a:rPr sz="1800" dirty="0">
                          <a:latin typeface="Calibri"/>
                          <a:cs typeface="Calibri"/>
                        </a:rPr>
                        <a:t>:</a:t>
                      </a:r>
                      <a:r>
                        <a:rPr sz="1800" spc="-80" dirty="0">
                          <a:latin typeface="Calibri"/>
                          <a:cs typeface="Calibri"/>
                        </a:rPr>
                        <a:t> </a:t>
                      </a:r>
                      <a:r>
                        <a:rPr sz="1800" i="1" spc="-10" dirty="0">
                          <a:latin typeface="Calibri"/>
                          <a:cs typeface="Calibri"/>
                        </a:rPr>
                        <a:t>cnafa</a:t>
                      </a:r>
                      <a:endParaRPr sz="1800">
                        <a:latin typeface="Calibri"/>
                        <a:cs typeface="Calibri"/>
                      </a:endParaRPr>
                    </a:p>
                    <a:p>
                      <a:pPr marL="356235" indent="-287020">
                        <a:lnSpc>
                          <a:spcPct val="100000"/>
                        </a:lnSpc>
                        <a:buFont typeface="Arial MT"/>
                        <a:buChar char="•"/>
                        <a:tabLst>
                          <a:tab pos="356235" algn="l"/>
                          <a:tab pos="356870" algn="l"/>
                        </a:tabLst>
                      </a:pPr>
                      <a:r>
                        <a:rPr sz="1800" dirty="0">
                          <a:latin typeface="Yu Gothic"/>
                          <a:cs typeface="Yu Gothic"/>
                        </a:rPr>
                        <a:t>中英語</a:t>
                      </a:r>
                      <a:r>
                        <a:rPr sz="1800" dirty="0">
                          <a:latin typeface="Calibri"/>
                          <a:cs typeface="Calibri"/>
                        </a:rPr>
                        <a:t>:</a:t>
                      </a:r>
                      <a:r>
                        <a:rPr sz="1800" spc="-90" dirty="0">
                          <a:latin typeface="Calibri"/>
                          <a:cs typeface="Calibri"/>
                        </a:rPr>
                        <a:t> </a:t>
                      </a:r>
                      <a:r>
                        <a:rPr sz="1800" dirty="0">
                          <a:latin typeface="Yu Gothic"/>
                          <a:cs typeface="Yu Gothic"/>
                        </a:rPr>
                        <a:t>最初の記録は</a:t>
                      </a:r>
                      <a:r>
                        <a:rPr sz="1800" spc="-5" dirty="0">
                          <a:latin typeface="Calibri"/>
                          <a:cs typeface="Calibri"/>
                        </a:rPr>
                        <a:t>1000</a:t>
                      </a:r>
                      <a:r>
                        <a:rPr sz="1800" dirty="0">
                          <a:latin typeface="Yu Gothic"/>
                          <a:cs typeface="Yu Gothic"/>
                        </a:rPr>
                        <a:t>年以前</a:t>
                      </a:r>
                      <a:endParaRPr sz="1800">
                        <a:latin typeface="Yu Gothic"/>
                        <a:cs typeface="Yu Gothic"/>
                      </a:endParaRPr>
                    </a:p>
                    <a:p>
                      <a:pPr marL="356235" indent="-287020">
                        <a:lnSpc>
                          <a:spcPct val="100000"/>
                        </a:lnSpc>
                        <a:buFont typeface="Arial MT"/>
                        <a:buChar char="•"/>
                        <a:tabLst>
                          <a:tab pos="356235" algn="l"/>
                          <a:tab pos="356870" algn="l"/>
                        </a:tabLst>
                      </a:pPr>
                      <a:r>
                        <a:rPr sz="1800" i="1" spc="-10" dirty="0">
                          <a:latin typeface="Calibri"/>
                          <a:cs typeface="Calibri"/>
                        </a:rPr>
                        <a:t>Knabe</a:t>
                      </a:r>
                      <a:r>
                        <a:rPr sz="1800" spc="-5" dirty="0">
                          <a:latin typeface="Yu Gothic"/>
                          <a:cs typeface="Yu Gothic"/>
                        </a:rPr>
                        <a:t>「少年」と関連</a:t>
                      </a:r>
                      <a:r>
                        <a:rPr sz="1800" dirty="0">
                          <a:latin typeface="Yu Gothic"/>
                          <a:cs typeface="Yu Gothic"/>
                        </a:rPr>
                        <a:t>、</a:t>
                      </a:r>
                      <a:r>
                        <a:rPr sz="1800" spc="-114" dirty="0">
                          <a:latin typeface="Yu Gothic"/>
                          <a:cs typeface="Yu Gothic"/>
                        </a:rPr>
                        <a:t> </a:t>
                      </a:r>
                      <a:r>
                        <a:rPr sz="1800" spc="-5" dirty="0">
                          <a:latin typeface="Yu Gothic"/>
                          <a:cs typeface="Yu Gothic"/>
                        </a:rPr>
                        <a:t>古ノルド語</a:t>
                      </a:r>
                      <a:r>
                        <a:rPr sz="1800" dirty="0">
                          <a:latin typeface="Yu Gothic"/>
                          <a:cs typeface="Yu Gothic"/>
                        </a:rPr>
                        <a:t>の</a:t>
                      </a:r>
                      <a:r>
                        <a:rPr sz="1800" spc="-105" dirty="0">
                          <a:latin typeface="Yu Gothic"/>
                          <a:cs typeface="Yu Gothic"/>
                        </a:rPr>
                        <a:t> </a:t>
                      </a:r>
                      <a:r>
                        <a:rPr sz="1800" i="1" spc="-5" dirty="0">
                          <a:latin typeface="Calibri"/>
                          <a:cs typeface="Calibri"/>
                        </a:rPr>
                        <a:t>knapi</a:t>
                      </a:r>
                      <a:r>
                        <a:rPr sz="1800" spc="-5" dirty="0">
                          <a:latin typeface="Yu Gothic"/>
                          <a:cs typeface="Yu Gothic"/>
                        </a:rPr>
                        <a:t>「頁</a:t>
                      </a:r>
                      <a:r>
                        <a:rPr sz="1800" dirty="0">
                          <a:latin typeface="Calibri"/>
                          <a:cs typeface="Calibri"/>
                        </a:rPr>
                        <a:t>;</a:t>
                      </a:r>
                      <a:r>
                        <a:rPr sz="1800" spc="5" dirty="0">
                          <a:latin typeface="Calibri"/>
                          <a:cs typeface="Calibri"/>
                        </a:rPr>
                        <a:t> </a:t>
                      </a:r>
                      <a:r>
                        <a:rPr sz="1800" spc="-5" dirty="0">
                          <a:latin typeface="Yu Gothic"/>
                          <a:cs typeface="Yu Gothic"/>
                        </a:rPr>
                        <a:t>少年」と類似</a:t>
                      </a:r>
                      <a:endParaRPr sz="1800">
                        <a:latin typeface="Yu Gothic"/>
                        <a:cs typeface="Yu Gothic"/>
                      </a:endParaRPr>
                    </a:p>
                  </a:txBody>
                  <a:tcPr marL="0" marR="0" marT="139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spcBef>
                          <a:spcPts val="25"/>
                        </a:spcBef>
                      </a:pPr>
                      <a:endParaRPr sz="1950">
                        <a:latin typeface="Times New Roman"/>
                        <a:cs typeface="Times New Roman"/>
                      </a:endParaRPr>
                    </a:p>
                    <a:p>
                      <a:pPr marL="70485">
                        <a:lnSpc>
                          <a:spcPct val="100000"/>
                        </a:lnSpc>
                        <a:spcBef>
                          <a:spcPts val="5"/>
                        </a:spcBef>
                      </a:pPr>
                      <a:r>
                        <a:rPr sz="1800" dirty="0">
                          <a:latin typeface="Yu Gothic"/>
                          <a:cs typeface="Yu Gothic"/>
                        </a:rPr>
                        <a:t>悪党、ごろつき</a:t>
                      </a:r>
                      <a:endParaRPr sz="1800">
                        <a:latin typeface="Yu Gothic"/>
                        <a:cs typeface="Yu Gothic"/>
                      </a:endParaRPr>
                    </a:p>
                  </a:txBody>
                  <a:tcPr marL="0" marR="0" marT="31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1160779">
                <a:tc>
                  <a:txBody>
                    <a:bodyPr/>
                    <a:lstStyle/>
                    <a:p>
                      <a:pPr>
                        <a:lnSpc>
                          <a:spcPct val="100000"/>
                        </a:lnSpc>
                      </a:pPr>
                      <a:endParaRPr sz="1800">
                        <a:latin typeface="Times New Roman"/>
                        <a:cs typeface="Times New Roman"/>
                      </a:endParaRPr>
                    </a:p>
                    <a:p>
                      <a:pPr marL="69850">
                        <a:lnSpc>
                          <a:spcPct val="100000"/>
                        </a:lnSpc>
                        <a:spcBef>
                          <a:spcPts val="1305"/>
                        </a:spcBef>
                      </a:pPr>
                      <a:r>
                        <a:rPr sz="1800" u="heavy" spc="-5" dirty="0">
                          <a:solidFill>
                            <a:srgbClr val="0462C1"/>
                          </a:solidFill>
                          <a:uFill>
                            <a:solidFill>
                              <a:srgbClr val="0462C1"/>
                            </a:solidFill>
                          </a:uFill>
                          <a:latin typeface="Calibri"/>
                          <a:cs typeface="Calibri"/>
                          <a:hlinkClick r:id="rId4"/>
                        </a:rPr>
                        <a:t>villain</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356235" indent="-287020">
                        <a:lnSpc>
                          <a:spcPct val="100000"/>
                        </a:lnSpc>
                        <a:spcBef>
                          <a:spcPts val="110"/>
                        </a:spcBef>
                        <a:buFont typeface="Arial MT"/>
                        <a:buChar char="•"/>
                        <a:tabLst>
                          <a:tab pos="356235" algn="l"/>
                          <a:tab pos="356870" algn="l"/>
                        </a:tabLst>
                      </a:pPr>
                      <a:r>
                        <a:rPr sz="1800" dirty="0">
                          <a:latin typeface="Yu Gothic"/>
                          <a:cs typeface="Yu Gothic"/>
                        </a:rPr>
                        <a:t>最初の記録は</a:t>
                      </a:r>
                      <a:r>
                        <a:rPr sz="1800" spc="-5" dirty="0">
                          <a:latin typeface="Calibri"/>
                          <a:cs typeface="Calibri"/>
                        </a:rPr>
                        <a:t>127</a:t>
                      </a:r>
                      <a:r>
                        <a:rPr sz="1800" dirty="0">
                          <a:latin typeface="Calibri"/>
                          <a:cs typeface="Calibri"/>
                        </a:rPr>
                        <a:t>5</a:t>
                      </a:r>
                      <a:r>
                        <a:rPr sz="1800" dirty="0">
                          <a:latin typeface="Yu Gothic"/>
                          <a:cs typeface="Yu Gothic"/>
                        </a:rPr>
                        <a:t>年</a:t>
                      </a:r>
                      <a:r>
                        <a:rPr sz="1800" spc="-95" dirty="0">
                          <a:latin typeface="Yu Gothic"/>
                          <a:cs typeface="Yu Gothic"/>
                        </a:rPr>
                        <a:t> </a:t>
                      </a:r>
                      <a:r>
                        <a:rPr sz="1800" dirty="0">
                          <a:latin typeface="Calibri"/>
                          <a:cs typeface="Calibri"/>
                        </a:rPr>
                        <a:t>- </a:t>
                      </a:r>
                      <a:r>
                        <a:rPr sz="1800" spc="-5" dirty="0">
                          <a:latin typeface="Calibri"/>
                          <a:cs typeface="Calibri"/>
                        </a:rPr>
                        <a:t>1325</a:t>
                      </a:r>
                      <a:r>
                        <a:rPr sz="1800" dirty="0">
                          <a:latin typeface="Yu Gothic"/>
                          <a:cs typeface="Yu Gothic"/>
                        </a:rPr>
                        <a:t>年</a:t>
                      </a:r>
                      <a:endParaRPr sz="1800">
                        <a:latin typeface="Yu Gothic"/>
                        <a:cs typeface="Yu Gothic"/>
                      </a:endParaRPr>
                    </a:p>
                    <a:p>
                      <a:pPr marL="356235" indent="-287020">
                        <a:lnSpc>
                          <a:spcPct val="100000"/>
                        </a:lnSpc>
                        <a:buFont typeface="Arial MT"/>
                        <a:buChar char="•"/>
                        <a:tabLst>
                          <a:tab pos="356235" algn="l"/>
                          <a:tab pos="356870" algn="l"/>
                        </a:tabLst>
                      </a:pPr>
                      <a:r>
                        <a:rPr sz="1800" dirty="0">
                          <a:latin typeface="Yu Gothic"/>
                          <a:cs typeface="Yu Gothic"/>
                        </a:rPr>
                        <a:t>中英語</a:t>
                      </a:r>
                      <a:r>
                        <a:rPr sz="1800" dirty="0">
                          <a:latin typeface="Calibri"/>
                          <a:cs typeface="Calibri"/>
                        </a:rPr>
                        <a:t>:</a:t>
                      </a:r>
                      <a:r>
                        <a:rPr sz="1800" spc="-75" dirty="0">
                          <a:latin typeface="Calibri"/>
                          <a:cs typeface="Calibri"/>
                        </a:rPr>
                        <a:t> </a:t>
                      </a:r>
                      <a:r>
                        <a:rPr sz="1800" i="1" spc="-5" dirty="0">
                          <a:latin typeface="Calibri"/>
                          <a:cs typeface="Calibri"/>
                        </a:rPr>
                        <a:t>vilein</a:t>
                      </a:r>
                      <a:endParaRPr sz="1800">
                        <a:latin typeface="Calibri"/>
                        <a:cs typeface="Calibri"/>
                      </a:endParaRPr>
                    </a:p>
                    <a:p>
                      <a:pPr marL="356235" indent="-287020">
                        <a:lnSpc>
                          <a:spcPct val="100000"/>
                        </a:lnSpc>
                        <a:buFont typeface="Arial MT"/>
                        <a:buChar char="•"/>
                        <a:tabLst>
                          <a:tab pos="356235" algn="l"/>
                          <a:tab pos="356870" algn="l"/>
                        </a:tabLst>
                      </a:pPr>
                      <a:r>
                        <a:rPr sz="1800" spc="-5" dirty="0">
                          <a:latin typeface="Yu Gothic"/>
                          <a:cs typeface="Yu Gothic"/>
                        </a:rPr>
                        <a:t>中仏語</a:t>
                      </a:r>
                      <a:r>
                        <a:rPr sz="1800" dirty="0">
                          <a:latin typeface="Calibri"/>
                          <a:cs typeface="Calibri"/>
                        </a:rPr>
                        <a:t>:</a:t>
                      </a:r>
                      <a:r>
                        <a:rPr sz="1800" spc="-10" dirty="0">
                          <a:latin typeface="Calibri"/>
                          <a:cs typeface="Calibri"/>
                        </a:rPr>
                        <a:t> </a:t>
                      </a:r>
                      <a:r>
                        <a:rPr sz="1800" i="1" spc="-10" dirty="0">
                          <a:latin typeface="Calibri"/>
                          <a:cs typeface="Calibri"/>
                        </a:rPr>
                        <a:t>villain</a:t>
                      </a:r>
                      <a:r>
                        <a:rPr sz="1800" spc="-5" dirty="0">
                          <a:latin typeface="Yu Gothic"/>
                          <a:cs typeface="Yu Gothic"/>
                        </a:rPr>
                        <a:t>「無作法な田舎</a:t>
                      </a:r>
                      <a:r>
                        <a:rPr sz="1800" dirty="0">
                          <a:latin typeface="Yu Gothic"/>
                          <a:cs typeface="Yu Gothic"/>
                        </a:rPr>
                        <a:t>者</a:t>
                      </a:r>
                      <a:r>
                        <a:rPr sz="1800" dirty="0">
                          <a:latin typeface="Calibri"/>
                          <a:cs typeface="Calibri"/>
                        </a:rPr>
                        <a:t>;</a:t>
                      </a:r>
                      <a:r>
                        <a:rPr sz="1800" spc="5" dirty="0">
                          <a:latin typeface="Calibri"/>
                          <a:cs typeface="Calibri"/>
                        </a:rPr>
                        <a:t> </a:t>
                      </a:r>
                      <a:r>
                        <a:rPr sz="1800" spc="-5" dirty="0">
                          <a:latin typeface="Yu Gothic"/>
                          <a:cs typeface="Yu Gothic"/>
                        </a:rPr>
                        <a:t>農奴」</a:t>
                      </a:r>
                      <a:endParaRPr sz="1800">
                        <a:latin typeface="Yu Gothic"/>
                        <a:cs typeface="Yu Gothic"/>
                      </a:endParaRPr>
                    </a:p>
                    <a:p>
                      <a:pPr marL="356235" indent="-287020">
                        <a:lnSpc>
                          <a:spcPct val="100000"/>
                        </a:lnSpc>
                        <a:spcBef>
                          <a:spcPts val="5"/>
                        </a:spcBef>
                        <a:buFont typeface="Arial MT"/>
                        <a:buChar char="•"/>
                        <a:tabLst>
                          <a:tab pos="356235" algn="l"/>
                          <a:tab pos="356870" algn="l"/>
                        </a:tabLst>
                      </a:pPr>
                      <a:r>
                        <a:rPr sz="1800" dirty="0">
                          <a:latin typeface="Yu Gothic"/>
                          <a:cs typeface="Yu Gothic"/>
                        </a:rPr>
                        <a:t>自国語時代と中世のラテン語</a:t>
                      </a:r>
                      <a:r>
                        <a:rPr sz="1800" dirty="0">
                          <a:latin typeface="Calibri"/>
                          <a:cs typeface="Calibri"/>
                        </a:rPr>
                        <a:t>:</a:t>
                      </a:r>
                      <a:r>
                        <a:rPr sz="1800" spc="-55" dirty="0">
                          <a:latin typeface="Calibri"/>
                          <a:cs typeface="Calibri"/>
                        </a:rPr>
                        <a:t> </a:t>
                      </a:r>
                      <a:r>
                        <a:rPr sz="1800" i="1" spc="-10" dirty="0">
                          <a:latin typeface="Calibri"/>
                          <a:cs typeface="Calibri"/>
                        </a:rPr>
                        <a:t>villānus</a:t>
                      </a:r>
                      <a:r>
                        <a:rPr sz="1800" dirty="0">
                          <a:latin typeface="Yu Gothic"/>
                          <a:cs typeface="Yu Gothic"/>
                        </a:rPr>
                        <a:t>「農奴、農民」</a:t>
                      </a:r>
                      <a:endParaRPr sz="1800">
                        <a:latin typeface="Yu Gothic"/>
                        <a:cs typeface="Yu Gothic"/>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spcBef>
                          <a:spcPts val="15"/>
                        </a:spcBef>
                      </a:pPr>
                      <a:endParaRPr sz="2900">
                        <a:latin typeface="Times New Roman"/>
                        <a:cs typeface="Times New Roman"/>
                      </a:endParaRPr>
                    </a:p>
                    <a:p>
                      <a:pPr marL="70485">
                        <a:lnSpc>
                          <a:spcPct val="100000"/>
                        </a:lnSpc>
                      </a:pPr>
                      <a:r>
                        <a:rPr sz="1800" dirty="0">
                          <a:latin typeface="Yu Gothic"/>
                          <a:cs typeface="Yu Gothic"/>
                        </a:rPr>
                        <a:t>悪党、悪人</a:t>
                      </a:r>
                      <a:endParaRPr sz="1800">
                        <a:latin typeface="Yu Gothic"/>
                        <a:cs typeface="Yu Gothic"/>
                      </a:endParaRPr>
                    </a:p>
                  </a:txBody>
                  <a:tcPr marL="0" marR="0" marT="19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612140">
                <a:tc>
                  <a:txBody>
                    <a:bodyPr/>
                    <a:lstStyle/>
                    <a:p>
                      <a:pPr marL="69850">
                        <a:lnSpc>
                          <a:spcPct val="100000"/>
                        </a:lnSpc>
                        <a:spcBef>
                          <a:spcPts val="1215"/>
                        </a:spcBef>
                      </a:pPr>
                      <a:r>
                        <a:rPr sz="1800" u="heavy" spc="-5" dirty="0">
                          <a:solidFill>
                            <a:srgbClr val="0462C1"/>
                          </a:solidFill>
                          <a:uFill>
                            <a:solidFill>
                              <a:srgbClr val="0462C1"/>
                            </a:solidFill>
                          </a:uFill>
                          <a:latin typeface="Calibri"/>
                          <a:cs typeface="Calibri"/>
                          <a:hlinkClick r:id="rId5"/>
                        </a:rPr>
                        <a:t>cunning</a:t>
                      </a:r>
                      <a:endParaRPr sz="1800">
                        <a:latin typeface="Calibri"/>
                        <a:cs typeface="Calibri"/>
                      </a:endParaRPr>
                    </a:p>
                  </a:txBody>
                  <a:tcPr marL="0" marR="0" marT="1543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356235" indent="-287020">
                        <a:lnSpc>
                          <a:spcPct val="100000"/>
                        </a:lnSpc>
                        <a:spcBef>
                          <a:spcPts val="114"/>
                        </a:spcBef>
                        <a:buFont typeface="Arial MT"/>
                        <a:buChar char="•"/>
                        <a:tabLst>
                          <a:tab pos="356235" algn="l"/>
                          <a:tab pos="356870" algn="l"/>
                        </a:tabLst>
                      </a:pPr>
                      <a:r>
                        <a:rPr sz="1800" dirty="0">
                          <a:latin typeface="Yu Gothic"/>
                          <a:cs typeface="Yu Gothic"/>
                        </a:rPr>
                        <a:t>古英語</a:t>
                      </a:r>
                      <a:r>
                        <a:rPr sz="1800" dirty="0">
                          <a:latin typeface="Calibri"/>
                          <a:cs typeface="Calibri"/>
                        </a:rPr>
                        <a:t>:</a:t>
                      </a:r>
                      <a:r>
                        <a:rPr sz="1800" spc="-90" dirty="0">
                          <a:latin typeface="Calibri"/>
                          <a:cs typeface="Calibri"/>
                        </a:rPr>
                        <a:t> </a:t>
                      </a:r>
                      <a:r>
                        <a:rPr sz="1800" i="1" spc="-5" dirty="0">
                          <a:latin typeface="Calibri"/>
                          <a:cs typeface="Calibri"/>
                        </a:rPr>
                        <a:t>cunnung</a:t>
                      </a:r>
                      <a:endParaRPr sz="1800">
                        <a:latin typeface="Calibri"/>
                        <a:cs typeface="Calibri"/>
                      </a:endParaRPr>
                    </a:p>
                    <a:p>
                      <a:pPr marL="356235" indent="-287020">
                        <a:lnSpc>
                          <a:spcPct val="100000"/>
                        </a:lnSpc>
                        <a:buFont typeface="Arial MT"/>
                        <a:buChar char="•"/>
                        <a:tabLst>
                          <a:tab pos="356235" algn="l"/>
                          <a:tab pos="356870" algn="l"/>
                        </a:tabLst>
                      </a:pPr>
                      <a:r>
                        <a:rPr sz="1800" spc="-5" dirty="0">
                          <a:latin typeface="Yu Gothic"/>
                          <a:cs typeface="Yu Gothic"/>
                        </a:rPr>
                        <a:t>中英語</a:t>
                      </a:r>
                      <a:r>
                        <a:rPr sz="1800" dirty="0">
                          <a:latin typeface="Calibri"/>
                          <a:cs typeface="Calibri"/>
                        </a:rPr>
                        <a:t>:</a:t>
                      </a:r>
                      <a:r>
                        <a:rPr sz="1800" spc="-10" dirty="0">
                          <a:latin typeface="Calibri"/>
                          <a:cs typeface="Calibri"/>
                        </a:rPr>
                        <a:t> </a:t>
                      </a:r>
                      <a:r>
                        <a:rPr sz="1800" spc="-5" dirty="0">
                          <a:latin typeface="Yu Gothic"/>
                          <a:cs typeface="Yu Gothic"/>
                        </a:rPr>
                        <a:t>最初の記録</a:t>
                      </a:r>
                      <a:r>
                        <a:rPr sz="1800" dirty="0">
                          <a:latin typeface="Yu Gothic"/>
                          <a:cs typeface="Yu Gothic"/>
                        </a:rPr>
                        <a:t>は</a:t>
                      </a:r>
                      <a:r>
                        <a:rPr sz="1800" spc="-5" dirty="0">
                          <a:latin typeface="Calibri"/>
                          <a:cs typeface="Calibri"/>
                        </a:rPr>
                        <a:t>1275</a:t>
                      </a:r>
                      <a:r>
                        <a:rPr sz="1800" dirty="0">
                          <a:latin typeface="Yu Gothic"/>
                          <a:cs typeface="Yu Gothic"/>
                        </a:rPr>
                        <a:t>年</a:t>
                      </a:r>
                      <a:r>
                        <a:rPr sz="1800" spc="-114" dirty="0">
                          <a:latin typeface="Yu Gothic"/>
                          <a:cs typeface="Yu Gothic"/>
                        </a:rPr>
                        <a:t> </a:t>
                      </a:r>
                      <a:r>
                        <a:rPr sz="1800" dirty="0">
                          <a:latin typeface="Calibri"/>
                          <a:cs typeface="Calibri"/>
                        </a:rPr>
                        <a:t>-</a:t>
                      </a:r>
                      <a:r>
                        <a:rPr sz="1800" spc="-15" dirty="0">
                          <a:latin typeface="Calibri"/>
                          <a:cs typeface="Calibri"/>
                        </a:rPr>
                        <a:t> </a:t>
                      </a:r>
                      <a:r>
                        <a:rPr sz="1800" spc="-5" dirty="0">
                          <a:latin typeface="Calibri"/>
                          <a:cs typeface="Calibri"/>
                        </a:rPr>
                        <a:t>1325</a:t>
                      </a:r>
                      <a:r>
                        <a:rPr sz="1800" spc="-5" dirty="0">
                          <a:latin typeface="Yu Gothic"/>
                          <a:cs typeface="Yu Gothic"/>
                        </a:rPr>
                        <a:t>年</a:t>
                      </a:r>
                      <a:r>
                        <a:rPr sz="1800" spc="-10" dirty="0">
                          <a:latin typeface="Calibri"/>
                          <a:cs typeface="Calibri"/>
                        </a:rPr>
                        <a:t>(</a:t>
                      </a:r>
                      <a:r>
                        <a:rPr sz="1800" spc="-5" dirty="0">
                          <a:latin typeface="Yu Gothic"/>
                          <a:cs typeface="Yu Gothic"/>
                        </a:rPr>
                        <a:t>名詞として</a:t>
                      </a:r>
                      <a:r>
                        <a:rPr sz="1800" dirty="0">
                          <a:latin typeface="Calibri"/>
                          <a:cs typeface="Calibri"/>
                        </a:rPr>
                        <a:t>)</a:t>
                      </a:r>
                      <a:endParaRPr sz="1800">
                        <a:latin typeface="Calibri"/>
                        <a:cs typeface="Calibri"/>
                      </a:endParaRPr>
                    </a:p>
                  </a:txBody>
                  <a:tcPr marL="0" marR="0" marT="1460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70485">
                        <a:lnSpc>
                          <a:spcPct val="100000"/>
                        </a:lnSpc>
                        <a:spcBef>
                          <a:spcPts val="1195"/>
                        </a:spcBef>
                      </a:pPr>
                      <a:r>
                        <a:rPr sz="1800" dirty="0">
                          <a:latin typeface="Yu Gothic"/>
                          <a:cs typeface="Yu Gothic"/>
                        </a:rPr>
                        <a:t>狡猾な、巧妙な</a:t>
                      </a:r>
                    </a:p>
                  </a:txBody>
                  <a:tcPr marL="0" marR="0" marT="1517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92424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b="1" dirty="0">
                <a:latin typeface="Calibri (Headings)"/>
              </a:rPr>
              <a:t>2. </a:t>
            </a:r>
            <a:r>
              <a:rPr lang="ja-JP" altLang="en-US" b="1" dirty="0">
                <a:latin typeface="Calibri (Headings)"/>
                <a:sym typeface="Arial"/>
              </a:rPr>
              <a:t>意味の向上</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1154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意味の向上</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127000" lvl="0" indent="0" algn="l" defTabSz="914400" rtl="0" eaLnBrk="1" fontAlgn="auto" latinLnBrk="0" hangingPunct="1">
              <a:lnSpc>
                <a:spcPts val="2590"/>
              </a:lnSpc>
              <a:spcBef>
                <a:spcPts val="42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英語には元々良い意味で使われていたのが、現代では悪い意味でつかわれ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ている語彙が存在する。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735"/>
              </a:lnSpc>
              <a:spcBef>
                <a:spcPts val="67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英語の長い歴史の中で良い意味から悪い意味に言語学的に変化する現象を</a:t>
            </a:r>
          </a:p>
          <a:p>
            <a:pPr marL="12700" marR="0" lvl="0" indent="0" algn="l" defTabSz="914400" rtl="0" eaLnBrk="1" fontAlgn="auto" latinLnBrk="0" hangingPunct="1">
              <a:lnSpc>
                <a:spcPts val="2735"/>
              </a:lnSpc>
              <a:spcBef>
                <a:spcPts val="0"/>
              </a:spcBef>
              <a:spcAft>
                <a:spcPts val="0"/>
              </a:spcAft>
              <a:buClrTx/>
              <a:buSzTx/>
              <a:buFontTx/>
              <a:buNone/>
              <a:tabLst/>
              <a:defRPr/>
            </a:pP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意味の下落</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en-US" altLang="ja-JP" sz="2400" b="1" i="0" u="none" strike="noStrike" kern="1200" cap="none" spc="0" normalizeH="0" baseline="0" noProof="0" dirty="0">
                <a:ln>
                  <a:noFill/>
                </a:ln>
                <a:solidFill>
                  <a:prstClr val="black"/>
                </a:solidFill>
                <a:effectLst/>
                <a:uLnTx/>
                <a:uFillTx/>
                <a:latin typeface="Calibri"/>
                <a:ea typeface="+mn-ea"/>
                <a:cs typeface="Calibri"/>
              </a:rPr>
              <a:t>Amelio</a:t>
            </a:r>
            <a:r>
              <a:rPr kumimoji="0" lang="en-US" altLang="ja-JP" sz="2400" b="1" i="0" u="none" strike="noStrike" kern="1200" cap="none" spc="-50" normalizeH="0" baseline="0" noProof="0" dirty="0">
                <a:ln>
                  <a:noFill/>
                </a:ln>
                <a:solidFill>
                  <a:prstClr val="black"/>
                </a:solidFill>
                <a:effectLst/>
                <a:uLnTx/>
                <a:uFillTx/>
                <a:latin typeface="Calibri"/>
                <a:ea typeface="+mn-ea"/>
                <a:cs typeface="Calibri"/>
              </a:rPr>
              <a:t>r</a:t>
            </a:r>
            <a:r>
              <a:rPr kumimoji="0" lang="en-US" altLang="ja-JP" sz="2400" b="1" i="0" u="none" strike="noStrike" kern="1200" cap="none" spc="-25" normalizeH="0" baseline="0" noProof="0" dirty="0">
                <a:ln>
                  <a:noFill/>
                </a:ln>
                <a:solidFill>
                  <a:prstClr val="black"/>
                </a:solidFill>
                <a:effectLst/>
                <a:uLnTx/>
                <a:uFillTx/>
                <a:latin typeface="Calibri"/>
                <a:ea typeface="+mn-ea"/>
                <a:cs typeface="Calibri"/>
              </a:rPr>
              <a:t>a</a:t>
            </a:r>
            <a:r>
              <a:rPr kumimoji="0" lang="en-US" altLang="ja-JP" sz="2400" b="1" i="0" u="none" strike="noStrike" kern="1200" cap="none" spc="0" normalizeH="0" baseline="0" noProof="0" dirty="0">
                <a:ln>
                  <a:noFill/>
                </a:ln>
                <a:solidFill>
                  <a:prstClr val="black"/>
                </a:solidFill>
                <a:effectLst/>
                <a:uLnTx/>
                <a:uFillTx/>
                <a:latin typeface="Calibri"/>
                <a:ea typeface="+mn-ea"/>
                <a:cs typeface="Calibri"/>
              </a:rPr>
              <a:t>t</a:t>
            </a:r>
            <a:r>
              <a:rPr kumimoji="0" lang="en-US" altLang="ja-JP" sz="2400" b="1" i="0" u="none" strike="noStrike" kern="1200" cap="none" spc="-10" normalizeH="0" baseline="0" noProof="0" dirty="0">
                <a:ln>
                  <a:noFill/>
                </a:ln>
                <a:solidFill>
                  <a:prstClr val="black"/>
                </a:solidFill>
                <a:effectLst/>
                <a:uLnTx/>
                <a:uFillTx/>
                <a:latin typeface="Calibri"/>
                <a:ea typeface="+mn-ea"/>
                <a:cs typeface="Calibri"/>
              </a:rPr>
              <a:t>i</a:t>
            </a:r>
            <a:r>
              <a:rPr kumimoji="0" lang="en-US" altLang="ja-JP" sz="2400" b="1" i="0" u="none" strike="noStrike" kern="1200" cap="none" spc="0" normalizeH="0" baseline="0" noProof="0" dirty="0">
                <a:ln>
                  <a:noFill/>
                </a:ln>
                <a:solidFill>
                  <a:prstClr val="black"/>
                </a:solidFill>
                <a:effectLst/>
                <a:uLnTx/>
                <a:uFillTx/>
                <a:latin typeface="Calibri"/>
                <a:ea typeface="+mn-ea"/>
                <a:cs typeface="Calibri"/>
              </a:rPr>
              <a:t>on</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と呼ぶ</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735"/>
              </a:lnSpc>
              <a:spcBef>
                <a:spcPts val="720"/>
              </a:spcBef>
              <a:spcAft>
                <a:spcPts val="0"/>
              </a:spcAft>
              <a:buClrTx/>
              <a:buSzTx/>
              <a:buFontTx/>
              <a:buNone/>
              <a:tabLst/>
              <a:defRPr/>
            </a:pPr>
            <a:r>
              <a:rPr kumimoji="0" lang="en-US" altLang="ja-JP" sz="2400" b="0" i="1"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3"/>
              </a:rPr>
              <a:t>nice</a:t>
            </a:r>
            <a:r>
              <a:rPr kumimoji="0" lang="ja-JP" altLang="en-US" sz="2400" b="0" i="1" u="none" strike="noStrike" kern="1200" cap="none" spc="15" normalizeH="0" baseline="0" noProof="0" dirty="0">
                <a:ln>
                  <a:noFill/>
                </a:ln>
                <a:solidFill>
                  <a:srgbClr val="0462C1"/>
                </a:solidFill>
                <a:effectLst/>
                <a:uLnTx/>
                <a:uFillTx/>
                <a:latin typeface="Calibri"/>
                <a:ea typeface="+mn-ea"/>
                <a:cs typeface="Calibri"/>
                <a:hlinkClick r:id="rId3"/>
              </a:rPr>
              <a:t>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はその代表例であ</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り</a:t>
            </a:r>
            <a:r>
              <a:rPr kumimoji="0" lang="ja-JP" altLang="en-US" sz="2400" b="0" i="0" u="none" strike="noStrike" kern="1200" cap="none" spc="-150" normalizeH="0" baseline="0" noProof="0" dirty="0">
                <a:ln>
                  <a:noFill/>
                </a:ln>
                <a:solidFill>
                  <a:prstClr val="black"/>
                </a:solidFill>
                <a:effectLst/>
                <a:uLnTx/>
                <a:uFillTx/>
                <a:latin typeface="Yu Gothic"/>
                <a:ea typeface="+mn-ea"/>
                <a:cs typeface="Yu Gothic"/>
              </a:rPr>
              <a:t> </a:t>
            </a:r>
            <a:r>
              <a:rPr kumimoji="0" lang="en-US" altLang="ja-JP" sz="2400" b="0" i="0" u="heavy" strike="noStrike" kern="1200" cap="none" spc="-20" normalizeH="0" baseline="0" noProof="0" dirty="0">
                <a:ln>
                  <a:noFill/>
                </a:ln>
                <a:solidFill>
                  <a:srgbClr val="0462C1"/>
                </a:solidFill>
                <a:effectLst/>
                <a:uLnTx/>
                <a:uFill>
                  <a:solidFill>
                    <a:srgbClr val="0462C1"/>
                  </a:solidFill>
                </a:uFill>
                <a:latin typeface="Calibri"/>
                <a:ea typeface="+mn-ea"/>
                <a:cs typeface="Calibri"/>
                <a:hlinkClick r:id="rId4"/>
              </a:rPr>
              <a:t>Dictionary.com</a:t>
            </a:r>
            <a:r>
              <a:rPr kumimoji="0" lang="ja-JP" altLang="en-US" sz="2400" b="0" i="0" u="none" strike="noStrike" kern="1200" cap="none" spc="-10" normalizeH="0" baseline="0" noProof="0" dirty="0">
                <a:ln>
                  <a:noFill/>
                </a:ln>
                <a:solidFill>
                  <a:srgbClr val="0462C1"/>
                </a:solidFill>
                <a:effectLst/>
                <a:uLnTx/>
                <a:uFillTx/>
                <a:latin typeface="Calibri"/>
                <a:ea typeface="+mn-ea"/>
                <a:cs typeface="Calibri"/>
                <a:hlinkClick r:id="rId4"/>
              </a:rPr>
              <a:t>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に詳細が掲載されているので、その</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735"/>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意味の変遷を探求してみよう。</a:t>
            </a:r>
          </a:p>
        </p:txBody>
      </p:sp>
    </p:spTree>
    <p:extLst>
      <p:ext uri="{BB962C8B-B14F-4D97-AF65-F5344CB8AC3E}">
        <p14:creationId xmlns:p14="http://schemas.microsoft.com/office/powerpoint/2010/main" val="1235012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意味の向上</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280670" marR="0" lvl="0" indent="-268605" algn="l" defTabSz="914400" rtl="0" eaLnBrk="1" fontAlgn="auto" latinLnBrk="0" hangingPunct="1">
              <a:lnSpc>
                <a:spcPct val="100000"/>
              </a:lnSpc>
              <a:spcBef>
                <a:spcPts val="440"/>
              </a:spcBef>
              <a:spcAft>
                <a:spcPts val="0"/>
              </a:spcAft>
              <a:buClr>
                <a:srgbClr val="000000"/>
              </a:buClr>
              <a:buSzTx/>
              <a:buFont typeface="Arial MT"/>
              <a:buChar char="•"/>
              <a:tabLst>
                <a:tab pos="280670" algn="l"/>
                <a:tab pos="281305" algn="l"/>
              </a:tabLst>
              <a:defRPr/>
            </a:pPr>
            <a:r>
              <a:rPr kumimoji="0" lang="en-US" altLang="ja-JP" sz="2400" b="1" i="0" u="heavy" strike="noStrike" kern="1200" cap="none" spc="-15" normalizeH="0" baseline="0" noProof="0" dirty="0">
                <a:ln>
                  <a:noFill/>
                </a:ln>
                <a:solidFill>
                  <a:srgbClr val="0462C1"/>
                </a:solidFill>
                <a:effectLst/>
                <a:uLnTx/>
                <a:uFill>
                  <a:solidFill>
                    <a:srgbClr val="0462C1"/>
                  </a:solidFill>
                </a:uFill>
                <a:latin typeface="Calibri"/>
                <a:ea typeface="+mn-ea"/>
                <a:cs typeface="Calibri"/>
                <a:hlinkClick r:id="rId3"/>
              </a:rPr>
              <a:t>Dictionary.com</a:t>
            </a:r>
            <a:r>
              <a:rPr kumimoji="0" lang="ja-JP" altLang="en-US" sz="2400" b="1" i="0" u="none" strike="noStrike" kern="1200" cap="none" spc="-60" normalizeH="0" baseline="0" noProof="0" dirty="0">
                <a:ln>
                  <a:noFill/>
                </a:ln>
                <a:solidFill>
                  <a:srgbClr val="0462C1"/>
                </a:solidFill>
                <a:effectLst/>
                <a:uLnTx/>
                <a:uFillTx/>
                <a:latin typeface="Calibri"/>
                <a:ea typeface="+mn-ea"/>
                <a:cs typeface="Calibri"/>
                <a:hlinkClick r:id="rId3"/>
              </a:rPr>
              <a:t> </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掲載からの抜粋語義</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730250" marR="0" lvl="1" indent="-260985" algn="l" defTabSz="914400" rtl="0" eaLnBrk="1" fontAlgn="auto" latinLnBrk="0" hangingPunct="1">
              <a:lnSpc>
                <a:spcPct val="100000"/>
              </a:lnSpc>
              <a:spcBef>
                <a:spcPts val="290"/>
              </a:spcBef>
              <a:spcAft>
                <a:spcPts val="0"/>
              </a:spcAft>
              <a:buClrTx/>
              <a:buSzTx/>
              <a:buFont typeface="Arial MT"/>
              <a:buChar char="•"/>
              <a:tabLst>
                <a:tab pos="730250" algn="l"/>
                <a:tab pos="73088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喜ばしい</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65" normalizeH="0" baseline="0" noProof="0" dirty="0">
                <a:ln>
                  <a:noFill/>
                </a:ln>
                <a:solidFill>
                  <a:prstClr val="black"/>
                </a:solidFill>
                <a:effectLst/>
                <a:uLnTx/>
                <a:uFillTx/>
                <a:latin typeface="Calibri"/>
                <a:ea typeface="+mn-ea"/>
                <a:cs typeface="Calibri"/>
              </a:rPr>
              <a:t> </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快い</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45" normalizeH="0" baseline="0" noProof="0" dirty="0">
                <a:ln>
                  <a:noFill/>
                </a:ln>
                <a:solidFill>
                  <a:prstClr val="black"/>
                </a:solidFill>
                <a:effectLst/>
                <a:uLnTx/>
                <a:uFillTx/>
                <a:latin typeface="Calibri"/>
                <a:ea typeface="+mn-ea"/>
                <a:cs typeface="Calibri"/>
              </a:rPr>
              <a:t> </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嬉しい</a:t>
            </a:r>
          </a:p>
          <a:p>
            <a:pPr marL="730250" marR="0" lvl="1" indent="-260985" algn="l" defTabSz="914400" rtl="0" eaLnBrk="1" fontAlgn="auto" latinLnBrk="0" hangingPunct="1">
              <a:lnSpc>
                <a:spcPct val="100000"/>
              </a:lnSpc>
              <a:spcBef>
                <a:spcPts val="254"/>
              </a:spcBef>
              <a:spcAft>
                <a:spcPts val="0"/>
              </a:spcAft>
              <a:buClrTx/>
              <a:buSzTx/>
              <a:buFont typeface="Arial MT"/>
              <a:buChar char="•"/>
              <a:tabLst>
                <a:tab pos="730250" algn="l"/>
                <a:tab pos="73088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愛想が良い</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90" normalizeH="0" baseline="0" noProof="0" dirty="0">
                <a:ln>
                  <a:noFill/>
                </a:ln>
                <a:solidFill>
                  <a:prstClr val="black"/>
                </a:solidFill>
                <a:effectLst/>
                <a:uLnTx/>
                <a:uFillTx/>
                <a:latin typeface="Calibri"/>
                <a:ea typeface="+mn-ea"/>
                <a:cs typeface="Calibri"/>
              </a:rPr>
              <a:t> </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親切な</a:t>
            </a:r>
          </a:p>
          <a:p>
            <a:pPr marL="730250" marR="0" lvl="1" indent="-260985" algn="l" defTabSz="914400" rtl="0" eaLnBrk="1" fontAlgn="auto" latinLnBrk="0" hangingPunct="1">
              <a:lnSpc>
                <a:spcPct val="100000"/>
              </a:lnSpc>
              <a:spcBef>
                <a:spcPts val="265"/>
              </a:spcBef>
              <a:spcAft>
                <a:spcPts val="0"/>
              </a:spcAft>
              <a:buClrTx/>
              <a:buSzTx/>
              <a:buFont typeface="Arial MT"/>
              <a:buChar char="•"/>
              <a:tabLst>
                <a:tab pos="730250" algn="l"/>
                <a:tab pos="730885" algn="l"/>
              </a:tabLst>
              <a:defRPr/>
            </a:pPr>
            <a:r>
              <a:rPr kumimoji="0" lang="en-US" altLang="ja-JP" sz="2000" b="1"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廃</a:t>
            </a:r>
            <a:r>
              <a:rPr kumimoji="0" lang="en-US" altLang="ja-JP" sz="2000" b="1"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30" normalizeH="0" baseline="0" noProof="0" dirty="0">
                <a:ln>
                  <a:noFill/>
                </a:ln>
                <a:solidFill>
                  <a:prstClr val="black"/>
                </a:solidFill>
                <a:effectLst/>
                <a:uLnTx/>
                <a:uFillTx/>
                <a:latin typeface="Calibri"/>
                <a:ea typeface="+mn-ea"/>
                <a:cs typeface="Calibri"/>
              </a:rPr>
              <a:t> </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控え目な、内気な、気の進</a:t>
            </a:r>
            <a:r>
              <a:rPr kumimoji="0" lang="ja-JP" altLang="en-US" sz="2000" b="1" i="0" u="none" strike="noStrike" kern="1200" cap="none" spc="-15" normalizeH="0" baseline="0" noProof="0" dirty="0">
                <a:ln>
                  <a:noFill/>
                </a:ln>
                <a:solidFill>
                  <a:prstClr val="black"/>
                </a:solidFill>
                <a:effectLst/>
                <a:uLnTx/>
                <a:uFillTx/>
                <a:latin typeface="Yu Gothic"/>
                <a:ea typeface="+mn-ea"/>
                <a:cs typeface="Yu Gothic"/>
              </a:rPr>
              <a:t>ま</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ない</a:t>
            </a:r>
            <a:endParaRPr kumimoji="0" lang="ja-JP" altLang="en-US" sz="2000" b="0" i="0" u="none" strike="noStrike" kern="1200" cap="none" spc="0" normalizeH="0" baseline="0" noProof="0" dirty="0">
              <a:ln>
                <a:noFill/>
              </a:ln>
              <a:solidFill>
                <a:prstClr val="black"/>
              </a:solidFill>
              <a:effectLst/>
              <a:uLnTx/>
              <a:uFillTx/>
              <a:latin typeface="Yu Gothic"/>
              <a:ea typeface="+mn-ea"/>
              <a:cs typeface="Yu Gothic"/>
            </a:endParaRPr>
          </a:p>
          <a:p>
            <a:pPr marL="730250" marR="0" lvl="1" indent="-260985" algn="l" defTabSz="914400" rtl="0" eaLnBrk="1" fontAlgn="auto" latinLnBrk="0" hangingPunct="1">
              <a:lnSpc>
                <a:spcPct val="100000"/>
              </a:lnSpc>
              <a:spcBef>
                <a:spcPts val="265"/>
              </a:spcBef>
              <a:spcAft>
                <a:spcPts val="0"/>
              </a:spcAft>
              <a:buClrTx/>
              <a:buSzTx/>
              <a:buFont typeface="Arial MT"/>
              <a:buChar char="•"/>
              <a:tabLst>
                <a:tab pos="730250" algn="l"/>
                <a:tab pos="730885" algn="l"/>
              </a:tabLst>
              <a:defRPr/>
            </a:pPr>
            <a:r>
              <a:rPr kumimoji="0" lang="en-US" altLang="ja-JP" sz="2000" b="1"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廃</a:t>
            </a:r>
            <a:r>
              <a:rPr kumimoji="0" lang="en-US" altLang="ja-JP" sz="2000" b="1"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30" normalizeH="0" baseline="0" noProof="0" dirty="0">
                <a:ln>
                  <a:noFill/>
                </a:ln>
                <a:solidFill>
                  <a:prstClr val="black"/>
                </a:solidFill>
                <a:effectLst/>
                <a:uLnTx/>
                <a:uFillTx/>
                <a:latin typeface="Calibri"/>
                <a:ea typeface="+mn-ea"/>
                <a:cs typeface="Calibri"/>
              </a:rPr>
              <a:t> </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取るに足らない</a:t>
            </a:r>
            <a:r>
              <a:rPr kumimoji="0" lang="en-US" altLang="ja-JP" sz="2000" b="1"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40" normalizeH="0" baseline="0" noProof="0" dirty="0">
                <a:ln>
                  <a:noFill/>
                </a:ln>
                <a:solidFill>
                  <a:prstClr val="black"/>
                </a:solidFill>
                <a:effectLst/>
                <a:uLnTx/>
                <a:uFillTx/>
                <a:latin typeface="Calibri"/>
                <a:ea typeface="+mn-ea"/>
                <a:cs typeface="Calibri"/>
              </a:rPr>
              <a:t> </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些細な</a:t>
            </a:r>
            <a:endParaRPr kumimoji="0" lang="ja-JP" altLang="en-US" sz="2000" b="0" i="0" u="none" strike="noStrike" kern="1200" cap="none" spc="0" normalizeH="0" baseline="0" noProof="0" dirty="0">
              <a:ln>
                <a:noFill/>
              </a:ln>
              <a:solidFill>
                <a:prstClr val="black"/>
              </a:solidFill>
              <a:effectLst/>
              <a:uLnTx/>
              <a:uFillTx/>
              <a:latin typeface="Yu Gothic"/>
              <a:ea typeface="+mn-ea"/>
              <a:cs typeface="Yu Gothic"/>
            </a:endParaRPr>
          </a:p>
          <a:p>
            <a:pPr marL="730250" marR="0" lvl="1" indent="-260985" algn="l" defTabSz="914400" rtl="0" eaLnBrk="1" fontAlgn="auto" latinLnBrk="0" hangingPunct="1">
              <a:lnSpc>
                <a:spcPct val="100000"/>
              </a:lnSpc>
              <a:spcBef>
                <a:spcPts val="250"/>
              </a:spcBef>
              <a:spcAft>
                <a:spcPts val="0"/>
              </a:spcAft>
              <a:buClrTx/>
              <a:buSzTx/>
              <a:buFont typeface="Arial MT"/>
              <a:buChar char="•"/>
              <a:tabLst>
                <a:tab pos="730250" algn="l"/>
                <a:tab pos="730885" algn="l"/>
              </a:tabLst>
              <a:defRPr/>
            </a:pPr>
            <a:r>
              <a:rPr kumimoji="0" lang="en-US" altLang="ja-JP" sz="2000" b="1"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廃</a:t>
            </a:r>
            <a:r>
              <a:rPr kumimoji="0" lang="en-US" altLang="ja-JP" sz="2000" b="1"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1" i="0" u="none" strike="noStrike" kern="1200" cap="none" spc="-50" normalizeH="0" baseline="0" noProof="0" dirty="0">
                <a:ln>
                  <a:noFill/>
                </a:ln>
                <a:solidFill>
                  <a:prstClr val="black"/>
                </a:solidFill>
                <a:effectLst/>
                <a:uLnTx/>
                <a:uFillTx/>
                <a:latin typeface="Calibri"/>
                <a:ea typeface="+mn-ea"/>
                <a:cs typeface="Calibri"/>
              </a:rPr>
              <a:t> </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ふしだらな</a:t>
            </a:r>
            <a:endParaRPr kumimoji="0" lang="ja-JP" altLang="en-US" sz="2000" b="0" i="0" u="none" strike="noStrike" kern="1200" cap="none" spc="0" normalizeH="0" baseline="0" noProof="0" dirty="0">
              <a:ln>
                <a:noFill/>
              </a:ln>
              <a:solidFill>
                <a:prstClr val="black"/>
              </a:solidFill>
              <a:effectLst/>
              <a:uLnTx/>
              <a:uFillTx/>
              <a:latin typeface="Yu Gothic"/>
              <a:ea typeface="+mn-ea"/>
              <a:cs typeface="Yu Gothic"/>
            </a:endParaRPr>
          </a:p>
          <a:p>
            <a:pPr marL="280670" marR="0" lvl="0" indent="-268605" algn="l" defTabSz="914400" rtl="0" eaLnBrk="1" fontAlgn="auto" latinLnBrk="0" hangingPunct="1">
              <a:lnSpc>
                <a:spcPct val="100000"/>
              </a:lnSpc>
              <a:spcBef>
                <a:spcPts val="695"/>
              </a:spcBef>
              <a:spcAft>
                <a:spcPts val="0"/>
              </a:spcAft>
              <a:buClrTx/>
              <a:buSzTx/>
              <a:buFont typeface="Arial MT"/>
              <a:buChar char="•"/>
              <a:tabLst>
                <a:tab pos="280670" algn="l"/>
                <a:tab pos="281305" algn="l"/>
              </a:tabLst>
              <a:defRPr/>
            </a:pP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歴史的語形変化</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730250" marR="0" lvl="1" indent="-268605" algn="l" defTabSz="914400" rtl="0" eaLnBrk="1" fontAlgn="auto" latinLnBrk="0" hangingPunct="1">
              <a:lnSpc>
                <a:spcPct val="100000"/>
              </a:lnSpc>
              <a:spcBef>
                <a:spcPts val="280"/>
              </a:spcBef>
              <a:spcAft>
                <a:spcPts val="0"/>
              </a:spcAft>
              <a:buClrTx/>
              <a:buSzTx/>
              <a:buFont typeface="Arial MT"/>
              <a:buChar char="•"/>
              <a:tabLst>
                <a:tab pos="730250" algn="l"/>
                <a:tab pos="73088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ラテン語</a:t>
            </a:r>
            <a:r>
              <a:rPr kumimoji="0" lang="ja-JP" altLang="en-US" sz="2000" b="0" i="0" u="none" strike="noStrike" kern="1200" cap="none" spc="-140" normalizeH="0" baseline="0" noProof="0" dirty="0">
                <a:ln>
                  <a:noFill/>
                </a:ln>
                <a:solidFill>
                  <a:prstClr val="black"/>
                </a:solidFill>
                <a:effectLst/>
                <a:uLnTx/>
                <a:uFillTx/>
                <a:latin typeface="Yu Gothic"/>
                <a:ea typeface="+mn-ea"/>
                <a:cs typeface="Yu Gothic"/>
              </a:rPr>
              <a:t> </a:t>
            </a:r>
            <a:r>
              <a:rPr kumimoji="0" lang="en-US" altLang="ja-JP" sz="2000" b="0" i="1" u="none" strike="noStrike" kern="1200" cap="none" spc="-5" normalizeH="0" baseline="0" noProof="0" dirty="0" err="1">
                <a:ln>
                  <a:noFill/>
                </a:ln>
                <a:solidFill>
                  <a:prstClr val="black"/>
                </a:solidFill>
                <a:effectLst/>
                <a:uLnTx/>
                <a:uFillTx/>
                <a:latin typeface="Calibri"/>
                <a:ea typeface="+mn-ea"/>
                <a:cs typeface="Calibri"/>
              </a:rPr>
              <a:t>nesc</a:t>
            </a:r>
            <a:r>
              <a:rPr kumimoji="0" lang="en-US" altLang="ja-JP" sz="2000" b="0" i="1" u="none" strike="noStrike" kern="1200" cap="none" spc="-10" normalizeH="0" baseline="0" noProof="0" dirty="0" err="1">
                <a:ln>
                  <a:noFill/>
                </a:ln>
                <a:solidFill>
                  <a:prstClr val="black"/>
                </a:solidFill>
                <a:effectLst/>
                <a:uLnTx/>
                <a:uFillTx/>
                <a:latin typeface="Calibri"/>
                <a:ea typeface="+mn-ea"/>
                <a:cs typeface="Calibri"/>
              </a:rPr>
              <a:t>i</a:t>
            </a:r>
            <a:r>
              <a:rPr kumimoji="0" lang="en-US" altLang="ja-JP" sz="2000" b="0" i="1" u="none" strike="noStrike" kern="1200" cap="none" spc="-5" normalizeH="0" baseline="0" noProof="0" dirty="0" err="1">
                <a:ln>
                  <a:noFill/>
                </a:ln>
                <a:solidFill>
                  <a:prstClr val="black"/>
                </a:solidFill>
                <a:effectLst/>
                <a:uLnTx/>
                <a:uFillTx/>
                <a:latin typeface="Calibri"/>
                <a:ea typeface="+mn-ea"/>
                <a:cs typeface="Calibri"/>
              </a:rPr>
              <a:t>us</a:t>
            </a:r>
            <a:endParaRPr kumimoji="0" lang="ja-JP" altLang="en-US" sz="2000" b="0" i="0" u="none" strike="noStrike" kern="1200" cap="none" spc="0" normalizeH="0" baseline="0" noProof="0" dirty="0">
              <a:ln>
                <a:noFill/>
              </a:ln>
              <a:solidFill>
                <a:prstClr val="black"/>
              </a:solidFill>
              <a:effectLst/>
              <a:uLnTx/>
              <a:uFillTx/>
              <a:latin typeface="Calibri"/>
              <a:ea typeface="+mn-ea"/>
              <a:cs typeface="Calibri"/>
            </a:endParaRPr>
          </a:p>
          <a:p>
            <a:pPr marL="1091565" marR="0" lvl="2" indent="-180340" algn="l" defTabSz="914400" rtl="0" eaLnBrk="1" fontAlgn="auto" latinLnBrk="0" hangingPunct="1">
              <a:lnSpc>
                <a:spcPct val="100000"/>
              </a:lnSpc>
              <a:spcBef>
                <a:spcPts val="340"/>
              </a:spcBef>
              <a:spcAft>
                <a:spcPts val="0"/>
              </a:spcAft>
              <a:buClrTx/>
              <a:buSzTx/>
              <a:buFont typeface="Arial MT"/>
              <a:buChar char="•"/>
              <a:tabLst>
                <a:tab pos="1092200" algn="l"/>
              </a:tabLst>
              <a:defRPr/>
            </a:pPr>
            <a:r>
              <a:rPr kumimoji="0" lang="en-US" altLang="ja-JP" sz="1600" b="0" i="1" u="none" strike="noStrike" kern="1200" cap="none" spc="-5" normalizeH="0" baseline="0" noProof="0" dirty="0">
                <a:ln>
                  <a:noFill/>
                </a:ln>
                <a:solidFill>
                  <a:prstClr val="black"/>
                </a:solidFill>
                <a:effectLst/>
                <a:uLnTx/>
                <a:uFillTx/>
                <a:latin typeface="Calibri"/>
                <a:ea typeface="+mn-ea"/>
                <a:cs typeface="Calibri"/>
              </a:rPr>
              <a:t>ne-</a:t>
            </a:r>
            <a:r>
              <a:rPr kumimoji="0" lang="en-US" altLang="ja-JP" sz="1600" b="0"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1600" b="0" i="0" u="none" strike="noStrike" kern="1200" cap="none" spc="-5" normalizeH="0" baseline="0" noProof="0" dirty="0">
                <a:ln>
                  <a:noFill/>
                </a:ln>
                <a:solidFill>
                  <a:prstClr val="black"/>
                </a:solidFill>
                <a:effectLst/>
                <a:uLnTx/>
                <a:uFillTx/>
                <a:latin typeface="Yu Gothic"/>
                <a:ea typeface="+mn-ea"/>
                <a:cs typeface="Yu Gothic"/>
              </a:rPr>
              <a:t>否定の接頭辞</a:t>
            </a:r>
            <a:r>
              <a:rPr kumimoji="0" lang="en-US" altLang="ja-JP" sz="1600" b="0"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1600" b="0" i="0" u="none" strike="noStrike" kern="1200" cap="none" spc="20" normalizeH="0" baseline="0" noProof="0" dirty="0">
                <a:ln>
                  <a:noFill/>
                </a:ln>
                <a:solidFill>
                  <a:prstClr val="black"/>
                </a:solidFill>
                <a:effectLst/>
                <a:uLnTx/>
                <a:uFillTx/>
                <a:latin typeface="Calibri"/>
                <a:ea typeface="+mn-ea"/>
                <a:cs typeface="Calibri"/>
              </a:rPr>
              <a:t> </a:t>
            </a:r>
            <a:r>
              <a:rPr kumimoji="0" lang="en-US" altLang="ja-JP" sz="1600" b="0"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1600" b="0" i="0" u="none" strike="noStrike" kern="1200" cap="none" spc="5" normalizeH="0" baseline="0" noProof="0" dirty="0">
                <a:ln>
                  <a:noFill/>
                </a:ln>
                <a:solidFill>
                  <a:prstClr val="black"/>
                </a:solidFill>
                <a:effectLst/>
                <a:uLnTx/>
                <a:uFillTx/>
                <a:latin typeface="Calibri"/>
                <a:ea typeface="+mn-ea"/>
                <a:cs typeface="Calibri"/>
              </a:rPr>
              <a:t> </a:t>
            </a:r>
            <a:r>
              <a:rPr kumimoji="0" lang="en-US" altLang="ja-JP" sz="1600" b="0" i="1" u="none" strike="noStrike" kern="1200" cap="none" spc="-5" normalizeH="0" baseline="0" noProof="0" dirty="0">
                <a:ln>
                  <a:noFill/>
                </a:ln>
                <a:solidFill>
                  <a:prstClr val="black"/>
                </a:solidFill>
                <a:effectLst/>
                <a:uLnTx/>
                <a:uFillTx/>
                <a:latin typeface="Calibri"/>
                <a:ea typeface="+mn-ea"/>
                <a:cs typeface="Calibri"/>
              </a:rPr>
              <a:t>sci-</a:t>
            </a:r>
            <a:r>
              <a:rPr kumimoji="0" lang="en-US" altLang="ja-JP" sz="1600" b="0" i="0" u="none" strike="noStrike" kern="1200" cap="none" spc="-5" normalizeH="0" baseline="0" noProof="0" dirty="0">
                <a:ln>
                  <a:noFill/>
                </a:ln>
                <a:solidFill>
                  <a:prstClr val="black"/>
                </a:solidFill>
                <a:effectLst/>
                <a:uLnTx/>
                <a:uFillTx/>
                <a:latin typeface="Calibri"/>
                <a:ea typeface="+mn-ea"/>
                <a:cs typeface="Calibri"/>
              </a:rPr>
              <a:t>(</a:t>
            </a:r>
            <a:r>
              <a:rPr kumimoji="0" lang="en-US" altLang="ja-JP" sz="1600" b="0" i="1" u="none" strike="noStrike" kern="1200" cap="none" spc="-5" normalizeH="0" baseline="0" noProof="0" dirty="0" err="1">
                <a:ln>
                  <a:noFill/>
                </a:ln>
                <a:solidFill>
                  <a:prstClr val="black"/>
                </a:solidFill>
                <a:effectLst/>
                <a:uLnTx/>
                <a:uFillTx/>
                <a:latin typeface="Calibri"/>
                <a:ea typeface="+mn-ea"/>
                <a:cs typeface="Calibri"/>
              </a:rPr>
              <a:t>scīre</a:t>
            </a:r>
            <a:r>
              <a:rPr kumimoji="0" lang="ja-JP" altLang="en-US" sz="1600" b="0" i="0" u="none" strike="noStrike" kern="1200" cap="none" spc="-5" normalizeH="0" baseline="0" noProof="0" dirty="0">
                <a:ln>
                  <a:noFill/>
                </a:ln>
                <a:solidFill>
                  <a:prstClr val="black"/>
                </a:solidFill>
                <a:effectLst/>
                <a:uLnTx/>
                <a:uFillTx/>
                <a:latin typeface="Yu Gothic"/>
                <a:ea typeface="+mn-ea"/>
                <a:cs typeface="Yu Gothic"/>
              </a:rPr>
              <a:t>「～を知る」の語幹</a:t>
            </a:r>
            <a:r>
              <a:rPr kumimoji="0" lang="en-US" altLang="ja-JP" sz="1600" b="0"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1600" b="0" i="0" u="none" strike="noStrike" kern="1200" cap="none" spc="15" normalizeH="0" baseline="0" noProof="0" dirty="0">
                <a:ln>
                  <a:noFill/>
                </a:ln>
                <a:solidFill>
                  <a:prstClr val="black"/>
                </a:solidFill>
                <a:effectLst/>
                <a:uLnTx/>
                <a:uFillTx/>
                <a:latin typeface="Calibri"/>
                <a:ea typeface="+mn-ea"/>
                <a:cs typeface="Calibri"/>
              </a:rPr>
              <a:t> </a:t>
            </a:r>
            <a:r>
              <a:rPr kumimoji="0" lang="en-US" altLang="ja-JP" sz="1600" b="0"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1600" b="0" i="0" u="none" strike="noStrike" kern="1200" cap="none" spc="5" normalizeH="0" baseline="0" noProof="0" dirty="0">
                <a:ln>
                  <a:noFill/>
                </a:ln>
                <a:solidFill>
                  <a:prstClr val="black"/>
                </a:solidFill>
                <a:effectLst/>
                <a:uLnTx/>
                <a:uFillTx/>
                <a:latin typeface="Calibri"/>
                <a:ea typeface="+mn-ea"/>
                <a:cs typeface="Calibri"/>
              </a:rPr>
              <a:t> </a:t>
            </a:r>
            <a:r>
              <a:rPr kumimoji="0" lang="en-US" altLang="ja-JP" sz="1600" b="0" i="1" u="none" strike="noStrike" kern="1200" cap="none" spc="-5" normalizeH="0" baseline="0" noProof="0" dirty="0">
                <a:ln>
                  <a:noFill/>
                </a:ln>
                <a:solidFill>
                  <a:prstClr val="black"/>
                </a:solidFill>
                <a:effectLst/>
                <a:uLnTx/>
                <a:uFillTx/>
                <a:latin typeface="Calibri"/>
                <a:ea typeface="+mn-ea"/>
                <a:cs typeface="Calibri"/>
              </a:rPr>
              <a:t>-us</a:t>
            </a:r>
            <a:r>
              <a:rPr kumimoji="0" lang="en-US" altLang="ja-JP" sz="1600" b="0"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1600" b="0" i="0" u="none" strike="noStrike" kern="1200" cap="none" spc="-5" normalizeH="0" baseline="0" noProof="0" dirty="0">
                <a:ln>
                  <a:noFill/>
                </a:ln>
                <a:solidFill>
                  <a:prstClr val="black"/>
                </a:solidFill>
                <a:effectLst/>
                <a:uLnTx/>
                <a:uFillTx/>
                <a:latin typeface="Yu Gothic"/>
                <a:ea typeface="+mn-ea"/>
                <a:cs typeface="Yu Gothic"/>
              </a:rPr>
              <a:t>形容詞の接尾辞</a:t>
            </a:r>
            <a:r>
              <a:rPr kumimoji="0" lang="en-US" altLang="ja-JP" sz="1600" b="0" i="0" u="none" strike="noStrike" kern="1200" cap="none" spc="-5" normalizeH="0" baseline="0" noProof="0" dirty="0">
                <a:ln>
                  <a:noFill/>
                </a:ln>
                <a:solidFill>
                  <a:prstClr val="black"/>
                </a:solidFill>
                <a:effectLst/>
                <a:uLnTx/>
                <a:uFillTx/>
                <a:latin typeface="Calibri"/>
                <a:ea typeface="+mn-ea"/>
                <a:cs typeface="Calibri"/>
              </a:rPr>
              <a:t>)</a:t>
            </a:r>
            <a:endParaRPr kumimoji="0" lang="ja-JP" altLang="en-US" sz="1600" b="0" i="0" u="none" strike="noStrike" kern="120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4155827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意味の向上</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675"/>
              </a:spcBef>
              <a:spcAft>
                <a:spcPts val="0"/>
              </a:spcAft>
              <a:buClrTx/>
              <a:buSzTx/>
              <a:buFontTx/>
              <a:buNone/>
              <a:tabLst/>
              <a:defRPr/>
            </a:pPr>
            <a:r>
              <a:rPr kumimoji="0" lang="ja-JP" altLang="en-US" sz="2600" b="1" i="0" u="none" strike="noStrike" kern="1200" cap="none" spc="0" normalizeH="0" baseline="0" noProof="0" dirty="0">
                <a:ln>
                  <a:noFill/>
                </a:ln>
                <a:solidFill>
                  <a:prstClr val="black"/>
                </a:solidFill>
                <a:effectLst/>
                <a:uLnTx/>
                <a:uFillTx/>
                <a:latin typeface="Yu Gothic"/>
                <a:ea typeface="+mn-ea"/>
                <a:cs typeface="Yu Gothic"/>
              </a:rPr>
              <a:t>歴史的意味変化</a:t>
            </a:r>
            <a:endParaRPr kumimoji="0" lang="ja-JP" altLang="en-US" sz="2600" b="0" i="0" u="none" strike="noStrike" kern="1200" cap="none" spc="0" normalizeH="0" baseline="0" noProof="0" dirty="0">
              <a:ln>
                <a:noFill/>
              </a:ln>
              <a:solidFill>
                <a:prstClr val="black"/>
              </a:solidFill>
              <a:effectLst/>
              <a:uLnTx/>
              <a:uFillTx/>
              <a:latin typeface="Yu Gothic"/>
              <a:ea typeface="+mn-ea"/>
              <a:cs typeface="Yu Gothic"/>
            </a:endParaRPr>
          </a:p>
          <a:p>
            <a:pPr marL="241300" marR="0" lvl="0" indent="-228600" algn="l" defTabSz="914400" rtl="0" eaLnBrk="1" fontAlgn="auto" latinLnBrk="0" hangingPunct="1">
              <a:lnSpc>
                <a:spcPct val="100000"/>
              </a:lnSpc>
              <a:spcBef>
                <a:spcPts val="484"/>
              </a:spcBef>
              <a:spcAft>
                <a:spcPts val="0"/>
              </a:spcAft>
              <a:buClrTx/>
              <a:buSzTx/>
              <a:buFont typeface="Arial MT"/>
              <a:buChar char="•"/>
              <a:tabLst>
                <a:tab pos="240665" algn="l"/>
                <a:tab pos="241300" algn="l"/>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最初の記録</a:t>
            </a:r>
            <a:r>
              <a:rPr kumimoji="0" lang="ja-JP" altLang="en-US" sz="2200" b="0" i="0" u="none" strike="noStrike" kern="1200" cap="none" spc="-20" normalizeH="0" baseline="0" noProof="0" dirty="0">
                <a:ln>
                  <a:noFill/>
                </a:ln>
                <a:solidFill>
                  <a:prstClr val="black"/>
                </a:solidFill>
                <a:effectLst/>
                <a:uLnTx/>
                <a:uFillTx/>
                <a:latin typeface="Yu Gothic"/>
                <a:ea typeface="+mn-ea"/>
                <a:cs typeface="Yu Gothic"/>
              </a:rPr>
              <a:t>は</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1250</a:t>
            </a:r>
            <a:r>
              <a:rPr kumimoji="0" lang="ja-JP" altLang="en-US" sz="2200" b="0" i="0" u="none" strike="noStrike" kern="1200" cap="none" spc="509" normalizeH="0" baseline="0" noProof="0" dirty="0">
                <a:ln>
                  <a:noFill/>
                </a:ln>
                <a:solidFill>
                  <a:prstClr val="black"/>
                </a:solidFill>
                <a:effectLst/>
                <a:uLnTx/>
                <a:uFillTx/>
                <a:latin typeface="Yu Gothic"/>
                <a:ea typeface="+mn-ea"/>
                <a:cs typeface="Yu Gothic"/>
              </a:rPr>
              <a:t>年</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200" b="0" i="0" u="none" strike="noStrike" kern="1200" cap="none" spc="30" normalizeH="0" baseline="0" noProof="0" dirty="0">
                <a:ln>
                  <a:noFill/>
                </a:ln>
                <a:solidFill>
                  <a:prstClr val="black"/>
                </a:solidFill>
                <a:effectLst/>
                <a:uLnTx/>
                <a:uFillTx/>
                <a:latin typeface="Calibri"/>
                <a:ea typeface="+mn-ea"/>
                <a:cs typeface="Calibri"/>
              </a:rPr>
              <a:t> </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1300</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年の中英語期で「馬鹿な、愚かな」の意味</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241300" marR="0" lvl="0" indent="-228600" algn="l" defTabSz="914400" rtl="0" eaLnBrk="1" fontAlgn="auto" latinLnBrk="0" hangingPunct="1">
              <a:lnSpc>
                <a:spcPct val="100000"/>
              </a:lnSpc>
              <a:spcBef>
                <a:spcPts val="484"/>
              </a:spcBef>
              <a:spcAft>
                <a:spcPts val="0"/>
              </a:spcAft>
              <a:buClrTx/>
              <a:buSzTx/>
              <a:buFont typeface="Arial MT"/>
              <a:buChar char="•"/>
              <a:tabLst>
                <a:tab pos="240665" algn="l"/>
                <a:tab pos="241300" algn="l"/>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フランス由来の「馬鹿</a:t>
            </a:r>
            <a:r>
              <a:rPr kumimoji="0" lang="ja-JP" altLang="en-US" sz="2200" b="0" i="0" u="none" strike="noStrike" kern="1200" cap="none" spc="-25" normalizeH="0" baseline="0" noProof="0" dirty="0">
                <a:ln>
                  <a:noFill/>
                </a:ln>
                <a:solidFill>
                  <a:prstClr val="black"/>
                </a:solidFill>
                <a:effectLst/>
                <a:uLnTx/>
                <a:uFillTx/>
                <a:latin typeface="Yu Gothic"/>
                <a:ea typeface="+mn-ea"/>
                <a:cs typeface="Yu Gothic"/>
              </a:rPr>
              <a:t>な</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200" b="0" i="0" u="none" strike="noStrike" kern="1200" cap="none" spc="-45"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単純な」</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241300" marR="0" lvl="0" indent="-228600" algn="l" defTabSz="914400" rtl="0" eaLnBrk="1" fontAlgn="auto" latinLnBrk="0" hangingPunct="1">
              <a:lnSpc>
                <a:spcPct val="100000"/>
              </a:lnSpc>
              <a:spcBef>
                <a:spcPts val="465"/>
              </a:spcBef>
              <a:spcAft>
                <a:spcPts val="0"/>
              </a:spcAft>
              <a:buClrTx/>
              <a:buSzTx/>
              <a:buFont typeface="Arial MT"/>
              <a:buChar char="•"/>
              <a:tabLst>
                <a:tab pos="240665" algn="l"/>
                <a:tab pos="241300" algn="l"/>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フランス由来の「無知</a:t>
            </a:r>
            <a:r>
              <a:rPr kumimoji="0" lang="ja-JP" altLang="en-US" sz="2200" b="0" i="0" u="none" strike="noStrike" kern="1200" cap="none" spc="-25" normalizeH="0" baseline="0" noProof="0" dirty="0">
                <a:ln>
                  <a:noFill/>
                </a:ln>
                <a:solidFill>
                  <a:prstClr val="black"/>
                </a:solidFill>
                <a:effectLst/>
                <a:uLnTx/>
                <a:uFillTx/>
                <a:latin typeface="Yu Gothic"/>
                <a:ea typeface="+mn-ea"/>
                <a:cs typeface="Yu Gothic"/>
              </a:rPr>
              <a:t>な</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200" b="0" i="0" u="none" strike="noStrike" kern="1200" cap="none" spc="-45"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無能な」</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241300" marR="0" lvl="0" indent="-228600" algn="l" defTabSz="914400" rtl="0" eaLnBrk="1" fontAlgn="auto" latinLnBrk="0" hangingPunct="1">
              <a:lnSpc>
                <a:spcPct val="100000"/>
              </a:lnSpc>
              <a:spcBef>
                <a:spcPts val="470"/>
              </a:spcBef>
              <a:spcAft>
                <a:spcPts val="0"/>
              </a:spcAft>
              <a:buClrTx/>
              <a:buSzTx/>
              <a:buFont typeface="Arial MT"/>
              <a:buChar char="•"/>
              <a:tabLst>
                <a:tab pos="240665" algn="l"/>
                <a:tab pos="241300" algn="l"/>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その後に以下の変遷を辿る</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698500" marR="0" lvl="1" indent="-229235" algn="l" defTabSz="914400" rtl="0" eaLnBrk="1" fontAlgn="auto" latinLnBrk="0" hangingPunct="1">
              <a:lnSpc>
                <a:spcPct val="100000"/>
              </a:lnSpc>
              <a:spcBef>
                <a:spcPts val="60"/>
              </a:spcBef>
              <a:spcAft>
                <a:spcPts val="0"/>
              </a:spcAft>
              <a:buClrTx/>
              <a:buSzTx/>
              <a:buFont typeface="Arial MT"/>
              <a:buChar char="•"/>
              <a:tabLst>
                <a:tab pos="698500" algn="l"/>
                <a:tab pos="699135" algn="l"/>
              </a:tabLst>
              <a:defRPr/>
            </a:pP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ふしだらな</a:t>
            </a:r>
            <a:endParaRPr kumimoji="0" lang="ja-JP" altLang="en-US" sz="1900" b="0" i="0" u="none" strike="noStrike" kern="1200" cap="none" spc="0" normalizeH="0" baseline="0" noProof="0" dirty="0">
              <a:ln>
                <a:noFill/>
              </a:ln>
              <a:solidFill>
                <a:prstClr val="black"/>
              </a:solidFill>
              <a:effectLst/>
              <a:uLnTx/>
              <a:uFillTx/>
              <a:latin typeface="Yu Gothic"/>
              <a:ea typeface="+mn-ea"/>
              <a:cs typeface="Yu Gothic"/>
            </a:endParaRPr>
          </a:p>
          <a:p>
            <a:pPr marL="698500" marR="0" lvl="1" indent="-229235" algn="l" defTabSz="914400" rtl="0" eaLnBrk="1" fontAlgn="auto" latinLnBrk="0" hangingPunct="1">
              <a:lnSpc>
                <a:spcPct val="100000"/>
              </a:lnSpc>
              <a:spcBef>
                <a:spcPts val="50"/>
              </a:spcBef>
              <a:spcAft>
                <a:spcPts val="0"/>
              </a:spcAft>
              <a:buClrTx/>
              <a:buSzTx/>
              <a:buFont typeface="Arial MT"/>
              <a:buChar char="•"/>
              <a:tabLst>
                <a:tab pos="698500" algn="l"/>
                <a:tab pos="699135" algn="l"/>
              </a:tabLst>
              <a:defRPr/>
            </a:pP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潔癖な、細かなことにこだわる</a:t>
            </a:r>
            <a:endParaRPr kumimoji="0" lang="ja-JP" altLang="en-US" sz="1900" b="0" i="0" u="none" strike="noStrike" kern="1200" cap="none" spc="0" normalizeH="0" baseline="0" noProof="0" dirty="0">
              <a:ln>
                <a:noFill/>
              </a:ln>
              <a:solidFill>
                <a:prstClr val="black"/>
              </a:solidFill>
              <a:effectLst/>
              <a:uLnTx/>
              <a:uFillTx/>
              <a:latin typeface="Yu Gothic"/>
              <a:ea typeface="+mn-ea"/>
              <a:cs typeface="Yu Gothic"/>
            </a:endParaRPr>
          </a:p>
          <a:p>
            <a:pPr marL="698500" marR="0" lvl="1" indent="-229235" algn="l" defTabSz="914400" rtl="0" eaLnBrk="1" fontAlgn="auto" latinLnBrk="0" hangingPunct="1">
              <a:lnSpc>
                <a:spcPct val="100000"/>
              </a:lnSpc>
              <a:spcBef>
                <a:spcPts val="35"/>
              </a:spcBef>
              <a:spcAft>
                <a:spcPts val="0"/>
              </a:spcAft>
              <a:buClrTx/>
              <a:buSzTx/>
              <a:buFont typeface="Arial MT"/>
              <a:buChar char="•"/>
              <a:tabLst>
                <a:tab pos="698500" algn="l"/>
                <a:tab pos="699135" algn="l"/>
              </a:tabLst>
              <a:defRPr/>
            </a:pP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気難しい</a:t>
            </a:r>
            <a:endParaRPr kumimoji="0" lang="ja-JP" altLang="en-US" sz="1900" b="0" i="0" u="none" strike="noStrike" kern="1200" cap="none" spc="0" normalizeH="0" baseline="0" noProof="0" dirty="0">
              <a:ln>
                <a:noFill/>
              </a:ln>
              <a:solidFill>
                <a:prstClr val="black"/>
              </a:solidFill>
              <a:effectLst/>
              <a:uLnTx/>
              <a:uFillTx/>
              <a:latin typeface="Yu Gothic"/>
              <a:ea typeface="+mn-ea"/>
              <a:cs typeface="Yu Gothic"/>
            </a:endParaRPr>
          </a:p>
          <a:p>
            <a:pPr marL="698500" marR="0" lvl="1" indent="-229235" algn="l" defTabSz="914400" rtl="0" eaLnBrk="1" fontAlgn="auto" latinLnBrk="0" hangingPunct="1">
              <a:lnSpc>
                <a:spcPct val="100000"/>
              </a:lnSpc>
              <a:spcBef>
                <a:spcPts val="50"/>
              </a:spcBef>
              <a:spcAft>
                <a:spcPts val="0"/>
              </a:spcAft>
              <a:buClrTx/>
              <a:buSzTx/>
              <a:buFont typeface="Arial MT"/>
              <a:buChar char="•"/>
              <a:tabLst>
                <a:tab pos="698500" algn="l"/>
                <a:tab pos="699135" algn="l"/>
              </a:tabLst>
              <a:defRPr/>
            </a:pP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細かい、繊細な</a:t>
            </a:r>
            <a:endParaRPr kumimoji="0" lang="ja-JP" altLang="en-US" sz="1900" b="0" i="0" u="none" strike="noStrike" kern="1200" cap="none" spc="0" normalizeH="0" baseline="0" noProof="0" dirty="0">
              <a:ln>
                <a:noFill/>
              </a:ln>
              <a:solidFill>
                <a:prstClr val="black"/>
              </a:solidFill>
              <a:effectLst/>
              <a:uLnTx/>
              <a:uFillTx/>
              <a:latin typeface="Yu Gothic"/>
              <a:ea typeface="+mn-ea"/>
              <a:cs typeface="Yu Gothic"/>
            </a:endParaRPr>
          </a:p>
          <a:p>
            <a:pPr marL="698500" marR="0" lvl="1" indent="-229235" algn="l" defTabSz="914400" rtl="0" eaLnBrk="1" fontAlgn="auto" latinLnBrk="0" hangingPunct="1">
              <a:lnSpc>
                <a:spcPct val="100000"/>
              </a:lnSpc>
              <a:spcBef>
                <a:spcPts val="45"/>
              </a:spcBef>
              <a:spcAft>
                <a:spcPts val="0"/>
              </a:spcAft>
              <a:buClrTx/>
              <a:buSzTx/>
              <a:buFont typeface="Arial MT"/>
              <a:buChar char="•"/>
              <a:tabLst>
                <a:tab pos="698500" algn="l"/>
                <a:tab pos="699135" algn="l"/>
              </a:tabLst>
              <a:defRPr/>
            </a:pPr>
            <a:r>
              <a:rPr kumimoji="0" lang="ja-JP" altLang="en-US" sz="1900" b="0" i="0" u="none" strike="noStrike" kern="1200" cap="none" spc="-10" normalizeH="0" baseline="0" noProof="0" dirty="0">
                <a:ln>
                  <a:noFill/>
                </a:ln>
                <a:solidFill>
                  <a:prstClr val="black"/>
                </a:solidFill>
                <a:effectLst/>
                <a:uLnTx/>
                <a:uFillTx/>
                <a:latin typeface="Yu Gothic"/>
                <a:ea typeface="+mn-ea"/>
                <a:cs typeface="Yu Gothic"/>
              </a:rPr>
              <a:t>正確な、重要な</a:t>
            </a:r>
            <a:endParaRPr kumimoji="0" lang="ja-JP" altLang="en-US" sz="1900" b="0" i="0" u="none" strike="noStrike" kern="1200" cap="none" spc="0" normalizeH="0" baseline="0" noProof="0" dirty="0">
              <a:ln>
                <a:noFill/>
              </a:ln>
              <a:solidFill>
                <a:prstClr val="black"/>
              </a:solidFill>
              <a:effectLst/>
              <a:uLnTx/>
              <a:uFillTx/>
              <a:latin typeface="Yu Gothic"/>
              <a:ea typeface="+mn-ea"/>
              <a:cs typeface="Yu Gothic"/>
            </a:endParaRPr>
          </a:p>
          <a:p>
            <a:pPr marL="698500" marR="0" lvl="1" indent="-229235" algn="l" defTabSz="914400" rtl="0" eaLnBrk="1" fontAlgn="auto" latinLnBrk="0" hangingPunct="1">
              <a:lnSpc>
                <a:spcPct val="100000"/>
              </a:lnSpc>
              <a:spcBef>
                <a:spcPts val="40"/>
              </a:spcBef>
              <a:spcAft>
                <a:spcPts val="0"/>
              </a:spcAft>
              <a:buClrTx/>
              <a:buSzTx/>
              <a:buFont typeface="Arial MT"/>
              <a:buChar char="•"/>
              <a:tabLst>
                <a:tab pos="698500" algn="l"/>
                <a:tab pos="699135" algn="l"/>
              </a:tabLst>
              <a:defRPr/>
            </a:pP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細かなところまで精密な</a:t>
            </a:r>
            <a:endParaRPr kumimoji="0" lang="ja-JP" altLang="en-US" sz="1900" b="0" i="0" u="none" strike="noStrike" kern="1200" cap="none" spc="0" normalizeH="0" baseline="0" noProof="0" dirty="0">
              <a:ln>
                <a:noFill/>
              </a:ln>
              <a:solidFill>
                <a:prstClr val="black"/>
              </a:solidFill>
              <a:effectLst/>
              <a:uLnTx/>
              <a:uFillTx/>
              <a:latin typeface="Yu Gothic"/>
              <a:ea typeface="+mn-ea"/>
              <a:cs typeface="Yu Gothic"/>
            </a:endParaRPr>
          </a:p>
          <a:p>
            <a:pPr marL="698500" marR="0" lvl="1" indent="-229235" algn="l" defTabSz="914400" rtl="0" eaLnBrk="1" fontAlgn="auto" latinLnBrk="0" hangingPunct="1">
              <a:lnSpc>
                <a:spcPct val="100000"/>
              </a:lnSpc>
              <a:spcBef>
                <a:spcPts val="50"/>
              </a:spcBef>
              <a:spcAft>
                <a:spcPts val="0"/>
              </a:spcAft>
              <a:buClrTx/>
              <a:buSzTx/>
              <a:buFont typeface="Arial MT"/>
              <a:buChar char="•"/>
              <a:tabLst>
                <a:tab pos="698500" algn="l"/>
                <a:tab pos="699135" algn="l"/>
              </a:tabLst>
              <a:defRPr/>
            </a:pP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喜ばしい、魅力的な</a:t>
            </a:r>
            <a:endParaRPr kumimoji="0" lang="ja-JP" altLang="en-US" sz="1900" b="0" i="0" u="none" strike="noStrike" kern="1200" cap="none" spc="0" normalizeH="0" baseline="0" noProof="0" dirty="0">
              <a:ln>
                <a:noFill/>
              </a:ln>
              <a:solidFill>
                <a:prstClr val="black"/>
              </a:solidFill>
              <a:effectLst/>
              <a:uLnTx/>
              <a:uFillTx/>
              <a:latin typeface="Yu Gothic"/>
              <a:ea typeface="+mn-ea"/>
              <a:cs typeface="Yu Gothic"/>
            </a:endParaRPr>
          </a:p>
        </p:txBody>
      </p:sp>
    </p:spTree>
    <p:extLst>
      <p:ext uri="{BB962C8B-B14F-4D97-AF65-F5344CB8AC3E}">
        <p14:creationId xmlns:p14="http://schemas.microsoft.com/office/powerpoint/2010/main" val="1910917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意味の向上</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95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歴史的意味変化をより深く</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ts val="2590"/>
              </a:lnSpc>
              <a:spcBef>
                <a:spcPts val="107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元々は</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馬鹿</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で</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愚かな</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ものを指し、やがて</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向こう見ずな</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ものを意味をするよ うになった。</a:t>
            </a:r>
          </a:p>
          <a:p>
            <a:pPr marL="12700" marR="5080" lvl="0" indent="0" algn="l" defTabSz="914400" rtl="0" eaLnBrk="1" fontAlgn="auto" latinLnBrk="0" hangingPunct="1">
              <a:lnSpc>
                <a:spcPts val="2590"/>
              </a:lnSpc>
              <a:spcBef>
                <a:spcPts val="101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そのようなものは</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扱いが難しい</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が、得てして</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繊細</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で</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細かいところまで精密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である。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ct val="100000"/>
              </a:lnSpc>
              <a:spcBef>
                <a:spcPts val="67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その意味が発展し、現在</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の</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喜ばしい</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魅力的</a:t>
            </a:r>
            <a:r>
              <a:rPr kumimoji="0" lang="ja-JP" altLang="en-US" sz="2400" b="1" i="0" u="none" strike="noStrike" kern="1200" cap="none" spc="-10" normalizeH="0" baseline="0" noProof="0" dirty="0">
                <a:ln>
                  <a:noFill/>
                </a:ln>
                <a:solidFill>
                  <a:prstClr val="black"/>
                </a:solidFill>
                <a:effectLst/>
                <a:uLnTx/>
                <a:uFillTx/>
                <a:latin typeface="Yu Gothic"/>
                <a:ea typeface="+mn-ea"/>
                <a:cs typeface="Yu Gothic"/>
              </a:rPr>
              <a:t>な</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ものを表すようになった。</a:t>
            </a:r>
          </a:p>
        </p:txBody>
      </p:sp>
    </p:spTree>
    <p:extLst>
      <p:ext uri="{BB962C8B-B14F-4D97-AF65-F5344CB8AC3E}">
        <p14:creationId xmlns:p14="http://schemas.microsoft.com/office/powerpoint/2010/main" val="3671833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意味の向上</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955"/>
              </a:spcBef>
              <a:spcAft>
                <a:spcPts val="0"/>
              </a:spcAft>
              <a:buClrTx/>
              <a:buSzTx/>
              <a:buFontTx/>
              <a:buNone/>
              <a:tabLst/>
              <a:defRPr/>
            </a:pPr>
            <a:r>
              <a:rPr kumimoji="0" lang="en-US" altLang="ja-JP" sz="2800" b="1" i="0" u="none" strike="noStrike" kern="1200" cap="none" spc="-5" normalizeH="0" baseline="0" noProof="0" dirty="0">
                <a:ln>
                  <a:noFill/>
                </a:ln>
                <a:solidFill>
                  <a:prstClr val="black"/>
                </a:solidFill>
                <a:effectLst/>
                <a:uLnTx/>
                <a:uFillTx/>
                <a:latin typeface="Calibri"/>
                <a:ea typeface="+mn-ea"/>
                <a:cs typeface="Calibri"/>
              </a:rPr>
              <a:t>16</a:t>
            </a:r>
            <a:r>
              <a:rPr kumimoji="0" lang="ja-JP" altLang="en-US" sz="2800" b="1" i="0" u="none" strike="noStrike" kern="1200" cap="none" spc="0" normalizeH="0" baseline="0" noProof="0" dirty="0">
                <a:ln>
                  <a:noFill/>
                </a:ln>
                <a:solidFill>
                  <a:prstClr val="black"/>
                </a:solidFill>
                <a:effectLst/>
                <a:uLnTx/>
                <a:uFillTx/>
                <a:latin typeface="Calibri"/>
                <a:ea typeface="+mn-ea"/>
                <a:cs typeface="Calibri"/>
              </a:rPr>
              <a:t> </a:t>
            </a:r>
            <a:r>
              <a:rPr kumimoji="0" lang="en-US" altLang="ja-JP" sz="2800" b="1"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800" b="1" i="0" u="none" strike="noStrike" kern="1200" cap="none" spc="-10" normalizeH="0" baseline="0" noProof="0" dirty="0">
                <a:ln>
                  <a:noFill/>
                </a:ln>
                <a:solidFill>
                  <a:prstClr val="black"/>
                </a:solidFill>
                <a:effectLst/>
                <a:uLnTx/>
                <a:uFillTx/>
                <a:latin typeface="Calibri"/>
                <a:ea typeface="+mn-ea"/>
                <a:cs typeface="Calibri"/>
              </a:rPr>
              <a:t> </a:t>
            </a:r>
            <a:r>
              <a:rPr kumimoji="0" lang="en-US" altLang="ja-JP" sz="2800" b="1" i="0" u="none" strike="noStrike" kern="1200" cap="none" spc="-10" normalizeH="0" baseline="0" noProof="0" dirty="0">
                <a:ln>
                  <a:noFill/>
                </a:ln>
                <a:solidFill>
                  <a:prstClr val="black"/>
                </a:solidFill>
                <a:effectLst/>
                <a:uLnTx/>
                <a:uFillTx/>
                <a:latin typeface="Calibri"/>
                <a:ea typeface="+mn-ea"/>
                <a:cs typeface="Calibri"/>
              </a:rPr>
              <a:t>17</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世紀の意味の過渡期におけ</a:t>
            </a:r>
            <a:r>
              <a:rPr kumimoji="0" lang="ja-JP" altLang="en-US" sz="2800" b="1" i="0" u="none" strike="noStrike" kern="1200" cap="none" spc="0" normalizeH="0" baseline="0" noProof="0" dirty="0">
                <a:ln>
                  <a:noFill/>
                </a:ln>
                <a:solidFill>
                  <a:prstClr val="black"/>
                </a:solidFill>
                <a:effectLst/>
                <a:uLnTx/>
                <a:uFillTx/>
                <a:latin typeface="Yu Gothic"/>
                <a:ea typeface="+mn-ea"/>
                <a:cs typeface="Yu Gothic"/>
              </a:rPr>
              <a:t>る</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多義性</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ct val="100000"/>
              </a:lnSpc>
              <a:spcBef>
                <a:spcPts val="74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同じ作家が同じ語彙で全く違う意味を表現している</a:t>
            </a:r>
          </a:p>
          <a:p>
            <a:pPr marL="280670" marR="0" lvl="0" indent="-268605" algn="l" defTabSz="914400" rtl="0" eaLnBrk="1" fontAlgn="auto" latinLnBrk="0" hangingPunct="1">
              <a:lnSpc>
                <a:spcPct val="100000"/>
              </a:lnSpc>
              <a:spcBef>
                <a:spcPts val="730"/>
              </a:spcBef>
              <a:spcAft>
                <a:spcPts val="0"/>
              </a:spcAft>
              <a:buClrTx/>
              <a:buSzTx/>
              <a:buFont typeface="Arial MT"/>
              <a:buChar char="•"/>
              <a:tabLst>
                <a:tab pos="280670" algn="l"/>
                <a:tab pos="281305" algn="l"/>
              </a:tabLst>
              <a:defRPr/>
            </a:pPr>
            <a:r>
              <a:rPr kumimoji="0" lang="en-GB" sz="2400" b="0" i="1" u="none" strike="noStrike" kern="1200" cap="none" spc="-10" normalizeH="0" baseline="0" noProof="0" dirty="0">
                <a:ln>
                  <a:noFill/>
                </a:ln>
                <a:solidFill>
                  <a:prstClr val="black"/>
                </a:solidFill>
                <a:effectLst/>
                <a:uLnTx/>
                <a:uFillTx/>
                <a:latin typeface="Calibri"/>
                <a:ea typeface="+mn-ea"/>
                <a:cs typeface="Calibri"/>
              </a:rPr>
              <a:t>nice</a:t>
            </a:r>
            <a:r>
              <a:rPr kumimoji="0" lang="en-GB" sz="2400" b="0" i="1" u="none" strike="noStrike" kern="1200" cap="none" spc="-25"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and</a:t>
            </a:r>
            <a:r>
              <a:rPr kumimoji="0" lang="en-GB" sz="2400" b="0" i="1" u="none" strike="noStrike" kern="1200" cap="none" spc="-25" normalizeH="0" baseline="0" noProof="0" dirty="0">
                <a:ln>
                  <a:noFill/>
                </a:ln>
                <a:solidFill>
                  <a:prstClr val="black"/>
                </a:solidFill>
                <a:effectLst/>
                <a:uLnTx/>
                <a:uFillTx/>
                <a:latin typeface="Calibri"/>
                <a:ea typeface="+mn-ea"/>
                <a:cs typeface="Calibri"/>
              </a:rPr>
              <a:t> </a:t>
            </a:r>
            <a:r>
              <a:rPr kumimoji="0" lang="en-GB" sz="2400" b="0" i="1" u="none" strike="noStrike" kern="1200" cap="none" spc="0" normalizeH="0" baseline="0" noProof="0" dirty="0">
                <a:ln>
                  <a:noFill/>
                </a:ln>
                <a:solidFill>
                  <a:prstClr val="black"/>
                </a:solidFill>
                <a:effectLst/>
                <a:uLnTx/>
                <a:uFillTx/>
                <a:latin typeface="Calibri"/>
                <a:ea typeface="+mn-ea"/>
                <a:cs typeface="Calibri"/>
              </a:rPr>
              <a:t>trivial</a:t>
            </a:r>
            <a:endParaRPr kumimoji="0" lang="en-GB" sz="2400" b="0" i="0" u="none" strike="noStrike" kern="1200" cap="none" spc="0" normalizeH="0" baseline="0" noProof="0" dirty="0">
              <a:ln>
                <a:noFill/>
              </a:ln>
              <a:solidFill>
                <a:prstClr val="black"/>
              </a:solidFill>
              <a:effectLst/>
              <a:uLnTx/>
              <a:uFillTx/>
              <a:latin typeface="Calibri"/>
              <a:ea typeface="+mn-ea"/>
              <a:cs typeface="Calibri"/>
            </a:endParaRPr>
          </a:p>
          <a:p>
            <a:pPr marL="730250" marR="0" lvl="1" indent="-260985" algn="l" defTabSz="914400" rtl="0" eaLnBrk="1" fontAlgn="auto" latinLnBrk="0" hangingPunct="1">
              <a:lnSpc>
                <a:spcPct val="100000"/>
              </a:lnSpc>
              <a:spcBef>
                <a:spcPts val="270"/>
              </a:spcBef>
              <a:spcAft>
                <a:spcPts val="0"/>
              </a:spcAft>
              <a:buClrTx/>
              <a:buSzTx/>
              <a:buFont typeface="Arial MT"/>
              <a:buChar char="•"/>
              <a:tabLst>
                <a:tab pos="730250" algn="l"/>
                <a:tab pos="730885" algn="l"/>
              </a:tabLst>
              <a:defRPr/>
            </a:pPr>
            <a:r>
              <a:rPr kumimoji="0" lang="en-GB" sz="2000" b="0"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些細な、つまらない」</a:t>
            </a:r>
          </a:p>
          <a:p>
            <a:pPr marL="730250" marR="0" lvl="1" indent="-260985" algn="l" defTabSz="914400" rtl="0" eaLnBrk="1" fontAlgn="auto" latinLnBrk="0" hangingPunct="1">
              <a:lnSpc>
                <a:spcPct val="100000"/>
              </a:lnSpc>
              <a:spcBef>
                <a:spcPts val="265"/>
              </a:spcBef>
              <a:spcAft>
                <a:spcPts val="0"/>
              </a:spcAft>
              <a:buClrTx/>
              <a:buSzTx/>
              <a:buFont typeface="Arial MT"/>
              <a:buChar char="•"/>
              <a:tabLst>
                <a:tab pos="730250" algn="l"/>
                <a:tab pos="730885" algn="l"/>
              </a:tabLst>
              <a:defRPr/>
            </a:pPr>
            <a:r>
              <a:rPr kumimoji="0" lang="en-GB" sz="2000" b="0" i="1" u="none" strike="noStrike" kern="1200" cap="none" spc="-5" normalizeH="0" baseline="0" noProof="0" dirty="0">
                <a:ln>
                  <a:noFill/>
                </a:ln>
                <a:solidFill>
                  <a:prstClr val="black"/>
                </a:solidFill>
                <a:effectLst/>
                <a:uLnTx/>
                <a:uFillTx/>
                <a:latin typeface="Calibri"/>
                <a:ea typeface="+mn-ea"/>
                <a:cs typeface="Calibri"/>
              </a:rPr>
              <a:t>Richard</a:t>
            </a:r>
            <a:r>
              <a:rPr kumimoji="0" lang="en-GB" sz="2000" b="0" i="1" u="none" strike="noStrike" kern="1200" cap="none" spc="-15" normalizeH="0" baseline="0" noProof="0" dirty="0">
                <a:ln>
                  <a:noFill/>
                </a:ln>
                <a:solidFill>
                  <a:prstClr val="black"/>
                </a:solidFill>
                <a:effectLst/>
                <a:uLnTx/>
                <a:uFillTx/>
                <a:latin typeface="Calibri"/>
                <a:ea typeface="+mn-ea"/>
                <a:cs typeface="Calibri"/>
              </a:rPr>
              <a:t> </a:t>
            </a:r>
            <a:r>
              <a:rPr kumimoji="0" lang="en-GB" sz="2000" b="0" i="0" u="none" strike="noStrike" kern="1200" cap="none" spc="0" normalizeH="0" baseline="0" noProof="0" dirty="0">
                <a:ln>
                  <a:noFill/>
                </a:ln>
                <a:solidFill>
                  <a:prstClr val="black"/>
                </a:solidFill>
                <a:effectLst/>
                <a:uLnTx/>
                <a:uFillTx/>
                <a:latin typeface="Calibri"/>
                <a:ea typeface="+mn-ea"/>
                <a:cs typeface="Calibri"/>
              </a:rPr>
              <a:t>3,</a:t>
            </a:r>
            <a:r>
              <a:rPr kumimoji="0" lang="en-GB" sz="2000" b="0" i="0" u="none" strike="noStrike" kern="1200" cap="none" spc="-15" normalizeH="0" baseline="0" noProof="0" dirty="0">
                <a:ln>
                  <a:noFill/>
                </a:ln>
                <a:solidFill>
                  <a:prstClr val="black"/>
                </a:solidFill>
                <a:effectLst/>
                <a:uLnTx/>
                <a:uFillTx/>
                <a:latin typeface="Calibri"/>
                <a:ea typeface="+mn-ea"/>
                <a:cs typeface="Calibri"/>
              </a:rPr>
              <a:t> </a:t>
            </a:r>
            <a:r>
              <a:rPr kumimoji="0" lang="en-GB" sz="2000" b="0" i="0" u="none" strike="noStrike" kern="1200" cap="none" spc="0" normalizeH="0" baseline="0" noProof="0" dirty="0">
                <a:ln>
                  <a:noFill/>
                </a:ln>
                <a:solidFill>
                  <a:prstClr val="black"/>
                </a:solidFill>
                <a:effectLst/>
                <a:uLnTx/>
                <a:uFillTx/>
                <a:latin typeface="Calibri"/>
                <a:ea typeface="+mn-ea"/>
                <a:cs typeface="Calibri"/>
              </a:rPr>
              <a:t>3</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幕</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20"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7</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場</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15"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175</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行目</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35" normalizeH="0" baseline="0" noProof="0" dirty="0">
                <a:ln>
                  <a:noFill/>
                </a:ln>
                <a:solidFill>
                  <a:prstClr val="black"/>
                </a:solidFill>
                <a:effectLst/>
                <a:uLnTx/>
                <a:uFillTx/>
                <a:latin typeface="Calibri"/>
                <a:ea typeface="+mn-ea"/>
                <a:cs typeface="Calibri"/>
              </a:rPr>
              <a:t> </a:t>
            </a:r>
            <a:r>
              <a:rPr kumimoji="0" lang="en-GB" sz="2000" b="0" i="0" u="none" strike="noStrike" kern="1200" cap="none" spc="0" normalizeH="0" baseline="0" noProof="0" dirty="0">
                <a:ln>
                  <a:noFill/>
                </a:ln>
                <a:solidFill>
                  <a:prstClr val="black"/>
                </a:solidFill>
                <a:effectLst/>
                <a:uLnTx/>
                <a:uFillTx/>
                <a:latin typeface="Calibri"/>
                <a:ea typeface="+mn-ea"/>
                <a:cs typeface="Calibri"/>
              </a:rPr>
              <a:t>William </a:t>
            </a:r>
            <a:r>
              <a:rPr kumimoji="0" lang="en-GB" sz="2000" b="0" i="0" u="none" strike="noStrike" kern="1200" cap="none" spc="-10" normalizeH="0" baseline="0" noProof="0" dirty="0">
                <a:ln>
                  <a:noFill/>
                </a:ln>
                <a:solidFill>
                  <a:prstClr val="black"/>
                </a:solidFill>
                <a:effectLst/>
                <a:uLnTx/>
                <a:uFillTx/>
                <a:latin typeface="Calibri"/>
                <a:ea typeface="+mn-ea"/>
                <a:cs typeface="Calibri"/>
              </a:rPr>
              <a:t>Shakespeare</a:t>
            </a:r>
            <a:endParaRPr kumimoji="0" lang="en-GB" sz="2000" b="0" i="0" u="none" strike="noStrike" kern="1200" cap="none" spc="0" normalizeH="0" baseline="0" noProof="0" dirty="0">
              <a:ln>
                <a:noFill/>
              </a:ln>
              <a:solidFill>
                <a:prstClr val="black"/>
              </a:solidFill>
              <a:effectLst/>
              <a:uLnTx/>
              <a:uFillTx/>
              <a:latin typeface="Calibri"/>
              <a:ea typeface="+mn-ea"/>
              <a:cs typeface="Calibri"/>
            </a:endParaRPr>
          </a:p>
          <a:p>
            <a:pPr marL="280670" marR="0" lvl="0" indent="-268605" algn="l" defTabSz="914400" rtl="0" eaLnBrk="1" fontAlgn="auto" latinLnBrk="0" hangingPunct="1">
              <a:lnSpc>
                <a:spcPct val="100000"/>
              </a:lnSpc>
              <a:spcBef>
                <a:spcPts val="705"/>
              </a:spcBef>
              <a:spcAft>
                <a:spcPts val="0"/>
              </a:spcAft>
              <a:buClrTx/>
              <a:buSzTx/>
              <a:buFont typeface="Arial MT"/>
              <a:buChar char="•"/>
              <a:tabLst>
                <a:tab pos="280670" algn="l"/>
                <a:tab pos="281305" algn="l"/>
              </a:tabLst>
              <a:defRPr/>
            </a:pPr>
            <a:r>
              <a:rPr kumimoji="0" lang="en-GB" sz="2400" b="0" i="1" u="none" strike="noStrike" kern="1200" cap="none" spc="-5" normalizeH="0" baseline="0" noProof="0" dirty="0">
                <a:ln>
                  <a:noFill/>
                </a:ln>
                <a:solidFill>
                  <a:prstClr val="black"/>
                </a:solidFill>
                <a:effectLst/>
                <a:uLnTx/>
                <a:uFillTx/>
                <a:latin typeface="Calibri"/>
                <a:ea typeface="+mn-ea"/>
                <a:cs typeface="Calibri"/>
              </a:rPr>
              <a:t>on </a:t>
            </a:r>
            <a:r>
              <a:rPr kumimoji="0" lang="en-GB" sz="2400" b="0" i="1" u="none" strike="noStrike" kern="1200" cap="none" spc="0" normalizeH="0" baseline="0" noProof="0" dirty="0">
                <a:ln>
                  <a:noFill/>
                </a:ln>
                <a:solidFill>
                  <a:prstClr val="black"/>
                </a:solidFill>
                <a:effectLst/>
                <a:uLnTx/>
                <a:uFillTx/>
                <a:latin typeface="Calibri"/>
                <a:ea typeface="+mn-ea"/>
                <a:cs typeface="Calibri"/>
              </a:rPr>
              <a:t>the</a:t>
            </a:r>
            <a:r>
              <a:rPr kumimoji="0" lang="en-GB" sz="2400" b="0" i="1" u="none" strike="noStrike" kern="1200" cap="none" spc="-15" normalizeH="0" baseline="0" noProof="0" dirty="0">
                <a:ln>
                  <a:noFill/>
                </a:ln>
                <a:solidFill>
                  <a:prstClr val="black"/>
                </a:solidFill>
                <a:effectLst/>
                <a:uLnTx/>
                <a:uFillTx/>
                <a:latin typeface="Calibri"/>
                <a:ea typeface="+mn-ea"/>
                <a:cs typeface="Calibri"/>
              </a:rPr>
              <a:t> </a:t>
            </a:r>
            <a:r>
              <a:rPr kumimoji="0" lang="en-GB" sz="2400" b="0" i="1" u="none" strike="noStrike" kern="1200" cap="none" spc="-10" normalizeH="0" baseline="0" noProof="0" dirty="0">
                <a:ln>
                  <a:noFill/>
                </a:ln>
                <a:solidFill>
                  <a:prstClr val="black"/>
                </a:solidFill>
                <a:effectLst/>
                <a:uLnTx/>
                <a:uFillTx/>
                <a:latin typeface="Calibri"/>
                <a:ea typeface="+mn-ea"/>
                <a:cs typeface="Calibri"/>
              </a:rPr>
              <a:t>nice</a:t>
            </a:r>
            <a:r>
              <a:rPr kumimoji="0" lang="en-GB" sz="2400" b="0" i="1" u="none" strike="noStrike" kern="1200" cap="none" spc="-5" normalizeH="0" baseline="0" noProof="0" dirty="0">
                <a:ln>
                  <a:noFill/>
                </a:ln>
                <a:solidFill>
                  <a:prstClr val="black"/>
                </a:solidFill>
                <a:effectLst/>
                <a:uLnTx/>
                <a:uFillTx/>
                <a:latin typeface="Calibri"/>
                <a:ea typeface="+mn-ea"/>
                <a:cs typeface="Calibri"/>
              </a:rPr>
              <a:t> </a:t>
            </a:r>
            <a:r>
              <a:rPr kumimoji="0" lang="en-GB" sz="2400" b="0" i="1" u="none" strike="noStrike" kern="1200" cap="none" spc="-10" normalizeH="0" baseline="0" noProof="0" dirty="0">
                <a:ln>
                  <a:noFill/>
                </a:ln>
                <a:solidFill>
                  <a:prstClr val="black"/>
                </a:solidFill>
                <a:effectLst/>
                <a:uLnTx/>
                <a:uFillTx/>
                <a:latin typeface="Calibri"/>
                <a:ea typeface="+mn-ea"/>
                <a:cs typeface="Calibri"/>
              </a:rPr>
              <a:t>hazard</a:t>
            </a:r>
            <a:r>
              <a:rPr kumimoji="0" lang="en-GB" sz="2400" b="0" i="1" u="none" strike="noStrike" kern="1200" cap="none" spc="0"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of</a:t>
            </a:r>
            <a:r>
              <a:rPr kumimoji="0" lang="en-GB" sz="2400" b="0" i="1" u="none" strike="noStrike" kern="1200" cap="none" spc="-10" normalizeH="0" baseline="0" noProof="0" dirty="0">
                <a:ln>
                  <a:noFill/>
                </a:ln>
                <a:solidFill>
                  <a:prstClr val="black"/>
                </a:solidFill>
                <a:effectLst/>
                <a:uLnTx/>
                <a:uFillTx/>
                <a:latin typeface="Calibri"/>
                <a:ea typeface="+mn-ea"/>
                <a:cs typeface="Calibri"/>
              </a:rPr>
              <a:t> </a:t>
            </a:r>
            <a:r>
              <a:rPr kumimoji="0" lang="en-GB" sz="2400" b="0" i="1" u="none" strike="noStrike" kern="1200" cap="none" spc="0" normalizeH="0" baseline="0" noProof="0" dirty="0">
                <a:ln>
                  <a:noFill/>
                </a:ln>
                <a:solidFill>
                  <a:prstClr val="black"/>
                </a:solidFill>
                <a:effectLst/>
                <a:uLnTx/>
                <a:uFillTx/>
                <a:latin typeface="Calibri"/>
                <a:ea typeface="+mn-ea"/>
                <a:cs typeface="Calibri"/>
              </a:rPr>
              <a:t>one </a:t>
            </a:r>
            <a:r>
              <a:rPr kumimoji="0" lang="en-GB" sz="2400" b="0" i="1" u="none" strike="noStrike" kern="1200" cap="none" spc="-5" normalizeH="0" baseline="0" noProof="0" dirty="0">
                <a:ln>
                  <a:noFill/>
                </a:ln>
                <a:solidFill>
                  <a:prstClr val="black"/>
                </a:solidFill>
                <a:effectLst/>
                <a:uLnTx/>
                <a:uFillTx/>
                <a:latin typeface="Calibri"/>
                <a:ea typeface="+mn-ea"/>
                <a:cs typeface="Calibri"/>
              </a:rPr>
              <a:t>doubtful hour</a:t>
            </a:r>
            <a:endParaRPr kumimoji="0" lang="en-GB" sz="2400" b="0" i="0" u="none" strike="noStrike" kern="1200" cap="none" spc="0" normalizeH="0" baseline="0" noProof="0" dirty="0">
              <a:ln>
                <a:noFill/>
              </a:ln>
              <a:solidFill>
                <a:prstClr val="black"/>
              </a:solidFill>
              <a:effectLst/>
              <a:uLnTx/>
              <a:uFillTx/>
              <a:latin typeface="Calibri"/>
              <a:ea typeface="+mn-ea"/>
              <a:cs typeface="Calibri"/>
            </a:endParaRPr>
          </a:p>
          <a:p>
            <a:pPr marL="730250" marR="0" lvl="1" indent="-260985" algn="l" defTabSz="914400" rtl="0" eaLnBrk="1" fontAlgn="auto" latinLnBrk="0" hangingPunct="1">
              <a:lnSpc>
                <a:spcPct val="100000"/>
              </a:lnSpc>
              <a:spcBef>
                <a:spcPts val="270"/>
              </a:spcBef>
              <a:spcAft>
                <a:spcPts val="0"/>
              </a:spcAft>
              <a:buClrTx/>
              <a:buSzTx/>
              <a:buFont typeface="Arial MT"/>
              <a:buChar char="•"/>
              <a:tabLst>
                <a:tab pos="730250" algn="l"/>
                <a:tab pos="730885" algn="l"/>
              </a:tabLst>
              <a:defRPr/>
            </a:pPr>
            <a:r>
              <a:rPr kumimoji="0" lang="en-GB" sz="2000" b="0"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危険な、疑わしい」</a:t>
            </a:r>
          </a:p>
          <a:p>
            <a:pPr marL="730250" marR="0" lvl="1" indent="-260985" algn="l" defTabSz="914400" rtl="0" eaLnBrk="1" fontAlgn="auto" latinLnBrk="0" hangingPunct="1">
              <a:lnSpc>
                <a:spcPct val="100000"/>
              </a:lnSpc>
              <a:spcBef>
                <a:spcPts val="260"/>
              </a:spcBef>
              <a:spcAft>
                <a:spcPts val="0"/>
              </a:spcAft>
              <a:buClrTx/>
              <a:buSzTx/>
              <a:buFont typeface="Arial MT"/>
              <a:buChar char="•"/>
              <a:tabLst>
                <a:tab pos="730250" algn="l"/>
                <a:tab pos="730885" algn="l"/>
              </a:tabLst>
              <a:defRPr/>
            </a:pPr>
            <a:r>
              <a:rPr kumimoji="0" lang="en-GB" sz="2000" b="0" i="1" u="none" strike="noStrike" kern="1200" cap="none" spc="-5" normalizeH="0" baseline="0" noProof="0" dirty="0">
                <a:ln>
                  <a:noFill/>
                </a:ln>
                <a:solidFill>
                  <a:prstClr val="black"/>
                </a:solidFill>
                <a:effectLst/>
                <a:uLnTx/>
                <a:uFillTx/>
                <a:latin typeface="Calibri"/>
                <a:ea typeface="+mn-ea"/>
                <a:cs typeface="Calibri"/>
              </a:rPr>
              <a:t>Henry</a:t>
            </a:r>
            <a:r>
              <a:rPr kumimoji="0" lang="en-GB" sz="2000" b="0" i="1" u="none" strike="noStrike" kern="1200" cap="none" spc="-20" normalizeH="0" baseline="0" noProof="0" dirty="0">
                <a:ln>
                  <a:noFill/>
                </a:ln>
                <a:solidFill>
                  <a:prstClr val="black"/>
                </a:solidFill>
                <a:effectLst/>
                <a:uLnTx/>
                <a:uFillTx/>
                <a:latin typeface="Calibri"/>
                <a:ea typeface="+mn-ea"/>
                <a:cs typeface="Calibri"/>
              </a:rPr>
              <a:t> </a:t>
            </a:r>
            <a:r>
              <a:rPr kumimoji="0" lang="en-GB" sz="2000" b="0" i="1" u="none" strike="noStrike" kern="1200" cap="none" spc="0" normalizeH="0" baseline="0" noProof="0" dirty="0">
                <a:ln>
                  <a:noFill/>
                </a:ln>
                <a:solidFill>
                  <a:prstClr val="black"/>
                </a:solidFill>
                <a:effectLst/>
                <a:uLnTx/>
                <a:uFillTx/>
                <a:latin typeface="Calibri"/>
                <a:ea typeface="+mn-ea"/>
                <a:cs typeface="Calibri"/>
              </a:rPr>
              <a:t>3, 4,</a:t>
            </a:r>
            <a:r>
              <a:rPr kumimoji="0" lang="en-GB" sz="2000" b="0" i="1" u="none" strike="noStrike" kern="1200" cap="none" spc="-10" normalizeH="0" baseline="0" noProof="0" dirty="0">
                <a:ln>
                  <a:noFill/>
                </a:ln>
                <a:solidFill>
                  <a:prstClr val="black"/>
                </a:solidFill>
                <a:effectLst/>
                <a:uLnTx/>
                <a:uFillTx/>
                <a:latin typeface="Calibri"/>
                <a:ea typeface="+mn-ea"/>
                <a:cs typeface="Calibri"/>
              </a:rPr>
              <a:t> </a:t>
            </a:r>
            <a:r>
              <a:rPr kumimoji="0" lang="en-GB" sz="2000" b="0" i="1" u="none" strike="noStrike" kern="1200" cap="none" spc="-15" normalizeH="0" baseline="0" noProof="0" dirty="0">
                <a:ln>
                  <a:noFill/>
                </a:ln>
                <a:solidFill>
                  <a:prstClr val="black"/>
                </a:solidFill>
                <a:effectLst/>
                <a:uLnTx/>
                <a:uFillTx/>
                <a:latin typeface="Calibri"/>
                <a:ea typeface="+mn-ea"/>
                <a:cs typeface="Calibri"/>
              </a:rPr>
              <a:t>Part</a:t>
            </a:r>
            <a:r>
              <a:rPr kumimoji="0" lang="en-GB" sz="2000" b="0" i="1" u="none" strike="noStrike" kern="1200" cap="none" spc="0" normalizeH="0" baseline="0" noProof="0" dirty="0">
                <a:ln>
                  <a:noFill/>
                </a:ln>
                <a:solidFill>
                  <a:prstClr val="black"/>
                </a:solidFill>
                <a:effectLst/>
                <a:uLnTx/>
                <a:uFillTx/>
                <a:latin typeface="Calibri"/>
                <a:ea typeface="+mn-ea"/>
                <a:cs typeface="Calibri"/>
              </a:rPr>
              <a:t> 1, </a:t>
            </a:r>
            <a:r>
              <a:rPr kumimoji="0" lang="en-GB" sz="2000" b="0" i="0" u="none" strike="noStrike" kern="1200" cap="none" spc="5" normalizeH="0" baseline="0" noProof="0" dirty="0">
                <a:ln>
                  <a:noFill/>
                </a:ln>
                <a:solidFill>
                  <a:prstClr val="black"/>
                </a:solidFill>
                <a:effectLst/>
                <a:uLnTx/>
                <a:uFillTx/>
                <a:latin typeface="Calibri"/>
                <a:ea typeface="+mn-ea"/>
                <a:cs typeface="Calibri"/>
              </a:rPr>
              <a:t>4</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幕</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15"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1</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場</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20"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48</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行目</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15" normalizeH="0" baseline="0" noProof="0" dirty="0">
                <a:ln>
                  <a:noFill/>
                </a:ln>
                <a:solidFill>
                  <a:prstClr val="black"/>
                </a:solidFill>
                <a:effectLst/>
                <a:uLnTx/>
                <a:uFillTx/>
                <a:latin typeface="Calibri"/>
                <a:ea typeface="+mn-ea"/>
                <a:cs typeface="Calibri"/>
              </a:rPr>
              <a:t> </a:t>
            </a:r>
            <a:r>
              <a:rPr kumimoji="0" lang="en-GB" sz="2000" b="0" i="0" u="none" strike="noStrike" kern="1200" cap="none" spc="0" normalizeH="0" baseline="0" noProof="0" dirty="0">
                <a:ln>
                  <a:noFill/>
                </a:ln>
                <a:solidFill>
                  <a:prstClr val="black"/>
                </a:solidFill>
                <a:effectLst/>
                <a:uLnTx/>
                <a:uFillTx/>
                <a:latin typeface="Calibri"/>
                <a:ea typeface="+mn-ea"/>
                <a:cs typeface="Calibri"/>
              </a:rPr>
              <a:t>William</a:t>
            </a:r>
            <a:r>
              <a:rPr kumimoji="0" lang="en-GB" sz="2000" b="0" i="0" u="none" strike="noStrike" kern="1200" cap="none" spc="5" normalizeH="0" baseline="0" noProof="0" dirty="0">
                <a:ln>
                  <a:noFill/>
                </a:ln>
                <a:solidFill>
                  <a:prstClr val="black"/>
                </a:solidFill>
                <a:effectLst/>
                <a:uLnTx/>
                <a:uFillTx/>
                <a:latin typeface="Calibri"/>
                <a:ea typeface="+mn-ea"/>
                <a:cs typeface="Calibri"/>
              </a:rPr>
              <a:t> </a:t>
            </a:r>
            <a:r>
              <a:rPr kumimoji="0" lang="en-GB" sz="2000" b="0" i="0" u="none" strike="noStrike" kern="1200" cap="none" spc="-10" normalizeH="0" baseline="0" noProof="0" dirty="0">
                <a:ln>
                  <a:noFill/>
                </a:ln>
                <a:solidFill>
                  <a:prstClr val="black"/>
                </a:solidFill>
                <a:effectLst/>
                <a:uLnTx/>
                <a:uFillTx/>
                <a:latin typeface="Calibri"/>
                <a:ea typeface="+mn-ea"/>
                <a:cs typeface="Calibri"/>
              </a:rPr>
              <a:t>Shakespeare</a:t>
            </a:r>
            <a:endParaRPr kumimoji="0" lang="en-GB" sz="2000" b="0" i="0" u="none" strike="noStrike" kern="120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3554716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意味の向上</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意味の向上の他の例</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p:txBody>
      </p:sp>
      <p:graphicFrame>
        <p:nvGraphicFramePr>
          <p:cNvPr id="5" name="object 4">
            <a:extLst>
              <a:ext uri="{FF2B5EF4-FFF2-40B4-BE49-F238E27FC236}">
                <a16:creationId xmlns:a16="http://schemas.microsoft.com/office/drawing/2014/main" id="{3E9755D2-D4F9-39BA-24D7-56C71FE838AA}"/>
              </a:ext>
            </a:extLst>
          </p:cNvPr>
          <p:cNvGraphicFramePr>
            <a:graphicFrameLocks noGrp="1"/>
          </p:cNvGraphicFramePr>
          <p:nvPr/>
        </p:nvGraphicFramePr>
        <p:xfrm>
          <a:off x="943940" y="2305304"/>
          <a:ext cx="10244455" cy="4094542"/>
        </p:xfrm>
        <a:graphic>
          <a:graphicData uri="http://schemas.openxmlformats.org/drawingml/2006/table">
            <a:tbl>
              <a:tblPr firstRow="1" bandRow="1">
                <a:tableStyleId>{2D5ABB26-0587-4C30-8999-92F81FD0307C}</a:tableStyleId>
              </a:tblPr>
              <a:tblGrid>
                <a:gridCol w="878205">
                  <a:extLst>
                    <a:ext uri="{9D8B030D-6E8A-4147-A177-3AD203B41FA5}">
                      <a16:colId xmlns:a16="http://schemas.microsoft.com/office/drawing/2014/main" val="20000"/>
                    </a:ext>
                  </a:extLst>
                </a:gridCol>
                <a:gridCol w="753745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37820">
                <a:tc>
                  <a:txBody>
                    <a:bodyPr/>
                    <a:lstStyle/>
                    <a:p>
                      <a:pPr marL="69850">
                        <a:lnSpc>
                          <a:spcPct val="100000"/>
                        </a:lnSpc>
                        <a:spcBef>
                          <a:spcPts val="120"/>
                        </a:spcBef>
                      </a:pPr>
                      <a:r>
                        <a:rPr sz="1800" b="1" spc="-5" dirty="0">
                          <a:solidFill>
                            <a:srgbClr val="FFFFFF"/>
                          </a:solidFill>
                          <a:latin typeface="Yu Gothic"/>
                          <a:cs typeface="Yu Gothic"/>
                        </a:rPr>
                        <a:t>語彙</a:t>
                      </a:r>
                      <a:endParaRPr sz="1800">
                        <a:latin typeface="Yu Gothic"/>
                        <a:cs typeface="Yu Gothic"/>
                      </a:endParaRPr>
                    </a:p>
                  </a:txBody>
                  <a:tcPr marL="0" marR="0" marT="152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69850">
                        <a:lnSpc>
                          <a:spcPct val="100000"/>
                        </a:lnSpc>
                        <a:spcBef>
                          <a:spcPts val="120"/>
                        </a:spcBef>
                      </a:pPr>
                      <a:r>
                        <a:rPr sz="1800" b="1" spc="-5" dirty="0">
                          <a:solidFill>
                            <a:srgbClr val="FFFFFF"/>
                          </a:solidFill>
                          <a:latin typeface="Yu Gothic"/>
                          <a:cs typeface="Yu Gothic"/>
                        </a:rPr>
                        <a:t>起源</a:t>
                      </a:r>
                      <a:endParaRPr sz="1800">
                        <a:latin typeface="Yu Gothic"/>
                        <a:cs typeface="Yu Gothic"/>
                      </a:endParaRPr>
                    </a:p>
                  </a:txBody>
                  <a:tcPr marL="0" marR="0" marT="152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70485">
                        <a:lnSpc>
                          <a:spcPct val="100000"/>
                        </a:lnSpc>
                        <a:spcBef>
                          <a:spcPts val="120"/>
                        </a:spcBef>
                      </a:pPr>
                      <a:r>
                        <a:rPr sz="1800" b="1" spc="-5" dirty="0">
                          <a:solidFill>
                            <a:srgbClr val="FFFFFF"/>
                          </a:solidFill>
                          <a:latin typeface="Yu Gothic"/>
                          <a:cs typeface="Yu Gothic"/>
                        </a:rPr>
                        <a:t>現在の意味</a:t>
                      </a:r>
                      <a:endParaRPr sz="1800">
                        <a:latin typeface="Yu Gothic"/>
                        <a:cs typeface="Yu Gothic"/>
                      </a:endParaRPr>
                    </a:p>
                  </a:txBody>
                  <a:tcPr marL="0" marR="0" marT="152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1435100">
                <a:tc>
                  <a:txBody>
                    <a:bodyPr/>
                    <a:lstStyle/>
                    <a:p>
                      <a:pPr>
                        <a:lnSpc>
                          <a:spcPct val="100000"/>
                        </a:lnSpc>
                      </a:pPr>
                      <a:endParaRPr sz="1800">
                        <a:latin typeface="Times New Roman"/>
                        <a:cs typeface="Times New Roman"/>
                      </a:endParaRPr>
                    </a:p>
                    <a:p>
                      <a:pPr>
                        <a:lnSpc>
                          <a:spcPct val="100000"/>
                        </a:lnSpc>
                        <a:spcBef>
                          <a:spcPts val="25"/>
                        </a:spcBef>
                      </a:pPr>
                      <a:endParaRPr sz="2050">
                        <a:latin typeface="Times New Roman"/>
                        <a:cs typeface="Times New Roman"/>
                      </a:endParaRPr>
                    </a:p>
                    <a:p>
                      <a:pPr marL="69850">
                        <a:lnSpc>
                          <a:spcPct val="100000"/>
                        </a:lnSpc>
                      </a:pPr>
                      <a:r>
                        <a:rPr sz="1800" u="heavy" spc="-10" dirty="0">
                          <a:solidFill>
                            <a:srgbClr val="0462C1"/>
                          </a:solidFill>
                          <a:uFill>
                            <a:solidFill>
                              <a:srgbClr val="0462C1"/>
                            </a:solidFill>
                          </a:uFill>
                          <a:latin typeface="Calibri"/>
                          <a:cs typeface="Calibri"/>
                          <a:hlinkClick r:id="rId3"/>
                        </a:rPr>
                        <a:t>boy</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356235" indent="-287020">
                        <a:lnSpc>
                          <a:spcPct val="100000"/>
                        </a:lnSpc>
                        <a:spcBef>
                          <a:spcPts val="110"/>
                        </a:spcBef>
                        <a:buFont typeface="Arial MT"/>
                        <a:buChar char="•"/>
                        <a:tabLst>
                          <a:tab pos="356235" algn="l"/>
                          <a:tab pos="356870" algn="l"/>
                        </a:tabLst>
                      </a:pPr>
                      <a:r>
                        <a:rPr sz="1800" dirty="0">
                          <a:latin typeface="Yu Gothic"/>
                          <a:cs typeface="Yu Gothic"/>
                        </a:rPr>
                        <a:t>古英語</a:t>
                      </a:r>
                      <a:r>
                        <a:rPr sz="1800" dirty="0">
                          <a:latin typeface="Calibri"/>
                          <a:cs typeface="Calibri"/>
                        </a:rPr>
                        <a:t>:</a:t>
                      </a:r>
                      <a:r>
                        <a:rPr sz="1800" spc="10" dirty="0">
                          <a:latin typeface="Calibri"/>
                          <a:cs typeface="Calibri"/>
                        </a:rPr>
                        <a:t> </a:t>
                      </a:r>
                      <a:r>
                        <a:rPr sz="1800" dirty="0">
                          <a:latin typeface="Yu Gothic"/>
                          <a:cs typeface="Yu Gothic"/>
                        </a:rPr>
                        <a:t>人名の</a:t>
                      </a:r>
                      <a:r>
                        <a:rPr sz="1800" spc="-105" dirty="0">
                          <a:latin typeface="Yu Gothic"/>
                          <a:cs typeface="Yu Gothic"/>
                        </a:rPr>
                        <a:t> </a:t>
                      </a:r>
                      <a:r>
                        <a:rPr sz="1800" i="1" dirty="0">
                          <a:latin typeface="Calibri"/>
                          <a:cs typeface="Calibri"/>
                        </a:rPr>
                        <a:t>Bōia</a:t>
                      </a:r>
                      <a:endParaRPr sz="1800">
                        <a:latin typeface="Calibri"/>
                        <a:cs typeface="Calibri"/>
                      </a:endParaRPr>
                    </a:p>
                    <a:p>
                      <a:pPr marL="356235" indent="-287020">
                        <a:lnSpc>
                          <a:spcPct val="100000"/>
                        </a:lnSpc>
                        <a:buFont typeface="Arial MT"/>
                        <a:buChar char="•"/>
                        <a:tabLst>
                          <a:tab pos="356235" algn="l"/>
                          <a:tab pos="356870" algn="l"/>
                        </a:tabLst>
                      </a:pPr>
                      <a:r>
                        <a:rPr sz="1800" dirty="0">
                          <a:latin typeface="Yu Gothic"/>
                          <a:cs typeface="Yu Gothic"/>
                        </a:rPr>
                        <a:t>中英語</a:t>
                      </a:r>
                      <a:r>
                        <a:rPr sz="1800" dirty="0">
                          <a:latin typeface="Calibri"/>
                          <a:cs typeface="Calibri"/>
                        </a:rPr>
                        <a:t>:</a:t>
                      </a:r>
                      <a:r>
                        <a:rPr sz="1800" spc="-10" dirty="0">
                          <a:latin typeface="Calibri"/>
                          <a:cs typeface="Calibri"/>
                        </a:rPr>
                        <a:t> </a:t>
                      </a:r>
                      <a:r>
                        <a:rPr sz="1800" i="1" spc="-10" dirty="0">
                          <a:latin typeface="Calibri"/>
                          <a:cs typeface="Calibri"/>
                        </a:rPr>
                        <a:t>boy(e)</a:t>
                      </a:r>
                      <a:r>
                        <a:rPr sz="1800" i="1" spc="5" dirty="0">
                          <a:latin typeface="Calibri"/>
                          <a:cs typeface="Calibri"/>
                        </a:rPr>
                        <a:t> </a:t>
                      </a:r>
                      <a:r>
                        <a:rPr sz="1800" i="1" dirty="0">
                          <a:latin typeface="Calibri"/>
                          <a:cs typeface="Calibri"/>
                        </a:rPr>
                        <a:t>-</a:t>
                      </a:r>
                      <a:r>
                        <a:rPr sz="1800" i="1" spc="-15" dirty="0">
                          <a:latin typeface="Calibri"/>
                          <a:cs typeface="Calibri"/>
                        </a:rPr>
                        <a:t> </a:t>
                      </a:r>
                      <a:r>
                        <a:rPr sz="1800" dirty="0">
                          <a:latin typeface="Yu Gothic"/>
                          <a:cs typeface="Yu Gothic"/>
                        </a:rPr>
                        <a:t>最初の記録は</a:t>
                      </a:r>
                      <a:r>
                        <a:rPr sz="1800" spc="-5" dirty="0">
                          <a:latin typeface="Calibri"/>
                          <a:cs typeface="Calibri"/>
                        </a:rPr>
                        <a:t>1250</a:t>
                      </a:r>
                      <a:r>
                        <a:rPr sz="1800" dirty="0">
                          <a:latin typeface="Yu Gothic"/>
                          <a:cs typeface="Yu Gothic"/>
                        </a:rPr>
                        <a:t>年</a:t>
                      </a:r>
                      <a:r>
                        <a:rPr sz="1800" spc="-110" dirty="0">
                          <a:latin typeface="Yu Gothic"/>
                          <a:cs typeface="Yu Gothic"/>
                        </a:rPr>
                        <a:t> </a:t>
                      </a:r>
                      <a:r>
                        <a:rPr sz="1800" dirty="0">
                          <a:latin typeface="Calibri"/>
                          <a:cs typeface="Calibri"/>
                        </a:rPr>
                        <a:t>-</a:t>
                      </a:r>
                      <a:r>
                        <a:rPr sz="1800" spc="-10" dirty="0">
                          <a:latin typeface="Calibri"/>
                          <a:cs typeface="Calibri"/>
                        </a:rPr>
                        <a:t> </a:t>
                      </a:r>
                      <a:r>
                        <a:rPr sz="1800" spc="-5" dirty="0">
                          <a:latin typeface="Calibri"/>
                          <a:cs typeface="Calibri"/>
                        </a:rPr>
                        <a:t>1300</a:t>
                      </a:r>
                      <a:r>
                        <a:rPr sz="1800" dirty="0">
                          <a:latin typeface="Yu Gothic"/>
                          <a:cs typeface="Yu Gothic"/>
                        </a:rPr>
                        <a:t>年</a:t>
                      </a:r>
                      <a:endParaRPr sz="1800">
                        <a:latin typeface="Yu Gothic"/>
                        <a:cs typeface="Yu Gothic"/>
                      </a:endParaRPr>
                    </a:p>
                    <a:p>
                      <a:pPr marL="356235" indent="-287020">
                        <a:lnSpc>
                          <a:spcPct val="100000"/>
                        </a:lnSpc>
                        <a:buFont typeface="Arial MT"/>
                        <a:buChar char="•"/>
                        <a:tabLst>
                          <a:tab pos="356235" algn="l"/>
                          <a:tab pos="356870" algn="l"/>
                        </a:tabLst>
                      </a:pPr>
                      <a:r>
                        <a:rPr sz="1800" spc="-5" dirty="0">
                          <a:latin typeface="Yu Gothic"/>
                          <a:cs typeface="Yu Gothic"/>
                        </a:rPr>
                        <a:t>フリジア語</a:t>
                      </a:r>
                      <a:r>
                        <a:rPr sz="1800" dirty="0">
                          <a:latin typeface="Yu Gothic"/>
                          <a:cs typeface="Yu Gothic"/>
                        </a:rPr>
                        <a:t>の</a:t>
                      </a:r>
                      <a:r>
                        <a:rPr sz="1800" spc="-110" dirty="0">
                          <a:latin typeface="Yu Gothic"/>
                          <a:cs typeface="Yu Gothic"/>
                        </a:rPr>
                        <a:t> </a:t>
                      </a:r>
                      <a:r>
                        <a:rPr sz="1800" i="1" spc="-5" dirty="0">
                          <a:latin typeface="Calibri"/>
                          <a:cs typeface="Calibri"/>
                        </a:rPr>
                        <a:t>bo</a:t>
                      </a:r>
                      <a:r>
                        <a:rPr sz="1800" i="1" spc="-10" dirty="0">
                          <a:latin typeface="Calibri"/>
                          <a:cs typeface="Calibri"/>
                        </a:rPr>
                        <a:t>i</a:t>
                      </a:r>
                      <a:r>
                        <a:rPr sz="1800" spc="-5" dirty="0">
                          <a:latin typeface="Yu Gothic"/>
                          <a:cs typeface="Yu Gothic"/>
                        </a:rPr>
                        <a:t>「若い男性」と関連</a:t>
                      </a:r>
                      <a:endParaRPr sz="1800">
                        <a:latin typeface="Yu Gothic"/>
                        <a:cs typeface="Yu Gothic"/>
                      </a:endParaRPr>
                    </a:p>
                    <a:p>
                      <a:pPr marL="356235" indent="-287020">
                        <a:lnSpc>
                          <a:spcPct val="100000"/>
                        </a:lnSpc>
                        <a:buFont typeface="Arial MT"/>
                        <a:buChar char="•"/>
                        <a:tabLst>
                          <a:tab pos="356235" algn="l"/>
                          <a:tab pos="356870" algn="l"/>
                        </a:tabLst>
                      </a:pPr>
                      <a:r>
                        <a:rPr sz="1800" dirty="0">
                          <a:latin typeface="Yu Gothic"/>
                          <a:cs typeface="Yu Gothic"/>
                        </a:rPr>
                        <a:t>古英語の</a:t>
                      </a:r>
                      <a:r>
                        <a:rPr sz="1800" spc="-130" dirty="0">
                          <a:latin typeface="Yu Gothic"/>
                          <a:cs typeface="Yu Gothic"/>
                        </a:rPr>
                        <a:t> </a:t>
                      </a:r>
                      <a:r>
                        <a:rPr sz="1800" i="1" spc="-10" dirty="0">
                          <a:latin typeface="Calibri"/>
                          <a:cs typeface="Calibri"/>
                        </a:rPr>
                        <a:t>bōfa</a:t>
                      </a:r>
                      <a:r>
                        <a:rPr sz="1800" spc="-10" dirty="0">
                          <a:latin typeface="Calibri"/>
                          <a:cs typeface="Calibri"/>
                        </a:rPr>
                        <a:t>, </a:t>
                      </a:r>
                      <a:r>
                        <a:rPr sz="1800" dirty="0">
                          <a:latin typeface="Yu Gothic"/>
                          <a:cs typeface="Yu Gothic"/>
                        </a:rPr>
                        <a:t>古ノルド語の</a:t>
                      </a:r>
                      <a:r>
                        <a:rPr sz="1800" spc="-110" dirty="0">
                          <a:latin typeface="Yu Gothic"/>
                          <a:cs typeface="Yu Gothic"/>
                        </a:rPr>
                        <a:t> </a:t>
                      </a:r>
                      <a:r>
                        <a:rPr sz="1800" i="1" spc="-5" dirty="0">
                          <a:latin typeface="Calibri"/>
                          <a:cs typeface="Calibri"/>
                        </a:rPr>
                        <a:t>bōfi</a:t>
                      </a:r>
                      <a:r>
                        <a:rPr sz="1800" spc="-5" dirty="0">
                          <a:latin typeface="Calibri"/>
                          <a:cs typeface="Calibri"/>
                        </a:rPr>
                        <a:t>,</a:t>
                      </a:r>
                      <a:r>
                        <a:rPr sz="1800" spc="-10" dirty="0">
                          <a:latin typeface="Calibri"/>
                          <a:cs typeface="Calibri"/>
                        </a:rPr>
                        <a:t> </a:t>
                      </a:r>
                      <a:r>
                        <a:rPr sz="1800" dirty="0">
                          <a:latin typeface="Yu Gothic"/>
                          <a:cs typeface="Yu Gothic"/>
                        </a:rPr>
                        <a:t>古高地ドイツ語の男性の名前</a:t>
                      </a:r>
                      <a:r>
                        <a:rPr sz="1800" spc="-105" dirty="0">
                          <a:latin typeface="Yu Gothic"/>
                          <a:cs typeface="Yu Gothic"/>
                        </a:rPr>
                        <a:t> </a:t>
                      </a:r>
                      <a:r>
                        <a:rPr sz="1800" i="1" dirty="0">
                          <a:latin typeface="Calibri"/>
                          <a:cs typeface="Calibri"/>
                        </a:rPr>
                        <a:t>Buobo</a:t>
                      </a:r>
                      <a:endParaRPr sz="1800">
                        <a:latin typeface="Calibri"/>
                        <a:cs typeface="Calibri"/>
                      </a:endParaRPr>
                    </a:p>
                    <a:p>
                      <a:pPr marL="356235">
                        <a:lnSpc>
                          <a:spcPct val="100000"/>
                        </a:lnSpc>
                        <a:spcBef>
                          <a:spcPts val="5"/>
                        </a:spcBef>
                      </a:pPr>
                      <a:r>
                        <a:rPr sz="1800" dirty="0">
                          <a:latin typeface="Yu Gothic"/>
                          <a:cs typeface="Yu Gothic"/>
                        </a:rPr>
                        <a:t>と類似</a:t>
                      </a:r>
                      <a:r>
                        <a:rPr sz="1800" spc="-10" dirty="0">
                          <a:latin typeface="Calibri"/>
                          <a:cs typeface="Calibri"/>
                        </a:rPr>
                        <a:t>(</a:t>
                      </a:r>
                      <a:r>
                        <a:rPr sz="1800" dirty="0">
                          <a:latin typeface="Yu Gothic"/>
                          <a:cs typeface="Yu Gothic"/>
                        </a:rPr>
                        <a:t>ドイツ語の</a:t>
                      </a:r>
                      <a:r>
                        <a:rPr sz="1800" spc="-95" dirty="0">
                          <a:latin typeface="Yu Gothic"/>
                          <a:cs typeface="Yu Gothic"/>
                        </a:rPr>
                        <a:t> </a:t>
                      </a:r>
                      <a:r>
                        <a:rPr sz="1800" i="1" dirty="0">
                          <a:latin typeface="Calibri"/>
                          <a:cs typeface="Calibri"/>
                        </a:rPr>
                        <a:t>Bub</a:t>
                      </a:r>
                      <a:r>
                        <a:rPr sz="1800" i="1" spc="5" dirty="0">
                          <a:latin typeface="Calibri"/>
                          <a:cs typeface="Calibri"/>
                        </a:rPr>
                        <a:t>e</a:t>
                      </a:r>
                      <a:r>
                        <a:rPr sz="1800" dirty="0">
                          <a:latin typeface="Yu Gothic"/>
                          <a:cs typeface="Yu Gothic"/>
                        </a:rPr>
                        <a:t>「悪党」</a:t>
                      </a:r>
                      <a:r>
                        <a:rPr sz="1800" dirty="0">
                          <a:latin typeface="Calibri"/>
                          <a:cs typeface="Calibri"/>
                        </a:rPr>
                        <a:t>- </a:t>
                      </a:r>
                      <a:r>
                        <a:rPr sz="1800" dirty="0">
                          <a:latin typeface="Yu Gothic"/>
                          <a:cs typeface="Yu Gothic"/>
                        </a:rPr>
                        <a:t>地方語では「少年</a:t>
                      </a:r>
                      <a:r>
                        <a:rPr sz="1800" spc="-20" dirty="0">
                          <a:latin typeface="Yu Gothic"/>
                          <a:cs typeface="Yu Gothic"/>
                        </a:rPr>
                        <a:t>」</a:t>
                      </a:r>
                      <a:r>
                        <a:rPr sz="1800" dirty="0">
                          <a:latin typeface="Calibri"/>
                          <a:cs typeface="Calibri"/>
                        </a:rPr>
                        <a:t>)</a:t>
                      </a:r>
                      <a:endParaRPr sz="1800">
                        <a:latin typeface="Calibri"/>
                        <a:cs typeface="Calibri"/>
                      </a:endParaRPr>
                    </a:p>
                  </a:txBody>
                  <a:tcPr marL="0" marR="0" marT="139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2000">
                        <a:latin typeface="Times New Roman"/>
                        <a:cs typeface="Times New Roman"/>
                      </a:endParaRPr>
                    </a:p>
                    <a:p>
                      <a:pPr>
                        <a:lnSpc>
                          <a:spcPct val="100000"/>
                        </a:lnSpc>
                      </a:pPr>
                      <a:endParaRPr sz="1850">
                        <a:latin typeface="Times New Roman"/>
                        <a:cs typeface="Times New Roman"/>
                      </a:endParaRPr>
                    </a:p>
                    <a:p>
                      <a:pPr marL="70485">
                        <a:lnSpc>
                          <a:spcPct val="100000"/>
                        </a:lnSpc>
                        <a:spcBef>
                          <a:spcPts val="5"/>
                        </a:spcBef>
                      </a:pPr>
                      <a:r>
                        <a:rPr sz="1800" spc="-5" dirty="0">
                          <a:latin typeface="Yu Gothic"/>
                          <a:cs typeface="Yu Gothic"/>
                        </a:rPr>
                        <a:t>少年</a:t>
                      </a:r>
                      <a:endParaRPr sz="1800">
                        <a:latin typeface="Yu Gothic"/>
                        <a:cs typeface="Yu Gothic"/>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886459">
                <a:tc>
                  <a:txBody>
                    <a:bodyPr/>
                    <a:lstStyle/>
                    <a:p>
                      <a:pPr>
                        <a:lnSpc>
                          <a:spcPct val="100000"/>
                        </a:lnSpc>
                      </a:pPr>
                      <a:endParaRPr sz="2000">
                        <a:latin typeface="Times New Roman"/>
                        <a:cs typeface="Times New Roman"/>
                      </a:endParaRPr>
                    </a:p>
                    <a:p>
                      <a:pPr marL="69850">
                        <a:lnSpc>
                          <a:spcPct val="100000"/>
                        </a:lnSpc>
                      </a:pPr>
                      <a:r>
                        <a:rPr sz="1800" u="heavy" spc="-10" dirty="0">
                          <a:solidFill>
                            <a:srgbClr val="0462C1"/>
                          </a:solidFill>
                          <a:uFill>
                            <a:solidFill>
                              <a:srgbClr val="0462C1"/>
                            </a:solidFill>
                          </a:uFill>
                          <a:latin typeface="Calibri"/>
                          <a:cs typeface="Calibri"/>
                          <a:hlinkClick r:id="rId4"/>
                        </a:rPr>
                        <a:t>fame</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356235" indent="-287020">
                        <a:lnSpc>
                          <a:spcPct val="100000"/>
                        </a:lnSpc>
                        <a:spcBef>
                          <a:spcPts val="110"/>
                        </a:spcBef>
                        <a:buFont typeface="Arial MT"/>
                        <a:buChar char="•"/>
                        <a:tabLst>
                          <a:tab pos="356235" algn="l"/>
                          <a:tab pos="356870" algn="l"/>
                        </a:tabLst>
                      </a:pPr>
                      <a:r>
                        <a:rPr sz="1800" spc="-5" dirty="0">
                          <a:latin typeface="Calibri"/>
                          <a:cs typeface="Calibri"/>
                        </a:rPr>
                        <a:t>1175</a:t>
                      </a:r>
                      <a:r>
                        <a:rPr sz="1800" spc="-5" dirty="0">
                          <a:latin typeface="Yu Gothic"/>
                          <a:cs typeface="Yu Gothic"/>
                        </a:rPr>
                        <a:t>年</a:t>
                      </a:r>
                      <a:r>
                        <a:rPr sz="1800" dirty="0">
                          <a:latin typeface="Calibri"/>
                          <a:cs typeface="Calibri"/>
                        </a:rPr>
                        <a:t>-</a:t>
                      </a:r>
                      <a:r>
                        <a:rPr sz="1800" spc="-35" dirty="0">
                          <a:latin typeface="Calibri"/>
                          <a:cs typeface="Calibri"/>
                        </a:rPr>
                        <a:t> </a:t>
                      </a:r>
                      <a:r>
                        <a:rPr sz="1800" spc="-5" dirty="0">
                          <a:latin typeface="Calibri"/>
                          <a:cs typeface="Calibri"/>
                        </a:rPr>
                        <a:t>1225</a:t>
                      </a:r>
                      <a:r>
                        <a:rPr sz="1800" dirty="0">
                          <a:latin typeface="Yu Gothic"/>
                          <a:cs typeface="Yu Gothic"/>
                        </a:rPr>
                        <a:t>年</a:t>
                      </a:r>
                      <a:endParaRPr sz="1800">
                        <a:latin typeface="Yu Gothic"/>
                        <a:cs typeface="Yu Gothic"/>
                      </a:endParaRPr>
                    </a:p>
                    <a:p>
                      <a:pPr marL="356235" marR="353695" indent="-287020">
                        <a:lnSpc>
                          <a:spcPct val="100000"/>
                        </a:lnSpc>
                        <a:spcBef>
                          <a:spcPts val="5"/>
                        </a:spcBef>
                        <a:buFont typeface="Arial MT"/>
                        <a:buChar char="•"/>
                        <a:tabLst>
                          <a:tab pos="356235" algn="l"/>
                          <a:tab pos="356870" algn="l"/>
                        </a:tabLst>
                      </a:pPr>
                      <a:r>
                        <a:rPr sz="1800" spc="-15" dirty="0">
                          <a:latin typeface="Calibri"/>
                          <a:cs typeface="Calibri"/>
                        </a:rPr>
                        <a:t>Roots:</a:t>
                      </a:r>
                      <a:r>
                        <a:rPr sz="1800" dirty="0">
                          <a:latin typeface="Yu Gothic"/>
                          <a:cs typeface="Yu Gothic"/>
                        </a:rPr>
                        <a:t>中英語</a:t>
                      </a:r>
                      <a:r>
                        <a:rPr sz="1800" spc="-110" dirty="0">
                          <a:latin typeface="Yu Gothic"/>
                          <a:cs typeface="Yu Gothic"/>
                        </a:rPr>
                        <a:t> </a:t>
                      </a:r>
                      <a:r>
                        <a:rPr sz="1800" dirty="0">
                          <a:latin typeface="Calibri"/>
                          <a:cs typeface="Calibri"/>
                        </a:rPr>
                        <a:t>&lt;</a:t>
                      </a:r>
                      <a:r>
                        <a:rPr sz="1800" spc="-10" dirty="0">
                          <a:latin typeface="Calibri"/>
                          <a:cs typeface="Calibri"/>
                        </a:rPr>
                        <a:t> </a:t>
                      </a:r>
                      <a:r>
                        <a:rPr sz="1800" dirty="0">
                          <a:latin typeface="Yu Gothic"/>
                          <a:cs typeface="Yu Gothic"/>
                        </a:rPr>
                        <a:t>アングロ仏語、古仏</a:t>
                      </a:r>
                      <a:r>
                        <a:rPr sz="1800" spc="420" dirty="0">
                          <a:latin typeface="Yu Gothic"/>
                          <a:cs typeface="Yu Gothic"/>
                        </a:rPr>
                        <a:t>語</a:t>
                      </a:r>
                      <a:r>
                        <a:rPr sz="1800" dirty="0">
                          <a:latin typeface="Calibri"/>
                          <a:cs typeface="Calibri"/>
                        </a:rPr>
                        <a:t>&lt;</a:t>
                      </a:r>
                      <a:r>
                        <a:rPr sz="1800" spc="-15" dirty="0">
                          <a:latin typeface="Calibri"/>
                          <a:cs typeface="Calibri"/>
                        </a:rPr>
                        <a:t> </a:t>
                      </a:r>
                      <a:r>
                        <a:rPr sz="1800" dirty="0">
                          <a:latin typeface="Yu Gothic"/>
                          <a:cs typeface="Yu Gothic"/>
                        </a:rPr>
                        <a:t>ラテン語</a:t>
                      </a:r>
                      <a:r>
                        <a:rPr sz="1800" spc="-120" dirty="0">
                          <a:latin typeface="Yu Gothic"/>
                          <a:cs typeface="Yu Gothic"/>
                        </a:rPr>
                        <a:t> </a:t>
                      </a:r>
                      <a:r>
                        <a:rPr sz="1800" i="1" spc="-10" dirty="0">
                          <a:latin typeface="Calibri"/>
                          <a:cs typeface="Calibri"/>
                        </a:rPr>
                        <a:t>fāma</a:t>
                      </a:r>
                      <a:r>
                        <a:rPr sz="1800" dirty="0">
                          <a:latin typeface="Yu Gothic"/>
                          <a:cs typeface="Yu Gothic"/>
                        </a:rPr>
                        <a:t>「話</a:t>
                      </a:r>
                      <a:r>
                        <a:rPr sz="1800" dirty="0">
                          <a:latin typeface="Calibri"/>
                          <a:cs typeface="Calibri"/>
                        </a:rPr>
                        <a:t>;</a:t>
                      </a:r>
                      <a:r>
                        <a:rPr sz="1800" spc="-5" dirty="0">
                          <a:latin typeface="Calibri"/>
                          <a:cs typeface="Calibri"/>
                        </a:rPr>
                        <a:t> </a:t>
                      </a:r>
                      <a:r>
                        <a:rPr sz="1800" dirty="0">
                          <a:latin typeface="Yu Gothic"/>
                          <a:cs typeface="Yu Gothic"/>
                        </a:rPr>
                        <a:t>世</a:t>
                      </a:r>
                      <a:r>
                        <a:rPr sz="1800" spc="-5" dirty="0">
                          <a:latin typeface="Yu Gothic"/>
                          <a:cs typeface="Yu Gothic"/>
                        </a:rPr>
                        <a:t>論</a:t>
                      </a:r>
                      <a:r>
                        <a:rPr sz="1800" dirty="0">
                          <a:latin typeface="Calibri"/>
                          <a:cs typeface="Calibri"/>
                        </a:rPr>
                        <a:t>; </a:t>
                      </a:r>
                      <a:r>
                        <a:rPr sz="1800" dirty="0">
                          <a:latin typeface="Yu Gothic"/>
                          <a:cs typeface="Yu Gothic"/>
                        </a:rPr>
                        <a:t>評 判」</a:t>
                      </a:r>
                      <a:r>
                        <a:rPr sz="1800" dirty="0">
                          <a:latin typeface="Calibri"/>
                          <a:cs typeface="Calibri"/>
                        </a:rPr>
                        <a:t>;</a:t>
                      </a:r>
                      <a:r>
                        <a:rPr sz="1800" spc="5" dirty="0">
                          <a:latin typeface="Calibri"/>
                          <a:cs typeface="Calibri"/>
                        </a:rPr>
                        <a:t> </a:t>
                      </a:r>
                      <a:r>
                        <a:rPr sz="1800" i="1" spc="-15" dirty="0">
                          <a:latin typeface="Calibri"/>
                          <a:cs typeface="Calibri"/>
                        </a:rPr>
                        <a:t>fārī</a:t>
                      </a:r>
                      <a:r>
                        <a:rPr sz="1800" dirty="0">
                          <a:latin typeface="Yu Gothic"/>
                          <a:cs typeface="Yu Gothic"/>
                        </a:rPr>
                        <a:t>「話す」に類似</a:t>
                      </a:r>
                      <a:endParaRPr sz="1800">
                        <a:latin typeface="Yu Gothic"/>
                        <a:cs typeface="Yu Gothic"/>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spcBef>
                          <a:spcPts val="30"/>
                        </a:spcBef>
                      </a:pPr>
                      <a:endParaRPr sz="1950">
                        <a:latin typeface="Times New Roman"/>
                        <a:cs typeface="Times New Roman"/>
                      </a:endParaRPr>
                    </a:p>
                    <a:p>
                      <a:pPr marL="70485">
                        <a:lnSpc>
                          <a:spcPct val="100000"/>
                        </a:lnSpc>
                      </a:pPr>
                      <a:r>
                        <a:rPr sz="1800" dirty="0">
                          <a:latin typeface="Yu Gothic"/>
                          <a:cs typeface="Yu Gothic"/>
                        </a:rPr>
                        <a:t>評判</a:t>
                      </a:r>
                      <a:r>
                        <a:rPr sz="1800" dirty="0">
                          <a:latin typeface="Calibri"/>
                          <a:cs typeface="Calibri"/>
                        </a:rPr>
                        <a:t>;</a:t>
                      </a:r>
                      <a:r>
                        <a:rPr sz="1800" spc="-90" dirty="0">
                          <a:latin typeface="Calibri"/>
                          <a:cs typeface="Calibri"/>
                        </a:rPr>
                        <a:t> </a:t>
                      </a:r>
                      <a:r>
                        <a:rPr sz="1800" dirty="0">
                          <a:latin typeface="Yu Gothic"/>
                          <a:cs typeface="Yu Gothic"/>
                        </a:rPr>
                        <a:t>名声</a:t>
                      </a:r>
                      <a:endParaRPr sz="1800">
                        <a:latin typeface="Yu Gothic"/>
                        <a:cs typeface="Yu Gothic"/>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1435163">
                <a:tc>
                  <a:txBody>
                    <a:bodyPr/>
                    <a:lstStyle/>
                    <a:p>
                      <a:pPr>
                        <a:lnSpc>
                          <a:spcPct val="100000"/>
                        </a:lnSpc>
                      </a:pPr>
                      <a:endParaRPr sz="1800">
                        <a:latin typeface="Times New Roman"/>
                        <a:cs typeface="Times New Roman"/>
                      </a:endParaRPr>
                    </a:p>
                    <a:p>
                      <a:pPr>
                        <a:lnSpc>
                          <a:spcPct val="100000"/>
                        </a:lnSpc>
                        <a:spcBef>
                          <a:spcPts val="30"/>
                        </a:spcBef>
                      </a:pPr>
                      <a:endParaRPr sz="2050">
                        <a:latin typeface="Times New Roman"/>
                        <a:cs typeface="Times New Roman"/>
                      </a:endParaRPr>
                    </a:p>
                    <a:p>
                      <a:pPr marL="69850">
                        <a:lnSpc>
                          <a:spcPct val="100000"/>
                        </a:lnSpc>
                        <a:spcBef>
                          <a:spcPts val="5"/>
                        </a:spcBef>
                      </a:pPr>
                      <a:r>
                        <a:rPr sz="1800" u="heavy" spc="-15" dirty="0">
                          <a:solidFill>
                            <a:srgbClr val="0462C1"/>
                          </a:solidFill>
                          <a:uFill>
                            <a:solidFill>
                              <a:srgbClr val="0462C1"/>
                            </a:solidFill>
                          </a:uFill>
                          <a:latin typeface="Calibri"/>
                          <a:cs typeface="Calibri"/>
                          <a:hlinkClick r:id="rId5"/>
                        </a:rPr>
                        <a:t>pretty</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356235" indent="-287020">
                        <a:lnSpc>
                          <a:spcPct val="100000"/>
                        </a:lnSpc>
                        <a:spcBef>
                          <a:spcPts val="114"/>
                        </a:spcBef>
                        <a:buFont typeface="Arial MT"/>
                        <a:buChar char="•"/>
                        <a:tabLst>
                          <a:tab pos="356235" algn="l"/>
                          <a:tab pos="356870" algn="l"/>
                        </a:tabLst>
                      </a:pPr>
                      <a:r>
                        <a:rPr sz="1800" spc="-5" dirty="0">
                          <a:latin typeface="Yu Gothic"/>
                          <a:cs typeface="Yu Gothic"/>
                        </a:rPr>
                        <a:t>古英語</a:t>
                      </a:r>
                      <a:r>
                        <a:rPr sz="1800" dirty="0">
                          <a:latin typeface="Calibri"/>
                          <a:cs typeface="Calibri"/>
                        </a:rPr>
                        <a:t>:</a:t>
                      </a:r>
                      <a:r>
                        <a:rPr sz="1800" spc="-5" dirty="0">
                          <a:latin typeface="Calibri"/>
                          <a:cs typeface="Calibri"/>
                        </a:rPr>
                        <a:t> </a:t>
                      </a:r>
                      <a:r>
                        <a:rPr sz="1800" i="1" spc="-15" dirty="0">
                          <a:latin typeface="Calibri"/>
                          <a:cs typeface="Calibri"/>
                        </a:rPr>
                        <a:t>prættig</a:t>
                      </a:r>
                      <a:r>
                        <a:rPr sz="1800" spc="-15" dirty="0">
                          <a:latin typeface="Calibri"/>
                          <a:cs typeface="Calibri"/>
                        </a:rPr>
                        <a:t>,</a:t>
                      </a:r>
                      <a:r>
                        <a:rPr sz="1800" dirty="0">
                          <a:latin typeface="Calibri"/>
                          <a:cs typeface="Calibri"/>
                        </a:rPr>
                        <a:t> </a:t>
                      </a:r>
                      <a:r>
                        <a:rPr sz="1800" i="1" spc="-10" dirty="0">
                          <a:latin typeface="Calibri"/>
                          <a:cs typeface="Calibri"/>
                        </a:rPr>
                        <a:t>prettī</a:t>
                      </a:r>
                      <a:r>
                        <a:rPr sz="1800" spc="-5" dirty="0">
                          <a:latin typeface="Yu Gothic"/>
                          <a:cs typeface="Yu Gothic"/>
                        </a:rPr>
                        <a:t>「狡猾な」、</a:t>
                      </a:r>
                      <a:r>
                        <a:rPr sz="1800" i="1" spc="-10" dirty="0">
                          <a:latin typeface="Calibri"/>
                          <a:cs typeface="Calibri"/>
                        </a:rPr>
                        <a:t>prǣtt</a:t>
                      </a:r>
                      <a:r>
                        <a:rPr sz="1800" spc="-5" dirty="0">
                          <a:latin typeface="Yu Gothic"/>
                          <a:cs typeface="Yu Gothic"/>
                        </a:rPr>
                        <a:t>「罠、策略」の派生語</a:t>
                      </a:r>
                      <a:endParaRPr sz="1800" dirty="0">
                        <a:latin typeface="Yu Gothic"/>
                        <a:cs typeface="Yu Gothic"/>
                      </a:endParaRPr>
                    </a:p>
                    <a:p>
                      <a:pPr marL="356235" marR="223520" indent="-287020">
                        <a:lnSpc>
                          <a:spcPct val="100000"/>
                        </a:lnSpc>
                        <a:buFont typeface="Arial MT"/>
                        <a:buChar char="•"/>
                        <a:tabLst>
                          <a:tab pos="356235" algn="l"/>
                          <a:tab pos="356870" algn="l"/>
                        </a:tabLst>
                      </a:pPr>
                      <a:r>
                        <a:rPr sz="1800" dirty="0">
                          <a:latin typeface="Yu Gothic"/>
                          <a:cs typeface="Yu Gothic"/>
                        </a:rPr>
                        <a:t>中英語</a:t>
                      </a:r>
                      <a:r>
                        <a:rPr sz="1800" dirty="0">
                          <a:latin typeface="Calibri"/>
                          <a:cs typeface="Calibri"/>
                        </a:rPr>
                        <a:t>: </a:t>
                      </a:r>
                      <a:r>
                        <a:rPr sz="1800" i="1" spc="-10" dirty="0">
                          <a:latin typeface="Calibri"/>
                          <a:cs typeface="Calibri"/>
                        </a:rPr>
                        <a:t>prati(e)</a:t>
                      </a:r>
                      <a:r>
                        <a:rPr sz="1800" spc="-10" dirty="0">
                          <a:latin typeface="Calibri"/>
                          <a:cs typeface="Calibri"/>
                        </a:rPr>
                        <a:t>,</a:t>
                      </a:r>
                      <a:r>
                        <a:rPr sz="1800" spc="25" dirty="0">
                          <a:latin typeface="Calibri"/>
                          <a:cs typeface="Calibri"/>
                        </a:rPr>
                        <a:t> </a:t>
                      </a:r>
                      <a:r>
                        <a:rPr sz="1800" i="1" spc="-10" dirty="0">
                          <a:latin typeface="Calibri"/>
                          <a:cs typeface="Calibri"/>
                        </a:rPr>
                        <a:t>pratte</a:t>
                      </a:r>
                      <a:r>
                        <a:rPr sz="1800" spc="-10" dirty="0">
                          <a:latin typeface="Calibri"/>
                          <a:cs typeface="Calibri"/>
                        </a:rPr>
                        <a:t>,</a:t>
                      </a:r>
                      <a:r>
                        <a:rPr sz="1800" dirty="0">
                          <a:latin typeface="Calibri"/>
                          <a:cs typeface="Calibri"/>
                        </a:rPr>
                        <a:t> </a:t>
                      </a:r>
                      <a:r>
                        <a:rPr sz="1800" i="1" spc="-10" dirty="0">
                          <a:latin typeface="Calibri"/>
                          <a:cs typeface="Calibri"/>
                        </a:rPr>
                        <a:t>prettie</a:t>
                      </a:r>
                      <a:r>
                        <a:rPr sz="1800" i="1" spc="10" dirty="0">
                          <a:latin typeface="Calibri"/>
                          <a:cs typeface="Calibri"/>
                        </a:rPr>
                        <a:t> </a:t>
                      </a:r>
                      <a:r>
                        <a:rPr sz="1800" dirty="0">
                          <a:latin typeface="Yu Gothic"/>
                          <a:cs typeface="Yu Gothic"/>
                        </a:rPr>
                        <a:t>「巧妙な</a:t>
                      </a:r>
                      <a:r>
                        <a:rPr sz="1800" dirty="0">
                          <a:latin typeface="Calibri"/>
                          <a:cs typeface="Calibri"/>
                        </a:rPr>
                        <a:t>;</a:t>
                      </a:r>
                      <a:r>
                        <a:rPr sz="1800" spc="5" dirty="0">
                          <a:latin typeface="Calibri"/>
                          <a:cs typeface="Calibri"/>
                        </a:rPr>
                        <a:t> </a:t>
                      </a:r>
                      <a:r>
                        <a:rPr sz="1800" dirty="0">
                          <a:latin typeface="Yu Gothic"/>
                          <a:cs typeface="Yu Gothic"/>
                        </a:rPr>
                        <a:t>礼儀正しい</a:t>
                      </a:r>
                      <a:r>
                        <a:rPr sz="1800" dirty="0">
                          <a:latin typeface="Calibri"/>
                          <a:cs typeface="Calibri"/>
                        </a:rPr>
                        <a:t>;</a:t>
                      </a:r>
                      <a:r>
                        <a:rPr sz="1800" spc="5" dirty="0">
                          <a:latin typeface="Calibri"/>
                          <a:cs typeface="Calibri"/>
                        </a:rPr>
                        <a:t> </a:t>
                      </a:r>
                      <a:r>
                        <a:rPr sz="1800" dirty="0">
                          <a:latin typeface="Yu Gothic"/>
                          <a:cs typeface="Yu Gothic"/>
                        </a:rPr>
                        <a:t>洗練された</a:t>
                      </a:r>
                      <a:r>
                        <a:rPr sz="1800" dirty="0">
                          <a:latin typeface="Calibri"/>
                          <a:cs typeface="Calibri"/>
                        </a:rPr>
                        <a:t>;</a:t>
                      </a:r>
                      <a:r>
                        <a:rPr sz="1800" spc="5" dirty="0">
                          <a:latin typeface="Calibri"/>
                          <a:cs typeface="Calibri"/>
                        </a:rPr>
                        <a:t> </a:t>
                      </a:r>
                      <a:r>
                        <a:rPr sz="1800" dirty="0">
                          <a:latin typeface="Yu Gothic"/>
                          <a:cs typeface="Yu Gothic"/>
                        </a:rPr>
                        <a:t>顔立 ちの整った</a:t>
                      </a:r>
                      <a:r>
                        <a:rPr sz="1800" dirty="0">
                          <a:latin typeface="Calibri"/>
                          <a:cs typeface="Calibri"/>
                        </a:rPr>
                        <a:t>;</a:t>
                      </a:r>
                      <a:r>
                        <a:rPr sz="1800" spc="5" dirty="0">
                          <a:latin typeface="Calibri"/>
                          <a:cs typeface="Calibri"/>
                        </a:rPr>
                        <a:t> </a:t>
                      </a:r>
                      <a:r>
                        <a:rPr sz="1800" dirty="0">
                          <a:latin typeface="Yu Gothic"/>
                          <a:cs typeface="Yu Gothic"/>
                        </a:rPr>
                        <a:t>綺麗な、美しい」</a:t>
                      </a:r>
                      <a:r>
                        <a:rPr sz="1800" dirty="0">
                          <a:latin typeface="Calibri"/>
                          <a:cs typeface="Calibri"/>
                        </a:rPr>
                        <a:t>-</a:t>
                      </a:r>
                      <a:r>
                        <a:rPr sz="1800" spc="-5" dirty="0">
                          <a:latin typeface="Calibri"/>
                          <a:cs typeface="Calibri"/>
                        </a:rPr>
                        <a:t> </a:t>
                      </a:r>
                      <a:r>
                        <a:rPr sz="1800" dirty="0">
                          <a:latin typeface="Yu Gothic"/>
                          <a:cs typeface="Yu Gothic"/>
                        </a:rPr>
                        <a:t>最初の記録は</a:t>
                      </a:r>
                      <a:r>
                        <a:rPr sz="1800" spc="-5" dirty="0">
                          <a:latin typeface="Calibri"/>
                          <a:cs typeface="Calibri"/>
                        </a:rPr>
                        <a:t>1000</a:t>
                      </a:r>
                      <a:r>
                        <a:rPr sz="1800" dirty="0">
                          <a:latin typeface="Yu Gothic"/>
                          <a:cs typeface="Yu Gothic"/>
                        </a:rPr>
                        <a:t>年以前</a:t>
                      </a:r>
                    </a:p>
                    <a:p>
                      <a:pPr marL="356235" indent="-287020">
                        <a:lnSpc>
                          <a:spcPct val="100000"/>
                        </a:lnSpc>
                        <a:buFont typeface="Arial MT"/>
                        <a:buChar char="•"/>
                        <a:tabLst>
                          <a:tab pos="356235" algn="l"/>
                          <a:tab pos="356870" algn="l"/>
                        </a:tabLst>
                      </a:pPr>
                      <a:r>
                        <a:rPr sz="1800" dirty="0">
                          <a:latin typeface="Yu Gothic"/>
                          <a:cs typeface="Yu Gothic"/>
                        </a:rPr>
                        <a:t>オランダ語の</a:t>
                      </a:r>
                      <a:r>
                        <a:rPr sz="1800" spc="-120" dirty="0">
                          <a:latin typeface="Yu Gothic"/>
                          <a:cs typeface="Yu Gothic"/>
                        </a:rPr>
                        <a:t> </a:t>
                      </a:r>
                      <a:r>
                        <a:rPr sz="1800" i="1" spc="-5" dirty="0">
                          <a:latin typeface="Calibri"/>
                          <a:cs typeface="Calibri"/>
                        </a:rPr>
                        <a:t>part</a:t>
                      </a:r>
                      <a:r>
                        <a:rPr sz="1800" spc="-5" dirty="0">
                          <a:latin typeface="Calibri"/>
                          <a:cs typeface="Calibri"/>
                        </a:rPr>
                        <a:t>,</a:t>
                      </a:r>
                      <a:r>
                        <a:rPr sz="1800" spc="-10" dirty="0">
                          <a:latin typeface="Calibri"/>
                          <a:cs typeface="Calibri"/>
                        </a:rPr>
                        <a:t> </a:t>
                      </a:r>
                      <a:r>
                        <a:rPr sz="1800" i="1" spc="-10" dirty="0">
                          <a:latin typeface="Calibri"/>
                          <a:cs typeface="Calibri"/>
                        </a:rPr>
                        <a:t>pret</a:t>
                      </a:r>
                      <a:r>
                        <a:rPr sz="1800" dirty="0">
                          <a:latin typeface="Yu Gothic"/>
                          <a:cs typeface="Yu Gothic"/>
                        </a:rPr>
                        <a:t>「罠</a:t>
                      </a:r>
                      <a:r>
                        <a:rPr sz="1800" dirty="0">
                          <a:latin typeface="Calibri"/>
                          <a:cs typeface="Calibri"/>
                        </a:rPr>
                        <a:t>;</a:t>
                      </a:r>
                      <a:r>
                        <a:rPr sz="1800" spc="5" dirty="0">
                          <a:latin typeface="Calibri"/>
                          <a:cs typeface="Calibri"/>
                        </a:rPr>
                        <a:t> </a:t>
                      </a:r>
                      <a:r>
                        <a:rPr sz="1800" dirty="0">
                          <a:latin typeface="Yu Gothic"/>
                          <a:cs typeface="Yu Gothic"/>
                        </a:rPr>
                        <a:t>悪戯」、古ノルド語の</a:t>
                      </a:r>
                      <a:r>
                        <a:rPr sz="1800" spc="-120" dirty="0">
                          <a:latin typeface="Yu Gothic"/>
                          <a:cs typeface="Yu Gothic"/>
                        </a:rPr>
                        <a:t> </a:t>
                      </a:r>
                      <a:r>
                        <a:rPr sz="1800" i="1" spc="-10" dirty="0">
                          <a:latin typeface="Calibri"/>
                          <a:cs typeface="Calibri"/>
                        </a:rPr>
                        <a:t>prettr</a:t>
                      </a:r>
                      <a:r>
                        <a:rPr sz="1800" i="1" spc="-20" dirty="0">
                          <a:latin typeface="Calibri"/>
                          <a:cs typeface="Calibri"/>
                        </a:rPr>
                        <a:t> </a:t>
                      </a:r>
                      <a:r>
                        <a:rPr sz="1800" dirty="0">
                          <a:latin typeface="Yu Gothic"/>
                          <a:cs typeface="Yu Gothic"/>
                        </a:rPr>
                        <a:t>「罠」、</a:t>
                      </a:r>
                    </a:p>
                    <a:p>
                      <a:pPr marL="356235">
                        <a:lnSpc>
                          <a:spcPct val="100000"/>
                        </a:lnSpc>
                      </a:pPr>
                      <a:r>
                        <a:rPr sz="1800" i="1" spc="-5" dirty="0">
                          <a:latin typeface="Calibri"/>
                          <a:cs typeface="Calibri"/>
                        </a:rPr>
                        <a:t>prettugr</a:t>
                      </a:r>
                      <a:r>
                        <a:rPr sz="1800" i="1" spc="-45" dirty="0">
                          <a:latin typeface="Calibri"/>
                          <a:cs typeface="Calibri"/>
                        </a:rPr>
                        <a:t> </a:t>
                      </a:r>
                      <a:r>
                        <a:rPr sz="1800" dirty="0">
                          <a:latin typeface="Yu Gothic"/>
                          <a:cs typeface="Yu Gothic"/>
                        </a:rPr>
                        <a:t>「巧妙な」と関連</a:t>
                      </a:r>
                    </a:p>
                  </a:txBody>
                  <a:tcPr marL="0" marR="0" marT="1460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2000" dirty="0">
                        <a:latin typeface="Times New Roman"/>
                        <a:cs typeface="Times New Roman"/>
                      </a:endParaRPr>
                    </a:p>
                    <a:p>
                      <a:pPr>
                        <a:lnSpc>
                          <a:spcPct val="100000"/>
                        </a:lnSpc>
                        <a:spcBef>
                          <a:spcPts val="10"/>
                        </a:spcBef>
                      </a:pPr>
                      <a:endParaRPr sz="1850" dirty="0">
                        <a:latin typeface="Times New Roman"/>
                        <a:cs typeface="Times New Roman"/>
                      </a:endParaRPr>
                    </a:p>
                    <a:p>
                      <a:pPr marL="70485">
                        <a:lnSpc>
                          <a:spcPct val="100000"/>
                        </a:lnSpc>
                      </a:pPr>
                      <a:r>
                        <a:rPr sz="1800" dirty="0">
                          <a:latin typeface="Yu Gothic"/>
                          <a:cs typeface="Yu Gothic"/>
                        </a:rPr>
                        <a:t>綺麗な、美しい</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50403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US" altLang="ja-JP" b="1" dirty="0">
                <a:latin typeface="Calibri (Headings)"/>
              </a:rPr>
              <a:t>3.</a:t>
            </a:r>
            <a:r>
              <a:rPr lang="en-GB" altLang="ja-JP" b="1" dirty="0">
                <a:latin typeface="Calibri (Headings)"/>
              </a:rPr>
              <a:t> </a:t>
            </a:r>
            <a:r>
              <a:rPr lang="ja-JP" altLang="en-US" b="1" dirty="0">
                <a:latin typeface="Calibri (Headings)"/>
                <a:sym typeface="Arial"/>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87880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3.</a:t>
            </a:r>
            <a:r>
              <a:rPr lang="en-GB" altLang="ja-JP" b="1" dirty="0">
                <a:latin typeface="Calibri (Headings)"/>
              </a:rPr>
              <a:t> </a:t>
            </a:r>
            <a:r>
              <a:rPr lang="ja-JP" altLang="en-US" b="1" dirty="0">
                <a:latin typeface="Calibri (Headings)"/>
                <a:sym typeface="Arial"/>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a:bodyPr>
          <a:lstStyle/>
          <a:p>
            <a:pPr marL="374015" marR="0" lvl="0" indent="-361950" algn="l" defTabSz="914400" rtl="0" eaLnBrk="1" fontAlgn="auto" latinLnBrk="0" hangingPunct="1">
              <a:lnSpc>
                <a:spcPts val="3340"/>
              </a:lnSpc>
              <a:spcBef>
                <a:spcPts val="0"/>
              </a:spcBef>
              <a:spcAft>
                <a:spcPts val="0"/>
              </a:spcAft>
              <a:buClrTx/>
              <a:buSzPct val="116666"/>
              <a:buFontTx/>
              <a:buAutoNum type="arabicPeriod"/>
              <a:tabLst>
                <a:tab pos="374650" algn="l"/>
              </a:tabLst>
              <a:defRPr/>
            </a:pPr>
            <a:r>
              <a:rPr kumimoji="0" lang="en-US" altLang="ja-JP" sz="2400" b="1" i="0" u="none" strike="noStrike" kern="1200" cap="none" spc="-15" normalizeH="0" baseline="0" noProof="0" dirty="0">
                <a:ln>
                  <a:noFill/>
                </a:ln>
                <a:solidFill>
                  <a:prstClr val="black"/>
                </a:solidFill>
                <a:effectLst/>
                <a:uLnTx/>
                <a:uFillTx/>
                <a:latin typeface="Calibri"/>
                <a:ea typeface="+mn-ea"/>
                <a:cs typeface="Calibri"/>
              </a:rPr>
              <a:t>Pejoration</a:t>
            </a:r>
            <a:r>
              <a:rPr kumimoji="0" lang="en-US" altLang="ja-JP" sz="2400" i="0" u="none" strike="noStrike" kern="1200" cap="none" spc="-15" normalizeH="0" baseline="0" noProof="0" dirty="0">
                <a:ln>
                  <a:noFill/>
                </a:ln>
                <a:solidFill>
                  <a:prstClr val="black"/>
                </a:solidFill>
                <a:effectLst/>
                <a:uLnTx/>
                <a:uFillTx/>
                <a:latin typeface="Calibri"/>
                <a:ea typeface="+mn-ea"/>
                <a:cs typeface="Calibri"/>
              </a:rPr>
              <a:t> </a:t>
            </a:r>
            <a:r>
              <a:rPr kumimoji="0" lang="ja-JP" altLang="en-US" sz="2400" i="0" u="none" strike="noStrike" kern="1200" cap="none" spc="-15" normalizeH="0" baseline="0" noProof="0" dirty="0">
                <a:ln>
                  <a:noFill/>
                </a:ln>
                <a:solidFill>
                  <a:prstClr val="black"/>
                </a:solidFill>
                <a:effectLst/>
                <a:uLnTx/>
                <a:uFillTx/>
                <a:latin typeface="Calibri"/>
                <a:ea typeface="+mn-ea"/>
                <a:cs typeface="Calibri"/>
              </a:rPr>
              <a:t>は歴史的変遷を経て</a:t>
            </a:r>
            <a:r>
              <a:rPr kumimoji="0" lang="ja-JP" altLang="en-US" sz="2400" b="1" i="0" u="none" strike="noStrike" kern="1200" cap="none" spc="-15" normalizeH="0" baseline="0" noProof="0" dirty="0">
                <a:ln>
                  <a:noFill/>
                </a:ln>
                <a:solidFill>
                  <a:prstClr val="black"/>
                </a:solidFill>
                <a:effectLst/>
                <a:uLnTx/>
                <a:uFillTx/>
                <a:latin typeface="Calibri"/>
                <a:ea typeface="+mn-ea"/>
                <a:cs typeface="Calibri"/>
              </a:rPr>
              <a:t>良い意味から悪い意味</a:t>
            </a:r>
            <a:r>
              <a:rPr kumimoji="0" lang="ja-JP" altLang="en-US" sz="2400" i="0" u="none" strike="noStrike" kern="1200" cap="none" spc="-15" normalizeH="0" baseline="0" noProof="0" dirty="0">
                <a:ln>
                  <a:noFill/>
                </a:ln>
                <a:solidFill>
                  <a:prstClr val="black"/>
                </a:solidFill>
                <a:effectLst/>
                <a:uLnTx/>
                <a:uFillTx/>
                <a:latin typeface="Calibri"/>
                <a:ea typeface="+mn-ea"/>
                <a:cs typeface="Calibri"/>
              </a:rPr>
              <a:t>に変化すること。</a:t>
            </a:r>
          </a:p>
          <a:p>
            <a:pPr marL="374015" marR="0" lvl="0" indent="-361950" algn="l" defTabSz="914400" rtl="0" eaLnBrk="1" fontAlgn="auto" latinLnBrk="0" hangingPunct="1">
              <a:lnSpc>
                <a:spcPts val="3340"/>
              </a:lnSpc>
              <a:spcBef>
                <a:spcPts val="0"/>
              </a:spcBef>
              <a:spcAft>
                <a:spcPts val="0"/>
              </a:spcAft>
              <a:buClrTx/>
              <a:buSzPct val="116666"/>
              <a:buFontTx/>
              <a:buAutoNum type="arabicPeriod"/>
              <a:tabLst>
                <a:tab pos="374650" algn="l"/>
              </a:tabLst>
              <a:defRPr/>
            </a:pPr>
            <a:r>
              <a:rPr kumimoji="0" lang="en-US" altLang="ja-JP" sz="2400" b="1" i="0" u="none" strike="noStrike" kern="1200" cap="none" spc="-15" normalizeH="0" baseline="0" noProof="0" dirty="0">
                <a:ln>
                  <a:noFill/>
                </a:ln>
                <a:solidFill>
                  <a:prstClr val="black"/>
                </a:solidFill>
                <a:effectLst/>
                <a:uLnTx/>
                <a:uFillTx/>
                <a:latin typeface="Calibri"/>
                <a:ea typeface="+mn-ea"/>
                <a:cs typeface="Calibri"/>
              </a:rPr>
              <a:t>Amelioration</a:t>
            </a:r>
            <a:r>
              <a:rPr kumimoji="0" lang="en-GB" altLang="ja-JP" sz="2400" b="1" i="0" u="none" strike="noStrike" kern="1200" cap="none" spc="-15" normalizeH="0" baseline="0" noProof="0" dirty="0">
                <a:ln>
                  <a:noFill/>
                </a:ln>
                <a:solidFill>
                  <a:prstClr val="black"/>
                </a:solidFill>
                <a:effectLst/>
                <a:uLnTx/>
                <a:uFillTx/>
                <a:latin typeface="Calibri"/>
                <a:ea typeface="+mn-ea"/>
                <a:cs typeface="Calibri"/>
              </a:rPr>
              <a:t> </a:t>
            </a:r>
            <a:r>
              <a:rPr kumimoji="0" lang="ja-JP" altLang="en-US" sz="2400" i="0" u="none" strike="noStrike" kern="1200" cap="none" spc="-15" normalizeH="0" baseline="0" noProof="0" dirty="0">
                <a:ln>
                  <a:noFill/>
                </a:ln>
                <a:solidFill>
                  <a:prstClr val="black"/>
                </a:solidFill>
                <a:effectLst/>
                <a:uLnTx/>
                <a:uFillTx/>
                <a:latin typeface="Calibri"/>
                <a:ea typeface="+mn-ea"/>
                <a:cs typeface="Calibri"/>
              </a:rPr>
              <a:t>は歴史的変遷を経て</a:t>
            </a:r>
            <a:r>
              <a:rPr kumimoji="0" lang="ja-JP" altLang="en-US" sz="2400" b="1" i="0" u="none" strike="noStrike" kern="1200" cap="none" spc="-15" normalizeH="0" baseline="0" noProof="0" dirty="0">
                <a:ln>
                  <a:noFill/>
                </a:ln>
                <a:solidFill>
                  <a:prstClr val="black"/>
                </a:solidFill>
                <a:effectLst/>
                <a:uLnTx/>
                <a:uFillTx/>
                <a:latin typeface="Calibri"/>
                <a:ea typeface="+mn-ea"/>
                <a:cs typeface="Calibri"/>
              </a:rPr>
              <a:t>悪い意味から良い意味</a:t>
            </a:r>
            <a:r>
              <a:rPr kumimoji="0" lang="ja-JP" altLang="en-US" sz="2400" i="0" u="none" strike="noStrike" kern="1200" cap="none" spc="-15" normalizeH="0" baseline="0" noProof="0" dirty="0">
                <a:ln>
                  <a:noFill/>
                </a:ln>
                <a:solidFill>
                  <a:prstClr val="black"/>
                </a:solidFill>
                <a:effectLst/>
                <a:uLnTx/>
                <a:uFillTx/>
                <a:latin typeface="Calibri"/>
                <a:ea typeface="+mn-ea"/>
                <a:cs typeface="Calibri"/>
              </a:rPr>
              <a:t>に変化すること。</a:t>
            </a:r>
          </a:p>
          <a:p>
            <a:pPr marL="374015" marR="0" lvl="0" indent="-361950" algn="l" defTabSz="914400" rtl="0" eaLnBrk="1" fontAlgn="auto" latinLnBrk="0" hangingPunct="1">
              <a:lnSpc>
                <a:spcPts val="3340"/>
              </a:lnSpc>
              <a:spcBef>
                <a:spcPts val="0"/>
              </a:spcBef>
              <a:spcAft>
                <a:spcPts val="0"/>
              </a:spcAft>
              <a:buClrTx/>
              <a:buSzPct val="116666"/>
              <a:buFontTx/>
              <a:buAutoNum type="arabicPeriod"/>
              <a:tabLst>
                <a:tab pos="374650" algn="l"/>
              </a:tabLst>
              <a:defRPr/>
            </a:pPr>
            <a:r>
              <a:rPr kumimoji="0" lang="ja-JP" altLang="en-US" sz="2400" i="0" u="none" strike="noStrike" kern="1200" cap="none" spc="-15" normalizeH="0" baseline="0" noProof="0" dirty="0">
                <a:ln>
                  <a:noFill/>
                </a:ln>
                <a:solidFill>
                  <a:prstClr val="black"/>
                </a:solidFill>
                <a:effectLst/>
                <a:uLnTx/>
                <a:uFillTx/>
                <a:latin typeface="Calibri"/>
                <a:ea typeface="+mn-ea"/>
                <a:cs typeface="Calibri"/>
              </a:rPr>
              <a:t>語彙が生き残るためには類義語との異なる意味やニュアンスを含むこと が必要である。</a:t>
            </a:r>
          </a:p>
          <a:p>
            <a:pPr marL="374015" marR="0" lvl="0" indent="-361950" algn="l" defTabSz="914400" rtl="0" eaLnBrk="1" fontAlgn="auto" latinLnBrk="0" hangingPunct="1">
              <a:lnSpc>
                <a:spcPts val="3340"/>
              </a:lnSpc>
              <a:spcBef>
                <a:spcPts val="0"/>
              </a:spcBef>
              <a:spcAft>
                <a:spcPts val="0"/>
              </a:spcAft>
              <a:buClrTx/>
              <a:buSzPct val="116666"/>
              <a:buFontTx/>
              <a:buAutoNum type="arabicPeriod"/>
              <a:tabLst>
                <a:tab pos="374650" algn="l"/>
              </a:tabLst>
              <a:defRPr/>
            </a:pPr>
            <a:r>
              <a:rPr kumimoji="0" lang="ja-JP" altLang="en-US" sz="2400" i="0" u="none" strike="noStrike" kern="1200" cap="none" spc="-15" normalizeH="0" baseline="0" noProof="0" dirty="0">
                <a:ln>
                  <a:noFill/>
                </a:ln>
                <a:solidFill>
                  <a:prstClr val="black"/>
                </a:solidFill>
                <a:effectLst/>
                <a:uLnTx/>
                <a:uFillTx/>
                <a:latin typeface="Calibri"/>
                <a:ea typeface="+mn-ea"/>
                <a:cs typeface="Calibri"/>
              </a:rPr>
              <a:t>語の歴史を紐解くとその答えを発見出来る。</a:t>
            </a:r>
          </a:p>
        </p:txBody>
      </p:sp>
    </p:spTree>
    <p:extLst>
      <p:ext uri="{BB962C8B-B14F-4D97-AF65-F5344CB8AC3E}">
        <p14:creationId xmlns:p14="http://schemas.microsoft.com/office/powerpoint/2010/main" val="35154773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4.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8957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4.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E96154D-0AC4-47C9-B8EE-32ED60A2B6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6">
            <a:extLst>
              <a:ext uri="{FF2B5EF4-FFF2-40B4-BE49-F238E27FC236}">
                <a16:creationId xmlns:a16="http://schemas.microsoft.com/office/drawing/2014/main" id="{0A3A8506-B2C4-48D9-8B66-4EF42A11727B}"/>
              </a:ext>
            </a:extLst>
          </p:cNvPr>
          <p:cNvSpPr>
            <a:spLocks noGrp="1"/>
          </p:cNvSpPr>
          <p:nvPr>
            <p:ph idx="1"/>
          </p:nvPr>
        </p:nvSpPr>
        <p:spPr/>
        <p:txBody>
          <a:bodyPr>
            <a:normAutofit/>
          </a:bodyPr>
          <a:lstStyle/>
          <a:p>
            <a:pPr marL="280670" marR="5080" lvl="0" indent="-268605" algn="l" defTabSz="914400" rtl="0" eaLnBrk="1" fontAlgn="auto" latinLnBrk="0" hangingPunct="1">
              <a:lnSpc>
                <a:spcPct val="90100"/>
              </a:lnSpc>
              <a:spcBef>
                <a:spcPts val="385"/>
              </a:spcBef>
              <a:spcAft>
                <a:spcPts val="0"/>
              </a:spcAft>
              <a:buClrTx/>
              <a:buSzPct val="116666"/>
              <a:buFont typeface="Arial MT"/>
              <a:buChar char="•"/>
              <a:tabLst>
                <a:tab pos="281305"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菊池清明・唐沢一友・小池剛史・堀田隆一・福田一貴・貝塚泰幸・松崎武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志、</a:t>
            </a:r>
            <a:r>
              <a:rPr kumimoji="0" lang="en-US" altLang="ja-JP" sz="2400" b="0" i="0" u="none" strike="noStrike" kern="1200" cap="none" spc="-5" normalizeH="0" baseline="0" noProof="0" dirty="0">
                <a:ln>
                  <a:noFill/>
                </a:ln>
                <a:solidFill>
                  <a:prstClr val="black"/>
                </a:solidFill>
                <a:effectLst/>
                <a:uLnTx/>
                <a:uFillTx/>
                <a:latin typeface="Yu Gothic"/>
                <a:ea typeface="+mn-ea"/>
                <a:cs typeface="Yu Gothic"/>
              </a:rPr>
              <a:t>『</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英語学：現代英語をより深く知るため</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に</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現代英語の諸相と英語学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術語解</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説</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a:t>
            </a:r>
            <a:r>
              <a:rPr kumimoji="0" lang="en-US" altLang="ja-JP" sz="2400" b="0"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、大阪府、浪漫書房、</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2008</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年</a:t>
            </a:r>
          </a:p>
          <a:p>
            <a:pPr marL="280670" marR="0" lvl="0" indent="-268605" algn="l" defTabSz="914400" rtl="0" eaLnBrk="1" fontAlgn="auto" latinLnBrk="0" hangingPunct="1">
              <a:lnSpc>
                <a:spcPts val="2490"/>
              </a:lnSpc>
              <a:spcBef>
                <a:spcPts val="0"/>
              </a:spcBef>
              <a:spcAft>
                <a:spcPts val="0"/>
              </a:spcAft>
              <a:buClr>
                <a:srgbClr val="000000"/>
              </a:buClr>
              <a:buSzPct val="116666"/>
              <a:buFont typeface="Arial MT"/>
              <a:buChar char="•"/>
              <a:tabLst>
                <a:tab pos="281305" algn="l"/>
              </a:tabLst>
              <a:defRPr/>
            </a:pPr>
            <a:r>
              <a:rPr kumimoji="0" lang="en-US" altLang="ja-JP" sz="2400" b="0" i="0" u="heavy" strike="noStrike" kern="1200" cap="none" spc="-20" normalizeH="0" baseline="0" noProof="0" dirty="0">
                <a:ln>
                  <a:noFill/>
                </a:ln>
                <a:solidFill>
                  <a:srgbClr val="0462C1"/>
                </a:solidFill>
                <a:effectLst/>
                <a:uLnTx/>
                <a:uFill>
                  <a:solidFill>
                    <a:srgbClr val="0462C1"/>
                  </a:solidFill>
                </a:uFill>
                <a:latin typeface="Calibri"/>
                <a:ea typeface="+mn-ea"/>
                <a:cs typeface="Calibri"/>
                <a:hlinkClick r:id="rId3"/>
              </a:rPr>
              <a:t>Dictionary.com</a:t>
            </a:r>
            <a:endParaRPr kumimoji="0" lang="ja-JP" altLang="en-US" sz="2400" b="0" i="0" u="none" strike="noStrike" kern="1200" cap="none" spc="0" normalizeH="0" baseline="0" noProof="0" dirty="0">
              <a:ln>
                <a:noFill/>
              </a:ln>
              <a:solidFill>
                <a:prstClr val="black"/>
              </a:solidFill>
              <a:effectLst/>
              <a:uLnTx/>
              <a:uFillTx/>
              <a:latin typeface="Calibri"/>
              <a:ea typeface="+mn-ea"/>
              <a:cs typeface="Calibri"/>
            </a:endParaRPr>
          </a:p>
          <a:p>
            <a:pPr marL="730250" marR="0" lvl="1" indent="-260985" algn="l" defTabSz="914400" rtl="0" eaLnBrk="1" fontAlgn="auto" latinLnBrk="0" hangingPunct="1">
              <a:lnSpc>
                <a:spcPts val="2290"/>
              </a:lnSpc>
              <a:spcBef>
                <a:spcPts val="0"/>
              </a:spcBef>
              <a:spcAft>
                <a:spcPts val="0"/>
              </a:spcAft>
              <a:buClrTx/>
              <a:buSzPct val="140000"/>
              <a:buFont typeface="Arial MT"/>
              <a:buChar char="•"/>
              <a:tabLst>
                <a:tab pos="73088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最終アクセス日</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65"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2024</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年</a:t>
            </a:r>
            <a:r>
              <a:rPr kumimoji="0" lang="en-US" altLang="ja-JP" sz="2000" b="0" i="0" u="none" strike="noStrike" kern="1200" cap="none" spc="-5" normalizeH="0" baseline="0" noProof="0" dirty="0">
                <a:ln>
                  <a:noFill/>
                </a:ln>
                <a:solidFill>
                  <a:prstClr val="black"/>
                </a:solidFill>
                <a:effectLst/>
                <a:uLnTx/>
                <a:uFillTx/>
                <a:latin typeface="Calibri"/>
                <a:ea typeface="+mn-ea"/>
                <a:cs typeface="Calibri"/>
              </a:rPr>
              <a:t>02</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月</a:t>
            </a:r>
            <a:r>
              <a:rPr kumimoji="0" lang="en-US" altLang="ja-JP" sz="2000" b="0" i="0" u="none" strike="noStrike" kern="1200" cap="none" spc="-10" normalizeH="0" baseline="0" noProof="0" dirty="0">
                <a:ln>
                  <a:noFill/>
                </a:ln>
                <a:solidFill>
                  <a:prstClr val="black"/>
                </a:solidFill>
                <a:effectLst/>
                <a:uLnTx/>
                <a:uFillTx/>
                <a:latin typeface="Calibri"/>
                <a:ea typeface="+mn-ea"/>
                <a:cs typeface="Calibri"/>
              </a:rPr>
              <a:t>11</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日</a:t>
            </a:r>
          </a:p>
        </p:txBody>
      </p:sp>
    </p:spTree>
    <p:extLst>
      <p:ext uri="{BB962C8B-B14F-4D97-AF65-F5344CB8AC3E}">
        <p14:creationId xmlns:p14="http://schemas.microsoft.com/office/powerpoint/2010/main" val="30412465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4" name="スライド番号プレースホルダー 3">
            <a:extLst>
              <a:ext uri="{FF2B5EF4-FFF2-40B4-BE49-F238E27FC236}">
                <a16:creationId xmlns:a16="http://schemas.microsoft.com/office/drawing/2014/main" id="{B2458194-12B8-434A-8D6D-E01520C89A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2909</Words>
  <Application>Microsoft Office PowerPoint</Application>
  <PresentationFormat>Widescreen</PresentationFormat>
  <Paragraphs>310</Paragraphs>
  <Slides>28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-apple-system</vt:lpstr>
      <vt:lpstr>Arial MT</vt:lpstr>
      <vt:lpstr>Calibri (Headings)</vt:lpstr>
      <vt:lpstr>Yu Gothic</vt:lpstr>
      <vt:lpstr>Arial</vt:lpstr>
      <vt:lpstr>Calibri</vt:lpstr>
      <vt:lpstr>Calibri Light</vt:lpstr>
      <vt:lpstr>Times New Roman</vt:lpstr>
      <vt:lpstr>Office テーマ</vt:lpstr>
      <vt:lpstr>現代英語を知ろう</vt:lpstr>
      <vt:lpstr>自己紹介</vt:lpstr>
      <vt:lpstr>免許 / 資格</vt:lpstr>
      <vt:lpstr>スキルスタック</vt:lpstr>
      <vt:lpstr>職歴</vt:lpstr>
      <vt:lpstr>職歴</vt:lpstr>
      <vt:lpstr>国際交流活動</vt:lpstr>
      <vt:lpstr>このシリーズのコンセプト</vt:lpstr>
      <vt:lpstr>目次</vt:lpstr>
      <vt:lpstr>1. 意味の下落</vt:lpstr>
      <vt:lpstr>1. 意味の下落</vt:lpstr>
      <vt:lpstr>1. 意味の下落</vt:lpstr>
      <vt:lpstr>1. 意味の下落</vt:lpstr>
      <vt:lpstr>1. 意味の下落</vt:lpstr>
      <vt:lpstr>1. 意味の下落</vt:lpstr>
      <vt:lpstr>1. 意味の下落</vt:lpstr>
      <vt:lpstr>2. 意味の向上</vt:lpstr>
      <vt:lpstr>2. 意味の向上</vt:lpstr>
      <vt:lpstr>2. 意味の向上</vt:lpstr>
      <vt:lpstr>2. 意味の向上</vt:lpstr>
      <vt:lpstr>2. 意味の向上</vt:lpstr>
      <vt:lpstr>2. 意味の向上</vt:lpstr>
      <vt:lpstr>2. 意味の向上</vt:lpstr>
      <vt:lpstr>3. まとめ</vt:lpstr>
      <vt:lpstr>3. まとめ</vt:lpstr>
      <vt:lpstr>4. 参考文献</vt:lpstr>
      <vt:lpstr>4. 参考文献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28</cp:revision>
  <dcterms:modified xsi:type="dcterms:W3CDTF">2025-09-01T03:30:53Z</dcterms:modified>
</cp:coreProperties>
</file>