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87" r:id="rId3"/>
    <p:sldId id="388" r:id="rId4"/>
    <p:sldId id="431" r:id="rId5"/>
    <p:sldId id="432" r:id="rId6"/>
    <p:sldId id="433" r:id="rId7"/>
    <p:sldId id="280" r:id="rId8"/>
    <p:sldId id="311" r:id="rId9"/>
    <p:sldId id="259" r:id="rId10"/>
    <p:sldId id="330" r:id="rId11"/>
    <p:sldId id="325" r:id="rId12"/>
    <p:sldId id="354" r:id="rId13"/>
    <p:sldId id="410" r:id="rId14"/>
    <p:sldId id="411" r:id="rId15"/>
    <p:sldId id="430" r:id="rId16"/>
    <p:sldId id="412" r:id="rId17"/>
    <p:sldId id="425" r:id="rId18"/>
    <p:sldId id="426" r:id="rId19"/>
    <p:sldId id="326" r:id="rId20"/>
    <p:sldId id="336" r:id="rId21"/>
    <p:sldId id="413" r:id="rId22"/>
    <p:sldId id="419" r:id="rId23"/>
    <p:sldId id="420" r:id="rId24"/>
    <p:sldId id="427" r:id="rId25"/>
    <p:sldId id="421" r:id="rId26"/>
    <p:sldId id="428" r:id="rId27"/>
    <p:sldId id="429" r:id="rId28"/>
    <p:sldId id="359" r:id="rId29"/>
    <p:sldId id="360" r:id="rId30"/>
    <p:sldId id="418" r:id="rId31"/>
    <p:sldId id="408" r:id="rId32"/>
    <p:sldId id="409" r:id="rId33"/>
    <p:sldId id="385" r:id="rId34"/>
    <p:sldId id="386" r:id="rId35"/>
    <p:sldId id="328" r:id="rId36"/>
    <p:sldId id="295" r:id="rId37"/>
    <p:sldId id="28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DF40E9BD-881A-4ADD-9480-877D925AE99E}"/>
    <pc:docChg chg="custSel addSld delSld modSld sldOrd">
      <pc:chgData name="Hayato Ishida" userId="585fa0fa6384767c" providerId="LiveId" clId="{DF40E9BD-881A-4ADD-9480-877D925AE99E}" dt="2025-09-01T03:26:13.255" v="15"/>
      <pc:docMkLst>
        <pc:docMk/>
      </pc:docMkLst>
      <pc:sldChg chg="del">
        <pc:chgData name="Hayato Ishida" userId="585fa0fa6384767c" providerId="LiveId" clId="{DF40E9BD-881A-4ADD-9480-877D925AE99E}" dt="2025-08-31T17:58:44.102" v="2" actId="47"/>
        <pc:sldMkLst>
          <pc:docMk/>
          <pc:sldMk cId="155858466" sldId="286"/>
        </pc:sldMkLst>
      </pc:sldChg>
      <pc:sldChg chg="addSp delSp modSp mod">
        <pc:chgData name="Hayato Ishida" userId="585fa0fa6384767c" providerId="LiveId" clId="{DF40E9BD-881A-4ADD-9480-877D925AE99E}" dt="2025-08-31T18:03:21.516" v="10"/>
        <pc:sldMkLst>
          <pc:docMk/>
          <pc:sldMk cId="654251065" sldId="287"/>
        </pc:sldMkLst>
        <pc:spChg chg="add del mod">
          <ac:chgData name="Hayato Ishida" userId="585fa0fa6384767c" providerId="LiveId" clId="{DF40E9BD-881A-4ADD-9480-877D925AE99E}" dt="2025-08-31T17:58:40.311" v="1" actId="478"/>
          <ac:spMkLst>
            <pc:docMk/>
            <pc:sldMk cId="654251065" sldId="287"/>
            <ac:spMk id="3" creationId="{7219B783-7376-C3CD-4B92-95B5A4DF557D}"/>
          </ac:spMkLst>
        </pc:spChg>
        <pc:spChg chg="add del mod">
          <ac:chgData name="Hayato Ishida" userId="585fa0fa6384767c" providerId="LiveId" clId="{DF40E9BD-881A-4ADD-9480-877D925AE99E}" dt="2025-08-31T17:58:40.311" v="1" actId="478"/>
          <ac:spMkLst>
            <pc:docMk/>
            <pc:sldMk cId="654251065" sldId="287"/>
            <ac:spMk id="5" creationId="{F02FDF90-3C99-A045-6A66-A583392D784A}"/>
          </ac:spMkLst>
        </pc:spChg>
        <pc:spChg chg="del">
          <ac:chgData name="Hayato Ishida" userId="585fa0fa6384767c" providerId="LiveId" clId="{DF40E9BD-881A-4ADD-9480-877D925AE99E}" dt="2025-08-31T17:58:37.904" v="0" actId="478"/>
          <ac:spMkLst>
            <pc:docMk/>
            <pc:sldMk cId="654251065" sldId="287"/>
            <ac:spMk id="6" creationId="{41378ECF-3065-A99F-A29D-8CF40216C969}"/>
          </ac:spMkLst>
        </pc:spChg>
        <pc:spChg chg="del">
          <ac:chgData name="Hayato Ishida" userId="585fa0fa6384767c" providerId="LiveId" clId="{DF40E9BD-881A-4ADD-9480-877D925AE99E}" dt="2025-08-31T17:58:37.904" v="0" actId="478"/>
          <ac:spMkLst>
            <pc:docMk/>
            <pc:sldMk cId="654251065" sldId="287"/>
            <ac:spMk id="7" creationId="{5CFA11AA-6F85-BBE2-CBC3-C49BAF71F01C}"/>
          </ac:spMkLst>
        </pc:spChg>
        <pc:spChg chg="del">
          <ac:chgData name="Hayato Ishida" userId="585fa0fa6384767c" providerId="LiveId" clId="{DF40E9BD-881A-4ADD-9480-877D925AE99E}" dt="2025-08-31T17:58:37.904" v="0" actId="478"/>
          <ac:spMkLst>
            <pc:docMk/>
            <pc:sldMk cId="654251065" sldId="287"/>
            <ac:spMk id="8" creationId="{BC05324B-424E-A6FB-80AB-79FE8F325F8B}"/>
          </ac:spMkLst>
        </pc:spChg>
        <pc:spChg chg="add mod">
          <ac:chgData name="Hayato Ishida" userId="585fa0fa6384767c" providerId="LiveId" clId="{DF40E9BD-881A-4ADD-9480-877D925AE99E}" dt="2025-08-31T18:03:21.516" v="10"/>
          <ac:spMkLst>
            <pc:docMk/>
            <pc:sldMk cId="654251065" sldId="287"/>
            <ac:spMk id="9" creationId="{DD59B26A-0951-53DE-AD1E-FC6B198F225D}"/>
          </ac:spMkLst>
        </pc:spChg>
        <pc:spChg chg="add mod">
          <ac:chgData name="Hayato Ishida" userId="585fa0fa6384767c" providerId="LiveId" clId="{DF40E9BD-881A-4ADD-9480-877D925AE99E}" dt="2025-08-31T18:03:21.516" v="10"/>
          <ac:spMkLst>
            <pc:docMk/>
            <pc:sldMk cId="654251065" sldId="287"/>
            <ac:spMk id="10" creationId="{EA253AD4-2A98-C1B6-64D3-E645591CD9D0}"/>
          </ac:spMkLst>
        </pc:spChg>
        <pc:spChg chg="add mod">
          <ac:chgData name="Hayato Ishida" userId="585fa0fa6384767c" providerId="LiveId" clId="{DF40E9BD-881A-4ADD-9480-877D925AE99E}" dt="2025-08-31T18:03:21.516" v="10"/>
          <ac:spMkLst>
            <pc:docMk/>
            <pc:sldMk cId="654251065" sldId="287"/>
            <ac:spMk id="11" creationId="{1AB3E2AC-9434-88A7-AAB3-89F45307814C}"/>
          </ac:spMkLst>
        </pc:spChg>
        <pc:picChg chg="del">
          <ac:chgData name="Hayato Ishida" userId="585fa0fa6384767c" providerId="LiveId" clId="{DF40E9BD-881A-4ADD-9480-877D925AE99E}" dt="2025-08-31T17:58:37.904" v="0" actId="478"/>
          <ac:picMkLst>
            <pc:docMk/>
            <pc:sldMk cId="654251065" sldId="287"/>
            <ac:picMk id="12" creationId="{EF03E56A-1170-92E3-505E-518E717F104E}"/>
          </ac:picMkLst>
        </pc:picChg>
        <pc:picChg chg="add mod">
          <ac:chgData name="Hayato Ishida" userId="585fa0fa6384767c" providerId="LiveId" clId="{DF40E9BD-881A-4ADD-9480-877D925AE99E}" dt="2025-08-31T18:03:21.516" v="10"/>
          <ac:picMkLst>
            <pc:docMk/>
            <pc:sldMk cId="654251065" sldId="287"/>
            <ac:picMk id="13" creationId="{6A33F708-F8D7-85E6-976F-4E1F3188F0A9}"/>
          </ac:picMkLst>
        </pc:picChg>
      </pc:sldChg>
      <pc:sldChg chg="del">
        <pc:chgData name="Hayato Ishida" userId="585fa0fa6384767c" providerId="LiveId" clId="{DF40E9BD-881A-4ADD-9480-877D925AE99E}" dt="2025-08-31T17:58:44.102" v="2" actId="47"/>
        <pc:sldMkLst>
          <pc:docMk/>
          <pc:sldMk cId="3064566856" sldId="387"/>
        </pc:sldMkLst>
      </pc:sldChg>
      <pc:sldChg chg="ord">
        <pc:chgData name="Hayato Ishida" userId="585fa0fa6384767c" providerId="LiveId" clId="{DF40E9BD-881A-4ADD-9480-877D925AE99E}" dt="2025-08-31T17:58:50.613" v="7"/>
        <pc:sldMkLst>
          <pc:docMk/>
          <pc:sldMk cId="2712671586" sldId="388"/>
        </pc:sldMkLst>
      </pc:sldChg>
      <pc:sldChg chg="addSp modSp add ord">
        <pc:chgData name="Hayato Ishida" userId="585fa0fa6384767c" providerId="LiveId" clId="{DF40E9BD-881A-4ADD-9480-877D925AE99E}" dt="2025-08-31T18:05:09.513" v="11"/>
        <pc:sldMkLst>
          <pc:docMk/>
          <pc:sldMk cId="3463240898" sldId="431"/>
        </pc:sldMkLst>
        <pc:spChg chg="add mod">
          <ac:chgData name="Hayato Ishida" userId="585fa0fa6384767c" providerId="LiveId" clId="{DF40E9BD-881A-4ADD-9480-877D925AE99E}" dt="2025-08-31T18:05:09.513" v="11"/>
          <ac:spMkLst>
            <pc:docMk/>
            <pc:sldMk cId="3463240898" sldId="431"/>
            <ac:spMk id="2" creationId="{B0522E94-CDD8-1F58-44B5-48D3794B3254}"/>
          </ac:spMkLst>
        </pc:spChg>
        <pc:spChg chg="add mod">
          <ac:chgData name="Hayato Ishida" userId="585fa0fa6384767c" providerId="LiveId" clId="{DF40E9BD-881A-4ADD-9480-877D925AE99E}" dt="2025-08-31T18:05:09.513" v="11"/>
          <ac:spMkLst>
            <pc:docMk/>
            <pc:sldMk cId="3463240898" sldId="431"/>
            <ac:spMk id="3" creationId="{D408896D-4529-914B-11CB-DF313EAAEABE}"/>
          </ac:spMkLst>
        </pc:spChg>
        <pc:spChg chg="add mod">
          <ac:chgData name="Hayato Ishida" userId="585fa0fa6384767c" providerId="LiveId" clId="{DF40E9BD-881A-4ADD-9480-877D925AE99E}" dt="2025-08-31T18:05:09.513" v="11"/>
          <ac:spMkLst>
            <pc:docMk/>
            <pc:sldMk cId="3463240898" sldId="431"/>
            <ac:spMk id="4" creationId="{1169A7E7-CB9B-C749-8D7C-1B54BFF5132A}"/>
          </ac:spMkLst>
        </pc:spChg>
      </pc:sldChg>
      <pc:sldChg chg="addSp modSp add">
        <pc:chgData name="Hayato Ishida" userId="585fa0fa6384767c" providerId="LiveId" clId="{DF40E9BD-881A-4ADD-9480-877D925AE99E}" dt="2025-09-01T03:26:13.255" v="15"/>
        <pc:sldMkLst>
          <pc:docMk/>
          <pc:sldMk cId="972118784" sldId="432"/>
        </pc:sldMkLst>
        <pc:spChg chg="add mod">
          <ac:chgData name="Hayato Ishida" userId="585fa0fa6384767c" providerId="LiveId" clId="{DF40E9BD-881A-4ADD-9480-877D925AE99E}" dt="2025-08-31T18:07:21.953" v="12"/>
          <ac:spMkLst>
            <pc:docMk/>
            <pc:sldMk cId="972118784" sldId="432"/>
            <ac:spMk id="2" creationId="{3962E183-A400-A7AB-1791-A9D0F9D9F968}"/>
          </ac:spMkLst>
        </pc:spChg>
        <pc:spChg chg="add mod">
          <ac:chgData name="Hayato Ishida" userId="585fa0fa6384767c" providerId="LiveId" clId="{DF40E9BD-881A-4ADD-9480-877D925AE99E}" dt="2025-08-31T18:07:21.953" v="12"/>
          <ac:spMkLst>
            <pc:docMk/>
            <pc:sldMk cId="972118784" sldId="432"/>
            <ac:spMk id="3" creationId="{03BDCC3F-E568-A51F-A35F-4171477E8D51}"/>
          </ac:spMkLst>
        </pc:spChg>
        <pc:graphicFrameChg chg="add mod">
          <ac:chgData name="Hayato Ishida" userId="585fa0fa6384767c" providerId="LiveId" clId="{DF40E9BD-881A-4ADD-9480-877D925AE99E}" dt="2025-09-01T03:26:13.255" v="15"/>
          <ac:graphicFrameMkLst>
            <pc:docMk/>
            <pc:sldMk cId="972118784" sldId="432"/>
            <ac:graphicFrameMk id="4" creationId="{6B9C0038-B752-A13F-F713-158CB0F9C72A}"/>
          </ac:graphicFrameMkLst>
        </pc:graphicFrameChg>
      </pc:sldChg>
      <pc:sldChg chg="addSp modSp add">
        <pc:chgData name="Hayato Ishida" userId="585fa0fa6384767c" providerId="LiveId" clId="{DF40E9BD-881A-4ADD-9480-877D925AE99E}" dt="2025-09-01T03:26:13.255" v="15"/>
        <pc:sldMkLst>
          <pc:docMk/>
          <pc:sldMk cId="799206016" sldId="433"/>
        </pc:sldMkLst>
        <pc:spChg chg="add mod">
          <ac:chgData name="Hayato Ishida" userId="585fa0fa6384767c" providerId="LiveId" clId="{DF40E9BD-881A-4ADD-9480-877D925AE99E}" dt="2025-08-31T18:09:47.487" v="13"/>
          <ac:spMkLst>
            <pc:docMk/>
            <pc:sldMk cId="799206016" sldId="433"/>
            <ac:spMk id="2" creationId="{814F6678-C45D-232E-20AA-58089B0AB40E}"/>
          </ac:spMkLst>
        </pc:spChg>
        <pc:spChg chg="add mod">
          <ac:chgData name="Hayato Ishida" userId="585fa0fa6384767c" providerId="LiveId" clId="{DF40E9BD-881A-4ADD-9480-877D925AE99E}" dt="2025-08-31T18:09:47.487" v="13"/>
          <ac:spMkLst>
            <pc:docMk/>
            <pc:sldMk cId="799206016" sldId="433"/>
            <ac:spMk id="3" creationId="{F38B828C-50ED-A721-CE70-9A3A04767DD6}"/>
          </ac:spMkLst>
        </pc:spChg>
        <pc:graphicFrameChg chg="add mod">
          <ac:chgData name="Hayato Ishida" userId="585fa0fa6384767c" providerId="LiveId" clId="{DF40E9BD-881A-4ADD-9480-877D925AE99E}" dt="2025-09-01T03:26:13.255" v="15"/>
          <ac:graphicFrameMkLst>
            <pc:docMk/>
            <pc:sldMk cId="799206016" sldId="433"/>
            <ac:graphicFrameMk id="4" creationId="{9AD62F50-A076-EE55-40CC-FAD69DFA3B9C}"/>
          </ac:graphicFrameMkLst>
        </pc:graphicFrameChg>
      </pc:sldChg>
    </pc:docChg>
  </pc:docChgLst>
  <pc:docChgLst>
    <pc:chgData name="Hayato Ishida" userId="585fa0fa6384767c" providerId="LiveId" clId="{A47BED4C-149A-42F0-B429-3F07DC6BFC75}"/>
    <pc:docChg chg="custSel modSld">
      <pc:chgData name="Hayato Ishida" userId="585fa0fa6384767c" providerId="LiveId" clId="{A47BED4C-149A-42F0-B429-3F07DC6BFC75}" dt="2025-05-03T11:24:49.939" v="8"/>
      <pc:docMkLst>
        <pc:docMk/>
      </pc:docMkLst>
      <pc:sldChg chg="modSp mod">
        <pc:chgData name="Hayato Ishida" userId="585fa0fa6384767c" providerId="LiveId" clId="{A47BED4C-149A-42F0-B429-3F07DC6BFC75}" dt="2025-05-03T11:24:49.939" v="8"/>
        <pc:sldMkLst>
          <pc:docMk/>
          <pc:sldMk cId="2567433019" sldId="280"/>
        </pc:sldMkLst>
      </pc:sldChg>
      <pc:sldChg chg="addSp delSp modSp mod">
        <pc:chgData name="Hayato Ishida" userId="585fa0fa6384767c" providerId="LiveId" clId="{A47BED4C-149A-42F0-B429-3F07DC6BFC75}" dt="2025-05-03T11:15:35.480" v="5"/>
        <pc:sldMkLst>
          <pc:docMk/>
          <pc:sldMk cId="155858466" sldId="286"/>
        </pc:sldMkLst>
      </pc:sldChg>
      <pc:sldChg chg="addSp delSp modSp mod">
        <pc:chgData name="Hayato Ishida" userId="585fa0fa6384767c" providerId="LiveId" clId="{A47BED4C-149A-42F0-B429-3F07DC6BFC75}" dt="2025-05-03T11:24:37.153" v="7"/>
        <pc:sldMkLst>
          <pc:docMk/>
          <pc:sldMk cId="654251065"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dive-deeper-into-japanese-language-particle-de"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slide" Target="slide9.xml"/><Relationship Id="rId7" Type="http://schemas.openxmlformats.org/officeDocument/2006/relationships/slide" Target="slide28.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4.xml"/><Relationship Id="rId5" Type="http://schemas.openxmlformats.org/officeDocument/2006/relationships/slide" Target="slide19.xml"/><Relationship Id="rId10" Type="http://schemas.openxmlformats.org/officeDocument/2006/relationships/slide" Target="slide35.xml"/><Relationship Id="rId4" Type="http://schemas.openxmlformats.org/officeDocument/2006/relationships/slide" Target="slide11.xml"/><Relationship Id="rId9" Type="http://schemas.openxmlformats.org/officeDocument/2006/relationships/slide" Target="slide33.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stives-h.schools.nsw.gov.au/"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日本語を知ろう</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格助詞「で」</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DD59B26A-0951-53DE-AD1E-FC6B198F225D}"/>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EA253AD4-2A98-C1B6-64D3-E645591CD9D0}"/>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1AB3E2AC-9434-88A7-AAB3-89F45307814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6A33F708-F8D7-85E6-976F-4E1F3188F0A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7961207B-1224-9E81-5984-04DDEC9505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522E94-CDD8-1F58-44B5-48D3794B3254}"/>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D408896D-4529-914B-11CB-DF313EAAEABE}"/>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1169A7E7-CB9B-C749-8D7C-1B54BFF5132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240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91A2B921-CB33-11EC-1009-43C0660904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62E183-A400-A7AB-1791-A9D0F9D9F968}"/>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03BDCC3F-E568-A51F-A35F-4171477E8D51}"/>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6B9C0038-B752-A13F-F713-158CB0F9C72A}"/>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972118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B4AB2879-F86E-A94A-8943-A735FA69E3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4F6678-C45D-232E-20AA-58089B0AB40E}"/>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F38B828C-50ED-A721-CE70-9A3A04767DD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9AD62F50-A076-EE55-40CC-FAD69DFA3B9C}"/>
              </a:ext>
            </a:extLst>
          </p:cNvPr>
          <p:cNvGraphicFramePr>
            <a:graphicFrameLocks noGrp="1"/>
          </p:cNvGraphicFramePr>
          <p:nvPr>
            <p:extLst>
              <p:ext uri="{D42A27DB-BD31-4B8C-83A1-F6EECF244321}">
                <p14:modId xmlns:p14="http://schemas.microsoft.com/office/powerpoint/2010/main" val="288145536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799206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話したいこと</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プロローグ</a:t>
            </a:r>
            <a:r>
              <a:rPr lang="en-US" altLang="ja-JP" sz="2400" dirty="0">
                <a:sym typeface="Arial"/>
                <a:hlinkClick r:id="rId4" action="ppaction://hlinksldjump"/>
              </a:rPr>
              <a:t>-</a:t>
            </a:r>
            <a:r>
              <a:rPr lang="ja-JP" altLang="en-US" sz="2400" dirty="0">
                <a:sym typeface="Arial"/>
                <a:hlinkClick r:id="rId4" action="ppaction://hlinksldjump"/>
              </a:rPr>
              <a:t>「みんなで」の「で」</a:t>
            </a:r>
            <a:r>
              <a:rPr lang="en-US" altLang="ja-JP" sz="2400" dirty="0">
                <a:sym typeface="Arial"/>
                <a:hlinkClick r:id="rId4" action="ppaction://hlinksldjump"/>
              </a:rPr>
              <a:t>-</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認知言語学的分析①</a:t>
            </a:r>
            <a:r>
              <a:rPr lang="en-GB" altLang="ja-JP" sz="2400" dirty="0">
                <a:sym typeface="Arial"/>
                <a:hlinkClick r:id="rId5" action="ppaction://hlinksldjump"/>
              </a:rPr>
              <a:t> -</a:t>
            </a:r>
            <a:r>
              <a:rPr lang="ja-JP" altLang="en-US" sz="2400" dirty="0">
                <a:sym typeface="Arial"/>
                <a:hlinkClick r:id="rId5" action="ppaction://hlinksldjump"/>
              </a:rPr>
              <a:t>空間的背景</a:t>
            </a:r>
            <a:r>
              <a:rPr lang="en-GB" altLang="ja-JP" sz="2400" dirty="0">
                <a:sym typeface="Arial"/>
                <a:hlinkClick r:id="rId5" action="ppaction://hlinksldjump"/>
              </a:rPr>
              <a:t>-</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認知言語学的分析②</a:t>
            </a:r>
            <a:r>
              <a:rPr lang="zh-TW" altLang="en-US" sz="2400" dirty="0">
                <a:sym typeface="Arial"/>
                <a:hlinkClick r:id="rId6" action="ppaction://hlinksldjump"/>
              </a:rPr>
              <a:t> </a:t>
            </a:r>
            <a:r>
              <a:rPr lang="en-US" altLang="zh-TW" sz="2400" dirty="0">
                <a:sym typeface="Arial"/>
                <a:hlinkClick r:id="rId6" action="ppaction://hlinksldjump"/>
              </a:rPr>
              <a:t>-</a:t>
            </a:r>
            <a:r>
              <a:rPr lang="ja-JP" altLang="en-US" sz="2400" dirty="0">
                <a:sym typeface="Arial"/>
                <a:hlinkClick r:id="rId6" action="ppaction://hlinksldjump"/>
              </a:rPr>
              <a:t>役割的背景</a:t>
            </a:r>
            <a:r>
              <a:rPr lang="en-US" altLang="zh-TW" sz="2400" dirty="0">
                <a:sym typeface="Arial"/>
                <a:hlinkClick r:id="rId6" action="ppaction://hlinksldjump"/>
              </a:rPr>
              <a:t>-</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「みんなで」の「で」の正体</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8"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9" action="ppaction://hlinksldjump"/>
              </a:rPr>
              <a:t>エピローグ</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10"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話したいこと</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話したいこと</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日本語の助詞を本気で文法的に分析したら、</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英文法とは比べものにならないくらい難しかった話。</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5080" lvl="0" indent="0" defTabSz="914400" eaLnBrk="1" fontAlgn="auto" latinLnBrk="0" hangingPunct="1">
              <a:lnSpc>
                <a:spcPct val="124700"/>
              </a:lnSpc>
              <a:spcBef>
                <a:spcPts val="100"/>
              </a:spcBef>
              <a:spcAft>
                <a:spcPts val="0"/>
              </a:spcAft>
              <a:buClrTx/>
              <a:buSzTx/>
              <a:buFontTx/>
              <a:buNone/>
              <a:tabLst/>
              <a:defRPr/>
            </a:pP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2015</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年</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02</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月の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ヶ月間、オーストラリアの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NSW</a:t>
            </a:r>
            <a:r>
              <a:rPr kumimoji="0" lang="ja-JP" altLang="en-US" sz="2400" b="0" i="0" u="none" strike="noStrike" kern="0" cap="none" spc="-4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540" normalizeH="0" baseline="0" noProof="0" dirty="0">
                <a:ln>
                  <a:noFill/>
                </a:ln>
                <a:solidFill>
                  <a:sysClr val="windowText" lastClr="000000"/>
                </a:solidFill>
                <a:effectLst/>
                <a:uLnTx/>
                <a:uFillTx/>
                <a:latin typeface="Yu Gothic"/>
                <a:cs typeface="Yu Gothic"/>
              </a:rPr>
              <a:t>州</a:t>
            </a:r>
            <a:r>
              <a:rPr kumimoji="0" lang="en-US" altLang="ja-JP" sz="24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St</a:t>
            </a:r>
            <a:r>
              <a:rPr kumimoji="0" lang="ja-JP" altLang="en-US" sz="2400" b="0" i="0" u="sng" strike="noStrike" kern="0" cap="none" spc="-40" normalizeH="0" baseline="0" noProof="0" dirty="0">
                <a:ln>
                  <a:noFill/>
                </a:ln>
                <a:solidFill>
                  <a:srgbClr val="0462C1"/>
                </a:solidFill>
                <a:effectLst/>
                <a:uLnTx/>
                <a:uFill>
                  <a:solidFill>
                    <a:srgbClr val="0462C1"/>
                  </a:solidFill>
                </a:uFill>
                <a:latin typeface="Calibri"/>
                <a:cs typeface="Calibri"/>
                <a:hlinkClick r:id="rId3"/>
              </a:rPr>
              <a:t> </a:t>
            </a:r>
            <a:r>
              <a:rPr kumimoji="0" lang="en-US" altLang="ja-JP" sz="2400" b="0" i="0" u="sng" strike="noStrike" kern="0" cap="none" spc="0" normalizeH="0" baseline="0" noProof="0" dirty="0">
                <a:ln>
                  <a:noFill/>
                </a:ln>
                <a:solidFill>
                  <a:srgbClr val="0462C1"/>
                </a:solidFill>
                <a:effectLst/>
                <a:uLnTx/>
                <a:uFill>
                  <a:solidFill>
                    <a:srgbClr val="0462C1"/>
                  </a:solidFill>
                </a:uFill>
                <a:latin typeface="Calibri"/>
                <a:cs typeface="Calibri"/>
                <a:hlinkClick r:id="rId3"/>
              </a:rPr>
              <a:t>Ives</a:t>
            </a:r>
            <a:r>
              <a:rPr kumimoji="0" lang="ja-JP" altLang="en-US" sz="2400" b="0" i="0" u="sng" strike="noStrike" kern="0" cap="none" spc="-15" normalizeH="0" baseline="0" noProof="0" dirty="0">
                <a:ln>
                  <a:noFill/>
                </a:ln>
                <a:solidFill>
                  <a:srgbClr val="0462C1"/>
                </a:solidFill>
                <a:effectLst/>
                <a:uLnTx/>
                <a:uFill>
                  <a:solidFill>
                    <a:srgbClr val="0462C1"/>
                  </a:solidFill>
                </a:uFill>
                <a:latin typeface="Calibri"/>
                <a:cs typeface="Calibri"/>
                <a:hlinkClick r:id="rId3"/>
              </a:rPr>
              <a:t> </a:t>
            </a:r>
            <a:r>
              <a:rPr kumimoji="0" lang="ja-JP" altLang="en-US" sz="2400" b="0" i="0" u="sng" strike="noStrike" kern="0" cap="none" spc="0" normalizeH="0" baseline="0" noProof="0" dirty="0">
                <a:ln>
                  <a:noFill/>
                </a:ln>
                <a:solidFill>
                  <a:srgbClr val="0462C1"/>
                </a:solidFill>
                <a:effectLst/>
                <a:uLnTx/>
                <a:uFill>
                  <a:solidFill>
                    <a:srgbClr val="0462C1"/>
                  </a:solidFill>
                </a:uFill>
                <a:latin typeface="Yu Gothic"/>
                <a:cs typeface="Yu Gothic"/>
                <a:hlinkClick r:id="rId3"/>
              </a:rPr>
              <a:t>高校</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にて、</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日本語教師アシスタントをしていた。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ある日、</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人の生徒が休み時間にこんな質問をしてきた。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5080" lvl="0" indent="0" defTabSz="914400" eaLnBrk="1" fontAlgn="auto" latinLnBrk="0" hangingPunct="1">
              <a:lnSpc>
                <a:spcPct val="86500"/>
              </a:lnSpc>
              <a:spcBef>
                <a:spcPts val="484"/>
              </a:spcBef>
              <a:spcAft>
                <a:spcPts val="0"/>
              </a:spcAft>
              <a:buClrTx/>
              <a:buSzTx/>
              <a:buFontTx/>
              <a:buNone/>
              <a:tabLst>
                <a:tab pos="5682615" algn="l"/>
                <a:tab pos="6327775" algn="l"/>
              </a:tabLst>
              <a:defRPr/>
            </a:pPr>
            <a:r>
              <a:rPr kumimoji="0" lang="en-GB" sz="2400" b="0" i="1" u="none" strike="noStrike" kern="0" cap="none" spc="0" normalizeH="0" baseline="0" noProof="0" dirty="0">
                <a:ln>
                  <a:noFill/>
                </a:ln>
                <a:solidFill>
                  <a:sysClr val="windowText" lastClr="000000"/>
                </a:solidFill>
                <a:effectLst/>
                <a:uLnTx/>
                <a:uFillTx/>
                <a:latin typeface="Calibri"/>
                <a:cs typeface="Calibri"/>
              </a:rPr>
              <a:t>"I'd</a:t>
            </a:r>
            <a:r>
              <a:rPr kumimoji="0" lang="en-GB" sz="2400" b="0" i="1" u="none" strike="noStrike" kern="0" cap="none" spc="-5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like</a:t>
            </a:r>
            <a:r>
              <a:rPr kumimoji="0" lang="en-GB" sz="2400" b="0" i="1" u="none" strike="noStrike" kern="0" cap="none" spc="-5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to</a:t>
            </a:r>
            <a:r>
              <a:rPr kumimoji="0" lang="en-GB" sz="2400" b="0" i="1" u="none" strike="noStrike" kern="0" cap="none" spc="-6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ask</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you</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about</a:t>
            </a:r>
            <a:r>
              <a:rPr kumimoji="0" lang="en-GB" sz="2400" b="0" i="1" u="none" strike="noStrike" kern="0" cap="none" spc="-5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Japanese</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particle.</a:t>
            </a:r>
            <a:r>
              <a:rPr lang="en-GB" sz="2400" i="1" kern="0" dirty="0">
                <a:solidFill>
                  <a:sysClr val="windowText" lastClr="000000"/>
                </a:solidFill>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If</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25" normalizeH="0" baseline="0" noProof="0" dirty="0">
                <a:ln>
                  <a:noFill/>
                </a:ln>
                <a:solidFill>
                  <a:sysClr val="windowText" lastClr="000000"/>
                </a:solidFill>
                <a:effectLst/>
                <a:uLnTx/>
                <a:uFillTx/>
                <a:latin typeface="Calibri"/>
                <a:cs typeface="Calibri"/>
              </a:rPr>
              <a:t>say, </a:t>
            </a:r>
            <a:r>
              <a:rPr kumimoji="0" lang="en-GB" sz="2400" b="0" i="1" u="none" strike="noStrike" kern="0" cap="none" spc="0" normalizeH="0" baseline="0" noProof="0" dirty="0">
                <a:ln>
                  <a:noFill/>
                </a:ln>
                <a:solidFill>
                  <a:sysClr val="windowText" lastClr="000000"/>
                </a:solidFill>
                <a:effectLst/>
                <a:uLnTx/>
                <a:uFillTx/>
                <a:latin typeface="Calibri"/>
                <a:cs typeface="Calibri"/>
              </a:rPr>
              <a:t>"I'll</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pick</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you</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up</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at</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the</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airport </a:t>
            </a:r>
            <a:r>
              <a:rPr kumimoji="0" lang="en-GB" sz="2400" b="0" i="1" u="none" strike="noStrike" kern="0" cap="none" spc="0" normalizeH="0" baseline="0" noProof="0" dirty="0">
                <a:ln>
                  <a:noFill/>
                </a:ln>
                <a:solidFill>
                  <a:sysClr val="windowText" lastClr="000000"/>
                </a:solidFill>
                <a:effectLst/>
                <a:uLnTx/>
                <a:uFillTx/>
                <a:latin typeface="Calibri"/>
                <a:cs typeface="Calibri"/>
              </a:rPr>
              <a:t>with</a:t>
            </a:r>
            <a:r>
              <a:rPr kumimoji="0" lang="en-GB" sz="2400" b="0" i="1" u="none" strike="noStrike" kern="0" cap="none" spc="-6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everyone</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20" normalizeH="0" baseline="0" noProof="0" dirty="0">
                <a:ln>
                  <a:noFill/>
                </a:ln>
                <a:solidFill>
                  <a:sysClr val="windowText" lastClr="000000"/>
                </a:solidFill>
                <a:effectLst/>
                <a:uLnTx/>
                <a:uFillTx/>
                <a:latin typeface="Calibri"/>
                <a:cs typeface="Calibri"/>
              </a:rPr>
              <a:t>tomorrow."</a:t>
            </a:r>
            <a:r>
              <a:rPr kumimoji="0" lang="en-GB" sz="2400" b="0" i="1" u="none" strike="noStrike" kern="0" cap="none" spc="-7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in</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Japanese,</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it</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would</a:t>
            </a:r>
            <a:r>
              <a:rPr kumimoji="0" lang="en-GB" sz="2400" b="0" i="1" u="none" strike="noStrike" kern="0" cap="none" spc="-4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be</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ja-JP" altLang="en-US" sz="2500" b="0" i="0" u="none" strike="noStrike" kern="0" cap="none" spc="-105" normalizeH="0" baseline="0" noProof="0" dirty="0">
                <a:ln>
                  <a:noFill/>
                </a:ln>
                <a:solidFill>
                  <a:sysClr val="windowText" lastClr="000000"/>
                </a:solidFill>
                <a:effectLst/>
                <a:uLnTx/>
                <a:uFillTx/>
                <a:latin typeface="Yu Gothic"/>
                <a:cs typeface="Yu Gothic"/>
              </a:rPr>
              <a:t>明日空港にみんなであなた</a:t>
            </a:r>
            <a:r>
              <a:rPr kumimoji="0" lang="ja-JP" altLang="en-US" sz="2500" b="0" i="0" u="none" strike="noStrike" kern="0" cap="none" spc="-50" normalizeH="0" baseline="0" noProof="0" dirty="0">
                <a:ln>
                  <a:noFill/>
                </a:ln>
                <a:solidFill>
                  <a:sysClr val="windowText" lastClr="000000"/>
                </a:solidFill>
                <a:effectLst/>
                <a:uLnTx/>
                <a:uFillTx/>
                <a:latin typeface="Yu Gothic"/>
                <a:cs typeface="Yu Gothic"/>
              </a:rPr>
              <a:t>を</a:t>
            </a:r>
            <a:r>
              <a:rPr kumimoji="0" lang="ja-JP" altLang="en-US" sz="2500" b="0" i="0" u="none" strike="noStrike" kern="0" cap="none" spc="-100" normalizeH="0" baseline="0" noProof="0" dirty="0">
                <a:ln>
                  <a:noFill/>
                </a:ln>
                <a:solidFill>
                  <a:sysClr val="windowText" lastClr="000000"/>
                </a:solidFill>
                <a:effectLst/>
                <a:uLnTx/>
                <a:uFillTx/>
                <a:latin typeface="Yu Gothic"/>
                <a:cs typeface="Yu Gothic"/>
              </a:rPr>
              <a:t>迎えに行きます</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but</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a:t>
            </a:r>
            <a:r>
              <a:rPr kumimoji="0" lang="en-GB" sz="2400" b="0" i="1" u="none" strike="noStrike" kern="0" cap="none" spc="-5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don't</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understand</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why</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have</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to</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use</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ja-JP" altLang="en-US" sz="2500" b="0" i="0" u="none" strike="noStrike" kern="0" cap="none" spc="-100" normalizeH="0" baseline="0" noProof="0" dirty="0">
                <a:ln>
                  <a:noFill/>
                </a:ln>
                <a:solidFill>
                  <a:sysClr val="windowText" lastClr="000000"/>
                </a:solidFill>
                <a:effectLst/>
                <a:uLnTx/>
                <a:uFillTx/>
                <a:latin typeface="Yu Gothic"/>
                <a:cs typeface="Yu Gothic"/>
              </a:rPr>
              <a:t>で</a:t>
            </a: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instead</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of</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ja-JP" altLang="en-US" sz="2500" b="0" i="0" u="none" strike="noStrike" kern="0" cap="none" spc="440" normalizeH="0" baseline="0" noProof="0" dirty="0">
                <a:ln>
                  <a:noFill/>
                </a:ln>
                <a:solidFill>
                  <a:sysClr val="windowText" lastClr="000000"/>
                </a:solidFill>
                <a:effectLst/>
                <a:uLnTx/>
                <a:uFillTx/>
                <a:latin typeface="Yu Gothic"/>
                <a:cs typeface="Yu Gothic"/>
              </a:rPr>
              <a:t>は</a:t>
            </a:r>
            <a:r>
              <a:rPr kumimoji="0" lang="en-GB" sz="2400" b="0" i="1" u="none" strike="noStrike" kern="0" cap="none" spc="0" normalizeH="0" baseline="0" noProof="0" dirty="0">
                <a:ln>
                  <a:noFill/>
                </a:ln>
                <a:solidFill>
                  <a:sysClr val="windowText" lastClr="000000"/>
                </a:solidFill>
                <a:effectLst/>
                <a:uLnTx/>
                <a:uFillTx/>
                <a:latin typeface="Calibri"/>
                <a:cs typeface="Calibri"/>
              </a:rPr>
              <a:t>or</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ja-JP" altLang="en-US" sz="2500" b="0" i="0" u="none" strike="noStrike" kern="0" cap="none" spc="-50" normalizeH="0" baseline="0" noProof="0" dirty="0">
                <a:ln>
                  <a:noFill/>
                </a:ln>
                <a:solidFill>
                  <a:sysClr val="windowText" lastClr="000000"/>
                </a:solidFill>
                <a:effectLst/>
                <a:uLnTx/>
                <a:uFillTx/>
                <a:latin typeface="Yu Gothic"/>
                <a:cs typeface="Yu Gothic"/>
              </a:rPr>
              <a:t>が </a:t>
            </a:r>
            <a:r>
              <a:rPr kumimoji="0" lang="en-GB" sz="2400" b="0" i="1" u="none" strike="noStrike" kern="0" cap="none" spc="0" normalizeH="0" baseline="0" noProof="0" dirty="0">
                <a:ln>
                  <a:noFill/>
                </a:ln>
                <a:solidFill>
                  <a:sysClr val="windowText" lastClr="000000"/>
                </a:solidFill>
                <a:effectLst/>
                <a:uLnTx/>
                <a:uFillTx/>
                <a:latin typeface="Calibri"/>
                <a:cs typeface="Calibri"/>
              </a:rPr>
              <a:t>though</a:t>
            </a:r>
            <a:r>
              <a:rPr kumimoji="0" lang="en-GB" sz="2400" b="0" i="1" u="none" strike="noStrike" kern="0" cap="none" spc="-65" normalizeH="0" baseline="0" noProof="0" dirty="0">
                <a:ln>
                  <a:noFill/>
                </a:ln>
                <a:solidFill>
                  <a:sysClr val="windowText" lastClr="000000"/>
                </a:solidFill>
                <a:effectLst/>
                <a:uLnTx/>
                <a:uFillTx/>
                <a:latin typeface="Calibri"/>
                <a:cs typeface="Calibri"/>
              </a:rPr>
              <a:t> </a:t>
            </a:r>
            <a:r>
              <a:rPr kumimoji="0" lang="ja-JP" altLang="en-US" sz="2500" b="0" i="0" u="none" strike="noStrike" kern="0" cap="none" spc="-100" normalizeH="0" baseline="0" noProof="0" dirty="0">
                <a:ln>
                  <a:noFill/>
                </a:ln>
                <a:solidFill>
                  <a:sysClr val="windowText" lastClr="000000"/>
                </a:solidFill>
                <a:effectLst/>
                <a:uLnTx/>
                <a:uFillTx/>
                <a:latin typeface="Yu Gothic"/>
                <a:cs typeface="Yu Gothic"/>
              </a:rPr>
              <a:t>みん</a:t>
            </a:r>
            <a:r>
              <a:rPr kumimoji="0" lang="ja-JP" altLang="en-US" sz="2500" b="0" i="0" u="none" strike="noStrike" kern="0" cap="none" spc="440" normalizeH="0" baseline="0" noProof="0" dirty="0">
                <a:ln>
                  <a:noFill/>
                </a:ln>
                <a:solidFill>
                  <a:sysClr val="windowText" lastClr="000000"/>
                </a:solidFill>
                <a:effectLst/>
                <a:uLnTx/>
                <a:uFillTx/>
                <a:latin typeface="Yu Gothic"/>
                <a:cs typeface="Yu Gothic"/>
              </a:rPr>
              <a:t>な</a:t>
            </a:r>
            <a:r>
              <a:rPr kumimoji="0" lang="en-GB" sz="2400" b="0" i="1" u="none" strike="noStrike" kern="0" cap="none" spc="0" normalizeH="0" baseline="0" noProof="0" dirty="0">
                <a:ln>
                  <a:noFill/>
                </a:ln>
                <a:solidFill>
                  <a:sysClr val="windowText" lastClr="000000"/>
                </a:solidFill>
                <a:effectLst/>
                <a:uLnTx/>
                <a:uFillTx/>
                <a:latin typeface="Calibri"/>
                <a:cs typeface="Calibri"/>
              </a:rPr>
              <a:t>seems</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the</a:t>
            </a:r>
            <a:r>
              <a:rPr kumimoji="0" lang="en-GB" sz="2400" b="0" i="1" u="none" strike="noStrike" kern="0" cap="none" spc="-7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subject</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in</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this</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sentence.</a:t>
            </a:r>
            <a:r>
              <a:rPr lang="en-GB" sz="2400" i="1" kern="0" dirty="0">
                <a:solidFill>
                  <a:sysClr val="windowText" lastClr="000000"/>
                </a:solidFill>
                <a:latin typeface="Calibri"/>
                <a:cs typeface="Calibri"/>
              </a:rPr>
              <a:t> </a:t>
            </a:r>
            <a:r>
              <a:rPr kumimoji="0" lang="en-GB" sz="2400" b="0" i="1" u="none" strike="noStrike" kern="0" cap="none" spc="-20" normalizeH="0" baseline="0" noProof="0" dirty="0">
                <a:ln>
                  <a:noFill/>
                </a:ln>
                <a:solidFill>
                  <a:sysClr val="windowText" lastClr="000000"/>
                </a:solidFill>
                <a:effectLst/>
                <a:uLnTx/>
                <a:uFillTx/>
                <a:latin typeface="Calibri"/>
                <a:cs typeface="Calibri"/>
              </a:rPr>
              <a:t>Would</a:t>
            </a:r>
            <a:r>
              <a:rPr kumimoji="0" lang="en-GB" sz="2400" b="0" i="1" u="none" strike="noStrike" kern="0" cap="none" spc="-7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you</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explain</a:t>
            </a:r>
            <a:r>
              <a:rPr kumimoji="0" lang="en-GB" sz="2400" b="0" i="1" u="none" strike="noStrike" kern="0" cap="none" spc="-7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why?"</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1475"/>
              </a:spcBef>
              <a:spcAft>
                <a:spcPts val="0"/>
              </a:spcAft>
              <a:buClrTx/>
              <a:buSzTx/>
              <a:buFontTx/>
              <a:buNone/>
              <a:tabLst/>
              <a:defRPr/>
            </a:pP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12700" marR="36830" lvl="0" indent="0" defTabSz="914400" eaLnBrk="1" fontAlgn="auto" latinLnBrk="0" hangingPunct="1">
              <a:lnSpc>
                <a:spcPts val="2380"/>
              </a:lnSpc>
              <a:spcBef>
                <a:spcPts val="0"/>
              </a:spcBef>
              <a:spcAft>
                <a:spcPts val="0"/>
              </a:spcAft>
              <a:buClrTx/>
              <a:buSzTx/>
              <a:buFontTx/>
              <a:buNone/>
              <a:tabLst/>
              <a:defRPr/>
            </a:pPr>
            <a:r>
              <a:rPr kumimoji="0" lang="en-GB"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日本語の助詞について質問があります。</a:t>
            </a:r>
            <a:r>
              <a:rPr kumimoji="0" lang="en-US" altLang="ja-JP" sz="2200" b="0" i="1" u="none" strike="noStrike" kern="0" cap="none" spc="0" normalizeH="0" baseline="0" noProof="0" dirty="0">
                <a:ln>
                  <a:noFill/>
                </a:ln>
                <a:solidFill>
                  <a:sysClr val="windowText" lastClr="000000"/>
                </a:solidFill>
                <a:effectLst/>
                <a:uLnTx/>
                <a:uFillTx/>
                <a:latin typeface="Calibri"/>
                <a:cs typeface="Calibri"/>
              </a:rPr>
              <a:t>"</a:t>
            </a:r>
            <a:r>
              <a:rPr kumimoji="0" lang="en-GB" sz="2200" b="0" i="1" u="none" strike="noStrike" kern="0" cap="none" spc="0" normalizeH="0" baseline="0" noProof="0" dirty="0">
                <a:ln>
                  <a:noFill/>
                </a:ln>
                <a:solidFill>
                  <a:sysClr val="windowText" lastClr="000000"/>
                </a:solidFill>
                <a:effectLst/>
                <a:uLnTx/>
                <a:uFillTx/>
                <a:latin typeface="Calibri"/>
                <a:cs typeface="Calibri"/>
              </a:rPr>
              <a:t>I'll</a:t>
            </a:r>
            <a:r>
              <a:rPr kumimoji="0" lang="en-GB" sz="2200" b="0" i="1" u="none" strike="noStrike" kern="0" cap="none" spc="45" normalizeH="0" baseline="0" noProof="0" dirty="0">
                <a:ln>
                  <a:noFill/>
                </a:ln>
                <a:solidFill>
                  <a:sysClr val="windowText" lastClr="000000"/>
                </a:solidFill>
                <a:effectLst/>
                <a:uLnTx/>
                <a:uFillTx/>
                <a:latin typeface="Calibri"/>
                <a:cs typeface="Calibri"/>
              </a:rPr>
              <a:t> </a:t>
            </a:r>
            <a:r>
              <a:rPr kumimoji="0" lang="en-GB" sz="2200" b="0" i="1" u="none" strike="noStrike" kern="0" cap="none" spc="0" normalizeH="0" baseline="0" noProof="0" dirty="0">
                <a:ln>
                  <a:noFill/>
                </a:ln>
                <a:solidFill>
                  <a:sysClr val="windowText" lastClr="000000"/>
                </a:solidFill>
                <a:effectLst/>
                <a:uLnTx/>
                <a:uFillTx/>
                <a:latin typeface="Calibri"/>
                <a:cs typeface="Calibri"/>
              </a:rPr>
              <a:t>pick</a:t>
            </a:r>
            <a:r>
              <a:rPr kumimoji="0" lang="en-GB" sz="2200" b="0" i="1" u="none" strike="noStrike" kern="0" cap="none" spc="-20" normalizeH="0" baseline="0" noProof="0" dirty="0">
                <a:ln>
                  <a:noFill/>
                </a:ln>
                <a:solidFill>
                  <a:sysClr val="windowText" lastClr="000000"/>
                </a:solidFill>
                <a:effectLst/>
                <a:uLnTx/>
                <a:uFillTx/>
                <a:latin typeface="Calibri"/>
                <a:cs typeface="Calibri"/>
              </a:rPr>
              <a:t> </a:t>
            </a:r>
            <a:r>
              <a:rPr kumimoji="0" lang="en-GB" sz="2200" b="0" i="1" u="none" strike="noStrike" kern="0" cap="none" spc="0" normalizeH="0" baseline="0" noProof="0" dirty="0">
                <a:ln>
                  <a:noFill/>
                </a:ln>
                <a:solidFill>
                  <a:sysClr val="windowText" lastClr="000000"/>
                </a:solidFill>
                <a:effectLst/>
                <a:uLnTx/>
                <a:uFillTx/>
                <a:latin typeface="Calibri"/>
                <a:cs typeface="Calibri"/>
              </a:rPr>
              <a:t>you up</a:t>
            </a:r>
            <a:r>
              <a:rPr kumimoji="0" lang="en-GB" sz="2200" b="0" i="1" u="none" strike="noStrike" kern="0" cap="none" spc="-10" normalizeH="0" baseline="0" noProof="0" dirty="0">
                <a:ln>
                  <a:noFill/>
                </a:ln>
                <a:solidFill>
                  <a:sysClr val="windowText" lastClr="000000"/>
                </a:solidFill>
                <a:effectLst/>
                <a:uLnTx/>
                <a:uFillTx/>
                <a:latin typeface="Calibri"/>
                <a:cs typeface="Calibri"/>
              </a:rPr>
              <a:t> </a:t>
            </a:r>
            <a:r>
              <a:rPr kumimoji="0" lang="en-GB" sz="2200" b="0" i="1" u="none" strike="noStrike" kern="0" cap="none" spc="0" normalizeH="0" baseline="0" noProof="0" dirty="0">
                <a:ln>
                  <a:noFill/>
                </a:ln>
                <a:solidFill>
                  <a:sysClr val="windowText" lastClr="000000"/>
                </a:solidFill>
                <a:effectLst/>
                <a:uLnTx/>
                <a:uFillTx/>
                <a:latin typeface="Calibri"/>
                <a:cs typeface="Calibri"/>
              </a:rPr>
              <a:t>at</a:t>
            </a:r>
            <a:r>
              <a:rPr kumimoji="0" lang="en-GB" sz="2200" b="0" i="1" u="none" strike="noStrike" kern="0" cap="none" spc="-10" normalizeH="0" baseline="0" noProof="0" dirty="0">
                <a:ln>
                  <a:noFill/>
                </a:ln>
                <a:solidFill>
                  <a:sysClr val="windowText" lastClr="000000"/>
                </a:solidFill>
                <a:effectLst/>
                <a:uLnTx/>
                <a:uFillTx/>
                <a:latin typeface="Calibri"/>
                <a:cs typeface="Calibri"/>
              </a:rPr>
              <a:t> </a:t>
            </a:r>
            <a:r>
              <a:rPr kumimoji="0" lang="en-GB" sz="2200" b="0" i="1" u="none" strike="noStrike" kern="0" cap="none" spc="0" normalizeH="0" baseline="0" noProof="0" dirty="0">
                <a:ln>
                  <a:noFill/>
                </a:ln>
                <a:solidFill>
                  <a:sysClr val="windowText" lastClr="000000"/>
                </a:solidFill>
                <a:effectLst/>
                <a:uLnTx/>
                <a:uFillTx/>
                <a:latin typeface="Calibri"/>
                <a:cs typeface="Calibri"/>
              </a:rPr>
              <a:t>the</a:t>
            </a:r>
            <a:r>
              <a:rPr kumimoji="0" lang="en-GB" sz="2200" b="0" i="1" u="none" strike="noStrike" kern="0" cap="none" spc="-10" normalizeH="0" baseline="0" noProof="0" dirty="0">
                <a:ln>
                  <a:noFill/>
                </a:ln>
                <a:solidFill>
                  <a:sysClr val="windowText" lastClr="000000"/>
                </a:solidFill>
                <a:effectLst/>
                <a:uLnTx/>
                <a:uFillTx/>
                <a:latin typeface="Calibri"/>
                <a:cs typeface="Calibri"/>
              </a:rPr>
              <a:t> </a:t>
            </a:r>
            <a:r>
              <a:rPr kumimoji="0" lang="en-GB" sz="2200" b="0" i="1" u="none" strike="noStrike" kern="0" cap="none" spc="0" normalizeH="0" baseline="0" noProof="0" dirty="0">
                <a:ln>
                  <a:noFill/>
                </a:ln>
                <a:solidFill>
                  <a:sysClr val="windowText" lastClr="000000"/>
                </a:solidFill>
                <a:effectLst/>
                <a:uLnTx/>
                <a:uFillTx/>
                <a:latin typeface="Calibri"/>
                <a:cs typeface="Calibri"/>
              </a:rPr>
              <a:t>airport</a:t>
            </a:r>
            <a:r>
              <a:rPr kumimoji="0" lang="en-GB" sz="2200" b="0" i="1" u="none" strike="noStrike" kern="0" cap="none" spc="-25" normalizeH="0" baseline="0" noProof="0" dirty="0">
                <a:ln>
                  <a:noFill/>
                </a:ln>
                <a:solidFill>
                  <a:sysClr val="windowText" lastClr="000000"/>
                </a:solidFill>
                <a:effectLst/>
                <a:uLnTx/>
                <a:uFillTx/>
                <a:latin typeface="Calibri"/>
                <a:cs typeface="Calibri"/>
              </a:rPr>
              <a:t> </a:t>
            </a:r>
            <a:r>
              <a:rPr kumimoji="0" lang="en-GB" sz="2200" b="0" i="1" u="none" strike="noStrike" kern="0" cap="none" spc="0" normalizeH="0" baseline="0" noProof="0" dirty="0">
                <a:ln>
                  <a:noFill/>
                </a:ln>
                <a:solidFill>
                  <a:sysClr val="windowText" lastClr="000000"/>
                </a:solidFill>
                <a:effectLst/>
                <a:uLnTx/>
                <a:uFillTx/>
                <a:latin typeface="Calibri"/>
                <a:cs typeface="Calibri"/>
              </a:rPr>
              <a:t>with</a:t>
            </a:r>
            <a:r>
              <a:rPr kumimoji="0" lang="en-GB" sz="2200" b="0" i="1" u="none" strike="noStrike" kern="0" cap="none" spc="-5" normalizeH="0" baseline="0" noProof="0" dirty="0">
                <a:ln>
                  <a:noFill/>
                </a:ln>
                <a:solidFill>
                  <a:sysClr val="windowText" lastClr="000000"/>
                </a:solidFill>
                <a:effectLst/>
                <a:uLnTx/>
                <a:uFillTx/>
                <a:latin typeface="Calibri"/>
                <a:cs typeface="Calibri"/>
              </a:rPr>
              <a:t> </a:t>
            </a:r>
            <a:r>
              <a:rPr kumimoji="0" lang="en-GB" sz="2200" b="0" i="1" u="none" strike="noStrike" kern="0" cap="none" spc="-10" normalizeH="0" baseline="0" noProof="0" dirty="0">
                <a:ln>
                  <a:noFill/>
                </a:ln>
                <a:solidFill>
                  <a:sysClr val="windowText" lastClr="000000"/>
                </a:solidFill>
                <a:effectLst/>
                <a:uLnTx/>
                <a:uFillTx/>
                <a:latin typeface="Calibri"/>
                <a:cs typeface="Calibri"/>
              </a:rPr>
              <a:t>everyone tomorrow</a:t>
            </a:r>
            <a:r>
              <a:rPr kumimoji="0" lang="en-GB" sz="2200" b="0" i="1" u="none" strike="noStrike" kern="0" cap="none" spc="-40" normalizeH="0" baseline="0" noProof="0" dirty="0">
                <a:ln>
                  <a:noFill/>
                </a:ln>
                <a:solidFill>
                  <a:sysClr val="windowText" lastClr="000000"/>
                </a:solidFill>
                <a:effectLst/>
                <a:uLnTx/>
                <a:uFillTx/>
                <a:latin typeface="Calibri"/>
                <a:cs typeface="Calibri"/>
              </a:rPr>
              <a:t>." </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を日本語で言うと</a:t>
            </a:r>
            <a:r>
              <a:rPr kumimoji="0" lang="en-US" altLang="ja-JP"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明日空港にみんなであなたを迎えに行きます。 </a:t>
            </a:r>
            <a:r>
              <a:rPr kumimoji="0" lang="en-US" altLang="ja-JP"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となります。しかし、 </a:t>
            </a:r>
            <a:r>
              <a:rPr kumimoji="0" lang="en-US" altLang="ja-JP"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みんな</a:t>
            </a:r>
            <a:r>
              <a:rPr kumimoji="0" lang="en-US" altLang="ja-JP"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はこの文では主語に見えるのに、なぜ</a:t>
            </a:r>
            <a:r>
              <a:rPr kumimoji="0" lang="en-US" altLang="ja-JP"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は</a:t>
            </a:r>
            <a:r>
              <a:rPr kumimoji="0" lang="en-US" altLang="ja-JP" sz="2300" b="0" i="0" u="none" strike="noStrike" kern="0" cap="none" spc="-114"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14" normalizeH="0" baseline="0" noProof="0" dirty="0">
                <a:ln>
                  <a:noFill/>
                </a:ln>
                <a:solidFill>
                  <a:sysClr val="windowText" lastClr="000000"/>
                </a:solidFill>
                <a:effectLst/>
                <a:uLnTx/>
                <a:uFillTx/>
                <a:latin typeface="Yu Gothic"/>
                <a:cs typeface="Yu Gothic"/>
              </a:rPr>
              <a:t>や</a:t>
            </a:r>
            <a:endParaRPr kumimoji="0" lang="ja-JP" altLang="en-US" sz="23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350"/>
              </a:lnSpc>
              <a:spcBef>
                <a:spcPts val="0"/>
              </a:spcBef>
              <a:spcAft>
                <a:spcPts val="0"/>
              </a:spcAft>
              <a:buClrTx/>
              <a:buSzTx/>
              <a:buFontTx/>
              <a:buNone/>
              <a:tabLst/>
              <a:defRPr/>
            </a:pPr>
            <a:r>
              <a:rPr kumimoji="0" lang="en-US" altLang="ja-JP" sz="2300" b="0" i="0" u="none" strike="noStrike" kern="0" cap="none" spc="-120"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20" normalizeH="0" baseline="0" noProof="0" dirty="0">
                <a:ln>
                  <a:noFill/>
                </a:ln>
                <a:solidFill>
                  <a:sysClr val="windowText" lastClr="000000"/>
                </a:solidFill>
                <a:effectLst/>
                <a:uLnTx/>
                <a:uFillTx/>
                <a:latin typeface="Yu Gothic"/>
                <a:cs typeface="Yu Gothic"/>
              </a:rPr>
              <a:t>が</a:t>
            </a:r>
            <a:r>
              <a:rPr kumimoji="0" lang="en-US" altLang="ja-JP" sz="2300" b="0" i="0" u="none" strike="noStrike" kern="0" cap="none" spc="-120"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20" normalizeH="0" baseline="0" noProof="0" dirty="0">
                <a:ln>
                  <a:noFill/>
                </a:ln>
                <a:solidFill>
                  <a:sysClr val="windowText" lastClr="000000"/>
                </a:solidFill>
                <a:effectLst/>
                <a:uLnTx/>
                <a:uFillTx/>
                <a:latin typeface="Yu Gothic"/>
                <a:cs typeface="Yu Gothic"/>
              </a:rPr>
              <a:t>ではなく、</a:t>
            </a:r>
            <a:r>
              <a:rPr kumimoji="0" lang="en-US" altLang="ja-JP" sz="2300" b="0" i="0" u="none" strike="noStrike" kern="0" cap="none" spc="-120"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20" normalizeH="0" baseline="0" noProof="0" dirty="0">
                <a:ln>
                  <a:noFill/>
                </a:ln>
                <a:solidFill>
                  <a:sysClr val="windowText" lastClr="000000"/>
                </a:solidFill>
                <a:effectLst/>
                <a:uLnTx/>
                <a:uFillTx/>
                <a:latin typeface="Yu Gothic"/>
                <a:cs typeface="Yu Gothic"/>
              </a:rPr>
              <a:t>で</a:t>
            </a:r>
            <a:r>
              <a:rPr kumimoji="0" lang="en-US" altLang="ja-JP" sz="2300" b="0" i="0" u="none" strike="noStrike" kern="0" cap="none" spc="-120" normalizeH="0" baseline="0" noProof="0" dirty="0">
                <a:ln>
                  <a:noFill/>
                </a:ln>
                <a:solidFill>
                  <a:sysClr val="windowText" lastClr="000000"/>
                </a:solidFill>
                <a:effectLst/>
                <a:uLnTx/>
                <a:uFillTx/>
                <a:latin typeface="Yu Gothic"/>
                <a:cs typeface="Yu Gothic"/>
              </a:rPr>
              <a:t>』</a:t>
            </a:r>
            <a:r>
              <a:rPr kumimoji="0" lang="ja-JP" altLang="en-US" sz="2300" b="0" i="0" u="none" strike="noStrike" kern="0" cap="none" spc="-120" normalizeH="0" baseline="0" noProof="0" dirty="0">
                <a:ln>
                  <a:noFill/>
                </a:ln>
                <a:solidFill>
                  <a:sysClr val="windowText" lastClr="000000"/>
                </a:solidFill>
                <a:effectLst/>
                <a:uLnTx/>
                <a:uFillTx/>
                <a:latin typeface="Yu Gothic"/>
                <a:cs typeface="Yu Gothic"/>
              </a:rPr>
              <a:t>を使うのかが理解できません。説明して頂けますか。」</a:t>
            </a:r>
            <a:endParaRPr kumimoji="0" lang="ja-JP" altLang="en-US" sz="23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703579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質問の要点</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280670" marR="309880" lvl="0" indent="-268605" defTabSz="914400" eaLnBrk="1" fontAlgn="auto" latinLnBrk="0" hangingPunct="1">
              <a:lnSpc>
                <a:spcPts val="2590"/>
              </a:lnSpc>
              <a:spcBef>
                <a:spcPts val="107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「明日空港にみんなであなたを迎えに行く」の「みんな」は「迎えに行く」の動作主なので、この文の主語のはずである。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5080" lvl="0" indent="-268605" defTabSz="914400" eaLnBrk="1" fontAlgn="auto" latinLnBrk="0" hangingPunct="1">
              <a:lnSpc>
                <a:spcPts val="2590"/>
              </a:lnSpc>
              <a:spcBef>
                <a:spcPts val="101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にも関わらず、なぜ係助詞「は」や格助詞「が」ではなく、格助詞「で」</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を使うのか？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576112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この質問を受けた私は「確かに</a:t>
            </a:r>
            <a:r>
              <a:rPr kumimoji="0" lang="en-US" altLang="ja-JP" sz="2400" b="0" i="0" u="none" strike="noStrike" kern="0" cap="none" spc="-3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」と思いつつ、</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詳細は分からなかったのでこのように誤魔化した。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320"/>
              </a:spcBef>
              <a:spcAft>
                <a:spcPts val="0"/>
              </a:spcAft>
              <a:buClrTx/>
              <a:buSzTx/>
              <a:buFontTx/>
              <a:buNone/>
              <a:tabLst>
                <a:tab pos="4991735" algn="l"/>
              </a:tabLst>
              <a:defRPr/>
            </a:pPr>
            <a:r>
              <a:rPr kumimoji="0" lang="en-GB" sz="2400" b="0" i="1" u="none" strike="noStrike" kern="0" cap="none" spc="0" normalizeH="0" baseline="0" noProof="0" dirty="0">
                <a:ln>
                  <a:noFill/>
                </a:ln>
                <a:solidFill>
                  <a:sysClr val="windowText" lastClr="000000"/>
                </a:solidFill>
                <a:effectLst/>
                <a:uLnTx/>
                <a:uFillTx/>
                <a:latin typeface="Calibri"/>
                <a:cs typeface="Calibri"/>
              </a:rPr>
              <a:t>I'm</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sorry</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but</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I'm</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not</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sure</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of</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the</a:t>
            </a:r>
            <a:r>
              <a:rPr kumimoji="0" lang="en-GB" sz="2400" b="0" i="1" u="none" strike="noStrike" kern="0" cap="none" spc="-30"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details.</a:t>
            </a:r>
            <a:r>
              <a:rPr kumimoji="0" lang="en-GB" sz="2400" b="0" i="1" u="none" strike="noStrike" kern="0" cap="none" spc="0" normalizeH="0" baseline="0" noProof="0" dirty="0">
                <a:ln>
                  <a:noFill/>
                </a:ln>
                <a:solidFill>
                  <a:sysClr val="windowText" lastClr="000000"/>
                </a:solidFill>
                <a:effectLst/>
                <a:uLnTx/>
                <a:uFillTx/>
                <a:latin typeface="Calibri"/>
                <a:cs typeface="Calibri"/>
              </a:rPr>
              <a:t>	I'm</a:t>
            </a:r>
            <a:r>
              <a:rPr kumimoji="0" lang="en-GB" sz="2400" b="0" i="1" u="none" strike="noStrike" kern="0" cap="none" spc="-5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afraid</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it's</a:t>
            </a:r>
            <a:r>
              <a:rPr kumimoji="0" lang="en-GB" sz="2400" b="0" i="1" u="none" strike="noStrike" kern="0" cap="none" spc="-6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because</a:t>
            </a:r>
            <a:r>
              <a:rPr kumimoji="0" lang="en-GB" sz="2400" b="0" i="1" u="none" strike="noStrike" kern="0" cap="none" spc="-35"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of</a:t>
            </a:r>
            <a:r>
              <a:rPr kumimoji="0" lang="en-GB" sz="2400" b="0" i="1" u="none" strike="noStrike" kern="0" cap="none" spc="-40" normalizeH="0" baseline="0" noProof="0" dirty="0">
                <a:ln>
                  <a:noFill/>
                </a:ln>
                <a:solidFill>
                  <a:sysClr val="windowText" lastClr="000000"/>
                </a:solidFill>
                <a:effectLst/>
                <a:uLnTx/>
                <a:uFillTx/>
                <a:latin typeface="Calibri"/>
                <a:cs typeface="Calibri"/>
              </a:rPr>
              <a:t> </a:t>
            </a:r>
            <a:r>
              <a:rPr kumimoji="0" lang="en-GB" sz="2400" b="0" i="1" u="none" strike="noStrike" kern="0" cap="none" spc="0" normalizeH="0" baseline="0" noProof="0" dirty="0">
                <a:ln>
                  <a:noFill/>
                </a:ln>
                <a:solidFill>
                  <a:sysClr val="windowText" lastClr="000000"/>
                </a:solidFill>
                <a:effectLst/>
                <a:uLnTx/>
                <a:uFillTx/>
                <a:latin typeface="Calibri"/>
                <a:cs typeface="Calibri"/>
              </a:rPr>
              <a:t>its</a:t>
            </a:r>
            <a:r>
              <a:rPr kumimoji="0" lang="en-GB" sz="2400" b="0" i="1" u="none" strike="noStrike" kern="0" cap="none" spc="-55" normalizeH="0" baseline="0" noProof="0" dirty="0">
                <a:ln>
                  <a:noFill/>
                </a:ln>
                <a:solidFill>
                  <a:sysClr val="windowText" lastClr="000000"/>
                </a:solidFill>
                <a:effectLst/>
                <a:uLnTx/>
                <a:uFillTx/>
                <a:latin typeface="Calibri"/>
                <a:cs typeface="Calibri"/>
              </a:rPr>
              <a:t> </a:t>
            </a:r>
            <a:r>
              <a:rPr kumimoji="0" lang="en-GB" sz="2400" b="0" i="1" u="none" strike="noStrike" kern="0" cap="none" spc="-10" normalizeH="0" baseline="0" noProof="0" dirty="0">
                <a:ln>
                  <a:noFill/>
                </a:ln>
                <a:solidFill>
                  <a:sysClr val="windowText" lastClr="000000"/>
                </a:solidFill>
                <a:effectLst/>
                <a:uLnTx/>
                <a:uFillTx/>
                <a:latin typeface="Calibri"/>
                <a:cs typeface="Calibri"/>
              </a:rPr>
              <a:t>collocation.</a:t>
            </a:r>
            <a:endParaRPr kumimoji="0" lang="en-GB" sz="2400" b="0" i="0" u="none" strike="noStrike" kern="0" cap="none" spc="0" normalizeH="0" baseline="0" noProof="0" dirty="0">
              <a:ln>
                <a:noFill/>
              </a:ln>
              <a:solidFill>
                <a:sysClr val="windowText" lastClr="000000"/>
              </a:solidFill>
              <a:effectLst/>
              <a:uLnTx/>
              <a:uFillTx/>
              <a:latin typeface="Calibri"/>
              <a:cs typeface="Calibri"/>
            </a:endParaRPr>
          </a:p>
          <a:p>
            <a:pPr marL="12700" marR="5080" lvl="0" indent="0" defTabSz="914400" eaLnBrk="1" fontAlgn="auto" latinLnBrk="0" hangingPunct="1">
              <a:lnSpc>
                <a:spcPts val="2590"/>
              </a:lnSpc>
              <a:spcBef>
                <a:spcPts val="1025"/>
              </a:spcBef>
              <a:spcAft>
                <a:spcPts val="0"/>
              </a:spcAft>
              <a:buClrTx/>
              <a:buSzTx/>
              <a:buFontTx/>
              <a:buNone/>
              <a:tabLst/>
              <a:defRPr/>
            </a:pPr>
            <a:r>
              <a:rPr kumimoji="0" lang="ja-JP" altLang="en-US" sz="2500" b="0" i="0" u="none" strike="noStrike" kern="0" cap="none" spc="-105" normalizeH="0" baseline="0" noProof="0" dirty="0">
                <a:ln>
                  <a:noFill/>
                </a:ln>
                <a:solidFill>
                  <a:sysClr val="windowText" lastClr="000000"/>
                </a:solidFill>
                <a:effectLst/>
                <a:uLnTx/>
                <a:uFillTx/>
                <a:latin typeface="Yu Gothic"/>
                <a:cs typeface="Yu Gothic"/>
              </a:rPr>
              <a:t>ごめんなさい、詳しいことは分かりません。恐らくコロケーションの問題</a:t>
            </a:r>
            <a:r>
              <a:rPr kumimoji="0" lang="ja-JP" altLang="en-US" sz="2500" b="0" i="0" u="none" strike="noStrike" kern="0" cap="none" spc="-95" normalizeH="0" baseline="0" noProof="0" dirty="0">
                <a:ln>
                  <a:noFill/>
                </a:ln>
                <a:solidFill>
                  <a:sysClr val="windowText" lastClr="000000"/>
                </a:solidFill>
                <a:effectLst/>
                <a:uLnTx/>
                <a:uFillTx/>
                <a:latin typeface="Yu Gothic"/>
                <a:cs typeface="Yu Gothic"/>
              </a:rPr>
              <a:t>だと思います。</a:t>
            </a:r>
            <a:endParaRPr kumimoji="0" lang="ja-JP" altLang="en-US" sz="25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4073710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300"/>
              </a:spcBef>
              <a:spcAft>
                <a:spcPts val="0"/>
              </a:spcAft>
              <a:buClrTx/>
              <a:buSzTx/>
              <a:buFontTx/>
              <a:buNone/>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あまりにも歯痒かったので、帰宅後すぐに懸命に辞書を引いた。</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245"/>
              </a:lnSpc>
              <a:spcBef>
                <a:spcPts val="204"/>
              </a:spcBef>
              <a:spcAft>
                <a:spcPts val="0"/>
              </a:spcAft>
              <a:buClrTx/>
              <a:buSzTx/>
              <a:buFontTx/>
              <a:buNone/>
              <a:tabLst/>
              <a:defRPr/>
            </a:pPr>
            <a:r>
              <a:rPr kumimoji="0" lang="ja-JP" altLang="en-US" sz="2200" b="0" i="0" u="none" strike="noStrike" kern="0" cap="none" spc="-40" normalizeH="0" baseline="0" noProof="0" dirty="0">
                <a:ln>
                  <a:noFill/>
                </a:ln>
                <a:solidFill>
                  <a:sysClr val="windowText" lastClr="000000"/>
                </a:solidFill>
                <a:effectLst/>
                <a:uLnTx/>
                <a:uFillTx/>
                <a:latin typeface="Yu Gothic"/>
                <a:cs typeface="Yu Gothic"/>
              </a:rPr>
              <a:t>当時参照した広辞苑第五版では、格助詞の「で」の用法は以下のように掲載され</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245"/>
              </a:lnSpc>
              <a:spcBef>
                <a:spcPts val="0"/>
              </a:spcBef>
              <a:spcAft>
                <a:spcPts val="0"/>
              </a:spcAft>
              <a:buClrTx/>
              <a:buSzTx/>
              <a:buFontTx/>
              <a:buNone/>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ていた。</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3060"/>
              </a:spcBef>
              <a:spcAft>
                <a:spcPts val="0"/>
              </a:spcAft>
              <a:buClrTx/>
              <a:buSzTx/>
              <a:buFont typeface="Calibri"/>
              <a:buAutoNum type="arabicPeriod"/>
              <a:tabLst>
                <a:tab pos="374015" algn="l"/>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動作の行われる所・時・場合</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04"/>
              </a:spcBef>
              <a:spcAft>
                <a:spcPts val="0"/>
              </a:spcAft>
              <a:buClrTx/>
              <a:buSzTx/>
              <a:buFont typeface="Calibri"/>
              <a:buAutoNum type="arabicPeriod"/>
              <a:tabLst>
                <a:tab pos="374015" algn="l"/>
              </a:tabLst>
              <a:defRPr/>
            </a:pPr>
            <a:r>
              <a:rPr kumimoji="0" lang="ja-JP" altLang="en-US" sz="2200" b="0" i="0" u="none" strike="noStrike" kern="0" cap="none" spc="-40" normalizeH="0" baseline="0" noProof="0" dirty="0">
                <a:ln>
                  <a:noFill/>
                </a:ln>
                <a:solidFill>
                  <a:sysClr val="windowText" lastClr="000000"/>
                </a:solidFill>
                <a:effectLst/>
                <a:uLnTx/>
                <a:uFillTx/>
                <a:latin typeface="Yu Gothic"/>
                <a:cs typeface="Yu Gothic"/>
              </a:rPr>
              <a:t>手段・方法・道具・材料</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04"/>
              </a:spcBef>
              <a:spcAft>
                <a:spcPts val="0"/>
              </a:spcAft>
              <a:buClrTx/>
              <a:buSzTx/>
              <a:buFont typeface="Calibri"/>
              <a:buAutoNum type="arabicPeriod"/>
              <a:tabLst>
                <a:tab pos="374015" algn="l"/>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理由・原因</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15"/>
              </a:spcBef>
              <a:spcAft>
                <a:spcPts val="0"/>
              </a:spcAft>
              <a:buClrTx/>
              <a:buSzTx/>
              <a:buFont typeface="Calibri"/>
              <a:buAutoNum type="arabicPeriod"/>
              <a:tabLst>
                <a:tab pos="374015" algn="l"/>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事を起した所</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04"/>
              </a:spcBef>
              <a:spcAft>
                <a:spcPts val="0"/>
              </a:spcAft>
              <a:buClrTx/>
              <a:buSzTx/>
              <a:buFont typeface="Calibri"/>
              <a:buAutoNum type="arabicPeriod"/>
              <a:tabLst>
                <a:tab pos="374015" algn="l"/>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身分・資格</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04"/>
              </a:spcBef>
              <a:spcAft>
                <a:spcPts val="0"/>
              </a:spcAft>
              <a:buClrTx/>
              <a:buSzTx/>
              <a:buFont typeface="Calibri"/>
              <a:buAutoNum type="arabicPeriod"/>
              <a:tabLst>
                <a:tab pos="374015" algn="l"/>
              </a:tabLst>
              <a:defRPr/>
            </a:pPr>
            <a:r>
              <a:rPr kumimoji="0" lang="ja-JP" altLang="en-US" sz="2200" b="0" i="0" u="none" strike="noStrike" kern="0" cap="none" spc="-40" normalizeH="0" baseline="0" noProof="0" dirty="0">
                <a:ln>
                  <a:noFill/>
                </a:ln>
                <a:solidFill>
                  <a:sysClr val="windowText" lastClr="000000"/>
                </a:solidFill>
                <a:effectLst/>
                <a:uLnTx/>
                <a:uFillTx/>
                <a:latin typeface="Yu Gothic"/>
                <a:cs typeface="Yu Gothic"/>
              </a:rPr>
              <a:t>事情・状態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19"/>
              </a:spcBef>
              <a:spcAft>
                <a:spcPts val="0"/>
              </a:spcAft>
              <a:buClrTx/>
              <a:buSzTx/>
              <a:buFont typeface="Calibri"/>
              <a:buAutoNum type="arabicPeriod"/>
              <a:tabLst>
                <a:tab pos="374015" algn="l"/>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期限・範囲</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ct val="100000"/>
              </a:lnSpc>
              <a:spcBef>
                <a:spcPts val="200"/>
              </a:spcBef>
              <a:spcAft>
                <a:spcPts val="0"/>
              </a:spcAft>
              <a:buClrTx/>
              <a:buSzTx/>
              <a:buFont typeface="Calibri"/>
              <a:buAutoNum type="arabicPeriod"/>
              <a:tabLst>
                <a:tab pos="374015" algn="l"/>
              </a:tabLst>
              <a:defRPr/>
            </a:pP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配分の基準</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781721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endParaRPr kumimoji="0" lang="en-GB" altLang="ja-JP" sz="4000" b="1" i="0" u="none" strike="noStrike" kern="0" cap="none" spc="-5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95"/>
              </a:spcBef>
              <a:spcAft>
                <a:spcPts val="0"/>
              </a:spcAft>
              <a:buClrTx/>
              <a:buSzTx/>
              <a:buFontTx/>
              <a:buNone/>
              <a:tabLst/>
              <a:defRPr/>
            </a:pPr>
            <a:endParaRPr lang="en-GB" altLang="ja-JP" sz="4000" b="1" kern="0" spc="-50" dirty="0">
              <a:solidFill>
                <a:sysClr val="windowText" lastClr="000000"/>
              </a:solidFill>
              <a:latin typeface="Yu Gothic"/>
              <a:cs typeface="Yu Gothic"/>
            </a:endParaRPr>
          </a:p>
          <a:p>
            <a:pPr marL="12700" marR="0" lvl="0" indent="0" defTabSz="914400" eaLnBrk="1" fontAlgn="auto" latinLnBrk="0" hangingPunct="1">
              <a:lnSpc>
                <a:spcPct val="100000"/>
              </a:lnSpc>
              <a:spcBef>
                <a:spcPts val="95"/>
              </a:spcBef>
              <a:spcAft>
                <a:spcPts val="0"/>
              </a:spcAft>
              <a:buClrTx/>
              <a:buSzTx/>
              <a:buFontTx/>
              <a:buNone/>
              <a:tabLst/>
              <a:defRPr/>
            </a:pPr>
            <a:endParaRPr kumimoji="0" lang="en-GB" altLang="ja-JP" sz="4000" b="1" i="0" u="none" strike="noStrike" kern="0" cap="none" spc="-50" normalizeH="0" baseline="0" noProof="0" dirty="0">
              <a:ln>
                <a:noFill/>
              </a:ln>
              <a:solidFill>
                <a:sysClr val="windowText" lastClr="000000"/>
              </a:solidFill>
              <a:effectLst/>
              <a:uLnTx/>
              <a:uFillTx/>
              <a:latin typeface="Yu Gothic"/>
              <a:cs typeface="Yu Gothic"/>
            </a:endParaRPr>
          </a:p>
          <a:p>
            <a:pPr marL="12700" marR="0" lvl="0" indent="0" algn="ctr" defTabSz="914400" eaLnBrk="1" fontAlgn="auto" latinLnBrk="0" hangingPunct="1">
              <a:lnSpc>
                <a:spcPct val="100000"/>
              </a:lnSpc>
              <a:spcBef>
                <a:spcPts val="95"/>
              </a:spcBef>
              <a:spcAft>
                <a:spcPts val="0"/>
              </a:spcAft>
              <a:buClrTx/>
              <a:buSzTx/>
              <a:buFontTx/>
              <a:buNone/>
              <a:tabLst/>
              <a:defRPr/>
            </a:pPr>
            <a:r>
              <a:rPr kumimoji="0" lang="ja-JP" altLang="en-US" sz="4000" b="1" i="0" u="none" strike="noStrike" kern="0" cap="none" spc="-50" normalizeH="0" baseline="0" noProof="0" dirty="0">
                <a:ln>
                  <a:noFill/>
                </a:ln>
                <a:solidFill>
                  <a:sysClr val="windowText" lastClr="000000"/>
                </a:solidFill>
                <a:effectLst/>
                <a:uLnTx/>
                <a:uFillTx/>
                <a:latin typeface="Yu Gothic"/>
                <a:cs typeface="Yu Gothic"/>
              </a:rPr>
              <a:t>求めてる答えがない！</a:t>
            </a:r>
            <a:endParaRPr kumimoji="0" lang="ja-JP" altLang="en-US" sz="4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11798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プロローグ</a:t>
            </a:r>
            <a:r>
              <a:rPr lang="en-US" altLang="ja-JP" b="1" dirty="0">
                <a:latin typeface="Calibri (Headings)"/>
                <a:sym typeface="Arial"/>
              </a:rPr>
              <a:t>-</a:t>
            </a:r>
            <a:r>
              <a:rPr lang="ja-JP" altLang="en-US" b="1" dirty="0">
                <a:latin typeface="Calibri (Headings)"/>
                <a:sym typeface="Arial"/>
              </a:rPr>
              <a:t>「みんなで」の「で」</a:t>
            </a:r>
            <a:r>
              <a:rPr lang="en-US" altLang="ja-JP" b="1" dirty="0">
                <a:latin typeface="Calibri (Headings)"/>
                <a:sym typeface="Arial"/>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結局、この疑問は宿題として日本に持ち帰った。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4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大学の最終年次に復学し、後期に日本語学の授業を取り、</a:t>
            </a:r>
            <a:r>
              <a:rPr kumimoji="0" lang="en-US" altLang="ja-JP" sz="2400" b="0" i="0" u="none" strike="noStrike" kern="0" cap="none" spc="-5" normalizeH="0" baseline="0" noProof="0" dirty="0">
                <a:ln>
                  <a:noFill/>
                </a:ln>
                <a:solidFill>
                  <a:sysClr val="windowText" lastClr="000000"/>
                </a:solidFill>
                <a:effectLst/>
                <a:uLnTx/>
                <a:uFillTx/>
                <a:latin typeface="Yu Gothic"/>
                <a:cs typeface="Yu Gothic"/>
              </a:rPr>
              <a:t>『</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格助詞「で」</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の意味構造</a:t>
            </a:r>
            <a:r>
              <a:rPr kumimoji="0" lang="en-US" altLang="ja-JP" sz="2400" b="0"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というテーマの期末レポートを書いて提出し、</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S</a:t>
            </a:r>
            <a:r>
              <a:rPr kumimoji="0" lang="ja-JP" altLang="en-US" sz="2400" b="0" i="0" u="none" strike="noStrike" kern="0" cap="none" spc="-13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評価を頂いた</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ことで個人的なリベンジを果たした。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85"/>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今回は、その内容をなるべく嚙み砕いて共有したい。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583572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latin typeface="Calibri (Headings)"/>
              </a:rPr>
              <a:t>3. </a:t>
            </a:r>
            <a:r>
              <a:rPr lang="ja-JP" altLang="en-US" b="1" dirty="0">
                <a:latin typeface="Calibri (Headings)"/>
              </a:rPr>
              <a:t>認知言語学的分析①</a:t>
            </a:r>
            <a:r>
              <a:rPr lang="en-GB" altLang="ja-JP" b="1" dirty="0">
                <a:latin typeface="Calibri (Headings)"/>
              </a:rPr>
              <a:t> -</a:t>
            </a:r>
            <a:r>
              <a:rPr lang="ja-JP" altLang="en-US" b="1" dirty="0">
                <a:latin typeface="Calibri (Headings)"/>
              </a:rPr>
              <a:t>空間的役割</a:t>
            </a:r>
            <a:r>
              <a:rPr lang="en-GB" altLang="ja-JP" b="1" dirty="0">
                <a:latin typeface="Calibri (Heading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認知言語学的分析①</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空間的役割</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785"/>
              </a:spcBef>
              <a:spcAft>
                <a:spcPts val="0"/>
              </a:spcAft>
              <a:buClrTx/>
              <a:buSzTx/>
              <a:buFontTx/>
              <a:buNone/>
              <a:tabLst/>
              <a:defRPr/>
            </a:pPr>
            <a:r>
              <a:rPr kumimoji="0" lang="en-US" altLang="ja-JP" sz="2800" b="1" i="0" u="none" strike="noStrike" kern="0" cap="none" spc="-25" normalizeH="0" baseline="0" noProof="0" dirty="0">
                <a:ln>
                  <a:noFill/>
                </a:ln>
                <a:solidFill>
                  <a:sysClr val="windowText" lastClr="000000"/>
                </a:solidFill>
                <a:effectLst/>
                <a:uLnTx/>
                <a:uFillTx/>
                <a:latin typeface="Calibri"/>
                <a:cs typeface="Calibri"/>
              </a:rPr>
              <a:t>3-</a:t>
            </a:r>
            <a:r>
              <a:rPr kumimoji="0" lang="en-US" altLang="ja-JP" sz="2800" b="1" i="0" u="none" strike="noStrike" kern="0" cap="none" spc="0" normalizeH="0" baseline="0" noProof="0" dirty="0">
                <a:ln>
                  <a:noFill/>
                </a:ln>
                <a:solidFill>
                  <a:sysClr val="windowText" lastClr="000000"/>
                </a:solidFill>
                <a:effectLst/>
                <a:uLnTx/>
                <a:uFillTx/>
                <a:latin typeface="Calibri"/>
                <a:cs typeface="Calibri"/>
              </a:rPr>
              <a:t>1</a:t>
            </a:r>
            <a:r>
              <a:rPr kumimoji="0" lang="en-US" altLang="ja-JP" sz="2800" b="1" i="0" u="none" strike="noStrike" kern="0" cap="none" spc="15" normalizeH="0" baseline="0" noProof="0" dirty="0">
                <a:ln>
                  <a:noFill/>
                </a:ln>
                <a:solidFill>
                  <a:sysClr val="windowText" lastClr="000000"/>
                </a:solidFill>
                <a:effectLst/>
                <a:uLnTx/>
                <a:uFillTx/>
                <a:latin typeface="Calibri"/>
                <a:cs typeface="Calibri"/>
              </a:rPr>
              <a:t>. </a:t>
            </a:r>
            <a:r>
              <a:rPr kumimoji="0" lang="ja-JP" altLang="en-US" sz="2800" b="1" i="0" u="none" strike="noStrike" kern="0" cap="none" spc="290" normalizeH="0" baseline="0" noProof="0" dirty="0">
                <a:ln>
                  <a:noFill/>
                </a:ln>
                <a:solidFill>
                  <a:sysClr val="windowText" lastClr="000000"/>
                </a:solidFill>
                <a:effectLst/>
                <a:uLnTx/>
                <a:uFillTx/>
                <a:latin typeface="Yu Gothic"/>
                <a:cs typeface="Yu Gothic"/>
              </a:rPr>
              <a:t>場所</a:t>
            </a:r>
            <a:r>
              <a:rPr kumimoji="0" lang="ja-JP" altLang="en-US" sz="2800" b="1"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800" b="1"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800" b="1" i="0" u="none" strike="noStrike" kern="0" cap="none" spc="-35" normalizeH="0" baseline="0" noProof="0" dirty="0">
                <a:ln>
                  <a:noFill/>
                </a:ln>
                <a:solidFill>
                  <a:sysClr val="windowText" lastClr="000000"/>
                </a:solidFill>
                <a:effectLst/>
                <a:uLnTx/>
                <a:uFillTx/>
                <a:latin typeface="Yu Gothic"/>
                <a:cs typeface="Yu Gothic"/>
              </a:rPr>
              <a:t>場所の抽象化</a:t>
            </a:r>
            <a:r>
              <a:rPr kumimoji="0" lang="en-US" altLang="ja-JP" sz="2800" b="1" i="0" u="none" strike="noStrike" kern="0" cap="none" spc="5" normalizeH="0" baseline="0" noProof="0" dirty="0">
                <a:ln>
                  <a:noFill/>
                </a:ln>
                <a:solidFill>
                  <a:sysClr val="windowText" lastClr="000000"/>
                </a:solidFill>
                <a:effectLst/>
                <a:uLnTx/>
                <a:uFillTx/>
                <a:latin typeface="Calibri"/>
                <a:cs typeface="Calibri"/>
              </a:rPr>
              <a:t>&gt; → </a:t>
            </a:r>
            <a:r>
              <a:rPr kumimoji="0" lang="ja-JP" altLang="en-US" sz="2800" b="1" i="0" u="none" strike="noStrike" kern="0" cap="none" spc="-50" normalizeH="0" baseline="0" noProof="0" dirty="0">
                <a:ln>
                  <a:noFill/>
                </a:ln>
                <a:solidFill>
                  <a:sysClr val="windowText" lastClr="000000"/>
                </a:solidFill>
                <a:effectLst/>
                <a:uLnTx/>
                <a:uFillTx/>
                <a:latin typeface="Yu Gothic"/>
                <a:cs typeface="Yu Gothic"/>
              </a:rPr>
              <a:t>場</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410209" marR="0" lvl="0" indent="-397510" defTabSz="914400" eaLnBrk="1" fontAlgn="auto" latinLnBrk="0" hangingPunct="1">
              <a:lnSpc>
                <a:spcPct val="100000"/>
              </a:lnSpc>
              <a:spcBef>
                <a:spcPts val="1090"/>
              </a:spcBef>
              <a:spcAft>
                <a:spcPts val="0"/>
              </a:spcAft>
              <a:buClrTx/>
              <a:buSzPct val="116666"/>
              <a:buFont typeface="Wingdings"/>
              <a:buChar char=""/>
              <a:tabLst>
                <a:tab pos="410209" algn="l"/>
              </a:tabLst>
              <a:defRPr/>
            </a:pPr>
            <a:r>
              <a:rPr kumimoji="0" lang="ja-JP" altLang="en-US" sz="2400" b="1" i="0" u="none" strike="noStrike" kern="0" cap="none" spc="-25" normalizeH="0" baseline="0" noProof="0" dirty="0">
                <a:ln>
                  <a:noFill/>
                </a:ln>
                <a:solidFill>
                  <a:sysClr val="windowText" lastClr="000000"/>
                </a:solidFill>
                <a:effectLst/>
                <a:uLnTx/>
                <a:uFillTx/>
                <a:latin typeface="Yu Gothic"/>
                <a:cs typeface="Yu Gothic"/>
              </a:rPr>
              <a:t>場所</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800"/>
              </a:spcBef>
              <a:spcAft>
                <a:spcPts val="0"/>
              </a:spcAft>
              <a:buClrTx/>
              <a:buSzTx/>
              <a:buFontTx/>
              <a:buNone/>
              <a:tabLst/>
              <a:defRPr/>
            </a:pP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e.g.,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2004</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年のオリンピックはアテネ</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開かれた。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85"/>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「アテネ」という目に見える具体的な場所を表現</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351790" marR="0" lvl="0" indent="-339090" defTabSz="914400" eaLnBrk="1" fontAlgn="auto" latinLnBrk="0" hangingPunct="1">
              <a:lnSpc>
                <a:spcPct val="100000"/>
              </a:lnSpc>
              <a:spcBef>
                <a:spcPts val="685"/>
              </a:spcBef>
              <a:spcAft>
                <a:spcPts val="0"/>
              </a:spcAft>
              <a:buClrTx/>
              <a:buSzTx/>
              <a:buFont typeface="Wingdings"/>
              <a:buChar char=""/>
              <a:tabLst>
                <a:tab pos="351790" algn="l"/>
              </a:tabLst>
              <a:defRPr/>
            </a:pPr>
            <a:r>
              <a:rPr kumimoji="0" lang="ja-JP" altLang="en-US" sz="2400" b="1" i="0" u="none" strike="noStrike" kern="0" cap="none" spc="-50" normalizeH="0" baseline="0" noProof="0" dirty="0">
                <a:ln>
                  <a:noFill/>
                </a:ln>
                <a:solidFill>
                  <a:sysClr val="windowText" lastClr="000000"/>
                </a:solidFill>
                <a:effectLst/>
                <a:uLnTx/>
                <a:uFillTx/>
                <a:latin typeface="Yu Gothic"/>
                <a:cs typeface="Yu Gothic"/>
              </a:rPr>
              <a:t>場</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e.g.</a:t>
            </a:r>
            <a:r>
              <a:rPr kumimoji="0" lang="en-US" altLang="ja-JP" sz="2400" b="0" i="1"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彼は自然に恵まれた環境</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育った。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80"/>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「環境」という目に見えない概念的な場を表現</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302870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認知言語学的分析①</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空間的役割</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en-US" altLang="ja-JP" sz="2800" b="1" i="0" u="none" strike="noStrike" kern="0" cap="none" spc="-25" normalizeH="0" baseline="0" noProof="0" dirty="0">
                <a:ln>
                  <a:noFill/>
                </a:ln>
                <a:solidFill>
                  <a:sysClr val="windowText" lastClr="000000"/>
                </a:solidFill>
                <a:effectLst/>
                <a:uLnTx/>
                <a:uFillTx/>
                <a:latin typeface="Calibri"/>
                <a:cs typeface="Calibri"/>
              </a:rPr>
              <a:t>3-</a:t>
            </a:r>
            <a:r>
              <a:rPr kumimoji="0" lang="en-US" altLang="ja-JP" sz="2800" b="1" i="0" u="none" strike="noStrike" kern="0" cap="none" spc="0" normalizeH="0" baseline="0" noProof="0" dirty="0">
                <a:ln>
                  <a:noFill/>
                </a:ln>
                <a:solidFill>
                  <a:sysClr val="windowText" lastClr="000000"/>
                </a:solidFill>
                <a:effectLst/>
                <a:uLnTx/>
                <a:uFillTx/>
                <a:latin typeface="Calibri"/>
                <a:cs typeface="Calibri"/>
              </a:rPr>
              <a:t>2</a:t>
            </a:r>
            <a:r>
              <a:rPr kumimoji="0" lang="en-US" altLang="ja-JP" sz="2800" b="1" i="0" u="none" strike="noStrike" kern="0" cap="none" spc="20" normalizeH="0" baseline="0" noProof="0" dirty="0">
                <a:ln>
                  <a:noFill/>
                </a:ln>
                <a:solidFill>
                  <a:sysClr val="windowText" lastClr="000000"/>
                </a:solidFill>
                <a:effectLst/>
                <a:uLnTx/>
                <a:uFillTx/>
                <a:latin typeface="Calibri"/>
                <a:cs typeface="Calibri"/>
              </a:rPr>
              <a:t>. </a:t>
            </a:r>
            <a:r>
              <a:rPr kumimoji="0" lang="ja-JP" altLang="en-US" sz="2800" b="1" i="0" u="none" strike="noStrike" kern="0" cap="none" spc="290" normalizeH="0" baseline="0" noProof="0" dirty="0">
                <a:ln>
                  <a:noFill/>
                </a:ln>
                <a:solidFill>
                  <a:sysClr val="windowText" lastClr="000000"/>
                </a:solidFill>
                <a:effectLst/>
                <a:uLnTx/>
                <a:uFillTx/>
                <a:latin typeface="Yu Gothic"/>
                <a:cs typeface="Yu Gothic"/>
              </a:rPr>
              <a:t>場所</a:t>
            </a:r>
            <a:r>
              <a:rPr kumimoji="0" lang="ja-JP" altLang="en-US" sz="2800" b="1"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2800" b="1" i="0" u="none" strike="noStrike" kern="0" cap="none" spc="-5" normalizeH="0" baseline="0" noProof="0" dirty="0">
                <a:ln>
                  <a:noFill/>
                </a:ln>
                <a:solidFill>
                  <a:sysClr val="windowText" lastClr="000000"/>
                </a:solidFill>
                <a:effectLst/>
                <a:uLnTx/>
                <a:uFillTx/>
                <a:latin typeface="Calibri"/>
                <a:cs typeface="Calibri"/>
              </a:rPr>
              <a:t>&lt;</a:t>
            </a:r>
            <a:r>
              <a:rPr kumimoji="0" lang="ja-JP" altLang="en-US" sz="2800" b="1" i="0" u="none" strike="noStrike" kern="0" cap="none" spc="-35" normalizeH="0" baseline="0" noProof="0" dirty="0">
                <a:ln>
                  <a:noFill/>
                </a:ln>
                <a:solidFill>
                  <a:sysClr val="windowText" lastClr="000000"/>
                </a:solidFill>
                <a:effectLst/>
                <a:uLnTx/>
                <a:uFillTx/>
                <a:latin typeface="Yu Gothic"/>
                <a:cs typeface="Yu Gothic"/>
              </a:rPr>
              <a:t>範囲の焦点化・動作の主観化</a:t>
            </a:r>
            <a:r>
              <a:rPr kumimoji="0" lang="en-US" altLang="ja-JP" sz="2800" b="1" i="0" u="none" strike="noStrike" kern="0" cap="none" spc="20" normalizeH="0" baseline="0" noProof="0" dirty="0">
                <a:ln>
                  <a:noFill/>
                </a:ln>
                <a:solidFill>
                  <a:sysClr val="windowText" lastClr="000000"/>
                </a:solidFill>
                <a:effectLst/>
                <a:uLnTx/>
                <a:uFillTx/>
                <a:latin typeface="Calibri"/>
                <a:cs typeface="Calibri"/>
              </a:rPr>
              <a:t>&gt; → </a:t>
            </a:r>
            <a:r>
              <a:rPr kumimoji="0" lang="ja-JP" altLang="en-US" sz="2800" b="1" i="0" u="none" strike="noStrike" kern="0" cap="none" spc="-45" normalizeH="0" baseline="0" noProof="0" dirty="0">
                <a:ln>
                  <a:noFill/>
                </a:ln>
                <a:solidFill>
                  <a:sysClr val="windowText" lastClr="000000"/>
                </a:solidFill>
                <a:effectLst/>
                <a:uLnTx/>
                <a:uFillTx/>
                <a:latin typeface="Yu Gothic"/>
                <a:cs typeface="Yu Gothic"/>
              </a:rPr>
              <a:t>範囲</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e.g.</a:t>
            </a:r>
            <a:r>
              <a:rPr kumimoji="0" lang="en-US" altLang="ja-JP" sz="2400" b="0" i="1"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彼はこのクラス</a:t>
            </a:r>
            <a:r>
              <a:rPr kumimoji="0" lang="ja-JP" altLang="en-US" sz="2400" b="1" i="0" u="none" strike="noStrike" kern="0" cap="none" spc="-75" normalizeH="0" baseline="0" noProof="0" dirty="0">
                <a:ln>
                  <a:noFill/>
                </a:ln>
                <a:solidFill>
                  <a:sysClr val="windowText" lastClr="000000"/>
                </a:solidFill>
                <a:effectLst/>
                <a:uLnTx/>
                <a:uFillTx/>
                <a:latin typeface="Yu Gothic"/>
                <a:cs typeface="Yu Gothic"/>
              </a:rPr>
              <a:t>で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番背が高い。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5080" lvl="0" indent="-268605" defTabSz="914400" eaLnBrk="1" fontAlgn="auto" latinLnBrk="0" hangingPunct="1">
              <a:lnSpc>
                <a:spcPts val="2160"/>
              </a:lnSpc>
              <a:spcBef>
                <a:spcPts val="1070"/>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クラスという具体的な場所が、「このクラスにおいては」という主観的な範囲を限定す</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る用法に移行</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20"/>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最終的に「クラス」という学生を検索する範囲へと領域が拡張</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953267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認知言語学的分析①</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空間的役割</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en-US" altLang="ja-JP" sz="2800" b="1" i="0" u="none" strike="noStrike" kern="0" cap="none" spc="-25" normalizeH="0" baseline="0" noProof="0" dirty="0">
                <a:ln>
                  <a:noFill/>
                </a:ln>
                <a:solidFill>
                  <a:sysClr val="windowText" lastClr="000000"/>
                </a:solidFill>
                <a:effectLst/>
                <a:uLnTx/>
                <a:uFillTx/>
                <a:latin typeface="Calibri"/>
                <a:cs typeface="Calibri"/>
              </a:rPr>
              <a:t>3-</a:t>
            </a:r>
            <a:r>
              <a:rPr kumimoji="0" lang="en-US" altLang="ja-JP" sz="2800" b="1" i="0" u="none" strike="noStrike" kern="0" cap="none" spc="0" normalizeH="0" baseline="0" noProof="0" dirty="0">
                <a:ln>
                  <a:noFill/>
                </a:ln>
                <a:solidFill>
                  <a:sysClr val="windowText" lastClr="000000"/>
                </a:solidFill>
                <a:effectLst/>
                <a:uLnTx/>
                <a:uFillTx/>
                <a:latin typeface="Calibri"/>
                <a:cs typeface="Calibri"/>
              </a:rPr>
              <a:t>3</a:t>
            </a:r>
            <a:r>
              <a:rPr kumimoji="0" lang="en-US" altLang="ja-JP" sz="2800" b="1" i="0" u="none" strike="noStrike" kern="0" cap="none" spc="15" normalizeH="0" baseline="0" noProof="0" dirty="0">
                <a:ln>
                  <a:noFill/>
                </a:ln>
                <a:solidFill>
                  <a:sysClr val="windowText" lastClr="000000"/>
                </a:solidFill>
                <a:effectLst/>
                <a:uLnTx/>
                <a:uFillTx/>
                <a:latin typeface="Calibri"/>
                <a:cs typeface="Calibri"/>
              </a:rPr>
              <a:t>. </a:t>
            </a:r>
            <a:r>
              <a:rPr kumimoji="0" lang="ja-JP" altLang="en-US" sz="2800" b="1" i="0" u="none" strike="noStrike" kern="0" cap="none" spc="290" normalizeH="0" baseline="0" noProof="0" dirty="0">
                <a:ln>
                  <a:noFill/>
                </a:ln>
                <a:solidFill>
                  <a:sysClr val="windowText" lastClr="000000"/>
                </a:solidFill>
                <a:effectLst/>
                <a:uLnTx/>
                <a:uFillTx/>
                <a:latin typeface="Yu Gothic"/>
                <a:cs typeface="Yu Gothic"/>
              </a:rPr>
              <a:t>場所</a:t>
            </a:r>
            <a:r>
              <a:rPr kumimoji="0" lang="ja-JP" altLang="en-US" sz="2800" b="1"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800" b="1" i="0" u="none" strike="noStrike" kern="0" cap="none" spc="-10" normalizeH="0" baseline="0" noProof="0" dirty="0">
                <a:ln>
                  <a:noFill/>
                </a:ln>
                <a:solidFill>
                  <a:sysClr val="windowText" lastClr="000000"/>
                </a:solidFill>
                <a:effectLst/>
                <a:uLnTx/>
                <a:uFillTx/>
                <a:latin typeface="Calibri"/>
                <a:cs typeface="Calibri"/>
              </a:rPr>
              <a:t>&lt;</a:t>
            </a:r>
            <a:r>
              <a:rPr kumimoji="0" lang="ja-JP" altLang="en-US" sz="2800" b="1" i="0" u="none" strike="noStrike" kern="0" cap="none" spc="-35" normalizeH="0" baseline="0" noProof="0" dirty="0">
                <a:ln>
                  <a:noFill/>
                </a:ln>
                <a:solidFill>
                  <a:sysClr val="windowText" lastClr="000000"/>
                </a:solidFill>
                <a:effectLst/>
                <a:uLnTx/>
                <a:uFillTx/>
                <a:latin typeface="Yu Gothic"/>
                <a:cs typeface="Yu Gothic"/>
              </a:rPr>
              <a:t>場所の背景化</a:t>
            </a:r>
            <a:r>
              <a:rPr kumimoji="0" lang="en-US" altLang="ja-JP" sz="2800" b="1" i="0" u="none" strike="noStrike" kern="0" cap="none" spc="10" normalizeH="0" baseline="0" noProof="0" dirty="0">
                <a:ln>
                  <a:noFill/>
                </a:ln>
                <a:solidFill>
                  <a:sysClr val="windowText" lastClr="000000"/>
                </a:solidFill>
                <a:effectLst/>
                <a:uLnTx/>
                <a:uFillTx/>
                <a:latin typeface="Calibri"/>
                <a:cs typeface="Calibri"/>
              </a:rPr>
              <a:t>&gt; → </a:t>
            </a: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動作主</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e.g.</a:t>
            </a:r>
            <a:r>
              <a:rPr kumimoji="0" lang="en-US" altLang="ja-JP" sz="2400" b="0" i="1"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その事件は警察</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調べている。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5080" lvl="0" indent="-268605" defTabSz="914400" eaLnBrk="1" fontAlgn="auto" latinLnBrk="0" hangingPunct="1">
              <a:lnSpc>
                <a:spcPts val="2160"/>
              </a:lnSpc>
              <a:spcBef>
                <a:spcPts val="1070"/>
              </a:spcBef>
              <a:spcAft>
                <a:spcPts val="0"/>
              </a:spcAft>
              <a:buClrTx/>
              <a:buSzTx/>
              <a:buFont typeface="Arial MT"/>
              <a:buChar char="•"/>
              <a:tabLst>
                <a:tab pos="280670" algn="l"/>
              </a:tabLst>
              <a:defRPr/>
            </a:pPr>
            <a:r>
              <a:rPr kumimoji="0" lang="ja-JP" altLang="en-US" sz="2000" b="0" i="0" u="none" strike="noStrike" kern="0" cap="none" spc="140" normalizeH="0" baseline="0" noProof="0" dirty="0">
                <a:ln>
                  <a:noFill/>
                </a:ln>
                <a:solidFill>
                  <a:sysClr val="windowText" lastClr="000000"/>
                </a:solidFill>
                <a:effectLst/>
                <a:uLnTx/>
                <a:uFillTx/>
                <a:latin typeface="Yu Gothic"/>
                <a:cs typeface="Yu Gothic"/>
              </a:rPr>
              <a:t>「警察</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警察官の集団」という場所が背景と化し、最終的にその場所に密に関わる動作</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主に意識が転換された用法</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20"/>
              </a:spcBef>
              <a:spcAft>
                <a:spcPts val="0"/>
              </a:spcAft>
              <a:buClrTx/>
              <a:buSzTx/>
              <a:buFont typeface="Arial MT"/>
              <a:buChar char="•"/>
              <a:tabLst>
                <a:tab pos="28067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主語</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その事件</a:t>
            </a:r>
            <a:r>
              <a:rPr kumimoji="0" lang="en-US" altLang="ja-JP" sz="2000" b="0" i="0" u="none" strike="noStrike" kern="0" cap="none" spc="5" normalizeH="0" baseline="0" noProof="0" dirty="0">
                <a:ln>
                  <a:noFill/>
                </a:ln>
                <a:solidFill>
                  <a:sysClr val="windowText" lastClr="000000"/>
                </a:solidFill>
                <a:effectLst/>
                <a:uLnTx/>
                <a:uFillTx/>
                <a:latin typeface="Calibri"/>
                <a:cs typeface="Calibri"/>
              </a:rPr>
              <a:t>) ≠ </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動作主</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警察</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の関係が成立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399205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3.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認知言語学的分析①</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空間的役割</a:t>
            </a:r>
            <a:r>
              <a:rPr kumimoji="0" lang="en-GB" altLang="ja-JP" sz="44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80"/>
              </a:spcBef>
              <a:spcAft>
                <a:spcPts val="0"/>
              </a:spcAft>
              <a:buClrTx/>
              <a:buSzTx/>
              <a:buFontTx/>
              <a:buNone/>
              <a:tabLst/>
              <a:defRPr/>
            </a:pPr>
            <a:r>
              <a:rPr kumimoji="0" lang="en-US" altLang="ja-JP" sz="2600" b="1" i="0" u="none" strike="noStrike" kern="0" cap="none" spc="-10" normalizeH="0" baseline="0" noProof="0" dirty="0">
                <a:ln>
                  <a:noFill/>
                </a:ln>
                <a:solidFill>
                  <a:sysClr val="windowText" lastClr="000000"/>
                </a:solidFill>
                <a:effectLst/>
                <a:uLnTx/>
                <a:uFillTx/>
                <a:latin typeface="Calibri"/>
                <a:cs typeface="Calibri"/>
              </a:rPr>
              <a:t>3-</a:t>
            </a:r>
            <a:r>
              <a:rPr kumimoji="0" lang="en-US" altLang="ja-JP" sz="2600" b="1" i="0" u="none" strike="noStrike" kern="0" cap="none" spc="0" normalizeH="0" baseline="0" noProof="0" dirty="0">
                <a:ln>
                  <a:noFill/>
                </a:ln>
                <a:solidFill>
                  <a:sysClr val="windowText" lastClr="000000"/>
                </a:solidFill>
                <a:effectLst/>
                <a:uLnTx/>
                <a:uFillTx/>
                <a:latin typeface="Calibri"/>
                <a:cs typeface="Calibri"/>
              </a:rPr>
              <a:t>4</a:t>
            </a:r>
            <a:r>
              <a:rPr kumimoji="0" lang="en-US" altLang="ja-JP" sz="2600" b="1"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600" b="1" i="0" u="none" strike="noStrike" kern="0" cap="none" spc="285" normalizeH="0" baseline="0" noProof="0" dirty="0">
                <a:ln>
                  <a:noFill/>
                </a:ln>
                <a:solidFill>
                  <a:sysClr val="windowText" lastClr="000000"/>
                </a:solidFill>
                <a:effectLst/>
                <a:uLnTx/>
                <a:uFillTx/>
                <a:latin typeface="Yu Gothic"/>
                <a:cs typeface="Yu Gothic"/>
              </a:rPr>
              <a:t>場所</a:t>
            </a:r>
            <a:r>
              <a:rPr kumimoji="0" lang="ja-JP" altLang="en-US" sz="2600" b="1"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600" b="1"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600" b="1" i="0" u="none" strike="noStrike" kern="0" cap="none" spc="0" normalizeH="0" baseline="0" noProof="0" dirty="0">
                <a:ln>
                  <a:noFill/>
                </a:ln>
                <a:solidFill>
                  <a:sysClr val="windowText" lastClr="000000"/>
                </a:solidFill>
                <a:effectLst/>
                <a:uLnTx/>
                <a:uFillTx/>
                <a:latin typeface="Yu Gothic"/>
                <a:cs typeface="Yu Gothic"/>
              </a:rPr>
              <a:t>メタファー変換</a:t>
            </a:r>
            <a:r>
              <a:rPr kumimoji="0" lang="en-US" altLang="ja-JP" sz="2600" b="1" i="0" u="none" strike="noStrike" kern="0" cap="none" spc="-20" normalizeH="0" baseline="0" noProof="0" dirty="0">
                <a:ln>
                  <a:noFill/>
                </a:ln>
                <a:solidFill>
                  <a:sysClr val="windowText" lastClr="000000"/>
                </a:solidFill>
                <a:effectLst/>
                <a:uLnTx/>
                <a:uFillTx/>
                <a:latin typeface="Calibri"/>
                <a:cs typeface="Calibri"/>
              </a:rPr>
              <a:t>&gt; → &lt;</a:t>
            </a:r>
            <a:r>
              <a:rPr kumimoji="0" lang="ja-JP" altLang="en-US" sz="2600" b="1" i="0" u="none" strike="noStrike" kern="0" cap="none" spc="-5" normalizeH="0" baseline="0" noProof="0" dirty="0">
                <a:ln>
                  <a:noFill/>
                </a:ln>
                <a:solidFill>
                  <a:sysClr val="windowText" lastClr="000000"/>
                </a:solidFill>
                <a:effectLst/>
                <a:uLnTx/>
                <a:uFillTx/>
                <a:latin typeface="Yu Gothic"/>
                <a:cs typeface="Yu Gothic"/>
              </a:rPr>
              <a:t>時間範囲の焦点化</a:t>
            </a:r>
            <a:r>
              <a:rPr kumimoji="0" lang="en-US" altLang="ja-JP" sz="2600" b="1" i="0" u="none" strike="noStrike" kern="0" cap="none" spc="-10" normalizeH="0" baseline="0" noProof="0" dirty="0">
                <a:ln>
                  <a:noFill/>
                </a:ln>
                <a:solidFill>
                  <a:sysClr val="windowText" lastClr="000000"/>
                </a:solidFill>
                <a:effectLst/>
                <a:uLnTx/>
                <a:uFillTx/>
                <a:latin typeface="Calibri"/>
                <a:cs typeface="Calibri"/>
              </a:rPr>
              <a:t>&gt; → </a:t>
            </a:r>
            <a:r>
              <a:rPr kumimoji="0" lang="ja-JP" altLang="en-US" sz="2600" b="1" i="0" u="none" strike="noStrike" kern="0" cap="none" spc="-10" normalizeH="0" baseline="0" noProof="0" dirty="0">
                <a:ln>
                  <a:noFill/>
                </a:ln>
                <a:solidFill>
                  <a:sysClr val="windowText" lastClr="000000"/>
                </a:solidFill>
                <a:effectLst/>
                <a:uLnTx/>
                <a:uFillTx/>
                <a:latin typeface="Yu Gothic"/>
                <a:cs typeface="Yu Gothic"/>
              </a:rPr>
              <a:t>期間・時限定</a:t>
            </a:r>
            <a:endParaRPr kumimoji="0" lang="ja-JP" altLang="en-US" sz="2600" b="0" i="0" u="none" strike="noStrike" kern="0" cap="none" spc="0" normalizeH="0" baseline="0" noProof="0" dirty="0">
              <a:ln>
                <a:noFill/>
              </a:ln>
              <a:solidFill>
                <a:sysClr val="windowText" lastClr="000000"/>
              </a:solidFill>
              <a:effectLst/>
              <a:uLnTx/>
              <a:uFillTx/>
              <a:latin typeface="Yu Gothic"/>
              <a:cs typeface="Yu Gothic"/>
            </a:endParaRPr>
          </a:p>
          <a:p>
            <a:pPr marL="297815" marR="0" lvl="0" indent="-285115" defTabSz="914400" eaLnBrk="1" fontAlgn="auto" latinLnBrk="0" hangingPunct="1">
              <a:lnSpc>
                <a:spcPct val="100000"/>
              </a:lnSpc>
              <a:spcBef>
                <a:spcPts val="720"/>
              </a:spcBef>
              <a:spcAft>
                <a:spcPts val="0"/>
              </a:spcAft>
              <a:buClrTx/>
              <a:buSzPct val="83333"/>
              <a:buFont typeface="Wingdings"/>
              <a:buChar char=""/>
              <a:tabLst>
                <a:tab pos="297815" algn="l"/>
              </a:tabLst>
              <a:defRPr/>
            </a:pP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e.g.,</a:t>
            </a:r>
            <a:r>
              <a:rPr kumimoji="0" lang="ja-JP" altLang="en-US" sz="2400" b="0" i="1" u="none" strike="noStrike" kern="0" cap="none" spc="-1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食事の後</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勉強する。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95"/>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「食事の後」という時間が空間的な場所から時間的場所へと領域が拡張した用法</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ts val="2280"/>
              </a:lnSpc>
              <a:spcBef>
                <a:spcPts val="760"/>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この用法は、動作が行われる舞台としての空間・時間的場所として意味を備えたまとま</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0" defTabSz="914400" eaLnBrk="1" fontAlgn="auto" latinLnBrk="0" hangingPunct="1">
              <a:lnSpc>
                <a:spcPts val="2280"/>
              </a:lnSpc>
              <a:spcBef>
                <a:spcPts val="0"/>
              </a:spcBef>
              <a:spcAft>
                <a:spcPts val="0"/>
              </a:spcAft>
              <a:buClrTx/>
              <a:buSzTx/>
              <a:buFontTx/>
              <a:buNone/>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りのある場を表すため、限定的なニュアンス</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351790" marR="0" lvl="0" indent="-339090" defTabSz="914400" eaLnBrk="1" fontAlgn="auto" latinLnBrk="0" hangingPunct="1">
              <a:lnSpc>
                <a:spcPct val="100000"/>
              </a:lnSpc>
              <a:spcBef>
                <a:spcPts val="680"/>
              </a:spcBef>
              <a:spcAft>
                <a:spcPts val="0"/>
              </a:spcAft>
              <a:buClrTx/>
              <a:buSzTx/>
              <a:buFont typeface="Wingdings"/>
              <a:buChar char=""/>
              <a:tabLst>
                <a:tab pos="351790" algn="l"/>
              </a:tabLst>
              <a:defRPr/>
            </a:pPr>
            <a:r>
              <a:rPr kumimoji="0" lang="en-US" altLang="ja-JP" sz="2400" b="0" i="1" u="none" strike="noStrike" kern="0" cap="none" spc="0" normalizeH="0" baseline="0" noProof="0" dirty="0">
                <a:ln>
                  <a:noFill/>
                </a:ln>
                <a:solidFill>
                  <a:sysClr val="windowText" lastClr="000000"/>
                </a:solidFill>
                <a:effectLst/>
                <a:uLnTx/>
                <a:uFillTx/>
                <a:latin typeface="Calibri"/>
                <a:cs typeface="Calibri"/>
              </a:rPr>
              <a:t>e.g.,</a:t>
            </a:r>
            <a:r>
              <a:rPr kumimoji="0" lang="ja-JP" altLang="en-US" sz="2400" b="0" i="1" u="none" strike="noStrike" kern="0" cap="none" spc="-1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食事の後</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に</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勉強する。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95"/>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格助詞「に」も同じく時を表すが、「食事の後」という時間・時点への言及に限定</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670" marR="509270" lvl="0" indent="-268605" defTabSz="914400" eaLnBrk="1" fontAlgn="auto" latinLnBrk="0" hangingPunct="1">
              <a:lnSpc>
                <a:spcPts val="2160"/>
              </a:lnSpc>
              <a:spcBef>
                <a:spcPts val="1030"/>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一方、「で」は「食事をする舞台としての空間・時間的な場所」として、より意味を</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持った限定的な場を表現</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469241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kumimoji="0" lang="en-GB"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認知言語学的分析② </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役割的背景</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sz="54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852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認知言語学的分析② </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役割的背景</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80"/>
              </a:spcBef>
              <a:spcAft>
                <a:spcPts val="0"/>
              </a:spcAft>
              <a:buClrTx/>
              <a:buSzTx/>
              <a:buFontTx/>
              <a:buNone/>
              <a:tabLst/>
              <a:defRPr/>
            </a:pPr>
            <a:r>
              <a:rPr kumimoji="0" lang="en-US" altLang="ja-JP" sz="2600" b="1" i="0" u="none" strike="noStrike" kern="0" cap="none" spc="-10" normalizeH="0" baseline="0" noProof="0" dirty="0">
                <a:ln>
                  <a:noFill/>
                </a:ln>
                <a:solidFill>
                  <a:sysClr val="windowText" lastClr="000000"/>
                </a:solidFill>
                <a:effectLst/>
                <a:uLnTx/>
                <a:uFillTx/>
                <a:latin typeface="Calibri"/>
                <a:cs typeface="Calibri"/>
              </a:rPr>
              <a:t>4-</a:t>
            </a:r>
            <a:r>
              <a:rPr kumimoji="0" lang="en-US" altLang="ja-JP" sz="2600" b="1" i="0" u="none" strike="noStrike" kern="0" cap="none" spc="0" normalizeH="0" baseline="0" noProof="0" dirty="0">
                <a:ln>
                  <a:noFill/>
                </a:ln>
                <a:solidFill>
                  <a:sysClr val="windowText" lastClr="000000"/>
                </a:solidFill>
                <a:effectLst/>
                <a:uLnTx/>
                <a:uFillTx/>
                <a:latin typeface="Calibri"/>
                <a:cs typeface="Calibri"/>
              </a:rPr>
              <a:t>1</a:t>
            </a:r>
            <a:r>
              <a:rPr kumimoji="0" lang="en-US" altLang="ja-JP" sz="2600" b="1"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600" b="1" i="0" u="none" strike="noStrike" kern="0" cap="none" spc="285" normalizeH="0" baseline="0" noProof="0" dirty="0">
                <a:ln>
                  <a:noFill/>
                </a:ln>
                <a:solidFill>
                  <a:sysClr val="windowText" lastClr="000000"/>
                </a:solidFill>
                <a:effectLst/>
                <a:uLnTx/>
                <a:uFillTx/>
                <a:latin typeface="Yu Gothic"/>
                <a:cs typeface="Yu Gothic"/>
              </a:rPr>
              <a:t>場所</a:t>
            </a:r>
            <a:r>
              <a:rPr kumimoji="0" lang="ja-JP" altLang="en-US" sz="2600" b="1"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600" b="1"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600" b="1" i="0" u="none" strike="noStrike" kern="0" cap="none" spc="0" normalizeH="0" baseline="0" noProof="0" dirty="0">
                <a:ln>
                  <a:noFill/>
                </a:ln>
                <a:solidFill>
                  <a:sysClr val="windowText" lastClr="000000"/>
                </a:solidFill>
                <a:effectLst/>
                <a:uLnTx/>
                <a:uFillTx/>
                <a:latin typeface="Yu Gothic"/>
                <a:cs typeface="Yu Gothic"/>
              </a:rPr>
              <a:t>背景の役割化</a:t>
            </a:r>
            <a:r>
              <a:rPr kumimoji="0" lang="en-US" altLang="ja-JP" sz="2600" b="1" i="0" u="none" strike="noStrike" kern="0" cap="none" spc="-20" normalizeH="0" baseline="0" noProof="0" dirty="0">
                <a:ln>
                  <a:noFill/>
                </a:ln>
                <a:solidFill>
                  <a:sysClr val="windowText" lastClr="000000"/>
                </a:solidFill>
                <a:effectLst/>
                <a:uLnTx/>
                <a:uFillTx/>
                <a:latin typeface="Calibri"/>
                <a:cs typeface="Calibri"/>
              </a:rPr>
              <a:t>&gt; → &lt;</a:t>
            </a:r>
            <a:r>
              <a:rPr kumimoji="0" lang="ja-JP" altLang="en-US" sz="2600" b="1" i="0" u="none" strike="noStrike" kern="0" cap="none" spc="0" normalizeH="0" baseline="0" noProof="0" dirty="0">
                <a:ln>
                  <a:noFill/>
                </a:ln>
                <a:solidFill>
                  <a:sysClr val="windowText" lastClr="000000"/>
                </a:solidFill>
                <a:effectLst/>
                <a:uLnTx/>
                <a:uFillTx/>
                <a:latin typeface="Yu Gothic"/>
                <a:cs typeface="Yu Gothic"/>
              </a:rPr>
              <a:t>道具・手段内在化</a:t>
            </a:r>
            <a:r>
              <a:rPr kumimoji="0" lang="en-US" altLang="ja-JP" sz="2600" b="1" i="0" u="none" strike="noStrike" kern="0" cap="none" spc="-10" normalizeH="0" baseline="0" noProof="0" dirty="0">
                <a:ln>
                  <a:noFill/>
                </a:ln>
                <a:solidFill>
                  <a:sysClr val="windowText" lastClr="000000"/>
                </a:solidFill>
                <a:effectLst/>
                <a:uLnTx/>
                <a:uFillTx/>
                <a:latin typeface="Calibri"/>
                <a:cs typeface="Calibri"/>
              </a:rPr>
              <a:t>&gt; → </a:t>
            </a:r>
            <a:r>
              <a:rPr kumimoji="0" lang="ja-JP" altLang="en-US" sz="2600" b="1" i="0" u="none" strike="noStrike" kern="0" cap="none" spc="-10" normalizeH="0" baseline="0" noProof="0" dirty="0">
                <a:ln>
                  <a:noFill/>
                </a:ln>
                <a:solidFill>
                  <a:sysClr val="windowText" lastClr="000000"/>
                </a:solidFill>
                <a:effectLst/>
                <a:uLnTx/>
                <a:uFillTx/>
                <a:latin typeface="Yu Gothic"/>
                <a:cs typeface="Yu Gothic"/>
              </a:rPr>
              <a:t>材料・構成要素</a:t>
            </a:r>
            <a:endParaRPr kumimoji="0" lang="ja-JP" altLang="en-US" sz="2600" b="0" i="0" u="none" strike="noStrike" kern="0" cap="none" spc="0" normalizeH="0" baseline="0" noProof="0" dirty="0">
              <a:ln>
                <a:noFill/>
              </a:ln>
              <a:solidFill>
                <a:sysClr val="windowText" lastClr="000000"/>
              </a:solidFill>
              <a:effectLst/>
              <a:uLnTx/>
              <a:uFillTx/>
              <a:latin typeface="Yu Gothic"/>
              <a:cs typeface="Yu Gothic"/>
            </a:endParaRPr>
          </a:p>
          <a:p>
            <a:pPr marL="351790" marR="0" lvl="0" indent="-339090" defTabSz="914400" eaLnBrk="1" fontAlgn="auto" latinLnBrk="0" hangingPunct="1">
              <a:lnSpc>
                <a:spcPct val="100000"/>
              </a:lnSpc>
              <a:spcBef>
                <a:spcPts val="720"/>
              </a:spcBef>
              <a:spcAft>
                <a:spcPts val="0"/>
              </a:spcAft>
              <a:buClrTx/>
              <a:buSzTx/>
              <a:buFont typeface="Wingdings"/>
              <a:buChar char=""/>
              <a:tabLst>
                <a:tab pos="351790" algn="l"/>
              </a:tabLst>
              <a:defRPr/>
            </a:pP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道具・手段</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e.g.,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日本人は箸</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食事をする。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85"/>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力が加わる場所として個別的・具体的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351790" marR="0" lvl="0" indent="-339090" defTabSz="914400" eaLnBrk="1" fontAlgn="auto" latinLnBrk="0" hangingPunct="1">
              <a:lnSpc>
                <a:spcPct val="100000"/>
              </a:lnSpc>
              <a:spcBef>
                <a:spcPts val="680"/>
              </a:spcBef>
              <a:spcAft>
                <a:spcPts val="0"/>
              </a:spcAft>
              <a:buClrTx/>
              <a:buSzTx/>
              <a:buFont typeface="Wingdings"/>
              <a:buChar char=""/>
              <a:tabLst>
                <a:tab pos="351790" algn="l"/>
              </a:tabLst>
              <a:defRPr/>
            </a:pP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材料・構成要素</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e.g.,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この机は木</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できている。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785"/>
              </a:spcBef>
              <a:spcAft>
                <a:spcPts val="0"/>
              </a:spcAft>
              <a:buClrTx/>
              <a:buSzTx/>
              <a:buFont typeface="Arial MT"/>
              <a:buChar char="•"/>
              <a:tabLst>
                <a:tab pos="28067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何かに内包された場所という意味で、個別性が低く属物的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268715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認知言語学的分析② </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役割的背景</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00"/>
              </a:spcBef>
              <a:spcAft>
                <a:spcPts val="0"/>
              </a:spcAft>
              <a:buClrTx/>
              <a:buSzTx/>
              <a:buFontTx/>
              <a:buNone/>
              <a:tabLst/>
              <a:defRPr/>
            </a:pPr>
            <a:r>
              <a:rPr kumimoji="0" lang="en-US" altLang="ja-JP" sz="1800" b="1" i="0" u="none" strike="noStrike" kern="0" cap="none" spc="-10" normalizeH="0" baseline="0" noProof="0" dirty="0">
                <a:ln>
                  <a:noFill/>
                </a:ln>
                <a:solidFill>
                  <a:sysClr val="windowText" lastClr="000000"/>
                </a:solidFill>
                <a:effectLst/>
                <a:uLnTx/>
                <a:uFillTx/>
                <a:latin typeface="Calibri"/>
                <a:cs typeface="Calibri"/>
              </a:rPr>
              <a:t>4-</a:t>
            </a:r>
            <a:r>
              <a:rPr kumimoji="0" lang="en-US" altLang="ja-JP" sz="1800" b="1" i="0" u="none" strike="noStrike" kern="0" cap="none" spc="0" normalizeH="0" baseline="0" noProof="0" dirty="0">
                <a:ln>
                  <a:noFill/>
                </a:ln>
                <a:solidFill>
                  <a:sysClr val="windowText" lastClr="000000"/>
                </a:solidFill>
                <a:effectLst/>
                <a:uLnTx/>
                <a:uFillTx/>
                <a:latin typeface="Calibri"/>
                <a:cs typeface="Calibri"/>
              </a:rPr>
              <a:t>2</a:t>
            </a:r>
            <a:r>
              <a:rPr kumimoji="0" lang="en-US" altLang="ja-JP" sz="1800" b="1"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800" b="1" i="0" u="none" strike="noStrike" kern="0" cap="none" spc="200" normalizeH="0" baseline="0" noProof="0" dirty="0">
                <a:ln>
                  <a:noFill/>
                </a:ln>
                <a:solidFill>
                  <a:sysClr val="windowText" lastClr="000000"/>
                </a:solidFill>
                <a:effectLst/>
                <a:uLnTx/>
                <a:uFillTx/>
                <a:latin typeface="Yu Gothic"/>
                <a:cs typeface="Yu Gothic"/>
              </a:rPr>
              <a:t>道具</a:t>
            </a:r>
            <a:r>
              <a:rPr kumimoji="0" lang="ja-JP" altLang="en-US" sz="1800" b="1"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1" i="0" u="none" strike="noStrike" kern="0" cap="none" spc="-5" normalizeH="0" baseline="0" noProof="0" dirty="0">
                <a:ln>
                  <a:noFill/>
                </a:ln>
                <a:solidFill>
                  <a:sysClr val="windowText" lastClr="000000"/>
                </a:solidFill>
                <a:effectLst/>
                <a:uLnTx/>
                <a:uFillTx/>
                <a:latin typeface="Calibri"/>
                <a:cs typeface="Calibri"/>
              </a:rPr>
              <a:t>&lt;</a:t>
            </a:r>
            <a:r>
              <a:rPr kumimoji="0" lang="ja-JP" altLang="en-US" sz="1800" b="1" i="0" u="none" strike="noStrike" kern="0" cap="none" spc="0" normalizeH="0" baseline="0" noProof="0" dirty="0">
                <a:ln>
                  <a:noFill/>
                </a:ln>
                <a:solidFill>
                  <a:sysClr val="windowText" lastClr="000000"/>
                </a:solidFill>
                <a:effectLst/>
                <a:uLnTx/>
                <a:uFillTx/>
                <a:latin typeface="Yu Gothic"/>
                <a:cs typeface="Yu Gothic"/>
              </a:rPr>
              <a:t>背景の能動化</a:t>
            </a:r>
            <a:r>
              <a:rPr kumimoji="0" lang="en-US" altLang="ja-JP" sz="1800" b="1" i="0" u="none" strike="noStrike" kern="0" cap="none" spc="-10" normalizeH="0" baseline="0" noProof="0" dirty="0">
                <a:ln>
                  <a:noFill/>
                </a:ln>
                <a:solidFill>
                  <a:sysClr val="windowText" lastClr="000000"/>
                </a:solidFill>
                <a:effectLst/>
                <a:uLnTx/>
                <a:uFillTx/>
                <a:latin typeface="Calibri"/>
                <a:cs typeface="Calibri"/>
              </a:rPr>
              <a:t>&gt; → &lt;</a:t>
            </a:r>
            <a:r>
              <a:rPr kumimoji="0" lang="ja-JP" altLang="en-US" sz="1800" b="1" i="0" u="none" strike="noStrike" kern="0" cap="none" spc="0" normalizeH="0" baseline="0" noProof="0" dirty="0">
                <a:ln>
                  <a:noFill/>
                </a:ln>
                <a:solidFill>
                  <a:sysClr val="windowText" lastClr="000000"/>
                </a:solidFill>
                <a:effectLst/>
                <a:uLnTx/>
                <a:uFillTx/>
                <a:latin typeface="Yu Gothic"/>
                <a:cs typeface="Yu Gothic"/>
              </a:rPr>
              <a:t>原因</a:t>
            </a:r>
            <a:r>
              <a:rPr kumimoji="0" lang="en-US" altLang="ja-JP" sz="1800" b="1" i="0" u="none" strike="noStrike" kern="0" cap="none" spc="-5" normalizeH="0" baseline="0" noProof="0" dirty="0">
                <a:ln>
                  <a:noFill/>
                </a:ln>
                <a:solidFill>
                  <a:sysClr val="windowText" lastClr="000000"/>
                </a:solidFill>
                <a:effectLst/>
                <a:uLnTx/>
                <a:uFillTx/>
                <a:latin typeface="Calibri"/>
                <a:cs typeface="Calibri"/>
              </a:rPr>
              <a:t>&gt; → </a:t>
            </a:r>
            <a:r>
              <a:rPr kumimoji="0" lang="ja-JP" altLang="en-US" sz="1800" b="1" i="0" u="none" strike="noStrike" kern="0" cap="none" spc="-5" normalizeH="0" baseline="0" noProof="0" dirty="0">
                <a:ln>
                  <a:noFill/>
                </a:ln>
                <a:solidFill>
                  <a:sysClr val="windowText" lastClr="000000"/>
                </a:solidFill>
                <a:effectLst/>
                <a:uLnTx/>
                <a:uFillTx/>
                <a:latin typeface="Yu Gothic"/>
                <a:cs typeface="Yu Gothic"/>
              </a:rPr>
              <a:t>理由・根拠・目的・構成要素</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20"/>
              </a:spcBef>
              <a:spcAft>
                <a:spcPts val="0"/>
              </a:spcAft>
              <a:buClrTx/>
              <a:buSzTx/>
              <a:buFont typeface="Wingdings"/>
              <a:buChar char=""/>
              <a:tabLst>
                <a:tab pos="240665" algn="l"/>
              </a:tabLst>
              <a:defRPr/>
            </a:pPr>
            <a:r>
              <a:rPr kumimoji="0" lang="ja-JP" altLang="en-US" sz="1600" b="1" i="0" u="none" strike="noStrike" kern="0" cap="none" spc="-40" normalizeH="0" baseline="0" noProof="0" dirty="0">
                <a:ln>
                  <a:noFill/>
                </a:ln>
                <a:solidFill>
                  <a:sysClr val="windowText" lastClr="000000"/>
                </a:solidFill>
                <a:effectLst/>
                <a:uLnTx/>
                <a:uFillTx/>
                <a:latin typeface="Yu Gothic"/>
                <a:cs typeface="Yu Gothic"/>
              </a:rPr>
              <a:t>原因</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85"/>
              </a:spcBef>
              <a:spcAft>
                <a:spcPts val="0"/>
              </a:spcAft>
              <a:buClrTx/>
              <a:buSzTx/>
              <a:buFontTx/>
              <a:buNone/>
              <a:tabLst/>
              <a:defRPr/>
            </a:pPr>
            <a:r>
              <a:rPr kumimoji="0" lang="en-US" altLang="ja-JP" sz="14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400" b="0" i="0" u="none" strike="noStrike" kern="0" cap="none" spc="0" normalizeH="0" baseline="0" noProof="0" dirty="0">
                <a:ln>
                  <a:noFill/>
                </a:ln>
                <a:solidFill>
                  <a:sysClr val="windowText" lastClr="000000"/>
                </a:solidFill>
                <a:effectLst/>
                <a:uLnTx/>
                <a:uFillTx/>
                <a:latin typeface="Yu Gothic"/>
                <a:cs typeface="Yu Gothic"/>
              </a:rPr>
              <a:t>病気</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400" b="0" i="0" u="none" strike="noStrike" kern="0" cap="none" spc="-10" normalizeH="0" baseline="0" noProof="0" dirty="0">
                <a:ln>
                  <a:noFill/>
                </a:ln>
                <a:solidFill>
                  <a:sysClr val="windowText" lastClr="000000"/>
                </a:solidFill>
                <a:effectLst/>
                <a:uLnTx/>
                <a:uFillTx/>
                <a:latin typeface="Yu Gothic"/>
                <a:cs typeface="Yu Gothic"/>
              </a:rPr>
              <a:t>学校を休む。</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15"/>
              </a:spcBef>
              <a:spcAft>
                <a:spcPts val="0"/>
              </a:spcAft>
              <a:buClrTx/>
              <a:buSzTx/>
              <a:buFont typeface="Arial MT"/>
              <a:buChar char="•"/>
              <a:tabLst>
                <a:tab pos="193675" algn="l"/>
              </a:tabLst>
              <a:defRPr/>
            </a:pP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事態との因果関係</a:t>
            </a:r>
            <a:r>
              <a:rPr lang="ja-JP" altLang="en-US" sz="1200" kern="0" spc="-5" dirty="0">
                <a:solidFill>
                  <a:sysClr val="windowText" lastClr="000000"/>
                </a:solidFill>
                <a:latin typeface="Yu Gothic"/>
                <a:cs typeface="Yu Gothic"/>
              </a:rPr>
              <a:t>が</a:t>
            </a: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客観的</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595"/>
              </a:spcBef>
              <a:spcAft>
                <a:spcPts val="0"/>
              </a:spcAft>
              <a:buClrTx/>
              <a:buSzTx/>
              <a:buFont typeface="Wingdings"/>
              <a:buChar char=""/>
              <a:tabLst>
                <a:tab pos="240665" algn="l"/>
              </a:tabLst>
              <a:defRPr/>
            </a:pPr>
            <a:r>
              <a:rPr kumimoji="0" lang="ja-JP" altLang="en-US" sz="1600" b="1" i="0" u="none" strike="noStrike" kern="0" cap="none" spc="-40" normalizeH="0" baseline="0" noProof="0" dirty="0">
                <a:ln>
                  <a:noFill/>
                </a:ln>
                <a:solidFill>
                  <a:sysClr val="windowText" lastClr="000000"/>
                </a:solidFill>
                <a:effectLst/>
                <a:uLnTx/>
                <a:uFillTx/>
                <a:latin typeface="Yu Gothic"/>
                <a:cs typeface="Yu Gothic"/>
              </a:rPr>
              <a:t>理由</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80"/>
              </a:spcBef>
              <a:spcAft>
                <a:spcPts val="0"/>
              </a:spcAft>
              <a:buClrTx/>
              <a:buSzTx/>
              <a:buFontTx/>
              <a:buNone/>
              <a:tabLst/>
              <a:defRPr/>
            </a:pPr>
            <a:r>
              <a:rPr kumimoji="0" lang="en-US" altLang="ja-JP" sz="14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400" b="0" i="0" u="none" strike="noStrike" kern="0" cap="none" spc="0" normalizeH="0" baseline="0" noProof="0" dirty="0">
                <a:ln>
                  <a:noFill/>
                </a:ln>
                <a:solidFill>
                  <a:sysClr val="windowText" lastClr="000000"/>
                </a:solidFill>
                <a:effectLst/>
                <a:uLnTx/>
                <a:uFillTx/>
                <a:latin typeface="Yu Gothic"/>
                <a:cs typeface="Yu Gothic"/>
              </a:rPr>
              <a:t>そういう点</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400" b="0" i="0" u="none" strike="noStrike" kern="0" cap="none" spc="-15" normalizeH="0" baseline="0" noProof="0" dirty="0">
                <a:ln>
                  <a:noFill/>
                </a:ln>
                <a:solidFill>
                  <a:sysClr val="windowText" lastClr="000000"/>
                </a:solidFill>
                <a:effectLst/>
                <a:uLnTx/>
                <a:uFillTx/>
                <a:latin typeface="Yu Gothic"/>
                <a:cs typeface="Yu Gothic"/>
              </a:rPr>
              <a:t>面白いと思う。</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05"/>
              </a:spcBef>
              <a:spcAft>
                <a:spcPts val="0"/>
              </a:spcAft>
              <a:buClrTx/>
              <a:buSzTx/>
              <a:buFont typeface="Wingdings"/>
              <a:buChar char=""/>
              <a:tabLst>
                <a:tab pos="240665" algn="l"/>
              </a:tabLst>
              <a:defRPr/>
            </a:pPr>
            <a:r>
              <a:rPr kumimoji="0" lang="ja-JP" altLang="en-US" sz="1600" b="1" i="0" u="none" strike="noStrike" kern="0" cap="none" spc="-40" normalizeH="0" baseline="0" noProof="0" dirty="0">
                <a:ln>
                  <a:noFill/>
                </a:ln>
                <a:solidFill>
                  <a:sysClr val="windowText" lastClr="000000"/>
                </a:solidFill>
                <a:effectLst/>
                <a:uLnTx/>
                <a:uFillTx/>
                <a:latin typeface="Yu Gothic"/>
                <a:cs typeface="Yu Gothic"/>
              </a:rPr>
              <a:t>根拠</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0"/>
              </a:spcBef>
              <a:spcAft>
                <a:spcPts val="0"/>
              </a:spcAft>
              <a:buClrTx/>
              <a:buSzTx/>
              <a:buFontTx/>
              <a:buNone/>
              <a:tabLst/>
              <a:defRPr/>
            </a:pPr>
            <a:r>
              <a:rPr kumimoji="0" lang="en-US" altLang="ja-JP" sz="14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400" b="0" i="0" u="none" strike="noStrike" kern="0" cap="none" spc="0" normalizeH="0" baseline="0" noProof="0" dirty="0">
                <a:ln>
                  <a:noFill/>
                </a:ln>
                <a:solidFill>
                  <a:sysClr val="windowText" lastClr="000000"/>
                </a:solidFill>
                <a:effectLst/>
                <a:uLnTx/>
                <a:uFillTx/>
                <a:latin typeface="Yu Gothic"/>
                <a:cs typeface="Yu Gothic"/>
              </a:rPr>
              <a:t>試験の結果</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400" b="0" i="0" u="none" strike="noStrike" kern="0" cap="none" spc="-10" normalizeH="0" baseline="0" noProof="0" dirty="0">
                <a:ln>
                  <a:noFill/>
                </a:ln>
                <a:solidFill>
                  <a:sysClr val="windowText" lastClr="000000"/>
                </a:solidFill>
                <a:effectLst/>
                <a:uLnTx/>
                <a:uFillTx/>
                <a:latin typeface="Yu Gothic"/>
                <a:cs typeface="Yu Gothic"/>
              </a:rPr>
              <a:t>判断する。</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15"/>
              </a:spcBef>
              <a:spcAft>
                <a:spcPts val="0"/>
              </a:spcAft>
              <a:buClrTx/>
              <a:buSzTx/>
              <a:buFont typeface="Wingdings"/>
              <a:buChar char=""/>
              <a:tabLst>
                <a:tab pos="240665" algn="l"/>
              </a:tabLst>
              <a:defRPr/>
            </a:pPr>
            <a:r>
              <a:rPr kumimoji="0" lang="ja-JP" altLang="en-US" sz="1600" b="1" i="0" u="none" strike="noStrike" kern="0" cap="none" spc="-40" normalizeH="0" baseline="0" noProof="0" dirty="0">
                <a:ln>
                  <a:noFill/>
                </a:ln>
                <a:solidFill>
                  <a:sysClr val="windowText" lastClr="000000"/>
                </a:solidFill>
                <a:effectLst/>
                <a:uLnTx/>
                <a:uFillTx/>
                <a:latin typeface="Yu Gothic"/>
                <a:cs typeface="Yu Gothic"/>
              </a:rPr>
              <a:t>目的</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0"/>
              </a:spcBef>
              <a:spcAft>
                <a:spcPts val="0"/>
              </a:spcAft>
              <a:buClrTx/>
              <a:buSzTx/>
              <a:buFontTx/>
              <a:buNone/>
              <a:tabLst/>
              <a:defRPr/>
            </a:pPr>
            <a:r>
              <a:rPr kumimoji="0" lang="en-US" altLang="ja-JP" sz="14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400" b="0" i="0" u="none" strike="noStrike" kern="0" cap="none" spc="0" normalizeH="0" baseline="0" noProof="0" dirty="0">
                <a:ln>
                  <a:noFill/>
                </a:ln>
                <a:solidFill>
                  <a:sysClr val="windowText" lastClr="000000"/>
                </a:solidFill>
                <a:effectLst/>
                <a:uLnTx/>
                <a:uFillTx/>
                <a:latin typeface="Yu Gothic"/>
                <a:cs typeface="Yu Gothic"/>
              </a:rPr>
              <a:t>出張</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400" b="0" i="0" u="none" strike="noStrike" kern="0" cap="none" spc="-10" normalizeH="0" baseline="0" noProof="0" dirty="0">
                <a:ln>
                  <a:noFill/>
                </a:ln>
                <a:solidFill>
                  <a:sysClr val="windowText" lastClr="000000"/>
                </a:solidFill>
                <a:effectLst/>
                <a:uLnTx/>
                <a:uFillTx/>
                <a:latin typeface="Yu Gothic"/>
                <a:cs typeface="Yu Gothic"/>
              </a:rPr>
              <a:t>大阪へ行ってきた。</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15"/>
              </a:spcBef>
              <a:spcAft>
                <a:spcPts val="0"/>
              </a:spcAft>
              <a:buClrTx/>
              <a:buSzTx/>
              <a:buFont typeface="Arial MT"/>
              <a:buChar char="•"/>
              <a:tabLst>
                <a:tab pos="193675" algn="l"/>
              </a:tabLst>
              <a:defRPr/>
            </a:pP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その事象を認知する主体に依存するため主観的</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10"/>
              </a:spcBef>
              <a:spcAft>
                <a:spcPts val="0"/>
              </a:spcAft>
              <a:buClrTx/>
              <a:buSzTx/>
              <a:buFont typeface="Wingdings"/>
              <a:buChar char=""/>
              <a:tabLst>
                <a:tab pos="240665" algn="l"/>
              </a:tabLst>
              <a:defRPr/>
            </a:pPr>
            <a:r>
              <a:rPr kumimoji="0" lang="ja-JP" altLang="en-US" sz="1600" b="1" i="0" u="none" strike="noStrike" kern="0" cap="none" spc="-35" normalizeH="0" baseline="0" noProof="0" dirty="0">
                <a:ln>
                  <a:noFill/>
                </a:ln>
                <a:solidFill>
                  <a:sysClr val="windowText" lastClr="000000"/>
                </a:solidFill>
                <a:effectLst/>
                <a:uLnTx/>
                <a:uFillTx/>
                <a:latin typeface="Yu Gothic"/>
                <a:cs typeface="Yu Gothic"/>
              </a:rPr>
              <a:t>構成要素</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0"/>
              </a:spcBef>
              <a:spcAft>
                <a:spcPts val="0"/>
              </a:spcAft>
              <a:buClrTx/>
              <a:buSzTx/>
              <a:buFontTx/>
              <a:buNone/>
              <a:tabLst/>
              <a:defRPr/>
            </a:pPr>
            <a:r>
              <a:rPr kumimoji="0" lang="en-US" altLang="ja-JP" sz="14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400" b="0" i="0" u="none" strike="noStrike" kern="0" cap="none" spc="0" normalizeH="0" baseline="0" noProof="0" dirty="0">
                <a:ln>
                  <a:noFill/>
                </a:ln>
                <a:solidFill>
                  <a:sysClr val="windowText" lastClr="000000"/>
                </a:solidFill>
                <a:effectLst/>
                <a:uLnTx/>
                <a:uFillTx/>
                <a:latin typeface="Yu Gothic"/>
                <a:cs typeface="Yu Gothic"/>
              </a:rPr>
              <a:t>日本の文化というテーマ</a:t>
            </a:r>
            <a:r>
              <a:rPr kumimoji="0" lang="ja-JP" altLang="en-US" sz="1400" b="1" i="0" u="none" strike="noStrike" kern="0" cap="none" spc="-15" normalizeH="0" baseline="0" noProof="0" dirty="0">
                <a:ln>
                  <a:noFill/>
                </a:ln>
                <a:solidFill>
                  <a:sysClr val="windowText" lastClr="000000"/>
                </a:solidFill>
                <a:effectLst/>
                <a:uLnTx/>
                <a:uFillTx/>
                <a:latin typeface="Yu Gothic"/>
                <a:cs typeface="Yu Gothic"/>
              </a:rPr>
              <a:t>で</a:t>
            </a:r>
            <a:r>
              <a:rPr kumimoji="0" lang="ja-JP" altLang="en-US" sz="1400" b="0" i="0" u="none" strike="noStrike" kern="0" cap="none" spc="-20" normalizeH="0" baseline="0" noProof="0" dirty="0">
                <a:ln>
                  <a:noFill/>
                </a:ln>
                <a:solidFill>
                  <a:sysClr val="windowText" lastClr="000000"/>
                </a:solidFill>
                <a:effectLst/>
                <a:uLnTx/>
                <a:uFillTx/>
                <a:latin typeface="Yu Gothic"/>
                <a:cs typeface="Yu Gothic"/>
              </a:rPr>
              <a:t>論文を書いた。</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15"/>
              </a:spcBef>
              <a:spcAft>
                <a:spcPts val="0"/>
              </a:spcAft>
              <a:buClrTx/>
              <a:buSzTx/>
              <a:buFont typeface="Arial MT"/>
              <a:buChar char="•"/>
              <a:tabLst>
                <a:tab pos="193675" algn="l"/>
              </a:tabLst>
              <a:defRPr/>
            </a:pP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「何かが出来上がる元になるもの」を表すことから原因と道具・材料のニュアンスも含有</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887230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kumimoji="0" lang="en-GB"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4. </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認知言語学的分析② </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zh-TW"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役割的背景</a:t>
            </a:r>
            <a:r>
              <a:rPr kumimoji="0" lang="en-US" altLang="zh-TW"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50"/>
              </a:spcBef>
              <a:spcAft>
                <a:spcPts val="0"/>
              </a:spcAft>
              <a:buClrTx/>
              <a:buSzTx/>
              <a:buFontTx/>
              <a:buNone/>
              <a:tabLst/>
              <a:defRPr/>
            </a:pPr>
            <a:r>
              <a:rPr kumimoji="0" lang="en-US" altLang="ja-JP" sz="1600" b="1" i="0" u="none" strike="noStrike" kern="0" cap="none" spc="-10" normalizeH="0" baseline="0" noProof="0" dirty="0">
                <a:ln>
                  <a:noFill/>
                </a:ln>
                <a:solidFill>
                  <a:sysClr val="windowText" lastClr="000000"/>
                </a:solidFill>
                <a:effectLst/>
                <a:uLnTx/>
                <a:uFillTx/>
                <a:latin typeface="Calibri"/>
                <a:cs typeface="Calibri"/>
              </a:rPr>
              <a:t>4-</a:t>
            </a:r>
            <a:r>
              <a:rPr kumimoji="0" lang="en-US" altLang="ja-JP" sz="1600" b="1" i="0" u="none" strike="noStrike" kern="0" cap="none" spc="0" normalizeH="0" baseline="0" noProof="0" dirty="0">
                <a:ln>
                  <a:noFill/>
                </a:ln>
                <a:solidFill>
                  <a:sysClr val="windowText" lastClr="000000"/>
                </a:solidFill>
                <a:effectLst/>
                <a:uLnTx/>
                <a:uFillTx/>
                <a:latin typeface="Calibri"/>
                <a:cs typeface="Calibri"/>
              </a:rPr>
              <a:t>3</a:t>
            </a:r>
            <a:r>
              <a:rPr kumimoji="0" lang="en-US" altLang="ja-JP" sz="1600" b="1"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600" b="1" i="0" u="none" strike="noStrike" kern="0" cap="none" spc="160" normalizeH="0" baseline="0" noProof="0" dirty="0">
                <a:ln>
                  <a:noFill/>
                </a:ln>
                <a:solidFill>
                  <a:sysClr val="windowText" lastClr="000000"/>
                </a:solidFill>
                <a:effectLst/>
                <a:uLnTx/>
                <a:uFillTx/>
                <a:latin typeface="Yu Gothic"/>
                <a:cs typeface="Yu Gothic"/>
              </a:rPr>
              <a:t>道具</a:t>
            </a:r>
            <a:r>
              <a:rPr kumimoji="0" lang="ja-JP" altLang="en-US" sz="1600" b="1"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600" b="1" i="0" u="none" strike="noStrike" kern="0" cap="none" spc="-5" normalizeH="0" baseline="0" noProof="0" dirty="0">
                <a:ln>
                  <a:noFill/>
                </a:ln>
                <a:solidFill>
                  <a:sysClr val="windowText" lastClr="000000"/>
                </a:solidFill>
                <a:effectLst/>
                <a:uLnTx/>
                <a:uFillTx/>
                <a:latin typeface="Calibri"/>
                <a:cs typeface="Calibri"/>
              </a:rPr>
              <a:t>&lt;</a:t>
            </a:r>
            <a:r>
              <a:rPr kumimoji="0" lang="ja-JP" altLang="en-US" sz="1600" b="1" i="0" u="none" strike="noStrike" kern="0" cap="none" spc="-25" normalizeH="0" baseline="0" noProof="0" dirty="0">
                <a:ln>
                  <a:noFill/>
                </a:ln>
                <a:solidFill>
                  <a:sysClr val="windowText" lastClr="000000"/>
                </a:solidFill>
                <a:effectLst/>
                <a:uLnTx/>
                <a:uFillTx/>
                <a:latin typeface="Yu Gothic"/>
                <a:cs typeface="Yu Gothic"/>
              </a:rPr>
              <a:t>道具の抽象化</a:t>
            </a:r>
            <a:r>
              <a:rPr kumimoji="0" lang="en-US" altLang="ja-JP" sz="1600" b="1" i="0" u="none" strike="noStrike" kern="0" cap="none" spc="10" normalizeH="0" baseline="0" noProof="0" dirty="0">
                <a:ln>
                  <a:noFill/>
                </a:ln>
                <a:solidFill>
                  <a:sysClr val="windowText" lastClr="000000"/>
                </a:solidFill>
                <a:effectLst/>
                <a:uLnTx/>
                <a:uFillTx/>
                <a:latin typeface="Calibri"/>
                <a:cs typeface="Calibri"/>
              </a:rPr>
              <a:t>&gt; → </a:t>
            </a:r>
            <a:r>
              <a:rPr kumimoji="0" lang="ja-JP" altLang="en-US" sz="1600" b="1" i="0" u="none" strike="noStrike" kern="0" cap="none" spc="-40" normalizeH="0" baseline="0" noProof="0" dirty="0">
                <a:ln>
                  <a:noFill/>
                </a:ln>
                <a:solidFill>
                  <a:sysClr val="windowText" lastClr="000000"/>
                </a:solidFill>
                <a:effectLst/>
                <a:uLnTx/>
                <a:uFillTx/>
                <a:latin typeface="Yu Gothic"/>
                <a:cs typeface="Yu Gothic"/>
              </a:rPr>
              <a:t>様態</a:t>
            </a:r>
            <a:endParaRPr kumimoji="0" lang="ja-JP" altLang="en-US" sz="16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0"/>
              </a:spcBef>
              <a:spcAft>
                <a:spcPts val="0"/>
              </a:spcAft>
              <a:buClrTx/>
              <a:buSzTx/>
              <a:buFontTx/>
              <a:buNone/>
              <a:tabLst/>
              <a:defRPr/>
            </a:pPr>
            <a:r>
              <a:rPr kumimoji="0" lang="ja-JP" altLang="en-US" sz="1400" b="0" i="0" u="none" strike="noStrike" kern="0" cap="none" spc="-20" normalizeH="0" baseline="0" noProof="0" dirty="0">
                <a:ln>
                  <a:noFill/>
                </a:ln>
                <a:solidFill>
                  <a:sysClr val="windowText" lastClr="000000"/>
                </a:solidFill>
                <a:effectLst/>
                <a:uLnTx/>
                <a:uFillTx/>
                <a:latin typeface="Yu Gothic"/>
                <a:cs typeface="Yu Gothic"/>
              </a:rPr>
              <a:t>以下はいずれも道具が属性として内在化・再起した用法。</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75"/>
              </a:spcBef>
              <a:spcAft>
                <a:spcPts val="0"/>
              </a:spcAft>
              <a:buClrTx/>
              <a:buSzTx/>
              <a:buFont typeface="Wingdings"/>
              <a:buChar char=""/>
              <a:tabLst>
                <a:tab pos="240665" algn="l"/>
              </a:tabLst>
              <a:defRPr/>
            </a:pPr>
            <a:r>
              <a:rPr kumimoji="0" lang="ja-JP" altLang="en-US" sz="1400" b="1" i="0" u="none" strike="noStrike" kern="0" cap="none" spc="-10" normalizeH="0" baseline="0" noProof="0" dirty="0">
                <a:ln>
                  <a:noFill/>
                </a:ln>
                <a:solidFill>
                  <a:sysClr val="windowText" lastClr="000000"/>
                </a:solidFill>
                <a:effectLst/>
                <a:uLnTx/>
                <a:uFillTx/>
                <a:latin typeface="Yu Gothic"/>
                <a:cs typeface="Yu Gothic"/>
              </a:rPr>
              <a:t>動作主の様態</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5"/>
              </a:spcBef>
              <a:spcAft>
                <a:spcPts val="0"/>
              </a:spcAft>
              <a:buClrTx/>
              <a:buSzTx/>
              <a:buFontTx/>
              <a:buNone/>
              <a:tabLst/>
              <a:defRPr/>
            </a:pPr>
            <a:r>
              <a:rPr kumimoji="0" lang="en-US" altLang="ja-JP" sz="12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2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食事は自分</a:t>
            </a:r>
            <a:r>
              <a:rPr kumimoji="0" lang="ja-JP" altLang="en-US" sz="12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200" b="0" i="0" u="none" strike="noStrike" kern="0" cap="none" spc="-10" normalizeH="0" baseline="0" noProof="0" dirty="0">
                <a:ln>
                  <a:noFill/>
                </a:ln>
                <a:solidFill>
                  <a:sysClr val="windowText" lastClr="000000"/>
                </a:solidFill>
                <a:effectLst/>
                <a:uLnTx/>
                <a:uFillTx/>
                <a:latin typeface="Yu Gothic"/>
                <a:cs typeface="Yu Gothic"/>
              </a:rPr>
              <a:t>作っている。</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35"/>
              </a:spcBef>
              <a:spcAft>
                <a:spcPts val="0"/>
              </a:spcAft>
              <a:buClrTx/>
              <a:buSzTx/>
              <a:buFont typeface="Arial MT"/>
              <a:buChar char="•"/>
              <a:tabLst>
                <a:tab pos="193675" algn="l"/>
              </a:tabLst>
              <a:defRPr/>
            </a:pPr>
            <a:r>
              <a:rPr kumimoji="0" lang="ja-JP" altLang="en-US" sz="1100" b="0" i="0" u="none" strike="noStrike" kern="0" cap="none" spc="-5" normalizeH="0" baseline="0" noProof="0" dirty="0">
                <a:ln>
                  <a:noFill/>
                </a:ln>
                <a:solidFill>
                  <a:sysClr val="windowText" lastClr="000000"/>
                </a:solidFill>
                <a:effectLst/>
                <a:uLnTx/>
                <a:uFillTx/>
                <a:latin typeface="Yu Gothic"/>
                <a:cs typeface="Yu Gothic"/>
              </a:rPr>
              <a:t>「自分自身」という道具</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5" normalizeH="0" baseline="0" noProof="0" dirty="0">
                <a:ln>
                  <a:noFill/>
                </a:ln>
                <a:solidFill>
                  <a:sysClr val="windowText" lastClr="000000"/>
                </a:solidFill>
                <a:effectLst/>
                <a:uLnTx/>
                <a:uFillTx/>
                <a:latin typeface="Yu Gothic"/>
                <a:cs typeface="Yu Gothic"/>
              </a:rPr>
              <a:t>再帰的</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20" normalizeH="0" baseline="0" noProof="0" dirty="0">
                <a:ln>
                  <a:noFill/>
                </a:ln>
                <a:solidFill>
                  <a:sysClr val="windowText" lastClr="000000"/>
                </a:solidFill>
                <a:effectLst/>
                <a:uLnTx/>
                <a:uFillTx/>
                <a:latin typeface="Yu Gothic"/>
                <a:cs typeface="Yu Gothic"/>
              </a:rPr>
              <a:t>を使って食事を作るという動作主の様態を表現</a:t>
            </a:r>
            <a:endParaRPr kumimoji="0" lang="ja-JP" altLang="en-US" sz="11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45"/>
              </a:spcBef>
              <a:spcAft>
                <a:spcPts val="0"/>
              </a:spcAft>
              <a:buClrTx/>
              <a:buSzTx/>
              <a:buFont typeface="Arial MT"/>
              <a:buChar char="•"/>
              <a:tabLst>
                <a:tab pos="193675" algn="l"/>
              </a:tabLst>
              <a:defRPr/>
            </a:pPr>
            <a:r>
              <a:rPr kumimoji="0" lang="ja-JP" altLang="en-US" sz="1100" b="0" i="0" u="none" strike="noStrike" kern="0" cap="none" spc="0" normalizeH="0" baseline="0" noProof="0" dirty="0">
                <a:ln>
                  <a:noFill/>
                </a:ln>
                <a:solidFill>
                  <a:sysClr val="windowText" lastClr="000000"/>
                </a:solidFill>
                <a:effectLst/>
                <a:uLnTx/>
                <a:uFillTx/>
                <a:latin typeface="Yu Gothic"/>
                <a:cs typeface="Yu Gothic"/>
              </a:rPr>
              <a:t>主語</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0" normalizeH="0" baseline="0" noProof="0" dirty="0">
                <a:ln>
                  <a:noFill/>
                </a:ln>
                <a:solidFill>
                  <a:sysClr val="windowText" lastClr="000000"/>
                </a:solidFill>
                <a:effectLst/>
                <a:uLnTx/>
                <a:uFillTx/>
                <a:latin typeface="Yu Gothic"/>
                <a:cs typeface="Yu Gothic"/>
              </a:rPr>
              <a:t>省略された「私」</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 = </a:t>
            </a:r>
            <a:r>
              <a:rPr kumimoji="0" lang="ja-JP" altLang="en-US" sz="1100" b="0" i="0" u="none" strike="noStrike" kern="0" cap="none" spc="0" normalizeH="0" baseline="0" noProof="0" dirty="0">
                <a:ln>
                  <a:noFill/>
                </a:ln>
                <a:solidFill>
                  <a:sysClr val="windowText" lastClr="000000"/>
                </a:solidFill>
                <a:effectLst/>
                <a:uLnTx/>
                <a:uFillTx/>
                <a:latin typeface="Yu Gothic"/>
                <a:cs typeface="Yu Gothic"/>
              </a:rPr>
              <a:t>動作主</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0" normalizeH="0" baseline="0" noProof="0" dirty="0">
                <a:ln>
                  <a:noFill/>
                </a:ln>
                <a:solidFill>
                  <a:sysClr val="windowText" lastClr="000000"/>
                </a:solidFill>
                <a:effectLst/>
                <a:uLnTx/>
                <a:uFillTx/>
                <a:latin typeface="Yu Gothic"/>
                <a:cs typeface="Yu Gothic"/>
              </a:rPr>
              <a:t>自分</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10" normalizeH="0" baseline="0" noProof="0" dirty="0">
                <a:ln>
                  <a:noFill/>
                </a:ln>
                <a:solidFill>
                  <a:sysClr val="windowText" lastClr="000000"/>
                </a:solidFill>
                <a:effectLst/>
                <a:uLnTx/>
                <a:uFillTx/>
                <a:latin typeface="Yu Gothic"/>
                <a:cs typeface="Yu Gothic"/>
              </a:rPr>
              <a:t>の関係が成立</a:t>
            </a:r>
            <a:endParaRPr kumimoji="0" lang="ja-JP" altLang="en-US" sz="11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45"/>
              </a:spcBef>
              <a:spcAft>
                <a:spcPts val="0"/>
              </a:spcAft>
              <a:buClrTx/>
              <a:buSzTx/>
              <a:buFont typeface="Wingdings"/>
              <a:buChar char=""/>
              <a:tabLst>
                <a:tab pos="240665" algn="l"/>
              </a:tabLst>
              <a:defRPr/>
            </a:pPr>
            <a:r>
              <a:rPr kumimoji="0" lang="ja-JP" altLang="en-US" sz="1400" b="1" i="0" u="none" strike="noStrike" kern="0" cap="none" spc="-10" normalizeH="0" baseline="0" noProof="0" dirty="0">
                <a:ln>
                  <a:noFill/>
                </a:ln>
                <a:solidFill>
                  <a:sysClr val="windowText" lastClr="000000"/>
                </a:solidFill>
                <a:effectLst/>
                <a:uLnTx/>
                <a:uFillTx/>
                <a:latin typeface="Yu Gothic"/>
                <a:cs typeface="Yu Gothic"/>
              </a:rPr>
              <a:t>被動作者の様態</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en-US" altLang="ja-JP" sz="12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2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小さい音</a:t>
            </a:r>
            <a:r>
              <a:rPr kumimoji="0" lang="ja-JP" altLang="en-US" sz="12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200" b="0" i="0" u="none" strike="noStrike" kern="0" cap="none" spc="-10" normalizeH="0" baseline="0" noProof="0" dirty="0">
                <a:ln>
                  <a:noFill/>
                </a:ln>
                <a:solidFill>
                  <a:sysClr val="windowText" lastClr="000000"/>
                </a:solidFill>
                <a:effectLst/>
                <a:uLnTx/>
                <a:uFillTx/>
                <a:latin typeface="Yu Gothic"/>
                <a:cs typeface="Yu Gothic"/>
              </a:rPr>
              <a:t>音楽を聴く。</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50"/>
              </a:spcBef>
              <a:spcAft>
                <a:spcPts val="0"/>
              </a:spcAft>
              <a:buClrTx/>
              <a:buSzTx/>
              <a:buFont typeface="Arial MT"/>
              <a:buChar char="•"/>
              <a:tabLst>
                <a:tab pos="193675" algn="l"/>
              </a:tabLst>
              <a:defRPr/>
            </a:pPr>
            <a:r>
              <a:rPr kumimoji="0" lang="ja-JP" altLang="en-US" sz="1100" b="0" i="0" u="none" strike="noStrike" kern="0" cap="none" spc="-5" normalizeH="0" baseline="0" noProof="0" dirty="0">
                <a:ln>
                  <a:noFill/>
                </a:ln>
                <a:solidFill>
                  <a:sysClr val="windowText" lastClr="000000"/>
                </a:solidFill>
                <a:effectLst/>
                <a:uLnTx/>
                <a:uFillTx/>
                <a:latin typeface="Yu Gothic"/>
                <a:cs typeface="Yu Gothic"/>
              </a:rPr>
              <a:t>音楽が持つ「音」という道具</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10" normalizeH="0" baseline="0" noProof="0" dirty="0">
                <a:ln>
                  <a:noFill/>
                </a:ln>
                <a:solidFill>
                  <a:sysClr val="windowText" lastClr="000000"/>
                </a:solidFill>
                <a:effectLst/>
                <a:uLnTx/>
                <a:uFillTx/>
                <a:latin typeface="Yu Gothic"/>
                <a:cs typeface="Yu Gothic"/>
              </a:rPr>
              <a:t>内在的</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20" normalizeH="0" baseline="0" noProof="0" dirty="0">
                <a:ln>
                  <a:noFill/>
                </a:ln>
                <a:solidFill>
                  <a:sysClr val="windowText" lastClr="000000"/>
                </a:solidFill>
                <a:effectLst/>
                <a:uLnTx/>
                <a:uFillTx/>
                <a:latin typeface="Yu Gothic"/>
                <a:cs typeface="Yu Gothic"/>
              </a:rPr>
              <a:t>の影響を受けているという被動作者の様態を表現</a:t>
            </a:r>
            <a:endParaRPr kumimoji="0" lang="ja-JP" altLang="en-US" sz="11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45"/>
              </a:spcBef>
              <a:spcAft>
                <a:spcPts val="0"/>
              </a:spcAft>
              <a:buClrTx/>
              <a:buSzTx/>
              <a:buFont typeface="Wingdings"/>
              <a:buChar char=""/>
              <a:tabLst>
                <a:tab pos="240665" algn="l"/>
              </a:tabLst>
              <a:defRPr/>
            </a:pPr>
            <a:r>
              <a:rPr kumimoji="0" lang="ja-JP" altLang="en-US" sz="1400" b="1" i="0" u="none" strike="noStrike" kern="0" cap="none" spc="-10" normalizeH="0" baseline="0" noProof="0" dirty="0">
                <a:ln>
                  <a:noFill/>
                </a:ln>
                <a:solidFill>
                  <a:sysClr val="windowText" lastClr="000000"/>
                </a:solidFill>
                <a:effectLst/>
                <a:uLnTx/>
                <a:uFillTx/>
                <a:latin typeface="Yu Gothic"/>
                <a:cs typeface="Yu Gothic"/>
              </a:rPr>
              <a:t>作用・出来事の様態</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5"/>
              </a:spcBef>
              <a:spcAft>
                <a:spcPts val="0"/>
              </a:spcAft>
              <a:buClrTx/>
              <a:buSzTx/>
              <a:buFontTx/>
              <a:buNone/>
              <a:tabLst/>
              <a:defRPr/>
            </a:pPr>
            <a:r>
              <a:rPr kumimoji="0" lang="en-US" altLang="ja-JP" sz="12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2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猛スピード</a:t>
            </a:r>
            <a:r>
              <a:rPr kumimoji="0" lang="ja-JP" altLang="en-US" sz="12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200" b="0" i="0" u="none" strike="noStrike" kern="0" cap="none" spc="-10" normalizeH="0" baseline="0" noProof="0" dirty="0">
                <a:ln>
                  <a:noFill/>
                </a:ln>
                <a:solidFill>
                  <a:sysClr val="windowText" lastClr="000000"/>
                </a:solidFill>
                <a:effectLst/>
                <a:uLnTx/>
                <a:uFillTx/>
                <a:latin typeface="Yu Gothic"/>
                <a:cs typeface="Yu Gothic"/>
              </a:rPr>
              <a:t>走っている。</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50"/>
              </a:spcBef>
              <a:spcAft>
                <a:spcPts val="0"/>
              </a:spcAft>
              <a:buClrTx/>
              <a:buSzTx/>
              <a:buFont typeface="Arial MT"/>
              <a:buChar char="•"/>
              <a:tabLst>
                <a:tab pos="193675" algn="l"/>
              </a:tabLst>
              <a:defRPr/>
            </a:pPr>
            <a:r>
              <a:rPr kumimoji="0" lang="ja-JP" altLang="en-US" sz="1100" b="0" i="0" u="none" strike="noStrike" kern="0" cap="none" spc="-5" normalizeH="0" baseline="0" noProof="0" dirty="0">
                <a:ln>
                  <a:noFill/>
                </a:ln>
                <a:solidFill>
                  <a:sysClr val="windowText" lastClr="000000"/>
                </a:solidFill>
                <a:effectLst/>
                <a:uLnTx/>
                <a:uFillTx/>
                <a:latin typeface="Yu Gothic"/>
                <a:cs typeface="Yu Gothic"/>
              </a:rPr>
              <a:t>「スピード」という道具</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5" normalizeH="0" baseline="0" noProof="0" dirty="0">
                <a:ln>
                  <a:noFill/>
                </a:ln>
                <a:solidFill>
                  <a:sysClr val="windowText" lastClr="000000"/>
                </a:solidFill>
                <a:effectLst/>
                <a:uLnTx/>
                <a:uFillTx/>
                <a:latin typeface="Yu Gothic"/>
                <a:cs typeface="Yu Gothic"/>
              </a:rPr>
              <a:t>内在的</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20" normalizeH="0" baseline="0" noProof="0" dirty="0">
                <a:ln>
                  <a:noFill/>
                </a:ln>
                <a:solidFill>
                  <a:sysClr val="windowText" lastClr="000000"/>
                </a:solidFill>
                <a:effectLst/>
                <a:uLnTx/>
                <a:uFillTx/>
                <a:latin typeface="Yu Gothic"/>
                <a:cs typeface="Yu Gothic"/>
              </a:rPr>
              <a:t>を使って走るとことが成り立っているという作用・出来事の様態を表現</a:t>
            </a:r>
            <a:endParaRPr kumimoji="0" lang="ja-JP" altLang="en-US" sz="1100" b="0" i="0" u="none" strike="noStrike" kern="0" cap="none" spc="0" normalizeH="0" baseline="0" noProof="0" dirty="0">
              <a:ln>
                <a:noFill/>
              </a:ln>
              <a:solidFill>
                <a:sysClr val="windowText" lastClr="000000"/>
              </a:solidFill>
              <a:effectLst/>
              <a:uLnTx/>
              <a:uFillTx/>
              <a:latin typeface="Yu Gothic"/>
              <a:cs typeface="Yu Gothic"/>
            </a:endParaRPr>
          </a:p>
          <a:p>
            <a:pPr marL="240665" marR="0" lvl="0" indent="-227965" defTabSz="914400" eaLnBrk="1" fontAlgn="auto" latinLnBrk="0" hangingPunct="1">
              <a:lnSpc>
                <a:spcPct val="100000"/>
              </a:lnSpc>
              <a:spcBef>
                <a:spcPts val="650"/>
              </a:spcBef>
              <a:spcAft>
                <a:spcPts val="0"/>
              </a:spcAft>
              <a:buClrTx/>
              <a:buSzTx/>
              <a:buFont typeface="Wingdings"/>
              <a:buChar char=""/>
              <a:tabLst>
                <a:tab pos="240665" algn="l"/>
              </a:tabLst>
              <a:defRPr/>
            </a:pPr>
            <a:r>
              <a:rPr kumimoji="0" lang="ja-JP" altLang="en-US" sz="1400" b="1" i="0" u="none" strike="noStrike" kern="0" cap="none" spc="-15" normalizeH="0" baseline="0" noProof="0" dirty="0">
                <a:ln>
                  <a:noFill/>
                </a:ln>
                <a:solidFill>
                  <a:sysClr val="windowText" lastClr="000000"/>
                </a:solidFill>
                <a:effectLst/>
                <a:uLnTx/>
                <a:uFillTx/>
                <a:latin typeface="Yu Gothic"/>
                <a:cs typeface="Yu Gothic"/>
              </a:rPr>
              <a:t>数量限定</a:t>
            </a:r>
            <a:endParaRPr kumimoji="0" lang="ja-JP" altLang="en-US" sz="1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5"/>
              </a:spcBef>
              <a:spcAft>
                <a:spcPts val="0"/>
              </a:spcAft>
              <a:buClrTx/>
              <a:buSzTx/>
              <a:buFontTx/>
              <a:buNone/>
              <a:tabLst/>
              <a:defRPr/>
            </a:pPr>
            <a:r>
              <a:rPr kumimoji="0" lang="en-US" altLang="ja-JP" sz="1200" b="0" i="0" u="none" strike="noStrike" kern="0" cap="none" spc="0" normalizeH="0" baseline="0" noProof="0" dirty="0">
                <a:ln>
                  <a:noFill/>
                </a:ln>
                <a:solidFill>
                  <a:sysClr val="windowText" lastClr="000000"/>
                </a:solidFill>
                <a:effectLst/>
                <a:uLnTx/>
                <a:uFillTx/>
                <a:latin typeface="Calibri"/>
                <a:cs typeface="Calibri"/>
              </a:rPr>
              <a:t>e.g.</a:t>
            </a:r>
            <a:r>
              <a:rPr kumimoji="0" lang="en-US" altLang="ja-JP" sz="12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200" b="0" i="0" u="none" strike="noStrike" kern="0" cap="none" spc="-5" normalizeH="0" baseline="0" noProof="0" dirty="0">
                <a:ln>
                  <a:noFill/>
                </a:ln>
                <a:solidFill>
                  <a:sysClr val="windowText" lastClr="000000"/>
                </a:solidFill>
                <a:effectLst/>
                <a:uLnTx/>
                <a:uFillTx/>
                <a:latin typeface="Yu Gothic"/>
                <a:cs typeface="Yu Gothic"/>
              </a:rPr>
              <a:t>この部屋は</a:t>
            </a:r>
            <a:r>
              <a:rPr kumimoji="0" lang="en-US" altLang="ja-JP" sz="1200" b="0" i="0" u="none" strike="noStrike" kern="0" cap="none" spc="-10" normalizeH="0" baseline="0" noProof="0" dirty="0">
                <a:ln>
                  <a:noFill/>
                </a:ln>
                <a:solidFill>
                  <a:sysClr val="windowText" lastClr="000000"/>
                </a:solidFill>
                <a:effectLst/>
                <a:uLnTx/>
                <a:uFillTx/>
                <a:latin typeface="Calibri"/>
                <a:cs typeface="Calibri"/>
              </a:rPr>
              <a:t>30</a:t>
            </a:r>
            <a:r>
              <a:rPr kumimoji="0" lang="ja-JP" altLang="en-US" sz="1200" b="0" i="0" u="none" strike="noStrike" kern="0" cap="none" spc="0" normalizeH="0" baseline="0" noProof="0" dirty="0">
                <a:ln>
                  <a:noFill/>
                </a:ln>
                <a:solidFill>
                  <a:sysClr val="windowText" lastClr="000000"/>
                </a:solidFill>
                <a:effectLst/>
                <a:uLnTx/>
                <a:uFillTx/>
                <a:latin typeface="Yu Gothic"/>
                <a:cs typeface="Yu Gothic"/>
              </a:rPr>
              <a:t>人</a:t>
            </a:r>
            <a:r>
              <a:rPr kumimoji="0" lang="ja-JP" altLang="en-US" sz="12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200" b="0" i="0" u="none" strike="noStrike" kern="0" cap="none" spc="-10" normalizeH="0" baseline="0" noProof="0" dirty="0">
                <a:ln>
                  <a:noFill/>
                </a:ln>
                <a:solidFill>
                  <a:sysClr val="windowText" lastClr="000000"/>
                </a:solidFill>
                <a:effectLst/>
                <a:uLnTx/>
                <a:uFillTx/>
                <a:latin typeface="Yu Gothic"/>
                <a:cs typeface="Yu Gothic"/>
              </a:rPr>
              <a:t>いっぱいになる。</a:t>
            </a:r>
            <a:endParaRPr kumimoji="0" lang="ja-JP" altLang="en-US" sz="12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ct val="100000"/>
              </a:lnSpc>
              <a:spcBef>
                <a:spcPts val="750"/>
              </a:spcBef>
              <a:spcAft>
                <a:spcPts val="0"/>
              </a:spcAft>
              <a:buClrTx/>
              <a:buSzTx/>
              <a:buFont typeface="Arial MT"/>
              <a:buChar char="•"/>
              <a:tabLst>
                <a:tab pos="193675" algn="l"/>
              </a:tabLst>
              <a:defRPr/>
            </a:pPr>
            <a:r>
              <a:rPr kumimoji="0" lang="ja-JP" altLang="en-US" sz="1100" b="0" i="0" u="none" strike="noStrike" kern="0" cap="none" spc="0" normalizeH="0" baseline="0" noProof="0" dirty="0">
                <a:ln>
                  <a:noFill/>
                </a:ln>
                <a:solidFill>
                  <a:sysClr val="windowText" lastClr="000000"/>
                </a:solidFill>
                <a:effectLst/>
                <a:uLnTx/>
                <a:uFillTx/>
                <a:latin typeface="Yu Gothic"/>
                <a:cs typeface="Yu Gothic"/>
              </a:rPr>
              <a:t>部屋を満たすための</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30</a:t>
            </a:r>
            <a:r>
              <a:rPr kumimoji="0" lang="ja-JP" altLang="en-US" sz="1100" b="0" i="0" u="none" strike="noStrike" kern="0" cap="none" spc="-15" normalizeH="0" baseline="0" noProof="0" dirty="0">
                <a:ln>
                  <a:noFill/>
                </a:ln>
                <a:solidFill>
                  <a:sysClr val="windowText" lastClr="000000"/>
                </a:solidFill>
                <a:effectLst/>
                <a:uLnTx/>
                <a:uFillTx/>
                <a:latin typeface="Yu Gothic"/>
                <a:cs typeface="Yu Gothic"/>
              </a:rPr>
              <a:t>人という道具</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10" normalizeH="0" baseline="0" noProof="0" dirty="0">
                <a:ln>
                  <a:noFill/>
                </a:ln>
                <a:solidFill>
                  <a:sysClr val="windowText" lastClr="000000"/>
                </a:solidFill>
                <a:effectLst/>
                <a:uLnTx/>
                <a:uFillTx/>
                <a:latin typeface="Yu Gothic"/>
                <a:cs typeface="Yu Gothic"/>
              </a:rPr>
              <a:t>外在的</a:t>
            </a:r>
            <a:r>
              <a:rPr kumimoji="0" lang="en-US" altLang="ja-JP" sz="11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100" b="0" i="0" u="none" strike="noStrike" kern="0" cap="none" spc="-25" normalizeH="0" baseline="0" noProof="0" dirty="0">
                <a:ln>
                  <a:noFill/>
                </a:ln>
                <a:solidFill>
                  <a:sysClr val="windowText" lastClr="000000"/>
                </a:solidFill>
                <a:effectLst/>
                <a:uLnTx/>
                <a:uFillTx/>
                <a:latin typeface="Yu Gothic"/>
                <a:cs typeface="Yu Gothic"/>
              </a:rPr>
              <a:t>を表す用法</a:t>
            </a:r>
            <a:endParaRPr kumimoji="0" lang="ja-JP" altLang="en-US" sz="11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484552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5. </a:t>
            </a:r>
            <a:r>
              <a:rPr lang="ja-JP" altLang="en-US" b="1" dirty="0">
                <a:latin typeface="Calibri (Headings)"/>
              </a:rPr>
              <a:t>「みんなで」の「で」の正体</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5164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「みんなで」の「で」の正体</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「明日空港にみんな</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35" normalizeH="0" baseline="0" noProof="0" dirty="0">
                <a:ln>
                  <a:noFill/>
                </a:ln>
                <a:solidFill>
                  <a:sysClr val="windowText" lastClr="000000"/>
                </a:solidFill>
                <a:effectLst/>
                <a:uLnTx/>
                <a:uFillTx/>
                <a:latin typeface="Yu Gothic"/>
                <a:cs typeface="Yu Gothic"/>
              </a:rPr>
              <a:t>あなたを迎えに行きます。」</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3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上記文中の格助詞「で」は、以下のいずれかの用法である。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ct val="100000"/>
              </a:lnSpc>
              <a:spcBef>
                <a:spcPts val="705"/>
              </a:spcBef>
              <a:spcAft>
                <a:spcPts val="0"/>
              </a:spcAft>
              <a:buClrTx/>
              <a:buSzPct val="116666"/>
              <a:buFont typeface="Arial MT"/>
              <a:buChar char="•"/>
              <a:tabLst>
                <a:tab pos="280035" algn="l"/>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空間的背景の動作主</a:t>
            </a:r>
            <a:r>
              <a:rPr kumimoji="0" lang="en-US" altLang="ja-JP" sz="2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「その事件は警察</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調べている。」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ct val="100000"/>
              </a:lnSpc>
              <a:spcBef>
                <a:spcPts val="710"/>
              </a:spcBef>
              <a:spcAft>
                <a:spcPts val="0"/>
              </a:spcAft>
              <a:buClrTx/>
              <a:buSzPct val="116666"/>
              <a:buFont typeface="Arial MT"/>
              <a:buChar char="•"/>
              <a:tabLst>
                <a:tab pos="280035" algn="l"/>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役割的背景の動作主の様態</a:t>
            </a:r>
            <a:r>
              <a:rPr kumimoji="0" lang="en-US" altLang="ja-JP" sz="2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「食事は自分</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作っている。」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3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上記二つの用法の違いは、</a:t>
            </a:r>
            <a:r>
              <a:rPr kumimoji="0" lang="ja-JP" altLang="en-US" sz="2400" b="1" i="0" u="none" strike="noStrike" kern="0" cap="none" spc="270" normalizeH="0" baseline="0" noProof="0" dirty="0">
                <a:ln>
                  <a:noFill/>
                </a:ln>
                <a:solidFill>
                  <a:sysClr val="windowText" lastClr="000000"/>
                </a:solidFill>
                <a:effectLst/>
                <a:uLnTx/>
                <a:uFillTx/>
                <a:latin typeface="Yu Gothic"/>
                <a:cs typeface="Yu Gothic"/>
              </a:rPr>
              <a:t>主語</a:t>
            </a:r>
            <a:r>
              <a:rPr kumimoji="0" lang="en-US" altLang="ja-JP" sz="2400" b="1"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動作主</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の関係が成立するか否か。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787677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「みんなで」の「で」の正体</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省略された主語を補うと、それぞれ以下の通り。</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ct val="100000"/>
              </a:lnSpc>
              <a:spcBef>
                <a:spcPts val="800"/>
              </a:spcBef>
              <a:spcAft>
                <a:spcPts val="0"/>
              </a:spcAft>
              <a:buClrTx/>
              <a:buSzPct val="155555"/>
              <a:buFont typeface="Arial MT"/>
              <a:buChar char="•"/>
              <a:tabLst>
                <a:tab pos="280035" algn="l"/>
              </a:tabLst>
              <a:defRPr/>
            </a:pP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a:t>
            </a:r>
            <a:r>
              <a:rPr kumimoji="0" lang="en-US" altLang="ja-JP" sz="1800" b="0" i="0" u="sng" strike="noStrike" kern="0" cap="none" spc="-25" normalizeH="0" baseline="0" noProof="0" dirty="0">
                <a:ln>
                  <a:noFill/>
                </a:ln>
                <a:solidFill>
                  <a:sysClr val="windowText" lastClr="000000"/>
                </a:solidFill>
                <a:effectLst/>
                <a:uLnTx/>
                <a:uFill>
                  <a:solidFill>
                    <a:srgbClr val="000000"/>
                  </a:solidFill>
                </a:uFill>
                <a:latin typeface="Calibri"/>
                <a:cs typeface="Calibri"/>
              </a:rPr>
              <a:t>(</a:t>
            </a:r>
            <a:r>
              <a:rPr kumimoji="0" lang="ja-JP" altLang="en-US" sz="1800" b="0" i="0" u="sng" strike="noStrike" kern="0" cap="none" spc="-10" normalizeH="0" baseline="0" noProof="0" dirty="0">
                <a:ln>
                  <a:noFill/>
                </a:ln>
                <a:solidFill>
                  <a:sysClr val="windowText" lastClr="000000"/>
                </a:solidFill>
                <a:effectLst/>
                <a:uLnTx/>
                <a:uFill>
                  <a:solidFill>
                    <a:srgbClr val="000000"/>
                  </a:solidFill>
                </a:uFill>
                <a:latin typeface="Yu Gothic"/>
                <a:cs typeface="Yu Gothic"/>
              </a:rPr>
              <a:t>私は</a:t>
            </a:r>
            <a:r>
              <a:rPr kumimoji="0" lang="en-US" altLang="ja-JP" sz="1800" b="0" i="0" u="sng" strike="noStrike" kern="0" cap="none" spc="-25" normalizeH="0" baseline="0" noProof="0" dirty="0">
                <a:ln>
                  <a:noFill/>
                </a:ln>
                <a:solidFill>
                  <a:sysClr val="windowText" lastClr="000000"/>
                </a:solidFill>
                <a:effectLst/>
                <a:uLnTx/>
                <a:uFill>
                  <a:solidFill>
                    <a:srgbClr val="000000"/>
                  </a:solidFill>
                </a:uFill>
                <a:latin typeface="Calibri"/>
                <a:cs typeface="Calibri"/>
              </a:rPr>
              <a:t>)</a:t>
            </a: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明日空港にみんな</a:t>
            </a:r>
            <a:r>
              <a:rPr kumimoji="0" lang="ja-JP" altLang="en-US" sz="1800" b="1" i="0" u="none" strike="noStrike" kern="0" cap="none" spc="-10" normalizeH="0" baseline="0" noProof="0" dirty="0">
                <a:ln>
                  <a:noFill/>
                </a:ln>
                <a:solidFill>
                  <a:sysClr val="windowText" lastClr="000000"/>
                </a:solidFill>
                <a:effectLst/>
                <a:uLnTx/>
                <a:uFillTx/>
                <a:latin typeface="Yu Gothic"/>
                <a:cs typeface="Yu Gothic"/>
              </a:rPr>
              <a:t>で</a:t>
            </a:r>
            <a:r>
              <a:rPr kumimoji="0" lang="ja-JP" altLang="en-US" sz="1800" b="0" i="0" u="none" strike="noStrike" kern="0" cap="none" spc="-15" normalizeH="0" baseline="0" noProof="0" dirty="0">
                <a:ln>
                  <a:noFill/>
                </a:ln>
                <a:solidFill>
                  <a:sysClr val="windowText" lastClr="000000"/>
                </a:solidFill>
                <a:effectLst/>
                <a:uLnTx/>
                <a:uFillTx/>
                <a:latin typeface="Yu Gothic"/>
                <a:cs typeface="Yu Gothic"/>
              </a:rPr>
              <a:t>あなたを迎えに行きます。」</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737235" marR="0" lvl="1" indent="-267335" defTabSz="914400" eaLnBrk="1" fontAlgn="auto" latinLnBrk="0" hangingPunct="1">
              <a:lnSpc>
                <a:spcPct val="100000"/>
              </a:lnSpc>
              <a:spcBef>
                <a:spcPts val="365"/>
              </a:spcBef>
              <a:spcAft>
                <a:spcPts val="0"/>
              </a:spcAft>
              <a:buClrTx/>
              <a:buSzPct val="200000"/>
              <a:buFont typeface="Arial MT"/>
              <a:buChar char="•"/>
              <a:tabLst>
                <a:tab pos="737235" algn="l"/>
              </a:tabLst>
              <a:defRPr/>
            </a:pPr>
            <a:r>
              <a:rPr kumimoji="0" lang="ja-JP" altLang="en-US" sz="14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主語</a:t>
            </a:r>
            <a:r>
              <a:rPr kumimoji="0" lang="en-US" altLang="ja-JP" sz="1400" b="1"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私</a:t>
            </a:r>
            <a:r>
              <a:rPr kumimoji="0" lang="en-US" altLang="ja-JP" sz="1400" b="1" i="0" u="none" strike="noStrike" kern="0" cap="none" spc="-10" normalizeH="0" baseline="0" noProof="0" dirty="0">
                <a:ln>
                  <a:noFill/>
                </a:ln>
                <a:solidFill>
                  <a:sysClr val="windowText" lastClr="000000"/>
                </a:solidFill>
                <a:effectLst/>
                <a:uLnTx/>
                <a:uFillTx/>
                <a:latin typeface="Calibri"/>
                <a:cs typeface="Calibri"/>
              </a:rPr>
              <a:t>) ≠ </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動作主</a:t>
            </a:r>
            <a:r>
              <a:rPr kumimoji="0" lang="en-US" altLang="ja-JP" sz="1400" b="1"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みんな</a:t>
            </a:r>
            <a:r>
              <a:rPr kumimoji="0" lang="en-US" altLang="ja-JP" sz="1400" b="1"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400" b="0" i="0" u="none" strike="noStrike" kern="0" cap="none" spc="0" normalizeH="0" baseline="0" noProof="0" dirty="0">
              <a:ln>
                <a:noFill/>
              </a:ln>
              <a:solidFill>
                <a:sysClr val="windowText" lastClr="000000"/>
              </a:solidFill>
              <a:effectLst/>
              <a:uLnTx/>
              <a:uFillTx/>
              <a:latin typeface="Calibri"/>
              <a:cs typeface="Calibri"/>
            </a:endParaRPr>
          </a:p>
          <a:p>
            <a:pPr marL="280035" marR="0" lvl="0" indent="-267335" defTabSz="914400" eaLnBrk="1" fontAlgn="auto" latinLnBrk="0" hangingPunct="1">
              <a:lnSpc>
                <a:spcPct val="100000"/>
              </a:lnSpc>
              <a:spcBef>
                <a:spcPts val="750"/>
              </a:spcBef>
              <a:spcAft>
                <a:spcPts val="0"/>
              </a:spcAft>
              <a:buClrTx/>
              <a:buSzPct val="155555"/>
              <a:buFont typeface="Arial MT"/>
              <a:buChar char="•"/>
              <a:tabLst>
                <a:tab pos="280035" algn="l"/>
              </a:tabLst>
              <a:defRPr/>
            </a:pP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空間的背景の動作主</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1800" b="0" i="0" u="sng" strike="noStrike" kern="0" cap="none" spc="-5" normalizeH="0" baseline="0" noProof="0" dirty="0">
                <a:ln>
                  <a:noFill/>
                </a:ln>
                <a:solidFill>
                  <a:sysClr val="windowText" lastClr="000000"/>
                </a:solidFill>
                <a:effectLst/>
                <a:uLnTx/>
                <a:uFill>
                  <a:solidFill>
                    <a:srgbClr val="000000"/>
                  </a:solidFill>
                </a:uFill>
                <a:latin typeface="Yu Gothic"/>
                <a:cs typeface="Yu Gothic"/>
              </a:rPr>
              <a:t>その事件は</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警察</a:t>
            </a:r>
            <a:r>
              <a:rPr kumimoji="0" lang="ja-JP" altLang="en-US" sz="18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調べている。」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737235" marR="0" lvl="1" indent="-267335" defTabSz="914400" eaLnBrk="1" fontAlgn="auto" latinLnBrk="0" hangingPunct="1">
              <a:lnSpc>
                <a:spcPct val="100000"/>
              </a:lnSpc>
              <a:spcBef>
                <a:spcPts val="365"/>
              </a:spcBef>
              <a:spcAft>
                <a:spcPts val="0"/>
              </a:spcAft>
              <a:buClrTx/>
              <a:buSzPct val="200000"/>
              <a:buFont typeface="Arial MT"/>
              <a:buChar char="•"/>
              <a:tabLst>
                <a:tab pos="737235" algn="l"/>
              </a:tabLst>
              <a:defRPr/>
            </a:pPr>
            <a:r>
              <a:rPr kumimoji="0" lang="ja-JP" altLang="en-US" sz="14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主語</a:t>
            </a:r>
            <a:r>
              <a:rPr kumimoji="0" lang="en-US" altLang="ja-JP" sz="1400" b="1"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その事件</a:t>
            </a:r>
            <a:r>
              <a:rPr kumimoji="0" lang="en-US" altLang="ja-JP" sz="1400" b="1" i="0" u="none" strike="noStrike" kern="0" cap="none" spc="-10" normalizeH="0" baseline="0" noProof="0" dirty="0">
                <a:ln>
                  <a:noFill/>
                </a:ln>
                <a:solidFill>
                  <a:sysClr val="windowText" lastClr="000000"/>
                </a:solidFill>
                <a:effectLst/>
                <a:uLnTx/>
                <a:uFillTx/>
                <a:latin typeface="Calibri"/>
                <a:cs typeface="Calibri"/>
              </a:rPr>
              <a:t>) ≠ </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動作主</a:t>
            </a:r>
            <a:r>
              <a:rPr kumimoji="0" lang="en-US" altLang="ja-JP" sz="1400" b="1"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警察</a:t>
            </a:r>
            <a:r>
              <a:rPr kumimoji="0" lang="en-US" altLang="ja-JP" sz="1400" b="1"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400" b="0" i="0" u="none" strike="noStrike" kern="0" cap="none" spc="0" normalizeH="0" baseline="0" noProof="0" dirty="0">
              <a:ln>
                <a:noFill/>
              </a:ln>
              <a:solidFill>
                <a:sysClr val="windowText" lastClr="000000"/>
              </a:solidFill>
              <a:effectLst/>
              <a:uLnTx/>
              <a:uFillTx/>
              <a:latin typeface="Calibri"/>
              <a:cs typeface="Calibri"/>
            </a:endParaRPr>
          </a:p>
          <a:p>
            <a:pPr marL="280035" marR="0" lvl="0" indent="-267335" defTabSz="914400" eaLnBrk="1" fontAlgn="auto" latinLnBrk="0" hangingPunct="1">
              <a:lnSpc>
                <a:spcPct val="100000"/>
              </a:lnSpc>
              <a:spcBef>
                <a:spcPts val="755"/>
              </a:spcBef>
              <a:spcAft>
                <a:spcPts val="0"/>
              </a:spcAft>
              <a:buClrTx/>
              <a:buSzPct val="155555"/>
              <a:buFont typeface="Arial MT"/>
              <a:buChar char="•"/>
              <a:tabLst>
                <a:tab pos="280035" algn="l"/>
              </a:tabLst>
              <a:defRPr/>
            </a:pP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役割的背景の動作主の様態</a:t>
            </a:r>
            <a:r>
              <a:rPr kumimoji="0" lang="en-US" altLang="ja-JP" sz="1800" b="0" i="0" u="none" strike="noStrike" kern="0" cap="none" spc="7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405" normalizeH="0" baseline="0" noProof="0" dirty="0">
                <a:ln>
                  <a:noFill/>
                </a:ln>
                <a:solidFill>
                  <a:sysClr val="windowText" lastClr="000000"/>
                </a:solidFill>
                <a:effectLst/>
                <a:uLnTx/>
                <a:uFillTx/>
                <a:latin typeface="Yu Gothic"/>
                <a:cs typeface="Yu Gothic"/>
              </a:rPr>
              <a:t>「</a:t>
            </a:r>
            <a:r>
              <a:rPr kumimoji="0" lang="en-US" altLang="ja-JP" sz="1800" b="0" i="0" u="sng" strike="noStrike" kern="0" cap="none" spc="-25" normalizeH="0" baseline="0" noProof="0" dirty="0">
                <a:ln>
                  <a:noFill/>
                </a:ln>
                <a:solidFill>
                  <a:sysClr val="windowText" lastClr="000000"/>
                </a:solidFill>
                <a:effectLst/>
                <a:uLnTx/>
                <a:uFill>
                  <a:solidFill>
                    <a:srgbClr val="000000"/>
                  </a:solidFill>
                </a:uFill>
                <a:latin typeface="Calibri"/>
                <a:cs typeface="Calibri"/>
              </a:rPr>
              <a:t>(</a:t>
            </a:r>
            <a:r>
              <a:rPr kumimoji="0" lang="ja-JP" altLang="en-US" sz="1800" b="0" i="0" u="sng" strike="noStrike" kern="0" cap="none" spc="-10" normalizeH="0" baseline="0" noProof="0" dirty="0">
                <a:ln>
                  <a:noFill/>
                </a:ln>
                <a:solidFill>
                  <a:sysClr val="windowText" lastClr="000000"/>
                </a:solidFill>
                <a:effectLst/>
                <a:uLnTx/>
                <a:uFill>
                  <a:solidFill>
                    <a:srgbClr val="000000"/>
                  </a:solidFill>
                </a:uFill>
                <a:latin typeface="Yu Gothic"/>
                <a:cs typeface="Yu Gothic"/>
              </a:rPr>
              <a:t>私は</a:t>
            </a:r>
            <a:r>
              <a:rPr kumimoji="0" lang="en-US" altLang="ja-JP" sz="1800" b="0" i="0" u="sng" strike="noStrike" kern="0" cap="none" spc="-25" normalizeH="0" baseline="0" noProof="0" dirty="0">
                <a:ln>
                  <a:noFill/>
                </a:ln>
                <a:solidFill>
                  <a:sysClr val="windowText" lastClr="000000"/>
                </a:solidFill>
                <a:effectLst/>
                <a:uLnTx/>
                <a:uFill>
                  <a:solidFill>
                    <a:srgbClr val="000000"/>
                  </a:solidFill>
                </a:uFill>
                <a:latin typeface="Calibri"/>
                <a:cs typeface="Calibri"/>
              </a:rPr>
              <a:t>)</a:t>
            </a: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食事は自分</a:t>
            </a:r>
            <a:r>
              <a:rPr kumimoji="0" lang="ja-JP" altLang="en-US" sz="1800" b="1" i="0" u="none" strike="noStrike" kern="0" cap="none" spc="-10" normalizeH="0" baseline="0" noProof="0" dirty="0">
                <a:ln>
                  <a:noFill/>
                </a:ln>
                <a:solidFill>
                  <a:sysClr val="windowText" lastClr="000000"/>
                </a:solidFill>
                <a:effectLst/>
                <a:uLnTx/>
                <a:uFillTx/>
                <a:latin typeface="Yu Gothic"/>
                <a:cs typeface="Yu Gothic"/>
              </a:rPr>
              <a:t>で</a:t>
            </a:r>
            <a:r>
              <a:rPr kumimoji="0" lang="ja-JP" altLang="en-US" sz="1800" b="0" i="0" u="none" strike="noStrike" kern="0" cap="none" spc="-20" normalizeH="0" baseline="0" noProof="0" dirty="0">
                <a:ln>
                  <a:noFill/>
                </a:ln>
                <a:solidFill>
                  <a:sysClr val="windowText" lastClr="000000"/>
                </a:solidFill>
                <a:effectLst/>
                <a:uLnTx/>
                <a:uFillTx/>
                <a:latin typeface="Yu Gothic"/>
                <a:cs typeface="Yu Gothic"/>
              </a:rPr>
              <a:t>作っている。」</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737235" marR="0" lvl="1" indent="-267335" defTabSz="914400" eaLnBrk="1" fontAlgn="auto" latinLnBrk="0" hangingPunct="1">
              <a:lnSpc>
                <a:spcPct val="100000"/>
              </a:lnSpc>
              <a:spcBef>
                <a:spcPts val="365"/>
              </a:spcBef>
              <a:spcAft>
                <a:spcPts val="0"/>
              </a:spcAft>
              <a:buClrTx/>
              <a:buSzPct val="200000"/>
              <a:buFont typeface="Arial MT"/>
              <a:buChar char="•"/>
              <a:tabLst>
                <a:tab pos="737235" algn="l"/>
              </a:tabLst>
              <a:defRPr/>
            </a:pPr>
            <a:r>
              <a:rPr kumimoji="0" lang="ja-JP" altLang="en-US" sz="14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主語</a:t>
            </a:r>
            <a:r>
              <a:rPr kumimoji="0" lang="en-US" altLang="ja-JP" sz="1400" b="1"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私</a:t>
            </a:r>
            <a:r>
              <a:rPr kumimoji="0" lang="en-US" altLang="ja-JP" sz="1400" b="1" i="0" u="none" strike="noStrike" kern="0" cap="none" spc="-10" normalizeH="0" baseline="0" noProof="0" dirty="0">
                <a:ln>
                  <a:noFill/>
                </a:ln>
                <a:solidFill>
                  <a:sysClr val="windowText" lastClr="000000"/>
                </a:solidFill>
                <a:effectLst/>
                <a:uLnTx/>
                <a:uFillTx/>
                <a:latin typeface="Calibri"/>
                <a:cs typeface="Calibri"/>
              </a:rPr>
              <a:t>) = </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動作主</a:t>
            </a:r>
            <a:r>
              <a:rPr kumimoji="0" lang="en-US" altLang="ja-JP" sz="1400" b="1"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1400" b="1" i="0" u="none" strike="noStrike" kern="0" cap="none" spc="0" normalizeH="0" baseline="0" noProof="0" dirty="0">
                <a:ln>
                  <a:noFill/>
                </a:ln>
                <a:solidFill>
                  <a:sysClr val="windowText" lastClr="000000"/>
                </a:solidFill>
                <a:effectLst/>
                <a:uLnTx/>
                <a:uFillTx/>
                <a:latin typeface="Yu Gothic"/>
                <a:cs typeface="Yu Gothic"/>
              </a:rPr>
              <a:t>自分</a:t>
            </a:r>
            <a:r>
              <a:rPr kumimoji="0" lang="en-US" altLang="ja-JP" sz="1400" b="1"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400" b="0" i="0" u="none" strike="noStrike" kern="0" cap="none" spc="0" normalizeH="0" baseline="0" noProof="0" dirty="0">
              <a:ln>
                <a:noFill/>
              </a:ln>
              <a:solidFill>
                <a:sysClr val="windowText" lastClr="000000"/>
              </a:solidFill>
              <a:effectLst/>
              <a:uLnTx/>
              <a:uFillTx/>
              <a:latin typeface="Calibri"/>
              <a:cs typeface="Calibri"/>
            </a:endParaRPr>
          </a:p>
          <a:p>
            <a:pPr marL="12700" marR="127000" lvl="0" indent="0" defTabSz="914400" eaLnBrk="1" fontAlgn="auto" latinLnBrk="0" hangingPunct="1">
              <a:lnSpc>
                <a:spcPts val="2160"/>
              </a:lnSpc>
              <a:spcBef>
                <a:spcPts val="980"/>
              </a:spcBef>
              <a:spcAft>
                <a:spcPts val="0"/>
              </a:spcAft>
              <a:buClrTx/>
              <a:buSzTx/>
              <a:buFontTx/>
              <a:buNone/>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「明日空港にみんな</a:t>
            </a:r>
            <a:r>
              <a:rPr kumimoji="0" lang="ja-JP" altLang="en-US" sz="20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あなたを迎えに行きます。」の「で」の正体は、</a:t>
            </a:r>
            <a:r>
              <a:rPr kumimoji="0" lang="ja-JP" altLang="en-US" sz="2000" b="1" i="0" u="none" strike="noStrike" kern="0" cap="none" spc="-15" normalizeH="0" baseline="0" noProof="0" dirty="0">
                <a:ln>
                  <a:noFill/>
                </a:ln>
                <a:solidFill>
                  <a:sysClr val="windowText" lastClr="000000"/>
                </a:solidFill>
                <a:effectLst/>
                <a:uLnTx/>
                <a:uFillTx/>
                <a:latin typeface="Yu Gothic"/>
                <a:cs typeface="Yu Gothic"/>
              </a:rPr>
              <a:t>空間的背景の動作</a:t>
            </a:r>
            <a:r>
              <a:rPr kumimoji="0" lang="ja-JP" altLang="en-US" sz="2000" b="1" i="0" u="none" strike="noStrike" kern="0" cap="none" spc="0" normalizeH="0" baseline="0" noProof="0" dirty="0">
                <a:ln>
                  <a:noFill/>
                </a:ln>
                <a:solidFill>
                  <a:sysClr val="windowText" lastClr="000000"/>
                </a:solidFill>
                <a:effectLst/>
                <a:uLnTx/>
                <a:uFillTx/>
                <a:latin typeface="Yu Gothic"/>
                <a:cs typeface="Yu Gothic"/>
              </a:rPr>
              <a:t>主</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の用法である。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89300"/>
              </a:lnSpc>
              <a:spcBef>
                <a:spcPts val="1019"/>
              </a:spcBef>
              <a:spcAft>
                <a:spcPts val="0"/>
              </a:spcAft>
              <a:buClrTx/>
              <a:buSzTx/>
              <a:buFontTx/>
              <a:buNone/>
              <a:tabLst/>
              <a:defRPr/>
            </a:pPr>
            <a:r>
              <a:rPr kumimoji="0" lang="en-US" altLang="ja-JP" sz="1800" b="0" i="0" u="none" strike="noStrike" kern="0" cap="none" spc="-245" normalizeH="0" baseline="0" noProof="0" dirty="0">
                <a:ln>
                  <a:noFill/>
                </a:ln>
                <a:solidFill>
                  <a:sysClr val="windowText" lastClr="000000"/>
                </a:solidFill>
                <a:effectLst/>
                <a:uLnTx/>
                <a:uFillTx/>
                <a:latin typeface="MS Gothic"/>
                <a:cs typeface="MS Gothic"/>
              </a:rPr>
              <a:t>※ </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仮に「</a:t>
            </a:r>
            <a:r>
              <a:rPr kumimoji="0" lang="ja-JP" altLang="en-US" sz="1800" b="0" i="0" u="sng" strike="noStrike" kern="0" cap="none" spc="0" normalizeH="0" baseline="0" noProof="0" dirty="0">
                <a:ln>
                  <a:noFill/>
                </a:ln>
                <a:solidFill>
                  <a:sysClr val="windowText" lastClr="000000"/>
                </a:solidFill>
                <a:effectLst/>
                <a:uLnTx/>
                <a:uFill>
                  <a:solidFill>
                    <a:srgbClr val="000000"/>
                  </a:solidFill>
                </a:uFill>
                <a:latin typeface="Yu Gothic"/>
                <a:cs typeface="Yu Gothic"/>
              </a:rPr>
              <a:t>私たちは</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明日空港へあなたをみんな</a:t>
            </a:r>
            <a:r>
              <a:rPr kumimoji="0" lang="ja-JP" altLang="en-US" sz="1800" b="1" i="0" u="none" strike="noStrike" kern="0" cap="none" spc="0" normalizeH="0" baseline="0" noProof="0" dirty="0">
                <a:ln>
                  <a:noFill/>
                </a:ln>
                <a:solidFill>
                  <a:sysClr val="windowText" lastClr="000000"/>
                </a:solidFill>
                <a:effectLst/>
                <a:uLnTx/>
                <a:uFillTx/>
                <a:latin typeface="Yu Gothic"/>
                <a:cs typeface="Yu Gothic"/>
              </a:rPr>
              <a:t>で</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迎えに行きます」</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(We</a:t>
            </a:r>
            <a:r>
              <a:rPr kumimoji="0" lang="ja-JP" altLang="en-US" sz="1800" b="0" i="0" u="none" strike="noStrike" kern="0" cap="none" spc="-5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will</a:t>
            </a:r>
            <a:r>
              <a:rPr kumimoji="0" lang="ja-JP" altLang="en-US" sz="1800" b="0" i="0" u="none" strike="noStrike" kern="0" cap="none" spc="-2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all</a:t>
            </a:r>
            <a:r>
              <a:rPr kumimoji="0" lang="ja-JP" altLang="en-US" sz="1800" b="0" i="0" u="none" strike="noStrike" kern="0" cap="none" spc="-3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pick</a:t>
            </a:r>
            <a:r>
              <a:rPr kumimoji="0" lang="ja-JP" altLang="en-US" sz="1800" b="0" i="0" u="none" strike="noStrike" kern="0" cap="none" spc="-2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you</a:t>
            </a:r>
            <a:r>
              <a:rPr kumimoji="0" lang="ja-JP" altLang="en-US" sz="1800" b="0" i="0" u="none" strike="noStrike" kern="0" cap="none" spc="-2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up</a:t>
            </a:r>
            <a:r>
              <a:rPr kumimoji="0" lang="ja-JP" altLang="en-US" sz="1800" b="0" i="0" u="none" strike="noStrike" kern="0" cap="none" spc="-2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at</a:t>
            </a:r>
            <a:r>
              <a:rPr kumimoji="0" lang="ja-JP" altLang="en-US" sz="1800" b="0" i="0" u="none" strike="noStrike" kern="0" cap="none" spc="-3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the</a:t>
            </a:r>
            <a:r>
              <a:rPr kumimoji="0" lang="ja-JP" altLang="en-US" sz="1800" b="0" i="0" u="none" strike="noStrike" kern="0" cap="none" spc="-3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airport </a:t>
            </a:r>
            <a:r>
              <a:rPr kumimoji="0" lang="en-US" altLang="ja-JP" sz="1800" b="0" i="0" u="none" strike="noStrike" kern="0" cap="none" spc="-30" normalizeH="0" baseline="0" noProof="0" dirty="0">
                <a:ln>
                  <a:noFill/>
                </a:ln>
                <a:solidFill>
                  <a:sysClr val="windowText" lastClr="000000"/>
                </a:solidFill>
                <a:effectLst/>
                <a:uLnTx/>
                <a:uFillTx/>
                <a:latin typeface="Calibri"/>
                <a:cs typeface="Calibri"/>
              </a:rPr>
              <a:t>tomorrow.)</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という文だとしたら、主語</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私たち</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 </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動作主</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みんな</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15" normalizeH="0" baseline="0" noProof="0" dirty="0">
                <a:ln>
                  <a:noFill/>
                </a:ln>
                <a:solidFill>
                  <a:sysClr val="windowText" lastClr="000000"/>
                </a:solidFill>
                <a:effectLst/>
                <a:uLnTx/>
                <a:uFillTx/>
                <a:latin typeface="Yu Gothic"/>
                <a:cs typeface="Yu Gothic"/>
              </a:rPr>
              <a:t>の関係が成立するため、「で」は</a:t>
            </a:r>
            <a:r>
              <a:rPr kumimoji="0" lang="ja-JP" altLang="en-US" sz="1800" b="1" i="0" u="none" strike="noStrike" kern="0" cap="none" spc="-25" normalizeH="0" baseline="0" noProof="0" dirty="0">
                <a:ln>
                  <a:noFill/>
                </a:ln>
                <a:solidFill>
                  <a:sysClr val="windowText" lastClr="000000"/>
                </a:solidFill>
                <a:effectLst/>
                <a:uLnTx/>
                <a:uFillTx/>
                <a:latin typeface="Yu Gothic"/>
                <a:cs typeface="Yu Gothic"/>
              </a:rPr>
              <a:t>役割</a:t>
            </a:r>
            <a:r>
              <a:rPr kumimoji="0" lang="ja-JP" altLang="en-US" sz="1800" b="1" i="0" u="none" strike="noStrike" kern="0" cap="none" spc="0" normalizeH="0" baseline="0" noProof="0" dirty="0">
                <a:ln>
                  <a:noFill/>
                </a:ln>
                <a:solidFill>
                  <a:sysClr val="windowText" lastClr="000000"/>
                </a:solidFill>
                <a:effectLst/>
                <a:uLnTx/>
                <a:uFillTx/>
                <a:latin typeface="Yu Gothic"/>
                <a:cs typeface="Yu Gothic"/>
              </a:rPr>
              <a:t>的背景の動作主の様態</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の用法である</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860434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969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581FCEBD-6E62-A03A-71ED-E222D7C97D0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73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格助詞「で」の用法は、認知言語学の観点で以下の分類が可能である。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ts val="3215"/>
              </a:lnSpc>
              <a:spcBef>
                <a:spcPts val="1905"/>
              </a:spcBef>
              <a:spcAft>
                <a:spcPts val="0"/>
              </a:spcAft>
              <a:buClrTx/>
              <a:buSzPct val="116666"/>
              <a:buFont typeface="Calibri"/>
              <a:buAutoNum type="arabicPeriod"/>
              <a:tabLst>
                <a:tab pos="374015" algn="l"/>
              </a:tabLst>
              <a:defRPr/>
            </a:pP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空間的背景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b="0" i="0" u="none" strike="noStrike" kern="0" cap="none" spc="220" normalizeH="0" baseline="0" noProof="0" dirty="0">
                <a:ln>
                  <a:noFill/>
                </a:ln>
                <a:solidFill>
                  <a:sysClr val="windowText" lastClr="000000"/>
                </a:solidFill>
                <a:effectLst/>
                <a:uLnTx/>
                <a:uFillTx/>
                <a:latin typeface="Yu Gothic"/>
                <a:cs typeface="Yu Gothic"/>
              </a:rPr>
              <a:t>場所</a:t>
            </a:r>
            <a:r>
              <a:rPr kumimoji="0" lang="ja-JP" altLang="en-US" sz="20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場所の抽象化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60" normalizeH="0" baseline="0" noProof="0" dirty="0">
                <a:ln>
                  <a:noFill/>
                </a:ln>
                <a:solidFill>
                  <a:sysClr val="windowText" lastClr="000000"/>
                </a:solidFill>
                <a:effectLst/>
                <a:uLnTx/>
                <a:uFillTx/>
                <a:latin typeface="Yu Gothic"/>
                <a:cs typeface="Yu Gothic"/>
              </a:rPr>
              <a:t>場</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ts val="2160"/>
              </a:lnSpc>
              <a:spcBef>
                <a:spcPts val="0"/>
              </a:spcBef>
              <a:spcAft>
                <a:spcPts val="0"/>
              </a:spcAft>
              <a:buClrTx/>
              <a:buSzPct val="140000"/>
              <a:buFont typeface="Arial MT"/>
              <a:buChar char="•"/>
              <a:tabLst>
                <a:tab pos="729615" algn="l"/>
              </a:tabLst>
              <a:defRPr/>
            </a:pPr>
            <a:r>
              <a:rPr kumimoji="0" lang="ja-JP" altLang="en-US" sz="2000" b="0" i="0" u="none" strike="noStrike" kern="0" cap="none" spc="220" normalizeH="0" baseline="0" noProof="0" dirty="0">
                <a:ln>
                  <a:noFill/>
                </a:ln>
                <a:solidFill>
                  <a:sysClr val="windowText" lastClr="000000"/>
                </a:solidFill>
                <a:effectLst/>
                <a:uLnTx/>
                <a:uFillTx/>
                <a:latin typeface="Yu Gothic"/>
                <a:cs typeface="Yu Gothic"/>
              </a:rPr>
              <a:t>場所</a:t>
            </a:r>
            <a:r>
              <a:rPr kumimoji="0" lang="ja-JP" altLang="en-US" sz="20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5" normalizeH="0" baseline="0" noProof="0" dirty="0">
                <a:ln>
                  <a:noFill/>
                </a:ln>
                <a:solidFill>
                  <a:sysClr val="windowText" lastClr="000000"/>
                </a:solidFill>
                <a:effectLst/>
                <a:uLnTx/>
                <a:uFillTx/>
                <a:latin typeface="Yu Gothic"/>
                <a:cs typeface="Yu Gothic"/>
              </a:rPr>
              <a:t>範囲の焦点化・動作の主観化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25" normalizeH="0" baseline="0" noProof="0" dirty="0">
                <a:ln>
                  <a:noFill/>
                </a:ln>
                <a:solidFill>
                  <a:sysClr val="windowText" lastClr="000000"/>
                </a:solidFill>
                <a:effectLst/>
                <a:uLnTx/>
                <a:uFillTx/>
                <a:latin typeface="Yu Gothic"/>
                <a:cs typeface="Yu Gothic"/>
              </a:rPr>
              <a:t>範囲</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66700" defTabSz="914400" eaLnBrk="1" fontAlgn="auto" latinLnBrk="0" hangingPunct="1">
              <a:lnSpc>
                <a:spcPts val="2160"/>
              </a:lnSpc>
              <a:spcBef>
                <a:spcPts val="0"/>
              </a:spcBef>
              <a:spcAft>
                <a:spcPts val="0"/>
              </a:spcAft>
              <a:buClrTx/>
              <a:buSzPct val="140000"/>
              <a:buFont typeface="Arial MT"/>
              <a:buChar char="•"/>
              <a:tabLst>
                <a:tab pos="728980" algn="l"/>
              </a:tabLst>
              <a:defRPr/>
            </a:pPr>
            <a:r>
              <a:rPr kumimoji="0" lang="ja-JP" altLang="en-US" sz="2000" b="0" i="0" u="none" strike="noStrike" kern="0" cap="none" spc="220" normalizeH="0" baseline="0" noProof="0" dirty="0">
                <a:ln>
                  <a:noFill/>
                </a:ln>
                <a:solidFill>
                  <a:sysClr val="windowText" lastClr="000000"/>
                </a:solidFill>
                <a:effectLst/>
                <a:uLnTx/>
                <a:uFillTx/>
                <a:latin typeface="Yu Gothic"/>
                <a:cs typeface="Yu Gothic"/>
              </a:rPr>
              <a:t>場所</a:t>
            </a:r>
            <a:r>
              <a:rPr kumimoji="0" lang="ja-JP" altLang="en-US" sz="20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場所の背景化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動作主</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ts val="1925"/>
              </a:lnSpc>
              <a:spcBef>
                <a:spcPts val="0"/>
              </a:spcBef>
              <a:spcAft>
                <a:spcPts val="0"/>
              </a:spcAft>
              <a:buClrTx/>
              <a:buSzPct val="140000"/>
              <a:buFont typeface="Arial MT"/>
              <a:buChar char="•"/>
              <a:tabLst>
                <a:tab pos="729615" algn="l"/>
              </a:tabLst>
              <a:defRPr/>
            </a:pPr>
            <a:r>
              <a:rPr kumimoji="0" lang="ja-JP" altLang="en-US" sz="2000" b="0" i="0" u="none" strike="noStrike" kern="0" cap="none" spc="220" normalizeH="0" baseline="0" noProof="0" dirty="0">
                <a:ln>
                  <a:noFill/>
                </a:ln>
                <a:solidFill>
                  <a:sysClr val="windowText" lastClr="000000"/>
                </a:solidFill>
                <a:effectLst/>
                <a:uLnTx/>
                <a:uFillTx/>
                <a:latin typeface="Yu Gothic"/>
                <a:cs typeface="Yu Gothic"/>
              </a:rPr>
              <a:t>場所</a:t>
            </a:r>
            <a:r>
              <a:rPr kumimoji="0" lang="ja-JP" altLang="en-US" sz="20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60" normalizeH="0" baseline="0" noProof="0" dirty="0">
                <a:ln>
                  <a:noFill/>
                </a:ln>
                <a:solidFill>
                  <a:sysClr val="windowText" lastClr="000000"/>
                </a:solidFill>
                <a:effectLst/>
                <a:uLnTx/>
                <a:uFillTx/>
                <a:latin typeface="Yu Gothic"/>
                <a:cs typeface="Yu Gothic"/>
              </a:rPr>
              <a:t>メタファー変換</a:t>
            </a:r>
            <a:r>
              <a:rPr kumimoji="0" lang="ja-JP" altLang="en-US" sz="20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時間範囲の焦点化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期間・時限定</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374015" marR="0" lvl="0" indent="-361315" defTabSz="914400" eaLnBrk="1" fontAlgn="auto" latinLnBrk="0" hangingPunct="1">
              <a:lnSpc>
                <a:spcPts val="2855"/>
              </a:lnSpc>
              <a:spcBef>
                <a:spcPts val="0"/>
              </a:spcBef>
              <a:spcAft>
                <a:spcPts val="0"/>
              </a:spcAft>
              <a:buClrTx/>
              <a:buSzPct val="116666"/>
              <a:buFont typeface="Calibri"/>
              <a:buAutoNum type="arabicPeriod"/>
              <a:tabLst>
                <a:tab pos="374015" algn="l"/>
              </a:tabLst>
              <a:defRPr/>
            </a:pP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役割的背景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ts val="2135"/>
              </a:lnSpc>
              <a:spcBef>
                <a:spcPts val="0"/>
              </a:spcBef>
              <a:spcAft>
                <a:spcPts val="0"/>
              </a:spcAft>
              <a:buClrTx/>
              <a:buSzPct val="140000"/>
              <a:buFont typeface="Arial MT"/>
              <a:buChar char="•"/>
              <a:tabLst>
                <a:tab pos="729615" algn="l"/>
              </a:tabLst>
              <a:defRPr/>
            </a:pPr>
            <a:r>
              <a:rPr kumimoji="0" lang="ja-JP" altLang="en-US" sz="2000" b="0" i="0" u="none" strike="noStrike" kern="0" cap="none" spc="220" normalizeH="0" baseline="0" noProof="0" dirty="0">
                <a:ln>
                  <a:noFill/>
                </a:ln>
                <a:solidFill>
                  <a:sysClr val="windowText" lastClr="000000"/>
                </a:solidFill>
                <a:effectLst/>
                <a:uLnTx/>
                <a:uFillTx/>
                <a:latin typeface="Yu Gothic"/>
                <a:cs typeface="Yu Gothic"/>
              </a:rPr>
              <a:t>場所</a:t>
            </a:r>
            <a:r>
              <a:rPr kumimoji="0" lang="ja-JP" altLang="en-US" sz="20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背景の役割化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&lt;</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道具・手段内在化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材料・構成要素</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ts val="2160"/>
              </a:lnSpc>
              <a:spcBef>
                <a:spcPts val="0"/>
              </a:spcBef>
              <a:spcAft>
                <a:spcPts val="0"/>
              </a:spcAft>
              <a:buClrTx/>
              <a:buSzPct val="140000"/>
              <a:buFont typeface="Arial MT"/>
              <a:buChar char="•"/>
              <a:tabLst>
                <a:tab pos="729615" algn="l"/>
              </a:tabLst>
              <a:defRPr/>
            </a:pPr>
            <a:r>
              <a:rPr kumimoji="0" lang="ja-JP" altLang="en-US" sz="2000" b="0" i="0" u="none" strike="noStrike" kern="0" cap="none" spc="220" normalizeH="0" baseline="0" noProof="0" dirty="0">
                <a:ln>
                  <a:noFill/>
                </a:ln>
                <a:solidFill>
                  <a:sysClr val="windowText" lastClr="000000"/>
                </a:solidFill>
                <a:effectLst/>
                <a:uLnTx/>
                <a:uFillTx/>
                <a:latin typeface="Yu Gothic"/>
                <a:cs typeface="Yu Gothic"/>
              </a:rPr>
              <a:t>道具</a:t>
            </a:r>
            <a:r>
              <a:rPr kumimoji="0" lang="ja-JP" altLang="en-US" sz="20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背景の能動化</a:t>
            </a:r>
            <a:r>
              <a:rPr kumimoji="0" lang="en-US" altLang="ja-JP" sz="2000" b="0" i="0" u="none" strike="noStrike" kern="0" cap="none" spc="-15" normalizeH="0" baseline="0" noProof="0" dirty="0">
                <a:ln>
                  <a:noFill/>
                </a:ln>
                <a:solidFill>
                  <a:sysClr val="windowText" lastClr="000000"/>
                </a:solidFill>
                <a:effectLst/>
                <a:uLnTx/>
                <a:uFillTx/>
                <a:latin typeface="Calibri"/>
                <a:cs typeface="Calibri"/>
              </a:rPr>
              <a:t>&gt; → &lt;</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原因</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理由・根拠・目的・構成要素</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66700" defTabSz="914400" eaLnBrk="1" fontAlgn="auto" latinLnBrk="0" hangingPunct="1">
              <a:lnSpc>
                <a:spcPts val="2280"/>
              </a:lnSpc>
              <a:spcBef>
                <a:spcPts val="0"/>
              </a:spcBef>
              <a:spcAft>
                <a:spcPts val="0"/>
              </a:spcAft>
              <a:buClrTx/>
              <a:buSzPct val="140000"/>
              <a:buFont typeface="Arial MT"/>
              <a:buChar char="•"/>
              <a:tabLst>
                <a:tab pos="728980" algn="l"/>
              </a:tabLst>
              <a:defRPr/>
            </a:pP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道具 </a:t>
            </a:r>
            <a:r>
              <a:rPr kumimoji="0" lang="ja-JP" altLang="en-US"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&lt;</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道具の抽象化</a:t>
            </a:r>
            <a:r>
              <a:rPr kumimoji="0" lang="en-US" altLang="ja-JP" sz="2000" b="0" i="0" u="none" strike="noStrike" kern="0" cap="none" spc="-5" normalizeH="0" baseline="0" noProof="0" dirty="0">
                <a:ln>
                  <a:noFill/>
                </a:ln>
                <a:solidFill>
                  <a:sysClr val="windowText" lastClr="000000"/>
                </a:solidFill>
                <a:effectLst/>
                <a:uLnTx/>
                <a:uFillTx/>
                <a:latin typeface="Calibri"/>
                <a:cs typeface="Calibri"/>
              </a:rPr>
              <a:t>&gt; → </a:t>
            </a:r>
            <a:r>
              <a:rPr kumimoji="0" lang="ja-JP" altLang="en-US" sz="2000" b="0" i="0" u="none" strike="noStrike" kern="0" cap="none" spc="-35" normalizeH="0" baseline="0" noProof="0" dirty="0">
                <a:ln>
                  <a:noFill/>
                </a:ln>
                <a:solidFill>
                  <a:sysClr val="windowText" lastClr="000000"/>
                </a:solidFill>
                <a:effectLst/>
                <a:uLnTx/>
                <a:uFillTx/>
                <a:latin typeface="Yu Gothic"/>
                <a:cs typeface="Yu Gothic"/>
              </a:rPr>
              <a:t>様態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4215678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7.</a:t>
            </a:r>
            <a:r>
              <a:rPr lang="en-GB" altLang="ja-JP" b="1" dirty="0">
                <a:latin typeface="Calibri (Headings)"/>
              </a:rPr>
              <a:t> </a:t>
            </a:r>
            <a:r>
              <a:rPr lang="ja-JP" altLang="en-US" b="1" dirty="0">
                <a:latin typeface="Calibri (Headings)"/>
                <a:sym typeface="Arial"/>
              </a:rPr>
              <a:t>エピローグ</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7.</a:t>
            </a:r>
            <a:r>
              <a:rPr lang="en-GB" altLang="ja-JP" b="1" dirty="0">
                <a:latin typeface="Calibri (Headings)"/>
              </a:rPr>
              <a:t> </a:t>
            </a:r>
            <a:r>
              <a:rPr lang="ja-JP" altLang="en-US" b="1" dirty="0">
                <a:latin typeface="Calibri (Headings)"/>
                <a:sym typeface="Arial"/>
              </a:rPr>
              <a:t>エピローグ</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42545" marR="0" lvl="0" indent="0" defTabSz="914400" eaLnBrk="1" fontAlgn="auto" latinLnBrk="0" hangingPunct="1">
              <a:lnSpc>
                <a:spcPts val="2735"/>
              </a:lnSpc>
              <a:spcBef>
                <a:spcPts val="100"/>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日本語にあって英語にはない最も大きな特徴の一つが助詞である。</a:t>
            </a:r>
          </a:p>
          <a:p>
            <a:pPr marL="42545" marR="0" lvl="0" indent="0" defTabSz="914400" eaLnBrk="1" fontAlgn="auto" latinLnBrk="0" hangingPunct="1">
              <a:lnSpc>
                <a:spcPts val="2595"/>
              </a:lnSpc>
              <a:spcBef>
                <a:spcPts val="0"/>
              </a:spcBef>
              <a:spcAft>
                <a:spcPts val="0"/>
              </a:spcAft>
              <a:buClrTx/>
              <a:buSzTx/>
              <a:buFontTx/>
              <a:buNone/>
              <a:tabLst/>
              <a:defRPr/>
            </a:pPr>
            <a:r>
              <a:rPr kumimoji="0" lang="ja-JP" altLang="en-US" sz="2400" b="0" i="0" u="none" strike="noStrike" kern="0" cap="none" spc="-15" normalizeH="0" baseline="0" noProof="0" dirty="0">
                <a:ln>
                  <a:noFill/>
                </a:ln>
                <a:solidFill>
                  <a:prstClr val="black"/>
                </a:solidFill>
                <a:effectLst/>
                <a:uLnTx/>
                <a:uFillTx/>
                <a:latin typeface="Yu Gothic"/>
                <a:ea typeface="+mn-ea"/>
              </a:rPr>
              <a:t>英語は前置詞を名詞の前に置くのに対し、日本語は名詞の後に助詞を置く、</a:t>
            </a:r>
          </a:p>
          <a:p>
            <a:pPr marL="42545" marR="0" lvl="0" indent="0" defTabSz="914400" eaLnBrk="1" fontAlgn="auto" latinLnBrk="0" hangingPunct="1">
              <a:lnSpc>
                <a:spcPts val="2595"/>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いわば後置詞である。</a:t>
            </a:r>
          </a:p>
          <a:p>
            <a:pPr marL="42545" marR="5080" lvl="0" indent="0" defTabSz="914400" eaLnBrk="1" fontAlgn="auto" latinLnBrk="0" hangingPunct="1">
              <a:lnSpc>
                <a:spcPts val="2590"/>
              </a:lnSpc>
              <a:spcBef>
                <a:spcPts val="180"/>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私たちの英語学習において前置詞のニュアンスの違いが難解なのと同様に、日本語を外国語として学ぶ者にとって助詞もそれに負けず劣らず難解であ</a:t>
            </a:r>
            <a:r>
              <a:rPr kumimoji="0" lang="ja-JP" altLang="en-US" sz="2400" b="0" i="0" u="none" strike="noStrike" kern="0" cap="none" spc="-50" normalizeH="0" baseline="0" noProof="0" dirty="0">
                <a:ln>
                  <a:noFill/>
                </a:ln>
                <a:solidFill>
                  <a:prstClr val="black"/>
                </a:solidFill>
                <a:effectLst/>
                <a:uLnTx/>
                <a:uFillTx/>
                <a:latin typeface="Yu Gothic"/>
                <a:ea typeface="+mn-ea"/>
              </a:rPr>
              <a:t> </a:t>
            </a:r>
            <a:r>
              <a:rPr kumimoji="0" lang="ja-JP" altLang="en-US" sz="2400" b="0" i="0" u="none" strike="noStrike" kern="0" cap="none" spc="-30" normalizeH="0" baseline="0" noProof="0" dirty="0">
                <a:ln>
                  <a:noFill/>
                </a:ln>
                <a:solidFill>
                  <a:prstClr val="black"/>
                </a:solidFill>
                <a:effectLst/>
                <a:uLnTx/>
                <a:uFillTx/>
                <a:latin typeface="Yu Gothic"/>
                <a:ea typeface="+mn-ea"/>
              </a:rPr>
              <a:t>る。</a:t>
            </a:r>
          </a:p>
          <a:p>
            <a:pPr marL="42545" marR="309880" lvl="0" indent="0" defTabSz="914400" eaLnBrk="1" fontAlgn="auto" latinLnBrk="0" hangingPunct="1">
              <a:lnSpc>
                <a:spcPts val="2590"/>
              </a:lnSpc>
              <a:spcBef>
                <a:spcPts val="10"/>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日本語をひとたび外国語としての観点で捉えると、いかに難しいかがよく</a:t>
            </a:r>
            <a:r>
              <a:rPr kumimoji="0" lang="ja-JP" altLang="en-US" sz="2400" b="0" i="0" u="none" strike="noStrike" kern="0" cap="none" spc="-15" normalizeH="0" baseline="0" noProof="0" dirty="0">
                <a:ln>
                  <a:noFill/>
                </a:ln>
                <a:solidFill>
                  <a:prstClr val="black"/>
                </a:solidFill>
                <a:effectLst/>
                <a:uLnTx/>
                <a:uFillTx/>
                <a:latin typeface="Yu Gothic"/>
                <a:ea typeface="+mn-ea"/>
              </a:rPr>
              <a:t>分かる。</a:t>
            </a:r>
          </a:p>
          <a:p>
            <a:pPr marL="42545" marR="0" lvl="0" indent="0" defTabSz="914400" eaLnBrk="1" fontAlgn="auto" latinLnBrk="0" hangingPunct="1">
              <a:lnSpc>
                <a:spcPts val="2555"/>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prstClr val="black"/>
                </a:solidFill>
                <a:effectLst/>
                <a:uLnTx/>
                <a:uFillTx/>
                <a:latin typeface="Yu Gothic"/>
                <a:ea typeface="+mn-ea"/>
              </a:rPr>
              <a:t>助詞はその中の一つの好例である。</a:t>
            </a:r>
          </a:p>
        </p:txBody>
      </p:sp>
    </p:spTree>
    <p:extLst>
      <p:ext uri="{BB962C8B-B14F-4D97-AF65-F5344CB8AC3E}">
        <p14:creationId xmlns:p14="http://schemas.microsoft.com/office/powerpoint/2010/main" val="35154773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8</a:t>
            </a:r>
            <a:r>
              <a:rPr lang="en-GB" altLang="ja-JP" b="1">
                <a:latin typeface="Calibri (Headings)"/>
              </a:rPr>
              <a:t>. </a:t>
            </a:r>
            <a:r>
              <a:rPr lang="ja-JP" altLang="en-US" b="1">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8</a:t>
            </a:r>
            <a:r>
              <a:rPr lang="en-GB" altLang="ja-JP" b="1">
                <a:latin typeface="Calibri (Headings)"/>
              </a:rPr>
              <a:t>. </a:t>
            </a:r>
            <a:r>
              <a:rPr lang="ja-JP" altLang="en-US" b="1">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79400" marR="5080" lvl="0" indent="-267335" defTabSz="914400" eaLnBrk="1" fontAlgn="auto" latinLnBrk="0" hangingPunct="1">
              <a:lnSpc>
                <a:spcPts val="2590"/>
              </a:lnSpc>
              <a:spcBef>
                <a:spcPts val="425"/>
              </a:spcBef>
              <a:spcAft>
                <a:spcPts val="0"/>
              </a:spcAft>
              <a:buClr>
                <a:srgbClr val="000000"/>
              </a:buClr>
              <a:buSzPct val="116666"/>
              <a:buFont typeface="Arial MT"/>
              <a:buChar char="•"/>
              <a:tabLst>
                <a:tab pos="280670" algn="l"/>
              </a:tabLst>
              <a:defRPr/>
            </a:pPr>
            <a:r>
              <a:rPr kumimoji="0" lang="ja-JP" altLang="en-US" sz="2400" b="0" i="0" u="none" strike="noStrike" kern="0" cap="none" spc="-10" normalizeH="0" baseline="0" noProof="0" dirty="0">
                <a:ln>
                  <a:noFill/>
                </a:ln>
                <a:solidFill>
                  <a:srgbClr val="3C3E44"/>
                </a:solidFill>
                <a:effectLst/>
                <a:uLnTx/>
                <a:uFillTx/>
                <a:latin typeface="Yu Gothic"/>
                <a:cs typeface="Yu Gothic"/>
              </a:rPr>
              <a:t>森山新、</a:t>
            </a:r>
            <a:r>
              <a:rPr kumimoji="0" lang="en-US" altLang="ja-JP" sz="2400" b="0" i="0" u="none" strike="noStrike" kern="0" cap="none" spc="-10" normalizeH="0" baseline="0" noProof="0" dirty="0">
                <a:ln>
                  <a:noFill/>
                </a:ln>
                <a:solidFill>
                  <a:srgbClr val="3C3E44"/>
                </a:solidFill>
                <a:effectLst/>
                <a:uLnTx/>
                <a:uFillTx/>
                <a:latin typeface="Yu Gothic"/>
                <a:cs typeface="Yu Gothic"/>
              </a:rPr>
              <a:t>『</a:t>
            </a:r>
            <a:r>
              <a:rPr kumimoji="0" lang="ja-JP" altLang="en-US" sz="2400" b="0" i="0" u="none" strike="noStrike" kern="0" cap="none" spc="-10" normalizeH="0" baseline="0" noProof="0" dirty="0">
                <a:ln>
                  <a:noFill/>
                </a:ln>
                <a:solidFill>
                  <a:srgbClr val="3C3E44"/>
                </a:solidFill>
                <a:effectLst/>
                <a:uLnTx/>
                <a:uFillTx/>
                <a:latin typeface="Yu Gothic"/>
                <a:cs typeface="Yu Gothic"/>
              </a:rPr>
              <a:t>認知言語学から見た日本語格助詞の意味構造と習得</a:t>
            </a:r>
            <a:r>
              <a:rPr kumimoji="0" lang="en-US" altLang="ja-JP" sz="2400" b="0" i="0" u="none" strike="noStrike" kern="0" cap="none" spc="-10" normalizeH="0" baseline="0" noProof="0" dirty="0">
                <a:ln>
                  <a:noFill/>
                </a:ln>
                <a:solidFill>
                  <a:srgbClr val="3C3E44"/>
                </a:solidFill>
                <a:effectLst/>
                <a:uLnTx/>
                <a:uFillTx/>
                <a:latin typeface="Yu Gothic"/>
                <a:cs typeface="Yu Gothic"/>
              </a:rPr>
              <a:t>』</a:t>
            </a:r>
            <a:r>
              <a:rPr kumimoji="0" lang="ja-JP" altLang="en-US" sz="2400" b="0" i="0" u="none" strike="noStrike" kern="0" cap="none" spc="-10" normalizeH="0" baseline="0" noProof="0" dirty="0">
                <a:ln>
                  <a:noFill/>
                </a:ln>
                <a:solidFill>
                  <a:srgbClr val="3C3E44"/>
                </a:solidFill>
                <a:effectLst/>
                <a:uLnTx/>
                <a:uFillTx/>
                <a:latin typeface="Yu Gothic"/>
                <a:cs typeface="Yu Gothic"/>
              </a:rPr>
              <a:t>、東京都、	ひつじ書房、</a:t>
            </a:r>
            <a:r>
              <a:rPr kumimoji="0" lang="en-US" altLang="ja-JP" sz="2400" b="0" i="0" u="none" strike="noStrike" kern="0" cap="none" spc="-40" normalizeH="0" baseline="0" noProof="0" dirty="0">
                <a:ln>
                  <a:noFill/>
                </a:ln>
                <a:solidFill>
                  <a:srgbClr val="3C3E44"/>
                </a:solidFill>
                <a:effectLst/>
                <a:uLnTx/>
                <a:uFillTx/>
                <a:cs typeface="Cambria"/>
              </a:rPr>
              <a:t>2008</a:t>
            </a:r>
            <a:r>
              <a:rPr kumimoji="0" lang="ja-JP" altLang="en-US" sz="2400" b="0" i="0" u="none" strike="noStrike" kern="0" cap="none" spc="-50" normalizeH="0" baseline="0" noProof="0" dirty="0">
                <a:ln>
                  <a:noFill/>
                </a:ln>
                <a:solidFill>
                  <a:srgbClr val="3C3E44"/>
                </a:solidFill>
                <a:effectLst/>
                <a:uLnTx/>
                <a:uFillTx/>
                <a:latin typeface="Yu Gothic"/>
                <a:cs typeface="Yu Gothic"/>
              </a:rPr>
              <a:t>年</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ts val="2560"/>
              </a:lnSpc>
              <a:spcBef>
                <a:spcPts val="0"/>
              </a:spcBef>
              <a:spcAft>
                <a:spcPts val="0"/>
              </a:spcAft>
              <a:buClr>
                <a:srgbClr val="000000"/>
              </a:buClr>
              <a:buSzPct val="116666"/>
              <a:buFont typeface="Arial MT"/>
              <a:buChar char="•"/>
              <a:tabLst>
                <a:tab pos="280035" algn="l"/>
              </a:tabLst>
              <a:defRPr/>
            </a:pPr>
            <a:r>
              <a:rPr kumimoji="0" lang="en-US" altLang="ja-JP" sz="2400" b="0" i="0" u="none" strike="noStrike" kern="0" cap="none" spc="-10" normalizeH="0" baseline="0" noProof="0" dirty="0">
                <a:ln>
                  <a:noFill/>
                </a:ln>
                <a:solidFill>
                  <a:srgbClr val="3C3E44"/>
                </a:solidFill>
                <a:effectLst/>
                <a:uLnTx/>
                <a:uFillTx/>
                <a:latin typeface="Yu Gothic"/>
                <a:cs typeface="Yu Gothic"/>
              </a:rPr>
              <a:t>『</a:t>
            </a:r>
            <a:r>
              <a:rPr kumimoji="0" lang="ja-JP" altLang="en-US" sz="2400" b="0" i="0" u="none" strike="noStrike" kern="0" cap="none" spc="-10" normalizeH="0" baseline="0" noProof="0" dirty="0">
                <a:ln>
                  <a:noFill/>
                </a:ln>
                <a:solidFill>
                  <a:srgbClr val="3C3E44"/>
                </a:solidFill>
                <a:effectLst/>
                <a:uLnTx/>
                <a:uFillTx/>
                <a:latin typeface="Yu Gothic"/>
                <a:cs typeface="Yu Gothic"/>
              </a:rPr>
              <a:t>広辞苑第五版</a:t>
            </a:r>
            <a:r>
              <a:rPr kumimoji="0" lang="en-US" altLang="ja-JP" sz="2400" b="0" i="0" u="none" strike="noStrike" kern="0" cap="none" spc="-10" normalizeH="0" baseline="0" noProof="0" dirty="0">
                <a:ln>
                  <a:noFill/>
                </a:ln>
                <a:solidFill>
                  <a:srgbClr val="3C3E44"/>
                </a:solidFill>
                <a:effectLst/>
                <a:uLnTx/>
                <a:uFillTx/>
                <a:latin typeface="Yu Gothic"/>
                <a:cs typeface="Yu Gothic"/>
              </a:rPr>
              <a:t>』</a:t>
            </a:r>
            <a:r>
              <a:rPr kumimoji="0" lang="ja-JP" altLang="en-US" sz="2400" b="0" i="0" u="none" strike="noStrike" kern="0" cap="none" spc="-10" normalizeH="0" baseline="0" noProof="0" dirty="0">
                <a:ln>
                  <a:noFill/>
                </a:ln>
                <a:solidFill>
                  <a:srgbClr val="3C3E44"/>
                </a:solidFill>
                <a:effectLst/>
                <a:uLnTx/>
                <a:uFillTx/>
                <a:latin typeface="Yu Gothic"/>
                <a:cs typeface="Yu Gothic"/>
              </a:rPr>
              <a:t>、東京都、岩波書店、</a:t>
            </a:r>
            <a:r>
              <a:rPr kumimoji="0" lang="en-US" altLang="ja-JP" sz="2400" b="0" i="0" u="none" strike="noStrike" kern="0" cap="none" spc="-35" normalizeH="0" baseline="0" noProof="0" dirty="0">
                <a:ln>
                  <a:noFill/>
                </a:ln>
                <a:solidFill>
                  <a:srgbClr val="3C3E44"/>
                </a:solidFill>
                <a:effectLst/>
                <a:uLnTx/>
                <a:uFillTx/>
                <a:cs typeface="Cambria"/>
              </a:rPr>
              <a:t>2006</a:t>
            </a:r>
            <a:r>
              <a:rPr kumimoji="0" lang="ja-JP" altLang="en-US" sz="2400" b="0" i="0" u="none" strike="noStrike" kern="0" cap="none" spc="-50" normalizeH="0" baseline="0" noProof="0" dirty="0">
                <a:ln>
                  <a:noFill/>
                </a:ln>
                <a:solidFill>
                  <a:srgbClr val="3C3E44"/>
                </a:solidFill>
                <a:effectLst/>
                <a:uLnTx/>
                <a:uFillTx/>
                <a:latin typeface="Yu Gothic"/>
                <a:cs typeface="Yu Gothic"/>
              </a:rPr>
              <a:t>年</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041246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4314</Words>
  <Application>Microsoft Office PowerPoint</Application>
  <PresentationFormat>Widescreen</PresentationFormat>
  <Paragraphs>311</Paragraphs>
  <Slides>37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-apple-system</vt:lpstr>
      <vt:lpstr>Arial MT</vt:lpstr>
      <vt:lpstr>Calibri (Headings)</vt:lpstr>
      <vt:lpstr>MS Gothic</vt:lpstr>
      <vt:lpstr>Yu Gothic</vt:lpstr>
      <vt:lpstr>Arial</vt:lpstr>
      <vt:lpstr>Calibri</vt:lpstr>
      <vt:lpstr>Calibri Light</vt:lpstr>
      <vt:lpstr>Cambria</vt:lpstr>
      <vt:lpstr>Wingdings</vt:lpstr>
      <vt:lpstr>Office テーマ</vt:lpstr>
      <vt:lpstr>日本語を知ろう</vt:lpstr>
      <vt:lpstr>自己紹介</vt:lpstr>
      <vt:lpstr>免許 / 資格</vt:lpstr>
      <vt:lpstr>スキルスタック</vt:lpstr>
      <vt:lpstr>職歴</vt:lpstr>
      <vt:lpstr>職歴</vt:lpstr>
      <vt:lpstr>国際交流活動</vt:lpstr>
      <vt:lpstr>目次</vt:lpstr>
      <vt:lpstr>1. 話したいこと</vt:lpstr>
      <vt:lpstr>1. 話したいこと</vt:lpstr>
      <vt:lpstr>2. プロローグ-「みんなで」の「で」-</vt:lpstr>
      <vt:lpstr>2. プロローグ-「みんなで」の「で」-</vt:lpstr>
      <vt:lpstr>2. プロローグ-「みんなで」の「で」-</vt:lpstr>
      <vt:lpstr>2. プロローグ-「みんなで」の「で」-</vt:lpstr>
      <vt:lpstr>2. プロローグ-「みんなで」の「で」-</vt:lpstr>
      <vt:lpstr>2. プロローグ-「みんなで」の「で」-</vt:lpstr>
      <vt:lpstr>2. プロローグ-「みんなで」の「で」-</vt:lpstr>
      <vt:lpstr>2. プロローグ-「みんなで」の「で」-</vt:lpstr>
      <vt:lpstr>3. 認知言語学的分析① -空間的役割-</vt:lpstr>
      <vt:lpstr>3. 認知言語学的分析① -空間的役割-</vt:lpstr>
      <vt:lpstr>3. 認知言語学的分析① -空間的役割-</vt:lpstr>
      <vt:lpstr>3. 認知言語学的分析① -空間的役割-</vt:lpstr>
      <vt:lpstr>3. 認知言語学的分析① -空間的役割-</vt:lpstr>
      <vt:lpstr>4. 認知言語学的分析② -役割的背景-</vt:lpstr>
      <vt:lpstr>4. 認知言語学的分析② -役割的背景-</vt:lpstr>
      <vt:lpstr>4. 認知言語学的分析② -役割的背景-</vt:lpstr>
      <vt:lpstr>4. 認知言語学的分析② -役割的背景-</vt:lpstr>
      <vt:lpstr>5. 「みんなで」の「で」の正体</vt:lpstr>
      <vt:lpstr>5. 「みんなで」の「で」の正体</vt:lpstr>
      <vt:lpstr>5. 「みんなで」の「で」の正体</vt:lpstr>
      <vt:lpstr>6. まとめ</vt:lpstr>
      <vt:lpstr>6. まとめ</vt:lpstr>
      <vt:lpstr>7. エピローグ</vt:lpstr>
      <vt:lpstr>7. エピローグ</vt:lpstr>
      <vt:lpstr>8. 参考文献</vt:lpstr>
      <vt:lpstr>8.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59</cp:revision>
  <dcterms:modified xsi:type="dcterms:W3CDTF">2025-09-01T03:26:22Z</dcterms:modified>
</cp:coreProperties>
</file>