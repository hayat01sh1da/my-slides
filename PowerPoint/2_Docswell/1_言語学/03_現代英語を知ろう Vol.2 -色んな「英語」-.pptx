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87" r:id="rId3"/>
    <p:sldId id="388" r:id="rId4"/>
    <p:sldId id="423" r:id="rId5"/>
    <p:sldId id="424" r:id="rId6"/>
    <p:sldId id="425" r:id="rId7"/>
    <p:sldId id="280" r:id="rId8"/>
    <p:sldId id="408" r:id="rId9"/>
    <p:sldId id="311" r:id="rId10"/>
    <p:sldId id="259" r:id="rId11"/>
    <p:sldId id="330" r:id="rId12"/>
    <p:sldId id="409" r:id="rId13"/>
    <p:sldId id="410" r:id="rId14"/>
    <p:sldId id="411" r:id="rId15"/>
    <p:sldId id="412" r:id="rId16"/>
    <p:sldId id="413" r:id="rId17"/>
    <p:sldId id="414" r:id="rId18"/>
    <p:sldId id="415" r:id="rId19"/>
    <p:sldId id="419" r:id="rId20"/>
    <p:sldId id="417" r:id="rId21"/>
    <p:sldId id="418" r:id="rId22"/>
    <p:sldId id="325" r:id="rId23"/>
    <p:sldId id="354" r:id="rId24"/>
    <p:sldId id="420" r:id="rId25"/>
    <p:sldId id="421" r:id="rId26"/>
    <p:sldId id="422" r:id="rId27"/>
    <p:sldId id="385" r:id="rId28"/>
    <p:sldId id="386" r:id="rId29"/>
    <p:sldId id="328" r:id="rId30"/>
    <p:sldId id="295" r:id="rId31"/>
    <p:sldId id="285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石田 隼人" initials="石田" lastIdx="1" clrIdx="0">
    <p:extLst>
      <p:ext uri="{19B8F6BF-5375-455C-9EA6-DF929625EA0E}">
        <p15:presenceInfo xmlns:p15="http://schemas.microsoft.com/office/powerpoint/2012/main" userId="石田 隼人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6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42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yato Ishida" userId="585fa0fa6384767c" providerId="LiveId" clId="{16A39281-67E4-4A66-8852-6402A4C1E327}"/>
    <pc:docChg chg="undo custSel addSld delSld modSld sldOrd">
      <pc:chgData name="Hayato Ishida" userId="585fa0fa6384767c" providerId="LiveId" clId="{16A39281-67E4-4A66-8852-6402A4C1E327}" dt="2025-09-01T03:28:52.604" v="14"/>
      <pc:docMkLst>
        <pc:docMk/>
      </pc:docMkLst>
      <pc:sldChg chg="add del">
        <pc:chgData name="Hayato Ishida" userId="585fa0fa6384767c" providerId="LiveId" clId="{16A39281-67E4-4A66-8852-6402A4C1E327}" dt="2025-08-31T17:54:58.489" v="4" actId="47"/>
        <pc:sldMkLst>
          <pc:docMk/>
          <pc:sldMk cId="155858466" sldId="286"/>
        </pc:sldMkLst>
      </pc:sldChg>
      <pc:sldChg chg="addSp delSp modSp add del mod">
        <pc:chgData name="Hayato Ishida" userId="585fa0fa6384767c" providerId="LiveId" clId="{16A39281-67E4-4A66-8852-6402A4C1E327}" dt="2025-08-31T18:02:46.636" v="10"/>
        <pc:sldMkLst>
          <pc:docMk/>
          <pc:sldMk cId="654251065" sldId="287"/>
        </pc:sldMkLst>
        <pc:spChg chg="add del mod">
          <ac:chgData name="Hayato Ishida" userId="585fa0fa6384767c" providerId="LiveId" clId="{16A39281-67E4-4A66-8852-6402A4C1E327}" dt="2025-08-31T17:54:46.713" v="1" actId="478"/>
          <ac:spMkLst>
            <pc:docMk/>
            <pc:sldMk cId="654251065" sldId="287"/>
            <ac:spMk id="3" creationId="{E07F880A-AA51-0F79-B5E8-B1B61210EE98}"/>
          </ac:spMkLst>
        </pc:spChg>
        <pc:spChg chg="add del mod">
          <ac:chgData name="Hayato Ishida" userId="585fa0fa6384767c" providerId="LiveId" clId="{16A39281-67E4-4A66-8852-6402A4C1E327}" dt="2025-08-31T17:54:46.713" v="1" actId="478"/>
          <ac:spMkLst>
            <pc:docMk/>
            <pc:sldMk cId="654251065" sldId="287"/>
            <ac:spMk id="5" creationId="{B5EDA5E9-6445-6B49-CFF1-90E6A49B2BC1}"/>
          </ac:spMkLst>
        </pc:spChg>
        <pc:spChg chg="del">
          <ac:chgData name="Hayato Ishida" userId="585fa0fa6384767c" providerId="LiveId" clId="{16A39281-67E4-4A66-8852-6402A4C1E327}" dt="2025-08-31T17:54:45.523" v="0" actId="478"/>
          <ac:spMkLst>
            <pc:docMk/>
            <pc:sldMk cId="654251065" sldId="287"/>
            <ac:spMk id="6" creationId="{4D7872B7-F36E-1B6D-AD7B-721EB9FB6561}"/>
          </ac:spMkLst>
        </pc:spChg>
        <pc:spChg chg="del">
          <ac:chgData name="Hayato Ishida" userId="585fa0fa6384767c" providerId="LiveId" clId="{16A39281-67E4-4A66-8852-6402A4C1E327}" dt="2025-08-31T17:54:45.523" v="0" actId="478"/>
          <ac:spMkLst>
            <pc:docMk/>
            <pc:sldMk cId="654251065" sldId="287"/>
            <ac:spMk id="7" creationId="{69207F00-7E0C-C7A3-1BD1-F79661609914}"/>
          </ac:spMkLst>
        </pc:spChg>
        <pc:spChg chg="del">
          <ac:chgData name="Hayato Ishida" userId="585fa0fa6384767c" providerId="LiveId" clId="{16A39281-67E4-4A66-8852-6402A4C1E327}" dt="2025-08-31T17:54:45.523" v="0" actId="478"/>
          <ac:spMkLst>
            <pc:docMk/>
            <pc:sldMk cId="654251065" sldId="287"/>
            <ac:spMk id="8" creationId="{0FF3FEE6-DA6D-BAF6-8D53-A1BAA845900F}"/>
          </ac:spMkLst>
        </pc:spChg>
        <pc:spChg chg="add mod">
          <ac:chgData name="Hayato Ishida" userId="585fa0fa6384767c" providerId="LiveId" clId="{16A39281-67E4-4A66-8852-6402A4C1E327}" dt="2025-08-31T18:02:46.636" v="10"/>
          <ac:spMkLst>
            <pc:docMk/>
            <pc:sldMk cId="654251065" sldId="287"/>
            <ac:spMk id="9" creationId="{FE0E0247-37E5-A63B-EEBD-B99690584D0C}"/>
          </ac:spMkLst>
        </pc:spChg>
        <pc:spChg chg="add mod">
          <ac:chgData name="Hayato Ishida" userId="585fa0fa6384767c" providerId="LiveId" clId="{16A39281-67E4-4A66-8852-6402A4C1E327}" dt="2025-08-31T18:02:46.636" v="10"/>
          <ac:spMkLst>
            <pc:docMk/>
            <pc:sldMk cId="654251065" sldId="287"/>
            <ac:spMk id="10" creationId="{51B6D318-DB03-D9C3-7F4B-B6EC99009903}"/>
          </ac:spMkLst>
        </pc:spChg>
        <pc:spChg chg="add mod">
          <ac:chgData name="Hayato Ishida" userId="585fa0fa6384767c" providerId="LiveId" clId="{16A39281-67E4-4A66-8852-6402A4C1E327}" dt="2025-08-31T18:02:46.636" v="10"/>
          <ac:spMkLst>
            <pc:docMk/>
            <pc:sldMk cId="654251065" sldId="287"/>
            <ac:spMk id="11" creationId="{E3E9DEE1-8B62-2704-1C64-AF4A689445CC}"/>
          </ac:spMkLst>
        </pc:spChg>
        <pc:picChg chg="del">
          <ac:chgData name="Hayato Ishida" userId="585fa0fa6384767c" providerId="LiveId" clId="{16A39281-67E4-4A66-8852-6402A4C1E327}" dt="2025-08-31T17:54:45.523" v="0" actId="478"/>
          <ac:picMkLst>
            <pc:docMk/>
            <pc:sldMk cId="654251065" sldId="287"/>
            <ac:picMk id="12" creationId="{89C720F2-B522-99CC-ED2F-2AD024FD1653}"/>
          </ac:picMkLst>
        </pc:picChg>
        <pc:picChg chg="add mod">
          <ac:chgData name="Hayato Ishida" userId="585fa0fa6384767c" providerId="LiveId" clId="{16A39281-67E4-4A66-8852-6402A4C1E327}" dt="2025-08-31T18:02:46.636" v="10"/>
          <ac:picMkLst>
            <pc:docMk/>
            <pc:sldMk cId="654251065" sldId="287"/>
            <ac:picMk id="13" creationId="{34260368-FF8E-3814-8BCA-9F18DDEA670A}"/>
          </ac:picMkLst>
        </pc:picChg>
      </pc:sldChg>
      <pc:sldChg chg="add del">
        <pc:chgData name="Hayato Ishida" userId="585fa0fa6384767c" providerId="LiveId" clId="{16A39281-67E4-4A66-8852-6402A4C1E327}" dt="2025-08-31T17:54:58.489" v="4" actId="47"/>
        <pc:sldMkLst>
          <pc:docMk/>
          <pc:sldMk cId="3064566856" sldId="387"/>
        </pc:sldMkLst>
      </pc:sldChg>
      <pc:sldChg chg="ord">
        <pc:chgData name="Hayato Ishida" userId="585fa0fa6384767c" providerId="LiveId" clId="{16A39281-67E4-4A66-8852-6402A4C1E327}" dt="2025-08-31T17:55:09.445" v="9"/>
        <pc:sldMkLst>
          <pc:docMk/>
          <pc:sldMk cId="2712671586" sldId="388"/>
        </pc:sldMkLst>
      </pc:sldChg>
      <pc:sldChg chg="addSp modSp add">
        <pc:chgData name="Hayato Ishida" userId="585fa0fa6384767c" providerId="LiveId" clId="{16A39281-67E4-4A66-8852-6402A4C1E327}" dt="2025-08-31T18:04:20.211" v="11"/>
        <pc:sldMkLst>
          <pc:docMk/>
          <pc:sldMk cId="3008057898" sldId="423"/>
        </pc:sldMkLst>
        <pc:spChg chg="add mod">
          <ac:chgData name="Hayato Ishida" userId="585fa0fa6384767c" providerId="LiveId" clId="{16A39281-67E4-4A66-8852-6402A4C1E327}" dt="2025-08-31T18:04:20.211" v="11"/>
          <ac:spMkLst>
            <pc:docMk/>
            <pc:sldMk cId="3008057898" sldId="423"/>
            <ac:spMk id="2" creationId="{9A20E252-F778-0E08-342F-5249307D2DA7}"/>
          </ac:spMkLst>
        </pc:spChg>
        <pc:spChg chg="add mod">
          <ac:chgData name="Hayato Ishida" userId="585fa0fa6384767c" providerId="LiveId" clId="{16A39281-67E4-4A66-8852-6402A4C1E327}" dt="2025-08-31T18:04:20.211" v="11"/>
          <ac:spMkLst>
            <pc:docMk/>
            <pc:sldMk cId="3008057898" sldId="423"/>
            <ac:spMk id="3" creationId="{98D2B1F4-1A42-5304-5B3F-173F7EDFB195}"/>
          </ac:spMkLst>
        </pc:spChg>
        <pc:spChg chg="add mod">
          <ac:chgData name="Hayato Ishida" userId="585fa0fa6384767c" providerId="LiveId" clId="{16A39281-67E4-4A66-8852-6402A4C1E327}" dt="2025-08-31T18:04:20.211" v="11"/>
          <ac:spMkLst>
            <pc:docMk/>
            <pc:sldMk cId="3008057898" sldId="423"/>
            <ac:spMk id="4" creationId="{AD10EA4E-D16E-DE0C-E5F8-3211A6CB573C}"/>
          </ac:spMkLst>
        </pc:spChg>
      </pc:sldChg>
      <pc:sldChg chg="addSp modSp add">
        <pc:chgData name="Hayato Ishida" userId="585fa0fa6384767c" providerId="LiveId" clId="{16A39281-67E4-4A66-8852-6402A4C1E327}" dt="2025-09-01T03:28:52.604" v="14"/>
        <pc:sldMkLst>
          <pc:docMk/>
          <pc:sldMk cId="3394785738" sldId="424"/>
        </pc:sldMkLst>
        <pc:spChg chg="add mod">
          <ac:chgData name="Hayato Ishida" userId="585fa0fa6384767c" providerId="LiveId" clId="{16A39281-67E4-4A66-8852-6402A4C1E327}" dt="2025-08-31T18:06:42.688" v="12"/>
          <ac:spMkLst>
            <pc:docMk/>
            <pc:sldMk cId="3394785738" sldId="424"/>
            <ac:spMk id="2" creationId="{CD9A1F6F-6680-DD08-2D55-2ABD4D60745A}"/>
          </ac:spMkLst>
        </pc:spChg>
        <pc:spChg chg="add mod">
          <ac:chgData name="Hayato Ishida" userId="585fa0fa6384767c" providerId="LiveId" clId="{16A39281-67E4-4A66-8852-6402A4C1E327}" dt="2025-08-31T18:06:42.688" v="12"/>
          <ac:spMkLst>
            <pc:docMk/>
            <pc:sldMk cId="3394785738" sldId="424"/>
            <ac:spMk id="3" creationId="{5DBC33BA-D1E1-18B9-1BEA-129BBA5B481C}"/>
          </ac:spMkLst>
        </pc:spChg>
        <pc:graphicFrameChg chg="add mod">
          <ac:chgData name="Hayato Ishida" userId="585fa0fa6384767c" providerId="LiveId" clId="{16A39281-67E4-4A66-8852-6402A4C1E327}" dt="2025-09-01T03:28:52.604" v="14"/>
          <ac:graphicFrameMkLst>
            <pc:docMk/>
            <pc:sldMk cId="3394785738" sldId="424"/>
            <ac:graphicFrameMk id="4" creationId="{D0C88FD4-124D-7159-F8B3-B5D4C9BB2788}"/>
          </ac:graphicFrameMkLst>
        </pc:graphicFrameChg>
      </pc:sldChg>
      <pc:sldChg chg="addSp modSp add">
        <pc:chgData name="Hayato Ishida" userId="585fa0fa6384767c" providerId="LiveId" clId="{16A39281-67E4-4A66-8852-6402A4C1E327}" dt="2025-09-01T03:28:52.604" v="14"/>
        <pc:sldMkLst>
          <pc:docMk/>
          <pc:sldMk cId="803573083" sldId="425"/>
        </pc:sldMkLst>
        <pc:spChg chg="add mod">
          <ac:chgData name="Hayato Ishida" userId="585fa0fa6384767c" providerId="LiveId" clId="{16A39281-67E4-4A66-8852-6402A4C1E327}" dt="2025-08-31T18:10:27.425" v="13"/>
          <ac:spMkLst>
            <pc:docMk/>
            <pc:sldMk cId="803573083" sldId="425"/>
            <ac:spMk id="2" creationId="{3831A29E-76CC-16DB-63B5-FCA24231C337}"/>
          </ac:spMkLst>
        </pc:spChg>
        <pc:spChg chg="add mod">
          <ac:chgData name="Hayato Ishida" userId="585fa0fa6384767c" providerId="LiveId" clId="{16A39281-67E4-4A66-8852-6402A4C1E327}" dt="2025-08-31T18:10:27.425" v="13"/>
          <ac:spMkLst>
            <pc:docMk/>
            <pc:sldMk cId="803573083" sldId="425"/>
            <ac:spMk id="3" creationId="{7D6F7A41-C447-D573-04DC-A1643F7A74C3}"/>
          </ac:spMkLst>
        </pc:spChg>
        <pc:graphicFrameChg chg="add mod">
          <ac:chgData name="Hayato Ishida" userId="585fa0fa6384767c" providerId="LiveId" clId="{16A39281-67E4-4A66-8852-6402A4C1E327}" dt="2025-09-01T03:28:52.604" v="14"/>
          <ac:graphicFrameMkLst>
            <pc:docMk/>
            <pc:sldMk cId="803573083" sldId="425"/>
            <ac:graphicFrameMk id="4" creationId="{E9D50844-C8EC-861A-78FD-1CEACDBE2FC6}"/>
          </ac:graphicFrameMkLst>
        </pc:graphicFrameChg>
      </pc:sldChg>
    </pc:docChg>
  </pc:docChgLst>
  <pc:docChgLst>
    <pc:chgData name="Hayato Ishida" userId="585fa0fa6384767c" providerId="LiveId" clId="{2FB206DA-44FC-4FBC-A882-272B744F71CD}"/>
    <pc:docChg chg="custSel modSld">
      <pc:chgData name="Hayato Ishida" userId="585fa0fa6384767c" providerId="LiveId" clId="{2FB206DA-44FC-4FBC-A882-272B744F71CD}" dt="2025-05-03T11:21:48.505" v="9" actId="20577"/>
      <pc:docMkLst>
        <pc:docMk/>
      </pc:docMkLst>
      <pc:sldChg chg="modSp mod">
        <pc:chgData name="Hayato Ishida" userId="585fa0fa6384767c" providerId="LiveId" clId="{2FB206DA-44FC-4FBC-A882-272B744F71CD}" dt="2025-05-03T11:20:54.280" v="8"/>
        <pc:sldMkLst>
          <pc:docMk/>
          <pc:sldMk cId="2567433019" sldId="280"/>
        </pc:sldMkLst>
      </pc:sldChg>
      <pc:sldChg chg="addSp delSp modSp mod">
        <pc:chgData name="Hayato Ishida" userId="585fa0fa6384767c" providerId="LiveId" clId="{2FB206DA-44FC-4FBC-A882-272B744F71CD}" dt="2025-05-03T11:15:26.688" v="5"/>
        <pc:sldMkLst>
          <pc:docMk/>
          <pc:sldMk cId="155858466" sldId="286"/>
        </pc:sldMkLst>
      </pc:sldChg>
      <pc:sldChg chg="addSp delSp modSp mod">
        <pc:chgData name="Hayato Ishida" userId="585fa0fa6384767c" providerId="LiveId" clId="{2FB206DA-44FC-4FBC-A882-272B744F71CD}" dt="2025-05-03T11:21:48.505" v="9" actId="20577"/>
        <pc:sldMkLst>
          <pc:docMk/>
          <pc:sldMk cId="654251065" sldId="28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77555-114C-4D13-A8E9-982D3FBDE682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7483F-3F00-45CA-B9CE-71766AA0FC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0713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23A420-A6C3-4DFD-BC9B-A28C54480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7785ED6-1F11-4995-8802-E7A92ED6F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7A83ED-D7FC-4E75-93FA-7CA4EB139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D98A5-C926-421E-8D16-8672B57BCFF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536A7D-2F90-40CC-80C9-D5DFA5931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F47EE9-ABD2-45F2-8DDF-94F9AFE52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8114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762872-9097-4551-92E5-A9EFABF75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276671E-317F-404E-8053-6A0A955B7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917538-7854-4E06-A143-495AC9D08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F9E5C-BB41-4DEE-A1EA-DBAEA4256446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4511E7-C4EE-48B3-832D-D6EE6A96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D71E43-553D-4A66-92CB-9785522DC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8800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078576-E3DC-4F83-AFE3-90CF203F3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476DC57-139C-48BA-B542-00433365D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BA6EC9-A18D-44DC-AC03-EDA535FC4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24A89-DB0D-48E1-8471-1D24BDCF8ED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649445-1B62-4CF3-8E24-C4237F945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C343D9-1467-4169-8338-FE5AEB88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010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7CB7BA-528D-4232-B694-570FC36B9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AFC298-407B-4183-A4C6-ECFBF7BE4B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3819996-4F41-4E1B-A7D2-68A9301275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87AA123-3779-4C89-A120-D8C36EFF2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D5387-62D3-481B-BBE0-5C3C88B297B2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BC9968F-4821-42DF-A0AE-DE8C2DAAC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4E5EBA0-D3D5-4A64-B7F9-5BDAC45C4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2740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2E56CA-F2EB-44BB-AF5E-63BAB6F11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BC6BB7A-29D5-421E-A385-A3E3EB46B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AFA027A-6FEA-404B-A426-5714EEEEF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893EF15-B619-40ED-B8BE-2BF8815069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F3F2AE8-4F41-4737-8697-4FF74A0A6C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D695459-80F1-47BE-B12B-B91FB7221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F17D8-7CE6-4CF7-8FAB-60185E786EB9}" type="datetime1">
              <a:rPr lang="en-GB" smtClean="0"/>
              <a:t>01/09/2025</a:t>
            </a:fld>
            <a:endParaRPr lang="en-GB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522F667-D14E-47A7-8AF2-CA42934D6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40F02E5-6D55-4748-8E9E-996F4576B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1466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9F8DAA-4277-4BAC-B679-1957A2C7A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B19C73D-345B-49EF-9EE4-390986E8F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7B8A6-723D-47BA-A0C2-370A8E40CF5A}" type="datetime1">
              <a:rPr lang="en-GB" smtClean="0"/>
              <a:t>01/09/2025</a:t>
            </a:fld>
            <a:endParaRPr lang="en-GB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87A8E7A-3F8E-4FC5-BB3F-FD7FCEFA6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C3D0E4C-C376-468C-A780-75B430575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5612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B5D00E3-6A1E-40BC-AA99-CAF238224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A632-D8E5-4DA3-B4CD-9FEBF68DCEB0}" type="datetime1">
              <a:rPr lang="en-GB" smtClean="0"/>
              <a:t>01/09/2025</a:t>
            </a:fld>
            <a:endParaRPr lang="en-GB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5AEBF75-6C76-481B-9AAC-C70F3C28C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CEB2586-BFD5-4D03-9AFF-B3681D600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2471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41D1B4-D81C-46C1-A422-8FE83A5AA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E1E09BE-13F6-4301-AB16-2FB109C5F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6B65445-0016-4746-A03B-F99F35DC5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12A4359-9369-4B46-B534-E689E6C82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EE16D-35BE-4BE7-8AC7-B36F6CD3E5EC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24D53E0-DB50-4B50-B03D-8BE605AB1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C70555-581F-4360-BAC1-A48E44C00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050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66E174-3B05-4E93-8F98-F5A96D0E2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5CB358A-32CB-4FF7-A5B9-C9D674144A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59E880C-6797-422C-88D2-B2770328C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792A9D5-AA4C-470B-8443-CDF698845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D8CDB-487D-4044-B328-87D0F47F3BCF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EB74E2E-D53B-4179-9D35-961BC87E1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23E2AE7-E634-4EAE-8F14-FFAD0839C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0673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62EB38-BF66-471E-BD00-D145D524B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19676F2-6EB3-4837-8B9B-5101E00BE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AF1E77-D5D4-4EAA-A9ED-CBFF4D522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C4E5-BC84-4427-9D05-A5F29CCAC796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DD2C66-E530-425A-B11C-F0A1B6D3A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8EB1D0-A34F-44ED-9BDE-254AAD359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4094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3D4C475-A351-4F11-BDB2-9B6FC662D4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5C7FA4F-2A7F-4DD4-9719-303500EF7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6604C8-FEBE-4C1F-A49E-F399EBF3D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E0025-920B-4CEF-B7FD-D6EA5B89461B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405AEA-A514-4285-A292-E1F817D0F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0B7D56-ED17-445E-BFE4-675A762E8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885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63F3B0D-4141-4D30-8082-577CD4167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27EF37-390B-4D5F-B2F6-103F90B81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639B55-8065-43F8-BF39-9B908098DB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2097A-6903-4692-A2D1-BE7A41A75E7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6F0227-74FF-42A7-8C7D-0BD2B1E110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34893C-F66E-48FA-BA80-CC18FCF0A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568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peakerdeck.com/hayat01sh1da/dive-deeper-into-presentday-english-vol2-english-around-the-world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hyperlink" Target="https://github.com/hayat01sh1da" TargetMode="External"/><Relationship Id="rId7" Type="http://schemas.openxmlformats.org/officeDocument/2006/relationships/hyperlink" Target="https://www.docswell.com/user/hayat01sh1da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peakerdeck.com/hayat01sh1da" TargetMode="External"/><Relationship Id="rId5" Type="http://schemas.openxmlformats.org/officeDocument/2006/relationships/hyperlink" Target="https://www.linkedin.com/in/hayat01sh1da/" TargetMode="External"/><Relationship Id="rId4" Type="http://schemas.openxmlformats.org/officeDocument/2006/relationships/hyperlink" Target="https://hackmd.io/@hayat01sh1da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://vitaljapan.com/" TargetMode="External"/><Relationship Id="rId3" Type="http://schemas.openxmlformats.org/officeDocument/2006/relationships/hyperlink" Target="http://www.centerye.org/" TargetMode="External"/><Relationship Id="rId7" Type="http://schemas.openxmlformats.org/officeDocument/2006/relationships/hyperlink" Target="https://sunrisetmc.toastmastersclubs.org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diy.biz/teachers-profile/?id=4976" TargetMode="External"/><Relationship Id="rId5" Type="http://schemas.openxmlformats.org/officeDocument/2006/relationships/hyperlink" Target="https://stives-h.schools.nsw.gov.au/" TargetMode="External"/><Relationship Id="rId4" Type="http://schemas.openxmlformats.org/officeDocument/2006/relationships/hyperlink" Target="https://www.hamiltonisland.com.au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slide" Target="slide29.xml"/><Relationship Id="rId5" Type="http://schemas.openxmlformats.org/officeDocument/2006/relationships/slide" Target="slide27.xml"/><Relationship Id="rId4" Type="http://schemas.openxmlformats.org/officeDocument/2006/relationships/slide" Target="slide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canadianencyclopedia.ca/en/article/canadian-english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encyclopedia.com/humanities/encyclopedias-almanacs-transcripts-and-maps/new-zealand-english" TargetMode="External"/><Relationship Id="rId5" Type="http://schemas.openxmlformats.org/officeDocument/2006/relationships/hyperlink" Target="https://blog.lingoda.com/en/a-guide-to-australian-english/" TargetMode="External"/><Relationship Id="rId4" Type="http://schemas.openxmlformats.org/officeDocument/2006/relationships/hyperlink" Target="https://www.language-museum.com/encyclopedia/n/nigerian-pidgin-english.php" TargetMode="Externa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タイトル 1">
            <a:extLst>
              <a:ext uri="{FF2B5EF4-FFF2-40B4-BE49-F238E27FC236}">
                <a16:creationId xmlns:a16="http://schemas.microsoft.com/office/drawing/2014/main" id="{838FDBDF-AA97-A755-5929-CA04991594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0870" y="1824605"/>
            <a:ext cx="9144000" cy="1689552"/>
          </a:xfrm>
          <a:ln>
            <a:noFill/>
          </a:ln>
        </p:spPr>
        <p:txBody>
          <a:bodyPr>
            <a:normAutofit/>
          </a:bodyPr>
          <a:lstStyle/>
          <a:p>
            <a:r>
              <a:rPr lang="ja-JP" alt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現代英語を知ろう</a:t>
            </a:r>
            <a:endParaRPr lang="en-GB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1" name="字幕 2">
            <a:extLst>
              <a:ext uri="{FF2B5EF4-FFF2-40B4-BE49-F238E27FC236}">
                <a16:creationId xmlns:a16="http://schemas.microsoft.com/office/drawing/2014/main" id="{9F3859FD-9718-0C81-33B3-44F030588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31017" y="4706224"/>
            <a:ext cx="4683854" cy="496465"/>
          </a:xfrm>
          <a:ln>
            <a:noFill/>
          </a:ln>
        </p:spPr>
        <p:txBody>
          <a:bodyPr>
            <a:normAutofit fontScale="92500" lnSpcReduction="10000"/>
          </a:bodyPr>
          <a:lstStyle/>
          <a:p>
            <a:pPr algn="r"/>
            <a:r>
              <a:rPr lang="ja-JP" altLang="en-US" sz="3200" b="1" dirty="0">
                <a:latin typeface="+mn-ea"/>
              </a:rPr>
              <a:t>作成者</a:t>
            </a:r>
            <a:r>
              <a:rPr lang="en-US" sz="3200" b="1" dirty="0">
                <a:latin typeface="+mn-ea"/>
              </a:rPr>
              <a:t>: </a:t>
            </a:r>
            <a:r>
              <a:rPr lang="ja-JP" altLang="en-US" sz="3200" b="1" dirty="0">
                <a:latin typeface="+mn-ea"/>
              </a:rPr>
              <a:t>石田</a:t>
            </a:r>
            <a:r>
              <a:rPr lang="en-US" sz="3200" b="1" dirty="0">
                <a:latin typeface="+mn-ea"/>
              </a:rPr>
              <a:t> </a:t>
            </a:r>
            <a:r>
              <a:rPr lang="ja-JP" altLang="en-US" sz="3200" b="1" dirty="0">
                <a:latin typeface="+mn-ea"/>
              </a:rPr>
              <a:t>隼人</a:t>
            </a:r>
            <a:endParaRPr lang="en-GB" sz="3200" b="1" dirty="0">
              <a:latin typeface="+mn-ea"/>
            </a:endParaRPr>
          </a:p>
        </p:txBody>
      </p:sp>
      <p:sp>
        <p:nvSpPr>
          <p:cNvPr id="12" name="スライド番号プレースホルダー 3">
            <a:extLst>
              <a:ext uri="{FF2B5EF4-FFF2-40B4-BE49-F238E27FC236}">
                <a16:creationId xmlns:a16="http://schemas.microsoft.com/office/drawing/2014/main" id="{37DCA1F6-8A6F-EFA2-32E0-4107C174B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字幕 2">
            <a:extLst>
              <a:ext uri="{FF2B5EF4-FFF2-40B4-BE49-F238E27FC236}">
                <a16:creationId xmlns:a16="http://schemas.microsoft.com/office/drawing/2014/main" id="{7EC127B2-8036-0DBB-686D-9BBD027D4A12}"/>
              </a:ext>
            </a:extLst>
          </p:cNvPr>
          <p:cNvSpPr txBox="1">
            <a:spLocks/>
          </p:cNvSpPr>
          <p:nvPr/>
        </p:nvSpPr>
        <p:spPr>
          <a:xfrm>
            <a:off x="6648275" y="5445970"/>
            <a:ext cx="3966595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最終更新日</a:t>
            </a:r>
            <a:r>
              <a:rPr kumimoji="0" lang="en-GB" altLang="ja-JP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: </a:t>
            </a:r>
            <a:r>
              <a:rPr kumimoji="0" lang="en-GB" altLang="ja-JP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t>2024</a:t>
            </a:r>
            <a:r>
              <a:rPr kumimoji="0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年</a:t>
            </a:r>
            <a:r>
              <a:rPr kumimoji="0" lang="en-GB" altLang="ja-JP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t>07</a:t>
            </a:r>
            <a:r>
              <a:rPr kumimoji="0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月</a:t>
            </a:r>
            <a:r>
              <a:rPr kumimoji="0" lang="en-GB" altLang="ja-JP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t>16</a:t>
            </a:r>
            <a:r>
              <a:rPr kumimoji="0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日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9384CEEA-9ED1-6887-AFE8-7BA71E626EBF}"/>
              </a:ext>
            </a:extLst>
          </p:cNvPr>
          <p:cNvSpPr txBox="1">
            <a:spLocks/>
          </p:cNvSpPr>
          <p:nvPr/>
        </p:nvSpPr>
        <p:spPr>
          <a:xfrm>
            <a:off x="1470870" y="3514157"/>
            <a:ext cx="9144000" cy="55577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ja-JP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cs typeface="+mj-cs"/>
              </a:rPr>
              <a:t>Vol.2 -</a:t>
            </a:r>
            <a:r>
              <a:rPr kumimoji="0" lang="ja-JP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cs typeface="+mj-cs"/>
              </a:rPr>
              <a:t>色んな「英語」</a:t>
            </a:r>
            <a:r>
              <a:rPr kumimoji="0" lang="en-GB" altLang="ja-JP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cs typeface="+mj-cs"/>
              </a:rPr>
              <a:t>-</a:t>
            </a:r>
            <a:endParaRPr kumimoji="0" lang="en-GB" sz="5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ea"/>
              <a:cs typeface="+mj-cs"/>
            </a:endParaRPr>
          </a:p>
        </p:txBody>
      </p:sp>
      <p:sp>
        <p:nvSpPr>
          <p:cNvPr id="2" name="字幕 2">
            <a:extLst>
              <a:ext uri="{FF2B5EF4-FFF2-40B4-BE49-F238E27FC236}">
                <a16:creationId xmlns:a16="http://schemas.microsoft.com/office/drawing/2014/main" id="{9105717C-FCFA-427A-0249-8F2D02825EE3}"/>
              </a:ext>
            </a:extLst>
          </p:cNvPr>
          <p:cNvSpPr txBox="1">
            <a:spLocks/>
          </p:cNvSpPr>
          <p:nvPr/>
        </p:nvSpPr>
        <p:spPr>
          <a:xfrm>
            <a:off x="1470871" y="5440495"/>
            <a:ext cx="1968615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ja-JP" altLang="en-US" sz="2000" dirty="0"/>
              <a:t>英語版は</a:t>
            </a:r>
            <a:r>
              <a:rPr lang="ja-JP" altLang="en-US" sz="2000" dirty="0">
                <a:hlinkClick r:id="rId3"/>
              </a:rPr>
              <a:t>こちら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78715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FE0E0247-37E5-A63B-EEBD-B99690584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ja-JP" altLang="en-US" b="1" dirty="0"/>
              <a:t>自己紹介</a:t>
            </a:r>
            <a:endParaRPr lang="en-GB" b="1" dirty="0"/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51B6D318-DB03-D9C3-7F4B-B6EC99009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268288" indent="-268288"/>
            <a:r>
              <a:rPr lang="ja-JP" altLang="en-US" sz="2400" dirty="0"/>
              <a:t>各種アカウント</a:t>
            </a:r>
            <a:endParaRPr lang="en-GB" altLang="ja-JP" sz="2400" dirty="0"/>
          </a:p>
          <a:p>
            <a:pPr marL="725488" lvl="1" indent="-268288"/>
            <a:r>
              <a:rPr lang="en-US" altLang="ja-JP" sz="2000" dirty="0"/>
              <a:t>GitHub: </a:t>
            </a:r>
            <a:r>
              <a:rPr lang="en-US" altLang="ja-JP" sz="2000" dirty="0">
                <a:hlinkClick r:id="rId3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X: </a:t>
            </a:r>
            <a:r>
              <a:rPr lang="en-US" altLang="ja-JP" sz="2000" dirty="0">
                <a:hlinkClick r:id="rId4"/>
              </a:rPr>
              <a:t>@hayat01sh1da</a:t>
            </a:r>
            <a:endParaRPr lang="en-GB" altLang="ja-JP" sz="2000" dirty="0"/>
          </a:p>
          <a:p>
            <a:pPr marL="725488" lvl="1" indent="-268288"/>
            <a:r>
              <a:rPr lang="en-GB" altLang="ja-JP" sz="2000" dirty="0"/>
              <a:t>LinkedIn: </a:t>
            </a:r>
            <a:r>
              <a:rPr lang="en-US" altLang="ja-JP" sz="2000" dirty="0">
                <a:hlinkClick r:id="rId5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Speaker Deck: </a:t>
            </a:r>
            <a:r>
              <a:rPr lang="en-US" altLang="ja-JP" sz="2000" dirty="0">
                <a:hlinkClick r:id="rId6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Docswell: </a:t>
            </a:r>
            <a:r>
              <a:rPr lang="en-US" altLang="ja-JP" sz="2000" dirty="0">
                <a:hlinkClick r:id="rId7"/>
              </a:rPr>
              <a:t>@hayat01sh1da</a:t>
            </a:r>
            <a:endParaRPr lang="en-US" altLang="ja-JP" sz="2000" dirty="0"/>
          </a:p>
          <a:p>
            <a:pPr marL="268288" indent="-268288"/>
            <a:r>
              <a:rPr lang="ja-JP" altLang="en-US" sz="2400" dirty="0"/>
              <a:t>職業</a:t>
            </a:r>
            <a:r>
              <a:rPr lang="en-GB" altLang="ja-JP" sz="2400" dirty="0"/>
              <a:t>: </a:t>
            </a:r>
            <a:r>
              <a:rPr lang="ja-JP" altLang="en-US" sz="2400" dirty="0"/>
              <a:t>ソフトウェアエンジニア</a:t>
            </a:r>
            <a:endParaRPr lang="en-GB" altLang="ja-JP" sz="2400" dirty="0"/>
          </a:p>
          <a:p>
            <a:pPr marL="268288" indent="-268288"/>
            <a:r>
              <a:rPr lang="ja-JP" altLang="en-US" sz="2400" dirty="0"/>
              <a:t>趣味</a:t>
            </a:r>
            <a:endParaRPr lang="en-GB" altLang="ja-JP" sz="2400" dirty="0"/>
          </a:p>
          <a:p>
            <a:pPr marL="725488" lvl="1" indent="-268288"/>
            <a:r>
              <a:rPr lang="ja-JP" altLang="en-US" sz="2000" dirty="0"/>
              <a:t>言語学</a:t>
            </a:r>
            <a:endParaRPr lang="en-GB" altLang="ja-JP" sz="2000" dirty="0"/>
          </a:p>
          <a:p>
            <a:pPr marL="725488" lvl="1" indent="-268288"/>
            <a:r>
              <a:rPr lang="ja-JP" altLang="en-US" sz="2000" dirty="0"/>
              <a:t>カラオケ</a:t>
            </a:r>
            <a:endParaRPr lang="en-GB" altLang="ja-JP" sz="2000" dirty="0"/>
          </a:p>
          <a:p>
            <a:pPr marL="725488" lvl="1" indent="-268288"/>
            <a:r>
              <a:rPr lang="ja-JP" altLang="en-US" sz="2000" dirty="0"/>
              <a:t>音楽鑑賞</a:t>
            </a:r>
            <a:endParaRPr lang="en-GB" altLang="ja-JP" sz="2000" dirty="0"/>
          </a:p>
          <a:p>
            <a:pPr marL="725488" lvl="1" indent="-268288"/>
            <a:r>
              <a:rPr lang="ja-JP" altLang="en-US" sz="2000" dirty="0"/>
              <a:t>映画鑑賞</a:t>
            </a:r>
            <a:endParaRPr lang="en-GB" altLang="ja-JP" sz="2000" dirty="0"/>
          </a:p>
          <a:p>
            <a:pPr marL="725488" lvl="1" indent="-268288"/>
            <a:r>
              <a:rPr lang="ja-JP" altLang="en-US" sz="2000" dirty="0"/>
              <a:t>猫飼育</a:t>
            </a:r>
            <a:endParaRPr lang="en-GB" altLang="ja-JP" sz="2000" dirty="0"/>
          </a:p>
        </p:txBody>
      </p:sp>
      <p:sp>
        <p:nvSpPr>
          <p:cNvPr id="11" name="スライド番号プレースホルダー 3">
            <a:extLst>
              <a:ext uri="{FF2B5EF4-FFF2-40B4-BE49-F238E27FC236}">
                <a16:creationId xmlns:a16="http://schemas.microsoft.com/office/drawing/2014/main" id="{E3E9DEE1-8B62-2704-1C64-AF4A68944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4260368-FF8E-3814-8BCA-9F18DDEA670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316" y="1824399"/>
            <a:ext cx="5804483" cy="435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251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55B8D0-FBD0-9B5F-A935-2990E9245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ja-JP" altLang="en-US" b="1" dirty="0">
                <a:latin typeface="+mj-ea"/>
              </a:rPr>
              <a:t>免許</a:t>
            </a:r>
            <a:r>
              <a:rPr lang="en-GB" altLang="ja-JP" b="1" dirty="0">
                <a:latin typeface="+mj-ea"/>
              </a:rPr>
              <a:t> / </a:t>
            </a:r>
            <a:r>
              <a:rPr lang="ja-JP" altLang="en-US" b="1" dirty="0">
                <a:latin typeface="+mj-ea"/>
              </a:rPr>
              <a:t>資格</a:t>
            </a:r>
            <a:endParaRPr lang="en-GB" b="1" dirty="0">
              <a:latin typeface="+mj-ea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56D017-33E9-546F-B8B3-A9515D8FA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268288" lvl="1" indent="-268288"/>
            <a:r>
              <a:rPr lang="ja-JP" altLang="en-US" dirty="0"/>
              <a:t>英語</a:t>
            </a:r>
            <a:endParaRPr lang="en-US" altLang="ja-JP" dirty="0"/>
          </a:p>
          <a:p>
            <a:pPr marL="725488" lvl="2" indent="-268288"/>
            <a:r>
              <a:rPr lang="en-US" altLang="ja-JP" dirty="0"/>
              <a:t>TOEIC® Listening &amp; Reading 915</a:t>
            </a:r>
            <a:r>
              <a:rPr lang="ja-JP" altLang="en-US" dirty="0"/>
              <a:t>点</a:t>
            </a:r>
            <a:r>
              <a:rPr lang="en-GB" altLang="ja-JP" dirty="0"/>
              <a:t>: 2019</a:t>
            </a:r>
            <a:r>
              <a:rPr lang="ja-JP" altLang="en-US" dirty="0"/>
              <a:t>年</a:t>
            </a:r>
            <a:r>
              <a:rPr lang="en-US" altLang="ja-JP" dirty="0"/>
              <a:t>12</a:t>
            </a:r>
            <a:r>
              <a:rPr lang="ja-JP" altLang="en-US" dirty="0"/>
              <a:t>月</a:t>
            </a:r>
            <a:r>
              <a:rPr lang="en-GB" altLang="ja-JP" dirty="0"/>
              <a:t> </a:t>
            </a:r>
            <a:r>
              <a:rPr lang="ja-JP" altLang="en-US" dirty="0"/>
              <a:t>取得</a:t>
            </a:r>
          </a:p>
          <a:p>
            <a:pPr marL="268288" lvl="1" indent="-268288"/>
            <a:r>
              <a:rPr lang="ja-JP" altLang="en-US" dirty="0"/>
              <a:t>エンジニアリング</a:t>
            </a:r>
            <a:endParaRPr lang="en-GB" altLang="ja-JP" dirty="0"/>
          </a:p>
          <a:p>
            <a:pPr marL="725488" lvl="2" indent="-268288"/>
            <a:r>
              <a:rPr lang="ja-JP" altLang="en-US" dirty="0"/>
              <a:t>情報セキュリティマネジメント</a:t>
            </a:r>
            <a:r>
              <a:rPr lang="en-GB" altLang="ja-JP" dirty="0"/>
              <a:t>: 2017</a:t>
            </a:r>
            <a:r>
              <a:rPr lang="ja-JP" altLang="en-US" dirty="0"/>
              <a:t>年</a:t>
            </a:r>
            <a:r>
              <a:rPr lang="en-US" altLang="ja-JP" dirty="0"/>
              <a:t>11</a:t>
            </a:r>
            <a:r>
              <a:rPr lang="ja-JP" altLang="en-US" dirty="0"/>
              <a:t>月</a:t>
            </a:r>
            <a:r>
              <a:rPr lang="en-GB" altLang="ja-JP" dirty="0"/>
              <a:t> </a:t>
            </a:r>
            <a:r>
              <a:rPr lang="ja-JP" altLang="en-US" dirty="0"/>
              <a:t>取得</a:t>
            </a:r>
            <a:endParaRPr lang="en-GB" altLang="ja-JP" dirty="0"/>
          </a:p>
          <a:p>
            <a:pPr marL="725488" lvl="2" indent="-268288"/>
            <a:r>
              <a:rPr lang="ja-JP" altLang="en-US" dirty="0"/>
              <a:t>応用情報技術者</a:t>
            </a:r>
            <a:r>
              <a:rPr lang="en-GB" altLang="ja-JP" dirty="0"/>
              <a:t>: 2017</a:t>
            </a:r>
            <a:r>
              <a:rPr lang="ja-JP" altLang="en-US" dirty="0"/>
              <a:t>年</a:t>
            </a:r>
            <a:r>
              <a:rPr lang="en-US" altLang="ja-JP" dirty="0"/>
              <a:t>06</a:t>
            </a:r>
            <a:r>
              <a:rPr lang="ja-JP" altLang="en-US" dirty="0"/>
              <a:t>月</a:t>
            </a:r>
            <a:r>
              <a:rPr lang="en-GB" altLang="ja-JP" dirty="0"/>
              <a:t> </a:t>
            </a:r>
            <a:r>
              <a:rPr lang="ja-JP" altLang="en-US" dirty="0"/>
              <a:t>取得</a:t>
            </a:r>
            <a:endParaRPr lang="en-GB" altLang="ja-JP" dirty="0"/>
          </a:p>
          <a:p>
            <a:pPr marL="725488" lvl="2" indent="-268288"/>
            <a:r>
              <a:rPr lang="ja-JP" altLang="en-US" dirty="0"/>
              <a:t>基本情報技術者</a:t>
            </a:r>
            <a:r>
              <a:rPr lang="en-GB" altLang="ja-JP" dirty="0"/>
              <a:t>: 2016</a:t>
            </a:r>
            <a:r>
              <a:rPr lang="ja-JP" altLang="en-US" dirty="0"/>
              <a:t>年</a:t>
            </a:r>
            <a:r>
              <a:rPr lang="en-US" altLang="ja-JP" dirty="0"/>
              <a:t>11</a:t>
            </a:r>
            <a:r>
              <a:rPr lang="ja-JP" altLang="en-US" dirty="0"/>
              <a:t>月</a:t>
            </a:r>
            <a:r>
              <a:rPr lang="en-GB" altLang="ja-JP" dirty="0"/>
              <a:t> </a:t>
            </a:r>
            <a:r>
              <a:rPr lang="ja-JP" altLang="en-US" dirty="0"/>
              <a:t>取得</a:t>
            </a:r>
          </a:p>
          <a:p>
            <a:pPr marL="725488" lvl="2" indent="-268288"/>
            <a:r>
              <a:rPr lang="en-US" altLang="ja-JP" dirty="0"/>
              <a:t>IT </a:t>
            </a:r>
            <a:r>
              <a:rPr lang="ja-JP" altLang="en-US" dirty="0"/>
              <a:t>パスポート</a:t>
            </a:r>
            <a:r>
              <a:rPr lang="en-GB" altLang="ja-JP" dirty="0"/>
              <a:t>: 2016</a:t>
            </a:r>
            <a:r>
              <a:rPr lang="ja-JP" altLang="en-US" dirty="0"/>
              <a:t>年</a:t>
            </a:r>
            <a:r>
              <a:rPr lang="en-US" altLang="ja-JP" dirty="0"/>
              <a:t>04</a:t>
            </a:r>
            <a:r>
              <a:rPr lang="ja-JP" altLang="en-US" dirty="0"/>
              <a:t>月</a:t>
            </a:r>
            <a:r>
              <a:rPr lang="en-GB" altLang="ja-JP" dirty="0"/>
              <a:t> </a:t>
            </a:r>
            <a:r>
              <a:rPr lang="ja-JP" altLang="en-US" dirty="0"/>
              <a:t>取得</a:t>
            </a:r>
            <a:endParaRPr lang="en-GB" altLang="ja-JP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268288" lvl="1" indent="-268288"/>
            <a:r>
              <a:rPr lang="ja-JP" altLang="en-US" dirty="0">
                <a:solidFill>
                  <a:srgbClr val="333333"/>
                </a:solidFill>
                <a:latin typeface="-apple-system"/>
              </a:rPr>
              <a:t>その他</a:t>
            </a:r>
            <a:endParaRPr lang="en-GB" altLang="ja-JP" dirty="0">
              <a:solidFill>
                <a:srgbClr val="333333"/>
              </a:solidFill>
              <a:latin typeface="-apple-system"/>
            </a:endParaRPr>
          </a:p>
          <a:p>
            <a:pPr marL="725488" lvl="2" indent="-268288"/>
            <a:r>
              <a:rPr lang="ja-JP" altLang="en-US" dirty="0">
                <a:solidFill>
                  <a:srgbClr val="333333"/>
                </a:solidFill>
                <a:latin typeface="-apple-system"/>
              </a:rPr>
              <a:t>珠算</a:t>
            </a:r>
            <a:r>
              <a:rPr lang="en-GB" altLang="ja-JP" dirty="0">
                <a:solidFill>
                  <a:srgbClr val="333333"/>
                </a:solidFill>
                <a:latin typeface="-apple-system"/>
              </a:rPr>
              <a:t>2</a:t>
            </a:r>
            <a:r>
              <a:rPr lang="ja-JP" altLang="en-US" dirty="0">
                <a:solidFill>
                  <a:srgbClr val="333333"/>
                </a:solidFill>
                <a:latin typeface="-apple-system"/>
              </a:rPr>
              <a:t>級</a:t>
            </a:r>
            <a:r>
              <a:rPr lang="en-GB" altLang="ja-JP" dirty="0">
                <a:solidFill>
                  <a:srgbClr val="333333"/>
                </a:solidFill>
                <a:latin typeface="-apple-system"/>
              </a:rPr>
              <a:t>: </a:t>
            </a:r>
            <a:r>
              <a:rPr lang="en-GB" altLang="ja-JP" dirty="0"/>
              <a:t>2002</a:t>
            </a:r>
            <a:r>
              <a:rPr lang="ja-JP" altLang="en-US" dirty="0"/>
              <a:t>年</a:t>
            </a:r>
            <a:r>
              <a:rPr lang="en-US" altLang="ja-JP" dirty="0"/>
              <a:t>06</a:t>
            </a:r>
            <a:r>
              <a:rPr lang="ja-JP" altLang="en-US" dirty="0"/>
              <a:t>月</a:t>
            </a:r>
            <a:r>
              <a:rPr lang="en-GB" altLang="ja-JP" dirty="0"/>
              <a:t> </a:t>
            </a:r>
            <a:r>
              <a:rPr lang="ja-JP" altLang="en-US" dirty="0"/>
              <a:t>取得</a:t>
            </a:r>
            <a:endParaRPr lang="en-GB" altLang="ja-JP" dirty="0"/>
          </a:p>
          <a:p>
            <a:pPr marL="725488" lvl="2" indent="-268288"/>
            <a:r>
              <a:rPr lang="ja-JP" altLang="en-US" dirty="0">
                <a:solidFill>
                  <a:srgbClr val="333333"/>
                </a:solidFill>
                <a:latin typeface="-apple-system"/>
              </a:rPr>
              <a:t>暗算</a:t>
            </a:r>
            <a:r>
              <a:rPr lang="en-US" altLang="ja-JP" dirty="0">
                <a:solidFill>
                  <a:srgbClr val="333333"/>
                </a:solidFill>
                <a:latin typeface="-apple-system"/>
              </a:rPr>
              <a:t>3</a:t>
            </a:r>
            <a:r>
              <a:rPr lang="ja-JP" altLang="en-US" dirty="0">
                <a:solidFill>
                  <a:srgbClr val="333333"/>
                </a:solidFill>
                <a:latin typeface="-apple-system"/>
              </a:rPr>
              <a:t>級</a:t>
            </a:r>
            <a:r>
              <a:rPr lang="en-GB" altLang="ja-JP" b="0" i="0" dirty="0">
                <a:solidFill>
                  <a:srgbClr val="333333"/>
                </a:solidFill>
                <a:effectLst/>
                <a:latin typeface="-apple-system"/>
              </a:rPr>
              <a:t>: </a:t>
            </a:r>
            <a:r>
              <a:rPr lang="en-GB" altLang="ja-JP" dirty="0"/>
              <a:t>2001</a:t>
            </a:r>
            <a:r>
              <a:rPr lang="ja-JP" altLang="en-US" dirty="0"/>
              <a:t>年</a:t>
            </a:r>
            <a:r>
              <a:rPr lang="en-US" altLang="ja-JP" dirty="0"/>
              <a:t>02</a:t>
            </a:r>
            <a:r>
              <a:rPr lang="ja-JP" altLang="en-US" dirty="0"/>
              <a:t>月</a:t>
            </a:r>
            <a:r>
              <a:rPr lang="en-GB" altLang="ja-JP" dirty="0"/>
              <a:t> </a:t>
            </a:r>
            <a:r>
              <a:rPr lang="ja-JP" altLang="en-US" dirty="0"/>
              <a:t>取得</a:t>
            </a:r>
            <a:endParaRPr lang="en-GB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F305983-0249-A6CE-AD02-933B3C887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2671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66A133-B226-DA44-E98B-ED0E09AE6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20E252-F778-0E08-342F-5249307D2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kumimoji="1" lang="ja-JP" altLang="en-US" b="1" dirty="0">
                <a:latin typeface="+mn-lt"/>
              </a:rPr>
              <a:t>スキルスタック</a:t>
            </a:r>
            <a:endParaRPr lang="en-GB" b="1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8D2B1F4-1A42-5304-5B3F-173F7EDFB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ln>
            <a:noFill/>
          </a:ln>
        </p:spPr>
        <p:txBody>
          <a:bodyPr>
            <a:normAutofit/>
          </a:bodyPr>
          <a:lstStyle/>
          <a:p>
            <a:pPr marL="268288" indent="-268288"/>
            <a:r>
              <a:rPr lang="ja-JP" altLang="en-US" sz="2400" dirty="0"/>
              <a:t>自然言語</a:t>
            </a:r>
          </a:p>
          <a:p>
            <a:pPr marL="717550" lvl="1" indent="-260350"/>
            <a:r>
              <a:rPr lang="ja-JP" altLang="en-US" sz="2000" dirty="0"/>
              <a:t>日本語</a:t>
            </a:r>
            <a:r>
              <a:rPr lang="en-GB" altLang="ja-JP" sz="2000" dirty="0"/>
              <a:t>: </a:t>
            </a:r>
            <a:r>
              <a:rPr lang="ja-JP" altLang="en-US" sz="2000" dirty="0"/>
              <a:t>母語</a:t>
            </a:r>
            <a:endParaRPr lang="en-GB" altLang="ja-JP" sz="2000" dirty="0"/>
          </a:p>
          <a:p>
            <a:pPr marL="717550" lvl="1" indent="-260350"/>
            <a:r>
              <a:rPr lang="ja-JP" altLang="en-US" sz="2000" dirty="0"/>
              <a:t>英語</a:t>
            </a:r>
            <a:r>
              <a:rPr lang="en-GB" altLang="ja-JP" sz="2000" dirty="0"/>
              <a:t>: </a:t>
            </a:r>
            <a:r>
              <a:rPr lang="ja-JP" altLang="en-US" sz="2000" dirty="0"/>
              <a:t>ビジネスレベル</a:t>
            </a:r>
            <a:endParaRPr lang="en-GB" altLang="ja-JP" sz="2000" dirty="0"/>
          </a:p>
          <a:p>
            <a:pPr marL="268288" indent="-268288"/>
            <a:r>
              <a:rPr lang="ja-JP" altLang="en-US" sz="2400" dirty="0"/>
              <a:t>開発</a:t>
            </a:r>
            <a:endParaRPr lang="en-GB" altLang="ja-JP" sz="2400" dirty="0"/>
          </a:p>
          <a:p>
            <a:pPr marL="717550" lvl="1" indent="-260350"/>
            <a:r>
              <a:rPr lang="ja-JP" altLang="en-US" sz="2000" b="1" dirty="0"/>
              <a:t>バックエンド</a:t>
            </a:r>
            <a:r>
              <a:rPr lang="en-GB" altLang="ja-JP" sz="2000" b="1" dirty="0"/>
              <a:t>: Ruby(Ruby on Rails)</a:t>
            </a:r>
            <a:r>
              <a:rPr lang="en-GB" altLang="ja-JP" sz="2000" dirty="0"/>
              <a:t>, Python</a:t>
            </a:r>
          </a:p>
          <a:p>
            <a:pPr marL="717550" lvl="1" indent="-260350"/>
            <a:r>
              <a:rPr lang="ja-JP" altLang="en-US" sz="2000" dirty="0"/>
              <a:t>フロントエンド</a:t>
            </a:r>
            <a:r>
              <a:rPr lang="en-GB" altLang="ja-JP" sz="2000" dirty="0"/>
              <a:t>: TypeScript + React.js, TypeScript +Vue.js</a:t>
            </a:r>
          </a:p>
          <a:p>
            <a:pPr marL="717550" lvl="1" indent="-260350"/>
            <a:r>
              <a:rPr lang="ja-JP" altLang="en-US" sz="2000" b="1" dirty="0"/>
              <a:t>データベース</a:t>
            </a:r>
            <a:r>
              <a:rPr lang="en-GB" altLang="ja-JP" sz="2000" b="1" dirty="0"/>
              <a:t>: MySQL</a:t>
            </a:r>
            <a:r>
              <a:rPr lang="en-GB" altLang="ja-JP" sz="2000" dirty="0"/>
              <a:t>, PostgreSQL, MongoDB</a:t>
            </a:r>
          </a:p>
          <a:p>
            <a:pPr marL="717550" lvl="1" indent="-260350"/>
            <a:r>
              <a:rPr lang="ja-JP" altLang="en-US" sz="2000" b="1" dirty="0"/>
              <a:t>アーキテクチャー</a:t>
            </a:r>
            <a:r>
              <a:rPr lang="en-GB" altLang="ja-JP" sz="2000" b="1" dirty="0"/>
              <a:t>: </a:t>
            </a:r>
            <a:r>
              <a:rPr lang="ja-JP" altLang="en-US" sz="2000" b="1" dirty="0"/>
              <a:t>モノリス</a:t>
            </a:r>
            <a:r>
              <a:rPr lang="en-GB" altLang="ja-JP" sz="2000" b="1" dirty="0"/>
              <a:t>, </a:t>
            </a:r>
            <a:r>
              <a:rPr lang="ja-JP" altLang="en-US" sz="2000" b="1" dirty="0"/>
              <a:t>モジューラーモノリス</a:t>
            </a:r>
            <a:endParaRPr lang="en-GB" altLang="ja-JP" sz="2000" b="1" dirty="0"/>
          </a:p>
          <a:p>
            <a:pPr marL="717550" lvl="1" indent="-260350"/>
            <a:r>
              <a:rPr lang="ja-JP" altLang="en-US" sz="2000" dirty="0"/>
              <a:t>ホスティング</a:t>
            </a:r>
            <a:r>
              <a:rPr lang="en-GB" altLang="ja-JP" sz="2000" dirty="0"/>
              <a:t>: AWS ESK</a:t>
            </a:r>
          </a:p>
          <a:p>
            <a:pPr marL="717550" lvl="1" indent="-260350"/>
            <a:r>
              <a:rPr lang="ja-JP" altLang="en-US" sz="2000" dirty="0"/>
              <a:t>バージョン管理</a:t>
            </a:r>
            <a:r>
              <a:rPr lang="en-GB" altLang="ja-JP" sz="2000" dirty="0"/>
              <a:t>: Git, GitHub</a:t>
            </a:r>
          </a:p>
          <a:p>
            <a:pPr marL="717550" lvl="1" indent="-260350"/>
            <a:r>
              <a:rPr lang="en-GB" altLang="ja-JP" sz="2000" b="1" dirty="0"/>
              <a:t>CI/CD: GitHub Actions</a:t>
            </a:r>
            <a:r>
              <a:rPr lang="en-GB" altLang="ja-JP" sz="2000" dirty="0"/>
              <a:t>, ArgoCD</a:t>
            </a:r>
          </a:p>
          <a:p>
            <a:pPr marL="717550" lvl="1" indent="-260350"/>
            <a:r>
              <a:rPr lang="ja-JP" altLang="en-US" sz="2000" dirty="0"/>
              <a:t>監視</a:t>
            </a:r>
            <a:r>
              <a:rPr lang="en-GB" altLang="ja-JP" sz="2000" dirty="0"/>
              <a:t>: Datadog, Sentry</a:t>
            </a:r>
            <a:endParaRPr lang="en-GB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D10EA4E-D16E-DE0C-E5F8-3211A6CB5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8057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BE0F5F-C048-8AD8-89B1-EB2F0F54B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9A1F6F-6680-DD08-2D55-2ABD4D607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pPr algn="ctr"/>
            <a:r>
              <a:rPr kumimoji="1" lang="ja-JP" altLang="en-US" b="1" dirty="0">
                <a:latin typeface="+mn-lt"/>
              </a:rPr>
              <a:t>職歴</a:t>
            </a:r>
          </a:p>
        </p:txBody>
      </p:sp>
      <p:sp>
        <p:nvSpPr>
          <p:cNvPr id="3" name="スライド番号プレースホルダー 3">
            <a:extLst>
              <a:ext uri="{FF2B5EF4-FFF2-40B4-BE49-F238E27FC236}">
                <a16:creationId xmlns:a16="http://schemas.microsoft.com/office/drawing/2014/main" id="{5DBC33BA-D1E1-18B9-1BEA-129BBA5B4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0C88FD4-124D-7159-F8B3-B5D4C9BB27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2265345"/>
              </p:ext>
            </p:extLst>
          </p:nvPr>
        </p:nvGraphicFramePr>
        <p:xfrm>
          <a:off x="836798" y="1822829"/>
          <a:ext cx="10515600" cy="411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765">
                  <a:extLst>
                    <a:ext uri="{9D8B030D-6E8A-4147-A177-3AD203B41FA5}">
                      <a16:colId xmlns:a16="http://schemas.microsoft.com/office/drawing/2014/main" val="287744478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01988920"/>
                    </a:ext>
                  </a:extLst>
                </a:gridCol>
                <a:gridCol w="1900107">
                  <a:extLst>
                    <a:ext uri="{9D8B030D-6E8A-4147-A177-3AD203B41FA5}">
                      <a16:colId xmlns:a16="http://schemas.microsoft.com/office/drawing/2014/main" val="2452243297"/>
                    </a:ext>
                  </a:extLst>
                </a:gridCol>
                <a:gridCol w="3785528">
                  <a:extLst>
                    <a:ext uri="{9D8B030D-6E8A-4147-A177-3AD203B41FA5}">
                      <a16:colId xmlns:a16="http://schemas.microsoft.com/office/drawing/2014/main" val="2548828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ja-JP" altLang="en-US" dirty="0"/>
                        <a:t>期間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業種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職種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業務内容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19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2021</a:t>
                      </a:r>
                      <a:r>
                        <a:rPr lang="ja-JP" altLang="en-US" dirty="0"/>
                        <a:t>年</a:t>
                      </a:r>
                      <a:r>
                        <a:rPr lang="en-GB" altLang="ja-JP" dirty="0"/>
                        <a:t>08</a:t>
                      </a:r>
                      <a:r>
                        <a:rPr lang="ja-JP" altLang="en-US" dirty="0"/>
                        <a:t>月</a:t>
                      </a:r>
                      <a:r>
                        <a:rPr lang="en-GB" altLang="ja-JP" dirty="0"/>
                        <a:t>-</a:t>
                      </a:r>
                    </a:p>
                    <a:p>
                      <a:r>
                        <a:rPr lang="en-GB" dirty="0"/>
                        <a:t>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EdTech SaaS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dirty="0"/>
                        <a:t>ソフトウェア</a:t>
                      </a:r>
                      <a:endParaRPr lang="en-GB" altLang="ja-JP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dirty="0"/>
                        <a:t>エンジニア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バックエンド開発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フロントエンド開発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CI/CD </a:t>
                      </a:r>
                      <a:r>
                        <a:rPr lang="ja-JP" altLang="en-US" dirty="0"/>
                        <a:t>運用・保守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週次リリースマネージャー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トラブル対応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ドキュメンテーション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技術負債解消</a:t>
                      </a:r>
                      <a:endParaRPr lang="en-GB" altLang="ja-JP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技術ブログ記事執筆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LT </a:t>
                      </a:r>
                      <a:r>
                        <a:rPr lang="ja-JP" altLang="en-US" dirty="0"/>
                        <a:t>登壇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764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2020</a:t>
                      </a:r>
                      <a:r>
                        <a:rPr lang="ja-JP" altLang="en-US" dirty="0"/>
                        <a:t>年</a:t>
                      </a:r>
                      <a:r>
                        <a:rPr lang="en-GB" altLang="ja-JP" dirty="0"/>
                        <a:t>02</a:t>
                      </a:r>
                      <a:r>
                        <a:rPr lang="ja-JP" altLang="en-US" dirty="0"/>
                        <a:t>月</a:t>
                      </a:r>
                      <a:r>
                        <a:rPr lang="en-GB" dirty="0"/>
                        <a:t>-</a:t>
                      </a:r>
                    </a:p>
                    <a:p>
                      <a:r>
                        <a:rPr lang="en-GB" dirty="0"/>
                        <a:t>2020</a:t>
                      </a:r>
                      <a:r>
                        <a:rPr lang="ja-JP" altLang="en-US" dirty="0"/>
                        <a:t>年</a:t>
                      </a:r>
                      <a:r>
                        <a:rPr lang="en-GB" altLang="ja-JP" dirty="0"/>
                        <a:t>12</a:t>
                      </a:r>
                      <a:r>
                        <a:rPr lang="ja-JP" altLang="en-US" dirty="0"/>
                        <a:t>月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チャットボット系</a:t>
                      </a:r>
                      <a:r>
                        <a:rPr lang="en-GB" altLang="ja-JP" dirty="0"/>
                        <a:t> </a:t>
                      </a:r>
                      <a:r>
                        <a:rPr lang="en-GB" dirty="0"/>
                        <a:t>SaaS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バックエンド</a:t>
                      </a:r>
                      <a:endParaRPr lang="en-GB" altLang="ja-JP" dirty="0"/>
                    </a:p>
                    <a:p>
                      <a:r>
                        <a:rPr lang="ja-JP" altLang="en-US" dirty="0"/>
                        <a:t>エンジニア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バックエンド開発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ドキュメンテーション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技術負債解消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代替</a:t>
                      </a:r>
                      <a:r>
                        <a:rPr lang="en-GB" dirty="0"/>
                        <a:t> API </a:t>
                      </a:r>
                      <a:r>
                        <a:rPr lang="ja-JP" altLang="en-US" dirty="0"/>
                        <a:t>検証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449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4785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A05A5F-F956-DF9E-5ABC-2E29514F1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31A29E-76CC-16DB-63B5-FCA24231C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pPr algn="ctr"/>
            <a:r>
              <a:rPr kumimoji="1" lang="ja-JP" altLang="en-US" b="1" dirty="0">
                <a:latin typeface="+mn-lt"/>
              </a:rPr>
              <a:t>職歴</a:t>
            </a:r>
          </a:p>
        </p:txBody>
      </p:sp>
      <p:sp>
        <p:nvSpPr>
          <p:cNvPr id="3" name="スライド番号プレースホルダー 3">
            <a:extLst>
              <a:ext uri="{FF2B5EF4-FFF2-40B4-BE49-F238E27FC236}">
                <a16:creationId xmlns:a16="http://schemas.microsoft.com/office/drawing/2014/main" id="{7D6F7A41-C447-D573-04DC-A1643F7A7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D50844-C8EC-861A-78FD-1CEACDBE2F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8297845"/>
              </p:ext>
            </p:extLst>
          </p:nvPr>
        </p:nvGraphicFramePr>
        <p:xfrm>
          <a:off x="836798" y="1822829"/>
          <a:ext cx="10515600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765">
                  <a:extLst>
                    <a:ext uri="{9D8B030D-6E8A-4147-A177-3AD203B41FA5}">
                      <a16:colId xmlns:a16="http://schemas.microsoft.com/office/drawing/2014/main" val="287744478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01988920"/>
                    </a:ext>
                  </a:extLst>
                </a:gridCol>
                <a:gridCol w="1900107">
                  <a:extLst>
                    <a:ext uri="{9D8B030D-6E8A-4147-A177-3AD203B41FA5}">
                      <a16:colId xmlns:a16="http://schemas.microsoft.com/office/drawing/2014/main" val="2452243297"/>
                    </a:ext>
                  </a:extLst>
                </a:gridCol>
                <a:gridCol w="3785528">
                  <a:extLst>
                    <a:ext uri="{9D8B030D-6E8A-4147-A177-3AD203B41FA5}">
                      <a16:colId xmlns:a16="http://schemas.microsoft.com/office/drawing/2014/main" val="2548828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ja-JP" altLang="en-US" dirty="0"/>
                        <a:t>期間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業種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職種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業務内容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19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2018</a:t>
                      </a:r>
                      <a:r>
                        <a:rPr lang="ja-JP" altLang="en-US" dirty="0"/>
                        <a:t>年</a:t>
                      </a:r>
                      <a:r>
                        <a:rPr lang="en-US" altLang="ja-JP" dirty="0"/>
                        <a:t>06</a:t>
                      </a:r>
                      <a:r>
                        <a:rPr lang="ja-JP" altLang="en-US" dirty="0"/>
                        <a:t>月</a:t>
                      </a:r>
                      <a:r>
                        <a:rPr lang="en-GB" dirty="0"/>
                        <a:t> -</a:t>
                      </a:r>
                    </a:p>
                    <a:p>
                      <a:r>
                        <a:rPr lang="en-GB" dirty="0"/>
                        <a:t>2020</a:t>
                      </a:r>
                      <a:r>
                        <a:rPr lang="ja-JP" altLang="en-US" dirty="0"/>
                        <a:t>年</a:t>
                      </a:r>
                      <a:r>
                        <a:rPr lang="en-US" altLang="ja-JP" dirty="0"/>
                        <a:t>01</a:t>
                      </a:r>
                      <a:r>
                        <a:rPr lang="ja-JP" altLang="en-US" dirty="0"/>
                        <a:t>月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受託開発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ソフトウェア</a:t>
                      </a:r>
                      <a:endParaRPr lang="en-GB" altLang="ja-JP" dirty="0"/>
                    </a:p>
                    <a:p>
                      <a:r>
                        <a:rPr lang="ja-JP" altLang="en-US" dirty="0"/>
                        <a:t>エンジニア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バックエンド開発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フロントエンド開発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トラブル対応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QA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技術ブログ記事執筆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531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2016</a:t>
                      </a:r>
                      <a:r>
                        <a:rPr lang="ja-JP" altLang="en-US" dirty="0"/>
                        <a:t>年</a:t>
                      </a:r>
                      <a:r>
                        <a:rPr lang="en-US" altLang="ja-JP" dirty="0"/>
                        <a:t>04</a:t>
                      </a:r>
                      <a:r>
                        <a:rPr lang="ja-JP" altLang="en-US" dirty="0"/>
                        <a:t>月</a:t>
                      </a:r>
                      <a:r>
                        <a:rPr lang="en-GB" dirty="0"/>
                        <a:t> -</a:t>
                      </a:r>
                    </a:p>
                    <a:p>
                      <a:r>
                        <a:rPr lang="en-GB" dirty="0"/>
                        <a:t>2018</a:t>
                      </a:r>
                      <a:r>
                        <a:rPr lang="ja-JP" altLang="en-US" dirty="0"/>
                        <a:t>年</a:t>
                      </a:r>
                      <a:r>
                        <a:rPr lang="en-US" altLang="ja-JP" dirty="0"/>
                        <a:t>01</a:t>
                      </a:r>
                      <a:r>
                        <a:rPr lang="ja-JP" altLang="en-US" dirty="0"/>
                        <a:t>月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ja-JP" dirty="0"/>
                        <a:t>SES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システムエンジニア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全社アカウント管理者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Windows Server </a:t>
                      </a:r>
                      <a:r>
                        <a:rPr lang="ja-JP" altLang="en-US" dirty="0"/>
                        <a:t>運用・保守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セキュリティ管理者助手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翻訳・通訳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994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3573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378C05C1-87B1-BA30-D593-66D492FF1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ja-JP" altLang="en-US" b="1" dirty="0"/>
              <a:t>国際交流活動</a:t>
            </a:r>
            <a:endParaRPr lang="en-GB" b="1" dirty="0"/>
          </a:p>
        </p:txBody>
      </p:sp>
      <p:sp>
        <p:nvSpPr>
          <p:cNvPr id="10" name="スライド番号プレースホルダー 3">
            <a:extLst>
              <a:ext uri="{FF2B5EF4-FFF2-40B4-BE49-F238E27FC236}">
                <a16:creationId xmlns:a16="http://schemas.microsoft.com/office/drawing/2014/main" id="{D7C9EA79-C769-23E2-9F3D-D4890F3C1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1A2A920C-FA0F-BEBB-BB45-6CBA82FEA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0270"/>
            <a:ext cx="10515600" cy="4343898"/>
          </a:xfrm>
          <a:ln>
            <a:noFill/>
          </a:ln>
        </p:spPr>
        <p:txBody>
          <a:bodyPr>
            <a:normAutofit/>
          </a:bodyPr>
          <a:lstStyle/>
          <a:p>
            <a:pPr marL="268288" indent="-268288"/>
            <a:r>
              <a:rPr lang="ja-JP" altLang="en-US" sz="1600" dirty="0"/>
              <a:t>大学時代</a:t>
            </a:r>
          </a:p>
          <a:p>
            <a:pPr marL="536575" lvl="1" indent="-268288"/>
            <a:r>
              <a:rPr lang="ja-JP" altLang="en-US" sz="1400" dirty="0"/>
              <a:t>英語学ゼミ</a:t>
            </a:r>
            <a:r>
              <a:rPr lang="en-US" altLang="ja-JP" sz="1400" dirty="0"/>
              <a:t>(</a:t>
            </a:r>
            <a:r>
              <a:rPr lang="ja-JP" altLang="en-US" sz="1400" dirty="0"/>
              <a:t>マスメディア英語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ja-JP" altLang="en-US" sz="1400" dirty="0"/>
              <a:t>国際交流サークル兼部</a:t>
            </a:r>
            <a:r>
              <a:rPr lang="en-US" altLang="ja-JP" sz="1400" dirty="0"/>
              <a:t>(2</a:t>
            </a:r>
            <a:r>
              <a:rPr lang="ja-JP" altLang="en-US" sz="1400" dirty="0"/>
              <a:t>年次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ja-JP" altLang="en-US" sz="1400" dirty="0">
                <a:hlinkClick r:id="rId3"/>
              </a:rPr>
              <a:t>内閣府主催国際交流プログラム</a:t>
            </a:r>
            <a:r>
              <a:rPr lang="en-US" altLang="ja-JP" sz="1400" dirty="0"/>
              <a:t>(2013</a:t>
            </a:r>
            <a:r>
              <a:rPr lang="ja-JP" altLang="en-US" sz="1400" dirty="0"/>
              <a:t>年 </a:t>
            </a:r>
            <a:r>
              <a:rPr lang="en-GB" altLang="ja-JP" sz="1400" dirty="0"/>
              <a:t>-</a:t>
            </a:r>
            <a:r>
              <a:rPr lang="en-US" altLang="ja-JP" sz="1400" dirty="0"/>
              <a:t> 2016</a:t>
            </a:r>
            <a:r>
              <a:rPr lang="ja-JP" altLang="en-US" sz="1400" dirty="0"/>
              <a:t>年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ja-JP" altLang="en-US" sz="1400" dirty="0"/>
              <a:t>日本語学の授業の</a:t>
            </a:r>
            <a:r>
              <a:rPr lang="en-GB" altLang="ja-JP" sz="1400" dirty="0"/>
              <a:t> S </a:t>
            </a:r>
            <a:r>
              <a:rPr lang="ja-JP" altLang="en-US" sz="1400" dirty="0"/>
              <a:t>単位取得</a:t>
            </a:r>
            <a:r>
              <a:rPr lang="en-GB" altLang="ja-JP" sz="1400" dirty="0"/>
              <a:t>(</a:t>
            </a:r>
            <a:r>
              <a:rPr lang="ja-JP" altLang="en-US" sz="1400" dirty="0"/>
              <a:t>最終年次</a:t>
            </a:r>
            <a:r>
              <a:rPr lang="en-GB" altLang="ja-JP" sz="1400" dirty="0"/>
              <a:t>)</a:t>
            </a:r>
            <a:endParaRPr lang="en-US" altLang="ja-JP" sz="1400" dirty="0"/>
          </a:p>
          <a:p>
            <a:pPr marL="268288" indent="-268288"/>
            <a:r>
              <a:rPr lang="ja-JP" altLang="en-US" sz="1600" dirty="0"/>
              <a:t>海外生活</a:t>
            </a:r>
          </a:p>
          <a:p>
            <a:pPr marL="536575" lvl="1" indent="-268288"/>
            <a:r>
              <a:rPr lang="ja-JP" altLang="en-US" sz="1400" dirty="0"/>
              <a:t>オーストラリアでのワーキングホリデー</a:t>
            </a:r>
            <a:r>
              <a:rPr lang="en-US" altLang="ja-JP" sz="1400" dirty="0"/>
              <a:t>(2014</a:t>
            </a:r>
            <a:r>
              <a:rPr lang="ja-JP" altLang="en-US" sz="1400" dirty="0"/>
              <a:t>年</a:t>
            </a:r>
            <a:r>
              <a:rPr lang="en-US" altLang="ja-JP" sz="1400" dirty="0"/>
              <a:t>04</a:t>
            </a:r>
            <a:r>
              <a:rPr lang="ja-JP" altLang="en-US" sz="1400" dirty="0"/>
              <a:t>月 </a:t>
            </a:r>
            <a:r>
              <a:rPr lang="en-US" altLang="ja-JP" sz="1400" dirty="0"/>
              <a:t>- </a:t>
            </a:r>
            <a:r>
              <a:rPr lang="en-GB" altLang="ja-JP" sz="1400" dirty="0"/>
              <a:t>2015</a:t>
            </a:r>
            <a:r>
              <a:rPr lang="ja-JP" altLang="en-US" sz="1400" dirty="0"/>
              <a:t>年</a:t>
            </a:r>
            <a:r>
              <a:rPr lang="en-US" altLang="ja-JP" sz="1400" dirty="0"/>
              <a:t>03</a:t>
            </a:r>
            <a:r>
              <a:rPr lang="ja-JP" altLang="en-US" sz="1400" dirty="0"/>
              <a:t>月</a:t>
            </a:r>
            <a:r>
              <a:rPr lang="en-US" altLang="ja-JP" sz="1400" dirty="0"/>
              <a:t>)</a:t>
            </a:r>
          </a:p>
          <a:p>
            <a:pPr marL="728662" lvl="2" indent="-285750"/>
            <a:r>
              <a:rPr lang="en-GB" altLang="ja-JP" sz="1200" dirty="0"/>
              <a:t>2</a:t>
            </a:r>
            <a:r>
              <a:rPr lang="ja-JP" altLang="en-US" sz="1200" dirty="0"/>
              <a:t>ヶ月間のシドニーの語学学校通学</a:t>
            </a:r>
            <a:endParaRPr lang="en-GB" altLang="ja-JP" sz="1200" dirty="0"/>
          </a:p>
          <a:p>
            <a:pPr marL="728662" lvl="2" indent="-285750"/>
            <a:r>
              <a:rPr lang="en-US" altLang="ja-JP" sz="1200" dirty="0"/>
              <a:t>6</a:t>
            </a:r>
            <a:r>
              <a:rPr lang="ja-JP" altLang="en-US" sz="1200" dirty="0"/>
              <a:t>ヶ月間の</a:t>
            </a:r>
            <a:r>
              <a:rPr lang="en-GB" altLang="ja-JP" sz="1200" dirty="0"/>
              <a:t> </a:t>
            </a:r>
            <a:r>
              <a:rPr lang="en-GB" altLang="ja-JP" sz="1200" dirty="0">
                <a:hlinkClick r:id="rId4"/>
              </a:rPr>
              <a:t>Hamilton Island Resort</a:t>
            </a:r>
            <a:r>
              <a:rPr lang="en-GB" altLang="ja-JP" sz="1200" dirty="0"/>
              <a:t> </a:t>
            </a:r>
            <a:r>
              <a:rPr lang="ja-JP" altLang="en-US" sz="1200" dirty="0"/>
              <a:t>での就労</a:t>
            </a:r>
            <a:endParaRPr lang="en-GB" altLang="ja-JP" sz="1200" dirty="0"/>
          </a:p>
          <a:p>
            <a:pPr marL="728662" lvl="2" indent="-285750"/>
            <a:r>
              <a:rPr lang="en-US" altLang="ja-JP" sz="1200" dirty="0"/>
              <a:t>1</a:t>
            </a:r>
            <a:r>
              <a:rPr lang="ja-JP" altLang="en-US" sz="1200" dirty="0"/>
              <a:t>ヶ月間の </a:t>
            </a:r>
            <a:r>
              <a:rPr lang="en-GB" altLang="ja-JP" sz="1200" dirty="0"/>
              <a:t>NSW </a:t>
            </a:r>
            <a:r>
              <a:rPr lang="ja-JP" altLang="en-US" sz="1200" dirty="0"/>
              <a:t>州の </a:t>
            </a:r>
            <a:r>
              <a:rPr lang="en-GB" altLang="ja-JP" sz="1200" dirty="0">
                <a:hlinkClick r:id="rId5"/>
              </a:rPr>
              <a:t>St Ives High School</a:t>
            </a:r>
            <a:r>
              <a:rPr lang="ja-JP" altLang="en-US" sz="1200" dirty="0"/>
              <a:t> での日本語教師アシスタントボランティア活動</a:t>
            </a:r>
            <a:endParaRPr lang="en-US" altLang="ja-JP" sz="1200" dirty="0"/>
          </a:p>
          <a:p>
            <a:pPr marL="268288" indent="-268288"/>
            <a:r>
              <a:rPr lang="ja-JP" altLang="en-US" sz="1600" dirty="0"/>
              <a:t>その他活動</a:t>
            </a:r>
            <a:endParaRPr lang="ja-JP" altLang="en-US" sz="900" dirty="0"/>
          </a:p>
          <a:p>
            <a:pPr marL="536575" lvl="1" indent="-268288"/>
            <a:r>
              <a:rPr lang="ja-JP" altLang="en-US" sz="1400" dirty="0"/>
              <a:t>英語での日々の日記</a:t>
            </a:r>
            <a:r>
              <a:rPr lang="en-GB" altLang="ja-JP" sz="1400" dirty="0"/>
              <a:t>(</a:t>
            </a:r>
            <a:r>
              <a:rPr lang="en-US" altLang="ja-JP" sz="1400" dirty="0"/>
              <a:t>2014</a:t>
            </a:r>
            <a:r>
              <a:rPr lang="ja-JP" altLang="en-US" sz="1400" dirty="0"/>
              <a:t>年</a:t>
            </a:r>
            <a:r>
              <a:rPr lang="en-US" altLang="ja-JP" sz="1400" dirty="0"/>
              <a:t>04</a:t>
            </a:r>
            <a:r>
              <a:rPr lang="ja-JP" altLang="en-US" sz="1400" dirty="0"/>
              <a:t>月 </a:t>
            </a:r>
            <a:r>
              <a:rPr lang="en-US" altLang="ja-JP" sz="1400" dirty="0"/>
              <a:t>- </a:t>
            </a:r>
            <a:r>
              <a:rPr lang="ja-JP" altLang="en-US" sz="1400" dirty="0"/>
              <a:t>現在</a:t>
            </a:r>
            <a:r>
              <a:rPr lang="en-GB" altLang="ja-JP" sz="1400" dirty="0"/>
              <a:t>)</a:t>
            </a:r>
            <a:endParaRPr lang="en-US" altLang="ja-JP" sz="1400" dirty="0">
              <a:hlinkClick r:id="rId6"/>
            </a:endParaRPr>
          </a:p>
          <a:p>
            <a:pPr marL="536575" lvl="1" indent="-268288"/>
            <a:r>
              <a:rPr lang="en-US" altLang="ja-JP" sz="1400" dirty="0">
                <a:hlinkClick r:id="rId7"/>
              </a:rPr>
              <a:t>Sunrise Toastmasters Club</a:t>
            </a:r>
            <a:r>
              <a:rPr lang="en-GB" altLang="ja-JP" sz="1400" dirty="0"/>
              <a:t> </a:t>
            </a:r>
            <a:r>
              <a:rPr lang="ja-JP" altLang="en-US" sz="1400" dirty="0"/>
              <a:t>参加</a:t>
            </a:r>
            <a:r>
              <a:rPr lang="en-US" altLang="ja-JP" sz="1400" dirty="0"/>
              <a:t>(2017</a:t>
            </a:r>
            <a:r>
              <a:rPr lang="ja-JP" altLang="en-US" sz="1400" dirty="0"/>
              <a:t>年</a:t>
            </a:r>
            <a:r>
              <a:rPr lang="en-US" altLang="ja-JP" sz="1400" dirty="0"/>
              <a:t>02</a:t>
            </a:r>
            <a:r>
              <a:rPr lang="ja-JP" altLang="en-US" sz="1400" dirty="0"/>
              <a:t>月 </a:t>
            </a:r>
            <a:r>
              <a:rPr lang="en-US" altLang="ja-JP" sz="1400" dirty="0"/>
              <a:t>- 2018</a:t>
            </a:r>
            <a:r>
              <a:rPr lang="ja-JP" altLang="en-US" sz="1400" dirty="0"/>
              <a:t>年</a:t>
            </a:r>
            <a:r>
              <a:rPr lang="en-US" altLang="ja-JP" sz="1400" dirty="0"/>
              <a:t>03</a:t>
            </a:r>
            <a:r>
              <a:rPr lang="ja-JP" altLang="en-US" sz="1400" dirty="0"/>
              <a:t>月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en-US" altLang="ja-JP" sz="1400" dirty="0">
                <a:hlinkClick r:id="rId8"/>
              </a:rPr>
              <a:t>Vital Japan</a:t>
            </a:r>
            <a:r>
              <a:rPr lang="en-US" altLang="ja-JP" sz="1400" dirty="0"/>
              <a:t> </a:t>
            </a:r>
            <a:r>
              <a:rPr lang="ja-JP" altLang="en-US" sz="1400" dirty="0"/>
              <a:t>参加</a:t>
            </a:r>
            <a:r>
              <a:rPr lang="en-US" altLang="ja-JP" sz="1400" dirty="0"/>
              <a:t>(2018</a:t>
            </a:r>
            <a:r>
              <a:rPr lang="ja-JP" altLang="en-US" sz="1400" dirty="0"/>
              <a:t>年</a:t>
            </a:r>
            <a:r>
              <a:rPr lang="en-US" altLang="ja-JP" sz="1400" dirty="0"/>
              <a:t>0</a:t>
            </a:r>
            <a:r>
              <a:rPr lang="en-GB" altLang="ja-JP" sz="1400" dirty="0"/>
              <a:t>1</a:t>
            </a:r>
            <a:r>
              <a:rPr lang="ja-JP" altLang="en-US" sz="1400" dirty="0"/>
              <a:t>月 </a:t>
            </a:r>
            <a:r>
              <a:rPr lang="en-US" altLang="ja-JP" sz="1400" dirty="0"/>
              <a:t>- 2019</a:t>
            </a:r>
            <a:r>
              <a:rPr lang="ja-JP" altLang="en-US" sz="1400" dirty="0"/>
              <a:t>年</a:t>
            </a:r>
            <a:r>
              <a:rPr lang="en-US" altLang="ja-JP" sz="1400" dirty="0"/>
              <a:t>0</a:t>
            </a:r>
            <a:r>
              <a:rPr lang="en-GB" altLang="ja-JP" sz="1400" dirty="0"/>
              <a:t>7</a:t>
            </a:r>
            <a:r>
              <a:rPr lang="ja-JP" altLang="en-US" sz="1400" dirty="0"/>
              <a:t>月、</a:t>
            </a:r>
            <a:r>
              <a:rPr lang="en-US" altLang="ja-JP" sz="1400" dirty="0"/>
              <a:t>2022</a:t>
            </a:r>
            <a:r>
              <a:rPr lang="ja-JP" altLang="en-US" sz="1400" dirty="0"/>
              <a:t>年</a:t>
            </a:r>
            <a:r>
              <a:rPr lang="en-US" altLang="ja-JP" sz="1400" dirty="0"/>
              <a:t>10</a:t>
            </a:r>
            <a:r>
              <a:rPr lang="ja-JP" altLang="en-US" sz="1400" dirty="0"/>
              <a:t>月 </a:t>
            </a:r>
            <a:r>
              <a:rPr lang="en-US" altLang="ja-JP" sz="1400" dirty="0"/>
              <a:t>- 2023</a:t>
            </a:r>
            <a:r>
              <a:rPr lang="ja-JP" altLang="en-US" sz="1400" dirty="0"/>
              <a:t>年</a:t>
            </a:r>
            <a:r>
              <a:rPr lang="en-US" altLang="ja-JP" sz="1400" dirty="0"/>
              <a:t>0</a:t>
            </a:r>
            <a:r>
              <a:rPr lang="en-GB" altLang="ja-JP" sz="1400" dirty="0"/>
              <a:t>2</a:t>
            </a:r>
            <a:r>
              <a:rPr lang="ja-JP" altLang="en-US" sz="1400" dirty="0"/>
              <a:t>月</a:t>
            </a:r>
            <a:r>
              <a:rPr lang="en-US" altLang="ja-JP" sz="1400" dirty="0"/>
              <a:t>) </a:t>
            </a:r>
          </a:p>
          <a:p>
            <a:pPr marL="536575" lvl="1" indent="-268288"/>
            <a:r>
              <a:rPr lang="ja-JP" altLang="en-US" sz="1400" dirty="0"/>
              <a:t>英語自己学習</a:t>
            </a:r>
            <a:endParaRPr lang="en-GB" altLang="ja-JP" sz="1400" dirty="0"/>
          </a:p>
          <a:p>
            <a:pPr marL="536575" lvl="1" indent="-268288"/>
            <a:r>
              <a:rPr lang="en-GB" altLang="ja-JP" sz="1400" dirty="0"/>
              <a:t>Ruby </a:t>
            </a:r>
            <a:r>
              <a:rPr lang="ja-JP" altLang="en-US" sz="1400" dirty="0"/>
              <a:t>関連カンファレンス参加</a:t>
            </a:r>
            <a:endParaRPr lang="en-GB" altLang="ja-JP" sz="1400" dirty="0"/>
          </a:p>
        </p:txBody>
      </p:sp>
    </p:spTree>
    <p:extLst>
      <p:ext uri="{BB962C8B-B14F-4D97-AF65-F5344CB8AC3E}">
        <p14:creationId xmlns:p14="http://schemas.microsoft.com/office/powerpoint/2010/main" val="2567433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B69D39-AAC7-42C5-8747-4B5183710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ja-JP" altLang="en-US" b="1" dirty="0">
                <a:latin typeface="Calibri (Headings)"/>
              </a:rPr>
              <a:t>このシリーズのコンセプト</a:t>
            </a:r>
            <a:endParaRPr lang="en-GB" b="1" dirty="0">
              <a:latin typeface="Calibri (Headings)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65C527-BB5B-4296-B5C9-8645D3BC7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1305" algn="l"/>
              </a:tabLst>
              <a:defRPr/>
            </a:pPr>
            <a:r>
              <a:rPr kumimoji="0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英語の奥深さを知る</a:t>
            </a:r>
            <a:endParaRPr kumimoji="0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730250" marR="0" lvl="1" indent="-268605" algn="l" defTabSz="914400" rtl="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30885" algn="l"/>
              </a:tabLst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単なるコミュニケーシ</a:t>
            </a:r>
            <a:r>
              <a:rPr kumimoji="0" lang="ja-JP" altLang="en-US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ョ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ン手</a:t>
            </a:r>
            <a:r>
              <a:rPr kumimoji="0" lang="ja-JP" altLang="en-US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段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では</a:t>
            </a:r>
            <a:r>
              <a:rPr kumimoji="0" lang="ja-JP" altLang="en-US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な</a:t>
            </a:r>
            <a:r>
              <a:rPr kumimoji="0" lang="ja-JP" altLang="en-US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い</a:t>
            </a:r>
            <a:endParaRPr kumimoji="0" lang="ja-JP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1305" algn="l"/>
              </a:tabLst>
              <a:defRPr/>
            </a:pPr>
            <a:r>
              <a:rPr kumimoji="0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英語を知ることで日本語を知る</a:t>
            </a:r>
            <a:endParaRPr kumimoji="0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730250" marR="0" lvl="1" indent="-268605" algn="l" defTabSz="914400" rtl="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30885" algn="l"/>
              </a:tabLst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一つの言語しか知らな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い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こと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は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何一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つ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知ら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な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いの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と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同じ</a:t>
            </a: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1305" algn="l"/>
              </a:tabLst>
              <a:defRPr/>
            </a:pPr>
            <a:r>
              <a:rPr kumimoji="0" lang="ja-JP" altLang="en-US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すぐに役に立たないことを追求する</a:t>
            </a:r>
            <a:endParaRPr kumimoji="0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730250" marR="0" lvl="1" indent="-268605" algn="l" defTabSz="914400" rtl="0" eaLnBrk="1" fontAlgn="auto" latinLnBrk="0" hangingPunct="1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30885" algn="l"/>
              </a:tabLst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無意味に思えることに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こ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そ本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質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がある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6D8F513-A7B1-4711-A8CD-4E8A5B62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6817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B69D39-AAC7-42C5-8747-4B5183710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ja-JP" altLang="en-US" b="1" dirty="0">
                <a:latin typeface="Calibri (Headings)"/>
              </a:rPr>
              <a:t>目次</a:t>
            </a:r>
            <a:endParaRPr lang="en-GB" b="1" dirty="0">
              <a:latin typeface="Calibri (Headings)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65C527-BB5B-4296-B5C9-8645D3BC7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ja-JP" altLang="en-US" sz="2400" dirty="0">
                <a:sym typeface="Arial"/>
                <a:hlinkClick r:id="rId3" action="ppaction://hlinksldjump"/>
              </a:rPr>
              <a:t>世界中の多様な英語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ja-JP" altLang="en-US" sz="2400" dirty="0">
                <a:sym typeface="Arial"/>
                <a:hlinkClick r:id="rId4" action="ppaction://hlinksldjump"/>
              </a:rPr>
              <a:t>イギリス英語とアメリカ英語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ja-JP" altLang="en-US" sz="2400" dirty="0">
                <a:sym typeface="Arial"/>
                <a:hlinkClick r:id="rId5" action="ppaction://hlinksldjump"/>
              </a:rPr>
              <a:t>まとめ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ja-JP" altLang="en-US" sz="2400" dirty="0">
                <a:sym typeface="Arial"/>
                <a:hlinkClick r:id="rId6" action="ppaction://hlinksldjump"/>
              </a:rPr>
              <a:t>参考文献</a:t>
            </a:r>
            <a:endParaRPr lang="en-GB" altLang="ja-JP" sz="2400" dirty="0">
              <a:sym typeface="Arial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6D8F513-A7B1-4711-A8CD-4E8A5B62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825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ja-JP" altLang="en-US" b="1" dirty="0">
                <a:latin typeface="Calibri (Headings)"/>
                <a:sym typeface="Arial"/>
              </a:rPr>
              <a:t>世界中の多様な英語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3418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ja-JP" altLang="en-US" b="1" dirty="0">
                <a:latin typeface="Calibri (Headings)"/>
                <a:sym typeface="Arial"/>
              </a:rPr>
              <a:t>世界中の多様な英語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600" i="0" u="none" strike="noStrike" kern="0" cap="none" spc="-3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3600" kern="0" spc="-30" dirty="0">
              <a:solidFill>
                <a:sysClr val="windowText" lastClr="000000"/>
              </a:solidFill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600" i="0" u="none" strike="noStrike" kern="0" cap="none" spc="-3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今日世界に存在する英語は大き</a:t>
            </a:r>
            <a:r>
              <a:rPr kumimoji="0" lang="ja-JP" altLang="en-US" sz="280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く</a:t>
            </a:r>
            <a:r>
              <a:rPr kumimoji="0" lang="en-US" altLang="ja-JP" sz="280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5</a:t>
            </a:r>
            <a:r>
              <a:rPr kumimoji="0" lang="ja-JP" altLang="en-US" sz="280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種類に分</a:t>
            </a:r>
            <a:r>
              <a:rPr kumimoji="0" lang="ja-JP" alt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類</a:t>
            </a:r>
            <a:r>
              <a:rPr kumimoji="0" lang="ja-JP" altLang="en-US" sz="280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できる。</a:t>
            </a:r>
            <a:endParaRPr kumimoji="0" lang="ja-JP" altLang="en-US" sz="2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3715280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ja-JP" altLang="en-US" b="1" dirty="0">
                <a:latin typeface="Calibri (Headings)"/>
                <a:sym typeface="Arial"/>
              </a:rPr>
              <a:t>世界中の多様な英語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①</a:t>
            </a:r>
            <a:r>
              <a:rPr kumimoji="0" lang="ja-JP" altLang="en-US" sz="2800" b="1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 </a:t>
            </a: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英語圏の英語</a:t>
            </a:r>
            <a:endParaRPr kumimoji="0" lang="ja-JP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イギリス英語</a:t>
            </a:r>
            <a:r>
              <a:rPr kumimoji="0" lang="en-US" altLang="ja-JP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(British </a:t>
            </a:r>
            <a:r>
              <a:rPr kumimoji="0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English</a:t>
            </a:r>
            <a:r>
              <a:rPr kumimoji="0" lang="ja-JP" altLang="en-US" sz="2400" b="1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/</a:t>
            </a:r>
            <a:r>
              <a:rPr kumimoji="0" lang="ja-JP" altLang="en-US" sz="24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altLang="ja-JP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Queen's </a:t>
            </a:r>
            <a:r>
              <a:rPr kumimoji="0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English)</a:t>
            </a:r>
            <a:endParaRPr kumimoji="0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5080" lvl="0" indent="-268605" algn="l" defTabSz="914400" rtl="0" eaLnBrk="1" fontAlgn="auto" latinLnBrk="0" hangingPunct="1">
              <a:lnSpc>
                <a:spcPts val="2590"/>
              </a:lnSpc>
              <a:spcBef>
                <a:spcPts val="54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US" altLang="ja-JP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A.D.</a:t>
            </a:r>
            <a:r>
              <a:rPr kumimoji="0" lang="ja-JP" altLang="en-US" sz="24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altLang="ja-JP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450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年頃からブリテン島に移住したアングロ・サクソン人がイングラ ンドと英語の基礎を築いた</a:t>
            </a: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ja-JP" alt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国名や言語にアングル人の名が刻まれている</a:t>
            </a:r>
            <a:endParaRPr kumimoji="0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737870" marR="0" lvl="1" indent="-268605" algn="l" defTabSz="914400" rtl="0" eaLnBrk="1" fontAlgn="auto" latinLnBrk="0" hangingPunct="1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7870" algn="l"/>
                <a:tab pos="738505" algn="l"/>
              </a:tabLst>
              <a:defRPr/>
            </a:pPr>
            <a:r>
              <a:rPr kumimoji="0" lang="en-US" altLang="ja-JP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England</a:t>
            </a:r>
            <a:r>
              <a:rPr kumimoji="0" lang="ja-JP" altLang="en-US" sz="2000" b="0" i="1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&lt;</a:t>
            </a:r>
            <a:r>
              <a:rPr kumimoji="0" lang="ja-JP" alt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altLang="ja-JP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Englaland</a:t>
            </a:r>
            <a:r>
              <a:rPr kumimoji="0" lang="ja-JP" altLang="en-US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「アングル人の土地</a:t>
            </a:r>
            <a:r>
              <a:rPr kumimoji="0" lang="en-US" altLang="ja-JP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)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」</a:t>
            </a:r>
          </a:p>
          <a:p>
            <a:pPr marL="737870" marR="0" lvl="1" indent="-268605" algn="l" defTabSz="914400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7870" algn="l"/>
                <a:tab pos="738505" algn="l"/>
              </a:tabLst>
              <a:defRPr/>
            </a:pPr>
            <a:r>
              <a:rPr kumimoji="0" lang="en-US" altLang="ja-JP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English</a:t>
            </a:r>
            <a:r>
              <a:rPr kumimoji="0" lang="ja-JP" altLang="en-US" sz="2000" b="0" i="1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&lt;</a:t>
            </a:r>
            <a:r>
              <a:rPr kumimoji="0" lang="ja-JP" altLang="en-US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altLang="ja-JP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Englisc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「アングル人の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言語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72348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ja-JP" altLang="en-US" b="1" dirty="0">
                <a:latin typeface="Calibri (Headings)"/>
                <a:sym typeface="Arial"/>
              </a:rPr>
              <a:t>世界中の多様な英語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①</a:t>
            </a:r>
            <a:r>
              <a:rPr kumimoji="0" lang="ja-JP" altLang="en-US" sz="2800" b="1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 </a:t>
            </a: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英語圏の英語</a:t>
            </a:r>
            <a:endParaRPr kumimoji="0" lang="ja-JP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アメリカ英語</a:t>
            </a:r>
            <a:r>
              <a:rPr kumimoji="0" lang="en-US" altLang="ja-JP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(American</a:t>
            </a:r>
            <a:r>
              <a:rPr kumimoji="0" lang="ja-JP" altLang="en-US" sz="2400" b="1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English</a:t>
            </a:r>
            <a:r>
              <a:rPr kumimoji="0" lang="ja-JP" altLang="en-US" sz="2400" b="1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/</a:t>
            </a:r>
            <a:r>
              <a:rPr kumimoji="0" lang="ja-JP" altLang="en-US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altLang="ja-JP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President's</a:t>
            </a:r>
            <a:r>
              <a:rPr kumimoji="0" lang="ja-JP" altLang="en-US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English)</a:t>
            </a:r>
            <a:endParaRPr kumimoji="0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US" altLang="ja-JP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17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世紀の中英語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シェイクスピアやミルトンの時</a:t>
            </a:r>
            <a:r>
              <a:rPr kumimoji="0" lang="ja-JP" altLang="en-US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代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)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が起源</a:t>
            </a: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ブリテン島～大西洋沿岸の植民地から北米大陸に伝来</a:t>
            </a:r>
          </a:p>
          <a:p>
            <a:pPr marL="280670" marR="0" lvl="0" indent="-268605" algn="l" defTabSz="914400" rtl="0" eaLnBrk="1" fontAlgn="auto" latinLnBrk="0" hangingPunct="1">
              <a:lnSpc>
                <a:spcPts val="2735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ja-JP" alt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独立間もない</a:t>
            </a:r>
            <a:r>
              <a:rPr kumimoji="0" lang="en-US" altLang="ja-JP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18</a:t>
            </a:r>
            <a:r>
              <a:rPr kumimoji="0" lang="ja-JP" alt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世紀末、政治面・言語面でイギリスから独立したいという</a:t>
            </a:r>
            <a:endParaRPr kumimoji="0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280670" marR="0" lvl="0" indent="0" algn="l" defTabSz="914400" rtl="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強い機運が働いた</a:t>
            </a:r>
          </a:p>
          <a:p>
            <a:pPr marL="737870" marR="0" lvl="1" indent="-268605" algn="l" defTabSz="914400" rtl="0" eaLnBrk="1" fontAlgn="auto" latinLnBrk="0" hangingPunct="1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7870" algn="l"/>
                <a:tab pos="738505" algn="l"/>
              </a:tabLst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→</a:t>
            </a:r>
            <a:r>
              <a:rPr kumimoji="0" lang="ja-JP" altLang="en-US" sz="20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固有の発達を遂げる</a:t>
            </a:r>
          </a:p>
        </p:txBody>
      </p:sp>
    </p:spTree>
    <p:extLst>
      <p:ext uri="{BB962C8B-B14F-4D97-AF65-F5344CB8AC3E}">
        <p14:creationId xmlns:p14="http://schemas.microsoft.com/office/powerpoint/2010/main" val="1778210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ja-JP" altLang="en-US" b="1" dirty="0">
                <a:latin typeface="Calibri (Headings)"/>
                <a:sym typeface="Arial"/>
              </a:rPr>
              <a:t>世界中の多様な英語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①</a:t>
            </a:r>
            <a:r>
              <a:rPr kumimoji="0" lang="ja-JP" altLang="en-US" sz="2800" b="1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 </a:t>
            </a: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英語圏の英語</a:t>
            </a:r>
            <a:endParaRPr kumimoji="0" lang="ja-JP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カナダ英語</a:t>
            </a:r>
            <a:r>
              <a:rPr kumimoji="0" lang="en-US" altLang="ja-JP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(Canadian</a:t>
            </a:r>
            <a:r>
              <a:rPr kumimoji="0" lang="ja-JP" altLang="en-US" sz="2400" b="1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English)</a:t>
            </a:r>
            <a:endParaRPr kumimoji="0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540385" lvl="0" indent="-268605" algn="l" defTabSz="914400" rtl="0" eaLnBrk="1" fontAlgn="auto" latinLnBrk="0" hangingPunct="1">
              <a:lnSpc>
                <a:spcPts val="259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パリ条</a:t>
            </a:r>
            <a:r>
              <a:rPr kumimoji="0" lang="ja-JP" alt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約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lang="en-US" altLang="ja-JP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1763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年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)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後のカナダ東</a:t>
            </a:r>
            <a:r>
              <a:rPr kumimoji="0" lang="ja-JP" altLang="en-US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部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大西洋沿岸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)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解放を嚆矢として、ヨー ロッパから英語話者が移住</a:t>
            </a: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アメリカ革命</a:t>
            </a:r>
            <a:r>
              <a:rPr kumimoji="0" lang="en-US" altLang="ja-JP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17</a:t>
            </a:r>
            <a:r>
              <a:rPr kumimoji="0" lang="en-US" altLang="ja-JP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7</a:t>
            </a:r>
            <a:r>
              <a:rPr kumimoji="0" lang="en-US" altLang="ja-JP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5</a:t>
            </a:r>
            <a:r>
              <a:rPr kumimoji="0" lang="ja-JP" altLang="en-US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年</a:t>
            </a:r>
            <a:r>
              <a:rPr kumimoji="0" lang="ja-JP" altLang="en-US" sz="20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 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1783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年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):</a:t>
            </a:r>
            <a:r>
              <a:rPr kumimoji="0" lang="ja-JP" altLang="en-US" sz="2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アメリカ人の大規模</a:t>
            </a:r>
            <a:r>
              <a:rPr kumimoji="0" lang="ja-JP" altLang="en-US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な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移住</a:t>
            </a: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産業革命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(19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世紀</a:t>
            </a:r>
            <a:r>
              <a:rPr kumimoji="0" lang="en-US" altLang="ja-JP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):</a:t>
            </a:r>
            <a:r>
              <a:rPr kumimoji="0" lang="ja-JP" altLang="en-US" sz="20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イギリス人の移住</a:t>
            </a: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現在は世界中の移民か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ら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成る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多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民族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国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家</a:t>
            </a:r>
          </a:p>
          <a:p>
            <a:pPr marL="280670" marR="5080" lvl="0" indent="-268605" algn="l" defTabSz="914400" rtl="0" eaLnBrk="1" fontAlgn="auto" latinLnBrk="0" hangingPunct="1">
              <a:lnSpc>
                <a:spcPts val="259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初期に流入したアメリカ英語と、後に流入したイギリス英語の言語的特徴 </a:t>
            </a:r>
            <a:r>
              <a:rPr kumimoji="0" lang="ja-JP" alt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が強く影響</a:t>
            </a:r>
            <a:endParaRPr kumimoji="0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1236226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ja-JP" altLang="en-US" b="1" dirty="0">
                <a:latin typeface="Calibri (Headings)"/>
                <a:sym typeface="Arial"/>
              </a:rPr>
              <a:t>世界中の多様な英語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①</a:t>
            </a:r>
            <a:r>
              <a:rPr kumimoji="0" lang="ja-JP" altLang="en-US" sz="2800" b="1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 </a:t>
            </a: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英語圏の英語</a:t>
            </a:r>
            <a:endParaRPr kumimoji="0" lang="ja-JP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オーストラリア英</a:t>
            </a:r>
            <a:r>
              <a:rPr kumimoji="0" lang="ja-JP" altLang="en-US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語</a:t>
            </a:r>
            <a:r>
              <a:rPr kumimoji="0" lang="en-US" altLang="ja-JP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Australian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English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/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Aussie</a:t>
            </a:r>
            <a:r>
              <a:rPr kumimoji="0" lang="en-GB" sz="24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English)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18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世紀、イギリス南東部からの移民が持ち込んだ英語が起源</a:t>
            </a: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語彙、文法は基本的にイギリス英語を踏襲</a:t>
            </a: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en-GB" sz="20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exc.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inquire</a:t>
            </a:r>
            <a:r>
              <a:rPr kumimoji="0" lang="en-GB" sz="20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&gt; </a:t>
            </a:r>
            <a:r>
              <a:rPr kumimoji="0" lang="en-GB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enquire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</a:t>
            </a:r>
            <a:r>
              <a:rPr kumimoji="0" lang="en-GB" sz="20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program</a:t>
            </a:r>
            <a:r>
              <a:rPr kumimoji="0" lang="en-GB" sz="20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&gt; </a:t>
            </a:r>
            <a:r>
              <a:rPr kumimoji="0" lang="en-GB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programme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</a:t>
            </a:r>
            <a:r>
              <a:rPr kumimoji="0" lang="en-GB" sz="20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labor</a:t>
            </a:r>
            <a:r>
              <a:rPr kumimoji="0" lang="en-GB" sz="2000" b="0" i="1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&gt; </a:t>
            </a:r>
            <a:r>
              <a:rPr kumimoji="0" lang="en-GB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labour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スラングが非常に多い</a:t>
            </a: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e.g.,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G'day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</a:t>
            </a:r>
            <a:r>
              <a:rPr kumimoji="0" lang="en-GB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Aussie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1200" cap="none" spc="-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Brissie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1200" cap="none" spc="-3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Tassie</a:t>
            </a:r>
            <a:r>
              <a:rPr kumimoji="0" lang="en-GB" sz="2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fridge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veggies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</a:t>
            </a:r>
            <a:r>
              <a:rPr kumimoji="0" lang="en-GB" sz="20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1200" cap="none" spc="-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sunnies</a:t>
            </a:r>
            <a:r>
              <a:rPr kumimoji="0" lang="en-GB" sz="2000" b="0" i="1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etc.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17924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ja-JP" altLang="en-US" b="1" dirty="0">
                <a:latin typeface="Calibri (Headings)"/>
                <a:sym typeface="Arial"/>
              </a:rPr>
              <a:t>世界中の多様な英語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①</a:t>
            </a:r>
            <a:r>
              <a:rPr kumimoji="0" lang="ja-JP" altLang="en-US" sz="2800" b="1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 </a:t>
            </a: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英語圏の英語</a:t>
            </a:r>
            <a:endParaRPr kumimoji="0" lang="ja-JP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ニュージーランド英</a:t>
            </a:r>
            <a:r>
              <a:rPr kumimoji="0" lang="ja-JP" altLang="en-US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語</a:t>
            </a:r>
            <a:r>
              <a:rPr kumimoji="0" lang="en-US" altLang="ja-JP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(New</a:t>
            </a:r>
            <a:r>
              <a:rPr kumimoji="0" lang="ja-JP" altLang="en-US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altLang="ja-JP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Zealand</a:t>
            </a:r>
            <a:r>
              <a:rPr kumimoji="0" lang="ja-JP" altLang="en-US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English</a:t>
            </a:r>
            <a:r>
              <a:rPr kumimoji="0" lang="ja-JP" altLang="en-US" sz="24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/</a:t>
            </a:r>
            <a:r>
              <a:rPr kumimoji="0" lang="ja-JP" altLang="en-US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altLang="ja-JP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Kiwi English)</a:t>
            </a:r>
            <a:endParaRPr kumimoji="0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US" altLang="ja-JP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1840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年に先住民族マオリ族がイギリス政府に領土を割譲</a:t>
            </a: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以来、イギリス諸島か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ら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続々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と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人々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が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移住</a:t>
            </a: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ja-JP" alt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語彙、文法は基本的にイギリス英語を踏襲</a:t>
            </a:r>
            <a:endParaRPr kumimoji="0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類推作用</a:t>
            </a:r>
            <a:r>
              <a:rPr kumimoji="0" lang="en-US" altLang="ja-JP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(a</a:t>
            </a:r>
            <a:r>
              <a:rPr kumimoji="0" lang="en-US" altLang="ja-JP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alogy</a:t>
            </a:r>
            <a:r>
              <a:rPr kumimoji="0" lang="en-US" altLang="ja-JP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)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に</a:t>
            </a:r>
            <a:r>
              <a:rPr kumimoji="0" lang="ja-JP" altLang="en-US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よ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る不規則活</a:t>
            </a:r>
            <a:r>
              <a:rPr kumimoji="0" lang="ja-JP" altLang="en-US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用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の規則化</a:t>
            </a:r>
          </a:p>
          <a:p>
            <a:pPr marL="1179830" marR="0" lvl="2" indent="-253365" algn="l" defTabSz="914400" rtl="0" eaLnBrk="1" fontAlgn="auto" latinLnBrk="0" hangingPunct="1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179830" algn="l"/>
                <a:tab pos="1180465" algn="l"/>
              </a:tabLst>
              <a:defRPr/>
            </a:pPr>
            <a:r>
              <a:rPr kumimoji="0" lang="en-US" altLang="ja-JP" sz="1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e.g.,</a:t>
            </a:r>
            <a:r>
              <a:rPr kumimoji="0" lang="ja-JP" altLang="en-US" sz="1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altLang="ja-JP" sz="1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roofs</a:t>
            </a:r>
            <a:r>
              <a:rPr kumimoji="0" lang="ja-JP" alt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&gt;</a:t>
            </a:r>
            <a:r>
              <a:rPr kumimoji="0" lang="ja-JP" altLang="en-US" sz="18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altLang="ja-JP" sz="1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rooves</a:t>
            </a:r>
            <a:r>
              <a:rPr kumimoji="0" lang="en-US" altLang="ja-JP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</a:t>
            </a:r>
            <a:r>
              <a:rPr kumimoji="0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altLang="ja-JP" sz="1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wharfs</a:t>
            </a:r>
            <a:r>
              <a:rPr kumimoji="0" lang="ja-JP" altLang="en-US" sz="18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&gt;</a:t>
            </a:r>
            <a:r>
              <a:rPr kumimoji="0" lang="ja-JP" altLang="en-US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altLang="ja-JP" sz="1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wharves</a:t>
            </a:r>
            <a:endParaRPr kumimoji="0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オーストラリア英語同様</a:t>
            </a:r>
            <a:r>
              <a:rPr kumimoji="0" lang="ja-JP" altLang="en-US" sz="20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 </a:t>
            </a:r>
            <a:r>
              <a:rPr kumimoji="0" lang="en-US" altLang="ja-JP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</a:t>
            </a:r>
            <a:r>
              <a:rPr kumimoji="0" lang="en-US" altLang="ja-JP" sz="20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ise</a:t>
            </a:r>
            <a:r>
              <a:rPr kumimoji="0" lang="ja-JP" altLang="en-US" sz="20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で語尾を綴る</a:t>
            </a:r>
          </a:p>
          <a:p>
            <a:pPr marL="1179830" marR="0" lvl="2" indent="-253365" algn="l" defTabSz="914400" rtl="0" eaLnBrk="1" fontAlgn="auto" latinLnBrk="0" hangingPunct="1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179830" algn="l"/>
                <a:tab pos="1180465" algn="l"/>
              </a:tabLst>
              <a:defRPr/>
            </a:pPr>
            <a:r>
              <a:rPr kumimoji="0" lang="en-US" altLang="ja-JP" sz="1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e.g.,</a:t>
            </a:r>
            <a:r>
              <a:rPr kumimoji="0" lang="ja-JP" altLang="en-US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altLang="ja-JP" sz="1800" b="0" i="1" u="none" strike="noStrike" kern="1200" cap="none" spc="-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realise</a:t>
            </a:r>
            <a:r>
              <a:rPr kumimoji="0" lang="en-US" altLang="ja-JP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</a:t>
            </a:r>
            <a:r>
              <a:rPr kumimoji="0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altLang="ja-JP" sz="1800" b="0" i="1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initialise</a:t>
            </a:r>
            <a:endParaRPr kumimoji="0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先住民族の言語からの借用語が存在</a:t>
            </a:r>
          </a:p>
        </p:txBody>
      </p:sp>
    </p:spTree>
    <p:extLst>
      <p:ext uri="{BB962C8B-B14F-4D97-AF65-F5344CB8AC3E}">
        <p14:creationId xmlns:p14="http://schemas.microsoft.com/office/powerpoint/2010/main" val="24132923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ja-JP" altLang="en-US" b="1" dirty="0">
                <a:latin typeface="Calibri (Headings)"/>
                <a:sym typeface="Arial"/>
              </a:rPr>
              <a:t>世界中の多様な英語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②</a:t>
            </a:r>
            <a:r>
              <a:rPr kumimoji="0" lang="ja-JP" altLang="en-US" sz="2600" b="1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 </a:t>
            </a: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公用語・第二言語としての英語</a:t>
            </a:r>
            <a:endParaRPr kumimoji="0" lang="ja-JP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かつてイギリスの植民地であった国々で話されている英語</a:t>
            </a: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インド</a:t>
            </a: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スリランカ</a:t>
            </a: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ja-JP" alt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ケニア</a:t>
            </a:r>
            <a:endParaRPr kumimoji="0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タンザニア</a:t>
            </a: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シンガポール</a:t>
            </a: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ja-JP" alt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フィリピン</a:t>
            </a:r>
            <a:endParaRPr kumimoji="0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香港</a:t>
            </a: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US" altLang="ja-JP" sz="24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etc.</a:t>
            </a:r>
            <a:endParaRPr kumimoji="0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3566389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ja-JP" altLang="en-US" b="1" dirty="0">
                <a:latin typeface="Calibri (Headings)"/>
                <a:sym typeface="Arial"/>
              </a:rPr>
              <a:t>世界中の多様な英語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③</a:t>
            </a:r>
            <a:r>
              <a:rPr kumimoji="0" lang="ja-JP" altLang="en-US" sz="2800" b="1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 </a:t>
            </a: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ピジン英語</a:t>
            </a:r>
            <a:r>
              <a:rPr kumimoji="0" lang="en-GB" altLang="ja-JP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Yu Gothic"/>
              </a:rPr>
              <a:t>(Pidgin English)</a:t>
            </a: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交易交渉・伝達目的の簡易な英語</a:t>
            </a:r>
          </a:p>
          <a:p>
            <a:pPr marL="280670" marR="5080" lvl="0" indent="-268605" algn="l" defTabSz="914400" rtl="0" eaLnBrk="1" fontAlgn="auto" latinLnBrk="0" hangingPunct="1">
              <a:lnSpc>
                <a:spcPts val="259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アフリカ、南太平洋、カリブ海沿岸地域の古くからイギリスと交易をおこ なってきた地域で発達</a:t>
            </a: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ja-JP" alt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その地域の言語と英語が混ざったもの</a:t>
            </a:r>
            <a:endParaRPr kumimoji="0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US" altLang="ja-JP" sz="2400" b="1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ahoma"/>
              </a:rPr>
              <a:t>p</a:t>
            </a:r>
            <a:r>
              <a:rPr kumimoji="0" lang="en-US" altLang="ja-JP" sz="2400" b="1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ahoma"/>
              </a:rPr>
              <a:t>i</a:t>
            </a:r>
            <a:r>
              <a:rPr kumimoji="0" lang="en-US" altLang="ja-JP" sz="2400" b="1" i="0" u="none" strike="noStrike" kern="1200" cap="none" spc="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ahoma"/>
              </a:rPr>
              <a:t>d</a:t>
            </a:r>
            <a:r>
              <a:rPr kumimoji="0" lang="en-US" altLang="ja-JP" sz="24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ahoma"/>
              </a:rPr>
              <a:t>gin</a:t>
            </a:r>
            <a:r>
              <a:rPr kumimoji="0" lang="ja-JP" altLang="en-US" sz="24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は</a:t>
            </a:r>
            <a:r>
              <a:rPr lang="ja-JP" altLang="en-US" sz="2400" spc="-50" dirty="0">
                <a:solidFill>
                  <a:prstClr val="black"/>
                </a:solidFill>
                <a:latin typeface="Yu Gothic"/>
                <a:cs typeface="Yu Gothic"/>
              </a:rPr>
              <a:t> </a:t>
            </a:r>
            <a:r>
              <a:rPr lang="en-GB" altLang="ja-JP" sz="2400" b="1" spc="-50" dirty="0">
                <a:solidFill>
                  <a:prstClr val="black"/>
                </a:solidFill>
                <a:cs typeface="Yu Gothic"/>
              </a:rPr>
              <a:t>business</a:t>
            </a:r>
            <a:r>
              <a:rPr lang="ja-JP" altLang="en-US" sz="2400" spc="-50" dirty="0">
                <a:solidFill>
                  <a:prstClr val="black"/>
                </a:solidFill>
                <a:latin typeface="Yu Gothic"/>
                <a:cs typeface="Yu Gothic"/>
              </a:rPr>
              <a:t> 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が中国語風に訛ったもの</a:t>
            </a: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不明瞭な</a:t>
            </a:r>
            <a:r>
              <a:rPr lang="ja-JP" altLang="en-US" sz="2000" spc="-55" dirty="0">
                <a:solidFill>
                  <a:prstClr val="black"/>
                </a:solidFill>
                <a:latin typeface="Yu Gothic"/>
                <a:cs typeface="Yu Gothic"/>
              </a:rPr>
              <a:t> </a:t>
            </a:r>
            <a:r>
              <a:rPr lang="en-GB" altLang="ja-JP" sz="2000" b="1" spc="-55" dirty="0">
                <a:solidFill>
                  <a:prstClr val="black"/>
                </a:solidFill>
                <a:cs typeface="Yu Gothic"/>
              </a:rPr>
              <a:t>/p/</a:t>
            </a:r>
            <a:r>
              <a:rPr lang="ja-JP" altLang="en-US" sz="2000" spc="-55" dirty="0">
                <a:solidFill>
                  <a:prstClr val="black"/>
                </a:solidFill>
                <a:latin typeface="Yu Gothic"/>
                <a:cs typeface="Yu Gothic"/>
              </a:rPr>
              <a:t> 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と</a:t>
            </a:r>
            <a:r>
              <a:rPr lang="ja-JP" altLang="en-US" sz="2000" spc="-30" dirty="0">
                <a:solidFill>
                  <a:prstClr val="black"/>
                </a:solidFill>
                <a:latin typeface="Yu Gothic"/>
                <a:cs typeface="Yu Gothic"/>
              </a:rPr>
              <a:t> </a:t>
            </a:r>
            <a:r>
              <a:rPr lang="en-GB" altLang="ja-JP" sz="2000" b="1" spc="-30" dirty="0">
                <a:solidFill>
                  <a:prstClr val="black"/>
                </a:solidFill>
                <a:latin typeface="Calibri (Body)"/>
                <a:cs typeface="Yu Gothic"/>
              </a:rPr>
              <a:t>/b/</a:t>
            </a:r>
            <a:r>
              <a:rPr lang="ja-JP" altLang="en-US" sz="2000" spc="-30" dirty="0">
                <a:solidFill>
                  <a:prstClr val="black"/>
                </a:solidFill>
                <a:latin typeface="Yu Gothic"/>
                <a:cs typeface="Yu Gothic"/>
              </a:rPr>
              <a:t> 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の発音の区別により、</a:t>
            </a:r>
            <a:r>
              <a:rPr lang="en-GB" altLang="ja-JP" sz="2000" b="1" spc="-10" dirty="0">
                <a:solidFill>
                  <a:prstClr val="black"/>
                </a:solidFill>
                <a:latin typeface="Calibri (Body)"/>
                <a:cs typeface="Yu Gothic"/>
              </a:rPr>
              <a:t>/b/</a:t>
            </a:r>
            <a:r>
              <a:rPr lang="en-GB" altLang="ja-JP" sz="2000" spc="-10" dirty="0">
                <a:solidFill>
                  <a:prstClr val="black"/>
                </a:solidFill>
                <a:latin typeface="Yu Gothic"/>
                <a:cs typeface="Yu Gothic"/>
              </a:rPr>
              <a:t> 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が</a:t>
            </a:r>
            <a:r>
              <a:rPr lang="ja-JP" altLang="en-US" sz="2000" spc="-45" dirty="0">
                <a:solidFill>
                  <a:prstClr val="black"/>
                </a:solidFill>
                <a:latin typeface="Yu Gothic"/>
                <a:cs typeface="Yu Gothic"/>
              </a:rPr>
              <a:t> </a:t>
            </a:r>
            <a:r>
              <a:rPr lang="en-GB" altLang="ja-JP" sz="2000" b="1" spc="-45" dirty="0">
                <a:solidFill>
                  <a:prstClr val="black"/>
                </a:solidFill>
                <a:latin typeface="Calibri (Body)"/>
                <a:cs typeface="Yu Gothic"/>
              </a:rPr>
              <a:t>/p/</a:t>
            </a:r>
            <a:r>
              <a:rPr lang="ja-JP" altLang="en-US" sz="2000" spc="-45" dirty="0">
                <a:solidFill>
                  <a:prstClr val="black"/>
                </a:solidFill>
                <a:latin typeface="Yu Gothic"/>
                <a:cs typeface="Yu Gothic"/>
              </a:rPr>
              <a:t> 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と発音された</a:t>
            </a: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最後</a:t>
            </a:r>
            <a:r>
              <a:rPr kumimoji="0" lang="ja-JP" altLang="en-US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の</a:t>
            </a:r>
            <a:r>
              <a:rPr lang="ja-JP" altLang="en-US" sz="2000" spc="-45" dirty="0">
                <a:solidFill>
                  <a:prstClr val="black"/>
                </a:solidFill>
                <a:latin typeface="Yu Gothic"/>
                <a:cs typeface="Yu Gothic"/>
              </a:rPr>
              <a:t> </a:t>
            </a:r>
            <a:r>
              <a:rPr lang="en-GB" altLang="ja-JP" sz="2000" b="1" spc="-45" dirty="0">
                <a:solidFill>
                  <a:prstClr val="black"/>
                </a:solidFill>
                <a:latin typeface="Calibri (Body)"/>
                <a:cs typeface="Yu Gothic"/>
              </a:rPr>
              <a:t>/s/</a:t>
            </a:r>
            <a:r>
              <a:rPr lang="ja-JP" altLang="en-US" sz="2000" spc="-45" dirty="0">
                <a:solidFill>
                  <a:prstClr val="black"/>
                </a:solidFill>
                <a:latin typeface="Yu Gothic"/>
                <a:cs typeface="Yu Gothic"/>
              </a:rPr>
              <a:t> 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が脱落した</a:t>
            </a:r>
          </a:p>
        </p:txBody>
      </p:sp>
    </p:spTree>
    <p:extLst>
      <p:ext uri="{BB962C8B-B14F-4D97-AF65-F5344CB8AC3E}">
        <p14:creationId xmlns:p14="http://schemas.microsoft.com/office/powerpoint/2010/main" val="5357454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ja-JP" altLang="en-US" b="1" dirty="0">
                <a:latin typeface="Calibri (Headings)"/>
                <a:sym typeface="Arial"/>
              </a:rPr>
              <a:t>世界中の多様な英語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游ゴシック" panose="020B0400000000000000" pitchFamily="50" charset="-128"/>
                <a:cs typeface="Yu Gothic"/>
              </a:rPr>
              <a:t>③</a:t>
            </a:r>
            <a:r>
              <a:rPr kumimoji="0" lang="ja-JP" altLang="en-US" sz="2800" b="1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游ゴシック" panose="020B0400000000000000" pitchFamily="50" charset="-128"/>
                <a:cs typeface="Yu Gothic"/>
              </a:rPr>
              <a:t> </a:t>
            </a: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游ゴシック" panose="020B0400000000000000" pitchFamily="50" charset="-128"/>
                <a:cs typeface="Yu Gothic"/>
              </a:rPr>
              <a:t>ピジン英語</a:t>
            </a:r>
            <a:r>
              <a:rPr kumimoji="0" lang="en-GB" altLang="ja-JP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50" charset="-128"/>
                <a:cs typeface="Yu Gothic"/>
              </a:rPr>
              <a:t>(Pidgin English)</a:t>
            </a: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ClrTx/>
              <a:buSzTx/>
              <a:buNone/>
              <a:tabLst>
                <a:tab pos="368935" algn="l"/>
              </a:tabLst>
              <a:defRPr/>
            </a:pP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aphicFrame>
        <p:nvGraphicFramePr>
          <p:cNvPr id="9" name="object 4">
            <a:extLst>
              <a:ext uri="{FF2B5EF4-FFF2-40B4-BE49-F238E27FC236}">
                <a16:creationId xmlns:a16="http://schemas.microsoft.com/office/drawing/2014/main" id="{B6175EE9-919D-65A1-3915-E093908D3D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5050424"/>
              </p:ext>
            </p:extLst>
          </p:nvPr>
        </p:nvGraphicFramePr>
        <p:xfrm>
          <a:off x="947661" y="2298842"/>
          <a:ext cx="3382645" cy="22250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4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Yu Gothic"/>
                          <a:cs typeface="Yu Gothic"/>
                        </a:rPr>
                        <a:t>ピジン英語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Yu Gothic"/>
                          <a:cs typeface="Yu Gothic"/>
                        </a:rPr>
                        <a:t>標準英語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gude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good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day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hello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laik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like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nau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now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skulboi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schoolboy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guttaim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good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peace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0" name="object 5">
            <a:extLst>
              <a:ext uri="{FF2B5EF4-FFF2-40B4-BE49-F238E27FC236}">
                <a16:creationId xmlns:a16="http://schemas.microsoft.com/office/drawing/2014/main" id="{3952CFDE-C6CD-C722-80EC-B98F6158C3A0}"/>
              </a:ext>
            </a:extLst>
          </p:cNvPr>
          <p:cNvGrpSpPr/>
          <p:nvPr/>
        </p:nvGrpSpPr>
        <p:grpSpPr>
          <a:xfrm>
            <a:off x="4472685" y="2312812"/>
            <a:ext cx="5314950" cy="2430145"/>
            <a:chOff x="4472685" y="2291842"/>
            <a:chExt cx="5314950" cy="2430145"/>
          </a:xfrm>
        </p:grpSpPr>
        <p:pic>
          <p:nvPicPr>
            <p:cNvPr id="11" name="object 6">
              <a:extLst>
                <a:ext uri="{FF2B5EF4-FFF2-40B4-BE49-F238E27FC236}">
                  <a16:creationId xmlns:a16="http://schemas.microsoft.com/office/drawing/2014/main" id="{4F0693EB-448F-1456-6451-21BAE84DD1C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77511" y="2296668"/>
              <a:ext cx="5305044" cy="2420111"/>
            </a:xfrm>
            <a:prstGeom prst="rect">
              <a:avLst/>
            </a:prstGeom>
          </p:spPr>
        </p:pic>
        <p:sp>
          <p:nvSpPr>
            <p:cNvPr id="12" name="object 7">
              <a:extLst>
                <a:ext uri="{FF2B5EF4-FFF2-40B4-BE49-F238E27FC236}">
                  <a16:creationId xmlns:a16="http://schemas.microsoft.com/office/drawing/2014/main" id="{B948C418-9AF9-4C10-56E4-B40B5AC439C1}"/>
                </a:ext>
              </a:extLst>
            </p:cNvPr>
            <p:cNvSpPr/>
            <p:nvPr/>
          </p:nvSpPr>
          <p:spPr>
            <a:xfrm>
              <a:off x="4472685" y="2291842"/>
              <a:ext cx="5314950" cy="2430145"/>
            </a:xfrm>
            <a:custGeom>
              <a:avLst/>
              <a:gdLst/>
              <a:ahLst/>
              <a:cxnLst/>
              <a:rect l="l" t="t" r="r" b="b"/>
              <a:pathLst>
                <a:path w="5314950" h="2430145">
                  <a:moveTo>
                    <a:pt x="0" y="2429636"/>
                  </a:moveTo>
                  <a:lnTo>
                    <a:pt x="5314569" y="2429636"/>
                  </a:lnTo>
                  <a:lnTo>
                    <a:pt x="5314569" y="0"/>
                  </a:lnTo>
                  <a:lnTo>
                    <a:pt x="0" y="0"/>
                  </a:lnTo>
                  <a:lnTo>
                    <a:pt x="0" y="242963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413129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ja-JP" altLang="en-US" b="1" dirty="0">
                <a:latin typeface="Calibri (Headings)"/>
                <a:sym typeface="Arial"/>
              </a:rPr>
              <a:t>世界中の多様な英語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④</a:t>
            </a:r>
            <a:r>
              <a:rPr kumimoji="0" lang="ja-JP" altLang="en-US" sz="2800" b="1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 </a:t>
            </a: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クレオール英語</a:t>
            </a:r>
            <a:endParaRPr kumimoji="0" lang="ja-JP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ピジン英語が土着して母語化した英語</a:t>
            </a:r>
          </a:p>
          <a:p>
            <a:pPr marL="280670" marR="5080" lvl="0" indent="-268605" algn="l" defTabSz="914400" rtl="0" eaLnBrk="1" fontAlgn="auto" latinLnBrk="0" hangingPunct="1">
              <a:lnSpc>
                <a:spcPts val="259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単なる交易交渉手段のピジン英語とは異なり、日常生活のあらゆる場面で 話される</a:t>
            </a: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ja-JP" alt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語彙も豊かに、文法も複雑になった</a:t>
            </a:r>
            <a:endParaRPr kumimoji="0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この過程は</a:t>
            </a:r>
            <a:r>
              <a:rPr kumimoji="0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クレオール</a:t>
            </a:r>
            <a:r>
              <a:rPr kumimoji="0" lang="ja-JP" altLang="en-US" sz="20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化</a:t>
            </a:r>
            <a:r>
              <a:rPr kumimoji="0" lang="en-US" altLang="ja-JP" sz="2000" b="1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(</a:t>
            </a:r>
            <a:r>
              <a:rPr kumimoji="0" lang="en-US" altLang="ja-JP" sz="20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</a:t>
            </a:r>
            <a:r>
              <a:rPr kumimoji="0" lang="en-US" altLang="ja-JP" sz="2000" b="1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</a:t>
            </a:r>
            <a:r>
              <a:rPr kumimoji="0" lang="en-US" altLang="ja-JP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eoli</a:t>
            </a:r>
            <a:r>
              <a:rPr kumimoji="0" lang="en-US" altLang="ja-JP" sz="2000" b="1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za</a:t>
            </a:r>
            <a:r>
              <a:rPr kumimoji="0" lang="en-US" altLang="ja-JP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tion</a:t>
            </a:r>
            <a:r>
              <a:rPr kumimoji="0" lang="en-US" altLang="ja-JP" sz="2000" b="1" i="0" u="none" strike="noStrike" kern="1200" cap="none" spc="-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)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と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いう</a:t>
            </a:r>
          </a:p>
        </p:txBody>
      </p:sp>
    </p:spTree>
    <p:extLst>
      <p:ext uri="{BB962C8B-B14F-4D97-AF65-F5344CB8AC3E}">
        <p14:creationId xmlns:p14="http://schemas.microsoft.com/office/powerpoint/2010/main" val="28676100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ja-JP" altLang="en-US" b="1" dirty="0">
                <a:latin typeface="Calibri (Headings)"/>
                <a:sym typeface="Arial"/>
              </a:rPr>
              <a:t>世界中の多様な英語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⑤</a:t>
            </a:r>
            <a:r>
              <a:rPr kumimoji="0" lang="ja-JP" altLang="en-US" sz="2800" b="1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 </a:t>
            </a: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英語圏の特定の民族の英語</a:t>
            </a:r>
            <a:r>
              <a:rPr kumimoji="0" lang="en-US" altLang="ja-JP" sz="2800" b="1" i="0" u="none" strike="noStrike" kern="1200" cap="none" spc="-2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:</a:t>
            </a:r>
            <a:r>
              <a:rPr kumimoji="0" lang="ja-JP" altLang="en-US" sz="2800" b="1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アメリカにおける黒人英語</a:t>
            </a:r>
            <a:endParaRPr kumimoji="0" lang="ja-JP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人口の多さゆえ特有の英語として発達</a:t>
            </a: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基本単語を多用</a:t>
            </a: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標準英語とは異なる文法体系を持つ</a:t>
            </a: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二重否定</a:t>
            </a:r>
            <a:r>
              <a:rPr kumimoji="0" lang="en-US" altLang="ja-JP" sz="2000" b="0" i="0" u="none" strike="noStrike" kern="1200" cap="none" spc="-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(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標準英語では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強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い肯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定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にな</a:t>
            </a:r>
            <a:r>
              <a:rPr kumimoji="0" lang="ja-JP" altLang="en-US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る</a:t>
            </a:r>
            <a:r>
              <a:rPr kumimoji="0" lang="en-US" altLang="ja-JP" sz="2000" b="0" i="0" u="none" strike="noStrike" kern="1200" cap="none" spc="-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)</a:t>
            </a:r>
            <a:endParaRPr kumimoji="0" lang="ja-JP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二重比較</a:t>
            </a: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冠詞、前置詞の省略</a:t>
            </a:r>
          </a:p>
        </p:txBody>
      </p:sp>
    </p:spTree>
    <p:extLst>
      <p:ext uri="{BB962C8B-B14F-4D97-AF65-F5344CB8AC3E}">
        <p14:creationId xmlns:p14="http://schemas.microsoft.com/office/powerpoint/2010/main" val="6522099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ja-JP" altLang="en-US" b="1" dirty="0">
                <a:latin typeface="Calibri (Headings)"/>
                <a:sym typeface="Arial"/>
              </a:rPr>
              <a:t>イギリス英語とアメリカ英語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11543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ja-JP" altLang="en-US" b="1" dirty="0">
                <a:latin typeface="Calibri (Headings)"/>
                <a:sym typeface="Arial"/>
              </a:rPr>
              <a:t>イギリス英語とアメリカ英語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同じ言葉で違う意味を表す語彙</a:t>
            </a:r>
            <a:endParaRPr kumimoji="0" lang="ja-JP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2B1C87D2-19B7-4C2D-EB13-C6E20A517FDF}"/>
              </a:ext>
            </a:extLst>
          </p:cNvPr>
          <p:cNvGraphicFramePr>
            <a:graphicFrameLocks noGrp="1"/>
          </p:cNvGraphicFramePr>
          <p:nvPr/>
        </p:nvGraphicFramePr>
        <p:xfrm>
          <a:off x="935088" y="2280157"/>
          <a:ext cx="5459095" cy="22199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2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5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0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Yu Gothic"/>
                          <a:cs typeface="Yu Gothic"/>
                        </a:rPr>
                        <a:t>単語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Yu Gothic"/>
                          <a:cs typeface="Yu Gothic"/>
                        </a:rPr>
                        <a:t>イギリス英語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Yu Gothic"/>
                          <a:cs typeface="Yu Gothic"/>
                        </a:rPr>
                        <a:t>アメリカ英語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corn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穀物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とうもろこし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first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floor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800" dirty="0">
                          <a:latin typeface="Yu Gothic"/>
                          <a:cs typeface="Yu Gothic"/>
                        </a:rPr>
                        <a:t>階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(1</a:t>
                      </a:r>
                      <a:r>
                        <a:rPr sz="1800" dirty="0">
                          <a:latin typeface="Yu Gothic"/>
                          <a:cs typeface="Yu Gothic"/>
                        </a:rPr>
                        <a:t>階は</a:t>
                      </a:r>
                      <a:r>
                        <a:rPr sz="1800" spc="-125" dirty="0">
                          <a:latin typeface="Yu Gothic"/>
                          <a:cs typeface="Yu Gothic"/>
                        </a:rPr>
                        <a:t> 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ground</a:t>
                      </a:r>
                      <a:r>
                        <a:rPr sz="1800" i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floor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800" dirty="0">
                          <a:latin typeface="Yu Gothic"/>
                          <a:cs typeface="Yu Gothic"/>
                        </a:rPr>
                        <a:t>階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rubber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消しゴム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コンドーム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pants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下着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ズボン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chips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フライドポテト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ポテトチップス</a:t>
                      </a: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50125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ja-JP" altLang="en-US" b="1" dirty="0">
                <a:latin typeface="Calibri (Headings)"/>
                <a:sym typeface="Arial"/>
              </a:rPr>
              <a:t>イギリス英語とアメリカ英語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違う言葉で同じ意味を持つ語彙</a:t>
            </a:r>
            <a:endParaRPr kumimoji="0" lang="ja-JP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3F1A5469-615C-D185-A813-4BB79AFE643A}"/>
              </a:ext>
            </a:extLst>
          </p:cNvPr>
          <p:cNvGraphicFramePr>
            <a:graphicFrameLocks noGrp="1"/>
          </p:cNvGraphicFramePr>
          <p:nvPr/>
        </p:nvGraphicFramePr>
        <p:xfrm>
          <a:off x="930884" y="2270760"/>
          <a:ext cx="5480685" cy="40792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3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5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1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Yu Gothic"/>
                          <a:cs typeface="Yu Gothic"/>
                        </a:rPr>
                        <a:t>意味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Yu Gothic"/>
                          <a:cs typeface="Yu Gothic"/>
                        </a:rPr>
                        <a:t>イギリス英語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Yu Gothic"/>
                          <a:cs typeface="Yu Gothic"/>
                        </a:rPr>
                        <a:t>アメリカ英語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エレベーター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lift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elevator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荷物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luggage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baggage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トラック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lorry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truck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クッキー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biscuit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cookie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5" dirty="0">
                          <a:latin typeface="Yu Gothic"/>
                          <a:cs typeface="Yu Gothic"/>
                        </a:rPr>
                        <a:t>携帯電話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mobile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cell(celluar)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5" dirty="0">
                          <a:latin typeface="Yu Gothic"/>
                          <a:cs typeface="Yu Gothic"/>
                        </a:rPr>
                        <a:t>ガソリン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petrol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gasoline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片道チケット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single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ticket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one-way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ticket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往復チケット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return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ticket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round-trip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ticket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飴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sweet(s)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candy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履歴書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CV(curriculum</a:t>
                      </a:r>
                      <a:r>
                        <a:rPr sz="18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vitae)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Resume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40906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ja-JP" altLang="en-US" b="1" dirty="0">
                <a:latin typeface="Calibri (Headings)"/>
                <a:sym typeface="Arial"/>
              </a:rPr>
              <a:t>イギリス英語とアメリカ英語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6F934E46-0966-E22C-60BD-F4973F46F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違う言葉で同じ意味を持つ語彙</a:t>
            </a:r>
            <a:endParaRPr kumimoji="0" lang="ja-JP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D9E47B7B-02B6-1700-E824-F897798C45C9}"/>
              </a:ext>
            </a:extLst>
          </p:cNvPr>
          <p:cNvGraphicFramePr>
            <a:graphicFrameLocks noGrp="1"/>
          </p:cNvGraphicFramePr>
          <p:nvPr/>
        </p:nvGraphicFramePr>
        <p:xfrm>
          <a:off x="930884" y="2270760"/>
          <a:ext cx="5162549" cy="40792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8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43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Yu Gothic"/>
                          <a:cs typeface="Yu Gothic"/>
                        </a:rPr>
                        <a:t>意味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Yu Gothic"/>
                          <a:cs typeface="Yu Gothic"/>
                        </a:rPr>
                        <a:t>イギリス英語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Yu Gothic"/>
                          <a:cs typeface="Yu Gothic"/>
                        </a:rPr>
                        <a:t>アメリカ英語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店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shop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store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アパート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flat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apartment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地下鉄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tube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underground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subway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歩道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pavement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sidewalk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5" dirty="0">
                          <a:latin typeface="Yu Gothic"/>
                          <a:cs typeface="Yu Gothic"/>
                        </a:rPr>
                        <a:t>流し台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wash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basin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sink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5" dirty="0">
                          <a:latin typeface="Yu Gothic"/>
                          <a:cs typeface="Yu Gothic"/>
                        </a:rPr>
                        <a:t>映画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film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cinema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movie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遊園地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fun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fair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amusement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park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卒業式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graduation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ceremony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commencement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列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queue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line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刑務所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gaol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jail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25967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ja-JP" altLang="en-US" b="1" dirty="0">
                <a:latin typeface="Calibri (Headings)"/>
                <a:sym typeface="Arial"/>
              </a:rPr>
              <a:t>イギリス英語とアメリカ英語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同じ言葉だが綴りが異なる語彙</a:t>
            </a:r>
            <a:endParaRPr kumimoji="0" lang="ja-JP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DCFE679B-41C8-E3B8-53D9-9B8A7E0DCC82}"/>
              </a:ext>
            </a:extLst>
          </p:cNvPr>
          <p:cNvGraphicFramePr>
            <a:graphicFrameLocks noGrp="1"/>
          </p:cNvGraphicFramePr>
          <p:nvPr/>
        </p:nvGraphicFramePr>
        <p:xfrm>
          <a:off x="930884" y="2270760"/>
          <a:ext cx="5894704" cy="29667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7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8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Yu Gothic"/>
                          <a:cs typeface="Yu Gothic"/>
                        </a:rPr>
                        <a:t>意味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Yu Gothic"/>
                          <a:cs typeface="Yu Gothic"/>
                        </a:rPr>
                        <a:t>イギリス英語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Yu Gothic"/>
                          <a:cs typeface="Yu Gothic"/>
                        </a:rPr>
                        <a:t>アメリカ英語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色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colour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color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小切手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cheque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check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センター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centre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center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劇場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theatre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theater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5" dirty="0">
                          <a:latin typeface="Yu Gothic"/>
                          <a:cs typeface="Yu Gothic"/>
                        </a:rPr>
                        <a:t>オムレツ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omelette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omelet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600" spc="-10" dirty="0">
                          <a:latin typeface="Yu Gothic"/>
                          <a:cs typeface="Yu Gothic"/>
                        </a:rPr>
                        <a:t>～を整理する、体系づける</a:t>
                      </a:r>
                      <a:endParaRPr sz="1600">
                        <a:latin typeface="Yu Gothic"/>
                        <a:cs typeface="Yu Gothic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organise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organize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灰色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800" dirty="0">
                          <a:latin typeface="Yu Gothic"/>
                          <a:cs typeface="Yu Gothic"/>
                        </a:rPr>
                        <a:t>の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grey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gray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61594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3.</a:t>
            </a:r>
            <a:r>
              <a:rPr lang="en-GB" altLang="ja-JP" b="1" dirty="0">
                <a:latin typeface="Calibri (Headings)"/>
              </a:rPr>
              <a:t> </a:t>
            </a:r>
            <a:r>
              <a:rPr lang="ja-JP" altLang="en-US" b="1" dirty="0">
                <a:latin typeface="Calibri (Headings)"/>
                <a:sym typeface="Arial"/>
              </a:rPr>
              <a:t>まとめ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87880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3.</a:t>
            </a:r>
            <a:r>
              <a:rPr lang="en-GB" altLang="ja-JP" b="1" dirty="0">
                <a:latin typeface="Calibri (Headings)"/>
              </a:rPr>
              <a:t> </a:t>
            </a:r>
            <a:r>
              <a:rPr lang="ja-JP" altLang="en-US" b="1" dirty="0">
                <a:latin typeface="Calibri (Headings)"/>
                <a:sym typeface="Arial"/>
              </a:rPr>
              <a:t>まとめ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92490B7A-6E18-A5F8-262B-EABFCBE9F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374015" marR="0" lvl="0" indent="-361950" algn="l" defTabSz="914400" rtl="0" eaLnBrk="1" fontAlgn="auto" latinLnBrk="0" hangingPunct="1">
              <a:lnSpc>
                <a:spcPts val="3060"/>
              </a:lnSpc>
              <a:spcBef>
                <a:spcPts val="0"/>
              </a:spcBef>
              <a:spcAft>
                <a:spcPts val="0"/>
              </a:spcAft>
              <a:buClrTx/>
              <a:buSzPct val="116666"/>
              <a:buFont typeface="Calibri"/>
              <a:buAutoNum type="arabicPeriod"/>
              <a:tabLst>
                <a:tab pos="374650" algn="l"/>
              </a:tabLst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今日世界に存在する英語は大きく</a:t>
            </a:r>
            <a:r>
              <a:rPr kumimoji="0" lang="en-US" altLang="ja-JP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5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種類に分類できる。</a:t>
            </a: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30885" algn="l"/>
              </a:tabLst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英語圏の英語</a:t>
            </a: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30885" algn="l"/>
              </a:tabLst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公用語・第二国語とし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て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の英語</a:t>
            </a: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30885" algn="l"/>
              </a:tabLst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ピジン英語</a:t>
            </a: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30885" algn="l"/>
              </a:tabLst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クレオール英語</a:t>
            </a: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30885" algn="l"/>
              </a:tabLst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英語圏の特定の民族の</a:t>
            </a:r>
            <a:r>
              <a:rPr kumimoji="0" lang="ja-JP" altLang="en-US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英</a:t>
            </a:r>
            <a:r>
              <a:rPr kumimoji="0" lang="ja-JP" altLang="en-US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語</a:t>
            </a:r>
            <a:endParaRPr kumimoji="0" lang="ja-JP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374015" marR="0" lvl="0" indent="-361950" algn="l" defTabSz="914400" rtl="0" eaLnBrk="1" fontAlgn="auto" latinLnBrk="0" hangingPunct="1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ClrTx/>
              <a:buSzPct val="116666"/>
              <a:buFont typeface="Calibri"/>
              <a:buAutoNum type="arabicPeriod"/>
              <a:tabLst>
                <a:tab pos="374650" algn="l"/>
              </a:tabLst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イギリス英語とアメリカ英語の語彙は以下の違いがある。</a:t>
            </a: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30885" algn="l"/>
              </a:tabLst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同じ言葉で違う意味を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表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す</a:t>
            </a: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30885" algn="l"/>
              </a:tabLst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違う言葉で同じ意味を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持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つ</a:t>
            </a: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30885" algn="l"/>
              </a:tabLst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同じ言葉だが綴りが異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な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る</a:t>
            </a:r>
          </a:p>
        </p:txBody>
      </p:sp>
    </p:spTree>
    <p:extLst>
      <p:ext uri="{BB962C8B-B14F-4D97-AF65-F5344CB8AC3E}">
        <p14:creationId xmlns:p14="http://schemas.microsoft.com/office/powerpoint/2010/main" val="35154773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4. </a:t>
            </a:r>
            <a:r>
              <a:rPr lang="ja-JP" altLang="en-US" b="1" dirty="0">
                <a:latin typeface="Calibri (Headings)"/>
              </a:rPr>
              <a:t>参考文献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89575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4. </a:t>
            </a:r>
            <a:r>
              <a:rPr lang="ja-JP" altLang="en-US" b="1" dirty="0">
                <a:latin typeface="Calibri (Headings)"/>
              </a:rPr>
              <a:t>参考文献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E96154D-0AC4-47C9-B8EE-32ED60A2B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0A3A8506-B2C4-48D9-8B66-4EF42A117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0670" marR="5080" lvl="0" indent="-268605" algn="l" defTabSz="914400" rtl="0" eaLnBrk="1" fontAlgn="auto" latinLnBrk="0" hangingPunct="1">
              <a:lnSpc>
                <a:spcPts val="2300"/>
              </a:lnSpc>
              <a:spcBef>
                <a:spcPts val="660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1305" algn="l"/>
              </a:tabLst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菊池清明・唐沢一友・堀田隆一・貝塚泰幸、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『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英語史：現代英語の特質を </a:t>
            </a:r>
            <a:r>
              <a:rPr kumimoji="0" lang="ja-JP" alt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求めて</a:t>
            </a:r>
            <a:r>
              <a:rPr kumimoji="0" lang="en-US" altLang="ja-JP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</a:t>
            </a:r>
            <a:r>
              <a:rPr kumimoji="0" lang="ja-JP" alt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多文化性と国際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性</a:t>
            </a:r>
            <a:r>
              <a:rPr kumimoji="0" lang="en-US" altLang="ja-JP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</a:t>
            </a:r>
            <a:r>
              <a:rPr kumimoji="0" lang="en-US" altLang="ja-JP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』</a:t>
            </a:r>
            <a:r>
              <a:rPr kumimoji="0" lang="ja-JP" alt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、大阪府、関西人文科学出版会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、</a:t>
            </a:r>
            <a:r>
              <a:rPr kumimoji="0" lang="en-US" altLang="ja-JP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2009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年</a:t>
            </a:r>
          </a:p>
          <a:p>
            <a:pPr marL="280670" marR="5080" lvl="0" indent="-268605" algn="l" defTabSz="914400" rtl="0" eaLnBrk="1" fontAlgn="auto" latinLnBrk="0" hangingPunct="1">
              <a:lnSpc>
                <a:spcPts val="2300"/>
              </a:lnSpc>
              <a:spcBef>
                <a:spcPts val="10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1305" algn="l"/>
              </a:tabLst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菊池清明・唐沢一友・小池剛史・堀田隆一・福田一貴・貝塚泰幸・松崎武 志</a:t>
            </a:r>
            <a:r>
              <a:rPr kumimoji="0" lang="ja-JP" alt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、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『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英語学：現代英語をより深く知るため</a:t>
            </a:r>
            <a:r>
              <a:rPr kumimoji="0" lang="ja-JP" altLang="en-US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に</a:t>
            </a:r>
            <a:r>
              <a:rPr kumimoji="0" lang="en-US" altLang="ja-JP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現代英語の諸相と英語学 術語解</a:t>
            </a:r>
            <a:r>
              <a:rPr kumimoji="0" lang="ja-JP" alt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説</a:t>
            </a:r>
            <a:r>
              <a:rPr kumimoji="0" lang="en-US" altLang="ja-JP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』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、大阪府、浪漫書房、</a:t>
            </a:r>
            <a:r>
              <a:rPr kumimoji="0" lang="en-US" altLang="ja-JP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2008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年</a:t>
            </a:r>
          </a:p>
          <a:p>
            <a:pPr marL="280670" marR="0" lvl="0" indent="-268605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6666"/>
              <a:buFont typeface="Arial MT"/>
              <a:buChar char="•"/>
              <a:tabLst>
                <a:tab pos="281305" algn="l"/>
              </a:tabLst>
              <a:defRPr/>
            </a:pPr>
            <a:r>
              <a:rPr kumimoji="0" lang="en-GB" sz="2400" b="0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Canadian</a:t>
            </a:r>
            <a:r>
              <a:rPr kumimoji="0" lang="en-GB" sz="2400" b="0" i="0" u="heavy" strike="noStrike" kern="120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2400" b="0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English</a:t>
            </a:r>
            <a:r>
              <a:rPr kumimoji="0" lang="en-GB" sz="2400" b="0" i="0" u="heavy" strike="noStrike" kern="1200" cap="none" spc="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2400" b="0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–</a:t>
            </a:r>
            <a:r>
              <a:rPr kumimoji="0" lang="en-GB" sz="2400" b="0" i="0" u="heavy" strike="noStrike" kern="120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2400" b="0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THE</a:t>
            </a:r>
            <a:r>
              <a:rPr kumimoji="0" lang="en-GB" sz="2400" b="0" i="0" u="heavy" strike="noStrike" kern="1200" cap="none" spc="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2400" b="0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CANADIAN</a:t>
            </a:r>
            <a:r>
              <a:rPr kumimoji="0" lang="en-GB" sz="2400" b="0" i="0" u="heavy" strike="noStrike" kern="1200" cap="none" spc="-3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2400" b="0" i="0" u="heavy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ENCYCLOPEDIA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30250" marR="0" lvl="1" indent="-260985" algn="l" defTabSz="914400" rtl="0" eaLnBrk="1" fontAlgn="auto" latinLnBrk="0" hangingPunct="1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30885" algn="l"/>
              </a:tabLst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最終アクセス日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:</a:t>
            </a:r>
            <a:r>
              <a:rPr kumimoji="0" lang="ja-JP" altLang="en-US" sz="20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altLang="ja-JP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2021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年</a:t>
            </a:r>
            <a:r>
              <a:rPr kumimoji="0" lang="en-US" altLang="ja-JP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10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月</a:t>
            </a:r>
            <a:r>
              <a:rPr kumimoji="0" lang="en-US" altLang="ja-JP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19</a:t>
            </a:r>
            <a:r>
              <a:rPr kumimoji="0" lang="ja-JP" altLang="en-US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日</a:t>
            </a:r>
            <a:endParaRPr kumimoji="0" lang="ja-JP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280670" marR="0" lvl="0" indent="-268605" algn="l" defTabSz="914400" rtl="0" eaLnBrk="1" fontAlgn="auto" latinLnBrk="0" hangingPunct="1">
              <a:lnSpc>
                <a:spcPts val="23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6666"/>
              <a:buFont typeface="Arial MT"/>
              <a:buChar char="•"/>
              <a:tabLst>
                <a:tab pos="281305" algn="l"/>
              </a:tabLst>
              <a:defRPr/>
            </a:pPr>
            <a:r>
              <a:rPr kumimoji="0" lang="en-GB" sz="2400" b="0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/>
              </a:rPr>
              <a:t>Nigerian</a:t>
            </a:r>
            <a:r>
              <a:rPr kumimoji="0" lang="en-GB" sz="2400" b="0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/>
              </a:rPr>
              <a:t> </a:t>
            </a:r>
            <a:r>
              <a:rPr kumimoji="0" lang="en-GB" sz="2400" b="0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/>
              </a:rPr>
              <a:t>Pidgin</a:t>
            </a:r>
            <a:r>
              <a:rPr kumimoji="0" lang="en-GB" sz="2400" b="0" i="0" u="heavy" strike="noStrike" kern="120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/>
              </a:rPr>
              <a:t> </a:t>
            </a:r>
            <a:r>
              <a:rPr kumimoji="0" lang="en-GB" sz="2400" b="0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/>
              </a:rPr>
              <a:t>English</a:t>
            </a:r>
            <a:r>
              <a:rPr kumimoji="0" lang="en-GB" sz="2400" b="0" i="0" u="heavy" strike="noStrike" kern="120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/>
              </a:rPr>
              <a:t> </a:t>
            </a:r>
            <a:r>
              <a:rPr kumimoji="0" lang="en-GB" sz="2400" b="0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/>
              </a:rPr>
              <a:t>-</a:t>
            </a:r>
            <a:r>
              <a:rPr kumimoji="0" lang="en-GB" sz="2400" b="0" i="0" u="heavy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/>
              </a:rPr>
              <a:t> </a:t>
            </a:r>
            <a:r>
              <a:rPr kumimoji="0" lang="en-GB" sz="2400" b="0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/>
              </a:rPr>
              <a:t>LM</a:t>
            </a:r>
            <a:r>
              <a:rPr kumimoji="0" lang="en-GB" sz="2400" b="0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/>
              </a:rPr>
              <a:t> Languages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30250" marR="0" lvl="1" indent="-260985" algn="l" defTabSz="914400" rtl="0" eaLnBrk="1" fontAlgn="auto" latinLnBrk="0" hangingPunct="1">
              <a:lnSpc>
                <a:spcPts val="1870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30885" algn="l"/>
              </a:tabLst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最終アクセス日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:</a:t>
            </a:r>
            <a:r>
              <a:rPr kumimoji="0" lang="ja-JP" altLang="en-US" sz="20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altLang="ja-JP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2021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年</a:t>
            </a:r>
            <a:r>
              <a:rPr kumimoji="0" lang="en-US" altLang="ja-JP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10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月</a:t>
            </a:r>
            <a:r>
              <a:rPr kumimoji="0" lang="en-US" altLang="ja-JP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18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日</a:t>
            </a:r>
          </a:p>
          <a:p>
            <a:pPr marL="280670" marR="0" lvl="0" indent="-268605" algn="l" defTabSz="914400" rtl="0" eaLnBrk="1" fontAlgn="auto" latinLnBrk="0" hangingPunct="1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6666"/>
              <a:buFont typeface="Arial MT"/>
              <a:buChar char="•"/>
              <a:tabLst>
                <a:tab pos="281305" algn="l"/>
              </a:tabLst>
              <a:defRPr/>
            </a:pPr>
            <a:r>
              <a:rPr kumimoji="0" lang="en-GB" sz="2400" b="0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/>
              </a:rPr>
              <a:t>A</a:t>
            </a:r>
            <a:r>
              <a:rPr kumimoji="0" lang="en-GB" sz="2400" b="0" i="0" u="heavy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/>
              </a:rPr>
              <a:t> </a:t>
            </a:r>
            <a:r>
              <a:rPr kumimoji="0" lang="en-GB" sz="2400" b="0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/>
              </a:rPr>
              <a:t>guide </a:t>
            </a:r>
            <a:r>
              <a:rPr kumimoji="0" lang="en-GB" sz="2400" b="0" i="0" u="heavy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/>
              </a:rPr>
              <a:t>to</a:t>
            </a:r>
            <a:r>
              <a:rPr kumimoji="0" lang="en-GB" sz="2400" b="0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/>
              </a:rPr>
              <a:t> Australian</a:t>
            </a:r>
            <a:r>
              <a:rPr kumimoji="0" lang="en-GB" sz="2400" b="0" i="0" u="heavy" strike="noStrike" kern="120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/>
              </a:rPr>
              <a:t> </a:t>
            </a:r>
            <a:r>
              <a:rPr kumimoji="0" lang="en-GB" sz="2400" b="0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/>
              </a:rPr>
              <a:t>English (and</a:t>
            </a:r>
            <a:r>
              <a:rPr kumimoji="0" lang="en-GB" sz="2400" b="0" i="0" u="heavy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/>
              </a:rPr>
              <a:t> </a:t>
            </a:r>
            <a:r>
              <a:rPr kumimoji="0" lang="en-GB" sz="2400" b="0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/>
              </a:rPr>
              <a:t>everything</a:t>
            </a:r>
            <a:r>
              <a:rPr kumimoji="0" lang="en-GB" sz="2400" b="0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/>
              </a:rPr>
              <a:t> </a:t>
            </a:r>
            <a:r>
              <a:rPr kumimoji="0" lang="en-GB" sz="2400" b="0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/>
              </a:rPr>
              <a:t>you</a:t>
            </a:r>
            <a:r>
              <a:rPr kumimoji="0" lang="en-GB" sz="2400" b="0" i="0" u="heavy" strike="noStrike" kern="120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/>
              </a:rPr>
              <a:t> </a:t>
            </a:r>
            <a:r>
              <a:rPr kumimoji="0" lang="en-GB" sz="2400" b="0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/>
              </a:rPr>
              <a:t>need</a:t>
            </a:r>
            <a:r>
              <a:rPr kumimoji="0" lang="en-GB" sz="2400" b="0" i="0" u="heavy" strike="noStrike" kern="1200" cap="none" spc="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/>
              </a:rPr>
              <a:t> </a:t>
            </a:r>
            <a:r>
              <a:rPr kumimoji="0" lang="en-GB" sz="2400" b="0" i="0" u="heavy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/>
              </a:rPr>
              <a:t>to</a:t>
            </a:r>
            <a:r>
              <a:rPr kumimoji="0" lang="en-GB" sz="2400" b="0" i="0" u="heavy" strike="noStrike" kern="120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/>
              </a:rPr>
              <a:t> </a:t>
            </a:r>
            <a:r>
              <a:rPr kumimoji="0" lang="en-GB" sz="2400" b="0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/>
              </a:rPr>
              <a:t>know</a:t>
            </a:r>
            <a:r>
              <a:rPr kumimoji="0" lang="en-GB" sz="2400" b="0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/>
              </a:rPr>
              <a:t> about</a:t>
            </a:r>
            <a:r>
              <a:rPr kumimoji="0" lang="en-GB" sz="2400" b="0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/>
              </a:rPr>
              <a:t> </a:t>
            </a:r>
            <a:r>
              <a:rPr kumimoji="0" lang="en-GB" sz="2400" b="0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/>
              </a:rPr>
              <a:t>the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0" lvl="0" indent="0" algn="l" defTabSz="914400" rtl="0" eaLnBrk="1" fontAlgn="auto" latinLnBrk="0" hangingPunct="1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/>
              </a:rPr>
              <a:t>Aussies!)</a:t>
            </a:r>
            <a:r>
              <a:rPr kumimoji="0" lang="en-GB" sz="2400" b="0" i="0" u="heavy" strike="noStrike" kern="120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/>
              </a:rPr>
              <a:t> </a:t>
            </a:r>
            <a:r>
              <a:rPr kumimoji="0" lang="en-GB" sz="2400" b="0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/>
              </a:rPr>
              <a:t>-</a:t>
            </a:r>
            <a:r>
              <a:rPr kumimoji="0" lang="en-GB" sz="2400" b="0" i="0" u="heavy" strike="noStrike" kern="1200" cap="none" spc="-3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/>
              </a:rPr>
              <a:t> </a:t>
            </a:r>
            <a:r>
              <a:rPr kumimoji="0" lang="en-GB" sz="2400" b="0" i="0" u="heavy" strike="noStrike" kern="1200" cap="none" spc="-10" normalizeH="0" baseline="0" noProof="0" dirty="0" err="1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/>
              </a:rPr>
              <a:t>Lingoda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30250" marR="0" lvl="1" indent="-260985" algn="l" defTabSz="914400" rtl="0" eaLnBrk="1" fontAlgn="auto" latinLnBrk="0" hangingPunct="1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30885" algn="l"/>
              </a:tabLst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最終アクセス日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:</a:t>
            </a:r>
            <a:r>
              <a:rPr kumimoji="0" lang="ja-JP" altLang="en-US" sz="20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altLang="ja-JP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2021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年</a:t>
            </a:r>
            <a:r>
              <a:rPr kumimoji="0" lang="en-US" altLang="ja-JP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10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月</a:t>
            </a:r>
            <a:r>
              <a:rPr kumimoji="0" lang="en-US" altLang="ja-JP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18</a:t>
            </a:r>
            <a:r>
              <a:rPr kumimoji="0" lang="ja-JP" altLang="en-US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日</a:t>
            </a:r>
            <a:endParaRPr kumimoji="0" lang="ja-JP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280670" marR="0" lvl="0" indent="-268605" algn="l" defTabSz="914400" rtl="0" eaLnBrk="1" fontAlgn="auto" latinLnBrk="0" hangingPunct="1">
              <a:lnSpc>
                <a:spcPts val="23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6666"/>
              <a:buFont typeface="Arial MT"/>
              <a:buChar char="•"/>
              <a:tabLst>
                <a:tab pos="281305" algn="l"/>
              </a:tabLst>
              <a:defRPr/>
            </a:pPr>
            <a:r>
              <a:rPr kumimoji="0" lang="en-GB" sz="2400" b="0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6"/>
              </a:rPr>
              <a:t>NEW</a:t>
            </a:r>
            <a:r>
              <a:rPr kumimoji="0" lang="en-GB" sz="2400" b="0" i="0" u="heavy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6"/>
              </a:rPr>
              <a:t> </a:t>
            </a:r>
            <a:r>
              <a:rPr kumimoji="0" lang="en-GB" sz="2400" b="0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6"/>
              </a:rPr>
              <a:t>ZEALAND</a:t>
            </a:r>
            <a:r>
              <a:rPr kumimoji="0" lang="en-GB" sz="2400" b="0" i="0" u="heavy" strike="noStrike" kern="120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6"/>
              </a:rPr>
              <a:t> </a:t>
            </a:r>
            <a:r>
              <a:rPr kumimoji="0" lang="en-GB" sz="2400" b="0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6"/>
              </a:rPr>
              <a:t>ENGLISH</a:t>
            </a:r>
            <a:r>
              <a:rPr kumimoji="0" lang="en-GB" sz="2400" b="0" i="0" u="heavy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6"/>
              </a:rPr>
              <a:t> </a:t>
            </a:r>
            <a:r>
              <a:rPr kumimoji="0" lang="en-GB" sz="2400" b="0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6"/>
              </a:rPr>
              <a:t>-</a:t>
            </a:r>
            <a:r>
              <a:rPr kumimoji="0" lang="en-GB" sz="2400" b="0" i="0" u="heavy" strike="noStrike" kern="120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6"/>
              </a:rPr>
              <a:t> </a:t>
            </a:r>
            <a:r>
              <a:rPr kumimoji="0" lang="en-GB" sz="2400" b="0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6"/>
              </a:rPr>
              <a:t>Encyclopedia.com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30250" marR="0" lvl="1" indent="-260985" algn="l" defTabSz="914400" rtl="0" eaLnBrk="1" fontAlgn="auto" latinLnBrk="0" hangingPunct="1">
              <a:lnSpc>
                <a:spcPts val="2170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30885" algn="l"/>
              </a:tabLst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最終アクセス日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:</a:t>
            </a:r>
            <a:r>
              <a:rPr kumimoji="0" lang="ja-JP" altLang="en-US" sz="20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altLang="ja-JP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2021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年</a:t>
            </a:r>
            <a:r>
              <a:rPr kumimoji="0" lang="en-US" altLang="ja-JP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10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月</a:t>
            </a:r>
            <a:r>
              <a:rPr kumimoji="0" lang="en-US" altLang="ja-JP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18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30412465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E6BD63-86C0-4411-B65D-4080E9A95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GB" sz="5400" b="1" dirty="0"/>
          </a:p>
          <a:p>
            <a:pPr marL="0" indent="0" algn="ctr">
              <a:buNone/>
            </a:pPr>
            <a:r>
              <a:rPr lang="en-GB" sz="5400" b="1" dirty="0"/>
              <a:t>EOD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2458194-12B8-434A-8D6D-E01520C89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1357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3002</Words>
  <Application>Microsoft Office PowerPoint</Application>
  <PresentationFormat>Widescreen</PresentationFormat>
  <Paragraphs>393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-apple-system</vt:lpstr>
      <vt:lpstr>Arial MT</vt:lpstr>
      <vt:lpstr>Calibri (Body)</vt:lpstr>
      <vt:lpstr>Calibri (Headings)</vt:lpstr>
      <vt:lpstr>Yu Gothic</vt:lpstr>
      <vt:lpstr>Arial</vt:lpstr>
      <vt:lpstr>Calibri</vt:lpstr>
      <vt:lpstr>Calibri Light</vt:lpstr>
      <vt:lpstr>Tahoma</vt:lpstr>
      <vt:lpstr>Office テーマ</vt:lpstr>
      <vt:lpstr>現代英語を知ろう</vt:lpstr>
      <vt:lpstr>自己紹介</vt:lpstr>
      <vt:lpstr>免許 / 資格</vt:lpstr>
      <vt:lpstr>スキルスタック</vt:lpstr>
      <vt:lpstr>職歴</vt:lpstr>
      <vt:lpstr>職歴</vt:lpstr>
      <vt:lpstr>国際交流活動</vt:lpstr>
      <vt:lpstr>このシリーズのコンセプト</vt:lpstr>
      <vt:lpstr>目次</vt:lpstr>
      <vt:lpstr>1. 世界中の多様な英語</vt:lpstr>
      <vt:lpstr>1. 世界中の多様な英語</vt:lpstr>
      <vt:lpstr>1. 世界中の多様な英語</vt:lpstr>
      <vt:lpstr>1. 世界中の多様な英語</vt:lpstr>
      <vt:lpstr>1. 世界中の多様な英語</vt:lpstr>
      <vt:lpstr>1. 世界中の多様な英語</vt:lpstr>
      <vt:lpstr>1. 世界中の多様な英語</vt:lpstr>
      <vt:lpstr>1. 世界中の多様な英語</vt:lpstr>
      <vt:lpstr>1. 世界中の多様な英語</vt:lpstr>
      <vt:lpstr>1. 世界中の多様な英語</vt:lpstr>
      <vt:lpstr>1. 世界中の多様な英語</vt:lpstr>
      <vt:lpstr>1. 世界中の多様な英語</vt:lpstr>
      <vt:lpstr>2. イギリス英語とアメリカ英語</vt:lpstr>
      <vt:lpstr>2. イギリス英語とアメリカ英語</vt:lpstr>
      <vt:lpstr>2. イギリス英語とアメリカ英語</vt:lpstr>
      <vt:lpstr>2. イギリス英語とアメリカ英語</vt:lpstr>
      <vt:lpstr>2. イギリス英語とアメリカ英語</vt:lpstr>
      <vt:lpstr>3. まとめ</vt:lpstr>
      <vt:lpstr>3. まとめ</vt:lpstr>
      <vt:lpstr>4. 参考文献</vt:lpstr>
      <vt:lpstr>4. 参考文献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Hayato Ishida</dc:creator>
  <cp:lastModifiedBy>Hayato Ishida</cp:lastModifiedBy>
  <cp:revision>33</cp:revision>
  <dcterms:modified xsi:type="dcterms:W3CDTF">2025-09-01T03:28:54Z</dcterms:modified>
</cp:coreProperties>
</file>