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7" r:id="rId3"/>
    <p:sldId id="388" r:id="rId4"/>
    <p:sldId id="414" r:id="rId5"/>
    <p:sldId id="416" r:id="rId6"/>
    <p:sldId id="415" r:id="rId7"/>
    <p:sldId id="280" r:id="rId8"/>
    <p:sldId id="311" r:id="rId9"/>
    <p:sldId id="259" r:id="rId10"/>
    <p:sldId id="330" r:id="rId11"/>
    <p:sldId id="325" r:id="rId12"/>
    <p:sldId id="354" r:id="rId13"/>
    <p:sldId id="408" r:id="rId14"/>
    <p:sldId id="409" r:id="rId15"/>
    <p:sldId id="410" r:id="rId16"/>
    <p:sldId id="411" r:id="rId17"/>
    <p:sldId id="326" r:id="rId18"/>
    <p:sldId id="336" r:id="rId19"/>
    <p:sldId id="412" r:id="rId20"/>
    <p:sldId id="357" r:id="rId21"/>
    <p:sldId id="358" r:id="rId22"/>
    <p:sldId id="413" r:id="rId23"/>
    <p:sldId id="359" r:id="rId24"/>
    <p:sldId id="360" r:id="rId25"/>
    <p:sldId id="385" r:id="rId26"/>
    <p:sldId id="386" r:id="rId27"/>
    <p:sldId id="328" r:id="rId28"/>
    <p:sldId id="295"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83FC69CB-DBD5-4C4D-8011-0074165CE6CE}"/>
    <pc:docChg chg="undo custSel modSld">
      <pc:chgData name="Hayato Ishida" userId="585fa0fa6384767c" providerId="LiveId" clId="{83FC69CB-DBD5-4C4D-8011-0074165CE6CE}" dt="2025-05-03T11:24:25.018" v="24"/>
      <pc:docMkLst>
        <pc:docMk/>
      </pc:docMkLst>
      <pc:sldChg chg="modSp mod">
        <pc:chgData name="Hayato Ishida" userId="585fa0fa6384767c" providerId="LiveId" clId="{83FC69CB-DBD5-4C4D-8011-0074165CE6CE}" dt="2025-05-03T11:24:13.569" v="23"/>
        <pc:sldMkLst>
          <pc:docMk/>
          <pc:sldMk cId="2567433019" sldId="280"/>
        </pc:sldMkLst>
      </pc:sldChg>
      <pc:sldChg chg="addSp delSp modSp mod">
        <pc:chgData name="Hayato Ishida" userId="585fa0fa6384767c" providerId="LiveId" clId="{83FC69CB-DBD5-4C4D-8011-0074165CE6CE}" dt="2025-05-03T11:16:05.279" v="6"/>
        <pc:sldMkLst>
          <pc:docMk/>
          <pc:sldMk cId="155858466" sldId="286"/>
        </pc:sldMkLst>
      </pc:sldChg>
      <pc:sldChg chg="addSp delSp modSp mod">
        <pc:chgData name="Hayato Ishida" userId="585fa0fa6384767c" providerId="LiveId" clId="{83FC69CB-DBD5-4C4D-8011-0074165CE6CE}" dt="2025-05-03T11:24:25.018" v="24"/>
        <pc:sldMkLst>
          <pc:docMk/>
          <pc:sldMk cId="654251065" sldId="287"/>
        </pc:sldMkLst>
      </pc:sldChg>
    </pc:docChg>
  </pc:docChgLst>
  <pc:docChgLst>
    <pc:chgData name="Hayato Ishida" userId="585fa0fa6384767c" providerId="LiveId" clId="{58B8BC97-55D3-49CA-BCB2-67124C6F07D6}"/>
    <pc:docChg chg="custSel addSld delSld modSld sldOrd">
      <pc:chgData name="Hayato Ishida" userId="585fa0fa6384767c" providerId="LiveId" clId="{58B8BC97-55D3-49CA-BCB2-67124C6F07D6}" dt="2025-09-01T03:28:09.573" v="14"/>
      <pc:docMkLst>
        <pc:docMk/>
      </pc:docMkLst>
      <pc:sldChg chg="del">
        <pc:chgData name="Hayato Ishida" userId="585fa0fa6384767c" providerId="LiveId" clId="{58B8BC97-55D3-49CA-BCB2-67124C6F07D6}" dt="2025-08-31T17:59:08.600" v="2" actId="47"/>
        <pc:sldMkLst>
          <pc:docMk/>
          <pc:sldMk cId="155858466" sldId="286"/>
        </pc:sldMkLst>
      </pc:sldChg>
      <pc:sldChg chg="addSp delSp modSp mod">
        <pc:chgData name="Hayato Ishida" userId="585fa0fa6384767c" providerId="LiveId" clId="{58B8BC97-55D3-49CA-BCB2-67124C6F07D6}" dt="2025-08-31T18:03:24.705" v="8"/>
        <pc:sldMkLst>
          <pc:docMk/>
          <pc:sldMk cId="654251065" sldId="287"/>
        </pc:sldMkLst>
        <pc:spChg chg="add del mod">
          <ac:chgData name="Hayato Ishida" userId="585fa0fa6384767c" providerId="LiveId" clId="{58B8BC97-55D3-49CA-BCB2-67124C6F07D6}" dt="2025-08-31T17:59:05.230" v="1" actId="478"/>
          <ac:spMkLst>
            <pc:docMk/>
            <pc:sldMk cId="654251065" sldId="287"/>
            <ac:spMk id="3" creationId="{077A8655-A7B1-7A8D-F4FF-E77F9ACB4FCB}"/>
          </ac:spMkLst>
        </pc:spChg>
        <pc:spChg chg="add del mod">
          <ac:chgData name="Hayato Ishida" userId="585fa0fa6384767c" providerId="LiveId" clId="{58B8BC97-55D3-49CA-BCB2-67124C6F07D6}" dt="2025-08-31T17:59:05.230" v="1" actId="478"/>
          <ac:spMkLst>
            <pc:docMk/>
            <pc:sldMk cId="654251065" sldId="287"/>
            <ac:spMk id="5" creationId="{BF0E58E4-42C1-5E63-6669-B7BEC2A4F4AC}"/>
          </ac:spMkLst>
        </pc:spChg>
        <pc:spChg chg="del">
          <ac:chgData name="Hayato Ishida" userId="585fa0fa6384767c" providerId="LiveId" clId="{58B8BC97-55D3-49CA-BCB2-67124C6F07D6}" dt="2025-08-31T17:59:04.743" v="0" actId="478"/>
          <ac:spMkLst>
            <pc:docMk/>
            <pc:sldMk cId="654251065" sldId="287"/>
            <ac:spMk id="6" creationId="{E3E80814-93E1-27BE-0BFF-8D73F3779A2F}"/>
          </ac:spMkLst>
        </pc:spChg>
        <pc:spChg chg="del">
          <ac:chgData name="Hayato Ishida" userId="585fa0fa6384767c" providerId="LiveId" clId="{58B8BC97-55D3-49CA-BCB2-67124C6F07D6}" dt="2025-08-31T17:59:04.743" v="0" actId="478"/>
          <ac:spMkLst>
            <pc:docMk/>
            <pc:sldMk cId="654251065" sldId="287"/>
            <ac:spMk id="7" creationId="{39079C91-C496-44B4-8188-CC69619F4BD9}"/>
          </ac:spMkLst>
        </pc:spChg>
        <pc:spChg chg="del">
          <ac:chgData name="Hayato Ishida" userId="585fa0fa6384767c" providerId="LiveId" clId="{58B8BC97-55D3-49CA-BCB2-67124C6F07D6}" dt="2025-08-31T17:59:04.743" v="0" actId="478"/>
          <ac:spMkLst>
            <pc:docMk/>
            <pc:sldMk cId="654251065" sldId="287"/>
            <ac:spMk id="8" creationId="{A4D7648B-8784-1A9D-FF9A-CE4B30702F35}"/>
          </ac:spMkLst>
        </pc:spChg>
        <pc:spChg chg="add mod">
          <ac:chgData name="Hayato Ishida" userId="585fa0fa6384767c" providerId="LiveId" clId="{58B8BC97-55D3-49CA-BCB2-67124C6F07D6}" dt="2025-08-31T18:03:24.705" v="8"/>
          <ac:spMkLst>
            <pc:docMk/>
            <pc:sldMk cId="654251065" sldId="287"/>
            <ac:spMk id="9" creationId="{5632BEB2-D7D8-4449-4E6D-BA10BF188CC5}"/>
          </ac:spMkLst>
        </pc:spChg>
        <pc:spChg chg="add mod">
          <ac:chgData name="Hayato Ishida" userId="585fa0fa6384767c" providerId="LiveId" clId="{58B8BC97-55D3-49CA-BCB2-67124C6F07D6}" dt="2025-08-31T18:03:24.705" v="8"/>
          <ac:spMkLst>
            <pc:docMk/>
            <pc:sldMk cId="654251065" sldId="287"/>
            <ac:spMk id="10" creationId="{2CE0E9FA-0144-EA86-A974-5EE9AA0ED43E}"/>
          </ac:spMkLst>
        </pc:spChg>
        <pc:spChg chg="add mod">
          <ac:chgData name="Hayato Ishida" userId="585fa0fa6384767c" providerId="LiveId" clId="{58B8BC97-55D3-49CA-BCB2-67124C6F07D6}" dt="2025-08-31T18:03:24.705" v="8"/>
          <ac:spMkLst>
            <pc:docMk/>
            <pc:sldMk cId="654251065" sldId="287"/>
            <ac:spMk id="11" creationId="{F4E476A7-4874-8F68-BB40-89A579B22921}"/>
          </ac:spMkLst>
        </pc:spChg>
        <pc:picChg chg="del">
          <ac:chgData name="Hayato Ishida" userId="585fa0fa6384767c" providerId="LiveId" clId="{58B8BC97-55D3-49CA-BCB2-67124C6F07D6}" dt="2025-08-31T17:59:04.743" v="0" actId="478"/>
          <ac:picMkLst>
            <pc:docMk/>
            <pc:sldMk cId="654251065" sldId="287"/>
            <ac:picMk id="12" creationId="{51BDEECF-39FD-B73E-CCE1-E37130345743}"/>
          </ac:picMkLst>
        </pc:picChg>
        <pc:picChg chg="add mod">
          <ac:chgData name="Hayato Ishida" userId="585fa0fa6384767c" providerId="LiveId" clId="{58B8BC97-55D3-49CA-BCB2-67124C6F07D6}" dt="2025-08-31T18:03:24.705" v="8"/>
          <ac:picMkLst>
            <pc:docMk/>
            <pc:sldMk cId="654251065" sldId="287"/>
            <ac:picMk id="13" creationId="{64A251A0-36EA-F237-94F4-63BCE173915C}"/>
          </ac:picMkLst>
        </pc:picChg>
      </pc:sldChg>
      <pc:sldChg chg="del">
        <pc:chgData name="Hayato Ishida" userId="585fa0fa6384767c" providerId="LiveId" clId="{58B8BC97-55D3-49CA-BCB2-67124C6F07D6}" dt="2025-08-31T17:59:08.600" v="2" actId="47"/>
        <pc:sldMkLst>
          <pc:docMk/>
          <pc:sldMk cId="3064566856" sldId="387"/>
        </pc:sldMkLst>
      </pc:sldChg>
      <pc:sldChg chg="addSp modSp add ord">
        <pc:chgData name="Hayato Ishida" userId="585fa0fa6384767c" providerId="LiveId" clId="{58B8BC97-55D3-49CA-BCB2-67124C6F07D6}" dt="2025-08-31T18:05:13.843" v="9"/>
        <pc:sldMkLst>
          <pc:docMk/>
          <pc:sldMk cId="3207168749" sldId="414"/>
        </pc:sldMkLst>
        <pc:spChg chg="add mod">
          <ac:chgData name="Hayato Ishida" userId="585fa0fa6384767c" providerId="LiveId" clId="{58B8BC97-55D3-49CA-BCB2-67124C6F07D6}" dt="2025-08-31T18:05:13.843" v="9"/>
          <ac:spMkLst>
            <pc:docMk/>
            <pc:sldMk cId="3207168749" sldId="414"/>
            <ac:spMk id="2" creationId="{3CCF7C14-B5E2-E2D8-275E-CF96585B8FCC}"/>
          </ac:spMkLst>
        </pc:spChg>
        <pc:spChg chg="add mod">
          <ac:chgData name="Hayato Ishida" userId="585fa0fa6384767c" providerId="LiveId" clId="{58B8BC97-55D3-49CA-BCB2-67124C6F07D6}" dt="2025-08-31T18:05:13.843" v="9"/>
          <ac:spMkLst>
            <pc:docMk/>
            <pc:sldMk cId="3207168749" sldId="414"/>
            <ac:spMk id="3" creationId="{CA687BD6-A825-FE2A-3A88-C9544B1F2225}"/>
          </ac:spMkLst>
        </pc:spChg>
        <pc:spChg chg="add mod">
          <ac:chgData name="Hayato Ishida" userId="585fa0fa6384767c" providerId="LiveId" clId="{58B8BC97-55D3-49CA-BCB2-67124C6F07D6}" dt="2025-08-31T18:05:13.843" v="9"/>
          <ac:spMkLst>
            <pc:docMk/>
            <pc:sldMk cId="3207168749" sldId="414"/>
            <ac:spMk id="4" creationId="{176C6461-5F4D-1CAE-18FD-918BE95A05C5}"/>
          </ac:spMkLst>
        </pc:spChg>
      </pc:sldChg>
      <pc:sldChg chg="addSp modSp add mod">
        <pc:chgData name="Hayato Ishida" userId="585fa0fa6384767c" providerId="LiveId" clId="{58B8BC97-55D3-49CA-BCB2-67124C6F07D6}" dt="2025-09-01T03:24:07.224" v="13" actId="20577"/>
        <pc:sldMkLst>
          <pc:docMk/>
          <pc:sldMk cId="1511009101" sldId="415"/>
        </pc:sldMkLst>
        <pc:spChg chg="add mod">
          <ac:chgData name="Hayato Ishida" userId="585fa0fa6384767c" providerId="LiveId" clId="{58B8BC97-55D3-49CA-BCB2-67124C6F07D6}" dt="2025-08-31T18:09:38.841" v="11"/>
          <ac:spMkLst>
            <pc:docMk/>
            <pc:sldMk cId="1511009101" sldId="415"/>
            <ac:spMk id="2" creationId="{9157980C-CB33-1FD0-C237-6EB49D67AC92}"/>
          </ac:spMkLst>
        </pc:spChg>
        <pc:spChg chg="add mod">
          <ac:chgData name="Hayato Ishida" userId="585fa0fa6384767c" providerId="LiveId" clId="{58B8BC97-55D3-49CA-BCB2-67124C6F07D6}" dt="2025-08-31T18:09:38.841" v="11"/>
          <ac:spMkLst>
            <pc:docMk/>
            <pc:sldMk cId="1511009101" sldId="415"/>
            <ac:spMk id="3" creationId="{F7119D44-6CE3-61FC-8CA0-4B43BC1F207C}"/>
          </ac:spMkLst>
        </pc:spChg>
        <pc:graphicFrameChg chg="add mod modGraphic">
          <ac:chgData name="Hayato Ishida" userId="585fa0fa6384767c" providerId="LiveId" clId="{58B8BC97-55D3-49CA-BCB2-67124C6F07D6}" dt="2025-09-01T03:24:07.224" v="13" actId="20577"/>
          <ac:graphicFrameMkLst>
            <pc:docMk/>
            <pc:sldMk cId="1511009101" sldId="415"/>
            <ac:graphicFrameMk id="4" creationId="{19262C9D-722A-6E32-5DBD-844E743D313E}"/>
          </ac:graphicFrameMkLst>
        </pc:graphicFrameChg>
      </pc:sldChg>
      <pc:sldChg chg="addSp modSp add">
        <pc:chgData name="Hayato Ishida" userId="585fa0fa6384767c" providerId="LiveId" clId="{58B8BC97-55D3-49CA-BCB2-67124C6F07D6}" dt="2025-09-01T03:28:09.573" v="14"/>
        <pc:sldMkLst>
          <pc:docMk/>
          <pc:sldMk cId="4169744256" sldId="416"/>
        </pc:sldMkLst>
        <pc:spChg chg="add mod">
          <ac:chgData name="Hayato Ishida" userId="585fa0fa6384767c" providerId="LiveId" clId="{58B8BC97-55D3-49CA-BCB2-67124C6F07D6}" dt="2025-08-31T18:07:29.240" v="10"/>
          <ac:spMkLst>
            <pc:docMk/>
            <pc:sldMk cId="4169744256" sldId="416"/>
            <ac:spMk id="2" creationId="{C623DDF1-D67D-0158-D44E-0B71ACB60DC3}"/>
          </ac:spMkLst>
        </pc:spChg>
        <pc:spChg chg="add mod">
          <ac:chgData name="Hayato Ishida" userId="585fa0fa6384767c" providerId="LiveId" clId="{58B8BC97-55D3-49CA-BCB2-67124C6F07D6}" dt="2025-08-31T18:07:29.240" v="10"/>
          <ac:spMkLst>
            <pc:docMk/>
            <pc:sldMk cId="4169744256" sldId="416"/>
            <ac:spMk id="3" creationId="{B1CF4F4B-A5D2-7ADE-8FD0-D79B63D22A78}"/>
          </ac:spMkLst>
        </pc:spChg>
        <pc:graphicFrameChg chg="add mod">
          <ac:chgData name="Hayato Ishida" userId="585fa0fa6384767c" providerId="LiveId" clId="{58B8BC97-55D3-49CA-BCB2-67124C6F07D6}" dt="2025-09-01T03:28:09.573" v="14"/>
          <ac:graphicFrameMkLst>
            <pc:docMk/>
            <pc:sldMk cId="4169744256" sldId="416"/>
            <ac:graphicFrameMk id="4" creationId="{C7484A58-D1D0-FC77-8556-8CB4F150760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keywords-to-understand-present-day-america"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slide" Target="slide9.xml"/><Relationship Id="rId7" Type="http://schemas.openxmlformats.org/officeDocument/2006/relationships/slide" Target="slide23.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7.xml"/><Relationship Id="rId4" Type="http://schemas.openxmlformats.org/officeDocument/2006/relationships/slide" Target="slide11.xml"/><Relationship Id="rId9" Type="http://schemas.openxmlformats.org/officeDocument/2006/relationships/slide" Target="slide2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vitaljapan.com/event/20181110-vital-japan/"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Political_correctness"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dition.cnn.com/2018/10/23/media/megyn-kelly-blackface/index.htm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vitaljapan.com/event/20181110-vital-japan/"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edition.cnn.com/2018/10/23/media/megyn-kelly-blackface/index.html" TargetMode="External"/><Relationship Id="rId4" Type="http://schemas.openxmlformats.org/officeDocument/2006/relationships/hyperlink" Target="https://en.wikipedia.org/wiki/Political_correctness"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今どきのアメリカを</a:t>
            </a:r>
            <a:br>
              <a:rPr lang="en-GB" altLang="ja-JP" sz="5400" b="1" dirty="0">
                <a:effectLst>
                  <a:outerShdw blurRad="38100" dist="38100" dir="2700000" algn="tl">
                    <a:srgbClr val="000000">
                      <a:alpha val="43137"/>
                    </a:srgbClr>
                  </a:outerShdw>
                </a:effectLst>
                <a:latin typeface="+mn-lt"/>
              </a:rPr>
            </a:br>
            <a:r>
              <a:rPr lang="ja-JP" altLang="en-US" sz="5400" b="1" dirty="0">
                <a:effectLst>
                  <a:outerShdw blurRad="38100" dist="38100" dir="2700000" algn="tl">
                    <a:srgbClr val="000000">
                      <a:alpha val="43137"/>
                    </a:srgbClr>
                  </a:outerShdw>
                </a:effectLst>
                <a:latin typeface="+mn-lt"/>
              </a:rPr>
              <a:t>読み解くキーワード</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5632BEB2-D7D8-4449-4E6D-BA10BF188CC5}"/>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2CE0E9FA-0144-EA86-A974-5EE9AA0ED43E}"/>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F4E476A7-4874-8F68-BB40-89A579B2292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64A251A0-36EA-F237-94F4-63BCE17391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121301E6-A92A-2243-3385-516814677A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CF7C14-B5E2-E2D8-275E-CF96585B8FCC}"/>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CA687BD6-A825-FE2A-3A88-C9544B1F2225}"/>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176C6461-5F4D-1CAE-18FD-918BE95A05C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7168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4F5AF10C-5305-942F-F6DF-489B2A6189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23DDF1-D67D-0158-D44E-0B71ACB60DC3}"/>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B1CF4F4B-A5D2-7ADE-8FD0-D79B63D22A78}"/>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C7484A58-D1D0-FC77-8556-8CB4F1507606}"/>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4169744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5DA8CD73-DC17-B5B4-6B0C-0CB30F63239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57980C-CB33-1FD0-C237-6EB49D67AC92}"/>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F7119D44-6CE3-61FC-8CA0-4B43BC1F207C}"/>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19262C9D-722A-6E32-5DBD-844E743D313E}"/>
              </a:ext>
            </a:extLst>
          </p:cNvPr>
          <p:cNvGraphicFramePr>
            <a:graphicFrameLocks noGrp="1"/>
          </p:cNvGraphicFramePr>
          <p:nvPr>
            <p:extLst>
              <p:ext uri="{D42A27DB-BD31-4B8C-83A1-F6EECF244321}">
                <p14:modId xmlns:p14="http://schemas.microsoft.com/office/powerpoint/2010/main" val="1036720819"/>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511009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はじめに</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4" action="ppaction://hlinksldjump"/>
              </a:rPr>
              <a:t>PC Terms ① -</a:t>
            </a:r>
            <a:r>
              <a:rPr lang="ja-JP" altLang="en-US" sz="2400" dirty="0">
                <a:sym typeface="Arial"/>
                <a:hlinkClick r:id="rId4" action="ppaction://hlinksldjump"/>
              </a:rPr>
              <a:t>社会的性差・生物的性差・多様性</a:t>
            </a:r>
            <a:r>
              <a:rPr lang="en-US" altLang="ja-JP" sz="2400" dirty="0">
                <a:sym typeface="Arial"/>
                <a:hlinkClick r:id="rId4" action="ppaction://hlinksldjump"/>
              </a:rPr>
              <a:t>-</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5" action="ppaction://hlinksldjump"/>
              </a:rPr>
              <a:t>PC Terms ② -</a:t>
            </a:r>
            <a:r>
              <a:rPr lang="ja-JP" altLang="en-US" sz="2400" dirty="0">
                <a:sym typeface="Arial"/>
                <a:hlinkClick r:id="rId5" action="ppaction://hlinksldjump"/>
              </a:rPr>
              <a:t>社会運動</a:t>
            </a:r>
            <a:r>
              <a:rPr lang="en-US" altLang="ja-JP" sz="2400" dirty="0">
                <a:sym typeface="Arial"/>
                <a:hlinkClick r:id="rId5" action="ppaction://hlinksldjump"/>
              </a:rPr>
              <a:t>-</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高度情報化社会</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その他</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8"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9"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「今どき」の定義</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575"/>
              </a:spcBef>
              <a:spcAft>
                <a:spcPts val="0"/>
              </a:spcAft>
              <a:buClrTx/>
              <a:buSzTx/>
              <a:buFontTx/>
              <a:buNone/>
              <a:tabLst/>
              <a:defRPr/>
            </a:pP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NHK</a:t>
            </a:r>
            <a:r>
              <a:rPr kumimoji="0" lang="ja-JP" altLang="en-US" sz="2400" b="0" i="0" u="none" strike="noStrike" kern="1200" cap="none" spc="-3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ラジオ「実践ビジネス英語」講師・昭和女子大学客員教授の杉田敏氏 がゲストスピーカーを勤めた</a:t>
            </a:r>
            <a:r>
              <a:rPr kumimoji="0" lang="ja-JP" altLang="en-US" sz="2400" b="0" i="0" u="none" strike="noStrike" kern="1200" cap="none" spc="-160" normalizeH="0" baseline="0" noProof="0" dirty="0">
                <a:ln>
                  <a:noFill/>
                </a:ln>
                <a:solidFill>
                  <a:prstClr val="black"/>
                </a:solidFill>
                <a:effectLst/>
                <a:uLnTx/>
                <a:uFillTx/>
                <a:latin typeface="Yu Gothic"/>
                <a:ea typeface="+mn-ea"/>
                <a:cs typeface="Yu Gothic"/>
              </a:rPr>
              <a:t> </a:t>
            </a:r>
            <a:r>
              <a:rPr kumimoji="0" lang="en-US" altLang="ja-JP"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Vital</a:t>
            </a:r>
            <a:r>
              <a:rPr kumimoji="0" lang="ja-JP" altLang="en-US"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Japan</a:t>
            </a:r>
            <a:r>
              <a:rPr kumimoji="0" lang="ja-JP" altLang="en-US" sz="2400" b="0" i="0" u="heavy" strike="noStrike" kern="1200" cap="none" spc="-2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第</a:t>
            </a:r>
            <a:r>
              <a:rPr kumimoji="0" lang="ja-JP" altLang="en-US" sz="2400" b="0" i="0" u="heavy" strike="noStrike" kern="1200" cap="none" spc="-160" normalizeH="0" baseline="0" noProof="0" dirty="0">
                <a:ln>
                  <a:noFill/>
                </a:ln>
                <a:solidFill>
                  <a:srgbClr val="0462C1"/>
                </a:solidFill>
                <a:effectLst/>
                <a:uLnTx/>
                <a:uFill>
                  <a:solidFill>
                    <a:srgbClr val="0462C1"/>
                  </a:solidFill>
                </a:uFill>
                <a:latin typeface="Yu Gothic"/>
                <a:ea typeface="+mn-ea"/>
                <a:cs typeface="Yu Gothic"/>
                <a:hlinkClick r:id="rId3"/>
              </a:rPr>
              <a:t> </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168</a:t>
            </a:r>
            <a:r>
              <a:rPr kumimoji="0" lang="ja-JP" altLang="en-US" sz="2400" b="0" i="0" u="heavy" strike="noStrike" kern="1200" cap="none" spc="-2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ja-JP" altLang="en-US" sz="2400" b="0" i="0" u="heavy" strike="noStrike" kern="1200" cap="none" spc="540" normalizeH="0" baseline="0" noProof="0" dirty="0">
                <a:ln>
                  <a:noFill/>
                </a:ln>
                <a:solidFill>
                  <a:srgbClr val="0462C1"/>
                </a:solidFill>
                <a:effectLst/>
                <a:uLnTx/>
                <a:uFill>
                  <a:solidFill>
                    <a:srgbClr val="0462C1"/>
                  </a:solidFill>
                </a:uFill>
                <a:latin typeface="Yu Gothic"/>
                <a:ea typeface="+mn-ea"/>
                <a:cs typeface="Yu Gothic"/>
                <a:hlinkClick r:id="rId3"/>
              </a:rPr>
              <a:t>回</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月例セッショ</a:t>
            </a:r>
            <a:r>
              <a:rPr kumimoji="0" lang="ja-JP" altLang="en-US" sz="2400" b="0" i="0" u="heavy" strike="noStrike" kern="1200" cap="none" spc="540" normalizeH="0" baseline="0" noProof="0" dirty="0">
                <a:ln>
                  <a:noFill/>
                </a:ln>
                <a:solidFill>
                  <a:srgbClr val="0462C1"/>
                </a:solidFill>
                <a:effectLst/>
                <a:uLnTx/>
                <a:uFill>
                  <a:solidFill>
                    <a:srgbClr val="0462C1"/>
                  </a:solidFill>
                </a:uFill>
                <a:latin typeface="Yu Gothic"/>
                <a:ea typeface="+mn-ea"/>
                <a:cs typeface="Yu Gothic"/>
                <a:hlinkClick r:id="rId3"/>
              </a:rPr>
              <a:t>ン</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「現代ア</a:t>
            </a:r>
            <a:r>
              <a:rPr kumimoji="0" lang="ja-JP" altLang="en-US" sz="2400" b="0" i="0" u="heavy" strike="noStrike" kern="1200" cap="none" spc="-1435" normalizeH="0" baseline="0" noProof="0" dirty="0">
                <a:ln>
                  <a:noFill/>
                </a:ln>
                <a:solidFill>
                  <a:srgbClr val="0462C1"/>
                </a:solidFill>
                <a:effectLst/>
                <a:uLnTx/>
                <a:uFill>
                  <a:solidFill>
                    <a:srgbClr val="0462C1"/>
                  </a:solidFill>
                </a:uFill>
                <a:latin typeface="Yu Gothic"/>
                <a:ea typeface="+mn-ea"/>
                <a:cs typeface="Yu Gothic"/>
                <a:hlinkClick r:id="rId3"/>
              </a:rPr>
              <a:t>メ </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リカを読み解くキーワードを学ぶ</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にて入手した</a:t>
            </a:r>
            <a:r>
              <a:rPr kumimoji="0" lang="ja-JP" altLang="en-US" sz="2400" b="0" i="0" u="none" strike="noStrike" kern="1200" cap="none" spc="-15" normalizeH="0" baseline="0" noProof="0" dirty="0">
                <a:ln>
                  <a:noFill/>
                </a:ln>
                <a:solidFill>
                  <a:prstClr val="black"/>
                </a:solidFill>
                <a:effectLst/>
                <a:uLnTx/>
                <a:uFillTx/>
                <a:latin typeface="Yu Gothic"/>
                <a:ea typeface="+mn-ea"/>
                <a:cs typeface="Yu Gothic"/>
              </a:rPr>
              <a:t>、</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2018</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11</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10</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日</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土</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現在 の情報。</a:t>
            </a: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sz="3700" b="1" dirty="0">
                <a:latin typeface="Calibri (Headings)"/>
              </a:rPr>
              <a:t>2. </a:t>
            </a:r>
            <a:r>
              <a:rPr lang="en-GB" altLang="ja-JP" sz="3700" b="1" dirty="0">
                <a:latin typeface="Calibri (Headings)"/>
                <a:sym typeface="Arial"/>
              </a:rPr>
              <a:t>PC Terms ① -</a:t>
            </a:r>
            <a:r>
              <a:rPr lang="ja-JP" altLang="en-US" sz="3700" b="1" dirty="0">
                <a:latin typeface="Calibri (Headings)"/>
                <a:sym typeface="Arial"/>
              </a:rPr>
              <a:t>社会的性差・生物的性差・多様性</a:t>
            </a:r>
            <a:r>
              <a:rPr lang="en-US" altLang="ja-JP" sz="3700" b="1" dirty="0">
                <a:latin typeface="Calibri (Headings)"/>
                <a:sym typeface="Arial"/>
              </a:rPr>
              <a:t>-</a:t>
            </a:r>
            <a:endParaRPr lang="en-GB" sz="37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PC Terms ① -</a:t>
            </a:r>
            <a:r>
              <a:rPr kumimoji="0" lang="ja-JP" altLang="en-US"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社会的性差・生物的性差・多様性</a:t>
            </a: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35"/>
              </a:spcBef>
              <a:spcAft>
                <a:spcPts val="0"/>
              </a:spcAft>
              <a:buClrTx/>
              <a:buSzTx/>
              <a:buFontTx/>
              <a:buNone/>
              <a:tabLst/>
              <a:defRPr/>
            </a:pPr>
            <a:r>
              <a:rPr kumimoji="0" lang="en-GB" sz="2800" b="1" i="0" u="none" strike="noStrike" kern="1200" cap="none" spc="-10" normalizeH="0" baseline="0" noProof="0" dirty="0">
                <a:ln>
                  <a:noFill/>
                </a:ln>
                <a:solidFill>
                  <a:prstClr val="black"/>
                </a:solidFill>
                <a:effectLst/>
                <a:uLnTx/>
                <a:uFillTx/>
                <a:latin typeface="Calibri"/>
                <a:ea typeface="+mn-ea"/>
                <a:cs typeface="Calibri"/>
              </a:rPr>
              <a:t>Political</a:t>
            </a:r>
            <a:r>
              <a:rPr kumimoji="0" lang="en-GB" sz="2800" b="1" i="0" u="none" strike="noStrike" kern="1200" cap="none" spc="-15" normalizeH="0" baseline="0" noProof="0" dirty="0">
                <a:ln>
                  <a:noFill/>
                </a:ln>
                <a:solidFill>
                  <a:prstClr val="black"/>
                </a:solidFill>
                <a:effectLst/>
                <a:uLnTx/>
                <a:uFillTx/>
                <a:latin typeface="Calibri"/>
                <a:ea typeface="+mn-ea"/>
                <a:cs typeface="Calibri"/>
              </a:rPr>
              <a:t> </a:t>
            </a:r>
            <a:r>
              <a:rPr kumimoji="0" lang="en-GB" sz="2800" b="1" i="0" u="none" strike="noStrike" kern="1200" cap="none" spc="-10" normalizeH="0" baseline="0" noProof="0" dirty="0">
                <a:ln>
                  <a:noFill/>
                </a:ln>
                <a:solidFill>
                  <a:prstClr val="black"/>
                </a:solidFill>
                <a:effectLst/>
                <a:uLnTx/>
                <a:uFillTx/>
                <a:latin typeface="Calibri"/>
                <a:ea typeface="+mn-ea"/>
                <a:cs typeface="Calibri"/>
              </a:rPr>
              <a:t>Correctness</a:t>
            </a:r>
            <a:r>
              <a:rPr kumimoji="0" lang="en-GB" sz="2800" b="1" i="0" u="none" strike="noStrike" kern="1200" cap="none" spc="35" normalizeH="0" baseline="0" noProof="0" dirty="0">
                <a:ln>
                  <a:noFill/>
                </a:ln>
                <a:solidFill>
                  <a:prstClr val="black"/>
                </a:solidFill>
                <a:effectLst/>
                <a:uLnTx/>
                <a:uFillTx/>
                <a:latin typeface="Calibri"/>
                <a:ea typeface="+mn-ea"/>
                <a:cs typeface="Calibri"/>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とは</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295910" lvl="0" indent="0" algn="l" defTabSz="914400" rtl="0" eaLnBrk="1" fontAlgn="auto" latinLnBrk="0" hangingPunct="1">
              <a:lnSpc>
                <a:spcPts val="2810"/>
              </a:lnSpc>
              <a:spcBef>
                <a:spcPts val="580"/>
              </a:spcBef>
              <a:spcAft>
                <a:spcPts val="0"/>
              </a:spcAft>
              <a:buClrTx/>
              <a:buSzTx/>
              <a:buFontTx/>
              <a:buNone/>
              <a:tabLst/>
              <a:defRPr/>
            </a:pPr>
            <a:r>
              <a:rPr kumimoji="0" lang="en-GB" sz="2400" b="0" i="1" u="none" strike="noStrike" kern="1200" cap="none" spc="-10" normalizeH="0" baseline="0" noProof="0" dirty="0">
                <a:ln>
                  <a:noFill/>
                </a:ln>
                <a:solidFill>
                  <a:prstClr val="black"/>
                </a:solidFill>
                <a:effectLst/>
                <a:uLnTx/>
                <a:uFillTx/>
                <a:latin typeface="Calibri"/>
                <a:ea typeface="+mn-ea"/>
                <a:cs typeface="Calibri"/>
              </a:rPr>
              <a:t>Political</a:t>
            </a:r>
            <a:r>
              <a:rPr kumimoji="0" lang="en-GB" sz="2400" b="0" i="1" u="none" strike="noStrike" kern="1200" cap="none" spc="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correctness</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(adjectivally:</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politically</a:t>
            </a:r>
            <a:r>
              <a:rPr kumimoji="0" lang="en-GB" sz="2400" b="0" i="1" u="none" strike="noStrike" kern="1200" cap="none" spc="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correct;</a:t>
            </a:r>
            <a:r>
              <a:rPr kumimoji="0" lang="en-GB" sz="2400" b="0" i="1" u="none" strike="noStrike" kern="1200" cap="none" spc="20" normalizeH="0" baseline="0" noProof="0" dirty="0">
                <a:ln>
                  <a:noFill/>
                </a:ln>
                <a:solidFill>
                  <a:prstClr val="black"/>
                </a:solidFill>
                <a:effectLst/>
                <a:uLnTx/>
                <a:uFillTx/>
                <a:latin typeface="Calibri"/>
                <a:ea typeface="+mn-ea"/>
                <a:cs typeface="Calibri"/>
              </a:rPr>
              <a:t> </a:t>
            </a:r>
            <a:r>
              <a:rPr kumimoji="0" lang="en-GB" sz="2400" b="0" i="1" u="none" strike="noStrike" kern="1200" cap="none" spc="-10" normalizeH="0" baseline="0" noProof="0" dirty="0">
                <a:ln>
                  <a:noFill/>
                </a:ln>
                <a:solidFill>
                  <a:prstClr val="black"/>
                </a:solidFill>
                <a:effectLst/>
                <a:uLnTx/>
                <a:uFillTx/>
                <a:latin typeface="Calibri"/>
                <a:ea typeface="+mn-ea"/>
                <a:cs typeface="Calibri"/>
              </a:rPr>
              <a:t>commonly</a:t>
            </a:r>
            <a:r>
              <a:rPr kumimoji="0" lang="en-GB" sz="2400" b="0" i="1" u="none" strike="noStrike" kern="1200" cap="none" spc="5"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abbreviated </a:t>
            </a:r>
            <a:r>
              <a:rPr kumimoji="0" lang="en-GB" sz="2400" b="0" i="1" u="none" strike="noStrike" kern="1200" cap="none" spc="-575"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PC) is a </a:t>
            </a:r>
            <a:r>
              <a:rPr kumimoji="0" lang="en-GB" sz="2400" b="0" i="1" u="none" strike="noStrike" kern="1200" cap="none" spc="-5" normalizeH="0" baseline="0" noProof="0" dirty="0">
                <a:ln>
                  <a:noFill/>
                </a:ln>
                <a:solidFill>
                  <a:prstClr val="black"/>
                </a:solidFill>
                <a:effectLst/>
                <a:uLnTx/>
                <a:uFillTx/>
                <a:latin typeface="Calibri"/>
                <a:ea typeface="+mn-ea"/>
                <a:cs typeface="Calibri"/>
              </a:rPr>
              <a:t>term used </a:t>
            </a:r>
            <a:r>
              <a:rPr kumimoji="0" lang="en-GB" sz="2400" b="0" i="1" u="none" strike="noStrike" kern="1200" cap="none" spc="-20" normalizeH="0" baseline="0" noProof="0" dirty="0">
                <a:ln>
                  <a:noFill/>
                </a:ln>
                <a:solidFill>
                  <a:prstClr val="black"/>
                </a:solidFill>
                <a:effectLst/>
                <a:uLnTx/>
                <a:uFillTx/>
                <a:latin typeface="Calibri"/>
                <a:ea typeface="+mn-ea"/>
                <a:cs typeface="Calibri"/>
              </a:rPr>
              <a:t>to </a:t>
            </a:r>
            <a:r>
              <a:rPr kumimoji="0" lang="en-GB" sz="2400" b="0" i="1" u="none" strike="noStrike" kern="1200" cap="none" spc="0" normalizeH="0" baseline="0" noProof="0" dirty="0">
                <a:ln>
                  <a:noFill/>
                </a:ln>
                <a:solidFill>
                  <a:prstClr val="black"/>
                </a:solidFill>
                <a:effectLst/>
                <a:uLnTx/>
                <a:uFillTx/>
                <a:latin typeface="Calibri"/>
                <a:ea typeface="+mn-ea"/>
                <a:cs typeface="Calibri"/>
              </a:rPr>
              <a:t>describe language, </a:t>
            </a:r>
            <a:r>
              <a:rPr kumimoji="0" lang="en-GB" sz="2400" b="0" i="1" u="none" strike="noStrike" kern="1200" cap="none" spc="-5" normalizeH="0" baseline="0" noProof="0" dirty="0">
                <a:ln>
                  <a:noFill/>
                </a:ln>
                <a:solidFill>
                  <a:prstClr val="black"/>
                </a:solidFill>
                <a:effectLst/>
                <a:uLnTx/>
                <a:uFillTx/>
                <a:latin typeface="Calibri"/>
                <a:ea typeface="+mn-ea"/>
                <a:cs typeface="Calibri"/>
              </a:rPr>
              <a:t>policies, or </a:t>
            </a:r>
            <a:r>
              <a:rPr kumimoji="0" lang="en-GB" sz="2400" b="0" i="1" u="none" strike="noStrike" kern="1200" cap="none" spc="0" normalizeH="0" baseline="0" noProof="0" dirty="0">
                <a:ln>
                  <a:noFill/>
                </a:ln>
                <a:solidFill>
                  <a:prstClr val="black"/>
                </a:solidFill>
                <a:effectLst/>
                <a:uLnTx/>
                <a:uFillTx/>
                <a:latin typeface="Calibri"/>
                <a:ea typeface="+mn-ea"/>
                <a:cs typeface="Calibri"/>
              </a:rPr>
              <a:t>measures that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are </a:t>
            </a:r>
            <a:r>
              <a:rPr kumimoji="0" lang="en-GB" sz="2400" b="0" i="1" u="none" strike="noStrike" kern="1200" cap="none" spc="0" normalizeH="0" baseline="0" noProof="0" dirty="0">
                <a:ln>
                  <a:noFill/>
                </a:ln>
                <a:solidFill>
                  <a:prstClr val="black"/>
                </a:solidFill>
                <a:effectLst/>
                <a:uLnTx/>
                <a:uFillTx/>
                <a:latin typeface="Calibri"/>
                <a:ea typeface="+mn-ea"/>
                <a:cs typeface="Calibri"/>
              </a:rPr>
              <a:t> </a:t>
            </a:r>
            <a:r>
              <a:rPr kumimoji="0" lang="en-GB" sz="2400" b="0" i="1" u="none" strike="noStrike" kern="1200" cap="none" spc="-5" normalizeH="0" baseline="0" noProof="0" dirty="0">
                <a:ln>
                  <a:noFill/>
                </a:ln>
                <a:solidFill>
                  <a:prstClr val="black"/>
                </a:solidFill>
                <a:effectLst/>
                <a:uLnTx/>
                <a:uFillTx/>
                <a:latin typeface="Calibri"/>
                <a:ea typeface="+mn-ea"/>
                <a:cs typeface="Calibri"/>
              </a:rPr>
              <a:t>intended </a:t>
            </a:r>
            <a:r>
              <a:rPr kumimoji="0" lang="en-GB" sz="2400" b="0" i="1" u="none" strike="noStrike" kern="1200" cap="none" spc="-20" normalizeH="0" baseline="0" noProof="0" dirty="0">
                <a:ln>
                  <a:noFill/>
                </a:ln>
                <a:solidFill>
                  <a:prstClr val="black"/>
                </a:solidFill>
                <a:effectLst/>
                <a:uLnTx/>
                <a:uFillTx/>
                <a:latin typeface="Calibri"/>
                <a:ea typeface="+mn-ea"/>
                <a:cs typeface="Calibri"/>
              </a:rPr>
              <a:t>to </a:t>
            </a:r>
            <a:r>
              <a:rPr kumimoji="0" lang="en-GB" sz="2400" b="0" i="1" u="none" strike="noStrike" kern="1200" cap="none" spc="-5" normalizeH="0" baseline="0" noProof="0" dirty="0">
                <a:ln>
                  <a:noFill/>
                </a:ln>
                <a:solidFill>
                  <a:prstClr val="black"/>
                </a:solidFill>
                <a:effectLst/>
                <a:uLnTx/>
                <a:uFillTx/>
                <a:latin typeface="Calibri"/>
                <a:ea typeface="+mn-ea"/>
                <a:cs typeface="Calibri"/>
              </a:rPr>
              <a:t>avoid offense or disadvantage </a:t>
            </a:r>
            <a:r>
              <a:rPr kumimoji="0" lang="en-GB" sz="2400" b="0" i="1" u="none" strike="noStrike" kern="1200" cap="none" spc="-20" normalizeH="0" baseline="0" noProof="0" dirty="0">
                <a:ln>
                  <a:noFill/>
                </a:ln>
                <a:solidFill>
                  <a:prstClr val="black"/>
                </a:solidFill>
                <a:effectLst/>
                <a:uLnTx/>
                <a:uFillTx/>
                <a:latin typeface="Calibri"/>
                <a:ea typeface="+mn-ea"/>
                <a:cs typeface="Calibri"/>
              </a:rPr>
              <a:t>to </a:t>
            </a:r>
            <a:r>
              <a:rPr kumimoji="0" lang="en-GB" sz="2400" b="0" i="1" u="none" strike="noStrike" kern="1200" cap="none" spc="5" normalizeH="0" baseline="0" noProof="0" dirty="0">
                <a:ln>
                  <a:noFill/>
                </a:ln>
                <a:solidFill>
                  <a:prstClr val="black"/>
                </a:solidFill>
                <a:effectLst/>
                <a:uLnTx/>
                <a:uFillTx/>
                <a:latin typeface="Calibri"/>
                <a:ea typeface="+mn-ea"/>
                <a:cs typeface="Calibri"/>
              </a:rPr>
              <a:t>members </a:t>
            </a:r>
            <a:r>
              <a:rPr kumimoji="0" lang="en-GB" sz="2400" b="0" i="1" u="none" strike="noStrike" kern="1200" cap="none" spc="-5" normalizeH="0" baseline="0" noProof="0" dirty="0">
                <a:ln>
                  <a:noFill/>
                </a:ln>
                <a:solidFill>
                  <a:prstClr val="black"/>
                </a:solidFill>
                <a:effectLst/>
                <a:uLnTx/>
                <a:uFillTx/>
                <a:latin typeface="Calibri"/>
                <a:ea typeface="+mn-ea"/>
                <a:cs typeface="Calibri"/>
              </a:rPr>
              <a:t>of particular groups </a:t>
            </a:r>
            <a:r>
              <a:rPr kumimoji="0" lang="en-GB" sz="2400" b="0" i="1" u="none" strike="noStrike" kern="1200" cap="none" spc="-575" normalizeH="0" baseline="0" noProof="0" dirty="0">
                <a:ln>
                  <a:noFill/>
                </a:ln>
                <a:solidFill>
                  <a:prstClr val="black"/>
                </a:solidFill>
                <a:effectLst/>
                <a:uLnTx/>
                <a:uFillTx/>
                <a:latin typeface="Calibri"/>
                <a:ea typeface="+mn-ea"/>
                <a:cs typeface="Calibri"/>
              </a:rPr>
              <a:t> </a:t>
            </a:r>
            <a:r>
              <a:rPr kumimoji="0" lang="en-GB" sz="2400" b="0" i="1" u="none" strike="noStrike" kern="1200" cap="none" spc="0" normalizeH="0" baseline="0" noProof="0" dirty="0">
                <a:ln>
                  <a:noFill/>
                </a:ln>
                <a:solidFill>
                  <a:prstClr val="black"/>
                </a:solidFill>
                <a:effectLst/>
                <a:uLnTx/>
                <a:uFillTx/>
                <a:latin typeface="Calibri"/>
                <a:ea typeface="+mn-ea"/>
                <a:cs typeface="Calibri"/>
              </a:rPr>
              <a:t>in</a:t>
            </a:r>
            <a:r>
              <a:rPr kumimoji="0" lang="en-GB" sz="2400" b="0" i="1" u="none" strike="noStrike" kern="1200" cap="none" spc="-10" normalizeH="0" baseline="0" noProof="0" dirty="0">
                <a:ln>
                  <a:noFill/>
                </a:ln>
                <a:solidFill>
                  <a:prstClr val="black"/>
                </a:solidFill>
                <a:effectLst/>
                <a:uLnTx/>
                <a:uFillTx/>
                <a:latin typeface="Calibri"/>
                <a:ea typeface="+mn-ea"/>
                <a:cs typeface="Calibri"/>
              </a:rPr>
              <a:t> </a:t>
            </a:r>
            <a:r>
              <a:rPr kumimoji="0" lang="en-GB" sz="2400" b="0" i="1" u="none" strike="noStrike" kern="1200" cap="none" spc="-20" normalizeH="0" baseline="0" noProof="0" dirty="0">
                <a:ln>
                  <a:noFill/>
                </a:ln>
                <a:solidFill>
                  <a:prstClr val="black"/>
                </a:solidFill>
                <a:effectLst/>
                <a:uLnTx/>
                <a:uFillTx/>
                <a:latin typeface="Calibri"/>
                <a:ea typeface="+mn-ea"/>
                <a:cs typeface="Calibri"/>
              </a:rPr>
              <a:t>society.</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12700" marR="219710" lvl="0" indent="0" algn="just" defTabSz="914400" rtl="0" eaLnBrk="1" fontAlgn="auto" latinLnBrk="0" hangingPunct="1">
              <a:lnSpc>
                <a:spcPts val="2380"/>
              </a:lnSpc>
              <a:spcBef>
                <a:spcPts val="495"/>
              </a:spcBef>
              <a:spcAft>
                <a:spcPts val="0"/>
              </a:spcAft>
              <a:buClrTx/>
              <a:buSzTx/>
              <a:buFontTx/>
              <a:buNone/>
              <a:tabLst/>
              <a:defRPr/>
            </a:pPr>
            <a:r>
              <a:rPr kumimoji="0" lang="en-GB" sz="2200" b="0" i="1" u="none" strike="noStrike" kern="1200" cap="none" spc="-15" normalizeH="0" baseline="0" noProof="0" dirty="0">
                <a:ln>
                  <a:noFill/>
                </a:ln>
                <a:solidFill>
                  <a:prstClr val="black"/>
                </a:solidFill>
                <a:effectLst/>
                <a:uLnTx/>
                <a:uFillTx/>
                <a:latin typeface="Calibri"/>
                <a:ea typeface="+mn-ea"/>
                <a:cs typeface="Calibri"/>
              </a:rPr>
              <a:t>Political</a:t>
            </a:r>
            <a:r>
              <a:rPr kumimoji="0" lang="en-GB" sz="2200" b="0" i="1" u="none" strike="noStrike" kern="1200" cap="none" spc="-20" normalizeH="0" baseline="0" noProof="0" dirty="0">
                <a:ln>
                  <a:noFill/>
                </a:ln>
                <a:solidFill>
                  <a:prstClr val="black"/>
                </a:solidFill>
                <a:effectLst/>
                <a:uLnTx/>
                <a:uFillTx/>
                <a:latin typeface="Calibri"/>
                <a:ea typeface="+mn-ea"/>
                <a:cs typeface="Calibri"/>
              </a:rPr>
              <a:t> </a:t>
            </a:r>
            <a:r>
              <a:rPr kumimoji="0" lang="en-GB" sz="2200" b="0" i="1" u="none" strike="noStrike" kern="1200" cap="none" spc="-10" normalizeH="0" baseline="0" noProof="0" dirty="0">
                <a:ln>
                  <a:noFill/>
                </a:ln>
                <a:solidFill>
                  <a:prstClr val="black"/>
                </a:solidFill>
                <a:effectLst/>
                <a:uLnTx/>
                <a:uFillTx/>
                <a:latin typeface="Calibri"/>
                <a:ea typeface="+mn-ea"/>
                <a:cs typeface="Calibri"/>
              </a:rPr>
              <a:t>correctness(</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形容詞としては</a:t>
            </a:r>
            <a:r>
              <a:rPr kumimoji="0" lang="ja-JP" altLang="en-US" sz="2200" b="0" i="0" u="none" strike="noStrike" kern="1200" cap="none" spc="-114" normalizeH="0" baseline="0" noProof="0" dirty="0">
                <a:ln>
                  <a:noFill/>
                </a:ln>
                <a:solidFill>
                  <a:prstClr val="black"/>
                </a:solidFill>
                <a:effectLst/>
                <a:uLnTx/>
                <a:uFillTx/>
                <a:latin typeface="Yu Gothic"/>
                <a:ea typeface="+mn-ea"/>
                <a:cs typeface="Yu Gothic"/>
              </a:rPr>
              <a:t> </a:t>
            </a:r>
            <a:r>
              <a:rPr kumimoji="0" lang="en-GB" sz="2200" b="0" i="1" u="none" strike="noStrike" kern="1200" cap="none" spc="-10" normalizeH="0" baseline="0" noProof="0" dirty="0">
                <a:ln>
                  <a:noFill/>
                </a:ln>
                <a:solidFill>
                  <a:prstClr val="black"/>
                </a:solidFill>
                <a:effectLst/>
                <a:uLnTx/>
                <a:uFillTx/>
                <a:latin typeface="Calibri"/>
                <a:ea typeface="+mn-ea"/>
                <a:cs typeface="Calibri"/>
              </a:rPr>
              <a:t>politically</a:t>
            </a:r>
            <a:r>
              <a:rPr kumimoji="0" lang="en-GB" sz="2200" b="0" i="1" u="none" strike="noStrike" kern="1200" cap="none" spc="-15" normalizeH="0" baseline="0" noProof="0" dirty="0">
                <a:ln>
                  <a:noFill/>
                </a:ln>
                <a:solidFill>
                  <a:prstClr val="black"/>
                </a:solidFill>
                <a:effectLst/>
                <a:uLnTx/>
                <a:uFillTx/>
                <a:latin typeface="Calibri"/>
                <a:ea typeface="+mn-ea"/>
                <a:cs typeface="Calibri"/>
              </a:rPr>
              <a:t> </a:t>
            </a:r>
            <a:r>
              <a:rPr kumimoji="0" lang="en-GB" sz="2200" b="0" i="1" u="none" strike="noStrike" kern="1200" cap="none" spc="-10" normalizeH="0" baseline="0" noProof="0" dirty="0">
                <a:ln>
                  <a:noFill/>
                </a:ln>
                <a:solidFill>
                  <a:prstClr val="black"/>
                </a:solidFill>
                <a:effectLst/>
                <a:uLnTx/>
                <a:uFillTx/>
                <a:latin typeface="Calibri"/>
                <a:ea typeface="+mn-ea"/>
                <a:cs typeface="Calibri"/>
              </a:rPr>
              <a:t>correct</a:t>
            </a:r>
            <a:r>
              <a:rPr kumimoji="0" lang="en-GB" sz="2200" b="0" i="1" u="none" strike="noStrike" kern="1200" cap="none" spc="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で、</a:t>
            </a:r>
            <a:r>
              <a:rPr kumimoji="0" lang="en-GB" sz="2200" b="0" i="1" u="none" strike="noStrike" kern="1200" cap="none" spc="-5" normalizeH="0" baseline="0" noProof="0" dirty="0">
                <a:ln>
                  <a:noFill/>
                </a:ln>
                <a:solidFill>
                  <a:prstClr val="black"/>
                </a:solidFill>
                <a:effectLst/>
                <a:uLnTx/>
                <a:uFillTx/>
                <a:latin typeface="Calibri"/>
                <a:ea typeface="+mn-ea"/>
                <a:cs typeface="Calibri"/>
              </a:rPr>
              <a:t>PC</a:t>
            </a:r>
            <a:r>
              <a:rPr kumimoji="0" lang="en-GB" sz="2200" b="0" i="1"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と略すのが通例</a:t>
            </a:r>
            <a:r>
              <a:rPr kumimoji="0" lang="en-US" altLang="ja-JP" sz="2200" b="0" i="1" u="none" strike="noStrike" kern="1200" cap="none" spc="-15" normalizeH="0" baseline="0" noProof="0" dirty="0">
                <a:ln>
                  <a:noFill/>
                </a:ln>
                <a:solidFill>
                  <a:prstClr val="black"/>
                </a:solidFill>
                <a:effectLst/>
                <a:uLnTx/>
                <a:uFillTx/>
                <a:latin typeface="Calibri"/>
                <a:ea typeface="+mn-ea"/>
                <a:cs typeface="Calibri"/>
              </a:rPr>
              <a:t>)</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とは、 社会の特定の集団に属するメンバ</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ー</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に与</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え</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られ</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侮辱</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や</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不利</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益</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を回</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避</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する</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こ</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とを 目的とした、言語・政治・政策を</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表</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現す</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ため</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に</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用い</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ら</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れる</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用</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語の</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こ</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とで</a:t>
            </a:r>
            <a:r>
              <a:rPr kumimoji="0" lang="ja-JP" altLang="en-US" sz="2200" b="0" i="0" u="none" strike="noStrike" kern="1200" cap="none" spc="-100" normalizeH="0" baseline="0" noProof="0" dirty="0">
                <a:ln>
                  <a:noFill/>
                </a:ln>
                <a:solidFill>
                  <a:prstClr val="black"/>
                </a:solidFill>
                <a:effectLst/>
                <a:uLnTx/>
                <a:uFillTx/>
                <a:latin typeface="Yu Gothic"/>
                <a:ea typeface="+mn-ea"/>
                <a:cs typeface="Yu Gothic"/>
              </a:rPr>
              <a:t>あ</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r" defTabSz="914400" rtl="0" eaLnBrk="1" fontAlgn="auto" latinLnBrk="0" hangingPunct="1">
              <a:lnSpc>
                <a:spcPct val="100000"/>
              </a:lnSpc>
              <a:spcBef>
                <a:spcPts val="225"/>
              </a:spcBef>
              <a:spcAft>
                <a:spcPts val="0"/>
              </a:spcAft>
              <a:buClrTx/>
              <a:buSzTx/>
              <a:buFontTx/>
              <a:buNone/>
              <a:tabLst/>
              <a:defRPr/>
            </a:pPr>
            <a:r>
              <a:rPr kumimoji="0" lang="ja-JP" altLang="en-US" sz="1800" b="0" i="0" u="none" strike="noStrike" kern="1200" cap="none" spc="0" normalizeH="0" baseline="0" noProof="0" dirty="0">
                <a:ln>
                  <a:noFill/>
                </a:ln>
                <a:solidFill>
                  <a:prstClr val="black"/>
                </a:solidFill>
                <a:effectLst/>
                <a:uLnTx/>
                <a:uFillTx/>
                <a:latin typeface="Yu Gothic"/>
                <a:ea typeface="+mn-ea"/>
                <a:cs typeface="Yu Gothic"/>
              </a:rPr>
              <a:t>出典</a:t>
            </a:r>
            <a:r>
              <a:rPr kumimoji="0" lang="en-US" altLang="ja-JP" sz="18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1800" b="0" i="0" u="none" strike="noStrike" kern="1200" cap="none" spc="-5" normalizeH="0" baseline="0" noProof="0" dirty="0">
                <a:ln>
                  <a:noFill/>
                </a:ln>
                <a:solidFill>
                  <a:prstClr val="black"/>
                </a:solidFill>
                <a:effectLst/>
                <a:uLnTx/>
                <a:uFillTx/>
                <a:latin typeface="Calibri"/>
                <a:ea typeface="+mn-ea"/>
                <a:cs typeface="Calibri"/>
              </a:rPr>
              <a:t> </a:t>
            </a:r>
            <a:r>
              <a:rPr kumimoji="0" lang="en-GB" sz="1800" b="0" i="0" u="sng"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Political</a:t>
            </a:r>
            <a:r>
              <a:rPr kumimoji="0" lang="en-GB" sz="18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GB" sz="18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Correctness </a:t>
            </a:r>
            <a:r>
              <a:rPr kumimoji="0" lang="en-GB" sz="1800" b="0" i="0" u="sng"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GB" sz="18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Wikipedia</a:t>
            </a:r>
            <a:endParaRPr kumimoji="0" lang="en-GB" sz="18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235012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PC Terms ① -</a:t>
            </a:r>
            <a:r>
              <a:rPr kumimoji="0" lang="ja-JP" altLang="en-US"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社会的性差・生物的性差・多様性</a:t>
            </a: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つまり</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p>
          <a:p>
            <a:pPr marL="12700" marR="0" lvl="0" indent="0" algn="l" defTabSz="914400" rtl="0" eaLnBrk="1" fontAlgn="auto" latinLnBrk="0" hangingPunct="1">
              <a:lnSpc>
                <a:spcPts val="2740"/>
              </a:lnSpc>
              <a:spcBef>
                <a:spcPts val="219"/>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アメリカは多民族・多文化国家であり、表現の受け取り方がその分多様で</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4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ある。</a:t>
            </a:r>
          </a:p>
          <a:p>
            <a:pPr marL="12700" marR="5080" lvl="0" indent="0" algn="l" defTabSz="914400" rtl="0" eaLnBrk="1" fontAlgn="auto" latinLnBrk="0" hangingPunct="1">
              <a:lnSpc>
                <a:spcPts val="2590"/>
              </a:lnSpc>
              <a:spcBef>
                <a:spcPts val="53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一方の集団では受容される表現も、他方の集団ではタブーであることがあ る。</a:t>
            </a:r>
          </a:p>
          <a:p>
            <a:pPr marL="12700" marR="0" lvl="0" indent="0" algn="l" defTabSz="914400" rtl="0" eaLnBrk="1" fontAlgn="auto" latinLnBrk="0" hangingPunct="1">
              <a:lnSpc>
                <a:spcPct val="100000"/>
              </a:lnSpc>
              <a:spcBef>
                <a:spcPts val="18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その禁忌に触れない最大公約数的な表現</a:t>
            </a:r>
            <a:r>
              <a:rPr kumimoji="0" lang="ja-JP" altLang="en-US" sz="2400" b="0" i="0" u="none" strike="noStrike" kern="1200" cap="none" spc="545" normalizeH="0" baseline="0" noProof="0" dirty="0">
                <a:ln>
                  <a:noFill/>
                </a:ln>
                <a:solidFill>
                  <a:prstClr val="black"/>
                </a:solidFill>
                <a:effectLst/>
                <a:uLnTx/>
                <a:uFillTx/>
                <a:latin typeface="Yu Gothic"/>
                <a:ea typeface="+mn-ea"/>
                <a:cs typeface="Yu Gothic"/>
              </a:rPr>
              <a:t>が</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PC</a:t>
            </a:r>
            <a:r>
              <a:rPr kumimoji="0" lang="ja-JP" altLang="en-US" sz="24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45" normalizeH="0" baseline="0" noProof="0" dirty="0">
                <a:ln>
                  <a:noFill/>
                </a:ln>
                <a:solidFill>
                  <a:prstClr val="black"/>
                </a:solidFill>
                <a:effectLst/>
                <a:uLnTx/>
                <a:uFillTx/>
                <a:latin typeface="Calibri"/>
                <a:ea typeface="+mn-ea"/>
                <a:cs typeface="Calibri"/>
              </a:rPr>
              <a:t>Terms</a:t>
            </a:r>
            <a:r>
              <a:rPr kumimoji="0" lang="ja-JP" altLang="en-US" sz="2400" b="0" i="0" u="none" strike="noStrike" kern="1200" cap="none" spc="-5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である。</a:t>
            </a:r>
          </a:p>
        </p:txBody>
      </p:sp>
    </p:spTree>
    <p:extLst>
      <p:ext uri="{BB962C8B-B14F-4D97-AF65-F5344CB8AC3E}">
        <p14:creationId xmlns:p14="http://schemas.microsoft.com/office/powerpoint/2010/main" val="3373710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PC Terms ① -</a:t>
            </a:r>
            <a:r>
              <a:rPr kumimoji="0" lang="ja-JP" altLang="en-US"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社会的性差・生物的性差・多様性</a:t>
            </a: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98660425-E611-CC72-8E64-A6043B8FE349}"/>
              </a:ext>
            </a:extLst>
          </p:cNvPr>
          <p:cNvGraphicFramePr>
            <a:graphicFrameLocks noGrp="1"/>
          </p:cNvGraphicFramePr>
          <p:nvPr>
            <p:extLst>
              <p:ext uri="{D42A27DB-BD31-4B8C-83A1-F6EECF244321}">
                <p14:modId xmlns:p14="http://schemas.microsoft.com/office/powerpoint/2010/main" val="1435406110"/>
              </p:ext>
            </p:extLst>
          </p:nvPr>
        </p:nvGraphicFramePr>
        <p:xfrm>
          <a:off x="819150" y="1819275"/>
          <a:ext cx="10543738" cy="3824605"/>
        </p:xfrm>
        <a:graphic>
          <a:graphicData uri="http://schemas.openxmlformats.org/drawingml/2006/table">
            <a:tbl>
              <a:tblPr firstRow="1" bandRow="1">
                <a:tableStyleId>{5C22544A-7EE6-4342-B048-85BDC9FD1C3A}</a:tableStyleId>
              </a:tblPr>
              <a:tblGrid>
                <a:gridCol w="2305749">
                  <a:extLst>
                    <a:ext uri="{9D8B030D-6E8A-4147-A177-3AD203B41FA5}">
                      <a16:colId xmlns:a16="http://schemas.microsoft.com/office/drawing/2014/main" val="1171939064"/>
                    </a:ext>
                  </a:extLst>
                </a:gridCol>
                <a:gridCol w="4035105">
                  <a:extLst>
                    <a:ext uri="{9D8B030D-6E8A-4147-A177-3AD203B41FA5}">
                      <a16:colId xmlns:a16="http://schemas.microsoft.com/office/drawing/2014/main" val="573945660"/>
                    </a:ext>
                  </a:extLst>
                </a:gridCol>
                <a:gridCol w="4202884">
                  <a:extLst>
                    <a:ext uri="{9D8B030D-6E8A-4147-A177-3AD203B41FA5}">
                      <a16:colId xmlns:a16="http://schemas.microsoft.com/office/drawing/2014/main" val="1748503010"/>
                    </a:ext>
                  </a:extLst>
                </a:gridCol>
              </a:tblGrid>
              <a:tr h="370840">
                <a:tc>
                  <a:txBody>
                    <a:bodyPr/>
                    <a:lstStyle/>
                    <a:p>
                      <a:pPr marL="91440">
                        <a:lnSpc>
                          <a:spcPct val="100000"/>
                        </a:lnSpc>
                        <a:spcBef>
                          <a:spcPts val="229"/>
                        </a:spcBef>
                      </a:pPr>
                      <a:r>
                        <a:rPr sz="1800" b="1" dirty="0">
                          <a:solidFill>
                            <a:srgbClr val="FFFFFF"/>
                          </a:solidFill>
                          <a:latin typeface="Yu Gothic"/>
                          <a:cs typeface="Yu Gothic"/>
                        </a:rPr>
                        <a:t>元々の表現</a:t>
                      </a:r>
                      <a:endParaRPr sz="1800" dirty="0">
                        <a:latin typeface="Yu Gothic"/>
                        <a:cs typeface="Yu Gothic"/>
                      </a:endParaRPr>
                    </a:p>
                  </a:txBody>
                  <a:tcPr marL="0" marR="0" marT="29209" marB="0"/>
                </a:tc>
                <a:tc>
                  <a:txBody>
                    <a:bodyPr/>
                    <a:lstStyle/>
                    <a:p>
                      <a:pPr marL="91440">
                        <a:lnSpc>
                          <a:spcPct val="100000"/>
                        </a:lnSpc>
                        <a:spcBef>
                          <a:spcPts val="229"/>
                        </a:spcBef>
                      </a:pPr>
                      <a:r>
                        <a:rPr sz="1800" b="1" spc="-5" dirty="0">
                          <a:solidFill>
                            <a:srgbClr val="FFFFFF"/>
                          </a:solidFill>
                          <a:latin typeface="Calibri"/>
                          <a:cs typeface="Calibri"/>
                        </a:rPr>
                        <a:t>PC</a:t>
                      </a:r>
                      <a:r>
                        <a:rPr sz="1800" b="1" spc="-30" dirty="0">
                          <a:solidFill>
                            <a:srgbClr val="FFFFFF"/>
                          </a:solidFill>
                          <a:latin typeface="Calibri"/>
                          <a:cs typeface="Calibri"/>
                        </a:rPr>
                        <a:t> </a:t>
                      </a:r>
                      <a:r>
                        <a:rPr sz="1800" b="1" dirty="0">
                          <a:solidFill>
                            <a:srgbClr val="FFFFFF"/>
                          </a:solidFill>
                          <a:latin typeface="Yu Gothic"/>
                          <a:cs typeface="Yu Gothic"/>
                        </a:rPr>
                        <a:t>表現</a:t>
                      </a:r>
                      <a:endParaRPr sz="1800">
                        <a:latin typeface="Yu Gothic"/>
                        <a:cs typeface="Yu Gothic"/>
                      </a:endParaRPr>
                    </a:p>
                  </a:txBody>
                  <a:tcPr marL="0" marR="0" marT="29209" marB="0"/>
                </a:tc>
                <a:tc>
                  <a:txBody>
                    <a:bodyPr/>
                    <a:lstStyle/>
                    <a:p>
                      <a:pPr marL="92075" marR="30480">
                        <a:lnSpc>
                          <a:spcPct val="100000"/>
                        </a:lnSpc>
                        <a:spcBef>
                          <a:spcPts val="229"/>
                        </a:spcBef>
                      </a:pPr>
                      <a:r>
                        <a:rPr sz="1800" b="1" dirty="0">
                          <a:solidFill>
                            <a:srgbClr val="FFFFFF"/>
                          </a:solidFill>
                          <a:latin typeface="Yu Gothic"/>
                          <a:cs typeface="Yu Gothic"/>
                        </a:rPr>
                        <a:t>背景・備考</a:t>
                      </a:r>
                      <a:endParaRPr sz="1800">
                        <a:latin typeface="Yu Gothic"/>
                        <a:cs typeface="Yu Gothic"/>
                      </a:endParaRPr>
                    </a:p>
                  </a:txBody>
                  <a:tcPr marL="0" marR="0" marT="29209" marB="0"/>
                </a:tc>
                <a:extLst>
                  <a:ext uri="{0D108BD9-81ED-4DB2-BD59-A6C34878D82A}">
                    <a16:rowId xmlns:a16="http://schemas.microsoft.com/office/drawing/2014/main" val="368266497"/>
                  </a:ext>
                </a:extLst>
              </a:tr>
              <a:tr h="370840">
                <a:tc>
                  <a:txBody>
                    <a:bodyPr/>
                    <a:lstStyle/>
                    <a:p>
                      <a:pPr marL="91440">
                        <a:lnSpc>
                          <a:spcPct val="100000"/>
                        </a:lnSpc>
                        <a:spcBef>
                          <a:spcPts val="260"/>
                        </a:spcBef>
                      </a:pPr>
                      <a:r>
                        <a:rPr sz="1800" spc="-5" dirty="0">
                          <a:latin typeface="Calibri"/>
                          <a:cs typeface="Calibri"/>
                        </a:rPr>
                        <a:t>Ladies</a:t>
                      </a:r>
                      <a:r>
                        <a:rPr sz="1800" spc="-10" dirty="0">
                          <a:latin typeface="Calibri"/>
                          <a:cs typeface="Calibri"/>
                        </a:rPr>
                        <a:t> </a:t>
                      </a:r>
                      <a:r>
                        <a:rPr sz="1800" dirty="0">
                          <a:latin typeface="Calibri"/>
                          <a:cs typeface="Calibri"/>
                        </a:rPr>
                        <a:t>and</a:t>
                      </a:r>
                      <a:r>
                        <a:rPr sz="1800" spc="-15" dirty="0">
                          <a:latin typeface="Calibri"/>
                          <a:cs typeface="Calibri"/>
                        </a:rPr>
                        <a:t> </a:t>
                      </a:r>
                      <a:r>
                        <a:rPr sz="1800" spc="-5" dirty="0">
                          <a:latin typeface="Calibri"/>
                          <a:cs typeface="Calibri"/>
                        </a:rPr>
                        <a:t>gentleman.</a:t>
                      </a:r>
                      <a:endParaRPr sz="1800">
                        <a:latin typeface="Calibri"/>
                        <a:cs typeface="Calibri"/>
                      </a:endParaRPr>
                    </a:p>
                  </a:txBody>
                  <a:tcPr marL="0" marR="0" marT="33020" marB="0"/>
                </a:tc>
                <a:tc>
                  <a:txBody>
                    <a:bodyPr/>
                    <a:lstStyle/>
                    <a:p>
                      <a:pPr marL="91440" marR="179705">
                        <a:lnSpc>
                          <a:spcPct val="100000"/>
                        </a:lnSpc>
                        <a:spcBef>
                          <a:spcPts val="235"/>
                        </a:spcBef>
                      </a:pPr>
                      <a:r>
                        <a:rPr sz="1800" dirty="0">
                          <a:latin typeface="Calibri"/>
                          <a:cs typeface="Calibri"/>
                        </a:rPr>
                        <a:t>Good</a:t>
                      </a:r>
                      <a:r>
                        <a:rPr sz="1800" spc="-10" dirty="0">
                          <a:latin typeface="Calibri"/>
                          <a:cs typeface="Calibri"/>
                        </a:rPr>
                        <a:t> </a:t>
                      </a:r>
                      <a:r>
                        <a:rPr sz="1800" dirty="0">
                          <a:latin typeface="Calibri"/>
                          <a:cs typeface="Calibri"/>
                        </a:rPr>
                        <a:t>morning,</a:t>
                      </a:r>
                      <a:r>
                        <a:rPr sz="1800" spc="-5" dirty="0">
                          <a:latin typeface="Calibri"/>
                          <a:cs typeface="Calibri"/>
                        </a:rPr>
                        <a:t> </a:t>
                      </a:r>
                      <a:r>
                        <a:rPr sz="1800" u="heavy" spc="-5" dirty="0">
                          <a:uFill>
                            <a:solidFill>
                              <a:srgbClr val="000000"/>
                            </a:solidFill>
                          </a:uFill>
                          <a:latin typeface="Calibri"/>
                          <a:cs typeface="Calibri"/>
                        </a:rPr>
                        <a:t>passengers</a:t>
                      </a:r>
                      <a:r>
                        <a:rPr sz="1800" spc="-5" dirty="0">
                          <a:latin typeface="Calibri"/>
                          <a:cs typeface="Calibri"/>
                        </a:rPr>
                        <a:t>.</a:t>
                      </a:r>
                      <a:r>
                        <a:rPr sz="1800" spc="-40" dirty="0">
                          <a:latin typeface="Calibri"/>
                          <a:cs typeface="Calibri"/>
                        </a:rPr>
                        <a:t> </a:t>
                      </a:r>
                      <a:r>
                        <a:rPr sz="1800" spc="-10" dirty="0">
                          <a:latin typeface="Calibri"/>
                          <a:cs typeface="Calibri"/>
                        </a:rPr>
                        <a:t>(</a:t>
                      </a:r>
                      <a:r>
                        <a:rPr sz="1800" dirty="0">
                          <a:latin typeface="Yu Gothic"/>
                          <a:cs typeface="Yu Gothic"/>
                        </a:rPr>
                        <a:t>交通機関</a:t>
                      </a:r>
                      <a:r>
                        <a:rPr sz="1800" dirty="0">
                          <a:latin typeface="Calibri"/>
                          <a:cs typeface="Calibri"/>
                        </a:rPr>
                        <a:t>) </a:t>
                      </a:r>
                      <a:r>
                        <a:rPr sz="1800" spc="5" dirty="0">
                          <a:latin typeface="Calibri"/>
                          <a:cs typeface="Calibri"/>
                        </a:rPr>
                        <a:t> </a:t>
                      </a:r>
                      <a:r>
                        <a:rPr sz="1800" spc="-10" dirty="0">
                          <a:latin typeface="Calibri"/>
                          <a:cs typeface="Calibri"/>
                        </a:rPr>
                        <a:t>Hello,</a:t>
                      </a:r>
                      <a:r>
                        <a:rPr sz="1800" spc="-20" dirty="0">
                          <a:latin typeface="Calibri"/>
                          <a:cs typeface="Calibri"/>
                        </a:rPr>
                        <a:t> </a:t>
                      </a:r>
                      <a:r>
                        <a:rPr sz="1800" u="heavy" spc="-5" dirty="0">
                          <a:uFill>
                            <a:solidFill>
                              <a:srgbClr val="000000"/>
                            </a:solidFill>
                          </a:uFill>
                          <a:latin typeface="Calibri"/>
                          <a:cs typeface="Calibri"/>
                        </a:rPr>
                        <a:t>everyone</a:t>
                      </a:r>
                      <a:r>
                        <a:rPr sz="1800" spc="-5" dirty="0">
                          <a:latin typeface="Calibri"/>
                          <a:cs typeface="Calibri"/>
                        </a:rPr>
                        <a:t>.</a:t>
                      </a:r>
                      <a:r>
                        <a:rPr sz="1800" spc="-55" dirty="0">
                          <a:latin typeface="Calibri"/>
                          <a:cs typeface="Calibri"/>
                        </a:rPr>
                        <a:t> </a:t>
                      </a:r>
                      <a:r>
                        <a:rPr sz="1800" spc="-5" dirty="0">
                          <a:latin typeface="Calibri"/>
                          <a:cs typeface="Calibri"/>
                        </a:rPr>
                        <a:t>(</a:t>
                      </a:r>
                      <a:r>
                        <a:rPr sz="1800" dirty="0">
                          <a:latin typeface="Yu Gothic"/>
                          <a:cs typeface="Yu Gothic"/>
                        </a:rPr>
                        <a:t>スピーチなどの挨拶</a:t>
                      </a:r>
                      <a:r>
                        <a:rPr sz="1800" dirty="0">
                          <a:latin typeface="Calibri"/>
                          <a:cs typeface="Calibri"/>
                        </a:rPr>
                        <a:t>)</a:t>
                      </a:r>
                      <a:endParaRPr sz="1800">
                        <a:latin typeface="Calibri"/>
                        <a:cs typeface="Calibri"/>
                      </a:endParaRPr>
                    </a:p>
                  </a:txBody>
                  <a:tcPr marL="0" marR="0" marT="29845" marB="0"/>
                </a:tc>
                <a:tc>
                  <a:txBody>
                    <a:bodyPr/>
                    <a:lstStyle/>
                    <a:p>
                      <a:pPr marL="92075">
                        <a:lnSpc>
                          <a:spcPct val="100000"/>
                        </a:lnSpc>
                        <a:spcBef>
                          <a:spcPts val="235"/>
                        </a:spcBef>
                      </a:pPr>
                      <a:r>
                        <a:rPr sz="1800" dirty="0">
                          <a:latin typeface="Yu Gothic"/>
                          <a:cs typeface="Yu Gothic"/>
                        </a:rPr>
                        <a:t>男性と女性以外の社会性を無視してい </a:t>
                      </a:r>
                      <a:r>
                        <a:rPr sz="1800" spc="5" dirty="0">
                          <a:latin typeface="Yu Gothic"/>
                          <a:cs typeface="Yu Gothic"/>
                        </a:rPr>
                        <a:t> </a:t>
                      </a:r>
                      <a:r>
                        <a:rPr sz="1800" dirty="0">
                          <a:latin typeface="Yu Gothic"/>
                          <a:cs typeface="Yu Gothic"/>
                        </a:rPr>
                        <a:t>るため、性差のない表現を使っている。</a:t>
                      </a:r>
                      <a:endParaRPr sz="1800">
                        <a:latin typeface="Yu Gothic"/>
                        <a:cs typeface="Yu Gothic"/>
                      </a:endParaRPr>
                    </a:p>
                  </a:txBody>
                  <a:tcPr marL="0" marR="0" marT="29845" marB="0"/>
                </a:tc>
                <a:extLst>
                  <a:ext uri="{0D108BD9-81ED-4DB2-BD59-A6C34878D82A}">
                    <a16:rowId xmlns:a16="http://schemas.microsoft.com/office/drawing/2014/main" val="679748234"/>
                  </a:ext>
                </a:extLst>
              </a:tr>
              <a:tr h="370840">
                <a:tc>
                  <a:txBody>
                    <a:bodyPr/>
                    <a:lstStyle/>
                    <a:p>
                      <a:pPr marL="91440">
                        <a:lnSpc>
                          <a:spcPct val="100000"/>
                        </a:lnSpc>
                        <a:spcBef>
                          <a:spcPts val="265"/>
                        </a:spcBef>
                      </a:pPr>
                      <a:r>
                        <a:rPr sz="1800" spc="-10" dirty="0">
                          <a:latin typeface="Calibri"/>
                          <a:cs typeface="Calibri"/>
                        </a:rPr>
                        <a:t>neuter</a:t>
                      </a:r>
                      <a:endParaRPr sz="1800" dirty="0">
                        <a:latin typeface="Calibri"/>
                        <a:cs typeface="Calibri"/>
                      </a:endParaRPr>
                    </a:p>
                  </a:txBody>
                  <a:tcPr marL="0" marR="0" marT="33655" marB="0"/>
                </a:tc>
                <a:tc>
                  <a:txBody>
                    <a:bodyPr/>
                    <a:lstStyle/>
                    <a:p>
                      <a:pPr marL="91440">
                        <a:lnSpc>
                          <a:spcPct val="100000"/>
                        </a:lnSpc>
                        <a:spcBef>
                          <a:spcPts val="265"/>
                        </a:spcBef>
                      </a:pPr>
                      <a:r>
                        <a:rPr sz="1800" spc="-5" dirty="0">
                          <a:latin typeface="Calibri"/>
                          <a:cs typeface="Calibri"/>
                        </a:rPr>
                        <a:t>non-binary</a:t>
                      </a:r>
                      <a:endParaRPr sz="1800">
                        <a:latin typeface="Calibri"/>
                        <a:cs typeface="Calibri"/>
                      </a:endParaRPr>
                    </a:p>
                  </a:txBody>
                  <a:tcPr marL="0" marR="0" marT="33655" marB="0"/>
                </a:tc>
                <a:tc>
                  <a:txBody>
                    <a:bodyPr/>
                    <a:lstStyle/>
                    <a:p>
                      <a:pPr marL="92075" marR="136525">
                        <a:lnSpc>
                          <a:spcPct val="100000"/>
                        </a:lnSpc>
                        <a:spcBef>
                          <a:spcPts val="240"/>
                        </a:spcBef>
                      </a:pPr>
                      <a:r>
                        <a:rPr sz="1800" dirty="0">
                          <a:latin typeface="Yu Gothic"/>
                          <a:cs typeface="Yu Gothic"/>
                        </a:rPr>
                        <a:t>男性・女性以外の補集合を表現する。 </a:t>
                      </a:r>
                      <a:r>
                        <a:rPr sz="1800" spc="-5" dirty="0">
                          <a:latin typeface="Calibri"/>
                          <a:cs typeface="Calibri"/>
                        </a:rPr>
                        <a:t>2014</a:t>
                      </a:r>
                      <a:r>
                        <a:rPr sz="1800" dirty="0">
                          <a:latin typeface="Yu Gothic"/>
                          <a:cs typeface="Yu Gothic"/>
                        </a:rPr>
                        <a:t>年現在で</a:t>
                      </a:r>
                      <a:r>
                        <a:rPr sz="1800" spc="-95" dirty="0">
                          <a:latin typeface="Yu Gothic"/>
                          <a:cs typeface="Yu Gothic"/>
                        </a:rPr>
                        <a:t> </a:t>
                      </a:r>
                      <a:r>
                        <a:rPr sz="1800" spc="-50" dirty="0">
                          <a:latin typeface="Calibri"/>
                          <a:cs typeface="Calibri"/>
                        </a:rPr>
                        <a:t>F</a:t>
                      </a:r>
                      <a:r>
                        <a:rPr sz="1800" dirty="0">
                          <a:latin typeface="Calibri"/>
                          <a:cs typeface="Calibri"/>
                        </a:rPr>
                        <a:t>acebook </a:t>
                      </a:r>
                      <a:r>
                        <a:rPr sz="1800" dirty="0">
                          <a:latin typeface="Yu Gothic"/>
                          <a:cs typeface="Yu Gothic"/>
                        </a:rPr>
                        <a:t>上では</a:t>
                      </a:r>
                      <a:r>
                        <a:rPr sz="1800" b="1" spc="-5" dirty="0">
                          <a:latin typeface="Calibri"/>
                          <a:cs typeface="Calibri"/>
                        </a:rPr>
                        <a:t>58</a:t>
                      </a:r>
                      <a:r>
                        <a:rPr sz="1800" dirty="0">
                          <a:latin typeface="Yu Gothic"/>
                          <a:cs typeface="Yu Gothic"/>
                        </a:rPr>
                        <a:t>もの社 会性が選択可能</a:t>
                      </a:r>
                      <a:r>
                        <a:rPr sz="1800" spc="-5" dirty="0">
                          <a:latin typeface="Calibri"/>
                          <a:cs typeface="Calibri"/>
                        </a:rPr>
                        <a:t>(ABC</a:t>
                      </a:r>
                      <a:r>
                        <a:rPr sz="1800" spc="-15" dirty="0">
                          <a:latin typeface="Calibri"/>
                          <a:cs typeface="Calibri"/>
                        </a:rPr>
                        <a:t> </a:t>
                      </a:r>
                      <a:r>
                        <a:rPr sz="1800" spc="-5" dirty="0">
                          <a:latin typeface="Calibri"/>
                          <a:cs typeface="Calibri"/>
                        </a:rPr>
                        <a:t>News</a:t>
                      </a:r>
                      <a:r>
                        <a:rPr sz="1800" dirty="0">
                          <a:latin typeface="Calibri"/>
                          <a:cs typeface="Calibri"/>
                        </a:rPr>
                        <a:t> </a:t>
                      </a:r>
                      <a:r>
                        <a:rPr sz="1800" dirty="0">
                          <a:latin typeface="Yu Gothic"/>
                          <a:cs typeface="Yu Gothic"/>
                        </a:rPr>
                        <a:t>調べ</a:t>
                      </a:r>
                      <a:r>
                        <a:rPr sz="1800" spc="-10" dirty="0">
                          <a:latin typeface="Calibri"/>
                          <a:cs typeface="Calibri"/>
                        </a:rPr>
                        <a:t>)</a:t>
                      </a:r>
                      <a:r>
                        <a:rPr sz="1800" dirty="0">
                          <a:latin typeface="Yu Gothic"/>
                          <a:cs typeface="Yu Gothic"/>
                        </a:rPr>
                        <a:t>。</a:t>
                      </a:r>
                      <a:endParaRPr sz="1800">
                        <a:latin typeface="Yu Gothic"/>
                        <a:cs typeface="Yu Gothic"/>
                      </a:endParaRPr>
                    </a:p>
                  </a:txBody>
                  <a:tcPr marL="0" marR="0" marT="30480" marB="0"/>
                </a:tc>
                <a:extLst>
                  <a:ext uri="{0D108BD9-81ED-4DB2-BD59-A6C34878D82A}">
                    <a16:rowId xmlns:a16="http://schemas.microsoft.com/office/drawing/2014/main" val="2320993663"/>
                  </a:ext>
                </a:extLst>
              </a:tr>
              <a:tr h="370840">
                <a:tc>
                  <a:txBody>
                    <a:bodyPr/>
                    <a:lstStyle/>
                    <a:p>
                      <a:pPr marL="91440">
                        <a:lnSpc>
                          <a:spcPct val="100000"/>
                        </a:lnSpc>
                        <a:spcBef>
                          <a:spcPts val="245"/>
                        </a:spcBef>
                      </a:pPr>
                      <a:r>
                        <a:rPr sz="1800" spc="-5" dirty="0">
                          <a:latin typeface="Calibri"/>
                          <a:cs typeface="Calibri"/>
                        </a:rPr>
                        <a:t>gender-free</a:t>
                      </a:r>
                      <a:endParaRPr sz="1800">
                        <a:latin typeface="Calibri"/>
                        <a:cs typeface="Calibri"/>
                      </a:endParaRPr>
                    </a:p>
                  </a:txBody>
                  <a:tcPr marL="0" marR="0" marT="31115" marB="0"/>
                </a:tc>
                <a:tc>
                  <a:txBody>
                    <a:bodyPr/>
                    <a:lstStyle/>
                    <a:p>
                      <a:pPr marL="91440">
                        <a:lnSpc>
                          <a:spcPct val="100000"/>
                        </a:lnSpc>
                        <a:spcBef>
                          <a:spcPts val="245"/>
                        </a:spcBef>
                      </a:pPr>
                      <a:r>
                        <a:rPr sz="1800" spc="-5" dirty="0">
                          <a:latin typeface="Calibri"/>
                          <a:cs typeface="Calibri"/>
                        </a:rPr>
                        <a:t>gender-neuter</a:t>
                      </a:r>
                      <a:endParaRPr sz="1800">
                        <a:latin typeface="Calibri"/>
                        <a:cs typeface="Calibri"/>
                      </a:endParaRPr>
                    </a:p>
                    <a:p>
                      <a:pPr marL="91440">
                        <a:lnSpc>
                          <a:spcPct val="100000"/>
                        </a:lnSpc>
                      </a:pPr>
                      <a:r>
                        <a:rPr sz="1800" spc="-5" dirty="0">
                          <a:latin typeface="Calibri"/>
                          <a:cs typeface="Calibri"/>
                        </a:rPr>
                        <a:t>gender-fluid</a:t>
                      </a:r>
                      <a:endParaRPr sz="1800">
                        <a:latin typeface="Calibri"/>
                        <a:cs typeface="Calibri"/>
                      </a:endParaRPr>
                    </a:p>
                  </a:txBody>
                  <a:tcPr marL="0" marR="0" marT="31115" marB="0"/>
                </a:tc>
                <a:tc>
                  <a:txBody>
                    <a:bodyPr/>
                    <a:lstStyle/>
                    <a:p>
                      <a:pPr marL="92075" marR="30480">
                        <a:lnSpc>
                          <a:spcPct val="100000"/>
                        </a:lnSpc>
                        <a:spcBef>
                          <a:spcPts val="220"/>
                        </a:spcBef>
                      </a:pPr>
                      <a:r>
                        <a:rPr sz="1800" spc="-20" dirty="0">
                          <a:latin typeface="Calibri"/>
                          <a:cs typeface="Calibri"/>
                        </a:rPr>
                        <a:t>Oxford</a:t>
                      </a:r>
                      <a:r>
                        <a:rPr sz="1800" spc="-15" dirty="0">
                          <a:latin typeface="Calibri"/>
                          <a:cs typeface="Calibri"/>
                        </a:rPr>
                        <a:t> </a:t>
                      </a:r>
                      <a:r>
                        <a:rPr sz="1800" spc="-5" dirty="0">
                          <a:latin typeface="Calibri"/>
                          <a:cs typeface="Calibri"/>
                        </a:rPr>
                        <a:t>English</a:t>
                      </a:r>
                      <a:r>
                        <a:rPr sz="1800" spc="10" dirty="0">
                          <a:latin typeface="Calibri"/>
                          <a:cs typeface="Calibri"/>
                        </a:rPr>
                        <a:t> </a:t>
                      </a:r>
                      <a:r>
                        <a:rPr sz="1800" spc="-5" dirty="0">
                          <a:latin typeface="Calibri"/>
                          <a:cs typeface="Calibri"/>
                        </a:rPr>
                        <a:t>Dictionary</a:t>
                      </a:r>
                      <a:r>
                        <a:rPr sz="1800" spc="30" dirty="0">
                          <a:latin typeface="Calibri"/>
                          <a:cs typeface="Calibri"/>
                        </a:rPr>
                        <a:t> </a:t>
                      </a:r>
                      <a:r>
                        <a:rPr sz="1800" dirty="0">
                          <a:latin typeface="Yu Gothic"/>
                          <a:cs typeface="Yu Gothic"/>
                        </a:rPr>
                        <a:t>には</a:t>
                      </a:r>
                      <a:r>
                        <a:rPr sz="1800" spc="-114" dirty="0">
                          <a:latin typeface="Yu Gothic"/>
                          <a:cs typeface="Yu Gothic"/>
                        </a:rPr>
                        <a:t> </a:t>
                      </a:r>
                      <a:r>
                        <a:rPr sz="1800" i="1" spc="-5" dirty="0">
                          <a:latin typeface="Calibri"/>
                          <a:cs typeface="Calibri"/>
                        </a:rPr>
                        <a:t>gender-</a:t>
                      </a:r>
                      <a:endParaRPr sz="1800">
                        <a:latin typeface="Calibri"/>
                        <a:cs typeface="Calibri"/>
                      </a:endParaRPr>
                    </a:p>
                    <a:p>
                      <a:pPr marL="92075" marR="30480">
                        <a:lnSpc>
                          <a:spcPct val="100000"/>
                        </a:lnSpc>
                      </a:pPr>
                      <a:r>
                        <a:rPr sz="1800" i="1" spc="-5" dirty="0">
                          <a:latin typeface="Calibri"/>
                          <a:cs typeface="Calibri"/>
                        </a:rPr>
                        <a:t>free</a:t>
                      </a:r>
                      <a:r>
                        <a:rPr sz="1800" i="1" spc="-35" dirty="0">
                          <a:latin typeface="Calibri"/>
                          <a:cs typeface="Calibri"/>
                        </a:rPr>
                        <a:t> </a:t>
                      </a:r>
                      <a:r>
                        <a:rPr sz="1800" spc="-5" dirty="0">
                          <a:latin typeface="Yu Gothic"/>
                          <a:cs typeface="Yu Gothic"/>
                        </a:rPr>
                        <a:t>の掲載はない。</a:t>
                      </a:r>
                      <a:endParaRPr sz="1800">
                        <a:latin typeface="Yu Gothic"/>
                        <a:cs typeface="Yu Gothic"/>
                      </a:endParaRPr>
                    </a:p>
                  </a:txBody>
                  <a:tcPr marL="0" marR="0" marT="27940" marB="0"/>
                </a:tc>
                <a:extLst>
                  <a:ext uri="{0D108BD9-81ED-4DB2-BD59-A6C34878D82A}">
                    <a16:rowId xmlns:a16="http://schemas.microsoft.com/office/drawing/2014/main" val="2837389687"/>
                  </a:ext>
                </a:extLst>
              </a:tr>
              <a:tr h="370840">
                <a:tc>
                  <a:txBody>
                    <a:bodyPr/>
                    <a:lstStyle/>
                    <a:p>
                      <a:pPr marL="91440" marR="1883410">
                        <a:lnSpc>
                          <a:spcPct val="100000"/>
                        </a:lnSpc>
                        <a:spcBef>
                          <a:spcPts val="250"/>
                        </a:spcBef>
                      </a:pPr>
                      <a:r>
                        <a:rPr sz="1800" dirty="0">
                          <a:latin typeface="Calibri"/>
                          <a:cs typeface="Calibri"/>
                        </a:rPr>
                        <a:t>he </a:t>
                      </a:r>
                      <a:r>
                        <a:rPr sz="1800" spc="5" dirty="0">
                          <a:latin typeface="Calibri"/>
                          <a:cs typeface="Calibri"/>
                        </a:rPr>
                        <a:t> </a:t>
                      </a:r>
                      <a:r>
                        <a:rPr sz="1800" spc="-5" dirty="0">
                          <a:latin typeface="Calibri"/>
                          <a:cs typeface="Calibri"/>
                        </a:rPr>
                        <a:t>s</a:t>
                      </a:r>
                      <a:r>
                        <a:rPr sz="1800" spc="5" dirty="0">
                          <a:latin typeface="Calibri"/>
                          <a:cs typeface="Calibri"/>
                        </a:rPr>
                        <a:t>h</a:t>
                      </a:r>
                      <a:r>
                        <a:rPr sz="1800" dirty="0">
                          <a:latin typeface="Calibri"/>
                          <a:cs typeface="Calibri"/>
                        </a:rPr>
                        <a:t>e</a:t>
                      </a:r>
                      <a:endParaRPr sz="1800">
                        <a:latin typeface="Calibri"/>
                        <a:cs typeface="Calibri"/>
                      </a:endParaRPr>
                    </a:p>
                  </a:txBody>
                  <a:tcPr marL="0" marR="0" marT="31750" marB="0"/>
                </a:tc>
                <a:tc>
                  <a:txBody>
                    <a:bodyPr/>
                    <a:lstStyle/>
                    <a:p>
                      <a:pPr marL="91440" marR="3736975">
                        <a:lnSpc>
                          <a:spcPct val="100000"/>
                        </a:lnSpc>
                        <a:spcBef>
                          <a:spcPts val="250"/>
                        </a:spcBef>
                      </a:pPr>
                      <a:r>
                        <a:rPr sz="1800" spc="-50" dirty="0">
                          <a:latin typeface="Calibri"/>
                          <a:cs typeface="Calibri"/>
                        </a:rPr>
                        <a:t>xe  </a:t>
                      </a:r>
                      <a:r>
                        <a:rPr sz="1800" spc="-40" dirty="0">
                          <a:latin typeface="Calibri"/>
                          <a:cs typeface="Calibri"/>
                        </a:rPr>
                        <a:t>ze</a:t>
                      </a:r>
                      <a:endParaRPr sz="1800">
                        <a:latin typeface="Calibri"/>
                        <a:cs typeface="Calibri"/>
                      </a:endParaRPr>
                    </a:p>
                  </a:txBody>
                  <a:tcPr marL="0" marR="0" marT="31750" marB="0"/>
                </a:tc>
                <a:tc>
                  <a:txBody>
                    <a:bodyPr/>
                    <a:lstStyle/>
                    <a:p>
                      <a:pPr marL="92075" marR="221615">
                        <a:lnSpc>
                          <a:spcPct val="100000"/>
                        </a:lnSpc>
                        <a:spcBef>
                          <a:spcPts val="225"/>
                        </a:spcBef>
                      </a:pPr>
                      <a:r>
                        <a:rPr sz="1800" dirty="0">
                          <a:latin typeface="Yu Gothic"/>
                          <a:cs typeface="Yu Gothic"/>
                        </a:rPr>
                        <a:t>現代英語の人称代名詞に唯一残ってい る男女の性差を</a:t>
                      </a:r>
                      <a:r>
                        <a:rPr sz="1800" spc="-125" dirty="0">
                          <a:latin typeface="Yu Gothic"/>
                          <a:cs typeface="Yu Gothic"/>
                        </a:rPr>
                        <a:t> </a:t>
                      </a:r>
                      <a:r>
                        <a:rPr sz="1800" i="1" dirty="0">
                          <a:latin typeface="Calibri"/>
                          <a:cs typeface="Calibri"/>
                        </a:rPr>
                        <a:t>x</a:t>
                      </a:r>
                      <a:r>
                        <a:rPr sz="1800" i="1" spc="-20" dirty="0">
                          <a:latin typeface="Calibri"/>
                          <a:cs typeface="Calibri"/>
                        </a:rPr>
                        <a:t> </a:t>
                      </a:r>
                      <a:r>
                        <a:rPr sz="1800" dirty="0">
                          <a:latin typeface="Yu Gothic"/>
                          <a:cs typeface="Yu Gothic"/>
                        </a:rPr>
                        <a:t>や</a:t>
                      </a:r>
                      <a:r>
                        <a:rPr sz="1800" spc="-114" dirty="0">
                          <a:latin typeface="Yu Gothic"/>
                          <a:cs typeface="Yu Gothic"/>
                        </a:rPr>
                        <a:t> </a:t>
                      </a:r>
                      <a:r>
                        <a:rPr sz="1800" i="1" dirty="0">
                          <a:latin typeface="Calibri"/>
                          <a:cs typeface="Calibri"/>
                        </a:rPr>
                        <a:t>z</a:t>
                      </a:r>
                      <a:r>
                        <a:rPr sz="1800" i="1" spc="-25" dirty="0">
                          <a:latin typeface="Calibri"/>
                          <a:cs typeface="Calibri"/>
                        </a:rPr>
                        <a:t> </a:t>
                      </a:r>
                      <a:r>
                        <a:rPr sz="1800" dirty="0">
                          <a:latin typeface="Yu Gothic"/>
                          <a:cs typeface="Yu Gothic"/>
                        </a:rPr>
                        <a:t>でマスクする。</a:t>
                      </a:r>
                      <a:endParaRPr sz="1800">
                        <a:latin typeface="Yu Gothic"/>
                        <a:cs typeface="Yu Gothic"/>
                      </a:endParaRPr>
                    </a:p>
                  </a:txBody>
                  <a:tcPr marL="0" marR="0" marT="28575" marB="0"/>
                </a:tc>
                <a:extLst>
                  <a:ext uri="{0D108BD9-81ED-4DB2-BD59-A6C34878D82A}">
                    <a16:rowId xmlns:a16="http://schemas.microsoft.com/office/drawing/2014/main" val="1150813946"/>
                  </a:ext>
                </a:extLst>
              </a:tr>
              <a:tr h="370840">
                <a:tc>
                  <a:txBody>
                    <a:bodyPr/>
                    <a:lstStyle/>
                    <a:p>
                      <a:pPr marL="91440">
                        <a:lnSpc>
                          <a:spcPct val="100000"/>
                        </a:lnSpc>
                        <a:spcBef>
                          <a:spcPts val="305"/>
                        </a:spcBef>
                      </a:pPr>
                      <a:r>
                        <a:rPr sz="1800" spc="-5" dirty="0">
                          <a:latin typeface="Calibri"/>
                          <a:cs typeface="Calibri"/>
                        </a:rPr>
                        <a:t>they</a:t>
                      </a:r>
                      <a:endParaRPr sz="1800" dirty="0">
                        <a:latin typeface="Calibri"/>
                        <a:cs typeface="Calibri"/>
                      </a:endParaRPr>
                    </a:p>
                  </a:txBody>
                  <a:tcPr marL="0" marR="0" marT="38735" marB="0"/>
                </a:tc>
                <a:tc>
                  <a:txBody>
                    <a:bodyPr/>
                    <a:lstStyle/>
                    <a:p>
                      <a:pPr marL="91440">
                        <a:lnSpc>
                          <a:spcPct val="100000"/>
                        </a:lnSpc>
                        <a:spcBef>
                          <a:spcPts val="305"/>
                        </a:spcBef>
                      </a:pPr>
                      <a:r>
                        <a:rPr sz="1800" spc="5" dirty="0">
                          <a:latin typeface="Calibri"/>
                          <a:cs typeface="Calibri"/>
                        </a:rPr>
                        <a:t>e.g.,</a:t>
                      </a:r>
                      <a:r>
                        <a:rPr sz="1800" spc="-25" dirty="0">
                          <a:latin typeface="Calibri"/>
                          <a:cs typeface="Calibri"/>
                        </a:rPr>
                        <a:t> </a:t>
                      </a:r>
                      <a:r>
                        <a:rPr sz="1800" u="heavy" spc="-10" dirty="0">
                          <a:uFill>
                            <a:solidFill>
                              <a:srgbClr val="000000"/>
                            </a:solidFill>
                          </a:uFill>
                          <a:latin typeface="Calibri"/>
                          <a:cs typeface="Calibri"/>
                        </a:rPr>
                        <a:t>Each</a:t>
                      </a:r>
                      <a:r>
                        <a:rPr sz="1800" u="heavy" spc="5" dirty="0">
                          <a:uFill>
                            <a:solidFill>
                              <a:srgbClr val="000000"/>
                            </a:solidFill>
                          </a:uFill>
                          <a:latin typeface="Calibri"/>
                          <a:cs typeface="Calibri"/>
                        </a:rPr>
                        <a:t> </a:t>
                      </a:r>
                      <a:r>
                        <a:rPr sz="1800" u="heavy" spc="-10" dirty="0">
                          <a:uFill>
                            <a:solidFill>
                              <a:srgbClr val="000000"/>
                            </a:solidFill>
                          </a:uFill>
                          <a:latin typeface="Calibri"/>
                          <a:cs typeface="Calibri"/>
                        </a:rPr>
                        <a:t>child</a:t>
                      </a:r>
                      <a:r>
                        <a:rPr sz="1800" spc="30" dirty="0">
                          <a:latin typeface="Calibri"/>
                          <a:cs typeface="Calibri"/>
                        </a:rPr>
                        <a:t> </a:t>
                      </a:r>
                      <a:r>
                        <a:rPr sz="1800" spc="-15" dirty="0">
                          <a:latin typeface="Calibri"/>
                          <a:cs typeface="Calibri"/>
                        </a:rPr>
                        <a:t>played</a:t>
                      </a:r>
                      <a:r>
                        <a:rPr sz="1800" spc="10" dirty="0">
                          <a:latin typeface="Calibri"/>
                          <a:cs typeface="Calibri"/>
                        </a:rPr>
                        <a:t> </a:t>
                      </a:r>
                      <a:r>
                        <a:rPr sz="1800" spc="-5" dirty="0">
                          <a:latin typeface="Calibri"/>
                          <a:cs typeface="Calibri"/>
                        </a:rPr>
                        <a:t>with</a:t>
                      </a:r>
                      <a:r>
                        <a:rPr sz="1800" spc="15" dirty="0">
                          <a:latin typeface="Calibri"/>
                          <a:cs typeface="Calibri"/>
                        </a:rPr>
                        <a:t> </a:t>
                      </a:r>
                      <a:r>
                        <a:rPr sz="1800" u="heavy" spc="-5" dirty="0">
                          <a:uFill>
                            <a:solidFill>
                              <a:srgbClr val="000000"/>
                            </a:solidFill>
                          </a:uFill>
                          <a:latin typeface="Calibri"/>
                          <a:cs typeface="Calibri"/>
                        </a:rPr>
                        <a:t>her</a:t>
                      </a:r>
                      <a:r>
                        <a:rPr sz="1800" u="heavy" dirty="0">
                          <a:uFill>
                            <a:solidFill>
                              <a:srgbClr val="000000"/>
                            </a:solidFill>
                          </a:uFill>
                          <a:latin typeface="Calibri"/>
                          <a:cs typeface="Calibri"/>
                        </a:rPr>
                        <a:t> </a:t>
                      </a:r>
                      <a:r>
                        <a:rPr sz="1800" u="heavy" spc="-5" dirty="0">
                          <a:uFill>
                            <a:solidFill>
                              <a:srgbClr val="000000"/>
                            </a:solidFill>
                          </a:uFill>
                          <a:latin typeface="Calibri"/>
                          <a:cs typeface="Calibri"/>
                        </a:rPr>
                        <a:t>or</a:t>
                      </a:r>
                      <a:r>
                        <a:rPr sz="1800" u="heavy" spc="-10" dirty="0">
                          <a:uFill>
                            <a:solidFill>
                              <a:srgbClr val="000000"/>
                            </a:solidFill>
                          </a:uFill>
                          <a:latin typeface="Calibri"/>
                          <a:cs typeface="Calibri"/>
                        </a:rPr>
                        <a:t> </a:t>
                      </a:r>
                      <a:r>
                        <a:rPr sz="1800" u="heavy" spc="-5" dirty="0">
                          <a:uFill>
                            <a:solidFill>
                              <a:srgbClr val="000000"/>
                            </a:solidFill>
                          </a:uFill>
                          <a:latin typeface="Calibri"/>
                          <a:cs typeface="Calibri"/>
                        </a:rPr>
                        <a:t>his</a:t>
                      </a:r>
                      <a:endParaRPr sz="1800">
                        <a:latin typeface="Calibri"/>
                        <a:cs typeface="Calibri"/>
                      </a:endParaRPr>
                    </a:p>
                    <a:p>
                      <a:pPr marL="541020">
                        <a:lnSpc>
                          <a:spcPct val="100000"/>
                        </a:lnSpc>
                      </a:pPr>
                      <a:r>
                        <a:rPr sz="1800" spc="-10" dirty="0">
                          <a:latin typeface="Calibri"/>
                          <a:cs typeface="Calibri"/>
                        </a:rPr>
                        <a:t>parent.</a:t>
                      </a:r>
                      <a:endParaRPr sz="1800">
                        <a:latin typeface="Calibri"/>
                        <a:cs typeface="Calibri"/>
                      </a:endParaRPr>
                    </a:p>
                    <a:p>
                      <a:pPr marL="179705">
                        <a:lnSpc>
                          <a:spcPct val="100000"/>
                        </a:lnSpc>
                      </a:pPr>
                      <a:r>
                        <a:rPr sz="1800" dirty="0">
                          <a:latin typeface="Calibri"/>
                          <a:cs typeface="Calibri"/>
                        </a:rPr>
                        <a:t>→</a:t>
                      </a:r>
                      <a:r>
                        <a:rPr sz="1800" spc="-5" dirty="0">
                          <a:latin typeface="Calibri"/>
                          <a:cs typeface="Calibri"/>
                        </a:rPr>
                        <a:t> </a:t>
                      </a:r>
                      <a:r>
                        <a:rPr sz="1800" u="heavy" spc="-10" dirty="0">
                          <a:uFill>
                            <a:solidFill>
                              <a:srgbClr val="000000"/>
                            </a:solidFill>
                          </a:uFill>
                          <a:latin typeface="Calibri"/>
                          <a:cs typeface="Calibri"/>
                        </a:rPr>
                        <a:t>Each </a:t>
                      </a:r>
                      <a:r>
                        <a:rPr sz="1800" u="heavy" spc="-5" dirty="0">
                          <a:uFill>
                            <a:solidFill>
                              <a:srgbClr val="000000"/>
                            </a:solidFill>
                          </a:uFill>
                          <a:latin typeface="Calibri"/>
                          <a:cs typeface="Calibri"/>
                        </a:rPr>
                        <a:t>child</a:t>
                      </a:r>
                      <a:r>
                        <a:rPr sz="1800" spc="25" dirty="0">
                          <a:latin typeface="Calibri"/>
                          <a:cs typeface="Calibri"/>
                        </a:rPr>
                        <a:t> </a:t>
                      </a:r>
                      <a:r>
                        <a:rPr sz="1800" spc="-15" dirty="0">
                          <a:latin typeface="Calibri"/>
                          <a:cs typeface="Calibri"/>
                        </a:rPr>
                        <a:t>played</a:t>
                      </a:r>
                      <a:r>
                        <a:rPr sz="1800" spc="10" dirty="0">
                          <a:latin typeface="Calibri"/>
                          <a:cs typeface="Calibri"/>
                        </a:rPr>
                        <a:t> </a:t>
                      </a:r>
                      <a:r>
                        <a:rPr sz="1800" spc="-5" dirty="0">
                          <a:latin typeface="Calibri"/>
                          <a:cs typeface="Calibri"/>
                        </a:rPr>
                        <a:t>with</a:t>
                      </a:r>
                      <a:r>
                        <a:rPr sz="1800" spc="10" dirty="0">
                          <a:latin typeface="Calibri"/>
                          <a:cs typeface="Calibri"/>
                        </a:rPr>
                        <a:t> </a:t>
                      </a:r>
                      <a:r>
                        <a:rPr sz="1800" u="heavy" dirty="0">
                          <a:uFill>
                            <a:solidFill>
                              <a:srgbClr val="000000"/>
                            </a:solidFill>
                          </a:uFill>
                          <a:latin typeface="Calibri"/>
                          <a:cs typeface="Calibri"/>
                        </a:rPr>
                        <a:t>their</a:t>
                      </a:r>
                      <a:r>
                        <a:rPr sz="1800" dirty="0">
                          <a:latin typeface="Calibri"/>
                          <a:cs typeface="Calibri"/>
                        </a:rPr>
                        <a:t> </a:t>
                      </a:r>
                      <a:r>
                        <a:rPr sz="1800" spc="-10" dirty="0">
                          <a:latin typeface="Calibri"/>
                          <a:cs typeface="Calibri"/>
                        </a:rPr>
                        <a:t>parent.</a:t>
                      </a:r>
                      <a:endParaRPr sz="1800">
                        <a:latin typeface="Calibri"/>
                        <a:cs typeface="Calibri"/>
                      </a:endParaRPr>
                    </a:p>
                  </a:txBody>
                  <a:tcPr marL="0" marR="0" marT="38735" marB="0"/>
                </a:tc>
                <a:tc>
                  <a:txBody>
                    <a:bodyPr/>
                    <a:lstStyle/>
                    <a:p>
                      <a:pPr marL="92075" marR="154305" algn="just">
                        <a:lnSpc>
                          <a:spcPct val="100000"/>
                        </a:lnSpc>
                        <a:spcBef>
                          <a:spcPts val="280"/>
                        </a:spcBef>
                      </a:pPr>
                      <a:r>
                        <a:rPr sz="1800" dirty="0">
                          <a:latin typeface="Yu Gothic"/>
                          <a:cs typeface="Yu Gothic"/>
                        </a:rPr>
                        <a:t>単数の人称代名詞</a:t>
                      </a:r>
                      <a:r>
                        <a:rPr sz="1800" spc="-105" dirty="0">
                          <a:latin typeface="Yu Gothic"/>
                          <a:cs typeface="Yu Gothic"/>
                        </a:rPr>
                        <a:t> </a:t>
                      </a:r>
                      <a:r>
                        <a:rPr sz="1800" i="1" spc="-5" dirty="0">
                          <a:latin typeface="Calibri"/>
                          <a:cs typeface="Calibri"/>
                        </a:rPr>
                        <a:t>h</a:t>
                      </a:r>
                      <a:r>
                        <a:rPr sz="1800" i="1" dirty="0">
                          <a:latin typeface="Calibri"/>
                          <a:cs typeface="Calibri"/>
                        </a:rPr>
                        <a:t>e</a:t>
                      </a:r>
                      <a:r>
                        <a:rPr sz="1800" i="1" spc="15" dirty="0">
                          <a:latin typeface="Calibri"/>
                          <a:cs typeface="Calibri"/>
                        </a:rPr>
                        <a:t> </a:t>
                      </a:r>
                      <a:r>
                        <a:rPr sz="1800" dirty="0">
                          <a:latin typeface="Yu Gothic"/>
                          <a:cs typeface="Yu Gothic"/>
                        </a:rPr>
                        <a:t>や</a:t>
                      </a:r>
                      <a:r>
                        <a:rPr sz="1800" spc="-110" dirty="0">
                          <a:latin typeface="Yu Gothic"/>
                          <a:cs typeface="Yu Gothic"/>
                        </a:rPr>
                        <a:t> </a:t>
                      </a:r>
                      <a:r>
                        <a:rPr sz="1800" i="1" spc="-5" dirty="0">
                          <a:latin typeface="Calibri"/>
                          <a:cs typeface="Calibri"/>
                        </a:rPr>
                        <a:t>s</a:t>
                      </a:r>
                      <a:r>
                        <a:rPr sz="1800" i="1" spc="-10" dirty="0">
                          <a:latin typeface="Calibri"/>
                          <a:cs typeface="Calibri"/>
                        </a:rPr>
                        <a:t>h</a:t>
                      </a:r>
                      <a:r>
                        <a:rPr sz="1800" i="1" dirty="0">
                          <a:latin typeface="Calibri"/>
                          <a:cs typeface="Calibri"/>
                        </a:rPr>
                        <a:t>e</a:t>
                      </a:r>
                      <a:r>
                        <a:rPr sz="1800" i="1" spc="15" dirty="0">
                          <a:latin typeface="Calibri"/>
                          <a:cs typeface="Calibri"/>
                        </a:rPr>
                        <a:t> </a:t>
                      </a:r>
                      <a:r>
                        <a:rPr sz="1800" dirty="0">
                          <a:latin typeface="Yu Gothic"/>
                          <a:cs typeface="Yu Gothic"/>
                        </a:rPr>
                        <a:t>は性差を露 </a:t>
                      </a:r>
                      <a:r>
                        <a:rPr sz="1800" spc="-5" dirty="0">
                          <a:latin typeface="Yu Gothic"/>
                          <a:cs typeface="Yu Gothic"/>
                        </a:rPr>
                        <a:t>呈するので、中立的</a:t>
                      </a:r>
                      <a:r>
                        <a:rPr sz="1800" dirty="0">
                          <a:latin typeface="Yu Gothic"/>
                          <a:cs typeface="Yu Gothic"/>
                        </a:rPr>
                        <a:t>な</a:t>
                      </a:r>
                      <a:r>
                        <a:rPr sz="1800" spc="-105" dirty="0">
                          <a:latin typeface="Yu Gothic"/>
                          <a:cs typeface="Yu Gothic"/>
                        </a:rPr>
                        <a:t> </a:t>
                      </a:r>
                      <a:r>
                        <a:rPr sz="1800" i="1" dirty="0">
                          <a:latin typeface="Calibri"/>
                          <a:cs typeface="Calibri"/>
                        </a:rPr>
                        <a:t>t</a:t>
                      </a:r>
                      <a:r>
                        <a:rPr sz="1800" i="1" spc="-10" dirty="0">
                          <a:latin typeface="Calibri"/>
                          <a:cs typeface="Calibri"/>
                        </a:rPr>
                        <a:t>he</a:t>
                      </a:r>
                      <a:r>
                        <a:rPr sz="1800" i="1" dirty="0">
                          <a:latin typeface="Calibri"/>
                          <a:cs typeface="Calibri"/>
                        </a:rPr>
                        <a:t>y</a:t>
                      </a:r>
                      <a:r>
                        <a:rPr sz="1800" i="1" spc="-5" dirty="0">
                          <a:latin typeface="Calibri"/>
                          <a:cs typeface="Calibri"/>
                        </a:rPr>
                        <a:t> </a:t>
                      </a:r>
                      <a:r>
                        <a:rPr sz="1800" spc="-5" dirty="0">
                          <a:latin typeface="Yu Gothic"/>
                          <a:cs typeface="Yu Gothic"/>
                        </a:rPr>
                        <a:t>で単数の名 </a:t>
                      </a:r>
                      <a:r>
                        <a:rPr sz="1800" dirty="0">
                          <a:latin typeface="Yu Gothic"/>
                          <a:cs typeface="Yu Gothic"/>
                        </a:rPr>
                        <a:t>詞を受ける。</a:t>
                      </a:r>
                    </a:p>
                  </a:txBody>
                  <a:tcPr marL="0" marR="0" marT="35560" marB="0"/>
                </a:tc>
                <a:extLst>
                  <a:ext uri="{0D108BD9-81ED-4DB2-BD59-A6C34878D82A}">
                    <a16:rowId xmlns:a16="http://schemas.microsoft.com/office/drawing/2014/main" val="4282621459"/>
                  </a:ext>
                </a:extLst>
              </a:tr>
            </a:tbl>
          </a:graphicData>
        </a:graphic>
      </p:graphicFrame>
    </p:spTree>
    <p:extLst>
      <p:ext uri="{BB962C8B-B14F-4D97-AF65-F5344CB8AC3E}">
        <p14:creationId xmlns:p14="http://schemas.microsoft.com/office/powerpoint/2010/main" val="3490044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PC Terms ① -</a:t>
            </a:r>
            <a:r>
              <a:rPr kumimoji="0" lang="ja-JP" altLang="en-US"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社会的性差・生物的性差・多様性</a:t>
            </a: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D2F8CA4C-483B-C322-4393-CCD04BC76707}"/>
              </a:ext>
            </a:extLst>
          </p:cNvPr>
          <p:cNvGraphicFramePr>
            <a:graphicFrameLocks noGrp="1"/>
          </p:cNvGraphicFramePr>
          <p:nvPr>
            <p:extLst>
              <p:ext uri="{D42A27DB-BD31-4B8C-83A1-F6EECF244321}">
                <p14:modId xmlns:p14="http://schemas.microsoft.com/office/powerpoint/2010/main" val="1972147418"/>
              </p:ext>
            </p:extLst>
          </p:nvPr>
        </p:nvGraphicFramePr>
        <p:xfrm>
          <a:off x="819911" y="1823469"/>
          <a:ext cx="10616565" cy="3743960"/>
        </p:xfrm>
        <a:graphic>
          <a:graphicData uri="http://schemas.openxmlformats.org/drawingml/2006/table">
            <a:tbl>
              <a:tblPr firstRow="1" bandRow="1">
                <a:tableStyleId>{5C22544A-7EE6-4342-B048-85BDC9FD1C3A}</a:tableStyleId>
              </a:tblPr>
              <a:tblGrid>
                <a:gridCol w="1378005">
                  <a:extLst>
                    <a:ext uri="{9D8B030D-6E8A-4147-A177-3AD203B41FA5}">
                      <a16:colId xmlns:a16="http://schemas.microsoft.com/office/drawing/2014/main" val="3591673566"/>
                    </a:ext>
                  </a:extLst>
                </a:gridCol>
                <a:gridCol w="2743200">
                  <a:extLst>
                    <a:ext uri="{9D8B030D-6E8A-4147-A177-3AD203B41FA5}">
                      <a16:colId xmlns:a16="http://schemas.microsoft.com/office/drawing/2014/main" val="134204009"/>
                    </a:ext>
                  </a:extLst>
                </a:gridCol>
                <a:gridCol w="6495360">
                  <a:extLst>
                    <a:ext uri="{9D8B030D-6E8A-4147-A177-3AD203B41FA5}">
                      <a16:colId xmlns:a16="http://schemas.microsoft.com/office/drawing/2014/main" val="1757441952"/>
                    </a:ext>
                  </a:extLst>
                </a:gridCol>
              </a:tblGrid>
              <a:tr h="370840">
                <a:tc>
                  <a:txBody>
                    <a:bodyPr/>
                    <a:lstStyle/>
                    <a:p>
                      <a:pPr marL="90170">
                        <a:lnSpc>
                          <a:spcPct val="100000"/>
                        </a:lnSpc>
                        <a:spcBef>
                          <a:spcPts val="229"/>
                        </a:spcBef>
                      </a:pPr>
                      <a:r>
                        <a:rPr sz="1800" b="1" dirty="0">
                          <a:solidFill>
                            <a:srgbClr val="FFFFFF"/>
                          </a:solidFill>
                          <a:latin typeface="Yu Gothic"/>
                          <a:cs typeface="Yu Gothic"/>
                        </a:rPr>
                        <a:t>元々の表現</a:t>
                      </a:r>
                      <a:endParaRPr sz="1800" dirty="0">
                        <a:latin typeface="Yu Gothic"/>
                        <a:cs typeface="Yu Gothic"/>
                      </a:endParaRPr>
                    </a:p>
                  </a:txBody>
                  <a:tcPr marL="0" marR="0" marT="29209" marB="0"/>
                </a:tc>
                <a:tc>
                  <a:txBody>
                    <a:bodyPr/>
                    <a:lstStyle/>
                    <a:p>
                      <a:pPr marL="91440">
                        <a:lnSpc>
                          <a:spcPct val="100000"/>
                        </a:lnSpc>
                        <a:spcBef>
                          <a:spcPts val="229"/>
                        </a:spcBef>
                      </a:pPr>
                      <a:r>
                        <a:rPr sz="1800" b="1" spc="-5" dirty="0">
                          <a:solidFill>
                            <a:srgbClr val="FFFFFF"/>
                          </a:solidFill>
                          <a:latin typeface="Calibri"/>
                          <a:cs typeface="Calibri"/>
                        </a:rPr>
                        <a:t>PC</a:t>
                      </a:r>
                      <a:r>
                        <a:rPr sz="1800" b="1" spc="-30" dirty="0">
                          <a:solidFill>
                            <a:srgbClr val="FFFFFF"/>
                          </a:solidFill>
                          <a:latin typeface="Calibri"/>
                          <a:cs typeface="Calibri"/>
                        </a:rPr>
                        <a:t> </a:t>
                      </a:r>
                      <a:r>
                        <a:rPr sz="1800" b="1" dirty="0">
                          <a:solidFill>
                            <a:srgbClr val="FFFFFF"/>
                          </a:solidFill>
                          <a:latin typeface="Yu Gothic"/>
                          <a:cs typeface="Yu Gothic"/>
                        </a:rPr>
                        <a:t>表現</a:t>
                      </a:r>
                      <a:endParaRPr sz="1800">
                        <a:latin typeface="Yu Gothic"/>
                        <a:cs typeface="Yu Gothic"/>
                      </a:endParaRPr>
                    </a:p>
                  </a:txBody>
                  <a:tcPr marL="0" marR="0" marT="29209" marB="0"/>
                </a:tc>
                <a:tc>
                  <a:txBody>
                    <a:bodyPr/>
                    <a:lstStyle/>
                    <a:p>
                      <a:pPr marL="92075" marR="94615">
                        <a:lnSpc>
                          <a:spcPct val="100000"/>
                        </a:lnSpc>
                        <a:spcBef>
                          <a:spcPts val="229"/>
                        </a:spcBef>
                      </a:pPr>
                      <a:r>
                        <a:rPr sz="1800" b="1" dirty="0">
                          <a:solidFill>
                            <a:srgbClr val="FFFFFF"/>
                          </a:solidFill>
                          <a:latin typeface="Yu Gothic"/>
                          <a:cs typeface="Yu Gothic"/>
                        </a:rPr>
                        <a:t>背景・備考</a:t>
                      </a:r>
                      <a:endParaRPr sz="1800">
                        <a:latin typeface="Yu Gothic"/>
                        <a:cs typeface="Yu Gothic"/>
                      </a:endParaRPr>
                    </a:p>
                  </a:txBody>
                  <a:tcPr marL="0" marR="0" marT="29209" marB="0"/>
                </a:tc>
                <a:extLst>
                  <a:ext uri="{0D108BD9-81ED-4DB2-BD59-A6C34878D82A}">
                    <a16:rowId xmlns:a16="http://schemas.microsoft.com/office/drawing/2014/main" val="2997049688"/>
                  </a:ext>
                </a:extLst>
              </a:tr>
              <a:tr h="370840">
                <a:tc>
                  <a:txBody>
                    <a:bodyPr/>
                    <a:lstStyle/>
                    <a:p>
                      <a:pPr marL="90170" marR="854710">
                        <a:lnSpc>
                          <a:spcPct val="100000"/>
                        </a:lnSpc>
                        <a:spcBef>
                          <a:spcPts val="240"/>
                        </a:spcBef>
                      </a:pPr>
                      <a:r>
                        <a:rPr sz="1800" spc="-65" dirty="0">
                          <a:latin typeface="Calibri"/>
                          <a:cs typeface="Calibri"/>
                        </a:rPr>
                        <a:t>Mr. </a:t>
                      </a:r>
                      <a:r>
                        <a:rPr sz="1800" spc="-60" dirty="0">
                          <a:latin typeface="Calibri"/>
                          <a:cs typeface="Calibri"/>
                        </a:rPr>
                        <a:t> </a:t>
                      </a:r>
                      <a:r>
                        <a:rPr sz="1800" dirty="0">
                          <a:latin typeface="Calibri"/>
                          <a:cs typeface="Calibri"/>
                        </a:rPr>
                        <a:t>M</a:t>
                      </a:r>
                      <a:r>
                        <a:rPr sz="1800" spc="-45" dirty="0">
                          <a:latin typeface="Calibri"/>
                          <a:cs typeface="Calibri"/>
                        </a:rPr>
                        <a:t>r</a:t>
                      </a:r>
                      <a:r>
                        <a:rPr sz="1800" spc="-5" dirty="0">
                          <a:latin typeface="Calibri"/>
                          <a:cs typeface="Calibri"/>
                        </a:rPr>
                        <a:t>s.  </a:t>
                      </a:r>
                      <a:r>
                        <a:rPr sz="1800" dirty="0">
                          <a:latin typeface="Calibri"/>
                          <a:cs typeface="Calibri"/>
                        </a:rPr>
                        <a:t>M</a:t>
                      </a:r>
                      <a:r>
                        <a:rPr sz="1800" spc="-10" dirty="0">
                          <a:latin typeface="Calibri"/>
                          <a:cs typeface="Calibri"/>
                        </a:rPr>
                        <a:t>i</a:t>
                      </a:r>
                      <a:r>
                        <a:rPr sz="1800" spc="-5" dirty="0">
                          <a:latin typeface="Calibri"/>
                          <a:cs typeface="Calibri"/>
                        </a:rPr>
                        <a:t>ss  </a:t>
                      </a:r>
                      <a:r>
                        <a:rPr sz="1800" dirty="0">
                          <a:latin typeface="Calibri"/>
                          <a:cs typeface="Calibri"/>
                        </a:rPr>
                        <a:t>Ms.</a:t>
                      </a:r>
                      <a:endParaRPr sz="1800">
                        <a:latin typeface="Calibri"/>
                        <a:cs typeface="Calibri"/>
                      </a:endParaRPr>
                    </a:p>
                  </a:txBody>
                  <a:tcPr marL="0" marR="0" marT="30480" marB="0"/>
                </a:tc>
                <a:tc>
                  <a:txBody>
                    <a:bodyPr/>
                    <a:lstStyle/>
                    <a:p>
                      <a:pPr marL="91440">
                        <a:lnSpc>
                          <a:spcPct val="100000"/>
                        </a:lnSpc>
                        <a:spcBef>
                          <a:spcPts val="240"/>
                        </a:spcBef>
                      </a:pPr>
                      <a:r>
                        <a:rPr sz="1800" dirty="0">
                          <a:latin typeface="Calibri"/>
                          <a:cs typeface="Calibri"/>
                        </a:rPr>
                        <a:t>Mx.</a:t>
                      </a:r>
                      <a:endParaRPr sz="1800">
                        <a:latin typeface="Calibri"/>
                        <a:cs typeface="Calibri"/>
                      </a:endParaRPr>
                    </a:p>
                  </a:txBody>
                  <a:tcPr marL="0" marR="0" marT="30480" marB="0"/>
                </a:tc>
                <a:tc>
                  <a:txBody>
                    <a:bodyPr/>
                    <a:lstStyle/>
                    <a:p>
                      <a:pPr marL="92075" marR="94615">
                        <a:lnSpc>
                          <a:spcPct val="100000"/>
                        </a:lnSpc>
                        <a:spcBef>
                          <a:spcPts val="215"/>
                        </a:spcBef>
                      </a:pPr>
                      <a:r>
                        <a:rPr sz="1800" dirty="0">
                          <a:latin typeface="Yu Gothic"/>
                          <a:cs typeface="Yu Gothic"/>
                        </a:rPr>
                        <a:t>性差をマスキングした敬称。</a:t>
                      </a:r>
                      <a:endParaRPr sz="1800">
                        <a:latin typeface="Yu Gothic"/>
                        <a:cs typeface="Yu Gothic"/>
                      </a:endParaRPr>
                    </a:p>
                    <a:p>
                      <a:pPr marL="92075">
                        <a:lnSpc>
                          <a:spcPct val="100000"/>
                        </a:lnSpc>
                      </a:pPr>
                      <a:r>
                        <a:rPr sz="1800" dirty="0">
                          <a:latin typeface="Yu Gothic"/>
                          <a:cs typeface="Yu Gothic"/>
                        </a:rPr>
                        <a:t>相手が望まない敬称で呼んだことで訴訟になった実例がある。</a:t>
                      </a:r>
                      <a:endParaRPr sz="1800">
                        <a:latin typeface="Yu Gothic"/>
                        <a:cs typeface="Yu Gothic"/>
                      </a:endParaRPr>
                    </a:p>
                  </a:txBody>
                  <a:tcPr marL="0" marR="0" marT="27305" marB="0"/>
                </a:tc>
                <a:extLst>
                  <a:ext uri="{0D108BD9-81ED-4DB2-BD59-A6C34878D82A}">
                    <a16:rowId xmlns:a16="http://schemas.microsoft.com/office/drawing/2014/main" val="876228706"/>
                  </a:ext>
                </a:extLst>
              </a:tr>
              <a:tr h="370840">
                <a:tc>
                  <a:txBody>
                    <a:bodyPr/>
                    <a:lstStyle/>
                    <a:p>
                      <a:pPr marL="90170">
                        <a:lnSpc>
                          <a:spcPct val="100000"/>
                        </a:lnSpc>
                        <a:spcBef>
                          <a:spcPts val="385"/>
                        </a:spcBef>
                      </a:pPr>
                      <a:r>
                        <a:rPr sz="1800" spc="-10" dirty="0">
                          <a:latin typeface="Calibri"/>
                          <a:cs typeface="Calibri"/>
                        </a:rPr>
                        <a:t>foreign</a:t>
                      </a:r>
                      <a:endParaRPr sz="1800">
                        <a:latin typeface="Calibri"/>
                        <a:cs typeface="Calibri"/>
                      </a:endParaRPr>
                    </a:p>
                  </a:txBody>
                  <a:tcPr marL="0" marR="0" marT="48895" marB="0"/>
                </a:tc>
                <a:tc>
                  <a:txBody>
                    <a:bodyPr/>
                    <a:lstStyle/>
                    <a:p>
                      <a:pPr marL="91440">
                        <a:lnSpc>
                          <a:spcPct val="100000"/>
                        </a:lnSpc>
                        <a:spcBef>
                          <a:spcPts val="385"/>
                        </a:spcBef>
                      </a:pPr>
                      <a:r>
                        <a:rPr sz="1800" spc="5" dirty="0">
                          <a:latin typeface="Calibri"/>
                          <a:cs typeface="Calibri"/>
                        </a:rPr>
                        <a:t>e.g.,</a:t>
                      </a:r>
                      <a:r>
                        <a:rPr sz="1800" spc="-45" dirty="0">
                          <a:latin typeface="Calibri"/>
                          <a:cs typeface="Calibri"/>
                        </a:rPr>
                        <a:t> </a:t>
                      </a:r>
                      <a:r>
                        <a:rPr sz="1800" spc="-10" dirty="0">
                          <a:latin typeface="Calibri"/>
                          <a:cs typeface="Calibri"/>
                        </a:rPr>
                        <a:t>foreign </a:t>
                      </a:r>
                      <a:r>
                        <a:rPr sz="1800" spc="-5" dirty="0">
                          <a:latin typeface="Calibri"/>
                          <a:cs typeface="Calibri"/>
                        </a:rPr>
                        <a:t>students</a:t>
                      </a:r>
                      <a:endParaRPr sz="1800">
                        <a:latin typeface="Calibri"/>
                        <a:cs typeface="Calibri"/>
                      </a:endParaRPr>
                    </a:p>
                    <a:p>
                      <a:pPr marL="287655">
                        <a:lnSpc>
                          <a:spcPct val="100000"/>
                        </a:lnSpc>
                      </a:pPr>
                      <a:r>
                        <a:rPr sz="1800" dirty="0">
                          <a:latin typeface="Calibri"/>
                          <a:cs typeface="Calibri"/>
                        </a:rPr>
                        <a:t>→</a:t>
                      </a:r>
                      <a:r>
                        <a:rPr sz="1800" spc="-10" dirty="0">
                          <a:latin typeface="Calibri"/>
                          <a:cs typeface="Calibri"/>
                        </a:rPr>
                        <a:t> international</a:t>
                      </a:r>
                      <a:r>
                        <a:rPr sz="1800" spc="-5" dirty="0">
                          <a:latin typeface="Calibri"/>
                          <a:cs typeface="Calibri"/>
                        </a:rPr>
                        <a:t> students</a:t>
                      </a:r>
                      <a:endParaRPr sz="1800">
                        <a:latin typeface="Calibri"/>
                        <a:cs typeface="Calibri"/>
                      </a:endParaRPr>
                    </a:p>
                  </a:txBody>
                  <a:tcPr marL="0" marR="0" marT="48895" marB="0"/>
                </a:tc>
                <a:tc>
                  <a:txBody>
                    <a:bodyPr/>
                    <a:lstStyle/>
                    <a:p>
                      <a:pPr marL="92075" marR="94615">
                        <a:lnSpc>
                          <a:spcPct val="100000"/>
                        </a:lnSpc>
                        <a:spcBef>
                          <a:spcPts val="360"/>
                        </a:spcBef>
                      </a:pPr>
                      <a:r>
                        <a:rPr sz="1800" dirty="0">
                          <a:latin typeface="Yu Gothic"/>
                          <a:cs typeface="Yu Gothic"/>
                        </a:rPr>
                        <a:t>人を修飾すると排他的なニュアンスを持つ。</a:t>
                      </a:r>
                      <a:endParaRPr sz="1800">
                        <a:latin typeface="Yu Gothic"/>
                        <a:cs typeface="Yu Gothic"/>
                      </a:endParaRPr>
                    </a:p>
                    <a:p>
                      <a:pPr marL="92075" marR="245110">
                        <a:lnSpc>
                          <a:spcPct val="100000"/>
                        </a:lnSpc>
                      </a:pPr>
                      <a:r>
                        <a:rPr sz="1800" dirty="0">
                          <a:latin typeface="Yu Gothic"/>
                          <a:cs typeface="Yu Gothic"/>
                        </a:rPr>
                        <a:t>ただし、無生物の</a:t>
                      </a:r>
                      <a:r>
                        <a:rPr sz="1800" spc="-110" dirty="0">
                          <a:latin typeface="Yu Gothic"/>
                          <a:cs typeface="Yu Gothic"/>
                        </a:rPr>
                        <a:t> </a:t>
                      </a:r>
                      <a:r>
                        <a:rPr sz="1800" i="1" spc="-10" dirty="0">
                          <a:latin typeface="Calibri"/>
                          <a:cs typeface="Calibri"/>
                        </a:rPr>
                        <a:t>foreign</a:t>
                      </a:r>
                      <a:r>
                        <a:rPr sz="1800" i="1" dirty="0">
                          <a:latin typeface="Calibri"/>
                          <a:cs typeface="Calibri"/>
                        </a:rPr>
                        <a:t> </a:t>
                      </a:r>
                      <a:r>
                        <a:rPr sz="1800" i="1" spc="-10" dirty="0">
                          <a:latin typeface="Calibri"/>
                          <a:cs typeface="Calibri"/>
                        </a:rPr>
                        <a:t>minister</a:t>
                      </a:r>
                      <a:r>
                        <a:rPr sz="1800" dirty="0">
                          <a:latin typeface="Yu Gothic"/>
                          <a:cs typeface="Yu Gothic"/>
                        </a:rPr>
                        <a:t>「外務大臣」、</a:t>
                      </a:r>
                      <a:r>
                        <a:rPr sz="1800" i="1" spc="-10" dirty="0">
                          <a:latin typeface="Calibri"/>
                          <a:cs typeface="Calibri"/>
                        </a:rPr>
                        <a:t>foreign </a:t>
                      </a:r>
                      <a:r>
                        <a:rPr sz="1800" i="1" spc="-5" dirty="0">
                          <a:latin typeface="Calibri"/>
                          <a:cs typeface="Calibri"/>
                        </a:rPr>
                        <a:t> </a:t>
                      </a:r>
                      <a:r>
                        <a:rPr sz="1800" i="1" spc="-15" dirty="0">
                          <a:latin typeface="Calibri"/>
                          <a:cs typeface="Calibri"/>
                        </a:rPr>
                        <a:t>exchange</a:t>
                      </a:r>
                      <a:r>
                        <a:rPr sz="1800" spc="-5" dirty="0">
                          <a:latin typeface="Yu Gothic"/>
                          <a:cs typeface="Yu Gothic"/>
                        </a:rPr>
                        <a:t>「外国為替」、</a:t>
                      </a:r>
                      <a:r>
                        <a:rPr sz="1800" i="1" spc="-10" dirty="0">
                          <a:latin typeface="Calibri"/>
                          <a:cs typeface="Calibri"/>
                        </a:rPr>
                        <a:t>foreign</a:t>
                      </a:r>
                      <a:r>
                        <a:rPr sz="1800" i="1" dirty="0">
                          <a:latin typeface="Calibri"/>
                          <a:cs typeface="Calibri"/>
                        </a:rPr>
                        <a:t> reserve</a:t>
                      </a:r>
                      <a:r>
                        <a:rPr sz="1800" spc="-5" dirty="0">
                          <a:latin typeface="Yu Gothic"/>
                          <a:cs typeface="Yu Gothic"/>
                        </a:rPr>
                        <a:t>「外貨準備」などは例 </a:t>
                      </a:r>
                      <a:r>
                        <a:rPr sz="1800" dirty="0">
                          <a:latin typeface="Yu Gothic"/>
                          <a:cs typeface="Yu Gothic"/>
                        </a:rPr>
                        <a:t>外。</a:t>
                      </a:r>
                      <a:endParaRPr sz="1800">
                        <a:latin typeface="Yu Gothic"/>
                        <a:cs typeface="Yu Gothic"/>
                      </a:endParaRPr>
                    </a:p>
                  </a:txBody>
                  <a:tcPr marL="0" marR="0" marB="0"/>
                </a:tc>
                <a:extLst>
                  <a:ext uri="{0D108BD9-81ED-4DB2-BD59-A6C34878D82A}">
                    <a16:rowId xmlns:a16="http://schemas.microsoft.com/office/drawing/2014/main" val="2920621304"/>
                  </a:ext>
                </a:extLst>
              </a:tr>
              <a:tr h="370840">
                <a:tc>
                  <a:txBody>
                    <a:bodyPr/>
                    <a:lstStyle/>
                    <a:p>
                      <a:pPr marL="90170" marR="220979">
                        <a:lnSpc>
                          <a:spcPct val="100000"/>
                        </a:lnSpc>
                        <a:spcBef>
                          <a:spcPts val="185"/>
                        </a:spcBef>
                      </a:pPr>
                      <a:r>
                        <a:rPr sz="1800" spc="-10" dirty="0">
                          <a:latin typeface="Calibri"/>
                          <a:cs typeface="Calibri"/>
                        </a:rPr>
                        <a:t>chairman </a:t>
                      </a:r>
                      <a:r>
                        <a:rPr sz="1800" spc="-5" dirty="0">
                          <a:latin typeface="Calibri"/>
                          <a:cs typeface="Calibri"/>
                        </a:rPr>
                        <a:t> </a:t>
                      </a:r>
                      <a:r>
                        <a:rPr sz="1800" dirty="0">
                          <a:latin typeface="Calibri"/>
                          <a:cs typeface="Calibri"/>
                        </a:rPr>
                        <a:t>anchorman</a:t>
                      </a:r>
                    </a:p>
                  </a:txBody>
                  <a:tcPr marL="0" marR="0" marT="23495" marB="0"/>
                </a:tc>
                <a:tc>
                  <a:txBody>
                    <a:bodyPr/>
                    <a:lstStyle/>
                    <a:p>
                      <a:pPr marL="91440" marR="398145">
                        <a:lnSpc>
                          <a:spcPct val="100000"/>
                        </a:lnSpc>
                        <a:spcBef>
                          <a:spcPts val="185"/>
                        </a:spcBef>
                      </a:pPr>
                      <a:r>
                        <a:rPr sz="1800" spc="-10" dirty="0">
                          <a:latin typeface="Calibri"/>
                          <a:cs typeface="Calibri"/>
                        </a:rPr>
                        <a:t>chairperson</a:t>
                      </a:r>
                      <a:r>
                        <a:rPr sz="1800" spc="30" dirty="0">
                          <a:latin typeface="Calibri"/>
                          <a:cs typeface="Calibri"/>
                        </a:rPr>
                        <a:t> </a:t>
                      </a:r>
                      <a:r>
                        <a:rPr sz="1800" dirty="0">
                          <a:latin typeface="Calibri"/>
                          <a:cs typeface="Calibri"/>
                        </a:rPr>
                        <a:t>→</a:t>
                      </a:r>
                      <a:r>
                        <a:rPr sz="1800" spc="-5" dirty="0">
                          <a:latin typeface="Calibri"/>
                          <a:cs typeface="Calibri"/>
                        </a:rPr>
                        <a:t> </a:t>
                      </a:r>
                      <a:r>
                        <a:rPr sz="1800" spc="-10" dirty="0">
                          <a:latin typeface="Calibri"/>
                          <a:cs typeface="Calibri"/>
                        </a:rPr>
                        <a:t>chair </a:t>
                      </a:r>
                      <a:r>
                        <a:rPr sz="1800" spc="-5" dirty="0">
                          <a:latin typeface="Calibri"/>
                          <a:cs typeface="Calibri"/>
                        </a:rPr>
                        <a:t> anchorperson</a:t>
                      </a:r>
                      <a:r>
                        <a:rPr sz="1800" spc="-15" dirty="0">
                          <a:latin typeface="Calibri"/>
                          <a:cs typeface="Calibri"/>
                        </a:rPr>
                        <a:t> </a:t>
                      </a:r>
                      <a:r>
                        <a:rPr sz="1800" dirty="0">
                          <a:latin typeface="Calibri"/>
                          <a:cs typeface="Calibri"/>
                        </a:rPr>
                        <a:t>→</a:t>
                      </a:r>
                      <a:r>
                        <a:rPr sz="1800" spc="-45" dirty="0">
                          <a:latin typeface="Calibri"/>
                          <a:cs typeface="Calibri"/>
                        </a:rPr>
                        <a:t> </a:t>
                      </a:r>
                      <a:r>
                        <a:rPr sz="1800" dirty="0">
                          <a:latin typeface="Calibri"/>
                          <a:cs typeface="Calibri"/>
                        </a:rPr>
                        <a:t>anchor</a:t>
                      </a:r>
                      <a:endParaRPr sz="1800">
                        <a:latin typeface="Calibri"/>
                        <a:cs typeface="Calibri"/>
                      </a:endParaRPr>
                    </a:p>
                  </a:txBody>
                  <a:tcPr marL="0" marR="0" marT="23495" marB="0"/>
                </a:tc>
                <a:tc>
                  <a:txBody>
                    <a:bodyPr/>
                    <a:lstStyle/>
                    <a:p>
                      <a:pPr marL="92075" marR="326390">
                        <a:lnSpc>
                          <a:spcPct val="100000"/>
                        </a:lnSpc>
                        <a:spcBef>
                          <a:spcPts val="160"/>
                        </a:spcBef>
                      </a:pPr>
                      <a:r>
                        <a:rPr sz="1800" dirty="0">
                          <a:latin typeface="Yu Gothic"/>
                          <a:cs typeface="Yu Gothic"/>
                        </a:rPr>
                        <a:t>接尾辞</a:t>
                      </a:r>
                      <a:r>
                        <a:rPr sz="1800" spc="-110" dirty="0">
                          <a:latin typeface="Yu Gothic"/>
                          <a:cs typeface="Yu Gothic"/>
                        </a:rPr>
                        <a:t> </a:t>
                      </a:r>
                      <a:r>
                        <a:rPr sz="1800" i="1" dirty="0">
                          <a:latin typeface="Calibri"/>
                          <a:cs typeface="Calibri"/>
                        </a:rPr>
                        <a:t>-</a:t>
                      </a:r>
                      <a:r>
                        <a:rPr sz="1800" i="1" spc="-5" dirty="0">
                          <a:latin typeface="Calibri"/>
                          <a:cs typeface="Calibri"/>
                        </a:rPr>
                        <a:t>per</a:t>
                      </a:r>
                      <a:r>
                        <a:rPr sz="1800" i="1" spc="-10" dirty="0">
                          <a:latin typeface="Calibri"/>
                          <a:cs typeface="Calibri"/>
                        </a:rPr>
                        <a:t>s</a:t>
                      </a:r>
                      <a:r>
                        <a:rPr sz="1800" i="1" spc="-5" dirty="0">
                          <a:latin typeface="Calibri"/>
                          <a:cs typeface="Calibri"/>
                        </a:rPr>
                        <a:t>o</a:t>
                      </a:r>
                      <a:r>
                        <a:rPr sz="1800" i="1" dirty="0">
                          <a:latin typeface="Calibri"/>
                          <a:cs typeface="Calibri"/>
                        </a:rPr>
                        <a:t>n</a:t>
                      </a:r>
                      <a:r>
                        <a:rPr sz="1800" i="1" spc="10" dirty="0">
                          <a:latin typeface="Calibri"/>
                          <a:cs typeface="Calibri"/>
                        </a:rPr>
                        <a:t> </a:t>
                      </a:r>
                      <a:r>
                        <a:rPr sz="1800" dirty="0">
                          <a:latin typeface="Yu Gothic"/>
                          <a:cs typeface="Yu Gothic"/>
                        </a:rPr>
                        <a:t>を付けなくても指している内容が自明の場合 は省略されることが多い。</a:t>
                      </a:r>
                    </a:p>
                    <a:p>
                      <a:pPr marL="92075" marR="94615">
                        <a:lnSpc>
                          <a:spcPts val="2140"/>
                        </a:lnSpc>
                        <a:spcBef>
                          <a:spcPts val="35"/>
                        </a:spcBef>
                      </a:pPr>
                      <a:r>
                        <a:rPr sz="1800" dirty="0">
                          <a:latin typeface="MS Gothic"/>
                          <a:cs typeface="MS Gothic"/>
                        </a:rPr>
                        <a:t>※</a:t>
                      </a:r>
                      <a:r>
                        <a:rPr sz="1800" spc="-495" dirty="0">
                          <a:latin typeface="MS Gothic"/>
                          <a:cs typeface="MS Gothic"/>
                        </a:rPr>
                        <a:t> </a:t>
                      </a:r>
                      <a:r>
                        <a:rPr sz="1800" dirty="0">
                          <a:latin typeface="Yu Gothic"/>
                          <a:cs typeface="Yu Gothic"/>
                        </a:rPr>
                        <a:t>余談だが、</a:t>
                      </a:r>
                      <a:r>
                        <a:rPr sz="1800" i="1" dirty="0">
                          <a:latin typeface="Calibri"/>
                          <a:cs typeface="Calibri"/>
                        </a:rPr>
                        <a:t>-</a:t>
                      </a:r>
                      <a:r>
                        <a:rPr sz="1800" i="1" spc="5" dirty="0">
                          <a:latin typeface="Calibri"/>
                          <a:cs typeface="Calibri"/>
                        </a:rPr>
                        <a:t>m</a:t>
                      </a:r>
                      <a:r>
                        <a:rPr sz="1800" i="1" spc="-5" dirty="0">
                          <a:latin typeface="Calibri"/>
                          <a:cs typeface="Calibri"/>
                        </a:rPr>
                        <a:t>a</a:t>
                      </a:r>
                      <a:r>
                        <a:rPr sz="1800" i="1" dirty="0">
                          <a:latin typeface="Calibri"/>
                          <a:cs typeface="Calibri"/>
                        </a:rPr>
                        <a:t>n</a:t>
                      </a:r>
                      <a:r>
                        <a:rPr sz="1800" i="1" spc="10" dirty="0">
                          <a:latin typeface="Calibri"/>
                          <a:cs typeface="Calibri"/>
                        </a:rPr>
                        <a:t> </a:t>
                      </a:r>
                      <a:r>
                        <a:rPr sz="1800" dirty="0">
                          <a:latin typeface="Yu Gothic"/>
                          <a:cs typeface="Yu Gothic"/>
                        </a:rPr>
                        <a:t>という名前の人が改名を認められたケー</a:t>
                      </a:r>
                    </a:p>
                    <a:p>
                      <a:pPr marL="92075" marR="94615">
                        <a:lnSpc>
                          <a:spcPts val="2140"/>
                        </a:lnSpc>
                      </a:pPr>
                      <a:r>
                        <a:rPr sz="1800" spc="-5" dirty="0">
                          <a:latin typeface="Yu Gothic"/>
                          <a:cs typeface="Yu Gothic"/>
                        </a:rPr>
                        <a:t>スがあり。</a:t>
                      </a:r>
                      <a:endParaRPr sz="1800" dirty="0">
                        <a:latin typeface="Yu Gothic"/>
                        <a:cs typeface="Yu Gothic"/>
                      </a:endParaRPr>
                    </a:p>
                  </a:txBody>
                  <a:tcPr marL="0" marR="0" marT="20320" marB="0"/>
                </a:tc>
                <a:extLst>
                  <a:ext uri="{0D108BD9-81ED-4DB2-BD59-A6C34878D82A}">
                    <a16:rowId xmlns:a16="http://schemas.microsoft.com/office/drawing/2014/main" val="1553005017"/>
                  </a:ext>
                </a:extLst>
              </a:tr>
            </a:tbl>
          </a:graphicData>
        </a:graphic>
      </p:graphicFrame>
    </p:spTree>
    <p:extLst>
      <p:ext uri="{BB962C8B-B14F-4D97-AF65-F5344CB8AC3E}">
        <p14:creationId xmlns:p14="http://schemas.microsoft.com/office/powerpoint/2010/main" val="3358183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PC Terms ① -</a:t>
            </a:r>
            <a:r>
              <a:rPr kumimoji="0" lang="ja-JP" altLang="en-US"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社会的性差・生物的性差・多様性</a:t>
            </a:r>
            <a:r>
              <a:rPr kumimoji="0" lang="en-US" altLang="ja-JP" sz="37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5" name="object 3">
            <a:extLst>
              <a:ext uri="{FF2B5EF4-FFF2-40B4-BE49-F238E27FC236}">
                <a16:creationId xmlns:a16="http://schemas.microsoft.com/office/drawing/2014/main" id="{E97DCC85-908C-F3FB-FA07-EF1B07994932}"/>
              </a:ext>
            </a:extLst>
          </p:cNvPr>
          <p:cNvGraphicFramePr>
            <a:graphicFrameLocks noGrp="1"/>
          </p:cNvGraphicFramePr>
          <p:nvPr/>
        </p:nvGraphicFramePr>
        <p:xfrm>
          <a:off x="831850" y="1819275"/>
          <a:ext cx="10514963" cy="3479798"/>
        </p:xfrm>
        <a:graphic>
          <a:graphicData uri="http://schemas.openxmlformats.org/drawingml/2006/table">
            <a:tbl>
              <a:tblPr firstRow="1" bandRow="1">
                <a:tableStyleId>{2D5ABB26-0587-4C30-8999-92F81FD0307C}</a:tableStyleId>
              </a:tblPr>
              <a:tblGrid>
                <a:gridCol w="1374775">
                  <a:extLst>
                    <a:ext uri="{9D8B030D-6E8A-4147-A177-3AD203B41FA5}">
                      <a16:colId xmlns:a16="http://schemas.microsoft.com/office/drawing/2014/main" val="20000"/>
                    </a:ext>
                  </a:extLst>
                </a:gridCol>
                <a:gridCol w="2472054">
                  <a:extLst>
                    <a:ext uri="{9D8B030D-6E8A-4147-A177-3AD203B41FA5}">
                      <a16:colId xmlns:a16="http://schemas.microsoft.com/office/drawing/2014/main" val="20001"/>
                    </a:ext>
                  </a:extLst>
                </a:gridCol>
                <a:gridCol w="6668134">
                  <a:extLst>
                    <a:ext uri="{9D8B030D-6E8A-4147-A177-3AD203B41FA5}">
                      <a16:colId xmlns:a16="http://schemas.microsoft.com/office/drawing/2014/main" val="20002"/>
                    </a:ext>
                  </a:extLst>
                </a:gridCol>
              </a:tblGrid>
              <a:tr h="370839">
                <a:tc>
                  <a:txBody>
                    <a:bodyPr/>
                    <a:lstStyle/>
                    <a:p>
                      <a:pPr marL="91440">
                        <a:lnSpc>
                          <a:spcPct val="100000"/>
                        </a:lnSpc>
                        <a:spcBef>
                          <a:spcPts val="229"/>
                        </a:spcBef>
                      </a:pPr>
                      <a:r>
                        <a:rPr sz="1800" b="1" dirty="0">
                          <a:solidFill>
                            <a:srgbClr val="FFFFFF"/>
                          </a:solidFill>
                          <a:latin typeface="Yu Gothic"/>
                          <a:cs typeface="Yu Gothic"/>
                        </a:rPr>
                        <a:t>元々の表現</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5" dirty="0">
                          <a:solidFill>
                            <a:srgbClr val="FFFFFF"/>
                          </a:solidFill>
                          <a:latin typeface="Calibri"/>
                          <a:cs typeface="Calibri"/>
                        </a:rPr>
                        <a:t>PC</a:t>
                      </a:r>
                      <a:r>
                        <a:rPr sz="1800" b="1" spc="-30" dirty="0">
                          <a:solidFill>
                            <a:srgbClr val="FFFFFF"/>
                          </a:solidFill>
                          <a:latin typeface="Calibri"/>
                          <a:cs typeface="Calibri"/>
                        </a:rPr>
                        <a:t> </a:t>
                      </a:r>
                      <a:r>
                        <a:rPr sz="1800" b="1" dirty="0">
                          <a:solidFill>
                            <a:srgbClr val="FFFFFF"/>
                          </a:solidFill>
                          <a:latin typeface="Yu Gothic"/>
                          <a:cs typeface="Yu Gothic"/>
                        </a:rPr>
                        <a:t>表現</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29"/>
                        </a:spcBef>
                      </a:pPr>
                      <a:r>
                        <a:rPr sz="1800" b="1" dirty="0">
                          <a:solidFill>
                            <a:srgbClr val="FFFFFF"/>
                          </a:solidFill>
                          <a:latin typeface="Yu Gothic"/>
                          <a:cs typeface="Yu Gothic"/>
                        </a:rPr>
                        <a:t>背景・備考</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640080">
                <a:tc>
                  <a:txBody>
                    <a:bodyPr/>
                    <a:lstStyle/>
                    <a:p>
                      <a:pPr marL="91440" marR="624205">
                        <a:lnSpc>
                          <a:spcPct val="100000"/>
                        </a:lnSpc>
                        <a:spcBef>
                          <a:spcPts val="244"/>
                        </a:spcBef>
                      </a:pPr>
                      <a:r>
                        <a:rPr sz="1800" spc="-10" dirty="0">
                          <a:latin typeface="Calibri"/>
                          <a:cs typeface="Calibri"/>
                        </a:rPr>
                        <a:t>actor </a:t>
                      </a:r>
                      <a:r>
                        <a:rPr sz="1800" spc="-5" dirty="0">
                          <a:latin typeface="Calibri"/>
                          <a:cs typeface="Calibri"/>
                        </a:rPr>
                        <a:t> </a:t>
                      </a:r>
                      <a:r>
                        <a:rPr sz="1800" dirty="0">
                          <a:latin typeface="Calibri"/>
                          <a:cs typeface="Calibri"/>
                        </a:rPr>
                        <a:t>ac</a:t>
                      </a:r>
                      <a:r>
                        <a:rPr sz="1800" spc="-10" dirty="0">
                          <a:latin typeface="Calibri"/>
                          <a:cs typeface="Calibri"/>
                        </a:rPr>
                        <a:t>t</a:t>
                      </a:r>
                      <a:r>
                        <a:rPr sz="1800" spc="-30" dirty="0">
                          <a:latin typeface="Calibri"/>
                          <a:cs typeface="Calibri"/>
                        </a:rPr>
                        <a:t>r</a:t>
                      </a:r>
                      <a:r>
                        <a:rPr sz="1800" dirty="0">
                          <a:latin typeface="Calibri"/>
                          <a:cs typeface="Calibri"/>
                        </a:rPr>
                        <a:t>e</a:t>
                      </a:r>
                      <a:r>
                        <a:rPr sz="1800" spc="5" dirty="0">
                          <a:latin typeface="Calibri"/>
                          <a:cs typeface="Calibri"/>
                        </a:rPr>
                        <a:t>s</a:t>
                      </a:r>
                      <a:r>
                        <a:rPr sz="1800" dirty="0">
                          <a:latin typeface="Calibri"/>
                          <a:cs typeface="Calibri"/>
                        </a:rPr>
                        <a:t>s</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4"/>
                        </a:spcBef>
                      </a:pPr>
                      <a:r>
                        <a:rPr sz="1800" spc="-10" dirty="0">
                          <a:latin typeface="Calibri"/>
                          <a:cs typeface="Calibri"/>
                        </a:rPr>
                        <a:t>actor</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rowSpan="3">
                  <a:txBody>
                    <a:bodyPr/>
                    <a:lstStyle/>
                    <a:p>
                      <a:pPr>
                        <a:lnSpc>
                          <a:spcPct val="100000"/>
                        </a:lnSpc>
                      </a:pPr>
                      <a:endParaRPr sz="2000" dirty="0">
                        <a:latin typeface="Times New Roman"/>
                        <a:cs typeface="Times New Roman"/>
                      </a:endParaRPr>
                    </a:p>
                    <a:p>
                      <a:pPr>
                        <a:lnSpc>
                          <a:spcPct val="100000"/>
                        </a:lnSpc>
                      </a:pPr>
                      <a:endParaRPr sz="2000" dirty="0">
                        <a:latin typeface="Times New Roman"/>
                        <a:cs typeface="Times New Roman"/>
                      </a:endParaRPr>
                    </a:p>
                    <a:p>
                      <a:pPr marL="92075">
                        <a:lnSpc>
                          <a:spcPct val="100000"/>
                        </a:lnSpc>
                        <a:spcBef>
                          <a:spcPts val="1739"/>
                        </a:spcBef>
                      </a:pPr>
                      <a:r>
                        <a:rPr sz="1800" dirty="0">
                          <a:latin typeface="Yu Gothic"/>
                          <a:cs typeface="Yu Gothic"/>
                        </a:rPr>
                        <a:t>性差と職業の結びつきを排除している。</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640079">
                <a:tc>
                  <a:txBody>
                    <a:bodyPr/>
                    <a:lstStyle/>
                    <a:p>
                      <a:pPr marL="91440" marR="673100">
                        <a:lnSpc>
                          <a:spcPct val="100000"/>
                        </a:lnSpc>
                        <a:spcBef>
                          <a:spcPts val="245"/>
                        </a:spcBef>
                      </a:pPr>
                      <a:r>
                        <a:rPr sz="1800" spc="-10" dirty="0">
                          <a:latin typeface="Calibri"/>
                          <a:cs typeface="Calibri"/>
                        </a:rPr>
                        <a:t>hero </a:t>
                      </a:r>
                      <a:r>
                        <a:rPr sz="1800" spc="-5" dirty="0">
                          <a:latin typeface="Calibri"/>
                          <a:cs typeface="Calibri"/>
                        </a:rPr>
                        <a:t> h</a:t>
                      </a:r>
                      <a:r>
                        <a:rPr sz="1800" dirty="0">
                          <a:latin typeface="Calibri"/>
                          <a:cs typeface="Calibri"/>
                        </a:rPr>
                        <a:t>e</a:t>
                      </a:r>
                      <a:r>
                        <a:rPr sz="1800" spc="-30" dirty="0">
                          <a:latin typeface="Calibri"/>
                          <a:cs typeface="Calibri"/>
                        </a:rPr>
                        <a:t>r</a:t>
                      </a:r>
                      <a:r>
                        <a:rPr sz="1800" spc="-5" dirty="0">
                          <a:latin typeface="Calibri"/>
                          <a:cs typeface="Calibri"/>
                        </a:rPr>
                        <a:t>o</a:t>
                      </a:r>
                      <a:r>
                        <a:rPr sz="1800" spc="-10" dirty="0">
                          <a:latin typeface="Calibri"/>
                          <a:cs typeface="Calibri"/>
                        </a:rPr>
                        <a:t>i</a:t>
                      </a:r>
                      <a:r>
                        <a:rPr sz="1800" dirty="0">
                          <a:latin typeface="Calibri"/>
                          <a:cs typeface="Calibri"/>
                        </a:rPr>
                        <a:t>n</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spc="-10" dirty="0">
                          <a:latin typeface="Calibri"/>
                          <a:cs typeface="Calibri"/>
                        </a:rPr>
                        <a:t>hero</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2"/>
                  </a:ext>
                </a:extLst>
              </a:tr>
              <a:tr h="640080">
                <a:tc>
                  <a:txBody>
                    <a:bodyPr/>
                    <a:lstStyle/>
                    <a:p>
                      <a:pPr marL="91440">
                        <a:lnSpc>
                          <a:spcPct val="100000"/>
                        </a:lnSpc>
                        <a:spcBef>
                          <a:spcPts val="245"/>
                        </a:spcBef>
                      </a:pPr>
                      <a:r>
                        <a:rPr sz="1800" spc="-10" dirty="0">
                          <a:latin typeface="Calibri"/>
                          <a:cs typeface="Calibri"/>
                        </a:rPr>
                        <a:t>waitress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45"/>
                        </a:spcBef>
                      </a:pPr>
                      <a:r>
                        <a:rPr sz="1800" spc="-10" dirty="0">
                          <a:latin typeface="Calibri"/>
                          <a:cs typeface="Calibri"/>
                        </a:rPr>
                        <a:t>waitperson, </a:t>
                      </a:r>
                      <a:r>
                        <a:rPr sz="1800" spc="-15" dirty="0">
                          <a:latin typeface="Calibri"/>
                          <a:cs typeface="Calibri"/>
                        </a:rPr>
                        <a:t>waitron</a:t>
                      </a:r>
                      <a:endParaRPr sz="1800">
                        <a:latin typeface="Calibri"/>
                        <a:cs typeface="Calibri"/>
                      </a:endParaRPr>
                    </a:p>
                    <a:p>
                      <a:pPr marL="91440">
                        <a:lnSpc>
                          <a:spcPct val="100000"/>
                        </a:lnSpc>
                      </a:pPr>
                      <a:r>
                        <a:rPr sz="1800" dirty="0">
                          <a:latin typeface="Calibri"/>
                          <a:cs typeface="Calibri"/>
                        </a:rPr>
                        <a:t>→</a:t>
                      </a:r>
                      <a:r>
                        <a:rPr sz="1800" spc="-35" dirty="0">
                          <a:latin typeface="Calibri"/>
                          <a:cs typeface="Calibri"/>
                        </a:rPr>
                        <a:t> </a:t>
                      </a:r>
                      <a:r>
                        <a:rPr sz="1800" spc="-15" dirty="0">
                          <a:latin typeface="Calibri"/>
                          <a:cs typeface="Calibri"/>
                        </a:rPr>
                        <a:t>waitstaff</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1188720">
                <a:tc>
                  <a:txBody>
                    <a:bodyPr/>
                    <a:lstStyle/>
                    <a:p>
                      <a:pPr marL="91440">
                        <a:lnSpc>
                          <a:spcPct val="100000"/>
                        </a:lnSpc>
                        <a:spcBef>
                          <a:spcPts val="245"/>
                        </a:spcBef>
                      </a:pPr>
                      <a:r>
                        <a:rPr sz="1800" spc="-10" dirty="0">
                          <a:latin typeface="Calibri"/>
                          <a:cs typeface="Calibri"/>
                        </a:rPr>
                        <a:t>coed</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45"/>
                        </a:spcBef>
                      </a:pPr>
                      <a:r>
                        <a:rPr sz="1800" spc="-5" dirty="0">
                          <a:latin typeface="Calibri"/>
                          <a:cs typeface="Calibri"/>
                        </a:rPr>
                        <a:t>student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25"/>
                        </a:spcBef>
                      </a:pPr>
                      <a:r>
                        <a:rPr sz="1800" i="1" spc="-10" dirty="0">
                          <a:latin typeface="Calibri"/>
                          <a:cs typeface="Calibri"/>
                        </a:rPr>
                        <a:t>coeducation </a:t>
                      </a:r>
                      <a:r>
                        <a:rPr sz="1800" dirty="0">
                          <a:latin typeface="Yu Gothic"/>
                          <a:cs typeface="Yu Gothic"/>
                        </a:rPr>
                        <a:t>の略語で、「共学校の女子生徒」のこと。</a:t>
                      </a:r>
                    </a:p>
                    <a:p>
                      <a:pPr marL="92075">
                        <a:lnSpc>
                          <a:spcPct val="100000"/>
                        </a:lnSpc>
                      </a:pPr>
                      <a:r>
                        <a:rPr sz="1800" dirty="0">
                          <a:latin typeface="Yu Gothic"/>
                          <a:cs typeface="Yu Gothic"/>
                        </a:rPr>
                        <a:t>接頭辞</a:t>
                      </a:r>
                      <a:r>
                        <a:rPr sz="1800" spc="-110" dirty="0">
                          <a:latin typeface="Yu Gothic"/>
                          <a:cs typeface="Yu Gothic"/>
                        </a:rPr>
                        <a:t> </a:t>
                      </a:r>
                      <a:r>
                        <a:rPr sz="1800" i="1" spc="-20" dirty="0">
                          <a:latin typeface="Calibri"/>
                          <a:cs typeface="Calibri"/>
                        </a:rPr>
                        <a:t>c</a:t>
                      </a:r>
                      <a:r>
                        <a:rPr sz="1800" i="1" dirty="0">
                          <a:latin typeface="Calibri"/>
                          <a:cs typeface="Calibri"/>
                        </a:rPr>
                        <a:t>o-</a:t>
                      </a:r>
                      <a:r>
                        <a:rPr sz="1800" i="1" spc="10" dirty="0">
                          <a:latin typeface="Calibri"/>
                          <a:cs typeface="Calibri"/>
                        </a:rPr>
                        <a:t> </a:t>
                      </a:r>
                      <a:r>
                        <a:rPr sz="1800" dirty="0">
                          <a:latin typeface="Yu Gothic"/>
                          <a:cs typeface="Yu Gothic"/>
                        </a:rPr>
                        <a:t>から分かるように「男子学生と一緒に教育を受け</a:t>
                      </a:r>
                    </a:p>
                    <a:p>
                      <a:pPr marL="92075" marR="167640">
                        <a:lnSpc>
                          <a:spcPct val="100000"/>
                        </a:lnSpc>
                      </a:pPr>
                      <a:r>
                        <a:rPr sz="1800" dirty="0">
                          <a:latin typeface="Yu Gothic"/>
                          <a:cs typeface="Yu Gothic"/>
                        </a:rPr>
                        <a:t>る」という、あたかも女性が男性に従属する存在であるかのよ うな意味合いがある。</a:t>
                      </a: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78891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3. PC Terms ② -</a:t>
            </a:r>
            <a:r>
              <a:rPr lang="ja-JP" altLang="en-US" b="1" dirty="0">
                <a:latin typeface="Calibri (Headings)"/>
              </a:rPr>
              <a:t>社会運動</a:t>
            </a:r>
            <a:r>
              <a:rPr lang="en-US" altLang="ja-JP"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PC Terms ② -</a:t>
            </a:r>
            <a:r>
              <a:rPr lang="ja-JP" altLang="en-US" b="1" dirty="0">
                <a:latin typeface="Calibri (Headings)"/>
              </a:rPr>
              <a:t>社会運動</a:t>
            </a:r>
            <a:r>
              <a:rPr lang="en-US" altLang="ja-JP"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Table 4">
            <a:extLst>
              <a:ext uri="{FF2B5EF4-FFF2-40B4-BE49-F238E27FC236}">
                <a16:creationId xmlns:a16="http://schemas.microsoft.com/office/drawing/2014/main" id="{9A0D52D5-7E17-75EF-5D79-6CBD3C738718}"/>
              </a:ext>
            </a:extLst>
          </p:cNvPr>
          <p:cNvGraphicFramePr>
            <a:graphicFrameLocks noGrp="1"/>
          </p:cNvGraphicFramePr>
          <p:nvPr>
            <p:extLst>
              <p:ext uri="{D42A27DB-BD31-4B8C-83A1-F6EECF244321}">
                <p14:modId xmlns:p14="http://schemas.microsoft.com/office/powerpoint/2010/main" val="1408185927"/>
              </p:ext>
            </p:extLst>
          </p:nvPr>
        </p:nvGraphicFramePr>
        <p:xfrm>
          <a:off x="819150" y="1819275"/>
          <a:ext cx="10515600" cy="2887345"/>
        </p:xfrm>
        <a:graphic>
          <a:graphicData uri="http://schemas.openxmlformats.org/drawingml/2006/table">
            <a:tbl>
              <a:tblPr firstRow="1" bandRow="1">
                <a:tableStyleId>{5C22544A-7EE6-4342-B048-85BDC9FD1C3A}</a:tableStyleId>
              </a:tblPr>
              <a:tblGrid>
                <a:gridCol w="2301555">
                  <a:extLst>
                    <a:ext uri="{9D8B030D-6E8A-4147-A177-3AD203B41FA5}">
                      <a16:colId xmlns:a16="http://schemas.microsoft.com/office/drawing/2014/main" val="3685616285"/>
                    </a:ext>
                  </a:extLst>
                </a:gridCol>
                <a:gridCol w="3972187">
                  <a:extLst>
                    <a:ext uri="{9D8B030D-6E8A-4147-A177-3AD203B41FA5}">
                      <a16:colId xmlns:a16="http://schemas.microsoft.com/office/drawing/2014/main" val="2867544042"/>
                    </a:ext>
                  </a:extLst>
                </a:gridCol>
                <a:gridCol w="4241858">
                  <a:extLst>
                    <a:ext uri="{9D8B030D-6E8A-4147-A177-3AD203B41FA5}">
                      <a16:colId xmlns:a16="http://schemas.microsoft.com/office/drawing/2014/main" val="1322531957"/>
                    </a:ext>
                  </a:extLst>
                </a:gridCol>
              </a:tblGrid>
              <a:tr h="370840">
                <a:tc>
                  <a:txBody>
                    <a:bodyPr/>
                    <a:lstStyle/>
                    <a:p>
                      <a:pPr marL="91440">
                        <a:lnSpc>
                          <a:spcPct val="100000"/>
                        </a:lnSpc>
                        <a:spcBef>
                          <a:spcPts val="229"/>
                        </a:spcBef>
                      </a:pPr>
                      <a:r>
                        <a:rPr sz="1800" b="1" dirty="0">
                          <a:solidFill>
                            <a:srgbClr val="FFFFFF"/>
                          </a:solidFill>
                          <a:latin typeface="Yu Gothic"/>
                          <a:cs typeface="Yu Gothic"/>
                        </a:rPr>
                        <a:t>元々の表現</a:t>
                      </a:r>
                      <a:endParaRPr sz="1800" dirty="0">
                        <a:latin typeface="Yu Gothic"/>
                        <a:cs typeface="Yu Gothic"/>
                      </a:endParaRPr>
                    </a:p>
                  </a:txBody>
                  <a:tcPr marL="0" marR="0" marT="29209" marB="0"/>
                </a:tc>
                <a:tc>
                  <a:txBody>
                    <a:bodyPr/>
                    <a:lstStyle/>
                    <a:p>
                      <a:pPr marL="91440">
                        <a:lnSpc>
                          <a:spcPct val="100000"/>
                        </a:lnSpc>
                        <a:spcBef>
                          <a:spcPts val="229"/>
                        </a:spcBef>
                      </a:pPr>
                      <a:r>
                        <a:rPr sz="1800" b="1" spc="-5" dirty="0">
                          <a:solidFill>
                            <a:srgbClr val="FFFFFF"/>
                          </a:solidFill>
                          <a:latin typeface="Calibri"/>
                          <a:cs typeface="Calibri"/>
                        </a:rPr>
                        <a:t>PC</a:t>
                      </a:r>
                      <a:r>
                        <a:rPr sz="1800" b="1" spc="-30" dirty="0">
                          <a:solidFill>
                            <a:srgbClr val="FFFFFF"/>
                          </a:solidFill>
                          <a:latin typeface="Calibri"/>
                          <a:cs typeface="Calibri"/>
                        </a:rPr>
                        <a:t> </a:t>
                      </a:r>
                      <a:r>
                        <a:rPr sz="1800" b="1" dirty="0">
                          <a:solidFill>
                            <a:srgbClr val="FFFFFF"/>
                          </a:solidFill>
                          <a:latin typeface="Yu Gothic"/>
                          <a:cs typeface="Yu Gothic"/>
                        </a:rPr>
                        <a:t>表現</a:t>
                      </a:r>
                      <a:endParaRPr sz="1800">
                        <a:latin typeface="Yu Gothic"/>
                        <a:cs typeface="Yu Gothic"/>
                      </a:endParaRPr>
                    </a:p>
                  </a:txBody>
                  <a:tcPr marL="0" marR="0" marT="29209" marB="0"/>
                </a:tc>
                <a:tc>
                  <a:txBody>
                    <a:bodyPr/>
                    <a:lstStyle/>
                    <a:p>
                      <a:pPr marL="92075">
                        <a:lnSpc>
                          <a:spcPct val="100000"/>
                        </a:lnSpc>
                        <a:spcBef>
                          <a:spcPts val="229"/>
                        </a:spcBef>
                      </a:pPr>
                      <a:r>
                        <a:rPr sz="1800" b="1" dirty="0">
                          <a:solidFill>
                            <a:srgbClr val="FFFFFF"/>
                          </a:solidFill>
                          <a:latin typeface="Yu Gothic"/>
                          <a:cs typeface="Yu Gothic"/>
                        </a:rPr>
                        <a:t>背景・備考</a:t>
                      </a:r>
                      <a:endParaRPr sz="1800">
                        <a:latin typeface="Yu Gothic"/>
                        <a:cs typeface="Yu Gothic"/>
                      </a:endParaRPr>
                    </a:p>
                  </a:txBody>
                  <a:tcPr marL="0" marR="0" marT="29209" marB="0"/>
                </a:tc>
                <a:extLst>
                  <a:ext uri="{0D108BD9-81ED-4DB2-BD59-A6C34878D82A}">
                    <a16:rowId xmlns:a16="http://schemas.microsoft.com/office/drawing/2014/main" val="362898460"/>
                  </a:ext>
                </a:extLst>
              </a:tr>
              <a:tr h="370840">
                <a:tc>
                  <a:txBody>
                    <a:bodyPr/>
                    <a:lstStyle/>
                    <a:p>
                      <a:pPr>
                        <a:lnSpc>
                          <a:spcPct val="100000"/>
                        </a:lnSpc>
                        <a:spcBef>
                          <a:spcPts val="55"/>
                        </a:spcBef>
                      </a:pPr>
                      <a:endParaRPr sz="1950">
                        <a:latin typeface="Times New Roman"/>
                        <a:cs typeface="Times New Roman"/>
                      </a:endParaRPr>
                    </a:p>
                    <a:p>
                      <a:pPr marL="63500">
                        <a:lnSpc>
                          <a:spcPct val="100000"/>
                        </a:lnSpc>
                      </a:pPr>
                      <a:r>
                        <a:rPr sz="1800" dirty="0">
                          <a:latin typeface="Calibri"/>
                          <a:cs typeface="Calibri"/>
                        </a:rPr>
                        <a:t>global</a:t>
                      </a:r>
                      <a:r>
                        <a:rPr sz="1800" spc="-30" dirty="0">
                          <a:latin typeface="Calibri"/>
                          <a:cs typeface="Calibri"/>
                        </a:rPr>
                        <a:t> </a:t>
                      </a:r>
                      <a:r>
                        <a:rPr sz="1800" spc="-10" dirty="0">
                          <a:latin typeface="Calibri"/>
                          <a:cs typeface="Calibri"/>
                        </a:rPr>
                        <a:t>warming</a:t>
                      </a:r>
                      <a:endParaRPr sz="1800">
                        <a:latin typeface="Calibri"/>
                        <a:cs typeface="Calibri"/>
                      </a:endParaRPr>
                    </a:p>
                  </a:txBody>
                  <a:tcPr marL="0" marR="0" marT="6985" marB="0"/>
                </a:tc>
                <a:tc>
                  <a:txBody>
                    <a:bodyPr/>
                    <a:lstStyle/>
                    <a:p>
                      <a:pPr>
                        <a:lnSpc>
                          <a:spcPct val="100000"/>
                        </a:lnSpc>
                        <a:spcBef>
                          <a:spcPts val="55"/>
                        </a:spcBef>
                      </a:pPr>
                      <a:endParaRPr sz="1950">
                        <a:latin typeface="Times New Roman"/>
                        <a:cs typeface="Times New Roman"/>
                      </a:endParaRPr>
                    </a:p>
                    <a:p>
                      <a:pPr marL="63500">
                        <a:lnSpc>
                          <a:spcPct val="100000"/>
                        </a:lnSpc>
                      </a:pPr>
                      <a:r>
                        <a:rPr sz="1800" spc="-10" dirty="0">
                          <a:latin typeface="Calibri"/>
                          <a:cs typeface="Calibri"/>
                        </a:rPr>
                        <a:t>climate</a:t>
                      </a:r>
                      <a:r>
                        <a:rPr sz="1800" spc="-30" dirty="0">
                          <a:latin typeface="Calibri"/>
                          <a:cs typeface="Calibri"/>
                        </a:rPr>
                        <a:t> </a:t>
                      </a:r>
                      <a:r>
                        <a:rPr sz="1800" spc="-5" dirty="0">
                          <a:latin typeface="Calibri"/>
                          <a:cs typeface="Calibri"/>
                        </a:rPr>
                        <a:t>change</a:t>
                      </a:r>
                      <a:endParaRPr sz="1800">
                        <a:latin typeface="Calibri"/>
                        <a:cs typeface="Calibri"/>
                      </a:endParaRPr>
                    </a:p>
                  </a:txBody>
                  <a:tcPr marL="0" marR="0" marT="6985" marB="0"/>
                </a:tc>
                <a:tc>
                  <a:txBody>
                    <a:bodyPr/>
                    <a:lstStyle/>
                    <a:p>
                      <a:pPr marL="64135" marR="45720">
                        <a:lnSpc>
                          <a:spcPct val="100000"/>
                        </a:lnSpc>
                        <a:spcBef>
                          <a:spcPts val="115"/>
                        </a:spcBef>
                      </a:pPr>
                      <a:r>
                        <a:rPr sz="1800" dirty="0">
                          <a:latin typeface="Yu Gothic"/>
                          <a:cs typeface="Yu Gothic"/>
                        </a:rPr>
                        <a:t>地球の気温上昇は人間の仕業ではなく、 </a:t>
                      </a:r>
                      <a:r>
                        <a:rPr sz="1800" spc="-5" dirty="0">
                          <a:latin typeface="Yu Gothic"/>
                          <a:cs typeface="Yu Gothic"/>
                        </a:rPr>
                        <a:t>自然現象だと主張する政治的な力が働 </a:t>
                      </a:r>
                      <a:r>
                        <a:rPr sz="1800" dirty="0">
                          <a:latin typeface="Yu Gothic"/>
                          <a:cs typeface="Yu Gothic"/>
                        </a:rPr>
                        <a:t> いている。</a:t>
                      </a:r>
                      <a:endParaRPr sz="1800">
                        <a:latin typeface="Yu Gothic"/>
                        <a:cs typeface="Yu Gothic"/>
                      </a:endParaRPr>
                    </a:p>
                  </a:txBody>
                  <a:tcPr marL="0" marR="0" marT="14605" marB="0"/>
                </a:tc>
                <a:extLst>
                  <a:ext uri="{0D108BD9-81ED-4DB2-BD59-A6C34878D82A}">
                    <a16:rowId xmlns:a16="http://schemas.microsoft.com/office/drawing/2014/main" val="227901958"/>
                  </a:ext>
                </a:extLst>
              </a:tr>
              <a:tr h="370840">
                <a:tc>
                  <a:txBody>
                    <a:bodyPr/>
                    <a:lstStyle/>
                    <a:p>
                      <a:pPr>
                        <a:lnSpc>
                          <a:spcPct val="100000"/>
                        </a:lnSpc>
                      </a:pPr>
                      <a:endParaRPr sz="1800">
                        <a:latin typeface="Times New Roman"/>
                        <a:cs typeface="Times New Roman"/>
                      </a:endParaRPr>
                    </a:p>
                    <a:p>
                      <a:pPr marL="63500">
                        <a:lnSpc>
                          <a:spcPct val="100000"/>
                        </a:lnSpc>
                        <a:spcBef>
                          <a:spcPts val="1325"/>
                        </a:spcBef>
                      </a:pPr>
                      <a:r>
                        <a:rPr sz="1800" spc="-10" dirty="0">
                          <a:latin typeface="Calibri"/>
                          <a:cs typeface="Calibri"/>
                        </a:rPr>
                        <a:t>slow</a:t>
                      </a:r>
                      <a:r>
                        <a:rPr sz="1800" spc="-25" dirty="0">
                          <a:latin typeface="Calibri"/>
                          <a:cs typeface="Calibri"/>
                        </a:rPr>
                        <a:t> </a:t>
                      </a:r>
                      <a:r>
                        <a:rPr sz="1800" spc="-10" dirty="0">
                          <a:latin typeface="Calibri"/>
                          <a:cs typeface="Calibri"/>
                        </a:rPr>
                        <a:t>children</a:t>
                      </a:r>
                      <a:endParaRPr sz="1800">
                        <a:latin typeface="Calibri"/>
                        <a:cs typeface="Calibri"/>
                      </a:endParaRPr>
                    </a:p>
                  </a:txBody>
                  <a:tcPr marL="0" marR="0" marT="0" marB="0"/>
                </a:tc>
                <a:tc>
                  <a:txBody>
                    <a:bodyPr/>
                    <a:lstStyle/>
                    <a:p>
                      <a:pPr>
                        <a:lnSpc>
                          <a:spcPct val="100000"/>
                        </a:lnSpc>
                      </a:pPr>
                      <a:endParaRPr sz="1800">
                        <a:latin typeface="Times New Roman"/>
                        <a:cs typeface="Times New Roman"/>
                      </a:endParaRPr>
                    </a:p>
                    <a:p>
                      <a:pPr marL="63500">
                        <a:lnSpc>
                          <a:spcPct val="100000"/>
                        </a:lnSpc>
                        <a:spcBef>
                          <a:spcPts val="1325"/>
                        </a:spcBef>
                      </a:pPr>
                      <a:r>
                        <a:rPr sz="1800" spc="-10" dirty="0">
                          <a:latin typeface="Calibri"/>
                          <a:cs typeface="Calibri"/>
                        </a:rPr>
                        <a:t>slow</a:t>
                      </a:r>
                      <a:r>
                        <a:rPr sz="1800" spc="-25" dirty="0">
                          <a:latin typeface="Calibri"/>
                          <a:cs typeface="Calibri"/>
                        </a:rPr>
                        <a:t> </a:t>
                      </a:r>
                      <a:r>
                        <a:rPr sz="1800" spc="-5" dirty="0">
                          <a:latin typeface="Calibri"/>
                          <a:cs typeface="Calibri"/>
                        </a:rPr>
                        <a:t>down</a:t>
                      </a:r>
                      <a:endParaRPr sz="1800">
                        <a:latin typeface="Calibri"/>
                        <a:cs typeface="Calibri"/>
                      </a:endParaRPr>
                    </a:p>
                  </a:txBody>
                  <a:tcPr marL="0" marR="0" marT="0" marB="0"/>
                </a:tc>
                <a:tc>
                  <a:txBody>
                    <a:bodyPr/>
                    <a:lstStyle/>
                    <a:p>
                      <a:pPr marL="64135">
                        <a:lnSpc>
                          <a:spcPct val="100000"/>
                        </a:lnSpc>
                        <a:spcBef>
                          <a:spcPts val="125"/>
                        </a:spcBef>
                      </a:pPr>
                      <a:r>
                        <a:rPr sz="1800" dirty="0">
                          <a:latin typeface="Yu Gothic"/>
                          <a:cs typeface="Yu Gothic"/>
                        </a:rPr>
                        <a:t>道路標識で「子どもが通るので徐行せ</a:t>
                      </a:r>
                      <a:endParaRPr sz="1800">
                        <a:latin typeface="Yu Gothic"/>
                        <a:cs typeface="Yu Gothic"/>
                      </a:endParaRPr>
                    </a:p>
                    <a:p>
                      <a:pPr marL="64135">
                        <a:lnSpc>
                          <a:spcPct val="100000"/>
                        </a:lnSpc>
                      </a:pPr>
                      <a:r>
                        <a:rPr sz="1800" spc="-5" dirty="0">
                          <a:latin typeface="Yu Gothic"/>
                          <a:cs typeface="Yu Gothic"/>
                        </a:rPr>
                        <a:t>よ」の意味。</a:t>
                      </a:r>
                      <a:endParaRPr sz="1800">
                        <a:latin typeface="Yu Gothic"/>
                        <a:cs typeface="Yu Gothic"/>
                      </a:endParaRPr>
                    </a:p>
                    <a:p>
                      <a:pPr marL="64135" marR="258445">
                        <a:lnSpc>
                          <a:spcPct val="100000"/>
                        </a:lnSpc>
                        <a:spcBef>
                          <a:spcPts val="5"/>
                        </a:spcBef>
                      </a:pPr>
                      <a:r>
                        <a:rPr sz="1800" i="1" spc="-10" dirty="0">
                          <a:latin typeface="Calibri"/>
                          <a:cs typeface="Calibri"/>
                        </a:rPr>
                        <a:t>slow</a:t>
                      </a:r>
                      <a:r>
                        <a:rPr sz="1800" i="1" spc="-70" dirty="0">
                          <a:latin typeface="Calibri"/>
                          <a:cs typeface="Calibri"/>
                        </a:rPr>
                        <a:t> </a:t>
                      </a:r>
                      <a:r>
                        <a:rPr sz="1800" dirty="0">
                          <a:latin typeface="Yu Gothic"/>
                          <a:cs typeface="Yu Gothic"/>
                        </a:rPr>
                        <a:t>の形容詞には「のろまな」という 侮蔑的な意味があるため是正された。</a:t>
                      </a:r>
                      <a:endParaRPr sz="1800">
                        <a:latin typeface="Yu Gothic"/>
                        <a:cs typeface="Yu Gothic"/>
                      </a:endParaRPr>
                    </a:p>
                  </a:txBody>
                  <a:tcPr marL="0" marR="0" marT="15875" marB="0"/>
                </a:tc>
                <a:extLst>
                  <a:ext uri="{0D108BD9-81ED-4DB2-BD59-A6C34878D82A}">
                    <a16:rowId xmlns:a16="http://schemas.microsoft.com/office/drawing/2014/main" val="2432003820"/>
                  </a:ext>
                </a:extLst>
              </a:tr>
              <a:tr h="370840">
                <a:tc>
                  <a:txBody>
                    <a:bodyPr/>
                    <a:lstStyle/>
                    <a:p>
                      <a:pPr marL="63500">
                        <a:lnSpc>
                          <a:spcPct val="100000"/>
                        </a:lnSpc>
                        <a:spcBef>
                          <a:spcPts val="135"/>
                        </a:spcBef>
                      </a:pPr>
                      <a:r>
                        <a:rPr sz="1800" dirty="0">
                          <a:latin typeface="Calibri"/>
                          <a:cs typeface="Calibri"/>
                        </a:rPr>
                        <a:t>the</a:t>
                      </a:r>
                      <a:r>
                        <a:rPr sz="1800" spc="-25" dirty="0">
                          <a:latin typeface="Calibri"/>
                          <a:cs typeface="Calibri"/>
                        </a:rPr>
                        <a:t> </a:t>
                      </a:r>
                      <a:r>
                        <a:rPr sz="1800" spc="-5" dirty="0">
                          <a:latin typeface="Calibri"/>
                          <a:cs typeface="Calibri"/>
                        </a:rPr>
                        <a:t>disabled</a:t>
                      </a:r>
                      <a:endParaRPr sz="1800" dirty="0">
                        <a:latin typeface="Calibri"/>
                        <a:cs typeface="Calibri"/>
                      </a:endParaRPr>
                    </a:p>
                    <a:p>
                      <a:pPr marL="63500">
                        <a:lnSpc>
                          <a:spcPct val="100000"/>
                        </a:lnSpc>
                      </a:pPr>
                      <a:r>
                        <a:rPr sz="1800" dirty="0">
                          <a:latin typeface="Calibri"/>
                          <a:cs typeface="Calibri"/>
                        </a:rPr>
                        <a:t>the</a:t>
                      </a:r>
                      <a:r>
                        <a:rPr sz="1800" spc="-25" dirty="0">
                          <a:latin typeface="Calibri"/>
                          <a:cs typeface="Calibri"/>
                        </a:rPr>
                        <a:t> </a:t>
                      </a:r>
                      <a:r>
                        <a:rPr sz="1800" spc="-5" dirty="0">
                          <a:latin typeface="Calibri"/>
                          <a:cs typeface="Calibri"/>
                        </a:rPr>
                        <a:t>handicapped</a:t>
                      </a:r>
                      <a:endParaRPr sz="1800" dirty="0">
                        <a:latin typeface="Calibri"/>
                        <a:cs typeface="Calibri"/>
                      </a:endParaRPr>
                    </a:p>
                  </a:txBody>
                  <a:tcPr marL="0" marR="0" marT="17145" marB="0"/>
                </a:tc>
                <a:tc>
                  <a:txBody>
                    <a:bodyPr/>
                    <a:lstStyle/>
                    <a:p>
                      <a:pPr marL="63500">
                        <a:lnSpc>
                          <a:spcPct val="100000"/>
                        </a:lnSpc>
                        <a:spcBef>
                          <a:spcPts val="1195"/>
                        </a:spcBef>
                      </a:pPr>
                      <a:r>
                        <a:rPr sz="1800" dirty="0">
                          <a:latin typeface="Yu Gothic"/>
                          <a:cs typeface="Yu Gothic"/>
                        </a:rPr>
                        <a:t>代替表現未定</a:t>
                      </a:r>
                      <a:endParaRPr sz="1800">
                        <a:latin typeface="Yu Gothic"/>
                        <a:cs typeface="Yu Gothic"/>
                      </a:endParaRPr>
                    </a:p>
                  </a:txBody>
                  <a:tcPr marL="0" marR="0" marT="151765" marB="0"/>
                </a:tc>
                <a:tc>
                  <a:txBody>
                    <a:bodyPr/>
                    <a:lstStyle/>
                    <a:p>
                      <a:pPr marL="64135">
                        <a:lnSpc>
                          <a:spcPct val="100000"/>
                        </a:lnSpc>
                        <a:spcBef>
                          <a:spcPts val="110"/>
                        </a:spcBef>
                      </a:pPr>
                      <a:r>
                        <a:rPr sz="1800" spc="-5" dirty="0">
                          <a:latin typeface="Yu Gothic"/>
                          <a:cs typeface="Yu Gothic"/>
                        </a:rPr>
                        <a:t>しょうがい者の政治的文脈での適切な</a:t>
                      </a:r>
                      <a:endParaRPr sz="1800" dirty="0">
                        <a:latin typeface="Yu Gothic"/>
                        <a:cs typeface="Yu Gothic"/>
                      </a:endParaRPr>
                    </a:p>
                    <a:p>
                      <a:pPr marL="64135">
                        <a:lnSpc>
                          <a:spcPct val="100000"/>
                        </a:lnSpc>
                        <a:spcBef>
                          <a:spcPts val="5"/>
                        </a:spcBef>
                      </a:pPr>
                      <a:r>
                        <a:rPr sz="1800" dirty="0">
                          <a:latin typeface="Yu Gothic"/>
                          <a:cs typeface="Yu Gothic"/>
                        </a:rPr>
                        <a:t>呼称は未だ議論中。</a:t>
                      </a:r>
                    </a:p>
                  </a:txBody>
                  <a:tcPr marL="0" marR="0" marT="13970" marB="0"/>
                </a:tc>
                <a:extLst>
                  <a:ext uri="{0D108BD9-81ED-4DB2-BD59-A6C34878D82A}">
                    <a16:rowId xmlns:a16="http://schemas.microsoft.com/office/drawing/2014/main" val="574882141"/>
                  </a:ext>
                </a:extLst>
              </a:tr>
            </a:tbl>
          </a:graphicData>
        </a:graphic>
      </p:graphicFrame>
    </p:spTree>
    <p:extLst>
      <p:ext uri="{BB962C8B-B14F-4D97-AF65-F5344CB8AC3E}">
        <p14:creationId xmlns:p14="http://schemas.microsoft.com/office/powerpoint/2010/main" val="2302870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PC Terms ② -</a:t>
            </a:r>
            <a:r>
              <a:rPr lang="ja-JP" altLang="en-US" b="1" dirty="0">
                <a:latin typeface="Calibri (Headings)"/>
              </a:rPr>
              <a:t>社会運動</a:t>
            </a:r>
            <a:r>
              <a:rPr lang="en-US" altLang="ja-JP"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61AF466B-43ED-F92A-D72A-010AF1A3B6B5}"/>
              </a:ext>
            </a:extLst>
          </p:cNvPr>
          <p:cNvGraphicFramePr>
            <a:graphicFrameLocks noGrp="1"/>
          </p:cNvGraphicFramePr>
          <p:nvPr>
            <p:extLst>
              <p:ext uri="{D42A27DB-BD31-4B8C-83A1-F6EECF244321}">
                <p14:modId xmlns:p14="http://schemas.microsoft.com/office/powerpoint/2010/main" val="4237062002"/>
              </p:ext>
            </p:extLst>
          </p:nvPr>
        </p:nvGraphicFramePr>
        <p:xfrm>
          <a:off x="819150" y="1819275"/>
          <a:ext cx="10578465" cy="3888104"/>
        </p:xfrm>
        <a:graphic>
          <a:graphicData uri="http://schemas.openxmlformats.org/drawingml/2006/table">
            <a:tbl>
              <a:tblPr firstRow="1" bandRow="1">
                <a:tableStyleId>{5C22544A-7EE6-4342-B048-85BDC9FD1C3A}</a:tableStyleId>
              </a:tblPr>
              <a:tblGrid>
                <a:gridCol w="2083441">
                  <a:extLst>
                    <a:ext uri="{9D8B030D-6E8A-4147-A177-3AD203B41FA5}">
                      <a16:colId xmlns:a16="http://schemas.microsoft.com/office/drawing/2014/main" val="1159070703"/>
                    </a:ext>
                  </a:extLst>
                </a:gridCol>
                <a:gridCol w="3397541">
                  <a:extLst>
                    <a:ext uri="{9D8B030D-6E8A-4147-A177-3AD203B41FA5}">
                      <a16:colId xmlns:a16="http://schemas.microsoft.com/office/drawing/2014/main" val="463439698"/>
                    </a:ext>
                  </a:extLst>
                </a:gridCol>
                <a:gridCol w="5097483">
                  <a:extLst>
                    <a:ext uri="{9D8B030D-6E8A-4147-A177-3AD203B41FA5}">
                      <a16:colId xmlns:a16="http://schemas.microsoft.com/office/drawing/2014/main" val="534173039"/>
                    </a:ext>
                  </a:extLst>
                </a:gridCol>
              </a:tblGrid>
              <a:tr h="370840">
                <a:tc>
                  <a:txBody>
                    <a:bodyPr/>
                    <a:lstStyle/>
                    <a:p>
                      <a:pPr marL="91440">
                        <a:lnSpc>
                          <a:spcPct val="100000"/>
                        </a:lnSpc>
                        <a:spcBef>
                          <a:spcPts val="229"/>
                        </a:spcBef>
                      </a:pPr>
                      <a:r>
                        <a:rPr sz="1800" b="1" dirty="0">
                          <a:solidFill>
                            <a:srgbClr val="FFFFFF"/>
                          </a:solidFill>
                          <a:latin typeface="Yu Gothic"/>
                          <a:cs typeface="Yu Gothic"/>
                        </a:rPr>
                        <a:t>元々の表現</a:t>
                      </a:r>
                      <a:endParaRPr sz="1800" dirty="0">
                        <a:latin typeface="Yu Gothic"/>
                        <a:cs typeface="Yu Gothic"/>
                      </a:endParaRPr>
                    </a:p>
                  </a:txBody>
                  <a:tcPr marL="0" marR="0" marT="29209" marB="0"/>
                </a:tc>
                <a:tc>
                  <a:txBody>
                    <a:bodyPr/>
                    <a:lstStyle/>
                    <a:p>
                      <a:pPr marL="91440">
                        <a:lnSpc>
                          <a:spcPct val="100000"/>
                        </a:lnSpc>
                        <a:spcBef>
                          <a:spcPts val="229"/>
                        </a:spcBef>
                      </a:pPr>
                      <a:r>
                        <a:rPr sz="1800" b="1" spc="-5" dirty="0">
                          <a:solidFill>
                            <a:srgbClr val="FFFFFF"/>
                          </a:solidFill>
                          <a:latin typeface="Calibri"/>
                          <a:cs typeface="Calibri"/>
                        </a:rPr>
                        <a:t>PC</a:t>
                      </a:r>
                      <a:r>
                        <a:rPr sz="1800" b="1" spc="-30" dirty="0">
                          <a:solidFill>
                            <a:srgbClr val="FFFFFF"/>
                          </a:solidFill>
                          <a:latin typeface="Calibri"/>
                          <a:cs typeface="Calibri"/>
                        </a:rPr>
                        <a:t> </a:t>
                      </a:r>
                      <a:r>
                        <a:rPr sz="1800" b="1" dirty="0">
                          <a:solidFill>
                            <a:srgbClr val="FFFFFF"/>
                          </a:solidFill>
                          <a:latin typeface="Yu Gothic"/>
                          <a:cs typeface="Yu Gothic"/>
                        </a:rPr>
                        <a:t>表現</a:t>
                      </a:r>
                      <a:endParaRPr sz="1800">
                        <a:latin typeface="Yu Gothic"/>
                        <a:cs typeface="Yu Gothic"/>
                      </a:endParaRPr>
                    </a:p>
                  </a:txBody>
                  <a:tcPr marL="0" marR="0" marT="29209" marB="0"/>
                </a:tc>
                <a:tc>
                  <a:txBody>
                    <a:bodyPr/>
                    <a:lstStyle/>
                    <a:p>
                      <a:pPr marL="92075" marR="57785">
                        <a:lnSpc>
                          <a:spcPct val="100000"/>
                        </a:lnSpc>
                        <a:spcBef>
                          <a:spcPts val="229"/>
                        </a:spcBef>
                      </a:pPr>
                      <a:r>
                        <a:rPr sz="1800" b="1" dirty="0">
                          <a:solidFill>
                            <a:srgbClr val="FFFFFF"/>
                          </a:solidFill>
                          <a:latin typeface="Yu Gothic"/>
                          <a:cs typeface="Yu Gothic"/>
                        </a:rPr>
                        <a:t>背景・備考</a:t>
                      </a:r>
                      <a:endParaRPr sz="1800">
                        <a:latin typeface="Yu Gothic"/>
                        <a:cs typeface="Yu Gothic"/>
                      </a:endParaRPr>
                    </a:p>
                  </a:txBody>
                  <a:tcPr marL="0" marR="0" marT="29209" marB="0"/>
                </a:tc>
                <a:extLst>
                  <a:ext uri="{0D108BD9-81ED-4DB2-BD59-A6C34878D82A}">
                    <a16:rowId xmlns:a16="http://schemas.microsoft.com/office/drawing/2014/main" val="2374379516"/>
                  </a:ext>
                </a:extLst>
              </a:tr>
              <a:tr h="370840">
                <a:tc>
                  <a:txBody>
                    <a:bodyPr/>
                    <a:lstStyle/>
                    <a:p>
                      <a:pPr marL="63500">
                        <a:lnSpc>
                          <a:spcPct val="100000"/>
                        </a:lnSpc>
                        <a:spcBef>
                          <a:spcPts val="1215"/>
                        </a:spcBef>
                      </a:pPr>
                      <a:r>
                        <a:rPr sz="1800" spc="-5" dirty="0">
                          <a:latin typeface="Calibri"/>
                          <a:cs typeface="Calibri"/>
                        </a:rPr>
                        <a:t>Negro</a:t>
                      </a:r>
                      <a:endParaRPr sz="1800">
                        <a:latin typeface="Calibri"/>
                        <a:cs typeface="Calibri"/>
                      </a:endParaRPr>
                    </a:p>
                    <a:p>
                      <a:pPr marL="63500">
                        <a:lnSpc>
                          <a:spcPct val="100000"/>
                        </a:lnSpc>
                        <a:spcBef>
                          <a:spcPts val="5"/>
                        </a:spcBef>
                      </a:pPr>
                      <a:r>
                        <a:rPr sz="1800" dirty="0">
                          <a:latin typeface="Calibri"/>
                          <a:cs typeface="Calibri"/>
                        </a:rPr>
                        <a:t>→</a:t>
                      </a:r>
                      <a:r>
                        <a:rPr sz="1800" spc="-45" dirty="0">
                          <a:latin typeface="Calibri"/>
                          <a:cs typeface="Calibri"/>
                        </a:rPr>
                        <a:t> </a:t>
                      </a:r>
                      <a:r>
                        <a:rPr sz="1800" spc="-5" dirty="0">
                          <a:latin typeface="Calibri"/>
                          <a:cs typeface="Calibri"/>
                        </a:rPr>
                        <a:t>black</a:t>
                      </a:r>
                      <a:endParaRPr sz="1800">
                        <a:latin typeface="Calibri"/>
                        <a:cs typeface="Calibri"/>
                      </a:endParaRPr>
                    </a:p>
                    <a:p>
                      <a:pPr marL="63500">
                        <a:lnSpc>
                          <a:spcPct val="100000"/>
                        </a:lnSpc>
                      </a:pPr>
                      <a:r>
                        <a:rPr sz="1800" dirty="0">
                          <a:latin typeface="Calibri"/>
                          <a:cs typeface="Calibri"/>
                        </a:rPr>
                        <a:t>→</a:t>
                      </a:r>
                      <a:r>
                        <a:rPr sz="1800" spc="-40" dirty="0">
                          <a:latin typeface="Calibri"/>
                          <a:cs typeface="Calibri"/>
                        </a:rPr>
                        <a:t> </a:t>
                      </a:r>
                      <a:r>
                        <a:rPr sz="1800" spc="-5" dirty="0">
                          <a:latin typeface="Calibri"/>
                          <a:cs typeface="Calibri"/>
                        </a:rPr>
                        <a:t>Afro-American</a:t>
                      </a:r>
                      <a:endParaRPr sz="1800">
                        <a:latin typeface="Calibri"/>
                        <a:cs typeface="Calibri"/>
                      </a:endParaRPr>
                    </a:p>
                    <a:p>
                      <a:pPr marL="63500">
                        <a:lnSpc>
                          <a:spcPct val="100000"/>
                        </a:lnSpc>
                      </a:pPr>
                      <a:r>
                        <a:rPr sz="1800" dirty="0">
                          <a:latin typeface="Calibri"/>
                          <a:cs typeface="Calibri"/>
                        </a:rPr>
                        <a:t>→</a:t>
                      </a:r>
                      <a:r>
                        <a:rPr sz="1800" spc="-25" dirty="0">
                          <a:latin typeface="Calibri"/>
                          <a:cs typeface="Calibri"/>
                        </a:rPr>
                        <a:t> </a:t>
                      </a:r>
                      <a:r>
                        <a:rPr sz="1800" spc="-5" dirty="0">
                          <a:latin typeface="Calibri"/>
                          <a:cs typeface="Calibri"/>
                        </a:rPr>
                        <a:t>African</a:t>
                      </a:r>
                      <a:r>
                        <a:rPr sz="1800" spc="-25" dirty="0">
                          <a:latin typeface="Calibri"/>
                          <a:cs typeface="Calibri"/>
                        </a:rPr>
                        <a:t> </a:t>
                      </a:r>
                      <a:r>
                        <a:rPr sz="1800" spc="-5" dirty="0">
                          <a:latin typeface="Calibri"/>
                          <a:cs typeface="Calibri"/>
                        </a:rPr>
                        <a:t>American</a:t>
                      </a:r>
                      <a:endParaRPr sz="1800">
                        <a:latin typeface="Calibri"/>
                        <a:cs typeface="Calibri"/>
                      </a:endParaRPr>
                    </a:p>
                    <a:p>
                      <a:pPr marL="63500">
                        <a:lnSpc>
                          <a:spcPct val="100000"/>
                        </a:lnSpc>
                      </a:pPr>
                      <a:r>
                        <a:rPr sz="1800" dirty="0">
                          <a:latin typeface="Calibri"/>
                          <a:cs typeface="Calibri"/>
                        </a:rPr>
                        <a:t>→</a:t>
                      </a:r>
                      <a:r>
                        <a:rPr sz="1800" spc="-30" dirty="0">
                          <a:latin typeface="Calibri"/>
                          <a:cs typeface="Calibri"/>
                        </a:rPr>
                        <a:t> </a:t>
                      </a:r>
                      <a:r>
                        <a:rPr sz="1800" spc="-10" dirty="0">
                          <a:latin typeface="Calibri"/>
                          <a:cs typeface="Calibri"/>
                        </a:rPr>
                        <a:t>coloured</a:t>
                      </a:r>
                      <a:r>
                        <a:rPr sz="1800" dirty="0">
                          <a:latin typeface="Calibri"/>
                          <a:cs typeface="Calibri"/>
                        </a:rPr>
                        <a:t> </a:t>
                      </a:r>
                      <a:r>
                        <a:rPr sz="1800" spc="-5" dirty="0">
                          <a:latin typeface="Calibri"/>
                          <a:cs typeface="Calibri"/>
                        </a:rPr>
                        <a:t>people</a:t>
                      </a:r>
                      <a:endParaRPr sz="1800">
                        <a:latin typeface="Calibri"/>
                        <a:cs typeface="Calibri"/>
                      </a:endParaRPr>
                    </a:p>
                  </a:txBody>
                  <a:tcPr marL="0" marR="0" marT="154305" marB="0"/>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marL="63500">
                        <a:lnSpc>
                          <a:spcPct val="100000"/>
                        </a:lnSpc>
                        <a:spcBef>
                          <a:spcPts val="1400"/>
                        </a:spcBef>
                      </a:pPr>
                      <a:r>
                        <a:rPr sz="1800" spc="-5" dirty="0">
                          <a:latin typeface="Calibri"/>
                          <a:cs typeface="Calibri"/>
                        </a:rPr>
                        <a:t>people</a:t>
                      </a:r>
                      <a:r>
                        <a:rPr sz="1800" spc="-20" dirty="0">
                          <a:latin typeface="Calibri"/>
                          <a:cs typeface="Calibri"/>
                        </a:rPr>
                        <a:t> </a:t>
                      </a:r>
                      <a:r>
                        <a:rPr sz="1800" spc="-5" dirty="0">
                          <a:latin typeface="Calibri"/>
                          <a:cs typeface="Calibri"/>
                        </a:rPr>
                        <a:t>of</a:t>
                      </a:r>
                      <a:r>
                        <a:rPr sz="1800" spc="-10" dirty="0">
                          <a:latin typeface="Calibri"/>
                          <a:cs typeface="Calibri"/>
                        </a:rPr>
                        <a:t> colour</a:t>
                      </a:r>
                      <a:endParaRPr sz="1800">
                        <a:latin typeface="Calibri"/>
                        <a:cs typeface="Calibri"/>
                      </a:endParaRPr>
                    </a:p>
                  </a:txBody>
                  <a:tcPr marL="0" marR="0" marT="0" marB="0"/>
                </a:tc>
                <a:tc>
                  <a:txBody>
                    <a:bodyPr/>
                    <a:lstStyle/>
                    <a:p>
                      <a:pPr marL="64135" marR="57785">
                        <a:lnSpc>
                          <a:spcPct val="100000"/>
                        </a:lnSpc>
                        <a:spcBef>
                          <a:spcPts val="115"/>
                        </a:spcBef>
                      </a:pPr>
                      <a:r>
                        <a:rPr sz="1800" dirty="0">
                          <a:latin typeface="Yu Gothic"/>
                          <a:cs typeface="Yu Gothic"/>
                        </a:rPr>
                        <a:t>黒人を差別す</a:t>
                      </a:r>
                      <a:r>
                        <a:rPr sz="1800" spc="405" dirty="0">
                          <a:latin typeface="Yu Gothic"/>
                          <a:cs typeface="Yu Gothic"/>
                        </a:rPr>
                        <a:t>る</a:t>
                      </a:r>
                      <a:r>
                        <a:rPr sz="1800" spc="-10" dirty="0">
                          <a:latin typeface="Calibri"/>
                          <a:cs typeface="Calibri"/>
                        </a:rPr>
                        <a:t>N-words</a:t>
                      </a:r>
                      <a:r>
                        <a:rPr sz="1800" spc="-75" dirty="0">
                          <a:latin typeface="Calibri"/>
                          <a:cs typeface="Calibri"/>
                        </a:rPr>
                        <a:t> </a:t>
                      </a:r>
                      <a:r>
                        <a:rPr sz="1800" dirty="0">
                          <a:latin typeface="Yu Gothic"/>
                          <a:cs typeface="Yu Gothic"/>
                        </a:rPr>
                        <a:t>は絶対に口にしてはな</a:t>
                      </a:r>
                      <a:endParaRPr sz="1800">
                        <a:latin typeface="Yu Gothic"/>
                        <a:cs typeface="Yu Gothic"/>
                      </a:endParaRPr>
                    </a:p>
                    <a:p>
                      <a:pPr marL="64135" marR="57785">
                        <a:lnSpc>
                          <a:spcPct val="100000"/>
                        </a:lnSpc>
                      </a:pPr>
                      <a:r>
                        <a:rPr sz="1800" spc="-5" dirty="0">
                          <a:latin typeface="Yu Gothic"/>
                          <a:cs typeface="Yu Gothic"/>
                        </a:rPr>
                        <a:t>らない</a:t>
                      </a:r>
                      <a:r>
                        <a:rPr sz="1800" spc="-10" dirty="0">
                          <a:latin typeface="Calibri"/>
                          <a:cs typeface="Calibri"/>
                        </a:rPr>
                        <a:t>(F-words</a:t>
                      </a:r>
                      <a:r>
                        <a:rPr sz="1800" spc="-70" dirty="0">
                          <a:latin typeface="Calibri"/>
                          <a:cs typeface="Calibri"/>
                        </a:rPr>
                        <a:t> </a:t>
                      </a:r>
                      <a:r>
                        <a:rPr sz="1800" spc="-5" dirty="0">
                          <a:latin typeface="Yu Gothic"/>
                          <a:cs typeface="Yu Gothic"/>
                        </a:rPr>
                        <a:t>より危険</a:t>
                      </a:r>
                      <a:r>
                        <a:rPr sz="1800" spc="-10" dirty="0">
                          <a:latin typeface="Calibri"/>
                          <a:cs typeface="Calibri"/>
                        </a:rPr>
                        <a:t>)</a:t>
                      </a:r>
                      <a:r>
                        <a:rPr sz="1800" dirty="0">
                          <a:latin typeface="Yu Gothic"/>
                          <a:cs typeface="Yu Gothic"/>
                        </a:rPr>
                        <a:t>。</a:t>
                      </a:r>
                      <a:endParaRPr sz="1800">
                        <a:latin typeface="Yu Gothic"/>
                        <a:cs typeface="Yu Gothic"/>
                      </a:endParaRPr>
                    </a:p>
                    <a:p>
                      <a:pPr marL="64135" marR="219075">
                        <a:lnSpc>
                          <a:spcPct val="100000"/>
                        </a:lnSpc>
                      </a:pPr>
                      <a:r>
                        <a:rPr sz="1800" spc="-5" dirty="0">
                          <a:latin typeface="Calibri"/>
                          <a:cs typeface="Calibri"/>
                        </a:rPr>
                        <a:t>2018</a:t>
                      </a:r>
                      <a:r>
                        <a:rPr sz="1800" dirty="0">
                          <a:latin typeface="Yu Gothic"/>
                          <a:cs typeface="Yu Gothic"/>
                        </a:rPr>
                        <a:t>年、アメリカ人ジャーナリスト・政治コメ ンテーターのメーガン・ケリー氏は </a:t>
                      </a:r>
                      <a:r>
                        <a:rPr sz="1800" i="1" u="sng" spc="-10" dirty="0">
                          <a:solidFill>
                            <a:srgbClr val="0462C1"/>
                          </a:solidFill>
                          <a:uFill>
                            <a:solidFill>
                              <a:srgbClr val="0462C1"/>
                            </a:solidFill>
                          </a:uFill>
                          <a:latin typeface="Calibri"/>
                          <a:cs typeface="Calibri"/>
                          <a:hlinkClick r:id="rId3"/>
                        </a:rPr>
                        <a:t>Blackface </a:t>
                      </a:r>
                      <a:r>
                        <a:rPr sz="1800" i="1" spc="-5" dirty="0">
                          <a:solidFill>
                            <a:srgbClr val="0462C1"/>
                          </a:solidFill>
                          <a:latin typeface="Calibri"/>
                          <a:cs typeface="Calibri"/>
                        </a:rPr>
                        <a:t> </a:t>
                      </a:r>
                      <a:r>
                        <a:rPr sz="1800" i="1" u="sng" spc="-5" dirty="0">
                          <a:solidFill>
                            <a:srgbClr val="0462C1"/>
                          </a:solidFill>
                          <a:uFill>
                            <a:solidFill>
                              <a:srgbClr val="0462C1"/>
                            </a:solidFill>
                          </a:uFill>
                          <a:latin typeface="Calibri"/>
                          <a:cs typeface="Calibri"/>
                          <a:hlinkClick r:id="rId3"/>
                        </a:rPr>
                        <a:t>comments</a:t>
                      </a:r>
                      <a:r>
                        <a:rPr sz="1800" i="1" spc="-35" dirty="0">
                          <a:solidFill>
                            <a:srgbClr val="0462C1"/>
                          </a:solidFill>
                          <a:latin typeface="Calibri"/>
                          <a:cs typeface="Calibri"/>
                          <a:hlinkClick r:id="rId3"/>
                        </a:rPr>
                        <a:t> </a:t>
                      </a:r>
                      <a:r>
                        <a:rPr sz="1800" dirty="0">
                          <a:latin typeface="Yu Gothic"/>
                          <a:cs typeface="Yu Gothic"/>
                        </a:rPr>
                        <a:t>事件によっ</a:t>
                      </a:r>
                      <a:r>
                        <a:rPr sz="1800" spc="409" dirty="0">
                          <a:latin typeface="Yu Gothic"/>
                          <a:cs typeface="Yu Gothic"/>
                        </a:rPr>
                        <a:t>て</a:t>
                      </a:r>
                      <a:r>
                        <a:rPr sz="1800" dirty="0">
                          <a:latin typeface="Calibri"/>
                          <a:cs typeface="Calibri"/>
                        </a:rPr>
                        <a:t>NBC</a:t>
                      </a:r>
                      <a:r>
                        <a:rPr sz="1800" spc="-25" dirty="0">
                          <a:latin typeface="Calibri"/>
                          <a:cs typeface="Calibri"/>
                        </a:rPr>
                        <a:t> </a:t>
                      </a:r>
                      <a:r>
                        <a:rPr sz="1800" dirty="0">
                          <a:latin typeface="Yu Gothic"/>
                          <a:cs typeface="Yu Gothic"/>
                        </a:rPr>
                        <a:t>を解雇され、それ までの輝かしい経歴は一夜にして散った。</a:t>
                      </a:r>
                      <a:endParaRPr sz="1800">
                        <a:latin typeface="Yu Gothic"/>
                        <a:cs typeface="Yu Gothic"/>
                      </a:endParaRPr>
                    </a:p>
                  </a:txBody>
                  <a:tcPr marL="0" marR="0" marT="14605" marB="0"/>
                </a:tc>
                <a:extLst>
                  <a:ext uri="{0D108BD9-81ED-4DB2-BD59-A6C34878D82A}">
                    <a16:rowId xmlns:a16="http://schemas.microsoft.com/office/drawing/2014/main" val="1387216905"/>
                  </a:ext>
                </a:extLst>
              </a:tr>
              <a:tr h="370840">
                <a:tc>
                  <a:txBody>
                    <a:bodyPr/>
                    <a:lstStyle/>
                    <a:p>
                      <a:pPr marL="63500">
                        <a:lnSpc>
                          <a:spcPct val="100000"/>
                        </a:lnSpc>
                        <a:spcBef>
                          <a:spcPts val="365"/>
                        </a:spcBef>
                      </a:pPr>
                      <a:r>
                        <a:rPr sz="1800" spc="-5" dirty="0">
                          <a:latin typeface="Calibri"/>
                          <a:cs typeface="Calibri"/>
                        </a:rPr>
                        <a:t>flip</a:t>
                      </a:r>
                      <a:r>
                        <a:rPr sz="1800" spc="-25" dirty="0">
                          <a:latin typeface="Calibri"/>
                          <a:cs typeface="Calibri"/>
                        </a:rPr>
                        <a:t> </a:t>
                      </a:r>
                      <a:r>
                        <a:rPr sz="1800" spc="-10" dirty="0">
                          <a:latin typeface="Calibri"/>
                          <a:cs typeface="Calibri"/>
                        </a:rPr>
                        <a:t>chart</a:t>
                      </a:r>
                      <a:endParaRPr sz="1800">
                        <a:latin typeface="Calibri"/>
                        <a:cs typeface="Calibri"/>
                      </a:endParaRPr>
                    </a:p>
                  </a:txBody>
                  <a:tcPr marL="0" marR="0" marT="46355" marB="0"/>
                </a:tc>
                <a:tc>
                  <a:txBody>
                    <a:bodyPr/>
                    <a:lstStyle/>
                    <a:p>
                      <a:pPr marL="63500">
                        <a:lnSpc>
                          <a:spcPct val="100000"/>
                        </a:lnSpc>
                        <a:spcBef>
                          <a:spcPts val="365"/>
                        </a:spcBef>
                      </a:pPr>
                      <a:r>
                        <a:rPr sz="1800" dirty="0">
                          <a:latin typeface="Calibri"/>
                          <a:cs typeface="Calibri"/>
                        </a:rPr>
                        <a:t>easel</a:t>
                      </a:r>
                      <a:endParaRPr sz="1800">
                        <a:latin typeface="Calibri"/>
                        <a:cs typeface="Calibri"/>
                      </a:endParaRPr>
                    </a:p>
                  </a:txBody>
                  <a:tcPr marL="0" marR="0" marT="46355" marB="0"/>
                </a:tc>
                <a:tc>
                  <a:txBody>
                    <a:bodyPr/>
                    <a:lstStyle/>
                    <a:p>
                      <a:pPr marL="64135" marR="57785">
                        <a:lnSpc>
                          <a:spcPct val="100000"/>
                        </a:lnSpc>
                        <a:spcBef>
                          <a:spcPts val="340"/>
                        </a:spcBef>
                      </a:pPr>
                      <a:r>
                        <a:rPr sz="1800" i="1" spc="-5" dirty="0">
                          <a:latin typeface="Calibri"/>
                          <a:cs typeface="Calibri"/>
                        </a:rPr>
                        <a:t>flip</a:t>
                      </a:r>
                      <a:r>
                        <a:rPr sz="1800" i="1" spc="-35" dirty="0">
                          <a:latin typeface="Calibri"/>
                          <a:cs typeface="Calibri"/>
                        </a:rPr>
                        <a:t> </a:t>
                      </a:r>
                      <a:r>
                        <a:rPr sz="1800" dirty="0">
                          <a:latin typeface="Yu Gothic"/>
                          <a:cs typeface="Yu Gothic"/>
                        </a:rPr>
                        <a:t>はフィリピン人の蔑称。</a:t>
                      </a:r>
                      <a:endParaRPr sz="1800">
                        <a:latin typeface="Yu Gothic"/>
                        <a:cs typeface="Yu Gothic"/>
                      </a:endParaRPr>
                    </a:p>
                  </a:txBody>
                  <a:tcPr marL="0" marR="0" marT="43180" marB="0"/>
                </a:tc>
                <a:extLst>
                  <a:ext uri="{0D108BD9-81ED-4DB2-BD59-A6C34878D82A}">
                    <a16:rowId xmlns:a16="http://schemas.microsoft.com/office/drawing/2014/main" val="2386007850"/>
                  </a:ext>
                </a:extLst>
              </a:tr>
              <a:tr h="370840">
                <a:tc>
                  <a:txBody>
                    <a:bodyPr/>
                    <a:lstStyle/>
                    <a:p>
                      <a:pPr marL="63500">
                        <a:lnSpc>
                          <a:spcPct val="100000"/>
                        </a:lnSpc>
                        <a:spcBef>
                          <a:spcPts val="1130"/>
                        </a:spcBef>
                      </a:pPr>
                      <a:r>
                        <a:rPr sz="1800" spc="-5" dirty="0">
                          <a:latin typeface="Calibri"/>
                          <a:cs typeface="Calibri"/>
                        </a:rPr>
                        <a:t>Christmas</a:t>
                      </a:r>
                      <a:r>
                        <a:rPr sz="1800" spc="-45" dirty="0">
                          <a:latin typeface="Calibri"/>
                          <a:cs typeface="Calibri"/>
                        </a:rPr>
                        <a:t> </a:t>
                      </a:r>
                      <a:r>
                        <a:rPr sz="1800" spc="-5" dirty="0">
                          <a:latin typeface="Calibri"/>
                          <a:cs typeface="Calibri"/>
                        </a:rPr>
                        <a:t>party</a:t>
                      </a:r>
                      <a:endParaRPr sz="1800" dirty="0">
                        <a:latin typeface="Calibri"/>
                        <a:cs typeface="Calibri"/>
                      </a:endParaRPr>
                    </a:p>
                  </a:txBody>
                  <a:tcPr marL="0" marR="0" marT="143510" marB="0"/>
                </a:tc>
                <a:tc>
                  <a:txBody>
                    <a:bodyPr/>
                    <a:lstStyle/>
                    <a:p>
                      <a:pPr marL="63500">
                        <a:lnSpc>
                          <a:spcPct val="100000"/>
                        </a:lnSpc>
                        <a:spcBef>
                          <a:spcPts val="1130"/>
                        </a:spcBef>
                      </a:pPr>
                      <a:r>
                        <a:rPr sz="1800" spc="-10" dirty="0">
                          <a:latin typeface="Calibri"/>
                          <a:cs typeface="Calibri"/>
                        </a:rPr>
                        <a:t>office</a:t>
                      </a:r>
                      <a:r>
                        <a:rPr sz="1800" spc="-20" dirty="0">
                          <a:latin typeface="Calibri"/>
                          <a:cs typeface="Calibri"/>
                        </a:rPr>
                        <a:t> </a:t>
                      </a:r>
                      <a:r>
                        <a:rPr sz="1800" spc="-5" dirty="0">
                          <a:latin typeface="Calibri"/>
                          <a:cs typeface="Calibri"/>
                        </a:rPr>
                        <a:t>party</a:t>
                      </a:r>
                      <a:endParaRPr sz="1800">
                        <a:latin typeface="Calibri"/>
                        <a:cs typeface="Calibri"/>
                      </a:endParaRPr>
                    </a:p>
                  </a:txBody>
                  <a:tcPr marL="0" marR="0" marT="143510" marB="0"/>
                </a:tc>
                <a:tc>
                  <a:txBody>
                    <a:bodyPr/>
                    <a:lstStyle/>
                    <a:p>
                      <a:pPr marL="64135">
                        <a:lnSpc>
                          <a:spcPct val="100000"/>
                        </a:lnSpc>
                        <a:spcBef>
                          <a:spcPts val="25"/>
                        </a:spcBef>
                      </a:pPr>
                      <a:r>
                        <a:rPr sz="1800" dirty="0">
                          <a:latin typeface="Yu Gothic"/>
                          <a:cs typeface="Yu Gothic"/>
                        </a:rPr>
                        <a:t>キリスト教徒にとってのクリスマスだけではな </a:t>
                      </a:r>
                      <a:r>
                        <a:rPr sz="1800" spc="5" dirty="0">
                          <a:latin typeface="Yu Gothic"/>
                          <a:cs typeface="Yu Gothic"/>
                        </a:rPr>
                        <a:t> </a:t>
                      </a:r>
                      <a:r>
                        <a:rPr sz="1800" dirty="0">
                          <a:latin typeface="Yu Gothic"/>
                          <a:cs typeface="Yu Gothic"/>
                        </a:rPr>
                        <a:t>く、ユダヤ教のハヌカも重要な行事であるため。</a:t>
                      </a:r>
                      <a:endParaRPr sz="1800">
                        <a:latin typeface="Yu Gothic"/>
                        <a:cs typeface="Yu Gothic"/>
                      </a:endParaRPr>
                    </a:p>
                  </a:txBody>
                  <a:tcPr marL="0" marR="0" marT="3175" marB="0"/>
                </a:tc>
                <a:extLst>
                  <a:ext uri="{0D108BD9-81ED-4DB2-BD59-A6C34878D82A}">
                    <a16:rowId xmlns:a16="http://schemas.microsoft.com/office/drawing/2014/main" val="3925618425"/>
                  </a:ext>
                </a:extLst>
              </a:tr>
              <a:tr h="370840">
                <a:tc>
                  <a:txBody>
                    <a:bodyPr/>
                    <a:lstStyle/>
                    <a:p>
                      <a:pPr marL="63500">
                        <a:lnSpc>
                          <a:spcPct val="100000"/>
                        </a:lnSpc>
                        <a:spcBef>
                          <a:spcPts val="200"/>
                        </a:spcBef>
                      </a:pPr>
                      <a:r>
                        <a:rPr sz="1800" spc="-10" dirty="0">
                          <a:latin typeface="Calibri"/>
                          <a:cs typeface="Calibri"/>
                        </a:rPr>
                        <a:t>Oriental</a:t>
                      </a:r>
                      <a:endParaRPr sz="1800">
                        <a:latin typeface="Calibri"/>
                        <a:cs typeface="Calibri"/>
                      </a:endParaRPr>
                    </a:p>
                  </a:txBody>
                  <a:tcPr marL="0" marR="0" marT="25400" marB="0"/>
                </a:tc>
                <a:tc>
                  <a:txBody>
                    <a:bodyPr/>
                    <a:lstStyle/>
                    <a:p>
                      <a:pPr marL="63500">
                        <a:lnSpc>
                          <a:spcPct val="100000"/>
                        </a:lnSpc>
                        <a:spcBef>
                          <a:spcPts val="200"/>
                        </a:spcBef>
                      </a:pPr>
                      <a:r>
                        <a:rPr sz="1800" spc="-5" dirty="0">
                          <a:latin typeface="Calibri"/>
                          <a:cs typeface="Calibri"/>
                        </a:rPr>
                        <a:t>Chinese</a:t>
                      </a:r>
                      <a:endParaRPr sz="1800">
                        <a:latin typeface="Calibri"/>
                        <a:cs typeface="Calibri"/>
                      </a:endParaRPr>
                    </a:p>
                  </a:txBody>
                  <a:tcPr marL="0" marR="0" marT="25400" marB="0"/>
                </a:tc>
                <a:tc>
                  <a:txBody>
                    <a:bodyPr/>
                    <a:lstStyle/>
                    <a:p>
                      <a:pPr marL="64135" marR="57785">
                        <a:lnSpc>
                          <a:spcPct val="100000"/>
                        </a:lnSpc>
                        <a:spcBef>
                          <a:spcPts val="180"/>
                        </a:spcBef>
                      </a:pPr>
                      <a:r>
                        <a:rPr sz="1800" dirty="0">
                          <a:latin typeface="Yu Gothic"/>
                          <a:cs typeface="Yu Gothic"/>
                        </a:rPr>
                        <a:t>中国人に対する差別表現。</a:t>
                      </a:r>
                      <a:endParaRPr sz="1800">
                        <a:latin typeface="Yu Gothic"/>
                        <a:cs typeface="Yu Gothic"/>
                      </a:endParaRPr>
                    </a:p>
                  </a:txBody>
                  <a:tcPr marL="0" marR="0" marT="22860" marB="0"/>
                </a:tc>
                <a:extLst>
                  <a:ext uri="{0D108BD9-81ED-4DB2-BD59-A6C34878D82A}">
                    <a16:rowId xmlns:a16="http://schemas.microsoft.com/office/drawing/2014/main" val="2641444117"/>
                  </a:ext>
                </a:extLst>
              </a:tr>
              <a:tr h="370840">
                <a:tc>
                  <a:txBody>
                    <a:bodyPr/>
                    <a:lstStyle/>
                    <a:p>
                      <a:pPr marL="63500">
                        <a:lnSpc>
                          <a:spcPct val="100000"/>
                        </a:lnSpc>
                        <a:spcBef>
                          <a:spcPts val="1220"/>
                        </a:spcBef>
                      </a:pPr>
                      <a:r>
                        <a:rPr sz="1800" spc="-5" dirty="0">
                          <a:latin typeface="Calibri"/>
                          <a:cs typeface="Calibri"/>
                        </a:rPr>
                        <a:t>Jew</a:t>
                      </a:r>
                      <a:endParaRPr sz="1800">
                        <a:latin typeface="Calibri"/>
                        <a:cs typeface="Calibri"/>
                      </a:endParaRPr>
                    </a:p>
                  </a:txBody>
                  <a:tcPr marL="0" marR="0" marT="154940" marB="0"/>
                </a:tc>
                <a:tc>
                  <a:txBody>
                    <a:bodyPr/>
                    <a:lstStyle/>
                    <a:p>
                      <a:pPr marL="63500">
                        <a:lnSpc>
                          <a:spcPct val="100000"/>
                        </a:lnSpc>
                        <a:spcBef>
                          <a:spcPts val="1220"/>
                        </a:spcBef>
                      </a:pPr>
                      <a:r>
                        <a:rPr sz="1800" spc="-5" dirty="0">
                          <a:latin typeface="Calibri"/>
                          <a:cs typeface="Calibri"/>
                        </a:rPr>
                        <a:t>Jewish</a:t>
                      </a:r>
                      <a:r>
                        <a:rPr sz="1800" spc="-25" dirty="0">
                          <a:latin typeface="Calibri"/>
                          <a:cs typeface="Calibri"/>
                        </a:rPr>
                        <a:t> </a:t>
                      </a:r>
                      <a:r>
                        <a:rPr sz="1800" spc="-10" dirty="0">
                          <a:latin typeface="Calibri"/>
                          <a:cs typeface="Calibri"/>
                        </a:rPr>
                        <a:t>person</a:t>
                      </a:r>
                      <a:endParaRPr sz="1800">
                        <a:latin typeface="Calibri"/>
                        <a:cs typeface="Calibri"/>
                      </a:endParaRPr>
                    </a:p>
                  </a:txBody>
                  <a:tcPr marL="0" marR="0" marT="154940" marB="0"/>
                </a:tc>
                <a:tc>
                  <a:txBody>
                    <a:bodyPr/>
                    <a:lstStyle/>
                    <a:p>
                      <a:pPr marL="64135" marR="57785">
                        <a:lnSpc>
                          <a:spcPct val="100000"/>
                        </a:lnSpc>
                        <a:spcBef>
                          <a:spcPts val="114"/>
                        </a:spcBef>
                      </a:pPr>
                      <a:r>
                        <a:rPr sz="1800" dirty="0">
                          <a:latin typeface="Yu Gothic"/>
                          <a:cs typeface="Yu Gothic"/>
                        </a:rPr>
                        <a:t>ユダヤ人に対する差別表現。</a:t>
                      </a:r>
                    </a:p>
                    <a:p>
                      <a:pPr marL="64135" marR="57785">
                        <a:lnSpc>
                          <a:spcPct val="100000"/>
                        </a:lnSpc>
                      </a:pPr>
                      <a:r>
                        <a:rPr sz="1800" dirty="0">
                          <a:latin typeface="Yu Gothic"/>
                          <a:cs typeface="Yu Gothic"/>
                        </a:rPr>
                        <a:t>日本人にとっての</a:t>
                      </a:r>
                      <a:r>
                        <a:rPr sz="1800" spc="-110" dirty="0">
                          <a:latin typeface="Yu Gothic"/>
                          <a:cs typeface="Yu Gothic"/>
                        </a:rPr>
                        <a:t> </a:t>
                      </a:r>
                      <a:r>
                        <a:rPr sz="1800" i="1" dirty="0">
                          <a:latin typeface="Calibri"/>
                          <a:cs typeface="Calibri"/>
                        </a:rPr>
                        <a:t>Jap</a:t>
                      </a:r>
                      <a:r>
                        <a:rPr sz="1800" i="1" spc="10" dirty="0">
                          <a:latin typeface="Calibri"/>
                          <a:cs typeface="Calibri"/>
                        </a:rPr>
                        <a:t> </a:t>
                      </a:r>
                      <a:r>
                        <a:rPr sz="1800" dirty="0">
                          <a:latin typeface="Yu Gothic"/>
                          <a:cs typeface="Yu Gothic"/>
                        </a:rPr>
                        <a:t>に等しい。</a:t>
                      </a:r>
                    </a:p>
                  </a:txBody>
                  <a:tcPr marL="0" marR="0" marT="14604" marB="0"/>
                </a:tc>
                <a:extLst>
                  <a:ext uri="{0D108BD9-81ED-4DB2-BD59-A6C34878D82A}">
                    <a16:rowId xmlns:a16="http://schemas.microsoft.com/office/drawing/2014/main" val="223572792"/>
                  </a:ext>
                </a:extLst>
              </a:tr>
            </a:tbl>
          </a:graphicData>
        </a:graphic>
      </p:graphicFrame>
    </p:spTree>
    <p:extLst>
      <p:ext uri="{BB962C8B-B14F-4D97-AF65-F5344CB8AC3E}">
        <p14:creationId xmlns:p14="http://schemas.microsoft.com/office/powerpoint/2010/main" val="1191494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4. </a:t>
            </a:r>
            <a:r>
              <a:rPr lang="ja-JP" altLang="en-US" b="1" dirty="0">
                <a:latin typeface="Calibri (Headings)"/>
              </a:rPr>
              <a:t>高度情報化社会</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303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latin typeface="Calibri (Headings)"/>
              </a:rPr>
              <a:t>4. </a:t>
            </a:r>
            <a:r>
              <a:rPr lang="ja-JP" altLang="en-US" b="1" dirty="0">
                <a:latin typeface="Calibri (Headings)"/>
              </a:rPr>
              <a:t>高度情報化社会</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AED5205C-1039-E5CC-E7B1-520D3DA466C0}"/>
              </a:ext>
            </a:extLst>
          </p:cNvPr>
          <p:cNvGraphicFramePr>
            <a:graphicFrameLocks noGrp="1"/>
          </p:cNvGraphicFramePr>
          <p:nvPr>
            <p:extLst>
              <p:ext uri="{D42A27DB-BD31-4B8C-83A1-F6EECF244321}">
                <p14:modId xmlns:p14="http://schemas.microsoft.com/office/powerpoint/2010/main" val="543726954"/>
              </p:ext>
            </p:extLst>
          </p:nvPr>
        </p:nvGraphicFramePr>
        <p:xfrm>
          <a:off x="819150" y="1819275"/>
          <a:ext cx="10515600" cy="3360420"/>
        </p:xfrm>
        <a:graphic>
          <a:graphicData uri="http://schemas.openxmlformats.org/drawingml/2006/table">
            <a:tbl>
              <a:tblPr firstRow="1" bandRow="1">
                <a:tableStyleId>{5C22544A-7EE6-4342-B048-85BDC9FD1C3A}</a:tableStyleId>
              </a:tblPr>
              <a:tblGrid>
                <a:gridCol w="1638824">
                  <a:extLst>
                    <a:ext uri="{9D8B030D-6E8A-4147-A177-3AD203B41FA5}">
                      <a16:colId xmlns:a16="http://schemas.microsoft.com/office/drawing/2014/main" val="785166384"/>
                    </a:ext>
                  </a:extLst>
                </a:gridCol>
                <a:gridCol w="8876776">
                  <a:extLst>
                    <a:ext uri="{9D8B030D-6E8A-4147-A177-3AD203B41FA5}">
                      <a16:colId xmlns:a16="http://schemas.microsoft.com/office/drawing/2014/main" val="3151054590"/>
                    </a:ext>
                  </a:extLst>
                </a:gridCol>
              </a:tblGrid>
              <a:tr h="370840">
                <a:tc>
                  <a:txBody>
                    <a:bodyPr/>
                    <a:lstStyle/>
                    <a:p>
                      <a:pPr marL="91440">
                        <a:lnSpc>
                          <a:spcPct val="100000"/>
                        </a:lnSpc>
                        <a:spcBef>
                          <a:spcPts val="229"/>
                        </a:spcBef>
                      </a:pPr>
                      <a:r>
                        <a:rPr sz="1800" b="1" dirty="0">
                          <a:solidFill>
                            <a:srgbClr val="FFFFFF"/>
                          </a:solidFill>
                          <a:latin typeface="Yu Gothic"/>
                          <a:cs typeface="Yu Gothic"/>
                        </a:rPr>
                        <a:t>表現</a:t>
                      </a:r>
                      <a:endParaRPr sz="1800" dirty="0">
                        <a:latin typeface="Yu Gothic"/>
                        <a:cs typeface="Yu Gothic"/>
                      </a:endParaRPr>
                    </a:p>
                  </a:txBody>
                  <a:tcPr marL="0" marR="0" marT="29209" marB="0"/>
                </a:tc>
                <a:tc>
                  <a:txBody>
                    <a:bodyPr/>
                    <a:lstStyle/>
                    <a:p>
                      <a:pPr marL="91440">
                        <a:lnSpc>
                          <a:spcPct val="100000"/>
                        </a:lnSpc>
                        <a:spcBef>
                          <a:spcPts val="229"/>
                        </a:spcBef>
                      </a:pPr>
                      <a:r>
                        <a:rPr sz="1800" b="1" dirty="0">
                          <a:solidFill>
                            <a:srgbClr val="FFFFFF"/>
                          </a:solidFill>
                          <a:latin typeface="Yu Gothic"/>
                          <a:cs typeface="Yu Gothic"/>
                        </a:rPr>
                        <a:t>意味</a:t>
                      </a:r>
                      <a:endParaRPr sz="1800">
                        <a:latin typeface="Yu Gothic"/>
                        <a:cs typeface="Yu Gothic"/>
                      </a:endParaRPr>
                    </a:p>
                  </a:txBody>
                  <a:tcPr marL="0" marR="0" marT="29209" marB="0"/>
                </a:tc>
                <a:extLst>
                  <a:ext uri="{0D108BD9-81ED-4DB2-BD59-A6C34878D82A}">
                    <a16:rowId xmlns:a16="http://schemas.microsoft.com/office/drawing/2014/main" val="3892178232"/>
                  </a:ext>
                </a:extLst>
              </a:tr>
              <a:tr h="370840">
                <a:tc>
                  <a:txBody>
                    <a:bodyPr/>
                    <a:lstStyle/>
                    <a:p>
                      <a:pPr>
                        <a:lnSpc>
                          <a:spcPct val="100000"/>
                        </a:lnSpc>
                      </a:pPr>
                      <a:endParaRPr sz="1800">
                        <a:latin typeface="Times New Roman"/>
                        <a:cs typeface="Times New Roman"/>
                      </a:endParaRPr>
                    </a:p>
                    <a:p>
                      <a:pPr marL="63500">
                        <a:lnSpc>
                          <a:spcPct val="100000"/>
                        </a:lnSpc>
                        <a:spcBef>
                          <a:spcPts val="1295"/>
                        </a:spcBef>
                      </a:pPr>
                      <a:r>
                        <a:rPr sz="1800" spc="-5" dirty="0">
                          <a:latin typeface="Calibri"/>
                          <a:cs typeface="Calibri"/>
                        </a:rPr>
                        <a:t>friend</a:t>
                      </a:r>
                      <a:endParaRPr sz="1800">
                        <a:latin typeface="Calibri"/>
                        <a:cs typeface="Calibri"/>
                      </a:endParaRPr>
                    </a:p>
                  </a:txBody>
                  <a:tcPr marL="0" marR="0" marT="0" marB="0"/>
                </a:tc>
                <a:tc>
                  <a:txBody>
                    <a:bodyPr/>
                    <a:lstStyle/>
                    <a:p>
                      <a:pPr marL="63500" algn="just">
                        <a:lnSpc>
                          <a:spcPct val="100000"/>
                        </a:lnSpc>
                        <a:spcBef>
                          <a:spcPts val="100"/>
                        </a:spcBef>
                      </a:pPr>
                      <a:r>
                        <a:rPr lang="ja-JP" altLang="en-US" sz="1800" dirty="0">
                          <a:latin typeface="Yu Gothic"/>
                          <a:cs typeface="Yu Gothic"/>
                        </a:rPr>
                        <a:t>動詞は </a:t>
                      </a:r>
                      <a:r>
                        <a:rPr lang="en-US" altLang="ja-JP" sz="1800" i="1" dirty="0">
                          <a:latin typeface="+mn-lt"/>
                          <a:cs typeface="Yu Gothic"/>
                        </a:rPr>
                        <a:t>befriend</a:t>
                      </a:r>
                      <a:r>
                        <a:rPr lang="en-US" altLang="ja-JP" sz="1800" dirty="0">
                          <a:latin typeface="Yu Gothic"/>
                          <a:cs typeface="Yu Gothic"/>
                        </a:rPr>
                        <a:t> </a:t>
                      </a:r>
                      <a:r>
                        <a:rPr lang="ja-JP" altLang="en-US" sz="1800" dirty="0">
                          <a:latin typeface="Yu Gothic"/>
                          <a:cs typeface="Yu Gothic"/>
                        </a:rPr>
                        <a:t>だが、</a:t>
                      </a:r>
                      <a:r>
                        <a:rPr lang="en-US" altLang="ja-JP" sz="1800" dirty="0">
                          <a:latin typeface="Calibri (Body)"/>
                          <a:cs typeface="Yu Gothic"/>
                        </a:rPr>
                        <a:t>SNS</a:t>
                      </a:r>
                      <a:r>
                        <a:rPr lang="en-US" altLang="ja-JP" sz="1800" dirty="0">
                          <a:latin typeface="Yu Gothic"/>
                          <a:cs typeface="Yu Gothic"/>
                        </a:rPr>
                        <a:t> </a:t>
                      </a:r>
                      <a:r>
                        <a:rPr lang="ja-JP" altLang="en-US" sz="1800" dirty="0">
                          <a:latin typeface="Yu Gothic"/>
                          <a:cs typeface="Yu Gothic"/>
                        </a:rPr>
                        <a:t>発祥の </a:t>
                      </a:r>
                      <a:r>
                        <a:rPr lang="en-US" altLang="ja-JP" sz="1800" dirty="0">
                          <a:latin typeface="Calibri (Body)"/>
                          <a:cs typeface="Yu Gothic"/>
                        </a:rPr>
                        <a:t>unfriend</a:t>
                      </a:r>
                      <a:r>
                        <a:rPr lang="en-US" altLang="ja-JP" sz="1800" dirty="0">
                          <a:latin typeface="Yu Gothic"/>
                          <a:cs typeface="Yu Gothic"/>
                        </a:rPr>
                        <a:t> </a:t>
                      </a:r>
                      <a:r>
                        <a:rPr lang="ja-JP" altLang="en-US" sz="1800" dirty="0">
                          <a:latin typeface="Yu Gothic"/>
                          <a:cs typeface="Yu Gothic"/>
                        </a:rPr>
                        <a:t>の対義語として名詞が動詞化したもの。</a:t>
                      </a:r>
                    </a:p>
                    <a:p>
                      <a:pPr marL="63500" algn="just">
                        <a:lnSpc>
                          <a:spcPct val="100000"/>
                        </a:lnSpc>
                        <a:spcBef>
                          <a:spcPts val="100"/>
                        </a:spcBef>
                      </a:pPr>
                      <a:r>
                        <a:rPr lang="ja-JP" altLang="en-US" sz="1800" dirty="0">
                          <a:latin typeface="Yu Gothic"/>
                          <a:cs typeface="Yu Gothic"/>
                        </a:rPr>
                        <a:t>それに倣ってか、</a:t>
                      </a:r>
                      <a:r>
                        <a:rPr lang="en-US" altLang="ja-JP" sz="1800" i="1" u="none" dirty="0">
                          <a:latin typeface="Calibri (Body)"/>
                          <a:cs typeface="Yu Gothic"/>
                        </a:rPr>
                        <a:t>like</a:t>
                      </a:r>
                      <a:r>
                        <a:rPr lang="en-US" altLang="ja-JP" sz="1800" dirty="0">
                          <a:latin typeface="Yu Gothic"/>
                          <a:cs typeface="Yu Gothic"/>
                        </a:rPr>
                        <a:t> ↔ </a:t>
                      </a:r>
                      <a:r>
                        <a:rPr lang="en-US" altLang="ja-JP" sz="1800" i="1" dirty="0">
                          <a:latin typeface="Calibri (Body)"/>
                          <a:cs typeface="Yu Gothic"/>
                        </a:rPr>
                        <a:t>unlike</a:t>
                      </a:r>
                      <a:r>
                        <a:rPr lang="en-US" altLang="ja-JP" sz="1800" dirty="0">
                          <a:latin typeface="Yu Gothic"/>
                          <a:cs typeface="Yu Gothic"/>
                        </a:rPr>
                        <a:t>, </a:t>
                      </a:r>
                      <a:r>
                        <a:rPr lang="en-US" altLang="ja-JP" sz="1800" i="1" dirty="0">
                          <a:latin typeface="Calibri (Body)"/>
                          <a:cs typeface="Yu Gothic"/>
                        </a:rPr>
                        <a:t>star</a:t>
                      </a:r>
                      <a:r>
                        <a:rPr lang="en-US" altLang="ja-JP" sz="1800" dirty="0">
                          <a:latin typeface="Yu Gothic"/>
                          <a:cs typeface="Yu Gothic"/>
                        </a:rPr>
                        <a:t> ↔ </a:t>
                      </a:r>
                      <a:r>
                        <a:rPr lang="en-US" altLang="ja-JP" sz="1800" i="1" dirty="0">
                          <a:latin typeface="Calibri (Body)"/>
                          <a:cs typeface="Yu Gothic"/>
                        </a:rPr>
                        <a:t>unstar</a:t>
                      </a:r>
                      <a:r>
                        <a:rPr lang="en-US" altLang="ja-JP" sz="1800" dirty="0">
                          <a:latin typeface="Yu Gothic"/>
                          <a:cs typeface="Yu Gothic"/>
                        </a:rPr>
                        <a:t>, </a:t>
                      </a:r>
                      <a:r>
                        <a:rPr lang="en-US" altLang="ja-JP" sz="1800" i="1" dirty="0">
                          <a:latin typeface="Calibri (Body)"/>
                          <a:cs typeface="Yu Gothic"/>
                        </a:rPr>
                        <a:t>flag</a:t>
                      </a:r>
                      <a:r>
                        <a:rPr lang="en-US" altLang="ja-JP" sz="1800" dirty="0">
                          <a:latin typeface="Yu Gothic"/>
                          <a:cs typeface="Yu Gothic"/>
                        </a:rPr>
                        <a:t> ↔ </a:t>
                      </a:r>
                      <a:r>
                        <a:rPr lang="en-US" altLang="ja-JP" sz="1800" i="1" dirty="0">
                          <a:latin typeface="Calibri (Body)"/>
                          <a:cs typeface="Yu Gothic"/>
                        </a:rPr>
                        <a:t>unflag</a:t>
                      </a:r>
                      <a:r>
                        <a:rPr lang="en-US" altLang="ja-JP" sz="1800" dirty="0">
                          <a:latin typeface="Yu Gothic"/>
                          <a:cs typeface="Yu Gothic"/>
                        </a:rPr>
                        <a:t> </a:t>
                      </a:r>
                      <a:r>
                        <a:rPr lang="ja-JP" altLang="en-US" sz="1800" dirty="0">
                          <a:latin typeface="Yu Gothic"/>
                          <a:cs typeface="Yu Gothic"/>
                        </a:rPr>
                        <a:t>のような、打消しの接頭辞 </a:t>
                      </a:r>
                      <a:r>
                        <a:rPr lang="en-US" altLang="ja-JP" sz="1800" i="1" dirty="0">
                          <a:latin typeface="Calibri (Body)"/>
                          <a:cs typeface="Yu Gothic"/>
                        </a:rPr>
                        <a:t>-un</a:t>
                      </a:r>
                      <a:r>
                        <a:rPr lang="en-US" altLang="ja-JP" sz="1800" dirty="0">
                          <a:latin typeface="Yu Gothic"/>
                          <a:cs typeface="Yu Gothic"/>
                        </a:rPr>
                        <a:t> </a:t>
                      </a:r>
                      <a:r>
                        <a:rPr lang="ja-JP" altLang="en-US" sz="1800" dirty="0">
                          <a:latin typeface="Yu Gothic"/>
                          <a:cs typeface="Yu Gothic"/>
                        </a:rPr>
                        <a:t>を付けた対義語が誕生した</a:t>
                      </a:r>
                      <a:r>
                        <a:rPr lang="en-US" altLang="ja-JP" sz="1800" dirty="0">
                          <a:latin typeface="Yu Gothic"/>
                          <a:cs typeface="Yu Gothic"/>
                        </a:rPr>
                        <a:t>(</a:t>
                      </a:r>
                      <a:r>
                        <a:rPr lang="ja-JP" altLang="en-US" sz="1800" dirty="0">
                          <a:latin typeface="Yu Gothic"/>
                          <a:cs typeface="Yu Gothic"/>
                        </a:rPr>
                        <a:t>語彙が消滅しない以外は </a:t>
                      </a:r>
                      <a:r>
                        <a:rPr lang="en-US" altLang="ja-JP" sz="1800" dirty="0">
                          <a:latin typeface="Calibri (Body)"/>
                          <a:cs typeface="Yu Gothic"/>
                        </a:rPr>
                        <a:t>Nineteen Eighty-Four</a:t>
                      </a:r>
                      <a:r>
                        <a:rPr lang="en-US" altLang="ja-JP" sz="1800" dirty="0">
                          <a:latin typeface="Yu Gothic"/>
                          <a:cs typeface="Yu Gothic"/>
                        </a:rPr>
                        <a:t> </a:t>
                      </a:r>
                      <a:r>
                        <a:rPr lang="ja-JP" altLang="en-US" sz="1800" dirty="0">
                          <a:latin typeface="Yu Gothic"/>
                          <a:cs typeface="Yu Gothic"/>
                        </a:rPr>
                        <a:t>の世界と同じ発想</a:t>
                      </a:r>
                      <a:r>
                        <a:rPr lang="en-US" altLang="ja-JP" sz="1800" dirty="0">
                          <a:latin typeface="Yu Gothic"/>
                          <a:cs typeface="Yu Gothic"/>
                        </a:rPr>
                        <a:t>)</a:t>
                      </a:r>
                      <a:r>
                        <a:rPr lang="ja-JP" altLang="en-US" sz="1800" dirty="0">
                          <a:latin typeface="Yu Gothic"/>
                          <a:cs typeface="Yu Gothic"/>
                        </a:rPr>
                        <a:t>。</a:t>
                      </a:r>
                      <a:endParaRPr sz="1800" dirty="0">
                        <a:latin typeface="Yu Gothic"/>
                        <a:cs typeface="Yu Gothic"/>
                      </a:endParaRPr>
                    </a:p>
                  </a:txBody>
                  <a:tcPr marL="0" marR="0" marT="12700" marB="0"/>
                </a:tc>
                <a:extLst>
                  <a:ext uri="{0D108BD9-81ED-4DB2-BD59-A6C34878D82A}">
                    <a16:rowId xmlns:a16="http://schemas.microsoft.com/office/drawing/2014/main" val="3640759779"/>
                  </a:ext>
                </a:extLst>
              </a:tr>
              <a:tr h="370840">
                <a:tc>
                  <a:txBody>
                    <a:bodyPr/>
                    <a:lstStyle/>
                    <a:p>
                      <a:pPr marL="63500">
                        <a:lnSpc>
                          <a:spcPct val="100000"/>
                        </a:lnSpc>
                        <a:spcBef>
                          <a:spcPts val="390"/>
                        </a:spcBef>
                      </a:pPr>
                      <a:r>
                        <a:rPr sz="1800" spc="-10" dirty="0">
                          <a:latin typeface="Calibri"/>
                          <a:cs typeface="Calibri"/>
                        </a:rPr>
                        <a:t>ghosting</a:t>
                      </a:r>
                      <a:endParaRPr sz="1800">
                        <a:latin typeface="Calibri"/>
                        <a:cs typeface="Calibri"/>
                      </a:endParaRPr>
                    </a:p>
                  </a:txBody>
                  <a:tcPr marL="0" marR="0" marT="49530" marB="0"/>
                </a:tc>
                <a:tc>
                  <a:txBody>
                    <a:bodyPr/>
                    <a:lstStyle/>
                    <a:p>
                      <a:pPr marL="63500">
                        <a:lnSpc>
                          <a:spcPct val="100000"/>
                        </a:lnSpc>
                        <a:spcBef>
                          <a:spcPts val="365"/>
                        </a:spcBef>
                      </a:pPr>
                      <a:r>
                        <a:rPr sz="1800" dirty="0">
                          <a:latin typeface="Calibri"/>
                          <a:cs typeface="Calibri"/>
                        </a:rPr>
                        <a:t>SNS</a:t>
                      </a:r>
                      <a:r>
                        <a:rPr sz="1800" spc="-45" dirty="0">
                          <a:latin typeface="Calibri"/>
                          <a:cs typeface="Calibri"/>
                        </a:rPr>
                        <a:t> </a:t>
                      </a:r>
                      <a:r>
                        <a:rPr sz="1800" dirty="0">
                          <a:latin typeface="Yu Gothic"/>
                          <a:cs typeface="Yu Gothic"/>
                        </a:rPr>
                        <a:t>等から忽然と消え音信不通になること。</a:t>
                      </a:r>
                    </a:p>
                  </a:txBody>
                  <a:tcPr marL="0" marR="0" marT="46355" marB="0"/>
                </a:tc>
                <a:extLst>
                  <a:ext uri="{0D108BD9-81ED-4DB2-BD59-A6C34878D82A}">
                    <a16:rowId xmlns:a16="http://schemas.microsoft.com/office/drawing/2014/main" val="598214618"/>
                  </a:ext>
                </a:extLst>
              </a:tr>
              <a:tr h="370840">
                <a:tc>
                  <a:txBody>
                    <a:bodyPr/>
                    <a:lstStyle/>
                    <a:p>
                      <a:pPr marL="63500">
                        <a:lnSpc>
                          <a:spcPct val="100000"/>
                        </a:lnSpc>
                        <a:spcBef>
                          <a:spcPts val="1220"/>
                        </a:spcBef>
                      </a:pPr>
                      <a:r>
                        <a:rPr sz="1800" spc="-10" dirty="0">
                          <a:latin typeface="Calibri"/>
                          <a:cs typeface="Calibri"/>
                        </a:rPr>
                        <a:t>trolling</a:t>
                      </a:r>
                      <a:endParaRPr sz="1800">
                        <a:latin typeface="Calibri"/>
                        <a:cs typeface="Calibri"/>
                      </a:endParaRPr>
                    </a:p>
                  </a:txBody>
                  <a:tcPr marL="0" marR="0" marT="154940" marB="0"/>
                </a:tc>
                <a:tc>
                  <a:txBody>
                    <a:bodyPr/>
                    <a:lstStyle/>
                    <a:p>
                      <a:pPr marL="63500">
                        <a:lnSpc>
                          <a:spcPct val="100000"/>
                        </a:lnSpc>
                        <a:spcBef>
                          <a:spcPts val="110"/>
                        </a:spcBef>
                      </a:pPr>
                      <a:r>
                        <a:rPr sz="1800" spc="-5" dirty="0">
                          <a:latin typeface="Yu Gothic"/>
                          <a:cs typeface="Yu Gothic"/>
                        </a:rPr>
                        <a:t>人目を引くため</a:t>
                      </a:r>
                      <a:r>
                        <a:rPr sz="1800" dirty="0">
                          <a:latin typeface="Yu Gothic"/>
                          <a:cs typeface="Yu Gothic"/>
                        </a:rPr>
                        <a:t>に</a:t>
                      </a:r>
                      <a:r>
                        <a:rPr sz="1800" spc="-125" dirty="0">
                          <a:latin typeface="Yu Gothic"/>
                          <a:cs typeface="Yu Gothic"/>
                        </a:rPr>
                        <a:t> </a:t>
                      </a:r>
                      <a:r>
                        <a:rPr sz="1800" spc="-5" dirty="0">
                          <a:latin typeface="Calibri"/>
                          <a:cs typeface="Calibri"/>
                        </a:rPr>
                        <a:t>SNS</a:t>
                      </a:r>
                      <a:r>
                        <a:rPr sz="1800" spc="-10" dirty="0">
                          <a:latin typeface="Calibri"/>
                          <a:cs typeface="Calibri"/>
                        </a:rPr>
                        <a:t> </a:t>
                      </a:r>
                      <a:r>
                        <a:rPr sz="1800" spc="-5" dirty="0">
                          <a:latin typeface="Yu Gothic"/>
                          <a:cs typeface="Yu Gothic"/>
                        </a:rPr>
                        <a:t>に不愉快で不適切な内容の投稿をすること。</a:t>
                      </a:r>
                      <a:endParaRPr sz="1800" dirty="0">
                        <a:latin typeface="Yu Gothic"/>
                        <a:cs typeface="Yu Gothic"/>
                      </a:endParaRPr>
                    </a:p>
                    <a:p>
                      <a:pPr marL="63500">
                        <a:lnSpc>
                          <a:spcPct val="100000"/>
                        </a:lnSpc>
                        <a:spcBef>
                          <a:spcPts val="5"/>
                        </a:spcBef>
                      </a:pPr>
                      <a:r>
                        <a:rPr sz="1800" spc="-40" dirty="0">
                          <a:latin typeface="Calibri"/>
                          <a:cs typeface="Calibri"/>
                        </a:rPr>
                        <a:t>YouTube</a:t>
                      </a:r>
                      <a:r>
                        <a:rPr sz="1800" spc="-30" dirty="0">
                          <a:latin typeface="Calibri"/>
                          <a:cs typeface="Calibri"/>
                        </a:rPr>
                        <a:t> </a:t>
                      </a:r>
                      <a:r>
                        <a:rPr sz="1800" dirty="0">
                          <a:latin typeface="Yu Gothic"/>
                          <a:cs typeface="Yu Gothic"/>
                        </a:rPr>
                        <a:t>上で悪名高いバイトテロ動画などはまさにこの好例。</a:t>
                      </a:r>
                    </a:p>
                  </a:txBody>
                  <a:tcPr marL="0" marR="0" marT="13970" marB="0"/>
                </a:tc>
                <a:extLst>
                  <a:ext uri="{0D108BD9-81ED-4DB2-BD59-A6C34878D82A}">
                    <a16:rowId xmlns:a16="http://schemas.microsoft.com/office/drawing/2014/main" val="2619208242"/>
                  </a:ext>
                </a:extLst>
              </a:tr>
              <a:tr h="370840">
                <a:tc>
                  <a:txBody>
                    <a:bodyPr/>
                    <a:lstStyle/>
                    <a:p>
                      <a:pPr marL="63500">
                        <a:lnSpc>
                          <a:spcPct val="100000"/>
                        </a:lnSpc>
                        <a:spcBef>
                          <a:spcPts val="1215"/>
                        </a:spcBef>
                      </a:pPr>
                      <a:r>
                        <a:rPr sz="1800" spc="-10" dirty="0">
                          <a:latin typeface="Calibri"/>
                          <a:cs typeface="Calibri"/>
                        </a:rPr>
                        <a:t>catfish</a:t>
                      </a:r>
                      <a:endParaRPr sz="1800">
                        <a:latin typeface="Calibri"/>
                        <a:cs typeface="Calibri"/>
                      </a:endParaRPr>
                    </a:p>
                  </a:txBody>
                  <a:tcPr marL="0" marR="0" marT="154305" marB="0"/>
                </a:tc>
                <a:tc>
                  <a:txBody>
                    <a:bodyPr/>
                    <a:lstStyle/>
                    <a:p>
                      <a:pPr marL="63500">
                        <a:lnSpc>
                          <a:spcPct val="100000"/>
                        </a:lnSpc>
                        <a:spcBef>
                          <a:spcPts val="110"/>
                        </a:spcBef>
                      </a:pPr>
                      <a:r>
                        <a:rPr sz="1800" dirty="0">
                          <a:latin typeface="Yu Gothic"/>
                          <a:cs typeface="Yu Gothic"/>
                        </a:rPr>
                        <a:t>本来は「ナマズ」のこと。</a:t>
                      </a:r>
                    </a:p>
                    <a:p>
                      <a:pPr marL="63500">
                        <a:lnSpc>
                          <a:spcPct val="100000"/>
                        </a:lnSpc>
                        <a:spcBef>
                          <a:spcPts val="5"/>
                        </a:spcBef>
                      </a:pPr>
                      <a:r>
                        <a:rPr sz="1800" spc="-5" dirty="0">
                          <a:latin typeface="Yu Gothic"/>
                          <a:cs typeface="Yu Gothic"/>
                        </a:rPr>
                        <a:t>転じて、他人に詐欺を働くために自分の素性を隠して他人になりすます人を指す。</a:t>
                      </a:r>
                      <a:endParaRPr sz="1800" dirty="0">
                        <a:latin typeface="Yu Gothic"/>
                        <a:cs typeface="Yu Gothic"/>
                      </a:endParaRPr>
                    </a:p>
                  </a:txBody>
                  <a:tcPr marL="0" marR="0" marT="13970" marB="0"/>
                </a:tc>
                <a:extLst>
                  <a:ext uri="{0D108BD9-81ED-4DB2-BD59-A6C34878D82A}">
                    <a16:rowId xmlns:a16="http://schemas.microsoft.com/office/drawing/2014/main" val="3430473121"/>
                  </a:ext>
                </a:extLst>
              </a:tr>
              <a:tr h="370840">
                <a:tc>
                  <a:txBody>
                    <a:bodyPr/>
                    <a:lstStyle/>
                    <a:p>
                      <a:pPr marL="63500">
                        <a:lnSpc>
                          <a:spcPct val="100000"/>
                        </a:lnSpc>
                        <a:spcBef>
                          <a:spcPts val="265"/>
                        </a:spcBef>
                      </a:pPr>
                      <a:r>
                        <a:rPr sz="1800" spc="-15" dirty="0">
                          <a:latin typeface="Calibri"/>
                          <a:cs typeface="Calibri"/>
                        </a:rPr>
                        <a:t>always-on</a:t>
                      </a:r>
                      <a:endParaRPr sz="1800">
                        <a:latin typeface="Calibri"/>
                        <a:cs typeface="Calibri"/>
                      </a:endParaRPr>
                    </a:p>
                  </a:txBody>
                  <a:tcPr marL="0" marR="0" marT="33655" marB="0"/>
                </a:tc>
                <a:tc>
                  <a:txBody>
                    <a:bodyPr/>
                    <a:lstStyle/>
                    <a:p>
                      <a:pPr marL="63500">
                        <a:lnSpc>
                          <a:spcPct val="100000"/>
                        </a:lnSpc>
                        <a:spcBef>
                          <a:spcPts val="244"/>
                        </a:spcBef>
                      </a:pPr>
                      <a:r>
                        <a:rPr sz="1800" dirty="0">
                          <a:latin typeface="Calibri"/>
                          <a:cs typeface="Calibri"/>
                        </a:rPr>
                        <a:t>SNS</a:t>
                      </a:r>
                      <a:r>
                        <a:rPr sz="1800" spc="-30" dirty="0">
                          <a:latin typeface="Calibri"/>
                          <a:cs typeface="Calibri"/>
                        </a:rPr>
                        <a:t> </a:t>
                      </a:r>
                      <a:r>
                        <a:rPr sz="1800" dirty="0">
                          <a:latin typeface="Yu Gothic"/>
                          <a:cs typeface="Yu Gothic"/>
                        </a:rPr>
                        <a:t>上で常</a:t>
                      </a:r>
                      <a:r>
                        <a:rPr sz="1800" spc="405" dirty="0">
                          <a:latin typeface="Yu Gothic"/>
                          <a:cs typeface="Yu Gothic"/>
                        </a:rPr>
                        <a:t>に</a:t>
                      </a:r>
                      <a:r>
                        <a:rPr sz="1800" spc="-5" dirty="0">
                          <a:latin typeface="Calibri"/>
                          <a:cs typeface="Calibri"/>
                        </a:rPr>
                        <a:t>Active</a:t>
                      </a:r>
                      <a:r>
                        <a:rPr sz="1800" spc="-20" dirty="0">
                          <a:latin typeface="Calibri"/>
                          <a:cs typeface="Calibri"/>
                        </a:rPr>
                        <a:t> </a:t>
                      </a:r>
                      <a:r>
                        <a:rPr sz="1800" dirty="0">
                          <a:latin typeface="Yu Gothic"/>
                          <a:cs typeface="Yu Gothic"/>
                        </a:rPr>
                        <a:t>状態であること。</a:t>
                      </a:r>
                    </a:p>
                  </a:txBody>
                  <a:tcPr marL="0" marR="0" marT="31114" marB="0"/>
                </a:tc>
                <a:extLst>
                  <a:ext uri="{0D108BD9-81ED-4DB2-BD59-A6C34878D82A}">
                    <a16:rowId xmlns:a16="http://schemas.microsoft.com/office/drawing/2014/main" val="1000960464"/>
                  </a:ext>
                </a:extLst>
              </a:tr>
            </a:tbl>
          </a:graphicData>
        </a:graphic>
      </p:graphicFrame>
    </p:spTree>
    <p:extLst>
      <p:ext uri="{BB962C8B-B14F-4D97-AF65-F5344CB8AC3E}">
        <p14:creationId xmlns:p14="http://schemas.microsoft.com/office/powerpoint/2010/main" val="3698040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latin typeface="Calibri (Headings)"/>
              </a:rPr>
              <a:t>4. </a:t>
            </a:r>
            <a:r>
              <a:rPr lang="ja-JP" altLang="en-US" b="1" dirty="0">
                <a:latin typeface="Calibri (Headings)"/>
              </a:rPr>
              <a:t>高度情報化社会</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E98A4B99-E0CE-4253-BC79-73E9BE8E3E83}"/>
              </a:ext>
            </a:extLst>
          </p:cNvPr>
          <p:cNvGraphicFramePr>
            <a:graphicFrameLocks noGrp="1"/>
          </p:cNvGraphicFramePr>
          <p:nvPr>
            <p:extLst>
              <p:ext uri="{D42A27DB-BD31-4B8C-83A1-F6EECF244321}">
                <p14:modId xmlns:p14="http://schemas.microsoft.com/office/powerpoint/2010/main" val="2564046591"/>
              </p:ext>
            </p:extLst>
          </p:nvPr>
        </p:nvGraphicFramePr>
        <p:xfrm>
          <a:off x="819150" y="1819275"/>
          <a:ext cx="10515600" cy="3187318"/>
        </p:xfrm>
        <a:graphic>
          <a:graphicData uri="http://schemas.openxmlformats.org/drawingml/2006/table">
            <a:tbl>
              <a:tblPr firstRow="1" bandRow="1">
                <a:tableStyleId>{5C22544A-7EE6-4342-B048-85BDC9FD1C3A}</a:tableStyleId>
              </a:tblPr>
              <a:tblGrid>
                <a:gridCol w="1638824">
                  <a:extLst>
                    <a:ext uri="{9D8B030D-6E8A-4147-A177-3AD203B41FA5}">
                      <a16:colId xmlns:a16="http://schemas.microsoft.com/office/drawing/2014/main" val="3930260277"/>
                    </a:ext>
                  </a:extLst>
                </a:gridCol>
                <a:gridCol w="8876776">
                  <a:extLst>
                    <a:ext uri="{9D8B030D-6E8A-4147-A177-3AD203B41FA5}">
                      <a16:colId xmlns:a16="http://schemas.microsoft.com/office/drawing/2014/main" val="2530295050"/>
                    </a:ext>
                  </a:extLst>
                </a:gridCol>
              </a:tblGrid>
              <a:tr h="0">
                <a:tc>
                  <a:txBody>
                    <a:bodyPr/>
                    <a:lstStyle/>
                    <a:p>
                      <a:pPr marL="91440">
                        <a:lnSpc>
                          <a:spcPct val="100000"/>
                        </a:lnSpc>
                        <a:spcBef>
                          <a:spcPts val="229"/>
                        </a:spcBef>
                      </a:pPr>
                      <a:r>
                        <a:rPr sz="1800" b="1" dirty="0">
                          <a:solidFill>
                            <a:srgbClr val="FFFFFF"/>
                          </a:solidFill>
                          <a:latin typeface="Yu Gothic"/>
                          <a:cs typeface="Yu Gothic"/>
                        </a:rPr>
                        <a:t>表現</a:t>
                      </a:r>
                      <a:endParaRPr sz="1800" dirty="0">
                        <a:latin typeface="Yu Gothic"/>
                        <a:cs typeface="Yu Gothic"/>
                      </a:endParaRPr>
                    </a:p>
                  </a:txBody>
                  <a:tcPr marL="0" marR="0" marT="29209" marB="0"/>
                </a:tc>
                <a:tc>
                  <a:txBody>
                    <a:bodyPr/>
                    <a:lstStyle/>
                    <a:p>
                      <a:pPr marL="91440">
                        <a:lnSpc>
                          <a:spcPct val="100000"/>
                        </a:lnSpc>
                        <a:spcBef>
                          <a:spcPts val="229"/>
                        </a:spcBef>
                      </a:pPr>
                      <a:r>
                        <a:rPr sz="1800" b="1" dirty="0">
                          <a:solidFill>
                            <a:srgbClr val="FFFFFF"/>
                          </a:solidFill>
                          <a:latin typeface="Yu Gothic"/>
                          <a:cs typeface="Yu Gothic"/>
                        </a:rPr>
                        <a:t>意味</a:t>
                      </a:r>
                      <a:endParaRPr sz="1800">
                        <a:latin typeface="Yu Gothic"/>
                        <a:cs typeface="Yu Gothic"/>
                      </a:endParaRPr>
                    </a:p>
                  </a:txBody>
                  <a:tcPr marL="0" marR="0" marT="29209" marB="0"/>
                </a:tc>
                <a:extLst>
                  <a:ext uri="{0D108BD9-81ED-4DB2-BD59-A6C34878D82A}">
                    <a16:rowId xmlns:a16="http://schemas.microsoft.com/office/drawing/2014/main" val="2134962177"/>
                  </a:ext>
                </a:extLst>
              </a:tr>
              <a:tr h="370840">
                <a:tc>
                  <a:txBody>
                    <a:bodyPr/>
                    <a:lstStyle/>
                    <a:p>
                      <a:pPr marL="63500">
                        <a:lnSpc>
                          <a:spcPct val="100000"/>
                        </a:lnSpc>
                        <a:spcBef>
                          <a:spcPts val="1210"/>
                        </a:spcBef>
                      </a:pPr>
                      <a:r>
                        <a:rPr sz="1800" spc="-10" dirty="0">
                          <a:latin typeface="Calibri"/>
                          <a:cs typeface="Calibri"/>
                        </a:rPr>
                        <a:t>text-neck</a:t>
                      </a:r>
                      <a:endParaRPr sz="1800">
                        <a:latin typeface="Calibri"/>
                        <a:cs typeface="Calibri"/>
                      </a:endParaRPr>
                    </a:p>
                  </a:txBody>
                  <a:tcPr marL="0" marR="0" marT="153670" marB="0"/>
                </a:tc>
                <a:tc>
                  <a:txBody>
                    <a:bodyPr/>
                    <a:lstStyle/>
                    <a:p>
                      <a:pPr marL="63500">
                        <a:lnSpc>
                          <a:spcPct val="100000"/>
                        </a:lnSpc>
                        <a:spcBef>
                          <a:spcPts val="110"/>
                        </a:spcBef>
                      </a:pPr>
                      <a:r>
                        <a:rPr sz="1800" dirty="0">
                          <a:latin typeface="Yu Gothic"/>
                          <a:cs typeface="Yu Gothic"/>
                        </a:rPr>
                        <a:t>スマホを見る際の首を下に傾けた姿勢を取り続けることで首が曲がること。</a:t>
                      </a:r>
                      <a:endParaRPr sz="1800">
                        <a:latin typeface="Yu Gothic"/>
                        <a:cs typeface="Yu Gothic"/>
                      </a:endParaRPr>
                    </a:p>
                    <a:p>
                      <a:pPr marL="63500">
                        <a:lnSpc>
                          <a:spcPct val="100000"/>
                        </a:lnSpc>
                      </a:pPr>
                      <a:r>
                        <a:rPr sz="1800" spc="-5" dirty="0">
                          <a:latin typeface="Yu Gothic"/>
                          <a:cs typeface="Yu Gothic"/>
                        </a:rPr>
                        <a:t>日本語で言う「ストレートネック」。</a:t>
                      </a:r>
                      <a:endParaRPr sz="1800">
                        <a:latin typeface="Yu Gothic"/>
                        <a:cs typeface="Yu Gothic"/>
                      </a:endParaRPr>
                    </a:p>
                  </a:txBody>
                  <a:tcPr marL="0" marR="0" marT="13970" marB="0"/>
                </a:tc>
                <a:extLst>
                  <a:ext uri="{0D108BD9-81ED-4DB2-BD59-A6C34878D82A}">
                    <a16:rowId xmlns:a16="http://schemas.microsoft.com/office/drawing/2014/main" val="4029990272"/>
                  </a:ext>
                </a:extLst>
              </a:tr>
              <a:tr h="370840">
                <a:tc>
                  <a:txBody>
                    <a:bodyPr/>
                    <a:lstStyle/>
                    <a:p>
                      <a:pPr marL="63500">
                        <a:lnSpc>
                          <a:spcPct val="100000"/>
                        </a:lnSpc>
                        <a:spcBef>
                          <a:spcPts val="265"/>
                        </a:spcBef>
                      </a:pPr>
                      <a:r>
                        <a:rPr sz="1800" spc="-10" dirty="0">
                          <a:latin typeface="Calibri"/>
                          <a:cs typeface="Calibri"/>
                        </a:rPr>
                        <a:t>Instagrammable</a:t>
                      </a:r>
                      <a:endParaRPr sz="1800">
                        <a:latin typeface="Calibri"/>
                        <a:cs typeface="Calibri"/>
                      </a:endParaRPr>
                    </a:p>
                  </a:txBody>
                  <a:tcPr marL="0" marR="0" marT="33655" marB="0"/>
                </a:tc>
                <a:tc>
                  <a:txBody>
                    <a:bodyPr/>
                    <a:lstStyle/>
                    <a:p>
                      <a:pPr marL="63500">
                        <a:lnSpc>
                          <a:spcPct val="100000"/>
                        </a:lnSpc>
                        <a:spcBef>
                          <a:spcPts val="240"/>
                        </a:spcBef>
                      </a:pPr>
                      <a:r>
                        <a:rPr sz="1800" dirty="0">
                          <a:latin typeface="Yu Gothic"/>
                          <a:cs typeface="Yu Gothic"/>
                        </a:rPr>
                        <a:t>日本語で言う「</a:t>
                      </a:r>
                      <a:r>
                        <a:rPr sz="1800" dirty="0">
                          <a:latin typeface="Calibri"/>
                          <a:cs typeface="Calibri"/>
                        </a:rPr>
                        <a:t>SNS</a:t>
                      </a:r>
                      <a:r>
                        <a:rPr sz="1800" spc="-95" dirty="0">
                          <a:latin typeface="Calibri"/>
                          <a:cs typeface="Calibri"/>
                        </a:rPr>
                        <a:t> </a:t>
                      </a:r>
                      <a:r>
                        <a:rPr sz="1800" dirty="0">
                          <a:latin typeface="Yu Gothic"/>
                          <a:cs typeface="Yu Gothic"/>
                        </a:rPr>
                        <a:t>映え」。</a:t>
                      </a:r>
                      <a:endParaRPr sz="1800">
                        <a:latin typeface="Yu Gothic"/>
                        <a:cs typeface="Yu Gothic"/>
                      </a:endParaRPr>
                    </a:p>
                  </a:txBody>
                  <a:tcPr marL="0" marR="0" marT="30480" marB="0"/>
                </a:tc>
                <a:extLst>
                  <a:ext uri="{0D108BD9-81ED-4DB2-BD59-A6C34878D82A}">
                    <a16:rowId xmlns:a16="http://schemas.microsoft.com/office/drawing/2014/main" val="2448037545"/>
                  </a:ext>
                </a:extLst>
              </a:tr>
              <a:tr h="370840">
                <a:tc>
                  <a:txBody>
                    <a:bodyPr/>
                    <a:lstStyle/>
                    <a:p>
                      <a:pPr marL="63500">
                        <a:lnSpc>
                          <a:spcPct val="100000"/>
                        </a:lnSpc>
                        <a:spcBef>
                          <a:spcPts val="1075"/>
                        </a:spcBef>
                      </a:pPr>
                      <a:r>
                        <a:rPr sz="1800" spc="-10" dirty="0">
                          <a:latin typeface="Calibri"/>
                          <a:cs typeface="Calibri"/>
                        </a:rPr>
                        <a:t>FOMO</a:t>
                      </a:r>
                      <a:endParaRPr sz="1800">
                        <a:latin typeface="Calibri"/>
                        <a:cs typeface="Calibri"/>
                      </a:endParaRPr>
                    </a:p>
                  </a:txBody>
                  <a:tcPr marL="0" marR="0" marT="136525" marB="0"/>
                </a:tc>
                <a:tc>
                  <a:txBody>
                    <a:bodyPr/>
                    <a:lstStyle/>
                    <a:p>
                      <a:pPr marL="63500">
                        <a:lnSpc>
                          <a:spcPts val="2140"/>
                        </a:lnSpc>
                      </a:pPr>
                      <a:r>
                        <a:rPr sz="1800" b="1" dirty="0">
                          <a:latin typeface="Calibri"/>
                          <a:cs typeface="Calibri"/>
                        </a:rPr>
                        <a:t>F</a:t>
                      </a:r>
                      <a:r>
                        <a:rPr sz="1800" dirty="0">
                          <a:latin typeface="Calibri"/>
                          <a:cs typeface="Calibri"/>
                        </a:rPr>
                        <a:t>ear</a:t>
                      </a:r>
                      <a:r>
                        <a:rPr sz="1800" spc="-20" dirty="0">
                          <a:latin typeface="Calibri"/>
                          <a:cs typeface="Calibri"/>
                        </a:rPr>
                        <a:t> </a:t>
                      </a:r>
                      <a:r>
                        <a:rPr sz="1800" b="1" spc="-5" dirty="0">
                          <a:latin typeface="Calibri"/>
                          <a:cs typeface="Calibri"/>
                        </a:rPr>
                        <a:t>O</a:t>
                      </a:r>
                      <a:r>
                        <a:rPr sz="1800" spc="-5" dirty="0">
                          <a:latin typeface="Calibri"/>
                          <a:cs typeface="Calibri"/>
                        </a:rPr>
                        <a:t>f</a:t>
                      </a:r>
                      <a:r>
                        <a:rPr sz="1800" spc="-20" dirty="0">
                          <a:latin typeface="Calibri"/>
                          <a:cs typeface="Calibri"/>
                        </a:rPr>
                        <a:t> </a:t>
                      </a:r>
                      <a:r>
                        <a:rPr sz="1800" b="1" spc="-5" dirty="0">
                          <a:latin typeface="Calibri"/>
                          <a:cs typeface="Calibri"/>
                        </a:rPr>
                        <a:t>M</a:t>
                      </a:r>
                      <a:r>
                        <a:rPr sz="1800" spc="-5" dirty="0">
                          <a:latin typeface="Calibri"/>
                          <a:cs typeface="Calibri"/>
                        </a:rPr>
                        <a:t>issing</a:t>
                      </a:r>
                      <a:r>
                        <a:rPr sz="1800" spc="-10" dirty="0">
                          <a:latin typeface="Calibri"/>
                          <a:cs typeface="Calibri"/>
                        </a:rPr>
                        <a:t> </a:t>
                      </a:r>
                      <a:r>
                        <a:rPr sz="1800" b="1" spc="-5" dirty="0">
                          <a:latin typeface="Calibri"/>
                          <a:cs typeface="Calibri"/>
                        </a:rPr>
                        <a:t>O</a:t>
                      </a:r>
                      <a:r>
                        <a:rPr sz="1800" spc="-5" dirty="0">
                          <a:latin typeface="Calibri"/>
                          <a:cs typeface="Calibri"/>
                        </a:rPr>
                        <a:t>ut</a:t>
                      </a:r>
                      <a:endParaRPr sz="1800">
                        <a:latin typeface="Calibri"/>
                        <a:cs typeface="Calibri"/>
                      </a:endParaRPr>
                    </a:p>
                    <a:p>
                      <a:pPr marL="63500">
                        <a:lnSpc>
                          <a:spcPts val="2150"/>
                        </a:lnSpc>
                      </a:pPr>
                      <a:r>
                        <a:rPr sz="1800" dirty="0">
                          <a:latin typeface="Yu Gothic"/>
                          <a:cs typeface="Yu Gothic"/>
                        </a:rPr>
                        <a:t>最新の情報への落後や機会損失に対する恐れを意味する。</a:t>
                      </a:r>
                      <a:endParaRPr sz="1800">
                        <a:latin typeface="Yu Gothic"/>
                        <a:cs typeface="Yu Gothic"/>
                      </a:endParaRPr>
                    </a:p>
                  </a:txBody>
                  <a:tcPr marL="0" marR="0" marT="0" marB="0"/>
                </a:tc>
                <a:extLst>
                  <a:ext uri="{0D108BD9-81ED-4DB2-BD59-A6C34878D82A}">
                    <a16:rowId xmlns:a16="http://schemas.microsoft.com/office/drawing/2014/main" val="918848728"/>
                  </a:ext>
                </a:extLst>
              </a:tr>
              <a:tr h="370840">
                <a:tc>
                  <a:txBody>
                    <a:bodyPr/>
                    <a:lstStyle/>
                    <a:p>
                      <a:pPr>
                        <a:lnSpc>
                          <a:spcPct val="100000"/>
                        </a:lnSpc>
                        <a:spcBef>
                          <a:spcPts val="15"/>
                        </a:spcBef>
                      </a:pPr>
                      <a:endParaRPr sz="2050">
                        <a:latin typeface="Times New Roman"/>
                        <a:cs typeface="Times New Roman"/>
                      </a:endParaRPr>
                    </a:p>
                    <a:p>
                      <a:pPr marL="63500">
                        <a:lnSpc>
                          <a:spcPct val="100000"/>
                        </a:lnSpc>
                      </a:pPr>
                      <a:r>
                        <a:rPr sz="1800" dirty="0">
                          <a:latin typeface="Calibri"/>
                          <a:cs typeface="Calibri"/>
                        </a:rPr>
                        <a:t>JOMO</a:t>
                      </a:r>
                      <a:endParaRPr sz="1800">
                        <a:latin typeface="Calibri"/>
                        <a:cs typeface="Calibri"/>
                      </a:endParaRPr>
                    </a:p>
                  </a:txBody>
                  <a:tcPr marL="0" marR="0" marT="1905" marB="0"/>
                </a:tc>
                <a:tc>
                  <a:txBody>
                    <a:bodyPr/>
                    <a:lstStyle/>
                    <a:p>
                      <a:pPr marL="63500">
                        <a:lnSpc>
                          <a:spcPts val="2150"/>
                        </a:lnSpc>
                        <a:spcBef>
                          <a:spcPts val="215"/>
                        </a:spcBef>
                      </a:pPr>
                      <a:r>
                        <a:rPr sz="1800" b="1" spc="-5" dirty="0">
                          <a:latin typeface="Calibri"/>
                          <a:cs typeface="Calibri"/>
                        </a:rPr>
                        <a:t>J</a:t>
                      </a:r>
                      <a:r>
                        <a:rPr sz="1800" spc="-5" dirty="0">
                          <a:latin typeface="Calibri"/>
                          <a:cs typeface="Calibri"/>
                        </a:rPr>
                        <a:t>oy</a:t>
                      </a:r>
                      <a:r>
                        <a:rPr sz="1800" spc="-20" dirty="0">
                          <a:latin typeface="Calibri"/>
                          <a:cs typeface="Calibri"/>
                        </a:rPr>
                        <a:t> </a:t>
                      </a:r>
                      <a:r>
                        <a:rPr sz="1800" b="1" spc="-5" dirty="0">
                          <a:latin typeface="Calibri"/>
                          <a:cs typeface="Calibri"/>
                        </a:rPr>
                        <a:t>O</a:t>
                      </a:r>
                      <a:r>
                        <a:rPr sz="1800" spc="-5" dirty="0">
                          <a:latin typeface="Calibri"/>
                          <a:cs typeface="Calibri"/>
                        </a:rPr>
                        <a:t>f </a:t>
                      </a:r>
                      <a:r>
                        <a:rPr sz="1800" b="1" spc="-5" dirty="0">
                          <a:latin typeface="Calibri"/>
                          <a:cs typeface="Calibri"/>
                        </a:rPr>
                        <a:t>M</a:t>
                      </a:r>
                      <a:r>
                        <a:rPr sz="1800" spc="-5" dirty="0">
                          <a:latin typeface="Calibri"/>
                          <a:cs typeface="Calibri"/>
                        </a:rPr>
                        <a:t>issing</a:t>
                      </a:r>
                      <a:r>
                        <a:rPr sz="1800" spc="-10" dirty="0">
                          <a:latin typeface="Calibri"/>
                          <a:cs typeface="Calibri"/>
                        </a:rPr>
                        <a:t> </a:t>
                      </a:r>
                      <a:r>
                        <a:rPr sz="1800" b="1" spc="-5" dirty="0">
                          <a:latin typeface="Calibri"/>
                          <a:cs typeface="Calibri"/>
                        </a:rPr>
                        <a:t>O</a:t>
                      </a:r>
                      <a:r>
                        <a:rPr sz="1800" spc="-5" dirty="0">
                          <a:latin typeface="Calibri"/>
                          <a:cs typeface="Calibri"/>
                        </a:rPr>
                        <a:t>ut</a:t>
                      </a:r>
                      <a:endParaRPr sz="1800">
                        <a:latin typeface="Calibri"/>
                        <a:cs typeface="Calibri"/>
                      </a:endParaRPr>
                    </a:p>
                    <a:p>
                      <a:pPr marL="63500">
                        <a:lnSpc>
                          <a:spcPts val="2150"/>
                        </a:lnSpc>
                      </a:pPr>
                      <a:r>
                        <a:rPr sz="1800" i="1" spc="-10" dirty="0">
                          <a:latin typeface="Calibri"/>
                          <a:cs typeface="Calibri"/>
                        </a:rPr>
                        <a:t>FOMO</a:t>
                      </a:r>
                      <a:r>
                        <a:rPr sz="1800" i="1" spc="-40" dirty="0">
                          <a:latin typeface="Calibri"/>
                          <a:cs typeface="Calibri"/>
                        </a:rPr>
                        <a:t> </a:t>
                      </a:r>
                      <a:r>
                        <a:rPr sz="1800" dirty="0">
                          <a:latin typeface="Yu Gothic"/>
                          <a:cs typeface="Yu Gothic"/>
                        </a:rPr>
                        <a:t>の実質的な対義語。</a:t>
                      </a:r>
                      <a:endParaRPr sz="1800">
                        <a:latin typeface="Yu Gothic"/>
                        <a:cs typeface="Yu Gothic"/>
                      </a:endParaRPr>
                    </a:p>
                    <a:p>
                      <a:pPr marL="63500">
                        <a:lnSpc>
                          <a:spcPct val="100000"/>
                        </a:lnSpc>
                      </a:pPr>
                      <a:r>
                        <a:rPr sz="1800" dirty="0">
                          <a:latin typeface="Yu Gothic"/>
                          <a:cs typeface="Yu Gothic"/>
                        </a:rPr>
                        <a:t>能動的に受け取る情報をコントロールし、日常生活の喜びを取り戻そうとする動き。</a:t>
                      </a:r>
                      <a:endParaRPr sz="1800">
                        <a:latin typeface="Yu Gothic"/>
                        <a:cs typeface="Yu Gothic"/>
                      </a:endParaRPr>
                    </a:p>
                  </a:txBody>
                  <a:tcPr marL="0" marR="0" marT="27305" marB="0"/>
                </a:tc>
                <a:extLst>
                  <a:ext uri="{0D108BD9-81ED-4DB2-BD59-A6C34878D82A}">
                    <a16:rowId xmlns:a16="http://schemas.microsoft.com/office/drawing/2014/main" val="2752411568"/>
                  </a:ext>
                </a:extLst>
              </a:tr>
              <a:tr h="370840">
                <a:tc>
                  <a:txBody>
                    <a:bodyPr/>
                    <a:lstStyle/>
                    <a:p>
                      <a:pPr marL="63500">
                        <a:lnSpc>
                          <a:spcPct val="100000"/>
                        </a:lnSpc>
                        <a:spcBef>
                          <a:spcPts val="1110"/>
                        </a:spcBef>
                      </a:pPr>
                      <a:r>
                        <a:rPr sz="1800" spc="-10" dirty="0">
                          <a:latin typeface="Calibri"/>
                          <a:cs typeface="Calibri"/>
                        </a:rPr>
                        <a:t>couch-potato</a:t>
                      </a:r>
                      <a:endParaRPr sz="1800" dirty="0">
                        <a:latin typeface="Calibri"/>
                        <a:cs typeface="Calibri"/>
                      </a:endParaRPr>
                    </a:p>
                  </a:txBody>
                  <a:tcPr marL="0" marR="0" marT="140970" marB="0"/>
                </a:tc>
                <a:tc>
                  <a:txBody>
                    <a:bodyPr/>
                    <a:lstStyle/>
                    <a:p>
                      <a:pPr marL="63500" marR="161925">
                        <a:lnSpc>
                          <a:spcPct val="100000"/>
                        </a:lnSpc>
                        <a:spcBef>
                          <a:spcPts val="5"/>
                        </a:spcBef>
                      </a:pPr>
                      <a:r>
                        <a:rPr sz="1800" spc="-5" dirty="0">
                          <a:latin typeface="Calibri"/>
                          <a:cs typeface="Calibri"/>
                        </a:rPr>
                        <a:t>T</a:t>
                      </a:r>
                      <a:r>
                        <a:rPr sz="1800" dirty="0">
                          <a:latin typeface="Calibri"/>
                          <a:cs typeface="Calibri"/>
                        </a:rPr>
                        <a:t>V</a:t>
                      </a:r>
                      <a:r>
                        <a:rPr sz="1800" spc="10" dirty="0">
                          <a:latin typeface="Calibri"/>
                          <a:cs typeface="Calibri"/>
                        </a:rPr>
                        <a:t> </a:t>
                      </a:r>
                      <a:r>
                        <a:rPr sz="1800" dirty="0">
                          <a:latin typeface="Yu Gothic"/>
                          <a:cs typeface="Yu Gothic"/>
                        </a:rPr>
                        <a:t>を見ながらポテトチップスをつまむことだが、近年は</a:t>
                      </a:r>
                      <a:r>
                        <a:rPr sz="1800" spc="-105" dirty="0">
                          <a:latin typeface="Yu Gothic"/>
                          <a:cs typeface="Yu Gothic"/>
                        </a:rPr>
                        <a:t> </a:t>
                      </a:r>
                      <a:r>
                        <a:rPr sz="1800" spc="-5" dirty="0">
                          <a:latin typeface="Calibri"/>
                          <a:cs typeface="Calibri"/>
                        </a:rPr>
                        <a:t>T</a:t>
                      </a:r>
                      <a:r>
                        <a:rPr sz="1800" dirty="0">
                          <a:latin typeface="Calibri"/>
                          <a:cs typeface="Calibri"/>
                        </a:rPr>
                        <a:t>V</a:t>
                      </a:r>
                      <a:r>
                        <a:rPr sz="1800" spc="10" dirty="0">
                          <a:latin typeface="Calibri"/>
                          <a:cs typeface="Calibri"/>
                        </a:rPr>
                        <a:t> </a:t>
                      </a:r>
                      <a:r>
                        <a:rPr sz="1800" dirty="0">
                          <a:latin typeface="Yu Gothic"/>
                          <a:cs typeface="Yu Gothic"/>
                        </a:rPr>
                        <a:t>を見ることも少なくなっ たため、ほとんど死語となっている。</a:t>
                      </a:r>
                    </a:p>
                  </a:txBody>
                  <a:tcPr marL="0" marR="0" marT="635" marB="0"/>
                </a:tc>
                <a:extLst>
                  <a:ext uri="{0D108BD9-81ED-4DB2-BD59-A6C34878D82A}">
                    <a16:rowId xmlns:a16="http://schemas.microsoft.com/office/drawing/2014/main" val="3836482620"/>
                  </a:ext>
                </a:extLst>
              </a:tr>
            </a:tbl>
          </a:graphicData>
        </a:graphic>
      </p:graphicFrame>
    </p:spTree>
    <p:extLst>
      <p:ext uri="{BB962C8B-B14F-4D97-AF65-F5344CB8AC3E}">
        <p14:creationId xmlns:p14="http://schemas.microsoft.com/office/powerpoint/2010/main" val="29023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5. </a:t>
            </a:r>
            <a:r>
              <a:rPr lang="ja-JP" altLang="en-US" b="1" dirty="0">
                <a:latin typeface="Calibri (Headings)"/>
              </a:rPr>
              <a:t>その他</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5164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その他</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5" name="object 3">
            <a:extLst>
              <a:ext uri="{FF2B5EF4-FFF2-40B4-BE49-F238E27FC236}">
                <a16:creationId xmlns:a16="http://schemas.microsoft.com/office/drawing/2014/main" id="{2CA6151E-55D3-5122-A179-7BBE6060B697}"/>
              </a:ext>
            </a:extLst>
          </p:cNvPr>
          <p:cNvGraphicFramePr>
            <a:graphicFrameLocks noGrp="1"/>
          </p:cNvGraphicFramePr>
          <p:nvPr/>
        </p:nvGraphicFramePr>
        <p:xfrm>
          <a:off x="831850" y="1819275"/>
          <a:ext cx="10516233" cy="3332478"/>
        </p:xfrm>
        <a:graphic>
          <a:graphicData uri="http://schemas.openxmlformats.org/drawingml/2006/table">
            <a:tbl>
              <a:tblPr firstRow="1" bandRow="1">
                <a:tableStyleId>{2D5ABB26-0587-4C30-8999-92F81FD0307C}</a:tableStyleId>
              </a:tblPr>
              <a:tblGrid>
                <a:gridCol w="1936114">
                  <a:extLst>
                    <a:ext uri="{9D8B030D-6E8A-4147-A177-3AD203B41FA5}">
                      <a16:colId xmlns:a16="http://schemas.microsoft.com/office/drawing/2014/main" val="20000"/>
                    </a:ext>
                  </a:extLst>
                </a:gridCol>
                <a:gridCol w="8580119">
                  <a:extLst>
                    <a:ext uri="{9D8B030D-6E8A-4147-A177-3AD203B41FA5}">
                      <a16:colId xmlns:a16="http://schemas.microsoft.com/office/drawing/2014/main" val="20001"/>
                    </a:ext>
                  </a:extLst>
                </a:gridCol>
              </a:tblGrid>
              <a:tr h="370839">
                <a:tc>
                  <a:txBody>
                    <a:bodyPr/>
                    <a:lstStyle/>
                    <a:p>
                      <a:pPr marL="91440">
                        <a:lnSpc>
                          <a:spcPct val="100000"/>
                        </a:lnSpc>
                        <a:spcBef>
                          <a:spcPts val="229"/>
                        </a:spcBef>
                      </a:pPr>
                      <a:r>
                        <a:rPr sz="1800" b="1" dirty="0">
                          <a:solidFill>
                            <a:srgbClr val="FFFFFF"/>
                          </a:solidFill>
                          <a:latin typeface="Yu Gothic"/>
                          <a:cs typeface="Yu Gothic"/>
                        </a:rPr>
                        <a:t>表現</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640080">
                <a:tc>
                  <a:txBody>
                    <a:bodyPr/>
                    <a:lstStyle/>
                    <a:p>
                      <a:pPr marL="91440" marR="443230">
                        <a:lnSpc>
                          <a:spcPct val="100000"/>
                        </a:lnSpc>
                        <a:spcBef>
                          <a:spcPts val="244"/>
                        </a:spcBef>
                      </a:pPr>
                      <a:r>
                        <a:rPr sz="1800" spc="-10" dirty="0">
                          <a:latin typeface="Calibri"/>
                          <a:cs typeface="Calibri"/>
                        </a:rPr>
                        <a:t>g</a:t>
                      </a:r>
                      <a:r>
                        <a:rPr sz="1800" dirty="0">
                          <a:latin typeface="Calibri"/>
                          <a:cs typeface="Calibri"/>
                        </a:rPr>
                        <a:t>e</a:t>
                      </a:r>
                      <a:r>
                        <a:rPr sz="1800" spc="5" dirty="0">
                          <a:latin typeface="Calibri"/>
                          <a:cs typeface="Calibri"/>
                        </a:rPr>
                        <a:t>n</a:t>
                      </a:r>
                      <a:r>
                        <a:rPr sz="1800" spc="-5" dirty="0">
                          <a:latin typeface="Calibri"/>
                          <a:cs typeface="Calibri"/>
                        </a:rPr>
                        <a:t>d</a:t>
                      </a:r>
                      <a:r>
                        <a:rPr sz="1800" dirty="0">
                          <a:latin typeface="Calibri"/>
                          <a:cs typeface="Calibri"/>
                        </a:rPr>
                        <a:t>er-</a:t>
                      </a:r>
                      <a:r>
                        <a:rPr sz="1800" spc="-5" dirty="0">
                          <a:latin typeface="Calibri"/>
                          <a:cs typeface="Calibri"/>
                        </a:rPr>
                        <a:t>n</a:t>
                      </a:r>
                      <a:r>
                        <a:rPr sz="1800" dirty="0">
                          <a:latin typeface="Calibri"/>
                          <a:cs typeface="Calibri"/>
                        </a:rPr>
                        <a:t>e</a:t>
                      </a:r>
                      <a:r>
                        <a:rPr sz="1800" spc="-5" dirty="0">
                          <a:latin typeface="Calibri"/>
                          <a:cs typeface="Calibri"/>
                        </a:rPr>
                        <a:t>ut</a:t>
                      </a:r>
                      <a:r>
                        <a:rPr sz="1800" spc="-45" dirty="0">
                          <a:latin typeface="Calibri"/>
                          <a:cs typeface="Calibri"/>
                        </a:rPr>
                        <a:t>r</a:t>
                      </a:r>
                      <a:r>
                        <a:rPr sz="1800" dirty="0">
                          <a:latin typeface="Calibri"/>
                          <a:cs typeface="Calibri"/>
                        </a:rPr>
                        <a:t>al  </a:t>
                      </a:r>
                      <a:r>
                        <a:rPr sz="1800" spc="-5" dirty="0">
                          <a:latin typeface="Calibri"/>
                          <a:cs typeface="Calibri"/>
                        </a:rPr>
                        <a:t>gender-fluid</a:t>
                      </a:r>
                      <a:endParaRPr sz="1800">
                        <a:latin typeface="Calibri"/>
                        <a:cs typeface="Calibri"/>
                      </a:endParaRPr>
                    </a:p>
                  </a:txBody>
                  <a:tcPr marL="0" marR="0" marT="3111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19"/>
                        </a:spcBef>
                      </a:pPr>
                      <a:r>
                        <a:rPr sz="1800" i="1" spc="-5" dirty="0">
                          <a:latin typeface="Calibri"/>
                          <a:cs typeface="Calibri"/>
                        </a:rPr>
                        <a:t>transgender</a:t>
                      </a:r>
                      <a:r>
                        <a:rPr sz="1800" i="1" spc="-30" dirty="0">
                          <a:latin typeface="Calibri"/>
                          <a:cs typeface="Calibri"/>
                        </a:rPr>
                        <a:t> </a:t>
                      </a:r>
                      <a:r>
                        <a:rPr sz="1800" dirty="0">
                          <a:latin typeface="Yu Gothic"/>
                          <a:cs typeface="Yu Gothic"/>
                        </a:rPr>
                        <a:t>が身体の性と認知上の性の不一致を表すのに対し、</a:t>
                      </a:r>
                    </a:p>
                    <a:p>
                      <a:pPr marL="91440">
                        <a:lnSpc>
                          <a:spcPct val="100000"/>
                        </a:lnSpc>
                      </a:pPr>
                      <a:r>
                        <a:rPr sz="1800" dirty="0">
                          <a:latin typeface="Yu Gothic"/>
                          <a:cs typeface="Yu Gothic"/>
                        </a:rPr>
                        <a:t>「全性愛」という性差を超えてあらゆる他者に魅力を感じる人々のこと。</a:t>
                      </a:r>
                    </a:p>
                  </a:txBody>
                  <a:tcPr marL="0" marR="0" marT="2793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1435099">
                <a:tc>
                  <a:txBody>
                    <a:bodyPr/>
                    <a:lstStyle/>
                    <a:p>
                      <a:pPr>
                        <a:lnSpc>
                          <a:spcPct val="100000"/>
                        </a:lnSpc>
                      </a:pPr>
                      <a:endParaRPr sz="1800">
                        <a:latin typeface="Times New Roman"/>
                        <a:cs typeface="Times New Roman"/>
                      </a:endParaRPr>
                    </a:p>
                    <a:p>
                      <a:pPr marL="63500">
                        <a:lnSpc>
                          <a:spcPct val="100000"/>
                        </a:lnSpc>
                        <a:spcBef>
                          <a:spcPts val="1305"/>
                        </a:spcBef>
                      </a:pPr>
                      <a:r>
                        <a:rPr sz="1800" spc="-5" dirty="0">
                          <a:latin typeface="Calibri"/>
                          <a:cs typeface="Calibri"/>
                        </a:rPr>
                        <a:t>go</a:t>
                      </a:r>
                      <a:r>
                        <a:rPr sz="1800" spc="-50" dirty="0">
                          <a:latin typeface="Calibri"/>
                          <a:cs typeface="Calibri"/>
                        </a:rPr>
                        <a:t> </a:t>
                      </a:r>
                      <a:r>
                        <a:rPr sz="1800" spc="-10" dirty="0">
                          <a:latin typeface="Calibri"/>
                          <a:cs typeface="Calibri"/>
                        </a:rPr>
                        <a:t>postal</a:t>
                      </a:r>
                      <a:endParaRPr sz="1800">
                        <a:latin typeface="Calibri"/>
                        <a:cs typeface="Calibri"/>
                      </a:endParaRPr>
                    </a:p>
                    <a:p>
                      <a:pPr marL="63500">
                        <a:lnSpc>
                          <a:spcPct val="100000"/>
                        </a:lnSpc>
                      </a:pPr>
                      <a:r>
                        <a:rPr sz="1800" dirty="0">
                          <a:latin typeface="Calibri"/>
                          <a:cs typeface="Calibri"/>
                        </a:rPr>
                        <a:t>→</a:t>
                      </a:r>
                      <a:r>
                        <a:rPr sz="1800" spc="-25" dirty="0">
                          <a:latin typeface="Calibri"/>
                          <a:cs typeface="Calibri"/>
                        </a:rPr>
                        <a:t> </a:t>
                      </a:r>
                      <a:r>
                        <a:rPr sz="1800" dirty="0">
                          <a:latin typeface="Calibri"/>
                          <a:cs typeface="Calibri"/>
                        </a:rPr>
                        <a:t>Run,</a:t>
                      </a:r>
                      <a:r>
                        <a:rPr sz="1800" spc="-15" dirty="0">
                          <a:latin typeface="Calibri"/>
                          <a:cs typeface="Calibri"/>
                        </a:rPr>
                        <a:t> </a:t>
                      </a:r>
                      <a:r>
                        <a:rPr sz="1800" spc="-5" dirty="0">
                          <a:latin typeface="Calibri"/>
                          <a:cs typeface="Calibri"/>
                        </a:rPr>
                        <a:t>Hide, Fight</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110"/>
                        </a:spcBef>
                      </a:pPr>
                      <a:r>
                        <a:rPr sz="1800" dirty="0">
                          <a:latin typeface="Yu Gothic"/>
                          <a:cs typeface="Yu Gothic"/>
                        </a:rPr>
                        <a:t>「銃乱射事件」のこと。</a:t>
                      </a:r>
                      <a:endParaRPr sz="1800">
                        <a:latin typeface="Yu Gothic"/>
                        <a:cs typeface="Yu Gothic"/>
                      </a:endParaRPr>
                    </a:p>
                    <a:p>
                      <a:pPr marL="63500" marR="278130">
                        <a:lnSpc>
                          <a:spcPct val="100000"/>
                        </a:lnSpc>
                      </a:pPr>
                      <a:r>
                        <a:rPr sz="1800" dirty="0">
                          <a:latin typeface="Yu Gothic"/>
                          <a:cs typeface="Yu Gothic"/>
                        </a:rPr>
                        <a:t>かつて郵便局で頻発したことに由来するが、最近では学校を始めとする公共の場 所で起こるようになった。</a:t>
                      </a:r>
                      <a:endParaRPr sz="1800">
                        <a:latin typeface="Yu Gothic"/>
                        <a:cs typeface="Yu Gothic"/>
                      </a:endParaRPr>
                    </a:p>
                    <a:p>
                      <a:pPr marL="63500" marR="277495">
                        <a:lnSpc>
                          <a:spcPct val="100000"/>
                        </a:lnSpc>
                      </a:pPr>
                      <a:r>
                        <a:rPr sz="1800" dirty="0">
                          <a:latin typeface="Yu Gothic"/>
                          <a:cs typeface="Yu Gothic"/>
                        </a:rPr>
                        <a:t>まずは</a:t>
                      </a:r>
                      <a:r>
                        <a:rPr sz="1800" b="1" dirty="0">
                          <a:latin typeface="Yu Gothic"/>
                          <a:cs typeface="Yu Gothic"/>
                        </a:rPr>
                        <a:t>逃げ</a:t>
                      </a:r>
                      <a:r>
                        <a:rPr sz="1800" dirty="0">
                          <a:latin typeface="Yu Gothic"/>
                          <a:cs typeface="Yu Gothic"/>
                        </a:rPr>
                        <a:t>、その時間がなければ</a:t>
                      </a:r>
                      <a:r>
                        <a:rPr sz="1800" b="1" dirty="0">
                          <a:latin typeface="Yu Gothic"/>
                          <a:cs typeface="Yu Gothic"/>
                        </a:rPr>
                        <a:t>隠れ</a:t>
                      </a:r>
                      <a:r>
                        <a:rPr sz="1800" dirty="0">
                          <a:latin typeface="Yu Gothic"/>
                          <a:cs typeface="Yu Gothic"/>
                        </a:rPr>
                        <a:t>、最悪の場合は</a:t>
                      </a:r>
                      <a:r>
                        <a:rPr sz="1800" b="1" dirty="0">
                          <a:latin typeface="Yu Gothic"/>
                          <a:cs typeface="Yu Gothic"/>
                        </a:rPr>
                        <a:t>戦う</a:t>
                      </a:r>
                      <a:r>
                        <a:rPr sz="1800" dirty="0">
                          <a:latin typeface="Yu Gothic"/>
                          <a:cs typeface="Yu Gothic"/>
                        </a:rPr>
                        <a:t>ことで事態に対処する ことからこのように呼ばれるようになった。</a:t>
                      </a:r>
                      <a:endParaRPr sz="1800">
                        <a:latin typeface="Yu Gothic"/>
                        <a:cs typeface="Yu Gothic"/>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886460">
                <a:tc>
                  <a:txBody>
                    <a:bodyPr/>
                    <a:lstStyle/>
                    <a:p>
                      <a:pPr>
                        <a:lnSpc>
                          <a:spcPct val="100000"/>
                        </a:lnSpc>
                        <a:spcBef>
                          <a:spcPts val="55"/>
                        </a:spcBef>
                      </a:pPr>
                      <a:endParaRPr sz="1950">
                        <a:latin typeface="Times New Roman"/>
                        <a:cs typeface="Times New Roman"/>
                      </a:endParaRPr>
                    </a:p>
                    <a:p>
                      <a:pPr marL="63500">
                        <a:lnSpc>
                          <a:spcPct val="100000"/>
                        </a:lnSpc>
                      </a:pPr>
                      <a:r>
                        <a:rPr sz="1800" spc="-5" dirty="0">
                          <a:latin typeface="Calibri"/>
                          <a:cs typeface="Calibri"/>
                        </a:rPr>
                        <a:t>senior</a:t>
                      </a:r>
                      <a:r>
                        <a:rPr sz="1800" spc="-35" dirty="0">
                          <a:latin typeface="Calibri"/>
                          <a:cs typeface="Calibri"/>
                        </a:rPr>
                        <a:t> </a:t>
                      </a:r>
                      <a:r>
                        <a:rPr sz="1800" spc="-5" dirty="0">
                          <a:latin typeface="Calibri"/>
                          <a:cs typeface="Calibri"/>
                        </a:rPr>
                        <a:t>moment</a:t>
                      </a:r>
                      <a:endParaRPr sz="1800">
                        <a:latin typeface="Calibri"/>
                        <a:cs typeface="Calibri"/>
                      </a:endParaRPr>
                    </a:p>
                  </a:txBody>
                  <a:tcPr marL="0" marR="0" marT="69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115"/>
                        </a:spcBef>
                      </a:pPr>
                      <a:r>
                        <a:rPr sz="1800" dirty="0">
                          <a:latin typeface="Yu Gothic"/>
                          <a:cs typeface="Yu Gothic"/>
                        </a:rPr>
                        <a:t>老後の認知症のこと。</a:t>
                      </a:r>
                    </a:p>
                    <a:p>
                      <a:pPr marL="63500">
                        <a:lnSpc>
                          <a:spcPct val="100000"/>
                        </a:lnSpc>
                      </a:pPr>
                      <a:r>
                        <a:rPr sz="1800" dirty="0">
                          <a:latin typeface="Yu Gothic"/>
                          <a:cs typeface="Yu Gothic"/>
                        </a:rPr>
                        <a:t>老夫婦は互いを</a:t>
                      </a:r>
                      <a:r>
                        <a:rPr sz="1800" spc="-105" dirty="0">
                          <a:latin typeface="Yu Gothic"/>
                          <a:cs typeface="Yu Gothic"/>
                        </a:rPr>
                        <a:t> </a:t>
                      </a:r>
                      <a:r>
                        <a:rPr sz="1800" i="1" spc="-5" dirty="0">
                          <a:latin typeface="Calibri"/>
                          <a:cs typeface="Calibri"/>
                        </a:rPr>
                        <a:t>Da</a:t>
                      </a:r>
                      <a:r>
                        <a:rPr sz="1800" i="1" spc="-10" dirty="0">
                          <a:latin typeface="Calibri"/>
                          <a:cs typeface="Calibri"/>
                        </a:rPr>
                        <a:t>r</a:t>
                      </a:r>
                      <a:r>
                        <a:rPr sz="1800" i="1" spc="-5" dirty="0">
                          <a:latin typeface="Calibri"/>
                          <a:cs typeface="Calibri"/>
                        </a:rPr>
                        <a:t>lin</a:t>
                      </a:r>
                      <a:r>
                        <a:rPr sz="1800" i="1" dirty="0">
                          <a:latin typeface="Calibri"/>
                          <a:cs typeface="Calibri"/>
                        </a:rPr>
                        <a:t>g</a:t>
                      </a:r>
                      <a:r>
                        <a:rPr sz="1800" i="1" spc="30" dirty="0">
                          <a:latin typeface="Calibri"/>
                          <a:cs typeface="Calibri"/>
                        </a:rPr>
                        <a:t> </a:t>
                      </a:r>
                      <a:r>
                        <a:rPr sz="1800" dirty="0">
                          <a:latin typeface="Yu Gothic"/>
                          <a:cs typeface="Yu Gothic"/>
                        </a:rPr>
                        <a:t>や</a:t>
                      </a:r>
                      <a:r>
                        <a:rPr sz="1800" spc="-110" dirty="0">
                          <a:latin typeface="Yu Gothic"/>
                          <a:cs typeface="Yu Gothic"/>
                        </a:rPr>
                        <a:t> </a:t>
                      </a:r>
                      <a:r>
                        <a:rPr sz="1800" i="1" spc="-10" dirty="0">
                          <a:latin typeface="Calibri"/>
                          <a:cs typeface="Calibri"/>
                        </a:rPr>
                        <a:t>H</a:t>
                      </a:r>
                      <a:r>
                        <a:rPr sz="1800" i="1" spc="-5" dirty="0">
                          <a:latin typeface="Calibri"/>
                          <a:cs typeface="Calibri"/>
                        </a:rPr>
                        <a:t>on</a:t>
                      </a:r>
                      <a:r>
                        <a:rPr sz="1800" i="1" spc="-10" dirty="0">
                          <a:latin typeface="Calibri"/>
                          <a:cs typeface="Calibri"/>
                        </a:rPr>
                        <a:t>e</a:t>
                      </a:r>
                      <a:r>
                        <a:rPr sz="1800" i="1" dirty="0">
                          <a:latin typeface="Calibri"/>
                          <a:cs typeface="Calibri"/>
                        </a:rPr>
                        <a:t>y</a:t>
                      </a:r>
                      <a:r>
                        <a:rPr sz="1800" i="1" spc="10" dirty="0">
                          <a:latin typeface="Calibri"/>
                          <a:cs typeface="Calibri"/>
                        </a:rPr>
                        <a:t> </a:t>
                      </a:r>
                      <a:r>
                        <a:rPr sz="1800" dirty="0">
                          <a:latin typeface="Yu Gothic"/>
                          <a:cs typeface="Yu Gothic"/>
                        </a:rPr>
                        <a:t>のように呼び合う。</a:t>
                      </a:r>
                    </a:p>
                    <a:p>
                      <a:pPr marL="63500">
                        <a:lnSpc>
                          <a:spcPct val="100000"/>
                        </a:lnSpc>
                      </a:pPr>
                      <a:r>
                        <a:rPr sz="1800" dirty="0">
                          <a:latin typeface="Yu Gothic"/>
                          <a:cs typeface="Yu Gothic"/>
                        </a:rPr>
                        <a:t>第三者には甘美に映るが、実際はお互いの名前を思い出せない状態である。</a:t>
                      </a:r>
                    </a:p>
                  </a:txBody>
                  <a:tcPr marL="0" marR="0" marT="146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87677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6.</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6.</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374015" marR="5080" lvl="0" indent="-361950" algn="just" defTabSz="914400" rtl="0" eaLnBrk="1" fontAlgn="auto" latinLnBrk="0" hangingPunct="1">
              <a:lnSpc>
                <a:spcPct val="90000"/>
              </a:lnSpc>
              <a:spcBef>
                <a:spcPts val="385"/>
              </a:spcBef>
              <a:spcAft>
                <a:spcPts val="0"/>
              </a:spcAft>
              <a:buClrTx/>
              <a:buSzTx/>
              <a:buFont typeface="Calibri"/>
              <a:buAutoNum type="arabicPeriod"/>
              <a:tabLst>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ポリコレ問題は個人的にはいささか敏感になり過ぎと思うところはある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が、どこに地雷が埋まっているか分からない。「知らなかった」で済ま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ないので、この類の情報はある程度キャッチアップしておいた方がいざ という時自分の身を守ってくれる。</a:t>
            </a:r>
          </a:p>
          <a:p>
            <a:pPr marL="374015" marR="5080" lvl="0" indent="-361950" algn="just" defTabSz="914400" rtl="0" eaLnBrk="1" fontAlgn="auto" latinLnBrk="0" hangingPunct="1">
              <a:lnSpc>
                <a:spcPct val="90000"/>
              </a:lnSpc>
              <a:spcBef>
                <a:spcPts val="1000"/>
              </a:spcBef>
              <a:spcAft>
                <a:spcPts val="0"/>
              </a:spcAft>
              <a:buClrTx/>
              <a:buSzTx/>
              <a:buFont typeface="Calibri"/>
              <a:buAutoNum type="arabicPeriod"/>
              <a:tabLst>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テクノロジーの発達とともに新語が続々と誕生する可能性がある。会話 へのキャッチアップが出来なくなると仕事では死活問題になる。世間話 レベルでも世情に精通していると話題の共通項が大きくなるので、なる べくキャッチアップしておいた方が良い。</a:t>
            </a:r>
          </a:p>
        </p:txBody>
      </p:sp>
    </p:spTree>
    <p:extLst>
      <p:ext uri="{BB962C8B-B14F-4D97-AF65-F5344CB8AC3E}">
        <p14:creationId xmlns:p14="http://schemas.microsoft.com/office/powerpoint/2010/main" val="3515477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7.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7.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80670" marR="0" lvl="0" indent="-268605" algn="l" defTabSz="914400" rtl="0" eaLnBrk="1" fontAlgn="auto" latinLnBrk="0" hangingPunct="1">
              <a:lnSpc>
                <a:spcPts val="2770"/>
              </a:lnSpc>
              <a:spcBef>
                <a:spcPts val="100"/>
              </a:spcBef>
              <a:spcAft>
                <a:spcPts val="0"/>
              </a:spcAft>
              <a:buClr>
                <a:srgbClr val="000000"/>
              </a:buClr>
              <a:buSzPct val="116666"/>
              <a:buFont typeface="Arial MT"/>
              <a:buChar char="•"/>
              <a:tabLst>
                <a:tab pos="281305" algn="l"/>
              </a:tabLst>
              <a:defRPr/>
            </a:pPr>
            <a:r>
              <a:rPr kumimoji="0" lang="en-GB" sz="2400" b="0" i="0" u="sng"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Vital</a:t>
            </a:r>
            <a:r>
              <a:rPr kumimoji="0" lang="en-GB" sz="24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GB" sz="2400" b="0" i="0" u="sng"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Japan</a:t>
            </a:r>
            <a:r>
              <a:rPr kumimoji="0" lang="en-GB" sz="2400" b="0" i="0" u="sng" strike="noStrike" kern="1200" cap="none" spc="-8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ja-JP" altLang="en-US" sz="2000" b="0" i="0" u="sng" strike="noStrike" kern="1200" cap="none" spc="440" normalizeH="0" baseline="0" noProof="0" dirty="0">
                <a:ln>
                  <a:noFill/>
                </a:ln>
                <a:solidFill>
                  <a:srgbClr val="0462C1"/>
                </a:solidFill>
                <a:effectLst/>
                <a:uLnTx/>
                <a:uFill>
                  <a:solidFill>
                    <a:srgbClr val="0462C1"/>
                  </a:solidFill>
                </a:uFill>
                <a:latin typeface="Yu Gothic"/>
                <a:ea typeface="+mn-ea"/>
                <a:cs typeface="Yu Gothic"/>
                <a:hlinkClick r:id="rId3"/>
              </a:rPr>
              <a:t>第</a:t>
            </a:r>
            <a:r>
              <a:rPr kumimoji="0" lang="en-US" altLang="ja-JP" sz="2000" b="0" i="0" u="sng"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168</a:t>
            </a:r>
            <a:r>
              <a:rPr kumimoji="0" lang="ja-JP" altLang="en-US" sz="2000" b="0" i="0" u="sng"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ja-JP" altLang="en-US" sz="2000" b="0" i="0" u="sng" strike="noStrike" kern="1200" cap="none" spc="440" normalizeH="0" baseline="0" noProof="0" dirty="0">
                <a:ln>
                  <a:noFill/>
                </a:ln>
                <a:solidFill>
                  <a:srgbClr val="0462C1"/>
                </a:solidFill>
                <a:effectLst/>
                <a:uLnTx/>
                <a:uFill>
                  <a:solidFill>
                    <a:srgbClr val="0462C1"/>
                  </a:solidFill>
                </a:uFill>
                <a:latin typeface="Yu Gothic"/>
                <a:ea typeface="+mn-ea"/>
                <a:cs typeface="Yu Gothic"/>
                <a:hlinkClick r:id="rId3"/>
              </a:rPr>
              <a:t>回</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月例セッショ</a:t>
            </a:r>
            <a:r>
              <a:rPr kumimoji="0" lang="ja-JP" altLang="en-US" sz="2000" b="0" i="0" u="sng" strike="noStrike" kern="1200" cap="none" spc="405" normalizeH="0" baseline="0" noProof="0" dirty="0">
                <a:ln>
                  <a:noFill/>
                </a:ln>
                <a:solidFill>
                  <a:srgbClr val="0462C1"/>
                </a:solidFill>
                <a:effectLst/>
                <a:uLnTx/>
                <a:uFill>
                  <a:solidFill>
                    <a:srgbClr val="0462C1"/>
                  </a:solidFill>
                </a:uFill>
                <a:latin typeface="Yu Gothic"/>
                <a:ea typeface="+mn-ea"/>
                <a:cs typeface="Yu Gothic"/>
                <a:hlinkClick r:id="rId3"/>
              </a:rPr>
              <a:t>ン</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「現代アメリカを読み解</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く</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キー</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ワ</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ード</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を</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学ぶ」</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730250" marR="0" lvl="1" indent="-268605" algn="l" defTabSz="914400" rtl="0" eaLnBrk="1" fontAlgn="auto" latinLnBrk="0" hangingPunct="1">
              <a:lnSpc>
                <a:spcPts val="2135"/>
              </a:lnSpc>
              <a:spcBef>
                <a:spcPts val="0"/>
              </a:spcBef>
              <a:spcAft>
                <a:spcPts val="0"/>
              </a:spcAft>
              <a:buClrTx/>
              <a:buSzPct val="140000"/>
              <a:buFont typeface="Arial MT"/>
              <a:buChar char="•"/>
              <a:tabLst>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8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06</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12</a:t>
            </a:r>
            <a:r>
              <a:rPr kumimoji="0" lang="ja-JP" altLang="en-US" sz="2000" b="0" i="0" u="none" strike="noStrike" kern="1200" cap="none" spc="5" normalizeH="0" baseline="0" noProof="0" dirty="0">
                <a:ln>
                  <a:noFill/>
                </a:ln>
                <a:solidFill>
                  <a:prstClr val="black"/>
                </a:solidFill>
                <a:effectLst/>
                <a:uLnTx/>
                <a:uFillTx/>
                <a:latin typeface="Yu Gothic"/>
                <a:ea typeface="+mn-ea"/>
                <a:cs typeface="Yu Gothic"/>
              </a:rPr>
              <a:t>日</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280670" marR="0" lvl="0" indent="-268605" algn="l" defTabSz="914400" rtl="0" eaLnBrk="1" fontAlgn="auto" latinLnBrk="0" hangingPunct="1">
              <a:lnSpc>
                <a:spcPts val="2615"/>
              </a:lnSpc>
              <a:spcBef>
                <a:spcPts val="0"/>
              </a:spcBef>
              <a:spcAft>
                <a:spcPts val="0"/>
              </a:spcAft>
              <a:buClr>
                <a:srgbClr val="000000"/>
              </a:buClr>
              <a:buSzPct val="116666"/>
              <a:buFont typeface="Arial MT"/>
              <a:buChar char="•"/>
              <a:tabLst>
                <a:tab pos="281305" algn="l"/>
              </a:tabLst>
              <a:defRPr/>
            </a:pPr>
            <a:r>
              <a:rPr kumimoji="0" lang="en-GB" sz="24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4"/>
              </a:rPr>
              <a:t>Political</a:t>
            </a:r>
            <a:r>
              <a:rPr kumimoji="0" lang="en-GB"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GB"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Correctness</a:t>
            </a:r>
            <a:r>
              <a:rPr kumimoji="0" lang="en-GB"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GB"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4"/>
              </a:rPr>
              <a:t>-</a:t>
            </a:r>
            <a:r>
              <a:rPr kumimoji="0" lang="en-GB"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GB"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4"/>
              </a:rPr>
              <a:t>Wikipedia</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730250" marR="0" lvl="1" indent="-268605" algn="l" defTabSz="914400" rtl="0" eaLnBrk="1" fontAlgn="auto" latinLnBrk="0" hangingPunct="1">
              <a:lnSpc>
                <a:spcPts val="2135"/>
              </a:lnSpc>
              <a:spcBef>
                <a:spcPts val="0"/>
              </a:spcBef>
              <a:spcAft>
                <a:spcPts val="0"/>
              </a:spcAft>
              <a:buClrTx/>
              <a:buSzPct val="140000"/>
              <a:buFont typeface="Arial MT"/>
              <a:buChar char="•"/>
              <a:tabLst>
                <a:tab pos="73088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06</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p>
          <a:p>
            <a:pPr marL="280670" marR="0" lvl="0" indent="-268605" algn="l" defTabSz="914400" rtl="0" eaLnBrk="1" fontAlgn="auto" latinLnBrk="0" hangingPunct="1">
              <a:lnSpc>
                <a:spcPts val="2615"/>
              </a:lnSpc>
              <a:spcBef>
                <a:spcPts val="0"/>
              </a:spcBef>
              <a:spcAft>
                <a:spcPts val="0"/>
              </a:spcAft>
              <a:buClr>
                <a:srgbClr val="000000"/>
              </a:buClr>
              <a:buSzPct val="116666"/>
              <a:buFont typeface="Arial MT"/>
              <a:buChar char="•"/>
              <a:tabLst>
                <a:tab pos="281305" algn="l"/>
              </a:tabLst>
              <a:defRPr/>
            </a:pPr>
            <a:r>
              <a:rPr kumimoji="0" lang="en-GB"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5"/>
              </a:rPr>
              <a:t>Megyn</a:t>
            </a:r>
            <a:r>
              <a:rPr kumimoji="0" lang="en-GB"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Kelly</a:t>
            </a:r>
            <a:r>
              <a:rPr kumimoji="0" lang="en-GB"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apologizes</a:t>
            </a:r>
            <a:r>
              <a:rPr kumimoji="0" lang="en-GB" sz="24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5"/>
              </a:rPr>
              <a:t>for</a:t>
            </a:r>
            <a:r>
              <a:rPr kumimoji="0" lang="en-GB"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5"/>
              </a:rPr>
              <a:t>defending</a:t>
            </a:r>
            <a:r>
              <a:rPr kumimoji="0" lang="en-GB"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blackface</a:t>
            </a:r>
            <a:r>
              <a:rPr kumimoji="0" lang="en-GB"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5"/>
              </a:rPr>
              <a:t>Halloween</a:t>
            </a:r>
            <a:r>
              <a:rPr kumimoji="0" lang="en-GB"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GB"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costumes</a:t>
            </a: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a:p>
            <a:pPr marL="737870" marR="0" lvl="1" indent="-268605" algn="l" defTabSz="914400" rtl="0" eaLnBrk="1" fontAlgn="auto" latinLnBrk="0" hangingPunct="1">
              <a:lnSpc>
                <a:spcPts val="2290"/>
              </a:lnSpc>
              <a:spcBef>
                <a:spcPts val="0"/>
              </a:spcBef>
              <a:spcAft>
                <a:spcPts val="0"/>
              </a:spcAft>
              <a:buClrTx/>
              <a:buSzPct val="140000"/>
              <a:buFont typeface="Arial MT"/>
              <a:buChar char="•"/>
              <a:tabLst>
                <a:tab pos="73850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2024</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02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18</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p>
        </p:txBody>
      </p:sp>
    </p:spTree>
    <p:extLst>
      <p:ext uri="{BB962C8B-B14F-4D97-AF65-F5344CB8AC3E}">
        <p14:creationId xmlns:p14="http://schemas.microsoft.com/office/powerpoint/2010/main" val="3041246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2450</Words>
  <Application>Microsoft Office PowerPoint</Application>
  <PresentationFormat>Widescreen</PresentationFormat>
  <Paragraphs>341</Paragraphs>
  <Slides>29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-apple-system</vt:lpstr>
      <vt:lpstr>Arial MT</vt:lpstr>
      <vt:lpstr>Calibri (Body)</vt:lpstr>
      <vt:lpstr>Calibri (Headings)</vt:lpstr>
      <vt:lpstr>MS Gothic</vt:lpstr>
      <vt:lpstr>Yu Gothic</vt:lpstr>
      <vt:lpstr>Arial</vt:lpstr>
      <vt:lpstr>Calibri</vt:lpstr>
      <vt:lpstr>Calibri Light</vt:lpstr>
      <vt:lpstr>Times New Roman</vt:lpstr>
      <vt:lpstr>Office テーマ</vt:lpstr>
      <vt:lpstr>今どきのアメリカを 読み解くキーワード</vt:lpstr>
      <vt:lpstr>自己紹介</vt:lpstr>
      <vt:lpstr>免許 / 資格</vt:lpstr>
      <vt:lpstr>スキルスタック</vt:lpstr>
      <vt:lpstr>職歴</vt:lpstr>
      <vt:lpstr>職歴</vt:lpstr>
      <vt:lpstr>国際交流活動</vt:lpstr>
      <vt:lpstr>目次</vt:lpstr>
      <vt:lpstr>1. はじめに</vt:lpstr>
      <vt:lpstr>1. はじめに</vt:lpstr>
      <vt:lpstr>2. PC Terms ① -社会的性差・生物的性差・多様性-</vt:lpstr>
      <vt:lpstr>2. PC Terms ① -社会的性差・生物的性差・多様性-</vt:lpstr>
      <vt:lpstr>2. PC Terms ① -社会的性差・生物的性差・多様性-</vt:lpstr>
      <vt:lpstr>2. PC Terms ① -社会的性差・生物的性差・多様性-</vt:lpstr>
      <vt:lpstr>2. PC Terms ① -社会的性差・生物的性差・多様性-</vt:lpstr>
      <vt:lpstr>2. PC Terms ① -社会的性差・生物的性差・多様性-</vt:lpstr>
      <vt:lpstr>3. PC Terms ② -社会運動-</vt:lpstr>
      <vt:lpstr>3. PC Terms ② -社会運動-</vt:lpstr>
      <vt:lpstr>3. PC Terms ② -社会運動-</vt:lpstr>
      <vt:lpstr>4. 高度情報化社会</vt:lpstr>
      <vt:lpstr>4. 高度情報化社会</vt:lpstr>
      <vt:lpstr>4. 高度情報化社会</vt:lpstr>
      <vt:lpstr>5. その他</vt:lpstr>
      <vt:lpstr>5. その他</vt:lpstr>
      <vt:lpstr>6. まとめ</vt:lpstr>
      <vt:lpstr>6. まとめ</vt:lpstr>
      <vt:lpstr>7. 参考文献</vt:lpstr>
      <vt:lpstr>7.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29</cp:revision>
  <dcterms:modified xsi:type="dcterms:W3CDTF">2025-09-01T03:28:11Z</dcterms:modified>
</cp:coreProperties>
</file>