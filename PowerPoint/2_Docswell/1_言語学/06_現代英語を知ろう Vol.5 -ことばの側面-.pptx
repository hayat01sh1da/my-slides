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87" r:id="rId3"/>
    <p:sldId id="388" r:id="rId4"/>
    <p:sldId id="420" r:id="rId5"/>
    <p:sldId id="421" r:id="rId6"/>
    <p:sldId id="422" r:id="rId7"/>
    <p:sldId id="280" r:id="rId8"/>
    <p:sldId id="408" r:id="rId9"/>
    <p:sldId id="311" r:id="rId10"/>
    <p:sldId id="259" r:id="rId11"/>
    <p:sldId id="330" r:id="rId12"/>
    <p:sldId id="417" r:id="rId13"/>
    <p:sldId id="409" r:id="rId14"/>
    <p:sldId id="410" r:id="rId15"/>
    <p:sldId id="411" r:id="rId16"/>
    <p:sldId id="325" r:id="rId17"/>
    <p:sldId id="354" r:id="rId18"/>
    <p:sldId id="412" r:id="rId19"/>
    <p:sldId id="418" r:id="rId20"/>
    <p:sldId id="419" r:id="rId21"/>
    <p:sldId id="413" r:id="rId22"/>
    <p:sldId id="414" r:id="rId23"/>
    <p:sldId id="326" r:id="rId24"/>
    <p:sldId id="336" r:id="rId25"/>
    <p:sldId id="385" r:id="rId26"/>
    <p:sldId id="386" r:id="rId27"/>
    <p:sldId id="415" r:id="rId28"/>
    <p:sldId id="416" r:id="rId29"/>
    <p:sldId id="328" r:id="rId30"/>
    <p:sldId id="295" r:id="rId31"/>
    <p:sldId id="28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69FA9AB2-F9BE-4B03-AE93-D3D7F57FF2CF}"/>
    <pc:docChg chg="custSel modSld">
      <pc:chgData name="Hayato Ishida" userId="585fa0fa6384767c" providerId="LiveId" clId="{69FA9AB2-F9BE-4B03-AE93-D3D7F57FF2CF}" dt="2025-05-03T11:23:36.444" v="8"/>
      <pc:docMkLst>
        <pc:docMk/>
      </pc:docMkLst>
      <pc:sldChg chg="modSp mod">
        <pc:chgData name="Hayato Ishida" userId="585fa0fa6384767c" providerId="LiveId" clId="{69FA9AB2-F9BE-4B03-AE93-D3D7F57FF2CF}" dt="2025-05-03T11:23:36.444" v="8"/>
        <pc:sldMkLst>
          <pc:docMk/>
          <pc:sldMk cId="2567433019" sldId="280"/>
        </pc:sldMkLst>
      </pc:sldChg>
      <pc:sldChg chg="addSp delSp modSp mod">
        <pc:chgData name="Hayato Ishida" userId="585fa0fa6384767c" providerId="LiveId" clId="{69FA9AB2-F9BE-4B03-AE93-D3D7F57FF2CF}" dt="2025-05-03T11:16:00.207" v="5"/>
        <pc:sldMkLst>
          <pc:docMk/>
          <pc:sldMk cId="155858466" sldId="286"/>
        </pc:sldMkLst>
      </pc:sldChg>
      <pc:sldChg chg="addSp delSp modSp mod">
        <pc:chgData name="Hayato Ishida" userId="585fa0fa6384767c" providerId="LiveId" clId="{69FA9AB2-F9BE-4B03-AE93-D3D7F57FF2CF}" dt="2025-05-03T11:23:23.267" v="7"/>
        <pc:sldMkLst>
          <pc:docMk/>
          <pc:sldMk cId="654251065" sldId="287"/>
        </pc:sldMkLst>
      </pc:sldChg>
    </pc:docChg>
  </pc:docChgLst>
  <pc:docChgLst>
    <pc:chgData name="Hayato Ishida" userId="585fa0fa6384767c" providerId="LiveId" clId="{97FF0398-FFB2-4219-A3FF-6E8066A208C2}"/>
    <pc:docChg chg="modSld">
      <pc:chgData name="Hayato Ishida" userId="585fa0fa6384767c" providerId="LiveId" clId="{97FF0398-FFB2-4219-A3FF-6E8066A208C2}" dt="2025-06-05T15:02:31.367" v="0" actId="20577"/>
      <pc:docMkLst>
        <pc:docMk/>
      </pc:docMkLst>
      <pc:sldChg chg="modSp mod">
        <pc:chgData name="Hayato Ishida" userId="585fa0fa6384767c" providerId="LiveId" clId="{97FF0398-FFB2-4219-A3FF-6E8066A208C2}" dt="2025-06-05T15:02:31.367" v="0" actId="20577"/>
        <pc:sldMkLst>
          <pc:docMk/>
          <pc:sldMk cId="3041246571" sldId="295"/>
        </pc:sldMkLst>
      </pc:sldChg>
    </pc:docChg>
  </pc:docChgLst>
  <pc:docChgLst>
    <pc:chgData name="Hayato Ishida" userId="585fa0fa6384767c" providerId="LiveId" clId="{A26B1DB0-8945-47B0-94EC-580B8E2C8E66}"/>
    <pc:docChg chg="custSel addSld delSld modSld sldOrd">
      <pc:chgData name="Hayato Ishida" userId="585fa0fa6384767c" providerId="LiveId" clId="{A26B1DB0-8945-47B0-94EC-580B8E2C8E66}" dt="2025-09-01T03:29:18.330" v="12"/>
      <pc:docMkLst>
        <pc:docMk/>
      </pc:docMkLst>
      <pc:sldChg chg="del">
        <pc:chgData name="Hayato Ishida" userId="585fa0fa6384767c" providerId="LiveId" clId="{A26B1DB0-8945-47B0-94EC-580B8E2C8E66}" dt="2025-08-31T17:55:40.123" v="2" actId="47"/>
        <pc:sldMkLst>
          <pc:docMk/>
          <pc:sldMk cId="155858466" sldId="286"/>
        </pc:sldMkLst>
      </pc:sldChg>
      <pc:sldChg chg="addSp delSp modSp mod">
        <pc:chgData name="Hayato Ishida" userId="585fa0fa6384767c" providerId="LiveId" clId="{A26B1DB0-8945-47B0-94EC-580B8E2C8E66}" dt="2025-08-31T18:02:50.623" v="8"/>
        <pc:sldMkLst>
          <pc:docMk/>
          <pc:sldMk cId="654251065" sldId="287"/>
        </pc:sldMkLst>
        <pc:spChg chg="add del mod">
          <ac:chgData name="Hayato Ishida" userId="585fa0fa6384767c" providerId="LiveId" clId="{A26B1DB0-8945-47B0-94EC-580B8E2C8E66}" dt="2025-08-31T17:55:36.266" v="1" actId="478"/>
          <ac:spMkLst>
            <pc:docMk/>
            <pc:sldMk cId="654251065" sldId="287"/>
            <ac:spMk id="3" creationId="{94A8DDE5-94DA-F432-D60F-CEED4A763DBA}"/>
          </ac:spMkLst>
        </pc:spChg>
        <pc:spChg chg="add del mod">
          <ac:chgData name="Hayato Ishida" userId="585fa0fa6384767c" providerId="LiveId" clId="{A26B1DB0-8945-47B0-94EC-580B8E2C8E66}" dt="2025-08-31T17:55:36.266" v="1" actId="478"/>
          <ac:spMkLst>
            <pc:docMk/>
            <pc:sldMk cId="654251065" sldId="287"/>
            <ac:spMk id="5" creationId="{C2F0D351-BF24-E5DA-AC7A-5A7BB773B91B}"/>
          </ac:spMkLst>
        </pc:spChg>
        <pc:spChg chg="del">
          <ac:chgData name="Hayato Ishida" userId="585fa0fa6384767c" providerId="LiveId" clId="{A26B1DB0-8945-47B0-94EC-580B8E2C8E66}" dt="2025-08-31T17:55:35.212" v="0" actId="478"/>
          <ac:spMkLst>
            <pc:docMk/>
            <pc:sldMk cId="654251065" sldId="287"/>
            <ac:spMk id="6" creationId="{A7B61C62-0CE9-1E0D-785B-F0515C217556}"/>
          </ac:spMkLst>
        </pc:spChg>
        <pc:spChg chg="del">
          <ac:chgData name="Hayato Ishida" userId="585fa0fa6384767c" providerId="LiveId" clId="{A26B1DB0-8945-47B0-94EC-580B8E2C8E66}" dt="2025-08-31T17:55:35.212" v="0" actId="478"/>
          <ac:spMkLst>
            <pc:docMk/>
            <pc:sldMk cId="654251065" sldId="287"/>
            <ac:spMk id="7" creationId="{B8D0C3A6-DCEF-9E5A-6D21-3940BCA7562F}"/>
          </ac:spMkLst>
        </pc:spChg>
        <pc:spChg chg="del">
          <ac:chgData name="Hayato Ishida" userId="585fa0fa6384767c" providerId="LiveId" clId="{A26B1DB0-8945-47B0-94EC-580B8E2C8E66}" dt="2025-08-31T17:55:35.212" v="0" actId="478"/>
          <ac:spMkLst>
            <pc:docMk/>
            <pc:sldMk cId="654251065" sldId="287"/>
            <ac:spMk id="8" creationId="{C7AC1801-BFB5-D435-B87B-7702CEB9F322}"/>
          </ac:spMkLst>
        </pc:spChg>
        <pc:spChg chg="add mod">
          <ac:chgData name="Hayato Ishida" userId="585fa0fa6384767c" providerId="LiveId" clId="{A26B1DB0-8945-47B0-94EC-580B8E2C8E66}" dt="2025-08-31T18:02:50.623" v="8"/>
          <ac:spMkLst>
            <pc:docMk/>
            <pc:sldMk cId="654251065" sldId="287"/>
            <ac:spMk id="9" creationId="{D5C22EC4-AAB3-9B02-E92F-C8A7EEC5B443}"/>
          </ac:spMkLst>
        </pc:spChg>
        <pc:spChg chg="add mod">
          <ac:chgData name="Hayato Ishida" userId="585fa0fa6384767c" providerId="LiveId" clId="{A26B1DB0-8945-47B0-94EC-580B8E2C8E66}" dt="2025-08-31T18:02:50.623" v="8"/>
          <ac:spMkLst>
            <pc:docMk/>
            <pc:sldMk cId="654251065" sldId="287"/>
            <ac:spMk id="10" creationId="{F6B7DAB9-42DB-8732-8801-D7197F763155}"/>
          </ac:spMkLst>
        </pc:spChg>
        <pc:spChg chg="add mod">
          <ac:chgData name="Hayato Ishida" userId="585fa0fa6384767c" providerId="LiveId" clId="{A26B1DB0-8945-47B0-94EC-580B8E2C8E66}" dt="2025-08-31T18:02:50.623" v="8"/>
          <ac:spMkLst>
            <pc:docMk/>
            <pc:sldMk cId="654251065" sldId="287"/>
            <ac:spMk id="11" creationId="{A39D828C-0405-6A46-F06E-F2A1771D89A1}"/>
          </ac:spMkLst>
        </pc:spChg>
        <pc:picChg chg="del">
          <ac:chgData name="Hayato Ishida" userId="585fa0fa6384767c" providerId="LiveId" clId="{A26B1DB0-8945-47B0-94EC-580B8E2C8E66}" dt="2025-08-31T17:55:35.212" v="0" actId="478"/>
          <ac:picMkLst>
            <pc:docMk/>
            <pc:sldMk cId="654251065" sldId="287"/>
            <ac:picMk id="12" creationId="{CD955475-0873-2282-A2EB-F2AB885DDACD}"/>
          </ac:picMkLst>
        </pc:picChg>
        <pc:picChg chg="add mod">
          <ac:chgData name="Hayato Ishida" userId="585fa0fa6384767c" providerId="LiveId" clId="{A26B1DB0-8945-47B0-94EC-580B8E2C8E66}" dt="2025-08-31T18:02:50.623" v="8"/>
          <ac:picMkLst>
            <pc:docMk/>
            <pc:sldMk cId="654251065" sldId="287"/>
            <ac:picMk id="13" creationId="{DA282DAB-35E4-E638-9052-36EC7227161F}"/>
          </ac:picMkLst>
        </pc:picChg>
      </pc:sldChg>
      <pc:sldChg chg="del">
        <pc:chgData name="Hayato Ishida" userId="585fa0fa6384767c" providerId="LiveId" clId="{A26B1DB0-8945-47B0-94EC-580B8E2C8E66}" dt="2025-08-31T17:55:40.123" v="2" actId="47"/>
        <pc:sldMkLst>
          <pc:docMk/>
          <pc:sldMk cId="3064566856" sldId="387"/>
        </pc:sldMkLst>
      </pc:sldChg>
      <pc:sldChg chg="ord">
        <pc:chgData name="Hayato Ishida" userId="585fa0fa6384767c" providerId="LiveId" clId="{A26B1DB0-8945-47B0-94EC-580B8E2C8E66}" dt="2025-08-31T17:55:44.930" v="5"/>
        <pc:sldMkLst>
          <pc:docMk/>
          <pc:sldMk cId="2712671586" sldId="388"/>
        </pc:sldMkLst>
      </pc:sldChg>
      <pc:sldChg chg="addSp modSp add">
        <pc:chgData name="Hayato Ishida" userId="585fa0fa6384767c" providerId="LiveId" clId="{A26B1DB0-8945-47B0-94EC-580B8E2C8E66}" dt="2025-08-31T18:04:25.456" v="9"/>
        <pc:sldMkLst>
          <pc:docMk/>
          <pc:sldMk cId="854192195" sldId="420"/>
        </pc:sldMkLst>
        <pc:spChg chg="add mod">
          <ac:chgData name="Hayato Ishida" userId="585fa0fa6384767c" providerId="LiveId" clId="{A26B1DB0-8945-47B0-94EC-580B8E2C8E66}" dt="2025-08-31T18:04:25.456" v="9"/>
          <ac:spMkLst>
            <pc:docMk/>
            <pc:sldMk cId="854192195" sldId="420"/>
            <ac:spMk id="2" creationId="{E7E5A112-7E32-26F3-3A93-C8E1729A63BE}"/>
          </ac:spMkLst>
        </pc:spChg>
        <pc:spChg chg="add mod">
          <ac:chgData name="Hayato Ishida" userId="585fa0fa6384767c" providerId="LiveId" clId="{A26B1DB0-8945-47B0-94EC-580B8E2C8E66}" dt="2025-08-31T18:04:25.456" v="9"/>
          <ac:spMkLst>
            <pc:docMk/>
            <pc:sldMk cId="854192195" sldId="420"/>
            <ac:spMk id="3" creationId="{3CBC2CE3-236E-B87E-49BF-FDEEFAE5F0A6}"/>
          </ac:spMkLst>
        </pc:spChg>
        <pc:spChg chg="add mod">
          <ac:chgData name="Hayato Ishida" userId="585fa0fa6384767c" providerId="LiveId" clId="{A26B1DB0-8945-47B0-94EC-580B8E2C8E66}" dt="2025-08-31T18:04:25.456" v="9"/>
          <ac:spMkLst>
            <pc:docMk/>
            <pc:sldMk cId="854192195" sldId="420"/>
            <ac:spMk id="4" creationId="{777DEE74-B1CA-27EE-78B1-587E996AA6D5}"/>
          </ac:spMkLst>
        </pc:spChg>
      </pc:sldChg>
      <pc:sldChg chg="addSp modSp add">
        <pc:chgData name="Hayato Ishida" userId="585fa0fa6384767c" providerId="LiveId" clId="{A26B1DB0-8945-47B0-94EC-580B8E2C8E66}" dt="2025-09-01T03:29:18.330" v="12"/>
        <pc:sldMkLst>
          <pc:docMk/>
          <pc:sldMk cId="1617034401" sldId="421"/>
        </pc:sldMkLst>
        <pc:spChg chg="add mod">
          <ac:chgData name="Hayato Ishida" userId="585fa0fa6384767c" providerId="LiveId" clId="{A26B1DB0-8945-47B0-94EC-580B8E2C8E66}" dt="2025-08-31T18:06:51.621" v="10"/>
          <ac:spMkLst>
            <pc:docMk/>
            <pc:sldMk cId="1617034401" sldId="421"/>
            <ac:spMk id="2" creationId="{CD76AD91-8877-67E2-5EAD-FB7261A9BF53}"/>
          </ac:spMkLst>
        </pc:spChg>
        <pc:spChg chg="add mod">
          <ac:chgData name="Hayato Ishida" userId="585fa0fa6384767c" providerId="LiveId" clId="{A26B1DB0-8945-47B0-94EC-580B8E2C8E66}" dt="2025-08-31T18:06:51.621" v="10"/>
          <ac:spMkLst>
            <pc:docMk/>
            <pc:sldMk cId="1617034401" sldId="421"/>
            <ac:spMk id="3" creationId="{B9495120-9B5E-9CA8-5E32-FB0ADE21C38E}"/>
          </ac:spMkLst>
        </pc:spChg>
        <pc:graphicFrameChg chg="add mod">
          <ac:chgData name="Hayato Ishida" userId="585fa0fa6384767c" providerId="LiveId" clId="{A26B1DB0-8945-47B0-94EC-580B8E2C8E66}" dt="2025-09-01T03:29:18.330" v="12"/>
          <ac:graphicFrameMkLst>
            <pc:docMk/>
            <pc:sldMk cId="1617034401" sldId="421"/>
            <ac:graphicFrameMk id="4" creationId="{0318B3FE-BB8E-C7CD-B83E-26CA84A6DFB2}"/>
          </ac:graphicFrameMkLst>
        </pc:graphicFrameChg>
      </pc:sldChg>
      <pc:sldChg chg="addSp modSp add">
        <pc:chgData name="Hayato Ishida" userId="585fa0fa6384767c" providerId="LiveId" clId="{A26B1DB0-8945-47B0-94EC-580B8E2C8E66}" dt="2025-09-01T03:29:18.330" v="12"/>
        <pc:sldMkLst>
          <pc:docMk/>
          <pc:sldMk cId="1170499589" sldId="422"/>
        </pc:sldMkLst>
        <pc:spChg chg="add mod">
          <ac:chgData name="Hayato Ishida" userId="585fa0fa6384767c" providerId="LiveId" clId="{A26B1DB0-8945-47B0-94EC-580B8E2C8E66}" dt="2025-08-31T18:10:21.094" v="11"/>
          <ac:spMkLst>
            <pc:docMk/>
            <pc:sldMk cId="1170499589" sldId="422"/>
            <ac:spMk id="2" creationId="{820FB2E0-D75C-7341-C86F-3D15E8DDA26C}"/>
          </ac:spMkLst>
        </pc:spChg>
        <pc:spChg chg="add mod">
          <ac:chgData name="Hayato Ishida" userId="585fa0fa6384767c" providerId="LiveId" clId="{A26B1DB0-8945-47B0-94EC-580B8E2C8E66}" dt="2025-08-31T18:10:21.094" v="11"/>
          <ac:spMkLst>
            <pc:docMk/>
            <pc:sldMk cId="1170499589" sldId="422"/>
            <ac:spMk id="3" creationId="{6BD4C7E6-012B-499D-6C4A-BEB6B7E66FF8}"/>
          </ac:spMkLst>
        </pc:spChg>
        <pc:graphicFrameChg chg="add mod">
          <ac:chgData name="Hayato Ishida" userId="585fa0fa6384767c" providerId="LiveId" clId="{A26B1DB0-8945-47B0-94EC-580B8E2C8E66}" dt="2025-09-01T03:29:18.330" v="12"/>
          <ac:graphicFrameMkLst>
            <pc:docMk/>
            <pc:sldMk cId="1170499589" sldId="422"/>
            <ac:graphicFrameMk id="4" creationId="{E8C15BEA-FF7B-550D-256B-53F9DDF1932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87483F-3F00-45CA-B9CE-71766AA0FCE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2850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01/09/2025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01/09/2025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01/09/2025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peakerdeck.com/hayat01sh1da/dive-deeper-into-presentday-english-vol5-hidden-feature-of-language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hyperlink" Target="https://github.com/hayat01sh1da" TargetMode="External"/><Relationship Id="rId7" Type="http://schemas.openxmlformats.org/officeDocument/2006/relationships/hyperlink" Target="https://www.docswell.com/user/hayat01sh1d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peakerdeck.com/hayat01sh1da" TargetMode="External"/><Relationship Id="rId5" Type="http://schemas.openxmlformats.org/officeDocument/2006/relationships/hyperlink" Target="https://www.linkedin.com/in/hayat01sh1da/" TargetMode="External"/><Relationship Id="rId4" Type="http://schemas.openxmlformats.org/officeDocument/2006/relationships/hyperlink" Target="https://hackmd.io/@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image" Target="../media/image1.jpg"/><Relationship Id="rId7" Type="http://schemas.openxmlformats.org/officeDocument/2006/relationships/slide" Target="slide2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3.xml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ctionary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rmAutofit/>
          </a:bodyPr>
          <a:lstStyle/>
          <a:p>
            <a:r>
              <a:rPr lang="ja-JP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現代英語を知ろう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字幕 2">
            <a:extLst>
              <a:ext uri="{FF2B5EF4-FFF2-40B4-BE49-F238E27FC236}">
                <a16:creationId xmlns:a16="http://schemas.microsoft.com/office/drawing/2014/main" id="{9F3859FD-9718-0C81-33B3-44F030588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ja-JP" altLang="en-US" sz="3200" b="1" dirty="0">
                <a:latin typeface="+mn-ea"/>
              </a:rPr>
              <a:t>作成者</a:t>
            </a:r>
            <a:r>
              <a:rPr lang="en-US" sz="3200" b="1" dirty="0">
                <a:latin typeface="+mn-ea"/>
              </a:rPr>
              <a:t>: </a:t>
            </a:r>
            <a:r>
              <a:rPr lang="ja-JP" altLang="en-US" sz="3200" b="1" dirty="0">
                <a:latin typeface="+mn-ea"/>
              </a:rPr>
              <a:t>石田</a:t>
            </a:r>
            <a:r>
              <a:rPr lang="en-US" sz="3200" b="1" dirty="0">
                <a:latin typeface="+mn-ea"/>
              </a:rPr>
              <a:t> </a:t>
            </a:r>
            <a:r>
              <a:rPr lang="ja-JP" altLang="en-US" sz="3200" b="1" dirty="0">
                <a:latin typeface="+mn-ea"/>
              </a:rPr>
              <a:t>隼人</a:t>
            </a:r>
            <a:endParaRPr lang="en-GB" sz="3200" b="1" dirty="0">
              <a:latin typeface="+mn-ea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字幕 2">
            <a:extLst>
              <a:ext uri="{FF2B5EF4-FFF2-40B4-BE49-F238E27FC236}">
                <a16:creationId xmlns:a16="http://schemas.microsoft.com/office/drawing/2014/main" id="{7EC127B2-8036-0DBB-686D-9BBD027D4A12}"/>
              </a:ext>
            </a:extLst>
          </p:cNvPr>
          <p:cNvSpPr txBox="1">
            <a:spLocks/>
          </p:cNvSpPr>
          <p:nvPr/>
        </p:nvSpPr>
        <p:spPr>
          <a:xfrm>
            <a:off x="6648275" y="5445970"/>
            <a:ext cx="3966595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最終更新日</a:t>
            </a:r>
            <a:r>
              <a:rPr kumimoji="0" lang="en-GB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: </a:t>
            </a:r>
            <a:r>
              <a:rPr kumimoji="0" lang="en-GB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2024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年</a:t>
            </a:r>
            <a:r>
              <a:rPr kumimoji="0" lang="en-GB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07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月</a:t>
            </a:r>
            <a:r>
              <a:rPr kumimoji="0" lang="en-GB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16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日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9384CEEA-9ED1-6887-AFE8-7BA71E626EBF}"/>
              </a:ext>
            </a:extLst>
          </p:cNvPr>
          <p:cNvSpPr txBox="1">
            <a:spLocks/>
          </p:cNvSpPr>
          <p:nvPr/>
        </p:nvSpPr>
        <p:spPr>
          <a:xfrm>
            <a:off x="1470870" y="3514157"/>
            <a:ext cx="9144000" cy="5557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cs typeface="+mj-cs"/>
              </a:rPr>
              <a:t>Vol.5 -</a:t>
            </a:r>
            <a:r>
              <a:rPr kumimoji="0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cs typeface="+mj-cs"/>
              </a:rPr>
              <a:t>ことばの側面</a:t>
            </a:r>
            <a:r>
              <a:rPr kumimoji="0" lang="en-GB" altLang="ja-JP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cs typeface="+mj-cs"/>
              </a:rPr>
              <a:t>-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ea"/>
              <a:cs typeface="+mj-cs"/>
            </a:endParaRPr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9105717C-FCFA-427A-0249-8F2D02825EE3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1968615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2000" dirty="0"/>
              <a:t>英語版は</a:t>
            </a:r>
            <a:r>
              <a:rPr lang="ja-JP" altLang="en-US" sz="2000" dirty="0">
                <a:hlinkClick r:id="rId3"/>
              </a:rPr>
              <a:t>こちら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D5C22EC4-AAB3-9B02-E92F-C8A7EEC5B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ja-JP" altLang="en-US" b="1" dirty="0"/>
              <a:t>自己紹介</a:t>
            </a:r>
            <a:endParaRPr lang="en-GB" b="1" dirty="0"/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F6B7DAB9-42DB-8732-8801-D7197F76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ja-JP" altLang="en-US" sz="2400" dirty="0"/>
              <a:t>各種アカウント</a:t>
            </a:r>
            <a:endParaRPr lang="en-GB" altLang="ja-JP" sz="2400" dirty="0"/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3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4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5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ja-JP" altLang="en-US" sz="2400" dirty="0"/>
              <a:t>職業</a:t>
            </a:r>
            <a:r>
              <a:rPr lang="en-GB" altLang="ja-JP" sz="2400" dirty="0"/>
              <a:t>: </a:t>
            </a:r>
            <a:r>
              <a:rPr lang="ja-JP" altLang="en-US" sz="2400" dirty="0"/>
              <a:t>ソフトウェアエンジニア</a:t>
            </a:r>
            <a:endParaRPr lang="en-GB" altLang="ja-JP" sz="2400" dirty="0"/>
          </a:p>
          <a:p>
            <a:pPr marL="268288" indent="-268288"/>
            <a:r>
              <a:rPr lang="ja-JP" altLang="en-US" sz="2400" dirty="0"/>
              <a:t>趣味</a:t>
            </a:r>
            <a:endParaRPr lang="en-GB" altLang="ja-JP" sz="2400" dirty="0"/>
          </a:p>
          <a:p>
            <a:pPr marL="725488" lvl="1" indent="-268288"/>
            <a:r>
              <a:rPr lang="ja-JP" altLang="en-US" sz="2000" dirty="0"/>
              <a:t>言語学</a:t>
            </a:r>
            <a:endParaRPr lang="en-GB" altLang="ja-JP" sz="2000" dirty="0"/>
          </a:p>
          <a:p>
            <a:pPr marL="725488" lvl="1" indent="-268288"/>
            <a:r>
              <a:rPr lang="ja-JP" altLang="en-US" sz="2000" dirty="0"/>
              <a:t>カラオケ</a:t>
            </a:r>
            <a:endParaRPr lang="en-GB" altLang="ja-JP" sz="2000" dirty="0"/>
          </a:p>
          <a:p>
            <a:pPr marL="725488" lvl="1" indent="-268288"/>
            <a:r>
              <a:rPr lang="ja-JP" altLang="en-US" sz="2000" dirty="0"/>
              <a:t>音楽鑑賞</a:t>
            </a:r>
            <a:endParaRPr lang="en-GB" altLang="ja-JP" sz="2000" dirty="0"/>
          </a:p>
          <a:p>
            <a:pPr marL="725488" lvl="1" indent="-268288"/>
            <a:r>
              <a:rPr lang="ja-JP" altLang="en-US" sz="2000" dirty="0"/>
              <a:t>映画鑑賞</a:t>
            </a:r>
            <a:endParaRPr lang="en-GB" altLang="ja-JP" sz="2000" dirty="0"/>
          </a:p>
          <a:p>
            <a:pPr marL="725488" lvl="1" indent="-268288"/>
            <a:r>
              <a:rPr lang="ja-JP" altLang="en-US" sz="2000" dirty="0"/>
              <a:t>猫飼育</a:t>
            </a:r>
            <a:endParaRPr lang="en-GB" altLang="ja-JP" sz="2000" dirty="0"/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A39D828C-0405-6A46-F06E-F2A1771D8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282DAB-35E4-E638-9052-36EC722716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55B8D0-FBD0-9B5F-A935-2990E924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ja-JP" altLang="en-US" b="1" dirty="0">
                <a:latin typeface="+mj-ea"/>
              </a:rPr>
              <a:t>免許</a:t>
            </a:r>
            <a:r>
              <a:rPr lang="en-GB" altLang="ja-JP" b="1" dirty="0">
                <a:latin typeface="+mj-ea"/>
              </a:rPr>
              <a:t> / </a:t>
            </a:r>
            <a:r>
              <a:rPr lang="ja-JP" altLang="en-US" b="1" dirty="0">
                <a:latin typeface="+mj-ea"/>
              </a:rPr>
              <a:t>資格</a:t>
            </a:r>
            <a:endParaRPr lang="en-GB" b="1" dirty="0">
              <a:latin typeface="+mj-ea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56D017-33E9-546F-B8B3-A9515D8FA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ja-JP" altLang="en-US" dirty="0"/>
              <a:t>英語</a:t>
            </a:r>
            <a:endParaRPr lang="en-US" altLang="ja-JP" dirty="0"/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ja-JP" altLang="en-US" dirty="0"/>
              <a:t>点</a:t>
            </a:r>
            <a:r>
              <a:rPr lang="en-GB" altLang="ja-JP" dirty="0"/>
              <a:t>: 2019</a:t>
            </a:r>
            <a:r>
              <a:rPr lang="ja-JP" altLang="en-US" dirty="0"/>
              <a:t>年</a:t>
            </a:r>
            <a:r>
              <a:rPr lang="en-US" altLang="ja-JP" dirty="0"/>
              <a:t>12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</a:p>
          <a:p>
            <a:pPr marL="268288" lvl="1" indent="-268288"/>
            <a:r>
              <a:rPr lang="ja-JP" altLang="en-US" dirty="0"/>
              <a:t>エンジニアリング</a:t>
            </a:r>
            <a:endParaRPr lang="en-GB" altLang="ja-JP" dirty="0"/>
          </a:p>
          <a:p>
            <a:pPr marL="725488" lvl="2" indent="-268288"/>
            <a:r>
              <a:rPr lang="ja-JP" altLang="en-US" dirty="0"/>
              <a:t>情報セキュリティマネジメント</a:t>
            </a:r>
            <a:r>
              <a:rPr lang="en-GB" altLang="ja-JP" dirty="0"/>
              <a:t>: 2017</a:t>
            </a:r>
            <a:r>
              <a:rPr lang="ja-JP" altLang="en-US" dirty="0"/>
              <a:t>年</a:t>
            </a:r>
            <a:r>
              <a:rPr lang="en-US" altLang="ja-JP" dirty="0"/>
              <a:t>11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dirty="0"/>
          </a:p>
          <a:p>
            <a:pPr marL="725488" lvl="2" indent="-268288"/>
            <a:r>
              <a:rPr lang="ja-JP" altLang="en-US" dirty="0"/>
              <a:t>応用情報技術者</a:t>
            </a:r>
            <a:r>
              <a:rPr lang="en-GB" altLang="ja-JP" dirty="0"/>
              <a:t>: 2017</a:t>
            </a:r>
            <a:r>
              <a:rPr lang="ja-JP" altLang="en-US" dirty="0"/>
              <a:t>年</a:t>
            </a:r>
            <a:r>
              <a:rPr lang="en-US" altLang="ja-JP" dirty="0"/>
              <a:t>06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dirty="0"/>
          </a:p>
          <a:p>
            <a:pPr marL="725488" lvl="2" indent="-268288"/>
            <a:r>
              <a:rPr lang="ja-JP" altLang="en-US" dirty="0"/>
              <a:t>基本情報技術者</a:t>
            </a:r>
            <a:r>
              <a:rPr lang="en-GB" altLang="ja-JP" dirty="0"/>
              <a:t>: 2016</a:t>
            </a:r>
            <a:r>
              <a:rPr lang="ja-JP" altLang="en-US" dirty="0"/>
              <a:t>年</a:t>
            </a:r>
            <a:r>
              <a:rPr lang="en-US" altLang="ja-JP" dirty="0"/>
              <a:t>11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</a:p>
          <a:p>
            <a:pPr marL="725488" lvl="2" indent="-268288"/>
            <a:r>
              <a:rPr lang="en-US" altLang="ja-JP" dirty="0"/>
              <a:t>IT </a:t>
            </a:r>
            <a:r>
              <a:rPr lang="ja-JP" altLang="en-US" dirty="0"/>
              <a:t>パスポート</a:t>
            </a:r>
            <a:r>
              <a:rPr lang="en-GB" altLang="ja-JP" dirty="0"/>
              <a:t>: 2016</a:t>
            </a:r>
            <a:r>
              <a:rPr lang="ja-JP" altLang="en-US" dirty="0"/>
              <a:t>年</a:t>
            </a:r>
            <a:r>
              <a:rPr lang="en-US" altLang="ja-JP" dirty="0"/>
              <a:t>04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268288" lvl="1" indent="-268288"/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その他</a:t>
            </a:r>
            <a:endParaRPr lang="en-GB" altLang="ja-JP" dirty="0">
              <a:solidFill>
                <a:srgbClr val="333333"/>
              </a:solidFill>
              <a:latin typeface="-apple-system"/>
            </a:endParaRPr>
          </a:p>
          <a:p>
            <a:pPr marL="725488" lvl="2" indent="-268288"/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珠算</a:t>
            </a:r>
            <a:r>
              <a:rPr lang="en-GB" altLang="ja-JP" dirty="0">
                <a:solidFill>
                  <a:srgbClr val="333333"/>
                </a:solidFill>
                <a:latin typeface="-apple-system"/>
              </a:rPr>
              <a:t>2</a:t>
            </a:r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級</a:t>
            </a:r>
            <a:r>
              <a:rPr lang="en-GB" altLang="ja-JP" dirty="0">
                <a:solidFill>
                  <a:srgbClr val="333333"/>
                </a:solidFill>
                <a:latin typeface="-apple-system"/>
              </a:rPr>
              <a:t>: </a:t>
            </a:r>
            <a:r>
              <a:rPr lang="en-GB" altLang="ja-JP" dirty="0"/>
              <a:t>2002</a:t>
            </a:r>
            <a:r>
              <a:rPr lang="ja-JP" altLang="en-US" dirty="0"/>
              <a:t>年</a:t>
            </a:r>
            <a:r>
              <a:rPr lang="en-US" altLang="ja-JP" dirty="0"/>
              <a:t>06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dirty="0"/>
          </a:p>
          <a:p>
            <a:pPr marL="725488" lvl="2" indent="-268288"/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暗算</a:t>
            </a:r>
            <a:r>
              <a:rPr lang="en-US" altLang="ja-JP" dirty="0">
                <a:solidFill>
                  <a:srgbClr val="333333"/>
                </a:solidFill>
                <a:latin typeface="-apple-system"/>
              </a:rPr>
              <a:t>3</a:t>
            </a:r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級</a:t>
            </a:r>
            <a:r>
              <a:rPr lang="en-GB" altLang="ja-JP" b="0" i="0" dirty="0">
                <a:solidFill>
                  <a:srgbClr val="333333"/>
                </a:solidFill>
                <a:effectLst/>
                <a:latin typeface="-apple-system"/>
              </a:rPr>
              <a:t>: </a:t>
            </a:r>
            <a:r>
              <a:rPr lang="en-GB" altLang="ja-JP" dirty="0"/>
              <a:t>2001</a:t>
            </a:r>
            <a:r>
              <a:rPr lang="ja-JP" altLang="en-US" dirty="0"/>
              <a:t>年</a:t>
            </a:r>
            <a:r>
              <a:rPr lang="en-US" altLang="ja-JP" dirty="0"/>
              <a:t>02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305983-0249-A6CE-AD02-933B3C887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267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E108A-E9CF-246A-5F7E-04672BD48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E5A112-7E32-26F3-3A93-C8E1729A6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ja-JP" altLang="en-US" b="1" dirty="0">
                <a:latin typeface="+mn-lt"/>
              </a:rPr>
              <a:t>スキルスタック</a:t>
            </a:r>
            <a:endParaRPr lang="en-GB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BC2CE3-236E-B87E-49BF-FDEEFAE5F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ja-JP" altLang="en-US" sz="2400" dirty="0"/>
              <a:t>自然言語</a:t>
            </a:r>
          </a:p>
          <a:p>
            <a:pPr marL="717550" lvl="1" indent="-260350"/>
            <a:r>
              <a:rPr lang="ja-JP" altLang="en-US" sz="2000" dirty="0"/>
              <a:t>日本語</a:t>
            </a:r>
            <a:r>
              <a:rPr lang="en-GB" altLang="ja-JP" sz="2000" dirty="0"/>
              <a:t>: </a:t>
            </a:r>
            <a:r>
              <a:rPr lang="ja-JP" altLang="en-US" sz="2000" dirty="0"/>
              <a:t>母語</a:t>
            </a:r>
            <a:endParaRPr lang="en-GB" altLang="ja-JP" sz="2000" dirty="0"/>
          </a:p>
          <a:p>
            <a:pPr marL="717550" lvl="1" indent="-260350"/>
            <a:r>
              <a:rPr lang="ja-JP" altLang="en-US" sz="2000" dirty="0"/>
              <a:t>英語</a:t>
            </a:r>
            <a:r>
              <a:rPr lang="en-GB" altLang="ja-JP" sz="2000" dirty="0"/>
              <a:t>: </a:t>
            </a:r>
            <a:r>
              <a:rPr lang="ja-JP" altLang="en-US" sz="2000" dirty="0"/>
              <a:t>ビジネスレベル</a:t>
            </a:r>
            <a:endParaRPr lang="en-GB" altLang="ja-JP" sz="2000" dirty="0"/>
          </a:p>
          <a:p>
            <a:pPr marL="268288" indent="-268288"/>
            <a:r>
              <a:rPr lang="ja-JP" altLang="en-US" sz="2400" dirty="0"/>
              <a:t>開発</a:t>
            </a:r>
            <a:endParaRPr lang="en-GB" altLang="ja-JP" sz="2400" dirty="0"/>
          </a:p>
          <a:p>
            <a:pPr marL="717550" lvl="1" indent="-260350"/>
            <a:r>
              <a:rPr lang="ja-JP" altLang="en-US" sz="2000" b="1" dirty="0"/>
              <a:t>バックエンド</a:t>
            </a:r>
            <a:r>
              <a:rPr lang="en-GB" altLang="ja-JP" sz="2000" b="1" dirty="0"/>
              <a:t>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ja-JP" altLang="en-US" sz="2000" dirty="0"/>
              <a:t>フロントエンド</a:t>
            </a:r>
            <a:r>
              <a:rPr lang="en-GB" altLang="ja-JP" sz="2000" dirty="0"/>
              <a:t>: TypeScript + React.js, TypeScript +Vue.js</a:t>
            </a:r>
          </a:p>
          <a:p>
            <a:pPr marL="717550" lvl="1" indent="-260350"/>
            <a:r>
              <a:rPr lang="ja-JP" altLang="en-US" sz="2000" b="1" dirty="0"/>
              <a:t>データベース</a:t>
            </a:r>
            <a:r>
              <a:rPr lang="en-GB" altLang="ja-JP" sz="2000" b="1" dirty="0"/>
              <a:t>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ja-JP" altLang="en-US" sz="2000" b="1" dirty="0"/>
              <a:t>アーキテクチャー</a:t>
            </a:r>
            <a:r>
              <a:rPr lang="en-GB" altLang="ja-JP" sz="2000" b="1" dirty="0"/>
              <a:t>: </a:t>
            </a:r>
            <a:r>
              <a:rPr lang="ja-JP" altLang="en-US" sz="2000" b="1" dirty="0"/>
              <a:t>モノリス</a:t>
            </a:r>
            <a:r>
              <a:rPr lang="en-GB" altLang="ja-JP" sz="2000" b="1" dirty="0"/>
              <a:t>, </a:t>
            </a:r>
            <a:r>
              <a:rPr lang="ja-JP" altLang="en-US" sz="2000" b="1" dirty="0"/>
              <a:t>モジューラーモノリス</a:t>
            </a:r>
            <a:endParaRPr lang="en-GB" altLang="ja-JP" sz="2000" b="1" dirty="0"/>
          </a:p>
          <a:p>
            <a:pPr marL="717550" lvl="1" indent="-260350"/>
            <a:r>
              <a:rPr lang="ja-JP" altLang="en-US" sz="2000" dirty="0"/>
              <a:t>ホスティング</a:t>
            </a:r>
            <a:r>
              <a:rPr lang="en-GB" altLang="ja-JP" sz="2000" dirty="0"/>
              <a:t>: AWS ESK</a:t>
            </a:r>
          </a:p>
          <a:p>
            <a:pPr marL="717550" lvl="1" indent="-260350"/>
            <a:r>
              <a:rPr lang="ja-JP" altLang="en-US" sz="2000" dirty="0"/>
              <a:t>バージョン管理</a:t>
            </a:r>
            <a:r>
              <a:rPr lang="en-GB" altLang="ja-JP" sz="2000" dirty="0"/>
              <a:t>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ja-JP" altLang="en-US" sz="2000" dirty="0"/>
              <a:t>監視</a:t>
            </a:r>
            <a:r>
              <a:rPr lang="en-GB" altLang="ja-JP" sz="2000" dirty="0"/>
              <a:t>: Datadog, Sentry</a:t>
            </a:r>
            <a:endParaRPr lang="en-GB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77DEE74-B1CA-27EE-78B1-587E996AA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192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057C5D-0A2E-7615-75D0-F123F093F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76AD91-8877-67E2-5EAD-FB7261A9B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ja-JP" altLang="en-US" b="1" dirty="0">
                <a:latin typeface="+mn-lt"/>
              </a:rPr>
              <a:t>職歴</a:t>
            </a:r>
          </a:p>
        </p:txBody>
      </p:sp>
      <p:sp>
        <p:nvSpPr>
          <p:cNvPr id="3" name="スライド番号プレースホルダー 3">
            <a:extLst>
              <a:ext uri="{FF2B5EF4-FFF2-40B4-BE49-F238E27FC236}">
                <a16:creationId xmlns:a16="http://schemas.microsoft.com/office/drawing/2014/main" id="{B9495120-9B5E-9CA8-5E32-FB0ADE21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18B3FE-BB8E-C7CD-B83E-26CA84A6D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265345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ja-JP" altLang="en-US" dirty="0"/>
                        <a:t>期間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業種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職種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業務内容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2021</a:t>
                      </a:r>
                      <a:r>
                        <a:rPr lang="ja-JP" altLang="en-US" dirty="0"/>
                        <a:t>年</a:t>
                      </a:r>
                      <a:r>
                        <a:rPr lang="en-GB" altLang="ja-JP" dirty="0"/>
                        <a:t>08</a:t>
                      </a:r>
                      <a:r>
                        <a:rPr lang="ja-JP" altLang="en-US" dirty="0"/>
                        <a:t>月</a:t>
                      </a:r>
                      <a:r>
                        <a:rPr lang="en-GB" altLang="ja-JP" dirty="0"/>
                        <a:t>-</a:t>
                      </a:r>
                    </a:p>
                    <a:p>
                      <a:r>
                        <a:rPr lang="en-GB" dirty="0"/>
                        <a:t>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EdTech SaaS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dirty="0"/>
                        <a:t>ソフトウェア</a:t>
                      </a:r>
                      <a:endParaRPr lang="en-GB" altLang="ja-JP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dirty="0"/>
                        <a:t>エンジニア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バックエンド開発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フロントエンド開発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</a:t>
                      </a:r>
                      <a:r>
                        <a:rPr lang="ja-JP" altLang="en-US" dirty="0"/>
                        <a:t>運用・保守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週次リリースマネージャー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トラブル対応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ドキュメンテーション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技術負債解消</a:t>
                      </a:r>
                      <a:endParaRPr lang="en-GB" altLang="ja-JP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技術ブログ記事執筆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</a:t>
                      </a:r>
                      <a:r>
                        <a:rPr lang="ja-JP" altLang="en-US" dirty="0"/>
                        <a:t>登壇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2020</a:t>
                      </a:r>
                      <a:r>
                        <a:rPr lang="ja-JP" altLang="en-US" dirty="0"/>
                        <a:t>年</a:t>
                      </a:r>
                      <a:r>
                        <a:rPr lang="en-GB" altLang="ja-JP" dirty="0"/>
                        <a:t>02</a:t>
                      </a:r>
                      <a:r>
                        <a:rPr lang="ja-JP" altLang="en-US" dirty="0"/>
                        <a:t>月</a:t>
                      </a:r>
                      <a:r>
                        <a:rPr lang="en-GB" dirty="0"/>
                        <a:t>-</a:t>
                      </a:r>
                    </a:p>
                    <a:p>
                      <a:r>
                        <a:rPr lang="en-GB" dirty="0"/>
                        <a:t>2020</a:t>
                      </a:r>
                      <a:r>
                        <a:rPr lang="ja-JP" altLang="en-US" dirty="0"/>
                        <a:t>年</a:t>
                      </a:r>
                      <a:r>
                        <a:rPr lang="en-GB" altLang="ja-JP" dirty="0"/>
                        <a:t>12</a:t>
                      </a:r>
                      <a:r>
                        <a:rPr lang="ja-JP" altLang="en-US" dirty="0"/>
                        <a:t>月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チャットボット系</a:t>
                      </a:r>
                      <a:r>
                        <a:rPr lang="en-GB" altLang="ja-JP" dirty="0"/>
                        <a:t> </a:t>
                      </a:r>
                      <a:r>
                        <a:rPr lang="en-GB" dirty="0"/>
                        <a:t>SaaS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バックエンド</a:t>
                      </a:r>
                      <a:endParaRPr lang="en-GB" altLang="ja-JP" dirty="0"/>
                    </a:p>
                    <a:p>
                      <a:r>
                        <a:rPr lang="ja-JP" altLang="en-US" dirty="0"/>
                        <a:t>エンジニア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バックエンド開発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ドキュメンテーション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技術負債解消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代替</a:t>
                      </a:r>
                      <a:r>
                        <a:rPr lang="en-GB" dirty="0"/>
                        <a:t> API </a:t>
                      </a:r>
                      <a:r>
                        <a:rPr lang="ja-JP" altLang="en-US" dirty="0"/>
                        <a:t>検証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034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A7164A-75BF-8C74-E1DE-DBA0B9875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0FB2E0-D75C-7341-C86F-3D15E8DDA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ja-JP" altLang="en-US" b="1" dirty="0">
                <a:latin typeface="+mn-lt"/>
              </a:rPr>
              <a:t>職歴</a:t>
            </a:r>
          </a:p>
        </p:txBody>
      </p:sp>
      <p:sp>
        <p:nvSpPr>
          <p:cNvPr id="3" name="スライド番号プレースホルダー 3">
            <a:extLst>
              <a:ext uri="{FF2B5EF4-FFF2-40B4-BE49-F238E27FC236}">
                <a16:creationId xmlns:a16="http://schemas.microsoft.com/office/drawing/2014/main" id="{6BD4C7E6-012B-499D-6C4A-BEB6B7E66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C15BEA-FF7B-550D-256B-53F9DDF19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297845"/>
              </p:ext>
            </p:extLst>
          </p:nvPr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ja-JP" altLang="en-US" dirty="0"/>
                        <a:t>期間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業種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職種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業務内容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2018</a:t>
                      </a:r>
                      <a:r>
                        <a:rPr lang="ja-JP" altLang="en-US" dirty="0"/>
                        <a:t>年</a:t>
                      </a:r>
                      <a:r>
                        <a:rPr lang="en-US" altLang="ja-JP" dirty="0"/>
                        <a:t>06</a:t>
                      </a:r>
                      <a:r>
                        <a:rPr lang="ja-JP" altLang="en-US" dirty="0"/>
                        <a:t>月</a:t>
                      </a:r>
                      <a:r>
                        <a:rPr lang="en-GB" dirty="0"/>
                        <a:t> -</a:t>
                      </a:r>
                    </a:p>
                    <a:p>
                      <a:r>
                        <a:rPr lang="en-GB" dirty="0"/>
                        <a:t>2020</a:t>
                      </a:r>
                      <a:r>
                        <a:rPr lang="ja-JP" altLang="en-US" dirty="0"/>
                        <a:t>年</a:t>
                      </a:r>
                      <a:r>
                        <a:rPr lang="en-US" altLang="ja-JP" dirty="0"/>
                        <a:t>01</a:t>
                      </a:r>
                      <a:r>
                        <a:rPr lang="ja-JP" altLang="en-US" dirty="0"/>
                        <a:t>月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受託開発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ソフトウェア</a:t>
                      </a:r>
                      <a:endParaRPr lang="en-GB" altLang="ja-JP" dirty="0"/>
                    </a:p>
                    <a:p>
                      <a:r>
                        <a:rPr lang="ja-JP" altLang="en-US" dirty="0"/>
                        <a:t>エンジニア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バックエンド開発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フロントエンド開発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トラブル対応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QA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技術ブログ記事執筆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2016</a:t>
                      </a:r>
                      <a:r>
                        <a:rPr lang="ja-JP" altLang="en-US" dirty="0"/>
                        <a:t>年</a:t>
                      </a:r>
                      <a:r>
                        <a:rPr lang="en-US" altLang="ja-JP" dirty="0"/>
                        <a:t>04</a:t>
                      </a:r>
                      <a:r>
                        <a:rPr lang="ja-JP" altLang="en-US" dirty="0"/>
                        <a:t>月</a:t>
                      </a:r>
                      <a:r>
                        <a:rPr lang="en-GB" dirty="0"/>
                        <a:t> -</a:t>
                      </a:r>
                    </a:p>
                    <a:p>
                      <a:r>
                        <a:rPr lang="en-GB" dirty="0"/>
                        <a:t>2018</a:t>
                      </a:r>
                      <a:r>
                        <a:rPr lang="ja-JP" altLang="en-US" dirty="0"/>
                        <a:t>年</a:t>
                      </a:r>
                      <a:r>
                        <a:rPr lang="en-US" altLang="ja-JP" dirty="0"/>
                        <a:t>01</a:t>
                      </a:r>
                      <a:r>
                        <a:rPr lang="ja-JP" altLang="en-US" dirty="0"/>
                        <a:t>月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ja-JP" dirty="0"/>
                        <a:t>SES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システムエンジニア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全社アカウント管理者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</a:t>
                      </a:r>
                      <a:r>
                        <a:rPr lang="ja-JP" altLang="en-US" dirty="0"/>
                        <a:t>運用・保守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セキュリティ管理者助手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翻訳・通訳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499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378C05C1-87B1-BA30-D593-66D492FF1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ja-JP" altLang="en-US" b="1" dirty="0"/>
              <a:t>国際交流活動</a:t>
            </a:r>
            <a:endParaRPr lang="en-GB" b="1" dirty="0"/>
          </a:p>
        </p:txBody>
      </p:sp>
      <p:sp>
        <p:nvSpPr>
          <p:cNvPr id="10" name="スライド番号プレースホルダー 3">
            <a:extLst>
              <a:ext uri="{FF2B5EF4-FFF2-40B4-BE49-F238E27FC236}">
                <a16:creationId xmlns:a16="http://schemas.microsoft.com/office/drawing/2014/main" id="{D7C9EA79-C769-23E2-9F3D-D4890F3C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1A2A920C-FA0F-BEBB-BB45-6CBA82FEA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ja-JP" altLang="en-US" sz="1600" dirty="0"/>
              <a:t>大学時代</a:t>
            </a:r>
          </a:p>
          <a:p>
            <a:pPr marL="536575" lvl="1" indent="-268288"/>
            <a:r>
              <a:rPr lang="ja-JP" altLang="en-US" sz="1400" dirty="0"/>
              <a:t>英語学ゼミ</a:t>
            </a:r>
            <a:r>
              <a:rPr lang="en-US" altLang="ja-JP" sz="1400" dirty="0"/>
              <a:t>(</a:t>
            </a:r>
            <a:r>
              <a:rPr lang="ja-JP" altLang="en-US" sz="1400" dirty="0"/>
              <a:t>マスメディア英語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ja-JP" altLang="en-US" sz="1400" dirty="0"/>
              <a:t>国際交流サークル兼部</a:t>
            </a:r>
            <a:r>
              <a:rPr lang="en-US" altLang="ja-JP" sz="1400" dirty="0"/>
              <a:t>(2</a:t>
            </a:r>
            <a:r>
              <a:rPr lang="ja-JP" altLang="en-US" sz="1400" dirty="0"/>
              <a:t>年次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ja-JP" altLang="en-US" sz="1400" dirty="0">
                <a:hlinkClick r:id="rId3"/>
              </a:rPr>
              <a:t>内閣府主催国際交流プログラム</a:t>
            </a:r>
            <a:r>
              <a:rPr lang="en-US" altLang="ja-JP" sz="1400" dirty="0"/>
              <a:t>(2013</a:t>
            </a:r>
            <a:r>
              <a:rPr lang="ja-JP" altLang="en-US" sz="1400" dirty="0"/>
              <a:t>年 </a:t>
            </a:r>
            <a:r>
              <a:rPr lang="en-GB" altLang="ja-JP" sz="1400" dirty="0"/>
              <a:t>-</a:t>
            </a:r>
            <a:r>
              <a:rPr lang="en-US" altLang="ja-JP" sz="1400" dirty="0"/>
              <a:t> 2016</a:t>
            </a:r>
            <a:r>
              <a:rPr lang="ja-JP" altLang="en-US" sz="1400" dirty="0"/>
              <a:t>年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ja-JP" altLang="en-US" sz="1400" dirty="0"/>
              <a:t>日本語学の授業の</a:t>
            </a:r>
            <a:r>
              <a:rPr lang="en-GB" altLang="ja-JP" sz="1400" dirty="0"/>
              <a:t> S </a:t>
            </a:r>
            <a:r>
              <a:rPr lang="ja-JP" altLang="en-US" sz="1400" dirty="0"/>
              <a:t>単位取得</a:t>
            </a:r>
            <a:r>
              <a:rPr lang="en-GB" altLang="ja-JP" sz="1400" dirty="0"/>
              <a:t>(</a:t>
            </a:r>
            <a:r>
              <a:rPr lang="ja-JP" altLang="en-US" sz="1400" dirty="0"/>
              <a:t>最終年次</a:t>
            </a:r>
            <a:r>
              <a:rPr lang="en-GB" altLang="ja-JP" sz="1400" dirty="0"/>
              <a:t>)</a:t>
            </a:r>
            <a:endParaRPr lang="en-US" altLang="ja-JP" sz="1400" dirty="0"/>
          </a:p>
          <a:p>
            <a:pPr marL="268288" indent="-268288"/>
            <a:r>
              <a:rPr lang="ja-JP" altLang="en-US" sz="1600" dirty="0"/>
              <a:t>海外生活</a:t>
            </a:r>
          </a:p>
          <a:p>
            <a:pPr marL="536575" lvl="1" indent="-268288"/>
            <a:r>
              <a:rPr lang="ja-JP" altLang="en-US" sz="1400" dirty="0"/>
              <a:t>オーストラリアでのワーキングホリデー</a:t>
            </a:r>
            <a:r>
              <a:rPr lang="en-US" altLang="ja-JP" sz="1400" dirty="0"/>
              <a:t>(2014</a:t>
            </a:r>
            <a:r>
              <a:rPr lang="ja-JP" altLang="en-US" sz="1400" dirty="0"/>
              <a:t>年</a:t>
            </a:r>
            <a:r>
              <a:rPr lang="en-US" altLang="ja-JP" sz="1400" dirty="0"/>
              <a:t>04</a:t>
            </a:r>
            <a:r>
              <a:rPr lang="ja-JP" altLang="en-US" sz="1400" dirty="0"/>
              <a:t>月 </a:t>
            </a:r>
            <a:r>
              <a:rPr lang="en-US" altLang="ja-JP" sz="1400" dirty="0"/>
              <a:t>- </a:t>
            </a:r>
            <a:r>
              <a:rPr lang="en-GB" altLang="ja-JP" sz="1400" dirty="0"/>
              <a:t>2015</a:t>
            </a:r>
            <a:r>
              <a:rPr lang="ja-JP" altLang="en-US" sz="1400" dirty="0"/>
              <a:t>年</a:t>
            </a:r>
            <a:r>
              <a:rPr lang="en-US" altLang="ja-JP" sz="1400" dirty="0"/>
              <a:t>03</a:t>
            </a:r>
            <a:r>
              <a:rPr lang="ja-JP" altLang="en-US" sz="1400" dirty="0"/>
              <a:t>月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2</a:t>
            </a:r>
            <a:r>
              <a:rPr lang="ja-JP" altLang="en-US" sz="1200" dirty="0"/>
              <a:t>ヶ月間のシドニーの語学学校通学</a:t>
            </a:r>
            <a:endParaRPr lang="en-GB" altLang="ja-JP" sz="1200" dirty="0"/>
          </a:p>
          <a:p>
            <a:pPr marL="728662" lvl="2" indent="-285750"/>
            <a:r>
              <a:rPr lang="en-US" altLang="ja-JP" sz="1200" dirty="0"/>
              <a:t>6</a:t>
            </a:r>
            <a:r>
              <a:rPr lang="ja-JP" altLang="en-US" sz="1200" dirty="0"/>
              <a:t>ヶ月間の</a:t>
            </a:r>
            <a:r>
              <a:rPr lang="en-GB" altLang="ja-JP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r>
              <a:rPr lang="en-GB" altLang="ja-JP" sz="1200" dirty="0"/>
              <a:t> </a:t>
            </a:r>
            <a:r>
              <a:rPr lang="ja-JP" altLang="en-US" sz="1200" dirty="0"/>
              <a:t>での就労</a:t>
            </a:r>
            <a:endParaRPr lang="en-GB" altLang="ja-JP" sz="1200" dirty="0"/>
          </a:p>
          <a:p>
            <a:pPr marL="728662" lvl="2" indent="-285750"/>
            <a:r>
              <a:rPr lang="en-US" altLang="ja-JP" sz="1200" dirty="0"/>
              <a:t>1</a:t>
            </a:r>
            <a:r>
              <a:rPr lang="ja-JP" altLang="en-US" sz="1200" dirty="0"/>
              <a:t>ヶ月間の </a:t>
            </a:r>
            <a:r>
              <a:rPr lang="en-GB" altLang="ja-JP" sz="1200" dirty="0"/>
              <a:t>NSW </a:t>
            </a:r>
            <a:r>
              <a:rPr lang="ja-JP" altLang="en-US" sz="1200" dirty="0"/>
              <a:t>州の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での日本語教師アシスタントボランティア活動</a:t>
            </a:r>
            <a:endParaRPr lang="en-US" altLang="ja-JP" sz="1200" dirty="0"/>
          </a:p>
          <a:p>
            <a:pPr marL="268288" indent="-268288"/>
            <a:r>
              <a:rPr lang="ja-JP" altLang="en-US" sz="1600" dirty="0"/>
              <a:t>その他活動</a:t>
            </a:r>
            <a:endParaRPr lang="ja-JP" altLang="en-US" sz="900" dirty="0"/>
          </a:p>
          <a:p>
            <a:pPr marL="536575" lvl="1" indent="-268288"/>
            <a:r>
              <a:rPr lang="ja-JP" altLang="en-US" sz="1400" dirty="0"/>
              <a:t>英語での日々の日記</a:t>
            </a:r>
            <a:r>
              <a:rPr lang="en-GB" altLang="ja-JP" sz="1400" dirty="0"/>
              <a:t>(</a:t>
            </a:r>
            <a:r>
              <a:rPr lang="en-US" altLang="ja-JP" sz="1400" dirty="0"/>
              <a:t>2014</a:t>
            </a:r>
            <a:r>
              <a:rPr lang="ja-JP" altLang="en-US" sz="1400" dirty="0"/>
              <a:t>年</a:t>
            </a:r>
            <a:r>
              <a:rPr lang="en-US" altLang="ja-JP" sz="1400" dirty="0"/>
              <a:t>04</a:t>
            </a:r>
            <a:r>
              <a:rPr lang="ja-JP" altLang="en-US" sz="1400" dirty="0"/>
              <a:t>月 </a:t>
            </a:r>
            <a:r>
              <a:rPr lang="en-US" altLang="ja-JP" sz="1400" dirty="0"/>
              <a:t>- </a:t>
            </a:r>
            <a:r>
              <a:rPr lang="ja-JP" altLang="en-US" sz="1400" dirty="0"/>
              <a:t>現在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GB" altLang="ja-JP" sz="1400" dirty="0"/>
              <a:t> </a:t>
            </a:r>
            <a:r>
              <a:rPr lang="ja-JP" altLang="en-US" sz="1400" dirty="0"/>
              <a:t>参加</a:t>
            </a:r>
            <a:r>
              <a:rPr lang="en-US" altLang="ja-JP" sz="1400" dirty="0"/>
              <a:t>(2017</a:t>
            </a:r>
            <a:r>
              <a:rPr lang="ja-JP" altLang="en-US" sz="1400" dirty="0"/>
              <a:t>年</a:t>
            </a:r>
            <a:r>
              <a:rPr lang="en-US" altLang="ja-JP" sz="1400" dirty="0"/>
              <a:t>02</a:t>
            </a:r>
            <a:r>
              <a:rPr lang="ja-JP" altLang="en-US" sz="1400" dirty="0"/>
              <a:t>月 </a:t>
            </a:r>
            <a:r>
              <a:rPr lang="en-US" altLang="ja-JP" sz="1400" dirty="0"/>
              <a:t>- 2018</a:t>
            </a:r>
            <a:r>
              <a:rPr lang="ja-JP" altLang="en-US" sz="1400" dirty="0"/>
              <a:t>年</a:t>
            </a:r>
            <a:r>
              <a:rPr lang="en-US" altLang="ja-JP" sz="1400" dirty="0"/>
              <a:t>03</a:t>
            </a:r>
            <a:r>
              <a:rPr lang="ja-JP" altLang="en-US" sz="1400" dirty="0"/>
              <a:t>月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 </a:t>
            </a:r>
            <a:r>
              <a:rPr lang="ja-JP" altLang="en-US" sz="1400" dirty="0"/>
              <a:t>参加</a:t>
            </a:r>
            <a:r>
              <a:rPr lang="en-US" altLang="ja-JP" sz="1400" dirty="0"/>
              <a:t>(2018</a:t>
            </a:r>
            <a:r>
              <a:rPr lang="ja-JP" altLang="en-US" sz="1400" dirty="0"/>
              <a:t>年</a:t>
            </a:r>
            <a:r>
              <a:rPr lang="en-US" altLang="ja-JP" sz="1400" dirty="0"/>
              <a:t>0</a:t>
            </a:r>
            <a:r>
              <a:rPr lang="en-GB" altLang="ja-JP" sz="1400" dirty="0"/>
              <a:t>1</a:t>
            </a:r>
            <a:r>
              <a:rPr lang="ja-JP" altLang="en-US" sz="1400" dirty="0"/>
              <a:t>月 </a:t>
            </a:r>
            <a:r>
              <a:rPr lang="en-US" altLang="ja-JP" sz="1400" dirty="0"/>
              <a:t>- 2019</a:t>
            </a:r>
            <a:r>
              <a:rPr lang="ja-JP" altLang="en-US" sz="1400" dirty="0"/>
              <a:t>年</a:t>
            </a:r>
            <a:r>
              <a:rPr lang="en-US" altLang="ja-JP" sz="1400" dirty="0"/>
              <a:t>0</a:t>
            </a:r>
            <a:r>
              <a:rPr lang="en-GB" altLang="ja-JP" sz="1400" dirty="0"/>
              <a:t>7</a:t>
            </a:r>
            <a:r>
              <a:rPr lang="ja-JP" altLang="en-US" sz="1400" dirty="0"/>
              <a:t>月、</a:t>
            </a:r>
            <a:r>
              <a:rPr lang="en-US" altLang="ja-JP" sz="1400" dirty="0"/>
              <a:t>2022</a:t>
            </a:r>
            <a:r>
              <a:rPr lang="ja-JP" altLang="en-US" sz="1400" dirty="0"/>
              <a:t>年</a:t>
            </a:r>
            <a:r>
              <a:rPr lang="en-US" altLang="ja-JP" sz="1400" dirty="0"/>
              <a:t>10</a:t>
            </a:r>
            <a:r>
              <a:rPr lang="ja-JP" altLang="en-US" sz="1400" dirty="0"/>
              <a:t>月 </a:t>
            </a:r>
            <a:r>
              <a:rPr lang="en-US" altLang="ja-JP" sz="1400" dirty="0"/>
              <a:t>- 2023</a:t>
            </a:r>
            <a:r>
              <a:rPr lang="ja-JP" altLang="en-US" sz="1400" dirty="0"/>
              <a:t>年</a:t>
            </a:r>
            <a:r>
              <a:rPr lang="en-US" altLang="ja-JP" sz="1400" dirty="0"/>
              <a:t>0</a:t>
            </a:r>
            <a:r>
              <a:rPr lang="en-GB" altLang="ja-JP" sz="1400" dirty="0"/>
              <a:t>2</a:t>
            </a:r>
            <a:r>
              <a:rPr lang="ja-JP" altLang="en-US" sz="1400" dirty="0"/>
              <a:t>月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ja-JP" altLang="en-US" sz="1400" dirty="0"/>
              <a:t>英語自己学習</a:t>
            </a:r>
            <a:endParaRPr lang="en-GB" altLang="ja-JP" sz="1400" dirty="0"/>
          </a:p>
          <a:p>
            <a:pPr marL="536575" lvl="1" indent="-268288"/>
            <a:r>
              <a:rPr lang="en-GB" altLang="ja-JP" sz="1400" dirty="0"/>
              <a:t>Ruby </a:t>
            </a:r>
            <a:r>
              <a:rPr lang="ja-JP" altLang="en-US" sz="1400"/>
              <a:t>関連カンファレンス参加</a:t>
            </a:r>
            <a:endParaRPr lang="en-GB" altLang="ja-JP" sz="1400" dirty="0"/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ja-JP" altLang="en-US" b="1" dirty="0">
                <a:latin typeface="Calibri (Headings)"/>
              </a:rPr>
              <a:t>このシリーズのコンセプト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英語の奥深さを知る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730250" marR="0" lvl="1" indent="-268605" algn="l" defTabSz="914400" rtl="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単なるコミュニケーシ</a:t>
            </a:r>
            <a:r>
              <a:rPr kumimoji="0" lang="ja-JP" alt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ョ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ン手</a:t>
            </a:r>
            <a:r>
              <a:rPr kumimoji="0" lang="ja-JP" alt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段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では</a:t>
            </a:r>
            <a:r>
              <a:rPr kumimoji="0" lang="ja-JP" alt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な</a:t>
            </a:r>
            <a:r>
              <a:rPr kumimoji="0" lang="ja-JP" altLang="en-US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</a:t>
            </a:r>
            <a:endParaRPr kumimoji="0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英語を知ることで日本語を知る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730250" marR="0" lvl="1" indent="-268605" algn="l" defTabSz="914400" rtl="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一つの言語しか知らな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こと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は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何一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つ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知ら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な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いの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同じ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ja-JP" altLang="en-US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すぐに役に立たないことを追求する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730250" marR="0" lvl="1" indent="-268605" algn="l" defTabSz="914400" rtl="0" eaLnBrk="1" fontAlgn="auto" latinLnBrk="0" hangingPunct="1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無意味に思えることに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そ本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質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がある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4187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ja-JP" altLang="en-US" b="1" dirty="0">
                <a:latin typeface="Calibri (Headings)"/>
              </a:rPr>
              <a:t>目次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ja-JP" altLang="en-US" sz="2400" dirty="0">
                <a:sym typeface="Arial"/>
                <a:hlinkClick r:id="rId4" action="ppaction://hlinksldjump"/>
              </a:rPr>
              <a:t>ことばとは文化である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ja-JP" altLang="en-US" sz="2400" dirty="0">
                <a:sym typeface="Arial"/>
                <a:hlinkClick r:id="rId5" action="ppaction://hlinksldjump"/>
              </a:rPr>
              <a:t>ことばとはドレスコードである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ja-JP" altLang="en-US" sz="2400" dirty="0">
                <a:sym typeface="Arial"/>
                <a:hlinkClick r:id="rId6" action="ppaction://hlinksldjump"/>
              </a:rPr>
              <a:t>まとめ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ja-JP" altLang="en-US" sz="2400" dirty="0">
                <a:sym typeface="Arial"/>
                <a:hlinkClick r:id="rId7" action="ppaction://hlinksldjump"/>
              </a:rPr>
              <a:t>シリーズの終わりに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ja-JP" altLang="en-US" sz="2400" dirty="0">
                <a:sym typeface="Arial"/>
                <a:hlinkClick r:id="rId8" action="ppaction://hlinksldjump"/>
              </a:rPr>
              <a:t>参考文献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ことばとは文化である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ことばとは文化である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引用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172720" lvl="0" indent="0" algn="l" defTabSz="914400" rtl="0" eaLnBrk="1" fontAlgn="auto" latinLnBrk="0" hangingPunct="1">
              <a:lnSpc>
                <a:spcPct val="8000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Tx/>
              <a:buNone/>
              <a:tabLst>
                <a:tab pos="2828925" algn="l"/>
                <a:tab pos="8409305" algn="l"/>
              </a:tabLst>
              <a:defRPr/>
            </a:pP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</a:t>
            </a:r>
            <a:r>
              <a:rPr kumimoji="0" lang="en-GB" sz="24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address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others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depends</a:t>
            </a:r>
            <a:r>
              <a:rPr kumimoji="0" lang="en-GB" sz="24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our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relationships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to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them. My friends 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refer</a:t>
            </a:r>
            <a:r>
              <a:rPr kumimoji="0" lang="en-GB" sz="24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me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Mike. </a:t>
            </a:r>
            <a:r>
              <a:rPr kumimoji="0" lang="en-GB" sz="24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However,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many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students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refer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</a:t>
            </a:r>
            <a:r>
              <a:rPr kumimoji="0" lang="en-GB" sz="24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Prof.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Geis or </a:t>
            </a:r>
            <a:r>
              <a:rPr kumimoji="0" lang="en-GB" sz="2400" b="0" i="1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Dr. </a:t>
            </a:r>
            <a:r>
              <a:rPr kumimoji="0" lang="en-GB" sz="2400" b="0" i="1" u="none" strike="noStrike" kern="1200" cap="none" spc="-5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Geis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Mr.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Geis,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even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though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usually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encourage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them 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call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Mike.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60325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 other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American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professors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encourage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 in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order 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signal a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feeling of </a:t>
            </a:r>
            <a:r>
              <a:rPr kumimoji="0" lang="en-GB" sz="2400" b="0" i="1" u="none" strike="noStrike" kern="1200" cap="none" spc="-5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solidarity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students.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220979" lvl="0" indent="0" algn="just" defTabSz="914400" rtl="0" eaLnBrk="1" fontAlgn="auto" latinLnBrk="0" hangingPunct="1">
              <a:lnSpc>
                <a:spcPct val="7650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我々が他者をどう呼ぶかは、当人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の間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柄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に依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存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する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。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私の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友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人は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自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分を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マ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イク と呼ぶ。しかし、私が</a:t>
            </a:r>
            <a:r>
              <a:rPr kumimoji="0" lang="ja-JP" altLang="en-US" sz="22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マイクと呼ぶように促したところ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、学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生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の多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く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はガ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イ</a:t>
            </a:r>
            <a:r>
              <a:rPr kumimoji="0" lang="ja-JP" altLang="en-US" sz="22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ス 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教授、ガイス博士、もしくはガイ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ス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さん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呼ぶ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。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他の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ア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メリ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カ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人教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授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の中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に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は学 生との心理的繋がりを醸し出目的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、フ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ァ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ース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ト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ネー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ム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で呼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ぶ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こと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促す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人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もい る。</a:t>
            </a:r>
            <a:endParaRPr kumimoji="0" lang="ja-JP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出典</a:t>
            </a:r>
            <a:r>
              <a:rPr kumimoji="0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p.51</a:t>
            </a:r>
            <a:r>
              <a:rPr kumimoji="0" lang="en-GB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ll.10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- 20,</a:t>
            </a:r>
            <a:r>
              <a:rPr kumimoji="0" lang="en-GB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Michael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L.</a:t>
            </a:r>
            <a:r>
              <a:rPr kumimoji="0" lang="en-GB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Geis,</a:t>
            </a:r>
            <a:r>
              <a:rPr kumimoji="0" lang="en-GB" sz="1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1800" b="0" i="1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18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Communication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5280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ことばとは文化である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引用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180975" lvl="0" indent="0" algn="l" defTabSz="914400" rtl="0" eaLnBrk="1" fontAlgn="auto" latinLnBrk="0" hangingPunct="1">
              <a:lnSpc>
                <a:spcPct val="9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>
                <a:tab pos="3371850" algn="l"/>
              </a:tabLst>
              <a:defRPr/>
            </a:pP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Nevertheless,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power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difference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between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professors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students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large </a:t>
            </a:r>
            <a:r>
              <a:rPr kumimoji="0" lang="en-GB" sz="2400" b="0" i="1" u="none" strike="noStrike" kern="1200" cap="none" spc="-5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many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students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feel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comfortable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using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title plus the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last name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than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just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first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name.	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Oriental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students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study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the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United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States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normally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feel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very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uncomfortable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using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just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professor's first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name, at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least </a:t>
            </a:r>
            <a:r>
              <a:rPr kumimoji="0" lang="en-GB" sz="2400" b="0" i="1" u="none" strike="noStrike" kern="1200" cap="none" spc="-5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beginning.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286385" lvl="0" indent="0" algn="l" defTabSz="914400" rtl="0" eaLnBrk="1" fontAlgn="auto" latinLnBrk="0" hangingPunct="1">
              <a:lnSpc>
                <a:spcPct val="861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それにも関わらず、教授</a:t>
            </a:r>
            <a:r>
              <a:rPr kumimoji="0" lang="ja-JP" altLang="en-US" sz="22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と学生間の社会的力量差が大き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く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、学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生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はフ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ァ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ースト ネームで呼び捨てるよりも、敬称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付し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た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ラス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ト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ネー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ム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で呼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ぶ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方が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気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楽だ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</a:t>
            </a:r>
            <a:r>
              <a:rPr kumimoji="0" lang="ja-JP" altLang="en-US" sz="22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感じ 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ている。アメリカで勉強する東洋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出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身の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学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生は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教授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ファ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ー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スト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ネ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ーム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呼ぶ 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ことを、少なくとも最初のうちは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気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まず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と感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じ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るの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一般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的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であ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る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。</a:t>
            </a:r>
            <a:endParaRPr kumimoji="0" lang="en-GB" altLang="ja-JP" sz="2200" b="0" i="0" u="none" strike="noStrike" kern="1200" cap="none" spc="-10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游ゴシック" panose="020B0400000000000000" pitchFamily="50" charset="-128"/>
                <a:cs typeface="Yu Gothic"/>
              </a:rPr>
              <a:t>出典</a:t>
            </a:r>
            <a:r>
              <a:rPr kumimoji="0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游ゴシック" panose="020B0400000000000000" pitchFamily="50" charset="-128"/>
                <a:cs typeface="Calibri"/>
              </a:rPr>
              <a:t>: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p.51</a:t>
            </a:r>
            <a:r>
              <a:rPr kumimoji="0" lang="en-GB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ll.10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- 20,</a:t>
            </a:r>
            <a:r>
              <a:rPr kumimoji="0" lang="en-GB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Michael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L.</a:t>
            </a:r>
            <a:r>
              <a:rPr kumimoji="0" lang="en-GB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Geis,</a:t>
            </a:r>
            <a:r>
              <a:rPr kumimoji="0" lang="en-GB" sz="1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1800" b="0" i="1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18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Communication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0939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ことばとは文化である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相手の呼び方を決定づけ</a:t>
            </a:r>
            <a:r>
              <a:rPr kumimoji="0" lang="ja-JP" altLang="en-US" sz="28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る</a:t>
            </a:r>
            <a:r>
              <a:rPr kumimoji="0" lang="en-US" altLang="ja-JP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4</a:t>
            </a: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要素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親しさ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年齢差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社会的地位の差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敬意の程度</a:t>
            </a:r>
          </a:p>
        </p:txBody>
      </p:sp>
    </p:spTree>
    <p:extLst>
      <p:ext uri="{BB962C8B-B14F-4D97-AF65-F5344CB8AC3E}">
        <p14:creationId xmlns:p14="http://schemas.microsoft.com/office/powerpoint/2010/main" val="1541355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ことばとは文化である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西洋と東洋それぞれの文化におけ</a:t>
            </a:r>
            <a:r>
              <a:rPr kumimoji="0" lang="ja-JP" altLang="en-US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る</a:t>
            </a: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「礼</a:t>
            </a:r>
            <a:r>
              <a:rPr kumimoji="0" lang="ja-JP" altLang="en-US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儀</a:t>
            </a: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」の</a:t>
            </a:r>
            <a:r>
              <a:rPr kumimoji="0" lang="ja-JP" altLang="en-US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違</a:t>
            </a: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西洋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親しみを示すこと</a:t>
            </a:r>
            <a:endParaRPr kumimoji="0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相手との一体感が心理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的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安全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性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を生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み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、高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生産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性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に繋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る</a:t>
            </a:r>
          </a:p>
          <a:p>
            <a:pPr marL="1187450" marR="0" lvl="2" indent="-260985" algn="l" defTabSz="914400" rtl="0" eaLnBrk="1" fontAlgn="auto" latinLnBrk="0" hangingPunct="1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87450" algn="l"/>
                <a:tab pos="1188085" algn="l"/>
              </a:tabLst>
              <a:defRPr/>
            </a:pPr>
            <a:r>
              <a:rPr kumimoji="0" lang="ja-JP" altLang="en-US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ja-JP" altLang="en-US" sz="1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ファーストネームで呼ぶことを促</a:t>
            </a:r>
            <a:r>
              <a:rPr kumimoji="0" lang="ja-JP" altLang="en-US" sz="1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し</a:t>
            </a:r>
            <a:r>
              <a:rPr kumimoji="0" lang="ja-JP" altLang="en-US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心理</a:t>
            </a:r>
            <a:r>
              <a:rPr kumimoji="0" lang="ja-JP" altLang="en-US" sz="1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的</a:t>
            </a:r>
            <a:r>
              <a:rPr kumimoji="0" lang="ja-JP" altLang="en-US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ハー</a:t>
            </a:r>
            <a:r>
              <a:rPr kumimoji="0" lang="ja-JP" altLang="en-US" sz="1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ド</a:t>
            </a:r>
            <a:r>
              <a:rPr kumimoji="0" lang="ja-JP" altLang="en-US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ルを</a:t>
            </a:r>
            <a:r>
              <a:rPr kumimoji="0" lang="ja-JP" altLang="en-US" sz="1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下</a:t>
            </a:r>
            <a:r>
              <a:rPr kumimoji="0" lang="ja-JP" altLang="en-US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げる</a:t>
            </a:r>
            <a:endParaRPr kumimoji="0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東洋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適切な心理的距離感を</a:t>
            </a:r>
            <a:r>
              <a:rPr kumimoji="0" lang="ja-JP" altLang="en-US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保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つこと</a:t>
            </a:r>
            <a:endParaRPr kumimoji="0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日本語ではその概念が</a:t>
            </a:r>
            <a:r>
              <a:rPr kumimoji="0" lang="ja-JP" altLang="en-US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尊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敬語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謙譲</a:t>
            </a:r>
            <a:r>
              <a:rPr kumimoji="0" lang="ja-JP" altLang="en-US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語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丁</a:t>
            </a:r>
            <a:r>
              <a:rPr kumimoji="0" lang="ja-JP" altLang="en-US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寧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語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し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て顕在</a:t>
            </a:r>
          </a:p>
          <a:p>
            <a:pPr marL="1187450" marR="0" lvl="2" indent="-260985" algn="l" defTabSz="9144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87450" algn="l"/>
                <a:tab pos="1188085" algn="l"/>
              </a:tabLst>
              <a:defRPr/>
            </a:pPr>
            <a:r>
              <a:rPr kumimoji="0" lang="ja-JP" altLang="en-US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ja-JP" altLang="en-US" sz="16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言葉遣いに細心の注意を払い、緊</a:t>
            </a:r>
            <a:r>
              <a:rPr kumimoji="0" lang="ja-JP" altLang="en-US" sz="1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張</a:t>
            </a:r>
            <a:r>
              <a:rPr kumimoji="0" lang="ja-JP" altLang="en-US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関係</a:t>
            </a:r>
            <a:r>
              <a:rPr kumimoji="0" lang="ja-JP" altLang="en-US" sz="1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</a:t>
            </a:r>
            <a:r>
              <a:rPr kumimoji="0" lang="ja-JP" altLang="en-US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保つ</a:t>
            </a:r>
            <a:endParaRPr kumimoji="0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58908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ことばとは文化である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我々東洋人が西洋の文化に順応す</a:t>
            </a:r>
            <a:r>
              <a:rPr kumimoji="0" lang="ja-JP" altLang="en-US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る</a:t>
            </a: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プロ</a:t>
            </a:r>
            <a:r>
              <a:rPr kumimoji="0" lang="ja-JP" altLang="en-US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セ</a:t>
            </a: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ス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フェーズ</a:t>
            </a:r>
            <a:r>
              <a:rPr kumimoji="0" lang="ja-JP" altLang="en-US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①</a:t>
            </a:r>
            <a:r>
              <a:rPr kumimoji="0" lang="en-US" altLang="ja-JP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ja-JP" altLang="en-US" sz="2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西洋の文化と東洋の文化の狭間での葛藤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「親しみを示すこと」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礼</a:t>
            </a:r>
            <a:r>
              <a:rPr kumimoji="0" lang="ja-JP" altLang="en-US" sz="2000" b="0" i="0" u="none" strike="noStrike" kern="1200" cap="none" spc="40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儀</a:t>
            </a:r>
            <a:r>
              <a:rPr kumimoji="0" lang="en-US" altLang="ja-JP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vs.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「適切な心理的距離感を保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つ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こと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」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が礼儀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相手を呼び捨てること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は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自分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文化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は無礼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フェーズ</a:t>
            </a:r>
            <a:r>
              <a:rPr kumimoji="0" lang="ja-JP" altLang="en-US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②</a:t>
            </a:r>
            <a:r>
              <a:rPr kumimoji="0" lang="en-US" altLang="ja-JP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ja-JP" altLang="en-US" sz="2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言語の習得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英語を通して西洋の文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化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を体験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母語との言語衝</a:t>
            </a:r>
            <a:r>
              <a:rPr kumimoji="0" lang="ja-JP" altLang="en-US" sz="2000" b="0" i="0" u="none" strike="noStrike" kern="1200" cap="none" spc="4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突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lang="ja-JP" alt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文化衝突を経てギャ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ッ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プを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消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化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フェーズ</a:t>
            </a:r>
            <a:r>
              <a:rPr kumimoji="0" lang="ja-JP" altLang="en-US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③</a:t>
            </a:r>
            <a:r>
              <a:rPr kumimoji="0" lang="en-US" altLang="ja-JP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ja-JP" altLang="en-US" sz="2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文化への順応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文化の違いへの♛が通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っ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た理解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ことばへの順応の表出</a:t>
            </a:r>
          </a:p>
          <a:p>
            <a:pPr marL="1187450" marR="0" lvl="2" indent="-260985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87450" algn="l"/>
                <a:tab pos="1188085" algn="l"/>
              </a:tabLst>
              <a:defRPr/>
            </a:pPr>
            <a:r>
              <a:rPr kumimoji="0" lang="ja-JP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ja-JP" altLang="en-US" sz="17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ファーストネームで呼ぶ</a:t>
            </a:r>
            <a:r>
              <a:rPr kumimoji="0" lang="ja-JP" altLang="en-US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</a:t>
            </a:r>
            <a:r>
              <a:rPr kumimoji="0" lang="ja-JP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とへ</a:t>
            </a:r>
            <a:r>
              <a:rPr kumimoji="0" lang="ja-JP" altLang="en-US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</a:t>
            </a:r>
            <a:r>
              <a:rPr kumimoji="0" lang="ja-JP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抵抗</a:t>
            </a:r>
            <a:r>
              <a:rPr kumimoji="0" lang="ja-JP" altLang="en-US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</a:t>
            </a:r>
            <a:r>
              <a:rPr kumimoji="0" lang="ja-JP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消失</a:t>
            </a: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ことばの習得・文化への順応を経てアイデンティティを再構築</a:t>
            </a:r>
          </a:p>
        </p:txBody>
      </p:sp>
    </p:spTree>
    <p:extLst>
      <p:ext uri="{BB962C8B-B14F-4D97-AF65-F5344CB8AC3E}">
        <p14:creationId xmlns:p14="http://schemas.microsoft.com/office/powerpoint/2010/main" val="599202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ja-JP" altLang="en-US" b="1" dirty="0">
                <a:latin typeface="Calibri (Headings)"/>
                <a:sym typeface="Arial"/>
              </a:rPr>
              <a:t>ことばとはドレスコードである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ja-JP" altLang="en-US" b="1" dirty="0">
                <a:latin typeface="Calibri (Headings)"/>
                <a:sym typeface="Arial"/>
              </a:rPr>
              <a:t>ことばとはドレスコードである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引用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155575" lvl="0" indent="0" algn="l" defTabSz="914400" rtl="0" eaLnBrk="1" fontAlgn="auto" latinLnBrk="0" hangingPunct="1">
              <a:lnSpc>
                <a:spcPts val="259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>
                <a:tab pos="8862695" algn="l"/>
              </a:tabLst>
              <a:defRPr/>
            </a:pP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go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formal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social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gatherings,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 normally wear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expensive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less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comfortable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clothes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than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plan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meet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close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friends.	While</a:t>
            </a:r>
            <a:r>
              <a:rPr kumimoji="0" lang="en-GB" sz="2400" b="0" i="1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 </a:t>
            </a:r>
            <a:r>
              <a:rPr kumimoji="0" lang="en-GB" sz="2400" b="0" i="1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friends,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wear clothes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 are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less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expensive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comfortable.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287655" lvl="0" indent="0" algn="just" defTabSz="914400" rtl="0" eaLnBrk="1" fontAlgn="auto" latinLnBrk="0" hangingPunct="1">
              <a:lnSpc>
                <a:spcPct val="86100"/>
              </a:lnSpc>
              <a:spcBef>
                <a:spcPts val="9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我々がフォーマルな懇親会に出席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す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る時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自分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た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ちの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親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しい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友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人と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会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おう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する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時よりも高価で着心地が悪い衣服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身に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纏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うの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一般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的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だ。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一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方で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我々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が友人と一緒の時間を過ごす間は、より手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頃な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価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格の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着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心地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良い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衣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服を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身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に纏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う</a:t>
            </a:r>
            <a:r>
              <a:rPr kumimoji="0" lang="ja-JP" altLang="en-US" sz="22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もの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だ。</a:t>
            </a:r>
            <a:endParaRPr kumimoji="0" lang="ja-JP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出典</a:t>
            </a:r>
            <a:r>
              <a:rPr kumimoji="0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ja-JP" altLang="en-US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p.59</a:t>
            </a:r>
            <a:r>
              <a:rPr kumimoji="0" lang="en-GB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en-GB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60</a:t>
            </a:r>
            <a:r>
              <a:rPr kumimoji="0" lang="en-GB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ll.25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-</a:t>
            </a:r>
            <a:r>
              <a:rPr kumimoji="0" lang="en-GB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18,</a:t>
            </a:r>
            <a:r>
              <a:rPr kumimoji="0" lang="en-GB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Michael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L.</a:t>
            </a:r>
            <a:r>
              <a:rPr kumimoji="0" lang="en-GB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Geis,</a:t>
            </a:r>
            <a:r>
              <a:rPr kumimoji="0" lang="en-GB" sz="1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1800" b="0" i="1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1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Communication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5012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ja-JP" altLang="en-US" b="1" dirty="0">
                <a:latin typeface="Calibri (Headings)"/>
                <a:sym typeface="Arial"/>
              </a:rPr>
              <a:t>ことばとはドレスコードである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引用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110489" lvl="0" indent="0" algn="l" defTabSz="914400" rtl="0" eaLnBrk="1" fontAlgn="auto" latinLnBrk="0" hangingPunct="1">
              <a:lnSpc>
                <a:spcPts val="259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65680" algn="l"/>
              </a:tabLst>
              <a:defRPr/>
            </a:pPr>
            <a:r>
              <a:rPr kumimoji="0" lang="en-US" altLang="ja-JP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snip) 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wearing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expensive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clothes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formal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gatherings,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we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show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respect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those </a:t>
            </a:r>
            <a:r>
              <a:rPr kumimoji="0" lang="en-GB" sz="2400" b="0" i="1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 are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with.	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wearing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less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expensive,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more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comfortable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clothes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while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 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friends,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show solidarity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with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them.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18745" lvl="0" indent="0" algn="l" defTabSz="914400" rtl="0" eaLnBrk="1" fontAlgn="auto" latinLnBrk="0" hangingPunct="1">
              <a:lnSpc>
                <a:spcPct val="86100"/>
              </a:lnSpc>
              <a:spcBef>
                <a:spcPts val="9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中</a:t>
            </a:r>
            <a:r>
              <a:rPr kumimoji="0" lang="ja-JP" altLang="en-US" sz="23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略</a:t>
            </a:r>
            <a:r>
              <a:rPr kumimoji="0" lang="en-US" altLang="ja-JP" sz="22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lang="ja-JP" altLang="en-US" sz="23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我々はフォーマルな懇親会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に</a:t>
            </a:r>
            <a:r>
              <a:rPr kumimoji="0" lang="ja-JP" altLang="en-US" sz="23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おい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て</a:t>
            </a:r>
            <a:r>
              <a:rPr kumimoji="0" lang="ja-JP" altLang="en-US" sz="23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は高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価</a:t>
            </a:r>
            <a:r>
              <a:rPr kumimoji="0" lang="ja-JP" altLang="en-US" sz="23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な衣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服</a:t>
            </a:r>
            <a:r>
              <a:rPr kumimoji="0" lang="ja-JP" altLang="en-US" sz="23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を身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に</a:t>
            </a:r>
            <a:r>
              <a:rPr kumimoji="0" lang="ja-JP" altLang="en-US" sz="23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纏う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</a:t>
            </a:r>
            <a:r>
              <a:rPr kumimoji="0" lang="ja-JP" altLang="en-US" sz="23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とで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</a:t>
            </a:r>
            <a:r>
              <a:rPr kumimoji="0" lang="ja-JP" altLang="en-US" sz="23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同席者 </a:t>
            </a: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への敬意を示す。一方で、我々は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友</a:t>
            </a: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人と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一</a:t>
            </a: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緒の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時</a:t>
            </a: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間を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過</a:t>
            </a: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ごす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間</a:t>
            </a: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は、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手</a:t>
            </a: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頃な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値</a:t>
            </a: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段で 着心地の良い衣服を身に纏うこと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、彼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ら</a:t>
            </a: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との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心</a:t>
            </a: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理的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一</a:t>
            </a: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体感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</a:t>
            </a: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示す。</a:t>
            </a:r>
            <a:endParaRPr kumimoji="0" lang="ja-JP" alt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游ゴシック" panose="020B0400000000000000" pitchFamily="50" charset="-128"/>
                <a:cs typeface="Yu Gothic"/>
              </a:rPr>
              <a:t>出典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游ゴシック" panose="020B0400000000000000" pitchFamily="50" charset="-128"/>
                <a:cs typeface="Calibri"/>
              </a:rPr>
              <a:t>:</a:t>
            </a:r>
            <a:r>
              <a:rPr kumimoji="0" lang="ja-JP" alt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游ゴシック" panose="020B0400000000000000" pitchFamily="50" charset="-128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p.59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60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ll.25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-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18,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Michael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L.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Geis,</a:t>
            </a:r>
            <a:r>
              <a:rPr kumimoji="0" lang="en-GB" sz="20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2000" b="0" i="1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0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Communication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2280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ja-JP" altLang="en-US" b="1" dirty="0">
                <a:latin typeface="Calibri (Headings)"/>
                <a:sym typeface="Arial"/>
              </a:rPr>
              <a:t>ことばとはドレスコードである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引用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147320" lvl="0" indent="0" algn="l" defTabSz="914400" rtl="0" eaLnBrk="1" fontAlgn="auto" latinLnBrk="0" hangingPunct="1">
              <a:lnSpc>
                <a:spcPts val="259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78705" algn="l"/>
                <a:tab pos="6302375" algn="l"/>
              </a:tabLst>
              <a:defRPr/>
            </a:pPr>
            <a:r>
              <a:rPr kumimoji="0" lang="en-US" altLang="ja-JP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snip)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same</a:t>
            </a:r>
            <a:r>
              <a:rPr kumimoji="0" lang="en-GB" sz="24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true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talk.	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using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formal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speech styles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more </a:t>
            </a:r>
            <a:r>
              <a:rPr kumimoji="0" lang="en-GB" sz="2400" b="0" i="1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social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gathering,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show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respect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our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listeners.	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using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less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formal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speech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styles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our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friends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and intimates,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show solidarity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them.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3975" lvl="0" indent="0" algn="l" defTabSz="914400" rtl="0" eaLnBrk="1" fontAlgn="auto" latinLnBrk="0" hangingPunct="1">
              <a:lnSpc>
                <a:spcPct val="86100"/>
              </a:lnSpc>
              <a:spcBef>
                <a:spcPts val="9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中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略</a:t>
            </a:r>
            <a:r>
              <a:rPr kumimoji="0" lang="en-US" altLang="ja-JP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lang="ja-JP" altLang="en-US" sz="2200" b="0" i="1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衣服と同じことは我々の話し方にも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当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ては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ま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る。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フ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ォー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マ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ルな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懇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親会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に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おい 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て、我々はかしこまった話し方を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す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るこ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で聞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き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手へ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敬意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示す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。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友人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や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親近 者に対してくだけた話し方をする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とで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我々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は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彼ら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の心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理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的繋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りを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示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す。</a:t>
            </a:r>
            <a:endParaRPr kumimoji="0" lang="ja-JP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游ゴシック" panose="020B0400000000000000" pitchFamily="50" charset="-128"/>
                <a:cs typeface="Yu Gothic"/>
              </a:rPr>
              <a:t>出典</a:t>
            </a:r>
            <a:r>
              <a:rPr kumimoji="0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游ゴシック" panose="020B0400000000000000" pitchFamily="50" charset="-128"/>
                <a:cs typeface="Calibri"/>
              </a:rPr>
              <a:t>:</a:t>
            </a:r>
            <a:r>
              <a:rPr kumimoji="0" lang="ja-JP" altLang="en-US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游ゴシック" panose="020B0400000000000000" pitchFamily="50" charset="-128"/>
                <a:cs typeface="Calibri"/>
              </a:rPr>
              <a:t>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p.59</a:t>
            </a:r>
            <a:r>
              <a:rPr kumimoji="0" lang="en-GB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en-GB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60</a:t>
            </a:r>
            <a:r>
              <a:rPr kumimoji="0" lang="en-GB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ll.25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-</a:t>
            </a:r>
            <a:r>
              <a:rPr kumimoji="0" lang="en-GB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18,</a:t>
            </a:r>
            <a:r>
              <a:rPr kumimoji="0" lang="en-GB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Michael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L.</a:t>
            </a:r>
            <a:r>
              <a:rPr kumimoji="0" lang="en-GB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Geis,</a:t>
            </a:r>
            <a:r>
              <a:rPr kumimoji="0" lang="en-GB" sz="1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1800" b="0" i="1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1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Communication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5396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ja-JP" altLang="en-US" b="1" dirty="0">
                <a:latin typeface="Calibri (Headings)"/>
                <a:sym typeface="Arial"/>
              </a:rPr>
              <a:t>ことばとはドレスコードである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引用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333375" lvl="0" indent="0" algn="l" defTabSz="914400" rtl="0" eaLnBrk="1" fontAlgn="auto" latinLnBrk="0" hangingPunct="1">
              <a:lnSpc>
                <a:spcPct val="8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Tx/>
              <a:buNone/>
              <a:tabLst>
                <a:tab pos="9426575" algn="l"/>
              </a:tabLst>
              <a:defRPr/>
            </a:pPr>
            <a:r>
              <a:rPr kumimoji="0" lang="en-US" altLang="ja-JP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snip) How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talk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reflects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social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contexts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in,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casual speech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</a:t>
            </a:r>
            <a:r>
              <a:rPr kumimoji="0" lang="en-GB" sz="2400" b="0" i="1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x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ts,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ree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asu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ms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 them.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  friends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might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think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playing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joke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if we were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wear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tuxedo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82470" algn="l"/>
              </a:tabLst>
              <a:defRPr/>
            </a:pP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informal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party.	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Similarly,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 we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were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use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precise,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careful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speech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with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close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friends, </a:t>
            </a:r>
            <a:r>
              <a:rPr kumimoji="0" lang="en-GB" sz="2400" b="0" i="1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would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also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think that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playing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joke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some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sort.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15570" lvl="0" indent="0" algn="l" defTabSz="914400" rtl="0" eaLnBrk="1" fontAlgn="auto" latinLnBrk="0" hangingPunct="1">
              <a:lnSpc>
                <a:spcPct val="76500"/>
              </a:lnSpc>
              <a:spcBef>
                <a:spcPts val="10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中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略</a:t>
            </a:r>
            <a:r>
              <a:rPr kumimoji="0" lang="en-US" altLang="ja-JP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lang="ja-JP" altLang="en-US" sz="2200" b="0" i="1" u="none" strike="noStrike" kern="1200" cap="none" spc="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我々の話し方は、自分たちが置かれ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て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いる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社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会的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状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況を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反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映し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て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おり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カ ジュアルな話し方をする状況では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より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カ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ジュ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ア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ルな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話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し方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自由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に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して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良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いと いうことであるし、同時にそうし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な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けれ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ば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なら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な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いの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もあ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る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。万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一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、カ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ジ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ュア 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ルなパーティーにタキシードを着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て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行っ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た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ら、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親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近者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は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我々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ふざ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け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てい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る</a:t>
            </a:r>
            <a:r>
              <a:rPr kumimoji="0" lang="ja-JP" altLang="en-US" sz="22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と思 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うかも知れない。同様に、万一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US" altLang="ja-JP" sz="22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文法・発音に</a:t>
            </a:r>
            <a:r>
              <a:rPr kumimoji="0" lang="en-US" altLang="ja-JP" sz="22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正確で注意深い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話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し方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親近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者</a:t>
            </a:r>
            <a:r>
              <a:rPr kumimoji="0" lang="ja-JP" altLang="en-US" sz="22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に対 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してしたら、彼らは我々がふざけ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て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いる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思う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だ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ろう。</a:t>
            </a:r>
            <a:endParaRPr kumimoji="0" lang="ja-JP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游ゴシック" panose="020B0400000000000000" pitchFamily="50" charset="-128"/>
                <a:cs typeface="Yu Gothic"/>
              </a:rPr>
              <a:t>出典</a:t>
            </a:r>
            <a:r>
              <a:rPr kumimoji="0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游ゴシック" panose="020B0400000000000000" pitchFamily="50" charset="-128"/>
                <a:cs typeface="Calibri"/>
              </a:rPr>
              <a:t>:</a:t>
            </a:r>
            <a:r>
              <a:rPr kumimoji="0" lang="ja-JP" altLang="en-US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游ゴシック" panose="020B0400000000000000" pitchFamily="50" charset="-128"/>
                <a:cs typeface="Calibri"/>
              </a:rPr>
              <a:t>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p.59</a:t>
            </a:r>
            <a:r>
              <a:rPr kumimoji="0" lang="en-GB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en-GB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60</a:t>
            </a:r>
            <a:r>
              <a:rPr kumimoji="0" lang="en-GB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ll.25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-</a:t>
            </a:r>
            <a:r>
              <a:rPr kumimoji="0" lang="en-GB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18,</a:t>
            </a:r>
            <a:r>
              <a:rPr kumimoji="0" lang="en-GB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Michael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L.</a:t>
            </a:r>
            <a:r>
              <a:rPr kumimoji="0" lang="en-GB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Geis,</a:t>
            </a:r>
            <a:r>
              <a:rPr kumimoji="0" lang="en-GB" sz="1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1800" b="0" i="1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1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Communication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5562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ja-JP" altLang="en-US" b="1" dirty="0">
                <a:latin typeface="Calibri (Headings)"/>
                <a:sym typeface="Arial"/>
              </a:rPr>
              <a:t>ことばとはドレスコードである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4</a:t>
            </a: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つの話し方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EE93985-1A30-7029-FE78-894D95136666}"/>
              </a:ext>
            </a:extLst>
          </p:cNvPr>
          <p:cNvGraphicFramePr>
            <a:graphicFrameLocks noGrp="1"/>
          </p:cNvGraphicFramePr>
          <p:nvPr/>
        </p:nvGraphicFramePr>
        <p:xfrm>
          <a:off x="943470" y="2290445"/>
          <a:ext cx="8128000" cy="1854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様式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状況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Formal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speech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style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フォーマルな懇親会、食事会、葬儀、式典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Consultative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speech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style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仕事の会議、大学の講義、初対面の人との面会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Casual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speech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style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気心知れた者同士のカジュアルな場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Intimate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style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非常に親しい者同士のプライベートな場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74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ja-JP" altLang="en-US" b="1" dirty="0">
                <a:latin typeface="Calibri (Headings)"/>
                <a:sym typeface="Arial"/>
              </a:rPr>
              <a:t>ことばとはドレスコードである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社会的状況と振舞い</a:t>
            </a:r>
            <a:endParaRPr kumimoji="0" lang="en-GB" altLang="ja-JP" sz="2800" b="1" i="0" u="none" strike="noStrike" kern="120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altLang="ja-JP" b="1" spc="-5" dirty="0">
              <a:solidFill>
                <a:prstClr val="black"/>
              </a:solidFill>
              <a:latin typeface="Yu Gothic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ja-JP" sz="2800" b="1" i="0" u="none" strike="noStrike" kern="120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altLang="ja-JP" b="1" spc="-5" dirty="0">
              <a:solidFill>
                <a:prstClr val="black"/>
              </a:solidFill>
              <a:latin typeface="Yu Gothic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ja-JP" sz="2800" b="1" i="0" u="none" strike="noStrike" kern="120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altLang="ja-JP" b="1" spc="-5" dirty="0">
              <a:solidFill>
                <a:prstClr val="black"/>
              </a:solidFill>
              <a:latin typeface="Yu Gothic"/>
              <a:cs typeface="Yu Gothic"/>
            </a:endParaRPr>
          </a:p>
          <a:p>
            <a:pPr marL="374015" marR="5080" lvl="0" indent="-36195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ja-JP" altLang="en-US" sz="2400" b="1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TPO</a:t>
            </a: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に応じてプロトコル</a:t>
            </a:r>
            <a:r>
              <a:rPr kumimoji="0" lang="en-US" altLang="ja-JP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意思疎通における約束事</a:t>
            </a:r>
            <a:r>
              <a:rPr kumimoji="0" lang="en-US" altLang="ja-JP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lang="ja-JP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を遵守することは、衣 </a:t>
            </a:r>
            <a:r>
              <a:rPr kumimoji="0" lang="ja-JP" altLang="en-US" sz="2400" b="1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服においても言葉においても同じ！</a:t>
            </a:r>
            <a:endParaRPr kumimoji="0" lang="ja-JP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71CB5068-2D9F-C6CD-A989-185B756B70BB}"/>
              </a:ext>
            </a:extLst>
          </p:cNvPr>
          <p:cNvGraphicFramePr>
            <a:graphicFrameLocks noGrp="1"/>
          </p:cNvGraphicFramePr>
          <p:nvPr/>
        </p:nvGraphicFramePr>
        <p:xfrm>
          <a:off x="943470" y="2290445"/>
          <a:ext cx="10245722" cy="21437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96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6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社会的状況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衣服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話し方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示すもの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フォーマルな懇親会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349885" indent="-287020">
                        <a:lnSpc>
                          <a:spcPct val="100000"/>
                        </a:lnSpc>
                        <a:spcBef>
                          <a:spcPts val="110"/>
                        </a:spcBef>
                        <a:buFont typeface="Arial MT"/>
                        <a:buChar char="•"/>
                        <a:tabLst>
                          <a:tab pos="349885" algn="l"/>
                          <a:tab pos="350520" algn="l"/>
                        </a:tabLst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高価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34988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49885" algn="l"/>
                          <a:tab pos="350520" algn="l"/>
                        </a:tabLst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着心地が悪い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34988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49885" algn="l"/>
                          <a:tab pos="350520" algn="l"/>
                        </a:tabLst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物理的コストが高い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350520" indent="-287020">
                        <a:lnSpc>
                          <a:spcPct val="100000"/>
                        </a:lnSpc>
                        <a:spcBef>
                          <a:spcPts val="110"/>
                        </a:spcBef>
                        <a:buFont typeface="Arial MT"/>
                        <a:buChar char="•"/>
                        <a:tabLst>
                          <a:tab pos="350520" algn="l"/>
                          <a:tab pos="351155" algn="l"/>
                        </a:tabLst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正確な発音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35052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50520" algn="l"/>
                          <a:tab pos="351155" algn="l"/>
                        </a:tabLst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正確な文法、コロケーション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35052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50520" algn="l"/>
                          <a:tab pos="351155" algn="l"/>
                        </a:tabLst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心理的コストが高い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4135" marR="1344930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1800" b="1" dirty="0">
                          <a:latin typeface="Yu Gothic"/>
                          <a:cs typeface="Yu Gothic"/>
                        </a:rPr>
                        <a:t>礼儀 配慮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1530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4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親しい友人との面会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49885" indent="-287020">
                        <a:lnSpc>
                          <a:spcPct val="100000"/>
                        </a:lnSpc>
                        <a:spcBef>
                          <a:spcPts val="115"/>
                        </a:spcBef>
                        <a:buFont typeface="Arial MT"/>
                        <a:buChar char="•"/>
                        <a:tabLst>
                          <a:tab pos="349885" algn="l"/>
                          <a:tab pos="350520" algn="l"/>
                        </a:tabLst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安価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34988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49885" algn="l"/>
                          <a:tab pos="350520" algn="l"/>
                        </a:tabLst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着心地が良い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34988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49885" algn="l"/>
                          <a:tab pos="350520" algn="l"/>
                        </a:tabLst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物理的コストが低い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50520" indent="-287020">
                        <a:lnSpc>
                          <a:spcPct val="100000"/>
                        </a:lnSpc>
                        <a:spcBef>
                          <a:spcPts val="115"/>
                        </a:spcBef>
                        <a:buFont typeface="Arial MT"/>
                        <a:buChar char="•"/>
                        <a:tabLst>
                          <a:tab pos="350520" algn="l"/>
                          <a:tab pos="351155" algn="l"/>
                        </a:tabLst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適当な発音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35052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50520" algn="l"/>
                          <a:tab pos="351155" algn="l"/>
                        </a:tabLst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適当な文法、コロケーション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35052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50520" algn="l"/>
                          <a:tab pos="351155" algn="l"/>
                        </a:tabLst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心理的コストが低い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4135" marR="1116330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1800" b="1" dirty="0">
                          <a:latin typeface="Yu Gothic"/>
                          <a:cs typeface="Yu Gothic"/>
                        </a:rPr>
                        <a:t>親しみ 一体感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</a:txBody>
                  <a:tcPr marL="0" marR="0" marT="1530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19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</a:t>
            </a:r>
            <a:r>
              <a:rPr lang="ja-JP" altLang="en-US" b="1" dirty="0">
                <a:latin typeface="Calibri (Headings)"/>
              </a:rPr>
              <a:t>まとめ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1934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</a:t>
            </a:r>
            <a:r>
              <a:rPr lang="ja-JP" altLang="en-US" b="1" dirty="0">
                <a:latin typeface="Calibri (Headings)"/>
              </a:rPr>
              <a:t>まとめ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74015" marR="0" lvl="0" indent="-361950" algn="l" defTabSz="914400" rtl="0" eaLnBrk="1" fontAlgn="auto" latinLnBrk="0" hangingPunct="1">
              <a:lnSpc>
                <a:spcPts val="306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Calibri"/>
              <a:buAutoNum type="arabicPeriod"/>
              <a:tabLst>
                <a:tab pos="374650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ことばとは</a:t>
            </a: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文化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である。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ことばを通じて文化を</a:t>
            </a:r>
            <a:r>
              <a:rPr kumimoji="0" lang="ja-JP" alt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体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験する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異文化と自分の文化に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折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り合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をつ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け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、順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応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する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lang="ja-JP" altLang="en-US" sz="2000" dirty="0">
                <a:solidFill>
                  <a:prstClr val="black"/>
                </a:solidFill>
                <a:latin typeface="Yu Gothic"/>
                <a:cs typeface="Yu Gothic"/>
              </a:rPr>
              <a:t>血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の通った文化理解は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使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う言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葉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に表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れ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る</a:t>
            </a: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Pct val="116666"/>
              <a:buFont typeface="Calibri"/>
              <a:buAutoNum type="arabicPeriod"/>
              <a:tabLst>
                <a:tab pos="374650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ことばとは</a:t>
            </a: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ドレスコード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である。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高コストの言葉遣いや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衣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服は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礼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儀の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表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れ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低コストの言葉遣いや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衣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服は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親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しみ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表れ</a:t>
            </a:r>
          </a:p>
          <a:p>
            <a:pPr marL="1187450" marR="0" lvl="2" indent="-260985" algn="l" defTabSz="914400" rtl="0" eaLnBrk="1" fontAlgn="auto" latinLnBrk="0" hangingPunct="1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Tx/>
              <a:buSzPct val="175000"/>
              <a:buFont typeface="Arial MT"/>
              <a:buChar char="•"/>
              <a:tabLst>
                <a:tab pos="1188085" algn="l"/>
              </a:tabLst>
              <a:defRPr/>
            </a:pPr>
            <a:r>
              <a:rPr kumimoji="0" lang="ja-JP" altLang="en-US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ja-JP" altLang="en-US" sz="1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TPO</a:t>
            </a:r>
            <a:r>
              <a:rPr kumimoji="0" lang="ja-JP" altLang="en-US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に応じたプロトコルにおいて同じ</a:t>
            </a:r>
            <a:r>
              <a:rPr kumimoji="0" lang="ja-JP" altLang="en-US" sz="1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価</a:t>
            </a:r>
            <a:r>
              <a:rPr kumimoji="0" lang="ja-JP" altLang="en-US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値基</a:t>
            </a:r>
            <a:r>
              <a:rPr kumimoji="0" lang="ja-JP" altLang="en-US" sz="1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準</a:t>
            </a:r>
            <a:r>
              <a:rPr kumimoji="0" lang="ja-JP" altLang="en-US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を持つ</a:t>
            </a:r>
            <a:endParaRPr kumimoji="0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302870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4.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ja-JP" altLang="en-US" b="1" dirty="0">
                <a:latin typeface="Calibri (Headings)"/>
                <a:sym typeface="Arial"/>
              </a:rPr>
              <a:t>シリーズの終わりに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788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4.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ja-JP" altLang="en-US" b="1" dirty="0">
                <a:latin typeface="Calibri (Headings)"/>
                <a:sym typeface="Arial"/>
              </a:rPr>
              <a:t>シリーズの終わりに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以下の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つのコンセプトで全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5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回の発表をした。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英語の奥深さを知る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英語を知ることで日本語を知る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すぐに役に立たないことを追求する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15477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4.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ja-JP" altLang="en-US" b="1" dirty="0">
                <a:latin typeface="Calibri (Headings)"/>
                <a:sym typeface="Arial"/>
              </a:rPr>
              <a:t>シリーズの終わりに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191770" lvl="0" indent="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普段日本語を話してる分には、このシリーズで話したことは意識しなくて 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も何の不自由もない。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191770" lvl="0" indent="0" algn="l" defTabSz="914400" rtl="0" eaLnBrk="1" fontAlgn="auto" latinLnBrk="0" hangingPunct="1">
              <a:lnSpc>
                <a:spcPts val="259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しかし、殊外国語を学習したり、異文化に飛びこんだ時は否が応でも意識 せざるを得ないものである。</a:t>
            </a: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最初にぶつかるのはことばの壁だ。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基本的には、いわゆる四技</a:t>
            </a:r>
            <a:r>
              <a:rPr kumimoji="0" lang="ja-JP" altLang="en-US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能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読む・書く・聴く・話す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は訓練すればある程 度何とかなる。</a:t>
            </a:r>
          </a:p>
        </p:txBody>
      </p:sp>
    </p:spTree>
    <p:extLst>
      <p:ext uri="{BB962C8B-B14F-4D97-AF65-F5344CB8AC3E}">
        <p14:creationId xmlns:p14="http://schemas.microsoft.com/office/powerpoint/2010/main" val="30057477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4.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ja-JP" altLang="en-US" b="1" dirty="0">
                <a:latin typeface="Calibri (Headings)"/>
                <a:sym typeface="Arial"/>
              </a:rPr>
              <a:t>シリーズの終わりに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一番難しいのは、文化の違いを理解し順応することであり、このプロセス 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の中で初めて母語や自国の文化を強く意識する。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5080" lvl="0" indent="0" algn="just" defTabSz="914400" rtl="0" eaLnBrk="1" fontAlgn="auto" latinLnBrk="0" hangingPunct="1">
              <a:lnSpc>
                <a:spcPts val="259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「外国語を一つも知らないことは、言語を何も知らないのと同じだ」とい う格言があるが、それはつまるところ「異文化を知らないことは、自分の 文化を知らないのと同じだ」ということ。</a:t>
            </a:r>
          </a:p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外国語を学ぶことは、私たちの母語である日本語や日本の文化・歴史につ いて学ぶのと同義である。</a:t>
            </a:r>
          </a:p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皆さんにとってこのシリーズがそれを考えるきっかけに少しでもなってい 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れば光栄である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自戒も込め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て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453356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</a:t>
            </a:r>
            <a:r>
              <a:rPr lang="ja-JP" altLang="en-US" b="1" dirty="0">
                <a:latin typeface="Calibri (Headings)"/>
              </a:rPr>
              <a:t>参考文献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8957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</a:t>
            </a:r>
            <a:r>
              <a:rPr lang="ja-JP" altLang="en-US" b="1" dirty="0">
                <a:latin typeface="Calibri (Headings)"/>
              </a:rPr>
              <a:t>参考文献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96154D-0AC4-47C9-B8EE-32ED60A2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0A3A8506-B2C4-48D9-8B66-4EF42A117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0670" marR="0" lvl="0" indent="-268605" algn="l" defTabSz="914400" rtl="0" eaLnBrk="1" fontAlgn="auto" latinLnBrk="0" hangingPunct="1">
              <a:lnSpc>
                <a:spcPts val="2725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0" u="none" strike="noStrike" kern="1200" cap="none" spc="25" normalizeH="0" baseline="0" noProof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ea typeface="+mn-ea"/>
                <a:cs typeface="Tahoma"/>
              </a:rPr>
              <a:t>Michael </a:t>
            </a:r>
            <a:r>
              <a:rPr kumimoji="0" lang="en-GB" sz="2400" b="0" i="0" u="none" strike="noStrike" kern="1200" cap="none" spc="2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ea typeface="+mn-ea"/>
                <a:cs typeface="Tahoma"/>
              </a:rPr>
              <a:t>L. Geis, </a:t>
            </a:r>
            <a:r>
              <a:rPr kumimoji="0" lang="en-GB" sz="2400" b="0" i="1" u="none" strike="noStrike" kern="1200" cap="none" spc="2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ea typeface="+mn-ea"/>
                <a:cs typeface="Tahoma"/>
              </a:rPr>
              <a:t>Language and Communication</a:t>
            </a:r>
            <a:r>
              <a:rPr kumimoji="0" lang="en-GB" sz="2400" b="0" i="0" u="none" strike="noStrike" kern="1200" cap="none" spc="2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ea typeface="+mn-ea"/>
                <a:cs typeface="Tahoma"/>
              </a:rPr>
              <a:t>, Oxford, OUP, 2001</a:t>
            </a:r>
          </a:p>
          <a:p>
            <a:pPr marL="280670" marR="0" lvl="0" indent="-268605" algn="l" defTabSz="914400" rtl="0" eaLnBrk="1" fontAlgn="auto" latinLnBrk="0" hangingPunct="1">
              <a:lnSpc>
                <a:spcPts val="2725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0" u="none" strike="noStrike" kern="1200" cap="none" spc="2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ea typeface="+mn-ea"/>
                <a:cs typeface="Tahoma"/>
                <a:hlinkClick r:id="rId3"/>
              </a:rPr>
              <a:t>Dictionary.com</a:t>
            </a:r>
            <a:endParaRPr kumimoji="0" lang="en-GB" sz="2400" b="0" i="0" u="none" strike="noStrike" kern="1200" cap="none" spc="25" normalizeH="0" baseline="0" noProof="0" dirty="0">
              <a:ln>
                <a:noFill/>
              </a:ln>
              <a:solidFill>
                <a:srgbClr val="3C3E44"/>
              </a:solidFill>
              <a:effectLst/>
              <a:uLnTx/>
              <a:uFillTx/>
              <a:ea typeface="+mn-ea"/>
              <a:cs typeface="Tahoma"/>
            </a:endParaRPr>
          </a:p>
          <a:p>
            <a:pPr marL="737870" lvl="1" indent="-268605">
              <a:lnSpc>
                <a:spcPts val="2725"/>
              </a:lnSpc>
              <a:spcBef>
                <a:spcPts val="100"/>
              </a:spcBef>
              <a:buClr>
                <a:srgbClr val="000000"/>
              </a:buClr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ja-JP" altLang="en-US" sz="2000" b="0" i="0" u="none" strike="noStrike" kern="1200" cap="none" spc="2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最終アクセス日</a:t>
            </a:r>
            <a:r>
              <a:rPr kumimoji="0" lang="en-US" altLang="ja-JP" sz="2000" b="0" i="0" u="none" strike="noStrike" kern="1200" cap="none" spc="2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: 2021</a:t>
            </a:r>
            <a:r>
              <a:rPr kumimoji="0" lang="ja-JP" altLang="en-US" sz="2000" b="0" i="0" u="none" strike="noStrike" kern="1200" cap="none" spc="2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年</a:t>
            </a:r>
            <a:r>
              <a:rPr kumimoji="0" lang="en-US" altLang="ja-JP" sz="2000" b="0" i="0" u="none" strike="noStrike" kern="1200" cap="none" spc="2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10</a:t>
            </a:r>
            <a:r>
              <a:rPr kumimoji="0" lang="ja-JP" altLang="en-US" sz="2000" b="0" i="0" u="none" strike="noStrike" kern="1200" cap="none" spc="2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月</a:t>
            </a:r>
            <a:r>
              <a:rPr kumimoji="0" lang="en-US" altLang="ja-JP" sz="2000" b="0" i="0" u="none" strike="noStrike" kern="1200" cap="none" spc="2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21</a:t>
            </a:r>
            <a:r>
              <a:rPr kumimoji="0" lang="ja-JP" altLang="en-US" sz="2000" b="0" i="0" u="none" strike="noStrike" kern="1200" cap="none" spc="2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041246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3786</Words>
  <Application>Microsoft Office PowerPoint</Application>
  <PresentationFormat>Widescreen</PresentationFormat>
  <Paragraphs>294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-apple-system</vt:lpstr>
      <vt:lpstr>Arial MT</vt:lpstr>
      <vt:lpstr>Calibri (Headings)</vt:lpstr>
      <vt:lpstr>Yu Gothic</vt:lpstr>
      <vt:lpstr>Arial</vt:lpstr>
      <vt:lpstr>Calibri</vt:lpstr>
      <vt:lpstr>Calibri Light</vt:lpstr>
      <vt:lpstr>Tahoma</vt:lpstr>
      <vt:lpstr>Times New Roman</vt:lpstr>
      <vt:lpstr>Office テーマ</vt:lpstr>
      <vt:lpstr>現代英語を知ろう</vt:lpstr>
      <vt:lpstr>自己紹介</vt:lpstr>
      <vt:lpstr>免許 / 資格</vt:lpstr>
      <vt:lpstr>スキルスタック</vt:lpstr>
      <vt:lpstr>職歴</vt:lpstr>
      <vt:lpstr>職歴</vt:lpstr>
      <vt:lpstr>国際交流活動</vt:lpstr>
      <vt:lpstr>このシリーズのコンセプト</vt:lpstr>
      <vt:lpstr>目次</vt:lpstr>
      <vt:lpstr>1. ことばとは文化である</vt:lpstr>
      <vt:lpstr>1. ことばとは文化である</vt:lpstr>
      <vt:lpstr>1. ことばとは文化である</vt:lpstr>
      <vt:lpstr>1. ことばとは文化である</vt:lpstr>
      <vt:lpstr>1. ことばとは文化である</vt:lpstr>
      <vt:lpstr>1. ことばとは文化である</vt:lpstr>
      <vt:lpstr>2. ことばとはドレスコードである</vt:lpstr>
      <vt:lpstr>2. ことばとはドレスコードである</vt:lpstr>
      <vt:lpstr>2. ことばとはドレスコードである</vt:lpstr>
      <vt:lpstr>2. ことばとはドレスコードである</vt:lpstr>
      <vt:lpstr>2. ことばとはドレスコードである</vt:lpstr>
      <vt:lpstr>2. ことばとはドレスコードである</vt:lpstr>
      <vt:lpstr>2. ことばとはドレスコードである</vt:lpstr>
      <vt:lpstr>3. まとめ</vt:lpstr>
      <vt:lpstr>3. まとめ</vt:lpstr>
      <vt:lpstr>4. シリーズの終わりに</vt:lpstr>
      <vt:lpstr>4. シリーズの終わりに</vt:lpstr>
      <vt:lpstr>4. シリーズの終わりに</vt:lpstr>
      <vt:lpstr>4. シリーズの終わりに</vt:lpstr>
      <vt:lpstr>5. 参考文献</vt:lpstr>
      <vt:lpstr>5. 参考文献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38</cp:revision>
  <dcterms:modified xsi:type="dcterms:W3CDTF">2025-09-01T03:29:19Z</dcterms:modified>
</cp:coreProperties>
</file>