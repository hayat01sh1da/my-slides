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jpg"/>
  <Override PartName="/ppt/media/image4.jpg" ContentType="image/jp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87" r:id="rId3"/>
    <p:sldId id="388" r:id="rId4"/>
    <p:sldId id="387" r:id="rId5"/>
    <p:sldId id="286" r:id="rId6"/>
    <p:sldId id="419" r:id="rId7"/>
    <p:sldId id="280" r:id="rId8"/>
    <p:sldId id="311" r:id="rId9"/>
    <p:sldId id="408" r:id="rId10"/>
    <p:sldId id="259" r:id="rId11"/>
    <p:sldId id="330" r:id="rId12"/>
    <p:sldId id="409" r:id="rId13"/>
    <p:sldId id="325" r:id="rId14"/>
    <p:sldId id="354" r:id="rId15"/>
    <p:sldId id="410" r:id="rId16"/>
    <p:sldId id="411" r:id="rId17"/>
    <p:sldId id="412" r:id="rId18"/>
    <p:sldId id="413" r:id="rId19"/>
    <p:sldId id="414" r:id="rId20"/>
    <p:sldId id="415" r:id="rId21"/>
    <p:sldId id="326" r:id="rId22"/>
    <p:sldId id="336" r:id="rId23"/>
    <p:sldId id="416" r:id="rId24"/>
    <p:sldId id="418" r:id="rId25"/>
    <p:sldId id="357" r:id="rId26"/>
    <p:sldId id="358" r:id="rId27"/>
    <p:sldId id="359" r:id="rId28"/>
    <p:sldId id="360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CE2894CE-DA8E-4051-AA53-FFE1F2852A54}"/>
    <pc:docChg chg="undo custSel modSld">
      <pc:chgData name="Hayato Ishida" userId="585fa0fa6384767c" providerId="LiveId" clId="{CE2894CE-DA8E-4051-AA53-FFE1F2852A54}" dt="2025-05-03T11:21:40.658" v="35" actId="20577"/>
      <pc:docMkLst>
        <pc:docMk/>
      </pc:docMkLst>
      <pc:sldChg chg="addSp delSp modSp mod">
        <pc:chgData name="Hayato Ishida" userId="585fa0fa6384767c" providerId="LiveId" clId="{CE2894CE-DA8E-4051-AA53-FFE1F2852A54}" dt="2025-05-03T11:13:37.256" v="11" actId="478"/>
        <pc:sldMkLst>
          <pc:docMk/>
          <pc:sldMk cId="3878715192" sldId="256"/>
        </pc:sldMkLst>
      </pc:sldChg>
      <pc:sldChg chg="modSp mod">
        <pc:chgData name="Hayato Ishida" userId="585fa0fa6384767c" providerId="LiveId" clId="{CE2894CE-DA8E-4051-AA53-FFE1F2852A54}" dt="2025-05-03T11:20:02.485" v="19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CE2894CE-DA8E-4051-AA53-FFE1F2852A54}" dt="2025-05-03T11:15:46.066" v="17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CE2894CE-DA8E-4051-AA53-FFE1F2852A54}" dt="2025-05-03T11:21:40.658" v="35" actId="20577"/>
        <pc:sldMkLst>
          <pc:docMk/>
          <pc:sldMk cId="654251065" sldId="287"/>
        </pc:sldMkLst>
      </pc:sldChg>
    </pc:docChg>
  </pc:docChgLst>
  <pc:docChgLst>
    <pc:chgData name="Hayato Ishida" userId="585fa0fa6384767c" providerId="LiveId" clId="{AD744656-2EE4-4E05-84B8-F9D2587A8527}"/>
    <pc:docChg chg="custSel addSld modSld">
      <pc:chgData name="Hayato Ishida" userId="585fa0fa6384767c" providerId="LiveId" clId="{AD744656-2EE4-4E05-84B8-F9D2587A8527}" dt="2025-09-01T03:24:40.239" v="11"/>
      <pc:docMkLst>
        <pc:docMk/>
      </pc:docMkLst>
      <pc:sldChg chg="addSp delSp modSp mod">
        <pc:chgData name="Hayato Ishida" userId="585fa0fa6384767c" providerId="LiveId" clId="{AD744656-2EE4-4E05-84B8-F9D2587A8527}" dt="2025-09-01T03:24:40.239" v="11"/>
        <pc:sldMkLst>
          <pc:docMk/>
          <pc:sldMk cId="155858466" sldId="286"/>
        </pc:sldMkLst>
        <pc:spChg chg="add del mod">
          <ac:chgData name="Hayato Ishida" userId="585fa0fa6384767c" providerId="LiveId" clId="{AD744656-2EE4-4E05-84B8-F9D2587A8527}" dt="2025-08-31T18:04:46.196" v="7" actId="478"/>
          <ac:spMkLst>
            <pc:docMk/>
            <pc:sldMk cId="155858466" sldId="286"/>
            <ac:spMk id="3" creationId="{E4751541-42E3-1DDB-9771-8A563372363C}"/>
          </ac:spMkLst>
        </pc:spChg>
        <pc:spChg chg="del">
          <ac:chgData name="Hayato Ishida" userId="585fa0fa6384767c" providerId="LiveId" clId="{AD744656-2EE4-4E05-84B8-F9D2587A8527}" dt="2025-08-31T18:04:45.414" v="6" actId="478"/>
          <ac:spMkLst>
            <pc:docMk/>
            <pc:sldMk cId="155858466" sldId="286"/>
            <ac:spMk id="4" creationId="{10897C26-FA4C-6A8A-155D-7017F1991566}"/>
          </ac:spMkLst>
        </pc:spChg>
        <pc:spChg chg="del">
          <ac:chgData name="Hayato Ishida" userId="585fa0fa6384767c" providerId="LiveId" clId="{AD744656-2EE4-4E05-84B8-F9D2587A8527}" dt="2025-08-31T18:04:45.414" v="6" actId="478"/>
          <ac:spMkLst>
            <pc:docMk/>
            <pc:sldMk cId="155858466" sldId="286"/>
            <ac:spMk id="5" creationId="{B1A2919A-AFE5-2111-6102-4D70F485F4E9}"/>
          </ac:spMkLst>
        </pc:spChg>
        <pc:spChg chg="del">
          <ac:chgData name="Hayato Ishida" userId="585fa0fa6384767c" providerId="LiveId" clId="{AD744656-2EE4-4E05-84B8-F9D2587A8527}" dt="2025-08-31T18:04:45.414" v="6" actId="478"/>
          <ac:spMkLst>
            <pc:docMk/>
            <pc:sldMk cId="155858466" sldId="286"/>
            <ac:spMk id="6" creationId="{1A931FDD-8B44-E68F-7B98-2145486B60C4}"/>
          </ac:spMkLst>
        </pc:spChg>
        <pc:spChg chg="add mod">
          <ac:chgData name="Hayato Ishida" userId="585fa0fa6384767c" providerId="LiveId" clId="{AD744656-2EE4-4E05-84B8-F9D2587A8527}" dt="2025-08-31T18:06:58.801" v="9"/>
          <ac:spMkLst>
            <pc:docMk/>
            <pc:sldMk cId="155858466" sldId="286"/>
            <ac:spMk id="7" creationId="{D2E50404-83E8-F51A-5996-80AA36005C01}"/>
          </ac:spMkLst>
        </pc:spChg>
        <pc:spChg chg="add mod">
          <ac:chgData name="Hayato Ishida" userId="585fa0fa6384767c" providerId="LiveId" clId="{AD744656-2EE4-4E05-84B8-F9D2587A8527}" dt="2025-08-31T18:06:58.801" v="9"/>
          <ac:spMkLst>
            <pc:docMk/>
            <pc:sldMk cId="155858466" sldId="286"/>
            <ac:spMk id="8" creationId="{E6D9355C-BC21-40B5-00DB-A6893A9E12BD}"/>
          </ac:spMkLst>
        </pc:spChg>
        <pc:graphicFrameChg chg="add mod">
          <ac:chgData name="Hayato Ishida" userId="585fa0fa6384767c" providerId="LiveId" clId="{AD744656-2EE4-4E05-84B8-F9D2587A8527}" dt="2025-09-01T03:24:40.239" v="11"/>
          <ac:graphicFrameMkLst>
            <pc:docMk/>
            <pc:sldMk cId="155858466" sldId="286"/>
            <ac:graphicFrameMk id="9" creationId="{F067BCCF-B6A8-9AF2-A661-82ED346DD77E}"/>
          </ac:graphicFrameMkLst>
        </pc:graphicFrameChg>
      </pc:sldChg>
      <pc:sldChg chg="addSp delSp modSp mod">
        <pc:chgData name="Hayato Ishida" userId="585fa0fa6384767c" providerId="LiveId" clId="{AD744656-2EE4-4E05-84B8-F9D2587A8527}" dt="2025-08-31T18:02:53.802" v="2"/>
        <pc:sldMkLst>
          <pc:docMk/>
          <pc:sldMk cId="654251065" sldId="287"/>
        </pc:sldMkLst>
        <pc:spChg chg="add del mod">
          <ac:chgData name="Hayato Ishida" userId="585fa0fa6384767c" providerId="LiveId" clId="{AD744656-2EE4-4E05-84B8-F9D2587A8527}" dt="2025-08-31T17:56:08.050" v="1" actId="478"/>
          <ac:spMkLst>
            <pc:docMk/>
            <pc:sldMk cId="654251065" sldId="287"/>
            <ac:spMk id="3" creationId="{5B3EC443-7C58-925C-CF6B-80CB6D7FE5B8}"/>
          </ac:spMkLst>
        </pc:spChg>
        <pc:spChg chg="add del mod">
          <ac:chgData name="Hayato Ishida" userId="585fa0fa6384767c" providerId="LiveId" clId="{AD744656-2EE4-4E05-84B8-F9D2587A8527}" dt="2025-08-31T17:56:08.050" v="1" actId="478"/>
          <ac:spMkLst>
            <pc:docMk/>
            <pc:sldMk cId="654251065" sldId="287"/>
            <ac:spMk id="5" creationId="{63B5F13F-98C4-2BB0-4B17-7AECF75EC060}"/>
          </ac:spMkLst>
        </pc:spChg>
        <pc:spChg chg="del">
          <ac:chgData name="Hayato Ishida" userId="585fa0fa6384767c" providerId="LiveId" clId="{AD744656-2EE4-4E05-84B8-F9D2587A8527}" dt="2025-08-31T17:56:07.035" v="0" actId="478"/>
          <ac:spMkLst>
            <pc:docMk/>
            <pc:sldMk cId="654251065" sldId="287"/>
            <ac:spMk id="6" creationId="{674FD0C9-B006-E9A3-CB55-2E59C58EBB5C}"/>
          </ac:spMkLst>
        </pc:spChg>
        <pc:spChg chg="del">
          <ac:chgData name="Hayato Ishida" userId="585fa0fa6384767c" providerId="LiveId" clId="{AD744656-2EE4-4E05-84B8-F9D2587A8527}" dt="2025-08-31T17:56:07.035" v="0" actId="478"/>
          <ac:spMkLst>
            <pc:docMk/>
            <pc:sldMk cId="654251065" sldId="287"/>
            <ac:spMk id="7" creationId="{E41D5094-76BF-E13E-509F-8AA00C60F4F4}"/>
          </ac:spMkLst>
        </pc:spChg>
        <pc:spChg chg="del">
          <ac:chgData name="Hayato Ishida" userId="585fa0fa6384767c" providerId="LiveId" clId="{AD744656-2EE4-4E05-84B8-F9D2587A8527}" dt="2025-08-31T17:56:07.035" v="0" actId="478"/>
          <ac:spMkLst>
            <pc:docMk/>
            <pc:sldMk cId="654251065" sldId="287"/>
            <ac:spMk id="8" creationId="{F65B1960-CD95-0EA6-8F15-E3C5E484FCC4}"/>
          </ac:spMkLst>
        </pc:spChg>
        <pc:spChg chg="add mod">
          <ac:chgData name="Hayato Ishida" userId="585fa0fa6384767c" providerId="LiveId" clId="{AD744656-2EE4-4E05-84B8-F9D2587A8527}" dt="2025-08-31T18:02:53.802" v="2"/>
          <ac:spMkLst>
            <pc:docMk/>
            <pc:sldMk cId="654251065" sldId="287"/>
            <ac:spMk id="9" creationId="{9311590D-7DD2-AE52-17AA-1DE6AD335795}"/>
          </ac:spMkLst>
        </pc:spChg>
        <pc:spChg chg="add mod">
          <ac:chgData name="Hayato Ishida" userId="585fa0fa6384767c" providerId="LiveId" clId="{AD744656-2EE4-4E05-84B8-F9D2587A8527}" dt="2025-08-31T18:02:53.802" v="2"/>
          <ac:spMkLst>
            <pc:docMk/>
            <pc:sldMk cId="654251065" sldId="287"/>
            <ac:spMk id="10" creationId="{BB1928C2-A505-632C-76AF-3286C355C243}"/>
          </ac:spMkLst>
        </pc:spChg>
        <pc:spChg chg="add mod">
          <ac:chgData name="Hayato Ishida" userId="585fa0fa6384767c" providerId="LiveId" clId="{AD744656-2EE4-4E05-84B8-F9D2587A8527}" dt="2025-08-31T18:02:53.802" v="2"/>
          <ac:spMkLst>
            <pc:docMk/>
            <pc:sldMk cId="654251065" sldId="287"/>
            <ac:spMk id="11" creationId="{0FD2854F-FB06-21A2-CA2B-D2CA97A98A74}"/>
          </ac:spMkLst>
        </pc:spChg>
        <pc:picChg chg="del">
          <ac:chgData name="Hayato Ishida" userId="585fa0fa6384767c" providerId="LiveId" clId="{AD744656-2EE4-4E05-84B8-F9D2587A8527}" dt="2025-08-31T17:56:07.035" v="0" actId="478"/>
          <ac:picMkLst>
            <pc:docMk/>
            <pc:sldMk cId="654251065" sldId="287"/>
            <ac:picMk id="12" creationId="{90148918-83CC-A74D-50A4-E083C63ED1FD}"/>
          </ac:picMkLst>
        </pc:picChg>
        <pc:picChg chg="add mod">
          <ac:chgData name="Hayato Ishida" userId="585fa0fa6384767c" providerId="LiveId" clId="{AD744656-2EE4-4E05-84B8-F9D2587A8527}" dt="2025-08-31T18:02:53.802" v="2"/>
          <ac:picMkLst>
            <pc:docMk/>
            <pc:sldMk cId="654251065" sldId="287"/>
            <ac:picMk id="13" creationId="{BD8E0EF1-C928-1936-0C5F-6A6F7E602DB0}"/>
          </ac:picMkLst>
        </pc:picChg>
      </pc:sldChg>
      <pc:sldChg chg="addSp delSp modSp mod">
        <pc:chgData name="Hayato Ishida" userId="585fa0fa6384767c" providerId="LiveId" clId="{AD744656-2EE4-4E05-84B8-F9D2587A8527}" dt="2025-08-31T18:04:41.876" v="5"/>
        <pc:sldMkLst>
          <pc:docMk/>
          <pc:sldMk cId="3064566856" sldId="387"/>
        </pc:sldMkLst>
        <pc:spChg chg="add del mod">
          <ac:chgData name="Hayato Ishida" userId="585fa0fa6384767c" providerId="LiveId" clId="{AD744656-2EE4-4E05-84B8-F9D2587A8527}" dt="2025-08-31T18:04:41.134" v="4" actId="478"/>
          <ac:spMkLst>
            <pc:docMk/>
            <pc:sldMk cId="3064566856" sldId="387"/>
            <ac:spMk id="3" creationId="{DAF5DE9E-6403-FEC8-56E3-31F6FA7E27D7}"/>
          </ac:spMkLst>
        </pc:spChg>
        <pc:spChg chg="add del mod">
          <ac:chgData name="Hayato Ishida" userId="585fa0fa6384767c" providerId="LiveId" clId="{AD744656-2EE4-4E05-84B8-F9D2587A8527}" dt="2025-08-31T18:04:41.134" v="4" actId="478"/>
          <ac:spMkLst>
            <pc:docMk/>
            <pc:sldMk cId="3064566856" sldId="387"/>
            <ac:spMk id="5" creationId="{0DFA81A1-2AE4-6617-2C7B-748F0FAF230C}"/>
          </ac:spMkLst>
        </pc:spChg>
        <pc:spChg chg="add mod">
          <ac:chgData name="Hayato Ishida" userId="585fa0fa6384767c" providerId="LiveId" clId="{AD744656-2EE4-4E05-84B8-F9D2587A8527}" dt="2025-08-31T18:04:41.876" v="5"/>
          <ac:spMkLst>
            <pc:docMk/>
            <pc:sldMk cId="3064566856" sldId="387"/>
            <ac:spMk id="6" creationId="{F0D42684-465E-B3F5-842C-65F83BF9DBB4}"/>
          </ac:spMkLst>
        </pc:spChg>
        <pc:spChg chg="add mod">
          <ac:chgData name="Hayato Ishida" userId="585fa0fa6384767c" providerId="LiveId" clId="{AD744656-2EE4-4E05-84B8-F9D2587A8527}" dt="2025-08-31T18:04:41.876" v="5"/>
          <ac:spMkLst>
            <pc:docMk/>
            <pc:sldMk cId="3064566856" sldId="387"/>
            <ac:spMk id="7" creationId="{7C92ADFE-5DE6-C8D7-C9D9-73A1F3B58F2A}"/>
          </ac:spMkLst>
        </pc:spChg>
        <pc:spChg chg="add mod">
          <ac:chgData name="Hayato Ishida" userId="585fa0fa6384767c" providerId="LiveId" clId="{AD744656-2EE4-4E05-84B8-F9D2587A8527}" dt="2025-08-31T18:04:41.876" v="5"/>
          <ac:spMkLst>
            <pc:docMk/>
            <pc:sldMk cId="3064566856" sldId="387"/>
            <ac:spMk id="8" creationId="{811D0BFD-835A-96D2-F92A-9A8922C62C66}"/>
          </ac:spMkLst>
        </pc:spChg>
        <pc:spChg chg="del">
          <ac:chgData name="Hayato Ishida" userId="585fa0fa6384767c" providerId="LiveId" clId="{AD744656-2EE4-4E05-84B8-F9D2587A8527}" dt="2025-08-31T18:04:39.586" v="3" actId="478"/>
          <ac:spMkLst>
            <pc:docMk/>
            <pc:sldMk cId="3064566856" sldId="387"/>
            <ac:spMk id="9" creationId="{BF8E831C-C70C-07DF-8FE9-3317578A9193}"/>
          </ac:spMkLst>
        </pc:spChg>
        <pc:spChg chg="del">
          <ac:chgData name="Hayato Ishida" userId="585fa0fa6384767c" providerId="LiveId" clId="{AD744656-2EE4-4E05-84B8-F9D2587A8527}" dt="2025-08-31T18:04:39.586" v="3" actId="478"/>
          <ac:spMkLst>
            <pc:docMk/>
            <pc:sldMk cId="3064566856" sldId="387"/>
            <ac:spMk id="10" creationId="{0BBBFD2C-EE03-7A81-957E-B0640D3A8CBA}"/>
          </ac:spMkLst>
        </pc:spChg>
        <pc:spChg chg="del">
          <ac:chgData name="Hayato Ishida" userId="585fa0fa6384767c" providerId="LiveId" clId="{AD744656-2EE4-4E05-84B8-F9D2587A8527}" dt="2025-08-31T18:04:39.586" v="3" actId="478"/>
          <ac:spMkLst>
            <pc:docMk/>
            <pc:sldMk cId="3064566856" sldId="387"/>
            <ac:spMk id="11" creationId="{B466E99F-DE8D-B5C8-FF3D-07A77B49FC4F}"/>
          </ac:spMkLst>
        </pc:spChg>
      </pc:sldChg>
      <pc:sldChg chg="addSp modSp add">
        <pc:chgData name="Hayato Ishida" userId="585fa0fa6384767c" providerId="LiveId" clId="{AD744656-2EE4-4E05-84B8-F9D2587A8527}" dt="2025-09-01T03:24:40.239" v="11"/>
        <pc:sldMkLst>
          <pc:docMk/>
          <pc:sldMk cId="2919169687" sldId="419"/>
        </pc:sldMkLst>
        <pc:spChg chg="add mod">
          <ac:chgData name="Hayato Ishida" userId="585fa0fa6384767c" providerId="LiveId" clId="{AD744656-2EE4-4E05-84B8-F9D2587A8527}" dt="2025-08-31T18:10:14.532" v="10"/>
          <ac:spMkLst>
            <pc:docMk/>
            <pc:sldMk cId="2919169687" sldId="419"/>
            <ac:spMk id="2" creationId="{3EA7E63B-FB0E-8AF1-0CEE-8A902842FBC4}"/>
          </ac:spMkLst>
        </pc:spChg>
        <pc:spChg chg="add mod">
          <ac:chgData name="Hayato Ishida" userId="585fa0fa6384767c" providerId="LiveId" clId="{AD744656-2EE4-4E05-84B8-F9D2587A8527}" dt="2025-08-31T18:10:14.532" v="10"/>
          <ac:spMkLst>
            <pc:docMk/>
            <pc:sldMk cId="2919169687" sldId="419"/>
            <ac:spMk id="3" creationId="{49DA5AEE-AA0C-4167-A59B-BA34F8EF1D37}"/>
          </ac:spMkLst>
        </pc:spChg>
        <pc:graphicFrameChg chg="add mod">
          <ac:chgData name="Hayato Ishida" userId="585fa0fa6384767c" providerId="LiveId" clId="{AD744656-2EE4-4E05-84B8-F9D2587A8527}" dt="2025-09-01T03:24:40.239" v="11"/>
          <ac:graphicFrameMkLst>
            <pc:docMk/>
            <pc:sldMk cId="2919169687" sldId="419"/>
            <ac:graphicFrameMk id="4" creationId="{34AA82EF-54FE-0A55-07F5-4C3AA48A123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dive-deeper-into-presentday-english-vol1-what-english-i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hyperlink" Target="https://github.com/hayat01sh1da" TargetMode="External"/><Relationship Id="rId7" Type="http://schemas.openxmlformats.org/officeDocument/2006/relationships/hyperlink" Target="https://www.docswell.com/user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eakerdeck.com/hayat01sh1da" TargetMode="External"/><Relationship Id="rId5" Type="http://schemas.openxmlformats.org/officeDocument/2006/relationships/hyperlink" Target="https://www.linkedin.com/in/hayat01sh1da/" TargetMode="External"/><Relationship Id="rId4" Type="http://schemas.openxmlformats.org/officeDocument/2006/relationships/hyperlink" Target="https://hackmd.io/@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7" Type="http://schemas.openxmlformats.org/officeDocument/2006/relationships/slide" Target="slide2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25.xml"/><Relationship Id="rId5" Type="http://schemas.openxmlformats.org/officeDocument/2006/relationships/slide" Target="slide21.xml"/><Relationship Id="rId4" Type="http://schemas.openxmlformats.org/officeDocument/2006/relationships/slide" Target="slide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r>
              <a:rPr lang="ja-JP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現代英語を知ろう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9F3859FD-9718-0C81-33B3-44F030588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ja-JP" altLang="en-US" sz="3200" b="1" dirty="0">
                <a:latin typeface="+mn-ea"/>
              </a:rPr>
              <a:t>作成者</a:t>
            </a:r>
            <a:r>
              <a:rPr lang="en-US" sz="3200" b="1" dirty="0">
                <a:latin typeface="+mn-ea"/>
              </a:rPr>
              <a:t>: </a:t>
            </a:r>
            <a:r>
              <a:rPr lang="ja-JP" altLang="en-US" sz="3200" b="1" dirty="0">
                <a:latin typeface="+mn-ea"/>
              </a:rPr>
              <a:t>石田</a:t>
            </a:r>
            <a:r>
              <a:rPr lang="en-US" sz="3200" b="1" dirty="0">
                <a:latin typeface="+mn-ea"/>
              </a:rPr>
              <a:t> </a:t>
            </a:r>
            <a:r>
              <a:rPr lang="ja-JP" altLang="en-US" sz="3200" b="1" dirty="0">
                <a:latin typeface="+mn-ea"/>
              </a:rPr>
              <a:t>隼人</a:t>
            </a:r>
            <a:endParaRPr lang="en-GB" sz="3200" b="1" dirty="0">
              <a:latin typeface="+mn-ea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字幕 2">
            <a:extLst>
              <a:ext uri="{FF2B5EF4-FFF2-40B4-BE49-F238E27FC236}">
                <a16:creationId xmlns:a16="http://schemas.microsoft.com/office/drawing/2014/main" id="{7EC127B2-8036-0DBB-686D-9BBD027D4A12}"/>
              </a:ext>
            </a:extLst>
          </p:cNvPr>
          <p:cNvSpPr txBox="1">
            <a:spLocks/>
          </p:cNvSpPr>
          <p:nvPr/>
        </p:nvSpPr>
        <p:spPr>
          <a:xfrm>
            <a:off x="6648275" y="5445970"/>
            <a:ext cx="3966595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最終更新日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: 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2024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年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07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月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16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日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cs typeface="+mj-cs"/>
              </a:rPr>
              <a:t>Vol.1 -</a:t>
            </a: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cs typeface="+mj-cs"/>
              </a:rPr>
              <a:t>英語という言語</a:t>
            </a:r>
            <a:r>
              <a:rPr kumimoji="0" lang="en-GB" altLang="ja-JP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cs typeface="+mj-cs"/>
              </a:rPr>
              <a:t>-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ea"/>
              <a:cs typeface="+mj-cs"/>
            </a:endParaRPr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9105717C-FCFA-427A-0249-8F2D02825EE3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1968615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2000" dirty="0"/>
              <a:t>英語版は</a:t>
            </a:r>
            <a:r>
              <a:rPr lang="ja-JP" altLang="en-US" sz="2000" dirty="0">
                <a:hlinkClick r:id="rId3"/>
              </a:rPr>
              <a:t>こちら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9311590D-7DD2-AE52-17AA-1DE6AD335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ja-JP" altLang="en-US" b="1" dirty="0"/>
              <a:t>自己紹介</a:t>
            </a:r>
            <a:endParaRPr lang="en-GB" b="1" dirty="0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BB1928C2-A505-632C-76AF-3286C355C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ja-JP" altLang="en-US" sz="2400" dirty="0"/>
              <a:t>各種アカウント</a:t>
            </a:r>
            <a:endParaRPr lang="en-GB" altLang="ja-JP" sz="2400" dirty="0"/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3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4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5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ja-JP" altLang="en-US" sz="2400" dirty="0"/>
              <a:t>職業</a:t>
            </a:r>
            <a:r>
              <a:rPr lang="en-GB" altLang="ja-JP" sz="2400" dirty="0"/>
              <a:t>: </a:t>
            </a:r>
            <a:r>
              <a:rPr lang="ja-JP" altLang="en-US" sz="2400" dirty="0"/>
              <a:t>ソフトウェアエンジニア</a:t>
            </a:r>
            <a:endParaRPr lang="en-GB" altLang="ja-JP" sz="2400" dirty="0"/>
          </a:p>
          <a:p>
            <a:pPr marL="268288" indent="-268288"/>
            <a:r>
              <a:rPr lang="ja-JP" altLang="en-US" sz="2400" dirty="0"/>
              <a:t>趣味</a:t>
            </a:r>
            <a:endParaRPr lang="en-GB" altLang="ja-JP" sz="2400" dirty="0"/>
          </a:p>
          <a:p>
            <a:pPr marL="725488" lvl="1" indent="-268288"/>
            <a:r>
              <a:rPr lang="ja-JP" altLang="en-US" sz="2000" dirty="0"/>
              <a:t>言語学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カラオケ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音楽鑑賞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映画鑑賞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猫飼育</a:t>
            </a:r>
            <a:endParaRPr lang="en-GB" altLang="ja-JP" sz="2000" dirty="0"/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0FD2854F-FB06-21A2-CA2B-D2CA97A9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8E0EF1-C928-1936-0C5F-6A6F7E602D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55B8D0-FBD0-9B5F-A935-2990E924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ja-JP" altLang="en-US" b="1" dirty="0">
                <a:latin typeface="+mj-ea"/>
              </a:rPr>
              <a:t>免許</a:t>
            </a:r>
            <a:r>
              <a:rPr lang="en-GB" altLang="ja-JP" b="1" dirty="0">
                <a:latin typeface="+mj-ea"/>
              </a:rPr>
              <a:t> / </a:t>
            </a:r>
            <a:r>
              <a:rPr lang="ja-JP" altLang="en-US" b="1" dirty="0">
                <a:latin typeface="+mj-ea"/>
              </a:rPr>
              <a:t>資格</a:t>
            </a:r>
            <a:endParaRPr lang="en-GB" b="1" dirty="0">
              <a:latin typeface="+mj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56D017-33E9-546F-B8B3-A9515D8FA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ja-JP" altLang="en-US" dirty="0"/>
              <a:t>英語</a:t>
            </a:r>
            <a:endParaRPr lang="en-US" altLang="ja-JP" dirty="0"/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ja-JP" altLang="en-US" dirty="0"/>
              <a:t>点</a:t>
            </a:r>
            <a:r>
              <a:rPr lang="en-GB" altLang="ja-JP" dirty="0"/>
              <a:t>: 2019</a:t>
            </a:r>
            <a:r>
              <a:rPr lang="ja-JP" altLang="en-US" dirty="0"/>
              <a:t>年</a:t>
            </a:r>
            <a:r>
              <a:rPr lang="en-US" altLang="ja-JP" dirty="0"/>
              <a:t>12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</a:p>
          <a:p>
            <a:pPr marL="268288" lvl="1" indent="-268288"/>
            <a:r>
              <a:rPr lang="ja-JP" altLang="en-US" dirty="0"/>
              <a:t>エンジニアリング</a:t>
            </a:r>
            <a:endParaRPr lang="en-GB" altLang="ja-JP" dirty="0"/>
          </a:p>
          <a:p>
            <a:pPr marL="725488" lvl="2" indent="-268288"/>
            <a:r>
              <a:rPr lang="ja-JP" altLang="en-US" dirty="0"/>
              <a:t>情報セキュリティマネジメント</a:t>
            </a:r>
            <a:r>
              <a:rPr lang="en-GB" altLang="ja-JP" dirty="0"/>
              <a:t>: 2017</a:t>
            </a:r>
            <a:r>
              <a:rPr lang="ja-JP" altLang="en-US" dirty="0"/>
              <a:t>年</a:t>
            </a:r>
            <a:r>
              <a:rPr lang="en-US" altLang="ja-JP" dirty="0"/>
              <a:t>11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  <a:p>
            <a:pPr marL="725488" lvl="2" indent="-268288"/>
            <a:r>
              <a:rPr lang="ja-JP" altLang="en-US" dirty="0"/>
              <a:t>応用情報技術者</a:t>
            </a:r>
            <a:r>
              <a:rPr lang="en-GB" altLang="ja-JP" dirty="0"/>
              <a:t>: 2017</a:t>
            </a:r>
            <a:r>
              <a:rPr lang="ja-JP" altLang="en-US" dirty="0"/>
              <a:t>年</a:t>
            </a:r>
            <a:r>
              <a:rPr lang="en-US" altLang="ja-JP" dirty="0"/>
              <a:t>06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  <a:p>
            <a:pPr marL="725488" lvl="2" indent="-268288"/>
            <a:r>
              <a:rPr lang="ja-JP" altLang="en-US" dirty="0"/>
              <a:t>基本情報技術者</a:t>
            </a:r>
            <a:r>
              <a:rPr lang="en-GB" altLang="ja-JP" dirty="0"/>
              <a:t>: 2016</a:t>
            </a:r>
            <a:r>
              <a:rPr lang="ja-JP" altLang="en-US" dirty="0"/>
              <a:t>年</a:t>
            </a:r>
            <a:r>
              <a:rPr lang="en-US" altLang="ja-JP" dirty="0"/>
              <a:t>11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</a:p>
          <a:p>
            <a:pPr marL="725488" lvl="2" indent="-268288"/>
            <a:r>
              <a:rPr lang="en-US" altLang="ja-JP" dirty="0"/>
              <a:t>IT </a:t>
            </a:r>
            <a:r>
              <a:rPr lang="ja-JP" altLang="en-US" dirty="0"/>
              <a:t>パスポート</a:t>
            </a:r>
            <a:r>
              <a:rPr lang="en-GB" altLang="ja-JP" dirty="0"/>
              <a:t>: 2016</a:t>
            </a:r>
            <a:r>
              <a:rPr lang="ja-JP" altLang="en-US" dirty="0"/>
              <a:t>年</a:t>
            </a:r>
            <a:r>
              <a:rPr lang="en-US" altLang="ja-JP" dirty="0"/>
              <a:t>04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268288" lvl="1" indent="-268288"/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その他</a:t>
            </a:r>
            <a:endParaRPr lang="en-GB" altLang="ja-JP" dirty="0">
              <a:solidFill>
                <a:srgbClr val="333333"/>
              </a:solidFill>
              <a:latin typeface="-apple-system"/>
            </a:endParaRPr>
          </a:p>
          <a:p>
            <a:pPr marL="725488" lvl="2" indent="-268288"/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珠算</a:t>
            </a:r>
            <a:r>
              <a:rPr lang="en-GB" altLang="ja-JP" dirty="0">
                <a:solidFill>
                  <a:srgbClr val="333333"/>
                </a:solidFill>
                <a:latin typeface="-apple-system"/>
              </a:rPr>
              <a:t>2</a:t>
            </a:r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級</a:t>
            </a:r>
            <a:r>
              <a:rPr lang="en-GB" altLang="ja-JP" dirty="0">
                <a:solidFill>
                  <a:srgbClr val="333333"/>
                </a:solidFill>
                <a:latin typeface="-apple-system"/>
              </a:rPr>
              <a:t>: </a:t>
            </a:r>
            <a:r>
              <a:rPr lang="en-GB" altLang="ja-JP" dirty="0"/>
              <a:t>2002</a:t>
            </a:r>
            <a:r>
              <a:rPr lang="ja-JP" altLang="en-US" dirty="0"/>
              <a:t>年</a:t>
            </a:r>
            <a:r>
              <a:rPr lang="en-US" altLang="ja-JP" dirty="0"/>
              <a:t>06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  <a:p>
            <a:pPr marL="725488" lvl="2" indent="-268288"/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暗算</a:t>
            </a:r>
            <a:r>
              <a:rPr lang="en-US" altLang="ja-JP" dirty="0">
                <a:solidFill>
                  <a:srgbClr val="333333"/>
                </a:solidFill>
                <a:latin typeface="-apple-system"/>
              </a:rPr>
              <a:t>3</a:t>
            </a:r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級</a:t>
            </a:r>
            <a:r>
              <a:rPr lang="en-GB" altLang="ja-JP" b="0" i="0" dirty="0">
                <a:solidFill>
                  <a:srgbClr val="333333"/>
                </a:solidFill>
                <a:effectLst/>
                <a:latin typeface="-apple-system"/>
              </a:rPr>
              <a:t>: </a:t>
            </a:r>
            <a:r>
              <a:rPr lang="en-GB" altLang="ja-JP" dirty="0"/>
              <a:t>2001</a:t>
            </a:r>
            <a:r>
              <a:rPr lang="ja-JP" altLang="en-US" dirty="0"/>
              <a:t>年</a:t>
            </a:r>
            <a:r>
              <a:rPr lang="en-US" altLang="ja-JP" dirty="0"/>
              <a:t>02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305983-0249-A6CE-AD02-933B3C887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267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F0D42684-465E-B3F5-842C-65F83BF9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ja-JP" altLang="en-US" b="1" dirty="0">
                <a:latin typeface="+mn-lt"/>
              </a:rPr>
              <a:t>スキルスタック</a:t>
            </a:r>
            <a:endParaRPr lang="en-GB" b="1" dirty="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7C92ADFE-5DE6-C8D7-C9D9-73A1F3B58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ja-JP" altLang="en-US" sz="2400" dirty="0"/>
              <a:t>自然言語</a:t>
            </a:r>
          </a:p>
          <a:p>
            <a:pPr marL="717550" lvl="1" indent="-260350"/>
            <a:r>
              <a:rPr lang="ja-JP" altLang="en-US" sz="2000" dirty="0"/>
              <a:t>日本語</a:t>
            </a:r>
            <a:r>
              <a:rPr lang="en-GB" altLang="ja-JP" sz="2000" dirty="0"/>
              <a:t>: </a:t>
            </a:r>
            <a:r>
              <a:rPr lang="ja-JP" altLang="en-US" sz="2000" dirty="0"/>
              <a:t>母語</a:t>
            </a:r>
            <a:endParaRPr lang="en-GB" altLang="ja-JP" sz="2000" dirty="0"/>
          </a:p>
          <a:p>
            <a:pPr marL="717550" lvl="1" indent="-260350"/>
            <a:r>
              <a:rPr lang="ja-JP" altLang="en-US" sz="2000" dirty="0"/>
              <a:t>英語</a:t>
            </a:r>
            <a:r>
              <a:rPr lang="en-GB" altLang="ja-JP" sz="2000" dirty="0"/>
              <a:t>: </a:t>
            </a:r>
            <a:r>
              <a:rPr lang="ja-JP" altLang="en-US" sz="2000" dirty="0"/>
              <a:t>ビジネスレベル</a:t>
            </a:r>
            <a:endParaRPr lang="en-GB" altLang="ja-JP" sz="2000" dirty="0"/>
          </a:p>
          <a:p>
            <a:pPr marL="268288" indent="-268288"/>
            <a:r>
              <a:rPr lang="ja-JP" altLang="en-US" sz="2400" dirty="0"/>
              <a:t>開発</a:t>
            </a:r>
            <a:endParaRPr lang="en-GB" altLang="ja-JP" sz="2400" dirty="0"/>
          </a:p>
          <a:p>
            <a:pPr marL="717550" lvl="1" indent="-260350"/>
            <a:r>
              <a:rPr lang="ja-JP" altLang="en-US" sz="2000" b="1" dirty="0"/>
              <a:t>バックエンド</a:t>
            </a:r>
            <a:r>
              <a:rPr lang="en-GB" altLang="ja-JP" sz="2000" b="1" dirty="0"/>
              <a:t>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ja-JP" altLang="en-US" sz="2000" dirty="0"/>
              <a:t>フロントエンド</a:t>
            </a:r>
            <a:r>
              <a:rPr lang="en-GB" altLang="ja-JP" sz="2000" dirty="0"/>
              <a:t>: TypeScript + React.js, TypeScript +Vue.js</a:t>
            </a:r>
          </a:p>
          <a:p>
            <a:pPr marL="717550" lvl="1" indent="-260350"/>
            <a:r>
              <a:rPr lang="ja-JP" altLang="en-US" sz="2000" b="1" dirty="0"/>
              <a:t>データベース</a:t>
            </a:r>
            <a:r>
              <a:rPr lang="en-GB" altLang="ja-JP" sz="2000" b="1" dirty="0"/>
              <a:t>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ja-JP" altLang="en-US" sz="2000" b="1" dirty="0"/>
              <a:t>アーキテクチャー</a:t>
            </a:r>
            <a:r>
              <a:rPr lang="en-GB" altLang="ja-JP" sz="2000" b="1" dirty="0"/>
              <a:t>: </a:t>
            </a:r>
            <a:r>
              <a:rPr lang="ja-JP" altLang="en-US" sz="2000" b="1" dirty="0"/>
              <a:t>モノリス</a:t>
            </a:r>
            <a:r>
              <a:rPr lang="en-GB" altLang="ja-JP" sz="2000" b="1" dirty="0"/>
              <a:t>, </a:t>
            </a:r>
            <a:r>
              <a:rPr lang="ja-JP" altLang="en-US" sz="2000" b="1" dirty="0"/>
              <a:t>モジューラーモノリス</a:t>
            </a:r>
            <a:endParaRPr lang="en-GB" altLang="ja-JP" sz="2000" b="1" dirty="0"/>
          </a:p>
          <a:p>
            <a:pPr marL="717550" lvl="1" indent="-260350"/>
            <a:r>
              <a:rPr lang="ja-JP" altLang="en-US" sz="2000" dirty="0"/>
              <a:t>ホスティング</a:t>
            </a:r>
            <a:r>
              <a:rPr lang="en-GB" altLang="ja-JP" sz="2000" dirty="0"/>
              <a:t>: AWS ESK</a:t>
            </a:r>
          </a:p>
          <a:p>
            <a:pPr marL="717550" lvl="1" indent="-260350"/>
            <a:r>
              <a:rPr lang="ja-JP" altLang="en-US" sz="2000" dirty="0"/>
              <a:t>バージョン管理</a:t>
            </a:r>
            <a:r>
              <a:rPr lang="en-GB" altLang="ja-JP" sz="2000" dirty="0"/>
              <a:t>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ja-JP" altLang="en-US" sz="2000" dirty="0"/>
              <a:t>監視</a:t>
            </a:r>
            <a:r>
              <a:rPr lang="en-GB" altLang="ja-JP" sz="2000" dirty="0"/>
              <a:t>: Datadog, Sentry</a:t>
            </a:r>
            <a:endParaRPr lang="en-GB" altLang="ja-JP" dirty="0"/>
          </a:p>
        </p:txBody>
      </p:sp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811D0BFD-835A-96D2-F92A-9A8922C62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456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D2E50404-83E8-F51A-5996-80AA36005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ja-JP" altLang="en-US" b="1" dirty="0">
                <a:latin typeface="+mn-lt"/>
              </a:rPr>
              <a:t>職歴</a:t>
            </a:r>
          </a:p>
        </p:txBody>
      </p:sp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E6D9355C-BC21-40B5-00DB-A6893A9E1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7BCCF-B6A8-9AF2-A661-82ED346DD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265345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ja-JP" altLang="en-US" dirty="0"/>
                        <a:t>期間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職種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業務内容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2021</a:t>
                      </a:r>
                      <a:r>
                        <a:rPr lang="ja-JP" altLang="en-US" dirty="0"/>
                        <a:t>年</a:t>
                      </a:r>
                      <a:r>
                        <a:rPr lang="en-GB" altLang="ja-JP" dirty="0"/>
                        <a:t>08</a:t>
                      </a:r>
                      <a:r>
                        <a:rPr lang="ja-JP" altLang="en-US" dirty="0"/>
                        <a:t>月</a:t>
                      </a:r>
                      <a:r>
                        <a:rPr lang="en-GB" altLang="ja-JP" dirty="0"/>
                        <a:t>-</a:t>
                      </a:r>
                    </a:p>
                    <a:p>
                      <a:r>
                        <a:rPr lang="en-GB" dirty="0"/>
                        <a:t>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EdTech 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dirty="0"/>
                        <a:t>ソフトウェア</a:t>
                      </a:r>
                      <a:endParaRPr lang="en-GB" altLang="ja-JP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dirty="0"/>
                        <a:t>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バックエンド開発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フロントエンド開発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</a:t>
                      </a:r>
                      <a:r>
                        <a:rPr lang="ja-JP" altLang="en-US" dirty="0"/>
                        <a:t>運用・保守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週次リリースマネージャー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トラブル対応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ドキュメンテーション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技術負債解消</a:t>
                      </a:r>
                      <a:endParaRPr lang="en-GB" altLang="ja-JP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技術ブログ記事執筆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</a:t>
                      </a:r>
                      <a:r>
                        <a:rPr lang="ja-JP" altLang="en-US" dirty="0"/>
                        <a:t>登壇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2020</a:t>
                      </a:r>
                      <a:r>
                        <a:rPr lang="ja-JP" altLang="en-US" dirty="0"/>
                        <a:t>年</a:t>
                      </a:r>
                      <a:r>
                        <a:rPr lang="en-GB" altLang="ja-JP" dirty="0"/>
                        <a:t>02</a:t>
                      </a:r>
                      <a:r>
                        <a:rPr lang="ja-JP" altLang="en-US" dirty="0"/>
                        <a:t>月</a:t>
                      </a:r>
                      <a:r>
                        <a:rPr lang="en-GB" dirty="0"/>
                        <a:t>-</a:t>
                      </a:r>
                    </a:p>
                    <a:p>
                      <a:r>
                        <a:rPr lang="en-GB" dirty="0"/>
                        <a:t>2020</a:t>
                      </a:r>
                      <a:r>
                        <a:rPr lang="ja-JP" altLang="en-US" dirty="0"/>
                        <a:t>年</a:t>
                      </a:r>
                      <a:r>
                        <a:rPr lang="en-GB" altLang="ja-JP" dirty="0"/>
                        <a:t>12</a:t>
                      </a:r>
                      <a:r>
                        <a:rPr lang="ja-JP" altLang="en-US" dirty="0"/>
                        <a:t>月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チャットボット系</a:t>
                      </a:r>
                      <a:r>
                        <a:rPr lang="en-GB" altLang="ja-JP" dirty="0"/>
                        <a:t> </a:t>
                      </a:r>
                      <a:r>
                        <a:rPr lang="en-GB" dirty="0"/>
                        <a:t>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バックエンド</a:t>
                      </a:r>
                      <a:endParaRPr lang="en-GB" altLang="ja-JP" dirty="0"/>
                    </a:p>
                    <a:p>
                      <a:r>
                        <a:rPr lang="ja-JP" altLang="en-US" dirty="0"/>
                        <a:t>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バックエンド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ドキュメンテーション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技術負債解消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代替</a:t>
                      </a:r>
                      <a:r>
                        <a:rPr lang="en-GB" dirty="0"/>
                        <a:t> API </a:t>
                      </a:r>
                      <a:r>
                        <a:rPr lang="ja-JP" altLang="en-US" dirty="0"/>
                        <a:t>検証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FA548B-51A5-8A93-3C13-FFB9A0FF2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A7E63B-FB0E-8AF1-0CEE-8A902842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ja-JP" altLang="en-US" b="1" dirty="0">
                <a:latin typeface="+mn-lt"/>
              </a:rPr>
              <a:t>職歴</a:t>
            </a:r>
          </a:p>
        </p:txBody>
      </p:sp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49DA5AEE-AA0C-4167-A59B-BA34F8EF1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AA82EF-54FE-0A55-07F5-4C3AA48A1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830822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ja-JP" altLang="en-US" dirty="0"/>
                        <a:t>期間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職種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業務内容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2018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06</a:t>
                      </a:r>
                      <a:r>
                        <a:rPr lang="ja-JP" altLang="en-US" dirty="0"/>
                        <a:t>月</a:t>
                      </a:r>
                      <a:r>
                        <a:rPr lang="en-GB" dirty="0"/>
                        <a:t> -</a:t>
                      </a:r>
                    </a:p>
                    <a:p>
                      <a:r>
                        <a:rPr lang="en-GB" dirty="0"/>
                        <a:t>2020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01</a:t>
                      </a:r>
                      <a:r>
                        <a:rPr lang="ja-JP" altLang="en-US" dirty="0"/>
                        <a:t>月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受託開発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ソフトウェア</a:t>
                      </a:r>
                      <a:endParaRPr lang="en-GB" altLang="ja-JP" dirty="0"/>
                    </a:p>
                    <a:p>
                      <a:r>
                        <a:rPr lang="ja-JP" altLang="en-US" dirty="0"/>
                        <a:t>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バックエンド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フロントエンド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トラブル対応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QA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技術ブログ記事執筆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2016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04</a:t>
                      </a:r>
                      <a:r>
                        <a:rPr lang="ja-JP" altLang="en-US" dirty="0"/>
                        <a:t>月</a:t>
                      </a:r>
                      <a:r>
                        <a:rPr lang="en-GB" dirty="0"/>
                        <a:t> -</a:t>
                      </a:r>
                    </a:p>
                    <a:p>
                      <a:r>
                        <a:rPr lang="en-GB" dirty="0"/>
                        <a:t>2018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01</a:t>
                      </a:r>
                      <a:r>
                        <a:rPr lang="ja-JP" altLang="en-US" dirty="0"/>
                        <a:t>月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ja-JP" dirty="0"/>
                        <a:t>SES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システムエンジニア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全社アカウント管理者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</a:t>
                      </a:r>
                      <a:r>
                        <a:rPr lang="ja-JP" altLang="en-US" dirty="0"/>
                        <a:t>運用・保守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セキュリティ管理者助手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翻訳・通訳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169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378C05C1-87B1-BA30-D593-66D492FF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ja-JP" altLang="en-US" b="1" dirty="0"/>
              <a:t>国際交流活動</a:t>
            </a:r>
            <a:endParaRPr lang="en-GB" b="1" dirty="0"/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D7C9EA79-C769-23E2-9F3D-D4890F3C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1A2A920C-FA0F-BEBB-BB45-6CBA82FEA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ja-JP" altLang="en-US" sz="1600" dirty="0"/>
              <a:t>大学時代</a:t>
            </a:r>
          </a:p>
          <a:p>
            <a:pPr marL="536575" lvl="1" indent="-268288"/>
            <a:r>
              <a:rPr lang="ja-JP" altLang="en-US" sz="1400" dirty="0"/>
              <a:t>英語学ゼミ</a:t>
            </a:r>
            <a:r>
              <a:rPr lang="en-US" altLang="ja-JP" sz="1400" dirty="0"/>
              <a:t>(</a:t>
            </a:r>
            <a:r>
              <a:rPr lang="ja-JP" altLang="en-US" sz="1400" dirty="0"/>
              <a:t>マスメディア英語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ja-JP" altLang="en-US" sz="1400" dirty="0"/>
              <a:t>国際交流サークル兼部</a:t>
            </a:r>
            <a:r>
              <a:rPr lang="en-US" altLang="ja-JP" sz="1400" dirty="0"/>
              <a:t>(2</a:t>
            </a:r>
            <a:r>
              <a:rPr lang="ja-JP" altLang="en-US" sz="1400" dirty="0"/>
              <a:t>年次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ja-JP" altLang="en-US" sz="1400" dirty="0">
                <a:hlinkClick r:id="rId3"/>
              </a:rPr>
              <a:t>内閣府主催国際交流プログラム</a:t>
            </a:r>
            <a:r>
              <a:rPr lang="en-US" altLang="ja-JP" sz="1400" dirty="0"/>
              <a:t>(2013</a:t>
            </a:r>
            <a:r>
              <a:rPr lang="ja-JP" altLang="en-US" sz="1400" dirty="0"/>
              <a:t>年 </a:t>
            </a:r>
            <a:r>
              <a:rPr lang="en-GB" altLang="ja-JP" sz="1400" dirty="0"/>
              <a:t>-</a:t>
            </a:r>
            <a:r>
              <a:rPr lang="en-US" altLang="ja-JP" sz="1400" dirty="0"/>
              <a:t> 2016</a:t>
            </a:r>
            <a:r>
              <a:rPr lang="ja-JP" altLang="en-US" sz="1400" dirty="0"/>
              <a:t>年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ja-JP" altLang="en-US" sz="1400" dirty="0"/>
              <a:t>日本語学の授業の</a:t>
            </a:r>
            <a:r>
              <a:rPr lang="en-GB" altLang="ja-JP" sz="1400" dirty="0"/>
              <a:t> S </a:t>
            </a:r>
            <a:r>
              <a:rPr lang="ja-JP" altLang="en-US" sz="1400" dirty="0"/>
              <a:t>単位取得</a:t>
            </a:r>
            <a:r>
              <a:rPr lang="en-GB" altLang="ja-JP" sz="1400" dirty="0"/>
              <a:t>(</a:t>
            </a:r>
            <a:r>
              <a:rPr lang="ja-JP" altLang="en-US" sz="1400" dirty="0"/>
              <a:t>最終年次</a:t>
            </a:r>
            <a:r>
              <a:rPr lang="en-GB" altLang="ja-JP" sz="1400" dirty="0"/>
              <a:t>)</a:t>
            </a:r>
            <a:endParaRPr lang="en-US" altLang="ja-JP" sz="1400" dirty="0"/>
          </a:p>
          <a:p>
            <a:pPr marL="268288" indent="-268288"/>
            <a:r>
              <a:rPr lang="ja-JP" altLang="en-US" sz="1600" dirty="0"/>
              <a:t>海外生活</a:t>
            </a:r>
          </a:p>
          <a:p>
            <a:pPr marL="536575" lvl="1" indent="-268288"/>
            <a:r>
              <a:rPr lang="ja-JP" altLang="en-US" sz="1400" dirty="0"/>
              <a:t>オーストラリアでのワーキングホリデー</a:t>
            </a:r>
            <a:r>
              <a:rPr lang="en-US" altLang="ja-JP" sz="1400" dirty="0"/>
              <a:t>(2014</a:t>
            </a:r>
            <a:r>
              <a:rPr lang="ja-JP" altLang="en-US" sz="1400" dirty="0"/>
              <a:t>年</a:t>
            </a:r>
            <a:r>
              <a:rPr lang="en-US" altLang="ja-JP" sz="1400" dirty="0"/>
              <a:t>04</a:t>
            </a:r>
            <a:r>
              <a:rPr lang="ja-JP" altLang="en-US" sz="1400" dirty="0"/>
              <a:t>月 </a:t>
            </a:r>
            <a:r>
              <a:rPr lang="en-US" altLang="ja-JP" sz="1400" dirty="0"/>
              <a:t>- </a:t>
            </a:r>
            <a:r>
              <a:rPr lang="en-GB" altLang="ja-JP" sz="1400" dirty="0"/>
              <a:t>2015</a:t>
            </a:r>
            <a:r>
              <a:rPr lang="ja-JP" altLang="en-US" sz="1400" dirty="0"/>
              <a:t>年</a:t>
            </a:r>
            <a:r>
              <a:rPr lang="en-US" altLang="ja-JP" sz="1400" dirty="0"/>
              <a:t>03</a:t>
            </a:r>
            <a:r>
              <a:rPr lang="ja-JP" altLang="en-US" sz="1400" dirty="0"/>
              <a:t>月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2</a:t>
            </a:r>
            <a:r>
              <a:rPr lang="ja-JP" altLang="en-US" sz="1200" dirty="0"/>
              <a:t>ヶ月間のシドニーの語学学校通学</a:t>
            </a:r>
            <a:endParaRPr lang="en-GB" altLang="ja-JP" sz="1200" dirty="0"/>
          </a:p>
          <a:p>
            <a:pPr marL="728662" lvl="2" indent="-285750"/>
            <a:r>
              <a:rPr lang="en-US" altLang="ja-JP" sz="1200" dirty="0"/>
              <a:t>6</a:t>
            </a:r>
            <a:r>
              <a:rPr lang="ja-JP" altLang="en-US" sz="1200" dirty="0"/>
              <a:t>ヶ月間の</a:t>
            </a:r>
            <a:r>
              <a:rPr lang="en-GB" altLang="ja-JP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r>
              <a:rPr lang="en-GB" altLang="ja-JP" sz="1200" dirty="0"/>
              <a:t> </a:t>
            </a:r>
            <a:r>
              <a:rPr lang="ja-JP" altLang="en-US" sz="1200" dirty="0"/>
              <a:t>での就労</a:t>
            </a:r>
            <a:endParaRPr lang="en-GB" altLang="ja-JP" sz="1200" dirty="0"/>
          </a:p>
          <a:p>
            <a:pPr marL="728662" lvl="2" indent="-285750"/>
            <a:r>
              <a:rPr lang="en-US" altLang="ja-JP" sz="1200" dirty="0"/>
              <a:t>1</a:t>
            </a:r>
            <a:r>
              <a:rPr lang="ja-JP" altLang="en-US" sz="1200" dirty="0"/>
              <a:t>ヶ月間の </a:t>
            </a:r>
            <a:r>
              <a:rPr lang="en-GB" altLang="ja-JP" sz="1200" dirty="0"/>
              <a:t>NSW </a:t>
            </a:r>
            <a:r>
              <a:rPr lang="ja-JP" altLang="en-US" sz="1200" dirty="0"/>
              <a:t>州の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での日本語教師アシスタントボランティア活動</a:t>
            </a:r>
            <a:endParaRPr lang="en-US" altLang="ja-JP" sz="1200" dirty="0"/>
          </a:p>
          <a:p>
            <a:pPr marL="268288" indent="-268288"/>
            <a:r>
              <a:rPr lang="ja-JP" altLang="en-US" sz="1600" dirty="0"/>
              <a:t>その他活動</a:t>
            </a:r>
            <a:endParaRPr lang="ja-JP" altLang="en-US" sz="900" dirty="0"/>
          </a:p>
          <a:p>
            <a:pPr marL="536575" lvl="1" indent="-268288"/>
            <a:r>
              <a:rPr lang="ja-JP" altLang="en-US" sz="1400" dirty="0"/>
              <a:t>英語での日々の日記</a:t>
            </a:r>
            <a:r>
              <a:rPr lang="en-GB" altLang="ja-JP" sz="1400" dirty="0"/>
              <a:t>(</a:t>
            </a:r>
            <a:r>
              <a:rPr lang="en-US" altLang="ja-JP" sz="1400" dirty="0"/>
              <a:t>2014</a:t>
            </a:r>
            <a:r>
              <a:rPr lang="ja-JP" altLang="en-US" sz="1400" dirty="0"/>
              <a:t>年</a:t>
            </a:r>
            <a:r>
              <a:rPr lang="en-US" altLang="ja-JP" sz="1400" dirty="0"/>
              <a:t>04</a:t>
            </a:r>
            <a:r>
              <a:rPr lang="ja-JP" altLang="en-US" sz="1400" dirty="0"/>
              <a:t>月 </a:t>
            </a:r>
            <a:r>
              <a:rPr lang="en-US" altLang="ja-JP" sz="1400" dirty="0"/>
              <a:t>- </a:t>
            </a:r>
            <a:r>
              <a:rPr lang="ja-JP" altLang="en-US" sz="1400" dirty="0"/>
              <a:t>現在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GB" altLang="ja-JP" sz="1400" dirty="0"/>
              <a:t> </a:t>
            </a:r>
            <a:r>
              <a:rPr lang="ja-JP" altLang="en-US" sz="1400" dirty="0"/>
              <a:t>参加</a:t>
            </a:r>
            <a:r>
              <a:rPr lang="en-US" altLang="ja-JP" sz="1400" dirty="0"/>
              <a:t>(2017</a:t>
            </a:r>
            <a:r>
              <a:rPr lang="ja-JP" altLang="en-US" sz="1400" dirty="0"/>
              <a:t>年</a:t>
            </a:r>
            <a:r>
              <a:rPr lang="en-US" altLang="ja-JP" sz="1400" dirty="0"/>
              <a:t>02</a:t>
            </a:r>
            <a:r>
              <a:rPr lang="ja-JP" altLang="en-US" sz="1400" dirty="0"/>
              <a:t>月 </a:t>
            </a:r>
            <a:r>
              <a:rPr lang="en-US" altLang="ja-JP" sz="1400" dirty="0"/>
              <a:t>- 2018</a:t>
            </a:r>
            <a:r>
              <a:rPr lang="ja-JP" altLang="en-US" sz="1400" dirty="0"/>
              <a:t>年</a:t>
            </a:r>
            <a:r>
              <a:rPr lang="en-US" altLang="ja-JP" sz="1400" dirty="0"/>
              <a:t>03</a:t>
            </a:r>
            <a:r>
              <a:rPr lang="ja-JP" altLang="en-US" sz="1400" dirty="0"/>
              <a:t>月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 </a:t>
            </a:r>
            <a:r>
              <a:rPr lang="ja-JP" altLang="en-US" sz="1400" dirty="0"/>
              <a:t>参加</a:t>
            </a:r>
            <a:r>
              <a:rPr lang="en-US" altLang="ja-JP" sz="1400" dirty="0"/>
              <a:t>(2018</a:t>
            </a:r>
            <a:r>
              <a:rPr lang="ja-JP" altLang="en-US" sz="1400" dirty="0"/>
              <a:t>年</a:t>
            </a:r>
            <a:r>
              <a:rPr lang="en-US" altLang="ja-JP" sz="1400" dirty="0"/>
              <a:t>0</a:t>
            </a:r>
            <a:r>
              <a:rPr lang="en-GB" altLang="ja-JP" sz="1400" dirty="0"/>
              <a:t>1</a:t>
            </a:r>
            <a:r>
              <a:rPr lang="ja-JP" altLang="en-US" sz="1400" dirty="0"/>
              <a:t>月 </a:t>
            </a:r>
            <a:r>
              <a:rPr lang="en-US" altLang="ja-JP" sz="1400" dirty="0"/>
              <a:t>- 2019</a:t>
            </a:r>
            <a:r>
              <a:rPr lang="ja-JP" altLang="en-US" sz="1400" dirty="0"/>
              <a:t>年</a:t>
            </a:r>
            <a:r>
              <a:rPr lang="en-US" altLang="ja-JP" sz="1400" dirty="0"/>
              <a:t>0</a:t>
            </a:r>
            <a:r>
              <a:rPr lang="en-GB" altLang="ja-JP" sz="1400" dirty="0"/>
              <a:t>7</a:t>
            </a:r>
            <a:r>
              <a:rPr lang="ja-JP" altLang="en-US" sz="1400" dirty="0"/>
              <a:t>月、</a:t>
            </a:r>
            <a:r>
              <a:rPr lang="en-US" altLang="ja-JP" sz="1400" dirty="0"/>
              <a:t>2022</a:t>
            </a:r>
            <a:r>
              <a:rPr lang="ja-JP" altLang="en-US" sz="1400" dirty="0"/>
              <a:t>年</a:t>
            </a:r>
            <a:r>
              <a:rPr lang="en-US" altLang="ja-JP" sz="1400" dirty="0"/>
              <a:t>10</a:t>
            </a:r>
            <a:r>
              <a:rPr lang="ja-JP" altLang="en-US" sz="1400" dirty="0"/>
              <a:t>月 </a:t>
            </a:r>
            <a:r>
              <a:rPr lang="en-US" altLang="ja-JP" sz="1400" dirty="0"/>
              <a:t>- 2023</a:t>
            </a:r>
            <a:r>
              <a:rPr lang="ja-JP" altLang="en-US" sz="1400" dirty="0"/>
              <a:t>年</a:t>
            </a:r>
            <a:r>
              <a:rPr lang="en-US" altLang="ja-JP" sz="1400" dirty="0"/>
              <a:t>0</a:t>
            </a:r>
            <a:r>
              <a:rPr lang="en-GB" altLang="ja-JP" sz="1400" dirty="0"/>
              <a:t>2</a:t>
            </a:r>
            <a:r>
              <a:rPr lang="ja-JP" altLang="en-US" sz="1400" dirty="0"/>
              <a:t>月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ja-JP" altLang="en-US" sz="1400" dirty="0"/>
              <a:t>英語自己学習</a:t>
            </a:r>
            <a:endParaRPr lang="en-GB" altLang="ja-JP" sz="1400" dirty="0"/>
          </a:p>
          <a:p>
            <a:pPr marL="536575" lvl="1" indent="-268288"/>
            <a:r>
              <a:rPr lang="en-GB" altLang="ja-JP" sz="1400" dirty="0"/>
              <a:t>Ruby </a:t>
            </a:r>
            <a:r>
              <a:rPr lang="ja-JP" altLang="en-US" sz="1400" dirty="0"/>
              <a:t>関連カンファレンス参加</a:t>
            </a:r>
            <a:endParaRPr lang="en-GB" altLang="ja-JP" sz="1400" dirty="0"/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ja-JP" altLang="en-US" b="1" dirty="0">
                <a:latin typeface="Calibri (Headings)"/>
              </a:rPr>
              <a:t>このシリーズのコンセプト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ja-JP" altLang="en-US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英語の奥深さを知る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728980" marR="0" lvl="1" indent="-26670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ja-JP" altLang="en-US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単なるコミュニケーション手段ではない</a:t>
            </a:r>
            <a:endParaRPr kumimoji="0" lang="ja-JP" alt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ja-JP" altLang="en-US" sz="24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英語を知ることで日本語を知る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729615" marR="0" lvl="1" indent="-267335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ja-JP" altLang="en-US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一つの言語しか知らないことは何一つ知らないのと同じ</a:t>
            </a:r>
            <a:endParaRPr kumimoji="0" lang="ja-JP" alt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ja-JP" altLang="en-US" sz="24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すぐに役に立たないことを追求する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729615" marR="0" lvl="1" indent="-267335" defTabSz="91440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ja-JP" altLang="en-US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無意味に思えることにこそ本質がある</a:t>
            </a:r>
            <a:endParaRPr kumimoji="0" lang="ja-JP" alt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ja-JP" altLang="en-US" b="1" dirty="0">
                <a:latin typeface="Calibri (Headings)"/>
              </a:rPr>
              <a:t>目次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3" action="ppaction://hlinksldjump"/>
              </a:rPr>
              <a:t>英語の時代区別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4" action="ppaction://hlinksldjump"/>
              </a:rPr>
              <a:t>言語と語族と習得難易度の関係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5" action="ppaction://hlinksldjump"/>
              </a:rPr>
              <a:t>現代英語の特質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6" action="ppaction://hlinksldjump"/>
              </a:rPr>
              <a:t>まとめ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7" action="ppaction://hlinksldjump"/>
              </a:rPr>
              <a:t>参考文献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261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英語の時代区別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英語の時代区別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5A0556-E1AF-90DD-299F-FDE70B0DC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563683"/>
              </p:ext>
            </p:extLst>
          </p:nvPr>
        </p:nvGraphicFramePr>
        <p:xfrm>
          <a:off x="838200" y="1806575"/>
          <a:ext cx="10497183" cy="4446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666">
                  <a:extLst>
                    <a:ext uri="{9D8B030D-6E8A-4147-A177-3AD203B41FA5}">
                      <a16:colId xmlns:a16="http://schemas.microsoft.com/office/drawing/2014/main" val="2900425722"/>
                    </a:ext>
                  </a:extLst>
                </a:gridCol>
                <a:gridCol w="1400962">
                  <a:extLst>
                    <a:ext uri="{9D8B030D-6E8A-4147-A177-3AD203B41FA5}">
                      <a16:colId xmlns:a16="http://schemas.microsoft.com/office/drawing/2014/main" val="1934593101"/>
                    </a:ext>
                  </a:extLst>
                </a:gridCol>
                <a:gridCol w="7241555">
                  <a:extLst>
                    <a:ext uri="{9D8B030D-6E8A-4147-A177-3AD203B41FA5}">
                      <a16:colId xmlns:a16="http://schemas.microsoft.com/office/drawing/2014/main" val="20751866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時代区分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年代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重要な出来事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40856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5" dirty="0">
                          <a:latin typeface="Yu Gothic"/>
                          <a:cs typeface="Yu Gothic"/>
                        </a:rPr>
                        <a:t>印欧祖語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→ </a:t>
                      </a:r>
                      <a:r>
                        <a:rPr sz="1800" b="1" spc="-10" dirty="0">
                          <a:latin typeface="Yu Gothic"/>
                          <a:cs typeface="Yu Gothic"/>
                        </a:rPr>
                        <a:t>ゲルマン祖語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B.C.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1000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A.D.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400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155"/>
                        </a:lnSpc>
                        <a:spcBef>
                          <a:spcPts val="229"/>
                        </a:spcBef>
                      </a:pPr>
                      <a:r>
                        <a:rPr sz="1800" b="1" spc="-5" dirty="0">
                          <a:latin typeface="Yu Gothic"/>
                          <a:cs typeface="Yu Gothic"/>
                        </a:rPr>
                        <a:t>グリムの法則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b="1" dirty="0">
                          <a:latin typeface="Yu Gothic"/>
                          <a:cs typeface="Yu Gothic"/>
                        </a:rPr>
                        <a:t>第一次子音推移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8460" indent="-287020">
                        <a:lnSpc>
                          <a:spcPts val="2155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5" dirty="0">
                          <a:latin typeface="Yu Gothic"/>
                          <a:cs typeface="Yu Gothic"/>
                        </a:rPr>
                        <a:t>一部の子音における体系的な音変化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78460" indent="-287020">
                        <a:lnSpc>
                          <a:spcPct val="100000"/>
                        </a:lnSpc>
                        <a:spcBef>
                          <a:spcPts val="2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e.g.,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/p/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/f/, /t/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/p/,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/k/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/h/,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/k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/h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/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373795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b="1" spc="-20" dirty="0">
                          <a:latin typeface="Yu Gothic"/>
                          <a:cs typeface="Yu Gothic"/>
                        </a:rPr>
                        <a:t>古英語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844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500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1100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155"/>
                        </a:lnSpc>
                        <a:spcBef>
                          <a:spcPts val="234"/>
                        </a:spcBef>
                      </a:pPr>
                      <a:r>
                        <a:rPr sz="1800" b="1" spc="-5" dirty="0">
                          <a:latin typeface="Yu Gothic"/>
                          <a:cs typeface="Yu Gothic"/>
                        </a:rPr>
                        <a:t>ヴァイキングのイングランド侵入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78460" indent="-287020">
                        <a:lnSpc>
                          <a:spcPts val="2155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9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世紀末のデーンロー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(Dane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Law)</a:t>
                      </a:r>
                      <a:r>
                        <a:rPr sz="1800" spc="-20" dirty="0">
                          <a:latin typeface="Yu Gothic"/>
                          <a:cs typeface="Yu Gothic"/>
                        </a:rPr>
                        <a:t>の形成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7846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</a:t>
                      </a:r>
                      <a:r>
                        <a:rPr sz="1800" spc="-5" dirty="0">
                          <a:latin typeface="Yu Gothic"/>
                          <a:cs typeface="Yu Gothic"/>
                        </a:rPr>
                        <a:t>世紀前半から約四半世紀に渡るデーン人のイングランド支配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7846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15" dirty="0">
                          <a:latin typeface="Yu Gothic"/>
                          <a:cs typeface="Yu Gothic"/>
                        </a:rPr>
                        <a:t>言語衝突による古ノルド語の英語への流入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844" marB="0"/>
                </a:tc>
                <a:extLst>
                  <a:ext uri="{0D108BD9-81ED-4DB2-BD59-A6C34878D82A}">
                    <a16:rowId xmlns:a16="http://schemas.microsoft.com/office/drawing/2014/main" val="2347578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800" b="1" spc="-20" dirty="0">
                          <a:latin typeface="Yu Gothic"/>
                          <a:cs typeface="Yu Gothic"/>
                        </a:rPr>
                        <a:t>中英語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1100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1500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155"/>
                        </a:lnSpc>
                        <a:spcBef>
                          <a:spcPts val="185"/>
                        </a:spcBef>
                      </a:pPr>
                      <a:r>
                        <a:rPr sz="1800" b="1" spc="-10" dirty="0">
                          <a:latin typeface="Yu Gothic"/>
                          <a:cs typeface="Yu Gothic"/>
                        </a:rPr>
                        <a:t>ノルマン制服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78460" indent="-287020">
                        <a:lnSpc>
                          <a:spcPts val="2155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5" dirty="0">
                          <a:latin typeface="Yu Gothic"/>
                          <a:cs typeface="Yu Gothic"/>
                        </a:rPr>
                        <a:t>フランス語のイングランドにおける公用語化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7846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5" dirty="0">
                          <a:latin typeface="Yu Gothic"/>
                          <a:cs typeface="Yu Gothic"/>
                        </a:rPr>
                        <a:t>英語の被支配者層の非公式語化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7846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5" dirty="0">
                          <a:latin typeface="Yu Gothic"/>
                          <a:cs typeface="Yu Gothic"/>
                        </a:rPr>
                        <a:t>言語衝突によるフランス語由来語彙の英語への流入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3495" marB="0"/>
                </a:tc>
                <a:extLst>
                  <a:ext uri="{0D108BD9-81ED-4DB2-BD59-A6C34878D82A}">
                    <a16:rowId xmlns:a16="http://schemas.microsoft.com/office/drawing/2014/main" val="2318180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1" spc="-15" dirty="0">
                          <a:latin typeface="Yu Gothic"/>
                          <a:cs typeface="Yu Gothic"/>
                        </a:rPr>
                        <a:t>近代英語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1500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1800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378460" indent="-287020">
                        <a:lnSpc>
                          <a:spcPct val="100000"/>
                        </a:lnSpc>
                        <a:spcBef>
                          <a:spcPts val="200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b="1" dirty="0">
                          <a:latin typeface="Yu Gothic"/>
                          <a:cs typeface="Yu Gothic"/>
                        </a:rPr>
                        <a:t>大母音推移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(Great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Vowel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Shift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): 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長母音の二重母音化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(e.g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.,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846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b="1" dirty="0">
                          <a:latin typeface="Yu Gothic"/>
                          <a:cs typeface="Yu Gothic"/>
                        </a:rPr>
                        <a:t>借用語の増加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: </a:t>
                      </a:r>
                      <a:r>
                        <a:rPr sz="1800" spc="-5" dirty="0">
                          <a:latin typeface="Yu Gothic"/>
                          <a:cs typeface="Yu Gothic"/>
                        </a:rPr>
                        <a:t>大航海時代のヨーロッパ各国との交流に起因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5400" marB="0"/>
                </a:tc>
                <a:extLst>
                  <a:ext uri="{0D108BD9-81ED-4DB2-BD59-A6C34878D82A}">
                    <a16:rowId xmlns:a16="http://schemas.microsoft.com/office/drawing/2014/main" val="3190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b="1" spc="-15" dirty="0">
                          <a:latin typeface="Yu Gothic"/>
                          <a:cs typeface="Yu Gothic"/>
                        </a:rPr>
                        <a:t>現代英語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1800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- </a:t>
                      </a:r>
                      <a:r>
                        <a:rPr sz="1800" spc="-25" dirty="0">
                          <a:latin typeface="Yu Gothic"/>
                          <a:cs typeface="Yu Gothic"/>
                        </a:rPr>
                        <a:t>現在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-5" dirty="0">
                          <a:latin typeface="Yu Gothic"/>
                          <a:cs typeface="Yu Gothic"/>
                        </a:rPr>
                        <a:t>マスメディア、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Yu Gothic"/>
                          <a:cs typeface="Yu Gothic"/>
                        </a:rPr>
                        <a:t>の発達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: </a:t>
                      </a:r>
                      <a:r>
                        <a:rPr sz="1800" spc="-5" dirty="0">
                          <a:latin typeface="Yu Gothic"/>
                          <a:cs typeface="Yu Gothic"/>
                        </a:rPr>
                        <a:t>新語の増加と言文一致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557789144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DD5E0BD-1F3E-A807-58DA-88E81061934E}"/>
              </a:ext>
            </a:extLst>
          </p:cNvPr>
          <p:cNvSpPr/>
          <p:nvPr/>
        </p:nvSpPr>
        <p:spPr>
          <a:xfrm>
            <a:off x="837043" y="4173523"/>
            <a:ext cx="10467122" cy="11199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4570C6-172C-7C7B-04F3-7EE583DFD74F}"/>
              </a:ext>
            </a:extLst>
          </p:cNvPr>
          <p:cNvSpPr/>
          <p:nvPr/>
        </p:nvSpPr>
        <p:spPr>
          <a:xfrm>
            <a:off x="862439" y="5863905"/>
            <a:ext cx="10467122" cy="3889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ja-JP" altLang="en-US" b="1" dirty="0">
                <a:latin typeface="Calibri (Headings)"/>
                <a:sym typeface="Arial"/>
              </a:rPr>
              <a:t>英語の時代区別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object 2">
            <a:extLst>
              <a:ext uri="{FF2B5EF4-FFF2-40B4-BE49-F238E27FC236}">
                <a16:creationId xmlns:a16="http://schemas.microsoft.com/office/drawing/2014/main" id="{193A6661-967B-334D-8CF8-E97BA1A37CD5}"/>
              </a:ext>
            </a:extLst>
          </p:cNvPr>
          <p:cNvGrpSpPr/>
          <p:nvPr/>
        </p:nvGrpSpPr>
        <p:grpSpPr>
          <a:xfrm>
            <a:off x="2596895" y="1345691"/>
            <a:ext cx="6734809" cy="4966970"/>
            <a:chOff x="2596895" y="1345691"/>
            <a:chExt cx="6734809" cy="4966970"/>
          </a:xfrm>
        </p:grpSpPr>
        <p:pic>
          <p:nvPicPr>
            <p:cNvPr id="15" name="object 3">
              <a:extLst>
                <a:ext uri="{FF2B5EF4-FFF2-40B4-BE49-F238E27FC236}">
                  <a16:creationId xmlns:a16="http://schemas.microsoft.com/office/drawing/2014/main" id="{F354BA59-4E24-BB6B-80F6-6765ECE4C17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6895" y="1345691"/>
              <a:ext cx="6734556" cy="4966716"/>
            </a:xfrm>
            <a:prstGeom prst="rect">
              <a:avLst/>
            </a:prstGeom>
          </p:spPr>
        </p:pic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365E58C0-3ADA-D2E0-D4E2-A9615D433755}"/>
                </a:ext>
              </a:extLst>
            </p:cNvPr>
            <p:cNvSpPr/>
            <p:nvPr/>
          </p:nvSpPr>
          <p:spPr>
            <a:xfrm>
              <a:off x="3510533" y="1802129"/>
              <a:ext cx="5390515" cy="4419600"/>
            </a:xfrm>
            <a:custGeom>
              <a:avLst/>
              <a:gdLst/>
              <a:ahLst/>
              <a:cxnLst/>
              <a:rect l="l" t="t" r="r" b="b"/>
              <a:pathLst>
                <a:path w="5390515" h="4419600">
                  <a:moveTo>
                    <a:pt x="0" y="4419600"/>
                  </a:moveTo>
                  <a:lnTo>
                    <a:pt x="2334767" y="4419600"/>
                  </a:lnTo>
                  <a:lnTo>
                    <a:pt x="2334767" y="2868168"/>
                  </a:lnTo>
                  <a:lnTo>
                    <a:pt x="0" y="2868168"/>
                  </a:lnTo>
                  <a:lnTo>
                    <a:pt x="0" y="4419600"/>
                  </a:lnTo>
                  <a:close/>
                </a:path>
                <a:path w="5390515" h="4419600">
                  <a:moveTo>
                    <a:pt x="2967228" y="4419600"/>
                  </a:moveTo>
                  <a:lnTo>
                    <a:pt x="5390388" y="4419600"/>
                  </a:lnTo>
                  <a:lnTo>
                    <a:pt x="5390388" y="0"/>
                  </a:lnTo>
                  <a:lnTo>
                    <a:pt x="2967228" y="0"/>
                  </a:lnTo>
                  <a:lnTo>
                    <a:pt x="2967228" y="441960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8392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言語と語族と習得難易度の関係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altLang="ja-JP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2. </a:t>
            </a:r>
            <a:r>
              <a:rPr kumimoji="0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  <a:sym typeface="Arial"/>
              </a:rPr>
              <a:t>言語と語族と習得難易度の関係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語族とは？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12700" marR="5080" lvl="0" indent="0" defTabSz="914400" eaLnBrk="1" fontAlgn="auto" latinLnBrk="0" hangingPunct="1">
              <a:lnSpc>
                <a:spcPct val="985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今日世界中に存在する言語は、起源を遡るとある一つの言語に辿り着く。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そのルーツとなる言語から派生したある一定の言語のまとまりを</a:t>
            </a:r>
            <a:r>
              <a:rPr kumimoji="0" lang="ja-JP" altLang="en-US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語族</a:t>
            </a:r>
            <a:r>
              <a:rPr kumimoji="0" lang="ja-JP" altLang="en-US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 </a:t>
            </a:r>
            <a:r>
              <a:rPr kumimoji="0" lang="en-US" altLang="ja-JP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(Language</a:t>
            </a:r>
            <a:r>
              <a:rPr kumimoji="0" lang="ja-JP" altLang="en-US" sz="24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altLang="ja-JP" sz="2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Family)</a:t>
            </a:r>
            <a:r>
              <a:rPr kumimoji="0" lang="ja-JP" altLang="en-US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と呼ぶ。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altLang="ja-JP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2. </a:t>
            </a:r>
            <a:r>
              <a:rPr kumimoji="0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  <a:sym typeface="Arial"/>
              </a:rPr>
              <a:t>言語と語族と習得難易度の関係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63052B76-C954-936E-CAB6-B699E8589CAB}"/>
              </a:ext>
            </a:extLst>
          </p:cNvPr>
          <p:cNvGrpSpPr/>
          <p:nvPr/>
        </p:nvGrpSpPr>
        <p:grpSpPr>
          <a:xfrm>
            <a:off x="2586227" y="1345691"/>
            <a:ext cx="6558280" cy="4968240"/>
            <a:chOff x="2586227" y="1345691"/>
            <a:chExt cx="6558280" cy="496824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42F50238-4C02-B048-F1BE-4456124A327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227" y="1345691"/>
              <a:ext cx="6557772" cy="4968239"/>
            </a:xfrm>
            <a:prstGeom prst="rect">
              <a:avLst/>
            </a:prstGeom>
          </p:spPr>
        </p:pic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3BD8C915-9D08-BA2F-9560-A8EBB665E196}"/>
                </a:ext>
              </a:extLst>
            </p:cNvPr>
            <p:cNvSpPr/>
            <p:nvPr/>
          </p:nvSpPr>
          <p:spPr>
            <a:xfrm>
              <a:off x="8242554" y="4527041"/>
              <a:ext cx="775970" cy="213360"/>
            </a:xfrm>
            <a:custGeom>
              <a:avLst/>
              <a:gdLst/>
              <a:ahLst/>
              <a:cxnLst/>
              <a:rect l="l" t="t" r="r" b="b"/>
              <a:pathLst>
                <a:path w="775970" h="213360">
                  <a:moveTo>
                    <a:pt x="0" y="213360"/>
                  </a:moveTo>
                  <a:lnTo>
                    <a:pt x="775716" y="213360"/>
                  </a:lnTo>
                  <a:lnTo>
                    <a:pt x="775716" y="0"/>
                  </a:lnTo>
                  <a:lnTo>
                    <a:pt x="0" y="0"/>
                  </a:lnTo>
                  <a:lnTo>
                    <a:pt x="0" y="21336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9402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altLang="ja-JP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2. </a:t>
            </a:r>
            <a:r>
              <a:rPr kumimoji="0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  <a:sym typeface="Arial"/>
              </a:rPr>
              <a:t>言語と語族と習得難易度の関係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ゲルマン語派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英語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ドイツ語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オランダ語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フラマン語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デンマーク語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スウェーデン語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ノルウェー語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727793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altLang="ja-JP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2. </a:t>
            </a:r>
            <a:r>
              <a:rPr kumimoji="0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  <a:sym typeface="Arial"/>
              </a:rPr>
              <a:t>言語と語族と習得難易度の関係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ロマンス語派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ポルトガル語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スペイン語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カタロニア語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プロヴァンス語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フランス語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199369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altLang="ja-JP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2. </a:t>
            </a:r>
            <a:r>
              <a:rPr kumimoji="0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  <a:sym typeface="Arial"/>
              </a:rPr>
              <a:t>言語と語族と習得難易度の関係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ケルト語派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ウェールズ語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ブルトン語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アイスランドゲール語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スコットランドゲール語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16307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60C2E7C-8EB1-5BA9-44B5-146D9D562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291645"/>
              </p:ext>
            </p:extLst>
          </p:nvPr>
        </p:nvGraphicFramePr>
        <p:xfrm>
          <a:off x="834296" y="2273680"/>
          <a:ext cx="9208134" cy="2852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939">
                  <a:extLst>
                    <a:ext uri="{9D8B030D-6E8A-4147-A177-3AD203B41FA5}">
                      <a16:colId xmlns:a16="http://schemas.microsoft.com/office/drawing/2014/main" val="1876956976"/>
                    </a:ext>
                  </a:extLst>
                </a:gridCol>
                <a:gridCol w="3384958">
                  <a:extLst>
                    <a:ext uri="{9D8B030D-6E8A-4147-A177-3AD203B41FA5}">
                      <a16:colId xmlns:a16="http://schemas.microsoft.com/office/drawing/2014/main" val="3958179564"/>
                    </a:ext>
                  </a:extLst>
                </a:gridCol>
                <a:gridCol w="3331237">
                  <a:extLst>
                    <a:ext uri="{9D8B030D-6E8A-4147-A177-3AD203B41FA5}">
                      <a16:colId xmlns:a16="http://schemas.microsoft.com/office/drawing/2014/main" val="4232463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比較項目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ドイツ語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日本語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331969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spc="-5" dirty="0">
                          <a:latin typeface="Yu Gothic"/>
                          <a:cs typeface="Yu Gothic"/>
                        </a:rPr>
                        <a:t>母語話者の英語習得に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spc="-15" dirty="0">
                          <a:latin typeface="Yu Gothic"/>
                          <a:cs typeface="Yu Gothic"/>
                        </a:rPr>
                        <a:t>必要な最低学習時間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約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480</a:t>
                      </a:r>
                      <a:r>
                        <a:rPr sz="1800" spc="-25" dirty="0">
                          <a:latin typeface="Yu Gothic"/>
                          <a:cs typeface="Yu Gothic"/>
                        </a:rPr>
                        <a:t>時間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約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2500</a:t>
                      </a:r>
                      <a:r>
                        <a:rPr sz="1800" spc="-25" dirty="0">
                          <a:latin typeface="Yu Gothic"/>
                          <a:cs typeface="Yu Gothic"/>
                        </a:rPr>
                        <a:t>時間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3697397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b="1" spc="-25" dirty="0">
                          <a:latin typeface="Yu Gothic"/>
                          <a:cs typeface="Yu Gothic"/>
                        </a:rPr>
                        <a:t>語族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844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10" dirty="0">
                          <a:latin typeface="Yu Gothic"/>
                          <a:cs typeface="Yu Gothic"/>
                        </a:rPr>
                        <a:t>ゲルマン語派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→ </a:t>
                      </a:r>
                      <a:r>
                        <a:rPr sz="1800" spc="-10" dirty="0">
                          <a:latin typeface="Yu Gothic"/>
                          <a:cs typeface="Yu Gothic"/>
                        </a:rPr>
                        <a:t>英語と同じ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Yu Gothic"/>
                          <a:cs typeface="Yu Gothic"/>
                        </a:rPr>
                        <a:t>不明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50" dirty="0">
                          <a:latin typeface="MS Gothic"/>
                          <a:cs typeface="MS Gothic"/>
                        </a:rPr>
                        <a:t>※ </a:t>
                      </a:r>
                      <a:r>
                        <a:rPr sz="1800" spc="-5" dirty="0">
                          <a:latin typeface="Yu Gothic"/>
                          <a:cs typeface="Yu Gothic"/>
                        </a:rPr>
                        <a:t>アルタイ語族説が有力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903784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latin typeface="Yu Gothic"/>
                          <a:cs typeface="Yu Gothic"/>
                        </a:rPr>
                        <a:t>文法的特徴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155"/>
                        </a:lnSpc>
                        <a:spcBef>
                          <a:spcPts val="270"/>
                        </a:spcBef>
                      </a:pPr>
                      <a:r>
                        <a:rPr sz="1800" b="1" spc="-20" dirty="0">
                          <a:latin typeface="Yu Gothic"/>
                          <a:cs typeface="Yu Gothic"/>
                        </a:rPr>
                        <a:t>屈折語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  <a:p>
                      <a:pPr marL="91440">
                        <a:lnSpc>
                          <a:spcPts val="2155"/>
                        </a:lnSpc>
                      </a:pPr>
                      <a:r>
                        <a:rPr sz="1800" spc="30" dirty="0">
                          <a:latin typeface="Calibri"/>
                          <a:cs typeface="Calibri"/>
                        </a:rPr>
                        <a:t>→ </a:t>
                      </a:r>
                      <a:r>
                        <a:rPr sz="1800" spc="-10" dirty="0">
                          <a:latin typeface="Yu Gothic"/>
                          <a:cs typeface="Yu Gothic"/>
                        </a:rPr>
                        <a:t>格による語形変化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spc="-10" dirty="0">
                          <a:latin typeface="Yu Gothic"/>
                          <a:cs typeface="Yu Gothic"/>
                        </a:rPr>
                        <a:t>後で説明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155"/>
                        </a:lnSpc>
                        <a:spcBef>
                          <a:spcPts val="270"/>
                        </a:spcBef>
                      </a:pPr>
                      <a:r>
                        <a:rPr sz="1800" b="1" spc="-20" dirty="0">
                          <a:latin typeface="Yu Gothic"/>
                          <a:cs typeface="Yu Gothic"/>
                        </a:rPr>
                        <a:t>膠着語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92075">
                        <a:lnSpc>
                          <a:spcPts val="2155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→ </a:t>
                      </a:r>
                      <a:r>
                        <a:rPr sz="1800" spc="-15" dirty="0">
                          <a:latin typeface="Yu Gothic"/>
                          <a:cs typeface="Yu Gothic"/>
                        </a:rPr>
                        <a:t>助詞による主述の決定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3665994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latin typeface="Yu Gothic"/>
                          <a:cs typeface="Yu Gothic"/>
                        </a:rPr>
                        <a:t>現代英語との共通点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Yu Gothic"/>
                          <a:cs typeface="Yu Gothic"/>
                        </a:rPr>
                        <a:t>印欧祖語がルーツ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自然性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後で説明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4072446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latin typeface="Yu Gothic"/>
                          <a:cs typeface="Yu Gothic"/>
                        </a:rPr>
                        <a:t>現代英語との相違点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Yu Gothic"/>
                          <a:cs typeface="Yu Gothic"/>
                        </a:rPr>
                        <a:t>文法性、屈折変化有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Yu Gothic"/>
                          <a:cs typeface="Yu Gothic"/>
                        </a:rPr>
                        <a:t>活用変化有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2663237491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altLang="ja-JP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2. </a:t>
            </a:r>
            <a:r>
              <a:rPr kumimoji="0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  <a:sym typeface="Arial"/>
              </a:rPr>
              <a:t>言語と語族と習得難易度の関係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ドイツ語と日本語の比較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D3C259-E922-5FBB-C2D0-255875605F72}"/>
              </a:ext>
            </a:extLst>
          </p:cNvPr>
          <p:cNvSpPr/>
          <p:nvPr/>
        </p:nvSpPr>
        <p:spPr>
          <a:xfrm>
            <a:off x="862439" y="3225567"/>
            <a:ext cx="9149822" cy="583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896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altLang="ja-JP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2. </a:t>
            </a:r>
            <a:r>
              <a:rPr kumimoji="0" lang="ja-JP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  <a:sym typeface="Arial"/>
              </a:rPr>
              <a:t>言語と語族と習得難易度の関係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つまり</a:t>
            </a:r>
            <a:r>
              <a:rPr kumimoji="0" lang="en-US" altLang="ja-JP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…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ルーツが遠い言語ほど習得が難しい</a:t>
            </a:r>
            <a:endParaRPr kumimoji="0" lang="ja-JP" altLang="en-US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3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→ </a:t>
            </a:r>
            <a:r>
              <a:rPr kumimoji="0" lang="ja-JP" alt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日本語話者が英語学習に苦労するのはごく当たり前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09338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</a:t>
            </a:r>
            <a:r>
              <a:rPr lang="ja-JP" altLang="en-US" b="1" dirty="0">
                <a:latin typeface="Calibri (Headings)"/>
              </a:rPr>
              <a:t>現代英語の特質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</a:t>
            </a:r>
            <a:r>
              <a:rPr lang="ja-JP" altLang="en-US" b="1" dirty="0">
                <a:latin typeface="Calibri (Headings)"/>
              </a:rPr>
              <a:t>現代英語の特質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lang="ja-JP" altLang="en-US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つの長所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0B8BEA-76AB-AB4E-C7BF-4F8479D5C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413316"/>
              </p:ext>
            </p:extLst>
          </p:nvPr>
        </p:nvGraphicFramePr>
        <p:xfrm>
          <a:off x="819150" y="2263901"/>
          <a:ext cx="10403205" cy="3500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103">
                  <a:extLst>
                    <a:ext uri="{9D8B030D-6E8A-4147-A177-3AD203B41FA5}">
                      <a16:colId xmlns:a16="http://schemas.microsoft.com/office/drawing/2014/main" val="124115240"/>
                    </a:ext>
                  </a:extLst>
                </a:gridCol>
                <a:gridCol w="4781725">
                  <a:extLst>
                    <a:ext uri="{9D8B030D-6E8A-4147-A177-3AD203B41FA5}">
                      <a16:colId xmlns:a16="http://schemas.microsoft.com/office/drawing/2014/main" val="2619219974"/>
                    </a:ext>
                  </a:extLst>
                </a:gridCol>
                <a:gridCol w="3890377">
                  <a:extLst>
                    <a:ext uri="{9D8B030D-6E8A-4147-A177-3AD203B41FA5}">
                      <a16:colId xmlns:a16="http://schemas.microsoft.com/office/drawing/2014/main" val="26309946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特質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詳細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備考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641298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latin typeface="Yu Gothic"/>
                          <a:cs typeface="Yu Gothic"/>
                        </a:rPr>
                        <a:t>豊富な外来語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5" dirty="0">
                          <a:latin typeface="Yu Gothic"/>
                          <a:cs typeface="Yu Gothic"/>
                        </a:rPr>
                        <a:t>世界中の言語からの借用語は、豊かな表現力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5" dirty="0">
                          <a:latin typeface="Yu Gothic"/>
                          <a:cs typeface="Yu Gothic"/>
                        </a:rPr>
                        <a:t>と外国人学習者への親近感を与える。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92075" marR="143510" algn="just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40" dirty="0">
                          <a:latin typeface="Yu Gothic"/>
                          <a:cs typeface="Yu Gothic"/>
                        </a:rPr>
                        <a:t>フランス語由来の語彙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+ </a:t>
                      </a:r>
                      <a:r>
                        <a:rPr sz="1800" spc="-10" dirty="0">
                          <a:latin typeface="Yu Gothic"/>
                          <a:cs typeface="Yu Gothic"/>
                        </a:rPr>
                        <a:t>ラテン語由</a:t>
                      </a:r>
                      <a:r>
                        <a:rPr sz="1800" spc="-25" dirty="0">
                          <a:latin typeface="Yu Gothic"/>
                          <a:cs typeface="Yu Gothic"/>
                        </a:rPr>
                        <a:t>来の語彙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 </a:t>
                      </a:r>
                      <a:r>
                        <a:rPr sz="1800" spc="-10" dirty="0">
                          <a:latin typeface="Yu Gothic"/>
                          <a:cs typeface="Yu Gothic"/>
                        </a:rPr>
                        <a:t>英語の語彙全体の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50%</a:t>
                      </a:r>
                      <a:r>
                        <a:rPr sz="1800" spc="-50" dirty="0">
                          <a:latin typeface="Yu Gothic"/>
                          <a:cs typeface="Yu Gothic"/>
                        </a:rPr>
                        <a:t>以上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305" marB="0"/>
                </a:tc>
                <a:extLst>
                  <a:ext uri="{0D108BD9-81ED-4DB2-BD59-A6C34878D82A}">
                    <a16:rowId xmlns:a16="http://schemas.microsoft.com/office/drawing/2014/main" val="3764308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spc="-10" dirty="0">
                          <a:latin typeface="Yu Gothic"/>
                          <a:cs typeface="Yu Gothic"/>
                        </a:rPr>
                        <a:t>文法性の消失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155"/>
                        </a:lnSpc>
                        <a:spcBef>
                          <a:spcPts val="285"/>
                        </a:spcBef>
                      </a:pPr>
                      <a:r>
                        <a:rPr sz="1800" b="1" spc="-20" dirty="0">
                          <a:latin typeface="Yu Gothic"/>
                          <a:cs typeface="Yu Gothic"/>
                        </a:rPr>
                        <a:t>自然性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91440" marR="106680">
                        <a:lnSpc>
                          <a:spcPts val="2160"/>
                        </a:lnSpc>
                        <a:spcBef>
                          <a:spcPts val="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→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man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は男性名詞、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girl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Yu Gothic"/>
                          <a:cs typeface="Yu Gothic"/>
                        </a:rPr>
                        <a:t>は女性名詞、その他</a:t>
                      </a:r>
                      <a:r>
                        <a:rPr sz="1800" spc="-5" dirty="0">
                          <a:latin typeface="Yu Gothic"/>
                          <a:cs typeface="Yu Gothic"/>
                        </a:rPr>
                        <a:t>は全て中性名詞といった具合に、文法性は名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91440">
                        <a:lnSpc>
                          <a:spcPts val="2090"/>
                        </a:lnSpc>
                      </a:pPr>
                      <a:r>
                        <a:rPr sz="1800" spc="30" dirty="0">
                          <a:latin typeface="Yu Gothic"/>
                          <a:cs typeface="Yu Gothic"/>
                        </a:rPr>
                        <a:t>詞そのものの性に一致。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Yu Gothic"/>
                          <a:cs typeface="Yu Gothic"/>
                        </a:rPr>
                        <a:t>ドイツ語は文法性である。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【男性名詞】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sunne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(sun)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【女性名詞】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mond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(moon)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【中性名詞】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weib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(wife)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225461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latin typeface="Yu Gothic"/>
                          <a:cs typeface="Yu Gothic"/>
                        </a:rPr>
                        <a:t>屈折の単純化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L="91440" marR="1060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印欧祖語では</a:t>
                      </a:r>
                      <a:r>
                        <a:rPr sz="1800" b="1" dirty="0">
                          <a:latin typeface="Yu Gothic"/>
                          <a:cs typeface="Yu Gothic"/>
                        </a:rPr>
                        <a:t>主格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、</a:t>
                      </a:r>
                      <a:r>
                        <a:rPr sz="1800" b="1" dirty="0">
                          <a:latin typeface="Yu Gothic"/>
                          <a:cs typeface="Yu Gothic"/>
                        </a:rPr>
                        <a:t>属格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、</a:t>
                      </a:r>
                      <a:r>
                        <a:rPr sz="1800" b="1" dirty="0">
                          <a:latin typeface="Yu Gothic"/>
                          <a:cs typeface="Yu Gothic"/>
                        </a:rPr>
                        <a:t>与格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、</a:t>
                      </a:r>
                      <a:r>
                        <a:rPr sz="1800" b="1" dirty="0">
                          <a:latin typeface="Yu Gothic"/>
                          <a:cs typeface="Yu Gothic"/>
                        </a:rPr>
                        <a:t>対格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、</a:t>
                      </a:r>
                      <a:r>
                        <a:rPr sz="1800" b="1" spc="-25" dirty="0">
                          <a:latin typeface="Yu Gothic"/>
                          <a:cs typeface="Yu Gothic"/>
                        </a:rPr>
                        <a:t>奪格</a:t>
                      </a:r>
                      <a:r>
                        <a:rPr sz="1800" b="1" dirty="0">
                          <a:latin typeface="Yu Gothic"/>
                          <a:cs typeface="Yu Gothic"/>
                        </a:rPr>
                        <a:t>位格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、</a:t>
                      </a:r>
                      <a:r>
                        <a:rPr sz="1800" b="1" dirty="0">
                          <a:latin typeface="Yu Gothic"/>
                          <a:cs typeface="Yu Gothic"/>
                        </a:rPr>
                        <a:t>具格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、</a:t>
                      </a:r>
                      <a:r>
                        <a:rPr sz="1800" b="1" dirty="0">
                          <a:latin typeface="Yu Gothic"/>
                          <a:cs typeface="Yu Gothic"/>
                        </a:rPr>
                        <a:t>呼格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の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1800" spc="-25" dirty="0">
                          <a:latin typeface="Yu Gothic"/>
                          <a:cs typeface="Yu Gothic"/>
                        </a:rPr>
                        <a:t>つ。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現代英語では</a:t>
                      </a:r>
                      <a:r>
                        <a:rPr sz="1800" b="1" dirty="0">
                          <a:latin typeface="Yu Gothic"/>
                          <a:cs typeface="Yu Gothic"/>
                        </a:rPr>
                        <a:t>主格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、</a:t>
                      </a:r>
                      <a:r>
                        <a:rPr sz="1800" b="1" dirty="0">
                          <a:latin typeface="Yu Gothic"/>
                          <a:cs typeface="Yu Gothic"/>
                        </a:rPr>
                        <a:t>所有格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の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10" dirty="0">
                          <a:latin typeface="Yu Gothic"/>
                          <a:cs typeface="Yu Gothic"/>
                        </a:rPr>
                        <a:t>つを区別。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Yu Gothic"/>
                          <a:cs typeface="Yu Gothic"/>
                        </a:rPr>
                        <a:t>フィンランド語は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14</a:t>
                      </a:r>
                      <a:r>
                        <a:rPr sz="1800" spc="-20" dirty="0">
                          <a:latin typeface="Yu Gothic"/>
                          <a:cs typeface="Yu Gothic"/>
                        </a:rPr>
                        <a:t>の格を持つ。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92075" marR="118110" indent="-2063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40" dirty="0">
                          <a:latin typeface="Yu Gothic"/>
                          <a:cs typeface="Yu Gothic"/>
                        </a:rPr>
                        <a:t>、現代英語の所有格を表す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's</a:t>
                      </a:r>
                      <a:r>
                        <a:rPr sz="1800" i="1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Yu Gothic"/>
                          <a:cs typeface="Yu Gothic"/>
                        </a:rPr>
                        <a:t>は、印欧祖語の属格語尾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-es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-is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Yu Gothic"/>
                          <a:cs typeface="Yu Gothic"/>
                        </a:rPr>
                        <a:t>の名残。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13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世紀後半以降は「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+ </a:t>
                      </a:r>
                      <a:r>
                        <a:rPr sz="1800" spc="-10" dirty="0">
                          <a:latin typeface="Yu Gothic"/>
                          <a:cs typeface="Yu Gothic"/>
                        </a:rPr>
                        <a:t>名詞」が優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15" dirty="0">
                          <a:latin typeface="Yu Gothic"/>
                          <a:cs typeface="Yu Gothic"/>
                        </a:rPr>
                        <a:t>勢だが、今日に至るまで共存。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41458515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86216B8-1CE1-7A5F-FC34-6142B0E1A807}"/>
              </a:ext>
            </a:extLst>
          </p:cNvPr>
          <p:cNvSpPr/>
          <p:nvPr/>
        </p:nvSpPr>
        <p:spPr>
          <a:xfrm>
            <a:off x="834870" y="2628840"/>
            <a:ext cx="10371764" cy="8472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2870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</a:t>
            </a:r>
            <a:r>
              <a:rPr lang="ja-JP" altLang="en-US" b="1" dirty="0">
                <a:latin typeface="Calibri (Headings)"/>
              </a:rPr>
              <a:t>現代英語の特質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lang="ja-JP" altLang="en-US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つの短所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E861539-6EDF-84A0-2667-8088A4984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551300"/>
              </p:ext>
            </p:extLst>
          </p:nvPr>
        </p:nvGraphicFramePr>
        <p:xfrm>
          <a:off x="823341" y="2281973"/>
          <a:ext cx="10504167" cy="2921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2747">
                  <a:extLst>
                    <a:ext uri="{9D8B030D-6E8A-4147-A177-3AD203B41FA5}">
                      <a16:colId xmlns:a16="http://schemas.microsoft.com/office/drawing/2014/main" val="3521871628"/>
                    </a:ext>
                  </a:extLst>
                </a:gridCol>
                <a:gridCol w="3422708">
                  <a:extLst>
                    <a:ext uri="{9D8B030D-6E8A-4147-A177-3AD203B41FA5}">
                      <a16:colId xmlns:a16="http://schemas.microsoft.com/office/drawing/2014/main" val="3460733484"/>
                    </a:ext>
                  </a:extLst>
                </a:gridCol>
                <a:gridCol w="5228712">
                  <a:extLst>
                    <a:ext uri="{9D8B030D-6E8A-4147-A177-3AD203B41FA5}">
                      <a16:colId xmlns:a16="http://schemas.microsoft.com/office/drawing/2014/main" val="3749532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特質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詳細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92075" marR="1035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備考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192556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 marR="151130">
                        <a:lnSpc>
                          <a:spcPct val="1006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Yu Gothic"/>
                          <a:cs typeface="Yu Gothic"/>
                        </a:rPr>
                        <a:t>綴り字と発音の</a:t>
                      </a:r>
                      <a:r>
                        <a:rPr sz="1800" b="1" spc="-25" dirty="0">
                          <a:latin typeface="Yu Gothic"/>
                          <a:cs typeface="Yu Gothic"/>
                        </a:rPr>
                        <a:t>乖離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91440" marR="1308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Yu Gothic"/>
                          <a:cs typeface="Yu Gothic"/>
                        </a:rPr>
                        <a:t>綴り字から正確な発音の推測が</a:t>
                      </a:r>
                      <a:r>
                        <a:rPr sz="1800" spc="-20" dirty="0">
                          <a:latin typeface="Yu Gothic"/>
                          <a:cs typeface="Yu Gothic"/>
                        </a:rPr>
                        <a:t>困難。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e.g.,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archive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,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bouquet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draught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indict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ghoti</a:t>
                      </a:r>
                      <a:r>
                        <a:rPr sz="1800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Yu Gothic"/>
                          <a:cs typeface="Yu Gothic"/>
                        </a:rPr>
                        <a:t>と綴って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/fɪʃ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/ </a:t>
                      </a:r>
                      <a:r>
                        <a:rPr sz="1800" spc="-5" dirty="0">
                          <a:latin typeface="Yu Gothic"/>
                          <a:cs typeface="Yu Gothic"/>
                        </a:rPr>
                        <a:t>と発音するという揶揄もある。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78460" marR="10350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gh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latin typeface="Yu Gothic"/>
                          <a:cs typeface="Yu Gothic"/>
                        </a:rPr>
                        <a:t>は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enou</a:t>
                      </a:r>
                      <a:r>
                        <a:rPr sz="18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gh</a:t>
                      </a:r>
                      <a:r>
                        <a:rPr sz="1800" i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Yu Gothic"/>
                          <a:cs typeface="Yu Gothic"/>
                        </a:rPr>
                        <a:t>の無声音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378460" marR="10350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0" dirty="0">
                          <a:latin typeface="Yu Gothic"/>
                          <a:cs typeface="Yu Gothic"/>
                        </a:rPr>
                        <a:t>は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o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men</a:t>
                      </a:r>
                      <a:r>
                        <a:rPr sz="1800" i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420" dirty="0">
                          <a:latin typeface="Yu Gothic"/>
                          <a:cs typeface="Yu Gothic"/>
                        </a:rPr>
                        <a:t>の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i-mutaion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8460" marR="10350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ti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65" dirty="0">
                          <a:latin typeface="Yu Gothic"/>
                          <a:cs typeface="Yu Gothic"/>
                        </a:rPr>
                        <a:t>は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sta</a:t>
                      </a:r>
                      <a:r>
                        <a:rPr sz="18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ti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Yu Gothic"/>
                          <a:cs typeface="Yu Gothic"/>
                        </a:rPr>
                        <a:t>の無声音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40640" marB="0"/>
                </a:tc>
                <a:extLst>
                  <a:ext uri="{0D108BD9-81ED-4DB2-BD59-A6C34878D82A}">
                    <a16:rowId xmlns:a16="http://schemas.microsoft.com/office/drawing/2014/main" val="4163844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b="1" spc="-10" dirty="0">
                          <a:latin typeface="Yu Gothic"/>
                          <a:cs typeface="Yu Gothic"/>
                        </a:rPr>
                        <a:t>慣用表現の多さ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91440" marR="1308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latin typeface="Yu Gothic"/>
                          <a:cs typeface="Yu Gothic"/>
                        </a:rPr>
                        <a:t>屈折の消失で前置詞が発達。</a:t>
                      </a:r>
                      <a:r>
                        <a:rPr sz="1800" spc="-50" dirty="0">
                          <a:latin typeface="Yu Gothic"/>
                          <a:cs typeface="Yu Gothic"/>
                        </a:rPr>
                        <a:t> </a:t>
                      </a:r>
                      <a:r>
                        <a:rPr sz="1800" spc="-5" dirty="0">
                          <a:latin typeface="Yu Gothic"/>
                          <a:cs typeface="Yu Gothic"/>
                        </a:rPr>
                        <a:t>その結果、前置詞や副詞を用いた慣用表現が多く誕生。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marL="91440" marR="13081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Yu Gothic"/>
                          <a:cs typeface="Yu Gothic"/>
                        </a:rPr>
                        <a:t>文法的な説明が難しいものも多く、克服には暗記が不可欠。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L="378460" marR="264160" indent="-287020" algn="just">
                        <a:lnSpc>
                          <a:spcPct val="100000"/>
                        </a:lnSpc>
                        <a:spcBef>
                          <a:spcPts val="32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5" dirty="0">
                          <a:latin typeface="Yu Gothic"/>
                          <a:cs typeface="Yu Gothic"/>
                        </a:rPr>
                        <a:t>古英語は、屈折の語形変化により語順に柔軟だったが、それを喪失した現代英語は語順が非常に重要な意味を持つ。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  <a:p>
                      <a:pPr marL="378460" marR="365760" indent="-287020" algn="just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e.g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.,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"A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dog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bit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." </a:t>
                      </a:r>
                      <a:r>
                        <a:rPr sz="1800" spc="420" dirty="0">
                          <a:latin typeface="Yu Gothic"/>
                          <a:cs typeface="Yu Gothic"/>
                        </a:rPr>
                        <a:t>と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"A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bit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dog." </a:t>
                      </a:r>
                      <a:r>
                        <a:rPr sz="1800" spc="-50" dirty="0">
                          <a:latin typeface="Yu Gothic"/>
                          <a:cs typeface="Yu Gothic"/>
                        </a:rPr>
                        <a:t>で</a:t>
                      </a:r>
                      <a:r>
                        <a:rPr sz="1800" spc="-5" dirty="0">
                          <a:latin typeface="Yu Gothic"/>
                          <a:cs typeface="Yu Gothic"/>
                        </a:rPr>
                        <a:t>は「噛みつく」動作の主客が真逆になる。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225185763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600DE6C-342D-5608-0648-1496922021F0}"/>
              </a:ext>
            </a:extLst>
          </p:cNvPr>
          <p:cNvSpPr/>
          <p:nvPr/>
        </p:nvSpPr>
        <p:spPr>
          <a:xfrm>
            <a:off x="838200" y="2650921"/>
            <a:ext cx="10457576" cy="11450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1181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</a:t>
            </a:r>
            <a:r>
              <a:rPr lang="ja-JP" altLang="en-US" b="1" dirty="0">
                <a:latin typeface="Calibri (Headings)"/>
              </a:rPr>
              <a:t>現代英語の特質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その他の特徴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9593663-E621-1924-2FD0-6D5C02609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156632"/>
              </p:ext>
            </p:extLst>
          </p:nvPr>
        </p:nvGraphicFramePr>
        <p:xfrm>
          <a:off x="838613" y="2282063"/>
          <a:ext cx="9496424" cy="3703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70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項目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値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spc="-10" dirty="0">
                          <a:latin typeface="Yu Gothic"/>
                          <a:cs typeface="Yu Gothic"/>
                        </a:rPr>
                        <a:t>母語話者数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約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800" spc="-25" dirty="0">
                          <a:latin typeface="Yu Gothic"/>
                          <a:cs typeface="Yu Gothic"/>
                        </a:rPr>
                        <a:t>億人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Yu Gothic"/>
                          <a:cs typeface="Yu Gothic"/>
                        </a:rPr>
                        <a:t>第二言語、外国語として話すものを含めた英語話者数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約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sz="1800" spc="-25" dirty="0">
                          <a:latin typeface="Yu Gothic"/>
                          <a:cs typeface="Yu Gothic"/>
                        </a:rPr>
                        <a:t>億人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Yu Gothic"/>
                          <a:cs typeface="Yu Gothic"/>
                        </a:rPr>
                        <a:t>英語が主要な言語の国々や地域の数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約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30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Yu Gothic"/>
                          <a:cs typeface="Yu Gothic"/>
                        </a:rPr>
                        <a:t>郵便における英語のシェア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約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75%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Yu Gothic"/>
                          <a:cs typeface="Yu Gothic"/>
                        </a:rPr>
                        <a:t>技術分野での英語のシェア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約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80%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Oxford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Dictionary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5" dirty="0">
                          <a:latin typeface="Yu Gothic"/>
                          <a:cs typeface="Yu Gothic"/>
                        </a:rPr>
                        <a:t>に掲載されている英単語の数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Yu Gothic"/>
                          <a:cs typeface="Yu Gothic"/>
                        </a:rPr>
                        <a:t>約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500,000</a:t>
                      </a:r>
                      <a:r>
                        <a:rPr sz="1800" spc="-50" dirty="0">
                          <a:latin typeface="Yu Gothic"/>
                          <a:cs typeface="Yu Gothic"/>
                        </a:rPr>
                        <a:t>語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5" dirty="0">
                          <a:latin typeface="Yu Gothic"/>
                          <a:cs typeface="Yu Gothic"/>
                        </a:rPr>
                        <a:t>借用語の元となる言語の数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Yu Gothic"/>
                          <a:cs typeface="Yu Gothic"/>
                        </a:rPr>
                        <a:t>約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350</a:t>
                      </a:r>
                      <a:r>
                        <a:rPr sz="1800" spc="-30" dirty="0">
                          <a:latin typeface="Yu Gothic"/>
                          <a:cs typeface="Yu Gothic"/>
                        </a:rPr>
                        <a:t>言語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Yu Gothic"/>
                          <a:cs typeface="Yu Gothic"/>
                        </a:rPr>
                        <a:t>英語の語彙においてラテン語、フランスが占める割合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50%</a:t>
                      </a:r>
                      <a:r>
                        <a:rPr sz="1800" spc="-25" dirty="0">
                          <a:latin typeface="Yu Gothic"/>
                          <a:cs typeface="Yu Gothic"/>
                        </a:rPr>
                        <a:t>以上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Yu Gothic"/>
                          <a:cs typeface="Yu Gothic"/>
                        </a:rPr>
                        <a:t>英語の歴史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約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1500</a:t>
                      </a:r>
                      <a:r>
                        <a:rPr sz="1800" spc="-50" dirty="0">
                          <a:latin typeface="Yu Gothic"/>
                          <a:cs typeface="Yu Gothic"/>
                        </a:rPr>
                        <a:t>年</a:t>
                      </a:r>
                      <a:endParaRPr sz="1800" dirty="0">
                        <a:latin typeface="Yu Gothic"/>
                        <a:cs typeface="Yu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818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</a:t>
            </a:r>
            <a:r>
              <a:rPr lang="ja-JP" altLang="en-US" b="1" dirty="0">
                <a:latin typeface="Calibri (Headings)"/>
              </a:rPr>
              <a:t>まとめ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6303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</a:t>
            </a:r>
            <a:r>
              <a:rPr lang="ja-JP" altLang="en-US" b="1" dirty="0">
                <a:latin typeface="Calibri (Headings)"/>
              </a:rPr>
              <a:t>まとめ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9EE58D-D452-4512-F877-040E586E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74015" marR="0" lvl="0" indent="-361315" defTabSz="914400" eaLnBrk="1" fontAlgn="auto" latinLnBrk="0" hangingPunct="1">
              <a:lnSpc>
                <a:spcPts val="334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英語には</a:t>
            </a:r>
            <a:r>
              <a:rPr kumimoji="0" lang="en-US" altLang="ja-JP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  <a:r>
              <a:rPr kumimoji="0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つの時代区分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がある。</a:t>
            </a:r>
          </a:p>
          <a:p>
            <a:pPr marL="374015" marR="0" lvl="0" indent="-361315" defTabSz="914400" eaLnBrk="1" fontAlgn="auto" latinLnBrk="0" hangingPunct="1">
              <a:lnSpc>
                <a:spcPts val="334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英語と日本語は</a:t>
            </a:r>
            <a:r>
              <a:rPr kumimoji="0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全く異なるルーツ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を持つ。</a:t>
            </a:r>
          </a:p>
          <a:p>
            <a:pPr marL="374015" marR="0" lvl="0" indent="-361315" defTabSz="914400" eaLnBrk="1" fontAlgn="auto" latinLnBrk="0" hangingPunct="1">
              <a:lnSpc>
                <a:spcPts val="334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現代英語は</a:t>
            </a:r>
            <a:r>
              <a:rPr kumimoji="0" lang="en-US" altLang="ja-JP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つの長所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と</a:t>
            </a:r>
            <a:r>
              <a:rPr kumimoji="0" lang="en-US" altLang="ja-JP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つの短所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がある。</a:t>
            </a:r>
          </a:p>
        </p:txBody>
      </p:sp>
    </p:spTree>
    <p:extLst>
      <p:ext uri="{BB962C8B-B14F-4D97-AF65-F5344CB8AC3E}">
        <p14:creationId xmlns:p14="http://schemas.microsoft.com/office/powerpoint/2010/main" val="36980407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</a:t>
            </a:r>
            <a:r>
              <a:rPr lang="ja-JP" altLang="en-US" b="1" dirty="0">
                <a:latin typeface="Calibri (Headings)"/>
              </a:rPr>
              <a:t>参考文献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5164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</a:t>
            </a:r>
            <a:r>
              <a:rPr lang="ja-JP" altLang="en-US" b="1" dirty="0">
                <a:latin typeface="Calibri (Headings)"/>
              </a:rPr>
              <a:t>参考文献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79400" marR="702945" lvl="0" indent="-267335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Albert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C.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Baugh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Thomas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Cable,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HISTORY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LANGAUGE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sixth 	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edition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London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York,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Routeledge,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2013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405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ja-JP" alt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菊池清明・唐沢一友・堀田隆一・貝塚泰幸、</a:t>
            </a:r>
            <a:r>
              <a:rPr kumimoji="0" lang="en-US" altLang="ja-JP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『</a:t>
            </a:r>
            <a:r>
              <a:rPr kumimoji="0" lang="ja-JP" alt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英語史：現代英語の特質を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求めて</a:t>
            </a:r>
            <a:r>
              <a:rPr kumimoji="0" lang="en-US" altLang="ja-JP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多文化性と国際性</a:t>
            </a:r>
            <a:r>
              <a:rPr kumimoji="0" lang="en-US" altLang="ja-JP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』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、大阪府、関西人文科学出版会、</a:t>
            </a:r>
            <a:r>
              <a:rPr kumimoji="0" lang="en-US" altLang="ja-JP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2009</a:t>
            </a:r>
            <a:r>
              <a:rPr kumimoji="0" lang="ja-JP" altLang="en-US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年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79400" marR="5080" lvl="0" indent="-267335" defTabSz="914400" eaLnBrk="1" fontAlgn="auto" latinLnBrk="0" hangingPunct="1">
              <a:lnSpc>
                <a:spcPct val="90000"/>
              </a:lnSpc>
              <a:spcBef>
                <a:spcPts val="14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ja-JP" alt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菊池清明・唐沢一友・小池剛史・堀田隆一・福田一貴・貝塚泰幸・松崎武	</a:t>
            </a:r>
            <a:r>
              <a:rPr kumimoji="0" lang="ja-JP" alt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志、</a:t>
            </a:r>
            <a:r>
              <a:rPr kumimoji="0" lang="en-US" altLang="ja-JP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『</a:t>
            </a:r>
            <a:r>
              <a:rPr kumimoji="0" lang="ja-JP" altLang="en-US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英語学：現代英語をより深く知るために</a:t>
            </a:r>
            <a:r>
              <a:rPr kumimoji="0" lang="en-US" altLang="ja-JP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ja-JP" altLang="en-US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現代英語の諸相と英語学	</a:t>
            </a:r>
            <a:r>
              <a:rPr kumimoji="0" lang="ja-JP" alt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術語解説</a:t>
            </a:r>
            <a:r>
              <a:rPr kumimoji="0" lang="en-US" altLang="ja-JP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』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、大阪府、浪漫書房、</a:t>
            </a:r>
            <a:r>
              <a:rPr kumimoji="0" lang="en-US" altLang="ja-JP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2008</a:t>
            </a:r>
            <a:r>
              <a:rPr kumimoji="0" lang="ja-JP" altLang="en-US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年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035" marR="0" lvl="0" indent="-267335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ja-JP" alt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唐沢一友、</a:t>
            </a:r>
            <a:r>
              <a:rPr kumimoji="0" lang="en-US" altLang="ja-JP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『</a:t>
            </a:r>
            <a:r>
              <a:rPr kumimoji="0" lang="ja-JP" alt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英語のルーツ</a:t>
            </a:r>
            <a:r>
              <a:rPr kumimoji="0" lang="en-US" altLang="ja-JP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』</a:t>
            </a:r>
            <a:r>
              <a:rPr kumimoji="0" lang="ja-JP" altLang="en-US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、神奈川県、春風社、</a:t>
            </a:r>
            <a:r>
              <a:rPr kumimoji="0" lang="en-US" altLang="ja-JP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2011</a:t>
            </a:r>
            <a:r>
              <a:rPr kumimoji="0" lang="ja-JP" altLang="en-US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年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876775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2180</Words>
  <Application>Microsoft Office PowerPoint</Application>
  <PresentationFormat>Widescreen</PresentationFormat>
  <Paragraphs>321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-apple-system</vt:lpstr>
      <vt:lpstr>Arial MT</vt:lpstr>
      <vt:lpstr>Calibri (Headings)</vt:lpstr>
      <vt:lpstr>MS Gothic</vt:lpstr>
      <vt:lpstr>Yu Gothic</vt:lpstr>
      <vt:lpstr>Arial</vt:lpstr>
      <vt:lpstr>Calibri</vt:lpstr>
      <vt:lpstr>Calibri Light</vt:lpstr>
      <vt:lpstr>Office テーマ</vt:lpstr>
      <vt:lpstr>現代英語を知ろう</vt:lpstr>
      <vt:lpstr>自己紹介</vt:lpstr>
      <vt:lpstr>免許 / 資格</vt:lpstr>
      <vt:lpstr>スキルスタック</vt:lpstr>
      <vt:lpstr>職歴</vt:lpstr>
      <vt:lpstr>職歴</vt:lpstr>
      <vt:lpstr>国際交流活動</vt:lpstr>
      <vt:lpstr>このシリーズのコンセプト</vt:lpstr>
      <vt:lpstr>目次</vt:lpstr>
      <vt:lpstr>1. 英語の時代区別</vt:lpstr>
      <vt:lpstr>1. 英語の時代区別</vt:lpstr>
      <vt:lpstr>1. 英語の時代区別</vt:lpstr>
      <vt:lpstr>2. 言語と語族と習得難易度の関係</vt:lpstr>
      <vt:lpstr>2. 言語と語族と習得難易度の関係</vt:lpstr>
      <vt:lpstr>2. 言語と語族と習得難易度の関係</vt:lpstr>
      <vt:lpstr>2. 言語と語族と習得難易度の関係</vt:lpstr>
      <vt:lpstr>2. 言語と語族と習得難易度の関係</vt:lpstr>
      <vt:lpstr>2. 言語と語族と習得難易度の関係</vt:lpstr>
      <vt:lpstr>2. 言語と語族と習得難易度の関係</vt:lpstr>
      <vt:lpstr>2. 言語と語族と習得難易度の関係</vt:lpstr>
      <vt:lpstr>3. 現代英語の特質</vt:lpstr>
      <vt:lpstr>3. 現代英語の特質</vt:lpstr>
      <vt:lpstr>3. 現代英語の特質</vt:lpstr>
      <vt:lpstr>3. 現代英語の特質</vt:lpstr>
      <vt:lpstr>4. まとめ</vt:lpstr>
      <vt:lpstr>4. まとめ</vt:lpstr>
      <vt:lpstr>5. 参考文献</vt:lpstr>
      <vt:lpstr>5. 参考文献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30</cp:revision>
  <dcterms:modified xsi:type="dcterms:W3CDTF">2025-09-01T03:24:57Z</dcterms:modified>
</cp:coreProperties>
</file>