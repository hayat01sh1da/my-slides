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87" r:id="rId3"/>
    <p:sldId id="388" r:id="rId4"/>
    <p:sldId id="416" r:id="rId5"/>
    <p:sldId id="418" r:id="rId6"/>
    <p:sldId id="417" r:id="rId7"/>
    <p:sldId id="387" r:id="rId8"/>
    <p:sldId id="286" r:id="rId9"/>
    <p:sldId id="280" r:id="rId10"/>
    <p:sldId id="311" r:id="rId11"/>
    <p:sldId id="259" r:id="rId12"/>
    <p:sldId id="330" r:id="rId13"/>
    <p:sldId id="408" r:id="rId14"/>
    <p:sldId id="409" r:id="rId15"/>
    <p:sldId id="325" r:id="rId16"/>
    <p:sldId id="354" r:id="rId17"/>
    <p:sldId id="410" r:id="rId18"/>
    <p:sldId id="413" r:id="rId19"/>
    <p:sldId id="412" r:id="rId20"/>
    <p:sldId id="326" r:id="rId21"/>
    <p:sldId id="336" r:id="rId22"/>
    <p:sldId id="414" r:id="rId23"/>
    <p:sldId id="415" r:id="rId24"/>
    <p:sldId id="357" r:id="rId25"/>
    <p:sldId id="358" r:id="rId26"/>
    <p:sldId id="411" r:id="rId27"/>
    <p:sldId id="385" r:id="rId28"/>
    <p:sldId id="386" r:id="rId29"/>
    <p:sldId id="328" r:id="rId30"/>
    <p:sldId id="295" r:id="rId31"/>
    <p:sldId id="28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石田 隼人" initials="石田" lastIdx="1" clrIdx="0">
    <p:extLst>
      <p:ext uri="{19B8F6BF-5375-455C-9EA6-DF929625EA0E}">
        <p15:presenceInfo xmlns:p15="http://schemas.microsoft.com/office/powerpoint/2012/main" userId="石田 隼人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42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ato Ishida" userId="585fa0fa6384767c" providerId="LiveId" clId="{317129C1-CB3C-4B6B-BAF3-92C786C7F87E}"/>
    <pc:docChg chg="custSel addSld modSld sldOrd">
      <pc:chgData name="Hayato Ishida" userId="585fa0fa6384767c" providerId="LiveId" clId="{317129C1-CB3C-4B6B-BAF3-92C786C7F87E}" dt="2025-09-01T03:28:28.659" v="13"/>
      <pc:docMkLst>
        <pc:docMk/>
      </pc:docMkLst>
      <pc:sldChg chg="addSp delSp modSp mod">
        <pc:chgData name="Hayato Ishida" userId="585fa0fa6384767c" providerId="LiveId" clId="{317129C1-CB3C-4B6B-BAF3-92C786C7F87E}" dt="2025-08-31T18:03:00.370" v="7"/>
        <pc:sldMkLst>
          <pc:docMk/>
          <pc:sldMk cId="654251065" sldId="287"/>
        </pc:sldMkLst>
        <pc:spChg chg="add del mod">
          <ac:chgData name="Hayato Ishida" userId="585fa0fa6384767c" providerId="LiveId" clId="{317129C1-CB3C-4B6B-BAF3-92C786C7F87E}" dt="2025-08-31T17:57:59.466" v="1" actId="478"/>
          <ac:spMkLst>
            <pc:docMk/>
            <pc:sldMk cId="654251065" sldId="287"/>
            <ac:spMk id="4" creationId="{FEA73F5C-9AC5-41B6-083B-EAFDD04D4B0D}"/>
          </ac:spMkLst>
        </pc:spChg>
        <pc:spChg chg="add del mod">
          <ac:chgData name="Hayato Ishida" userId="585fa0fa6384767c" providerId="LiveId" clId="{317129C1-CB3C-4B6B-BAF3-92C786C7F87E}" dt="2025-08-31T17:57:59.466" v="1" actId="478"/>
          <ac:spMkLst>
            <pc:docMk/>
            <pc:sldMk cId="654251065" sldId="287"/>
            <ac:spMk id="6" creationId="{80B0B0AD-0343-8095-DEB5-6640341A03AD}"/>
          </ac:spMkLst>
        </pc:spChg>
        <pc:spChg chg="add mod">
          <ac:chgData name="Hayato Ishida" userId="585fa0fa6384767c" providerId="LiveId" clId="{317129C1-CB3C-4B6B-BAF3-92C786C7F87E}" dt="2025-08-31T18:03:00.370" v="7"/>
          <ac:spMkLst>
            <pc:docMk/>
            <pc:sldMk cId="654251065" sldId="287"/>
            <ac:spMk id="7" creationId="{A7021228-5BEC-2F7B-5C85-ED79D8517EEE}"/>
          </ac:spMkLst>
        </pc:spChg>
        <pc:spChg chg="add mod">
          <ac:chgData name="Hayato Ishida" userId="585fa0fa6384767c" providerId="LiveId" clId="{317129C1-CB3C-4B6B-BAF3-92C786C7F87E}" dt="2025-08-31T18:03:00.370" v="7"/>
          <ac:spMkLst>
            <pc:docMk/>
            <pc:sldMk cId="654251065" sldId="287"/>
            <ac:spMk id="8" creationId="{10591481-E4CD-0BF3-4CCC-CE2CA115B21E}"/>
          </ac:spMkLst>
        </pc:spChg>
        <pc:spChg chg="del">
          <ac:chgData name="Hayato Ishida" userId="585fa0fa6384767c" providerId="LiveId" clId="{317129C1-CB3C-4B6B-BAF3-92C786C7F87E}" dt="2025-08-31T17:57:58.902" v="0" actId="478"/>
          <ac:spMkLst>
            <pc:docMk/>
            <pc:sldMk cId="654251065" sldId="287"/>
            <ac:spMk id="9" creationId="{65AC57A9-3E9C-B3B6-1F9E-CBA041CF6C26}"/>
          </ac:spMkLst>
        </pc:spChg>
        <pc:spChg chg="del">
          <ac:chgData name="Hayato Ishida" userId="585fa0fa6384767c" providerId="LiveId" clId="{317129C1-CB3C-4B6B-BAF3-92C786C7F87E}" dt="2025-08-31T17:57:58.902" v="0" actId="478"/>
          <ac:spMkLst>
            <pc:docMk/>
            <pc:sldMk cId="654251065" sldId="287"/>
            <ac:spMk id="10" creationId="{BDBAD55D-F384-F6B4-58D7-04625A666B35}"/>
          </ac:spMkLst>
        </pc:spChg>
        <pc:spChg chg="del">
          <ac:chgData name="Hayato Ishida" userId="585fa0fa6384767c" providerId="LiveId" clId="{317129C1-CB3C-4B6B-BAF3-92C786C7F87E}" dt="2025-08-31T17:57:58.902" v="0" actId="478"/>
          <ac:spMkLst>
            <pc:docMk/>
            <pc:sldMk cId="654251065" sldId="287"/>
            <ac:spMk id="11" creationId="{9B4C969F-0FB3-E383-CF1B-1353B1CE8F1D}"/>
          </ac:spMkLst>
        </pc:spChg>
        <pc:spChg chg="add mod">
          <ac:chgData name="Hayato Ishida" userId="585fa0fa6384767c" providerId="LiveId" clId="{317129C1-CB3C-4B6B-BAF3-92C786C7F87E}" dt="2025-08-31T18:03:00.370" v="7"/>
          <ac:spMkLst>
            <pc:docMk/>
            <pc:sldMk cId="654251065" sldId="287"/>
            <ac:spMk id="12" creationId="{380ED74E-6B24-6DE6-5115-2AFD09572DE5}"/>
          </ac:spMkLst>
        </pc:spChg>
        <pc:picChg chg="del">
          <ac:chgData name="Hayato Ishida" userId="585fa0fa6384767c" providerId="LiveId" clId="{317129C1-CB3C-4B6B-BAF3-92C786C7F87E}" dt="2025-08-31T17:57:58.902" v="0" actId="478"/>
          <ac:picMkLst>
            <pc:docMk/>
            <pc:sldMk cId="654251065" sldId="287"/>
            <ac:picMk id="3" creationId="{70603DC7-54BF-0F7D-45D7-D6285AC898C8}"/>
          </ac:picMkLst>
        </pc:picChg>
        <pc:picChg chg="add mod">
          <ac:chgData name="Hayato Ishida" userId="585fa0fa6384767c" providerId="LiveId" clId="{317129C1-CB3C-4B6B-BAF3-92C786C7F87E}" dt="2025-08-31T18:03:00.370" v="7"/>
          <ac:picMkLst>
            <pc:docMk/>
            <pc:sldMk cId="654251065" sldId="287"/>
            <ac:picMk id="13" creationId="{3397E0B2-B6F0-B141-7BB4-CCDD3AEE78E4}"/>
          </ac:picMkLst>
        </pc:picChg>
      </pc:sldChg>
      <pc:sldChg chg="addSp modSp add ord">
        <pc:chgData name="Hayato Ishida" userId="585fa0fa6384767c" providerId="LiveId" clId="{317129C1-CB3C-4B6B-BAF3-92C786C7F87E}" dt="2025-08-31T18:04:59.616" v="8"/>
        <pc:sldMkLst>
          <pc:docMk/>
          <pc:sldMk cId="2973978134" sldId="416"/>
        </pc:sldMkLst>
        <pc:spChg chg="add mod">
          <ac:chgData name="Hayato Ishida" userId="585fa0fa6384767c" providerId="LiveId" clId="{317129C1-CB3C-4B6B-BAF3-92C786C7F87E}" dt="2025-08-31T18:04:59.616" v="8"/>
          <ac:spMkLst>
            <pc:docMk/>
            <pc:sldMk cId="2973978134" sldId="416"/>
            <ac:spMk id="2" creationId="{37D8EAA6-583A-0071-B872-4984C0821EE4}"/>
          </ac:spMkLst>
        </pc:spChg>
        <pc:spChg chg="add mod">
          <ac:chgData name="Hayato Ishida" userId="585fa0fa6384767c" providerId="LiveId" clId="{317129C1-CB3C-4B6B-BAF3-92C786C7F87E}" dt="2025-08-31T18:04:59.616" v="8"/>
          <ac:spMkLst>
            <pc:docMk/>
            <pc:sldMk cId="2973978134" sldId="416"/>
            <ac:spMk id="3" creationId="{68045476-8B6F-B6CC-EDA9-84B2994AF902}"/>
          </ac:spMkLst>
        </pc:spChg>
        <pc:spChg chg="add mod">
          <ac:chgData name="Hayato Ishida" userId="585fa0fa6384767c" providerId="LiveId" clId="{317129C1-CB3C-4B6B-BAF3-92C786C7F87E}" dt="2025-08-31T18:04:59.616" v="8"/>
          <ac:spMkLst>
            <pc:docMk/>
            <pc:sldMk cId="2973978134" sldId="416"/>
            <ac:spMk id="4" creationId="{7C2FAB56-A097-420E-82B1-F83DDC0051B5}"/>
          </ac:spMkLst>
        </pc:spChg>
      </pc:sldChg>
      <pc:sldChg chg="addSp modSp add mod">
        <pc:chgData name="Hayato Ishida" userId="585fa0fa6384767c" providerId="LiveId" clId="{317129C1-CB3C-4B6B-BAF3-92C786C7F87E}" dt="2025-09-01T03:23:45.773" v="12" actId="20577"/>
        <pc:sldMkLst>
          <pc:docMk/>
          <pc:sldMk cId="2081971221" sldId="417"/>
        </pc:sldMkLst>
        <pc:spChg chg="add mod">
          <ac:chgData name="Hayato Ishida" userId="585fa0fa6384767c" providerId="LiveId" clId="{317129C1-CB3C-4B6B-BAF3-92C786C7F87E}" dt="2025-08-31T18:09:59.676" v="10"/>
          <ac:spMkLst>
            <pc:docMk/>
            <pc:sldMk cId="2081971221" sldId="417"/>
            <ac:spMk id="2" creationId="{9B3CB99C-27DE-C56F-56BF-C2A149F86344}"/>
          </ac:spMkLst>
        </pc:spChg>
        <pc:spChg chg="add mod">
          <ac:chgData name="Hayato Ishida" userId="585fa0fa6384767c" providerId="LiveId" clId="{317129C1-CB3C-4B6B-BAF3-92C786C7F87E}" dt="2025-08-31T18:09:59.676" v="10"/>
          <ac:spMkLst>
            <pc:docMk/>
            <pc:sldMk cId="2081971221" sldId="417"/>
            <ac:spMk id="3" creationId="{E7F7448A-FA0B-B8FD-C3C2-E43FE7D6A565}"/>
          </ac:spMkLst>
        </pc:spChg>
        <pc:graphicFrameChg chg="add mod modGraphic">
          <ac:chgData name="Hayato Ishida" userId="585fa0fa6384767c" providerId="LiveId" clId="{317129C1-CB3C-4B6B-BAF3-92C786C7F87E}" dt="2025-09-01T03:23:45.773" v="12" actId="20577"/>
          <ac:graphicFrameMkLst>
            <pc:docMk/>
            <pc:sldMk cId="2081971221" sldId="417"/>
            <ac:graphicFrameMk id="4" creationId="{157B3CA3-BDD7-23B1-D62B-357430221CCF}"/>
          </ac:graphicFrameMkLst>
        </pc:graphicFrameChg>
      </pc:sldChg>
      <pc:sldChg chg="addSp modSp add">
        <pc:chgData name="Hayato Ishida" userId="585fa0fa6384767c" providerId="LiveId" clId="{317129C1-CB3C-4B6B-BAF3-92C786C7F87E}" dt="2025-09-01T03:28:28.659" v="13"/>
        <pc:sldMkLst>
          <pc:docMk/>
          <pc:sldMk cId="2105413948" sldId="418"/>
        </pc:sldMkLst>
        <pc:spChg chg="add mod">
          <ac:chgData name="Hayato Ishida" userId="585fa0fa6384767c" providerId="LiveId" clId="{317129C1-CB3C-4B6B-BAF3-92C786C7F87E}" dt="2025-08-31T18:07:09.883" v="9"/>
          <ac:spMkLst>
            <pc:docMk/>
            <pc:sldMk cId="2105413948" sldId="418"/>
            <ac:spMk id="2" creationId="{1C59506A-CA53-2CE9-979D-4CA4FE4CFB6B}"/>
          </ac:spMkLst>
        </pc:spChg>
        <pc:spChg chg="add mod">
          <ac:chgData name="Hayato Ishida" userId="585fa0fa6384767c" providerId="LiveId" clId="{317129C1-CB3C-4B6B-BAF3-92C786C7F87E}" dt="2025-08-31T18:07:09.883" v="9"/>
          <ac:spMkLst>
            <pc:docMk/>
            <pc:sldMk cId="2105413948" sldId="418"/>
            <ac:spMk id="3" creationId="{43AECEED-33A0-2DBB-944E-B0A9206D5818}"/>
          </ac:spMkLst>
        </pc:spChg>
        <pc:graphicFrameChg chg="add mod">
          <ac:chgData name="Hayato Ishida" userId="585fa0fa6384767c" providerId="LiveId" clId="{317129C1-CB3C-4B6B-BAF3-92C786C7F87E}" dt="2025-09-01T03:28:28.659" v="13"/>
          <ac:graphicFrameMkLst>
            <pc:docMk/>
            <pc:sldMk cId="2105413948" sldId="418"/>
            <ac:graphicFrameMk id="4" creationId="{D85F2CE0-8592-C575-504F-CEFD989F52F9}"/>
          </ac:graphicFrameMkLst>
        </pc:graphicFrameChg>
      </pc:sldChg>
    </pc:docChg>
  </pc:docChgLst>
  <pc:docChgLst>
    <pc:chgData name="Hayato Ishida" userId="585fa0fa6384767c" providerId="LiveId" clId="{10E5ECD2-6250-4724-8D25-6EDB92E67AD9}"/>
    <pc:docChg chg="undo custSel modSld">
      <pc:chgData name="Hayato Ishida" userId="585fa0fa6384767c" providerId="LiveId" clId="{10E5ECD2-6250-4724-8D25-6EDB92E67AD9}" dt="2025-05-03T11:24:01.661" v="97"/>
      <pc:docMkLst>
        <pc:docMk/>
      </pc:docMkLst>
      <pc:sldChg chg="modSp mod">
        <pc:chgData name="Hayato Ishida" userId="585fa0fa6384767c" providerId="LiveId" clId="{10E5ECD2-6250-4724-8D25-6EDB92E67AD9}" dt="2025-05-03T11:24:01.661" v="97"/>
        <pc:sldMkLst>
          <pc:docMk/>
          <pc:sldMk cId="2567433019" sldId="280"/>
        </pc:sldMkLst>
      </pc:sldChg>
      <pc:sldChg chg="modSp mod">
        <pc:chgData name="Hayato Ishida" userId="585fa0fa6384767c" providerId="LiveId" clId="{10E5ECD2-6250-4724-8D25-6EDB92E67AD9}" dt="2025-05-03T11:10:47.226" v="91" actId="2711"/>
        <pc:sldMkLst>
          <pc:docMk/>
          <pc:sldMk cId="155858466" sldId="286"/>
        </pc:sldMkLst>
      </pc:sldChg>
      <pc:sldChg chg="addSp modSp mod">
        <pc:chgData name="Hayato Ishida" userId="585fa0fa6384767c" providerId="LiveId" clId="{10E5ECD2-6250-4724-8D25-6EDB92E67AD9}" dt="2025-05-03T11:23:49.016" v="93"/>
        <pc:sldMkLst>
          <pc:docMk/>
          <pc:sldMk cId="654251065" sldId="2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77555-114C-4D13-A8E9-982D3FBDE682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7483F-3F00-45CA-B9CE-71766AA0FC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71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3A420-A6C3-4DFD-BC9B-A28C54480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785ED6-1F11-4995-8802-E7A92ED6F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7A83ED-D7FC-4E75-93FA-7CA4EB13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98A5-C926-421E-8D16-8672B57BCFF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536A7D-2F90-40CC-80C9-D5DFA593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F47EE9-ABD2-45F2-8DDF-94F9AFE5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11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762872-9097-4551-92E5-A9EFABF7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76671E-317F-404E-8053-6A0A955B7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17538-7854-4E06-A143-495AC9D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9E5C-BB41-4DEE-A1EA-DBAEA425644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511E7-C4EE-48B3-832D-D6EE6A96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D71E43-553D-4A66-92CB-9785522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80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078576-E3DC-4F83-AFE3-90CF203F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76DC57-139C-48BA-B542-00433365D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BA6EC9-A18D-44DC-AC03-EDA535FC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4A89-DB0D-48E1-8471-1D24BDCF8ED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649445-1B62-4CF3-8E24-C4237F94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343D9-1467-4169-8338-FE5AEB88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1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7CB7BA-528D-4232-B694-570FC36B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AFC298-407B-4183-A4C6-ECFBF7BE4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819996-4F41-4E1B-A7D2-68A930127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7AA123-3779-4C89-A120-D8C36EFF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5387-62D3-481B-BBE0-5C3C88B297B2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C9968F-4821-42DF-A0AE-DE8C2DAAC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E5EBA0-D3D5-4A64-B7F9-5BDAC45C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74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E56CA-F2EB-44BB-AF5E-63BAB6F1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C6BB7A-29D5-421E-A385-A3E3EB46B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FA027A-6FEA-404B-A426-5714EEEEF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893EF15-B619-40ED-B8BE-2BF881506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3F2AE8-4F41-4737-8697-4FF74A0A6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D695459-80F1-47BE-B12B-B91FB722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17D8-7CE6-4CF7-8FAB-60185E786EB9}" type="datetime1">
              <a:rPr lang="en-GB" smtClean="0"/>
              <a:t>01/09/2025</a:t>
            </a:fld>
            <a:endParaRPr lang="en-GB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22F667-D14E-47A7-8AF2-CA42934D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40F02E5-6D55-4748-8E9E-996F457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46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9F8DAA-4277-4BAC-B679-1957A2C7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B19C73D-345B-49EF-9EE4-390986E8F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B8A6-723D-47BA-A0C2-370A8E40CF5A}" type="datetime1">
              <a:rPr lang="en-GB" smtClean="0"/>
              <a:t>01/09/2025</a:t>
            </a:fld>
            <a:endParaRPr lang="en-GB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7A8E7A-3F8E-4FC5-BB3F-FD7FCEFA6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3D0E4C-C376-468C-A780-75B43057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61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5D00E3-6A1E-40BC-AA99-CAF23822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A632-D8E5-4DA3-B4CD-9FEBF68DCEB0}" type="datetime1">
              <a:rPr lang="en-GB" smtClean="0"/>
              <a:t>01/09/2025</a:t>
            </a:fld>
            <a:endParaRPr lang="en-GB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AEBF75-6C76-481B-9AAC-C70F3C28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EB2586-BFD5-4D03-9AFF-B3681D60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47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41D1B4-D81C-46C1-A422-8FE83A5A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1E09BE-13F6-4301-AB16-2FB109C5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B65445-0016-4746-A03B-F99F35DC5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2A4359-9369-4B46-B534-E689E6C8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EE16D-35BE-4BE7-8AC7-B36F6CD3E5EC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4D53E0-DB50-4B50-B03D-8BE605AB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C70555-581F-4360-BAC1-A48E44C0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5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66E174-3B05-4E93-8F98-F5A96D0E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5CB358A-32CB-4FF7-A5B9-C9D674144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9E880C-6797-422C-88D2-B2770328C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92A9D5-AA4C-470B-8443-CDF69884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8CDB-487D-4044-B328-87D0F47F3BCF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B74E2E-D53B-4179-9D35-961BC87E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3E2AE7-E634-4EAE-8F14-FFAD0839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67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2EB38-BF66-471E-BD00-D145D524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9676F2-6EB3-4837-8B9B-5101E00BE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AF1E77-D5D4-4EAA-A9ED-CBFF4D52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C4E5-BC84-4427-9D05-A5F29CCAC79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DD2C66-E530-425A-B11C-F0A1B6D3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8EB1D0-A34F-44ED-9BDE-254AAD35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09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D4C475-A351-4F11-BDB2-9B6FC662D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C7FA4F-2A7F-4DD4-9719-303500EF7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604C8-FEBE-4C1F-A49E-F399EBF3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0025-920B-4CEF-B7FD-D6EA5B89461B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405AEA-A514-4285-A292-E1F817D0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0B7D56-ED17-445E-BFE4-675A762E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88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63F3B0D-4141-4D30-8082-577CD416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27EF37-390B-4D5F-B2F6-103F90B81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639B55-8065-43F8-BF39-9B908098D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2097A-6903-4692-A2D1-BE7A41A75E7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6F0227-74FF-42A7-8C7D-0BD2B1E11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4893C-F66E-48FA-BA80-CC18FCF0A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56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peakerdeck.com/hayat01sh1da/economy-of-effort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hyperlink" Target="https://github.com/hayat01sh1da" TargetMode="External"/><Relationship Id="rId7" Type="http://schemas.openxmlformats.org/officeDocument/2006/relationships/hyperlink" Target="https://www.docswell.com/user/hayat01sh1d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peakerdeck.com/hayat01sh1da" TargetMode="External"/><Relationship Id="rId5" Type="http://schemas.openxmlformats.org/officeDocument/2006/relationships/hyperlink" Target="https://www.linkedin.com/in/hayat01sh1da/" TargetMode="External"/><Relationship Id="rId4" Type="http://schemas.openxmlformats.org/officeDocument/2006/relationships/hyperlink" Target="https://hackmd.io/@hayat01sh1d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://vitaljapan.com/" TargetMode="External"/><Relationship Id="rId3" Type="http://schemas.openxmlformats.org/officeDocument/2006/relationships/hyperlink" Target="http://www.centerye.org/" TargetMode="External"/><Relationship Id="rId7" Type="http://schemas.openxmlformats.org/officeDocument/2006/relationships/hyperlink" Target="https://sunrisetmc.toastmastersclubs.org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diy.biz/teachers-profile/?id=4976" TargetMode="External"/><Relationship Id="rId5" Type="http://schemas.openxmlformats.org/officeDocument/2006/relationships/hyperlink" Target="https://stives-h.schools.nsw.gov.au/" TargetMode="External"/><Relationship Id="rId4" Type="http://schemas.openxmlformats.org/officeDocument/2006/relationships/hyperlink" Target="https://www.hamiltonisland.com.au/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3" Type="http://schemas.openxmlformats.org/officeDocument/2006/relationships/slide" Target="slide11.xml"/><Relationship Id="rId7" Type="http://schemas.openxmlformats.org/officeDocument/2006/relationships/slide" Target="slide2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5" Type="http://schemas.openxmlformats.org/officeDocument/2006/relationships/slide" Target="slide20.xml"/><Relationship Id="rId4" Type="http://schemas.openxmlformats.org/officeDocument/2006/relationships/slide" Target="slide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ictionary.apa.org/economy-of-effort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ictionary.apa.org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okugobunpou.com/%E5%8A%A9%E5%8B%95%E8%A9%9E/%E3%82%8C%E3%82%8B-%E3%82%89%E3%82%8C%E3%82%8B/#gsc.tab%3D0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>
            <a:extLst>
              <a:ext uri="{FF2B5EF4-FFF2-40B4-BE49-F238E27FC236}">
                <a16:creationId xmlns:a16="http://schemas.microsoft.com/office/drawing/2014/main" id="{838FDBDF-AA97-A755-5929-CA049915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0870" y="1824605"/>
            <a:ext cx="9144000" cy="1689552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Economy of Efforts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字幕 2">
            <a:extLst>
              <a:ext uri="{FF2B5EF4-FFF2-40B4-BE49-F238E27FC236}">
                <a16:creationId xmlns:a16="http://schemas.microsoft.com/office/drawing/2014/main" id="{9F3859FD-9718-0C81-33B3-44F030588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1017" y="4706224"/>
            <a:ext cx="4683854" cy="496465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algn="r"/>
            <a:r>
              <a:rPr lang="ja-JP" altLang="en-US" sz="3200" b="1" dirty="0">
                <a:latin typeface="+mn-ea"/>
              </a:rPr>
              <a:t>作成者</a:t>
            </a:r>
            <a:r>
              <a:rPr lang="en-US" sz="3200" b="1" dirty="0">
                <a:latin typeface="+mn-ea"/>
              </a:rPr>
              <a:t>: </a:t>
            </a:r>
            <a:r>
              <a:rPr lang="ja-JP" altLang="en-US" sz="3200" b="1" dirty="0">
                <a:latin typeface="+mn-ea"/>
              </a:rPr>
              <a:t>石田</a:t>
            </a:r>
            <a:r>
              <a:rPr lang="en-US" sz="3200" b="1" dirty="0">
                <a:latin typeface="+mn-ea"/>
              </a:rPr>
              <a:t> </a:t>
            </a:r>
            <a:r>
              <a:rPr lang="ja-JP" altLang="en-US" sz="3200" b="1" dirty="0">
                <a:latin typeface="+mn-ea"/>
              </a:rPr>
              <a:t>隼人</a:t>
            </a:r>
            <a:endParaRPr lang="en-GB" sz="3200" b="1" dirty="0">
              <a:latin typeface="+mn-ea"/>
            </a:endParaRPr>
          </a:p>
        </p:txBody>
      </p: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37DCA1F6-8A6F-EFA2-32E0-4107C174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字幕 2">
            <a:extLst>
              <a:ext uri="{FF2B5EF4-FFF2-40B4-BE49-F238E27FC236}">
                <a16:creationId xmlns:a16="http://schemas.microsoft.com/office/drawing/2014/main" id="{7EC127B2-8036-0DBB-686D-9BBD027D4A12}"/>
              </a:ext>
            </a:extLst>
          </p:cNvPr>
          <p:cNvSpPr txBox="1">
            <a:spLocks/>
          </p:cNvSpPr>
          <p:nvPr/>
        </p:nvSpPr>
        <p:spPr>
          <a:xfrm>
            <a:off x="6648275" y="5445970"/>
            <a:ext cx="3966595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最終更新日</a:t>
            </a:r>
            <a:r>
              <a:rPr kumimoji="0" lang="en-GB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: </a:t>
            </a:r>
            <a:r>
              <a:rPr kumimoji="0" lang="en-GB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2024</a:t>
            </a: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年</a:t>
            </a:r>
            <a:r>
              <a:rPr kumimoji="0" lang="en-GB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07</a:t>
            </a: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月</a:t>
            </a:r>
            <a:r>
              <a:rPr kumimoji="0" lang="en-GB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16</a:t>
            </a: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日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9384CEEA-9ED1-6887-AFE8-7BA71E626EBF}"/>
              </a:ext>
            </a:extLst>
          </p:cNvPr>
          <p:cNvSpPr txBox="1">
            <a:spLocks/>
          </p:cNvSpPr>
          <p:nvPr/>
        </p:nvSpPr>
        <p:spPr>
          <a:xfrm>
            <a:off x="1470870" y="3514157"/>
            <a:ext cx="9144000" cy="55577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cs typeface="+mj-cs"/>
              </a:rPr>
              <a:t>-</a:t>
            </a:r>
            <a:r>
              <a:rPr kumimoji="0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cs typeface="+mj-cs"/>
              </a:rPr>
              <a:t>労力の節約原理</a:t>
            </a:r>
            <a:r>
              <a:rPr kumimoji="0" lang="en-US" altLang="ja-JP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cs typeface="+mj-cs"/>
              </a:rPr>
              <a:t>-</a:t>
            </a:r>
            <a:endParaRPr kumimoji="0" lang="en-GB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ea"/>
              <a:cs typeface="+mj-cs"/>
            </a:endParaRPr>
          </a:p>
        </p:txBody>
      </p:sp>
      <p:sp>
        <p:nvSpPr>
          <p:cNvPr id="2" name="字幕 2">
            <a:extLst>
              <a:ext uri="{FF2B5EF4-FFF2-40B4-BE49-F238E27FC236}">
                <a16:creationId xmlns:a16="http://schemas.microsoft.com/office/drawing/2014/main" id="{9105717C-FCFA-427A-0249-8F2D02825EE3}"/>
              </a:ext>
            </a:extLst>
          </p:cNvPr>
          <p:cNvSpPr txBox="1">
            <a:spLocks/>
          </p:cNvSpPr>
          <p:nvPr/>
        </p:nvSpPr>
        <p:spPr>
          <a:xfrm>
            <a:off x="1470871" y="5440495"/>
            <a:ext cx="1968615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2000" dirty="0"/>
              <a:t>英語版は</a:t>
            </a:r>
            <a:r>
              <a:rPr lang="ja-JP" altLang="en-US" sz="2000" dirty="0">
                <a:hlinkClick r:id="rId3"/>
              </a:rPr>
              <a:t>こちら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78715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A7021228-5BEC-2F7B-5C85-ED79D8517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ja-JP" altLang="en-US" b="1" dirty="0"/>
              <a:t>自己紹介</a:t>
            </a:r>
            <a:endParaRPr lang="en-GB" b="1" dirty="0"/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10591481-E4CD-0BF3-4CCC-CE2CA115B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268288" indent="-268288"/>
            <a:r>
              <a:rPr lang="ja-JP" altLang="en-US" sz="2400" dirty="0"/>
              <a:t>各種アカウント</a:t>
            </a:r>
            <a:endParaRPr lang="en-GB" altLang="ja-JP" sz="2400" dirty="0"/>
          </a:p>
          <a:p>
            <a:pPr marL="725488" lvl="1" indent="-268288"/>
            <a:r>
              <a:rPr lang="en-US" altLang="ja-JP" sz="2000" dirty="0"/>
              <a:t>GitHub: </a:t>
            </a:r>
            <a:r>
              <a:rPr lang="en-US" altLang="ja-JP" sz="2000" dirty="0">
                <a:hlinkClick r:id="rId3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X: </a:t>
            </a:r>
            <a:r>
              <a:rPr lang="en-US" altLang="ja-JP" sz="2000" dirty="0">
                <a:hlinkClick r:id="rId4"/>
              </a:rPr>
              <a:t>@hayat01sh1da</a:t>
            </a:r>
            <a:endParaRPr lang="en-GB" altLang="ja-JP" sz="2000" dirty="0"/>
          </a:p>
          <a:p>
            <a:pPr marL="725488" lvl="1" indent="-268288"/>
            <a:r>
              <a:rPr lang="en-GB" altLang="ja-JP" sz="2000" dirty="0"/>
              <a:t>LinkedIn: </a:t>
            </a:r>
            <a:r>
              <a:rPr lang="en-US" altLang="ja-JP" sz="2000" dirty="0">
                <a:hlinkClick r:id="rId5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Speaker Deck: </a:t>
            </a:r>
            <a:r>
              <a:rPr lang="en-US" altLang="ja-JP" sz="2000" dirty="0">
                <a:hlinkClick r:id="rId6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Docswell: </a:t>
            </a:r>
            <a:r>
              <a:rPr lang="en-US" altLang="ja-JP" sz="2000" dirty="0">
                <a:hlinkClick r:id="rId7"/>
              </a:rPr>
              <a:t>@hayat01sh1da</a:t>
            </a:r>
            <a:endParaRPr lang="en-US" altLang="ja-JP" sz="2000" dirty="0"/>
          </a:p>
          <a:p>
            <a:pPr marL="268288" indent="-268288"/>
            <a:r>
              <a:rPr lang="ja-JP" altLang="en-US" sz="2400" dirty="0"/>
              <a:t>職業</a:t>
            </a:r>
            <a:r>
              <a:rPr lang="en-GB" altLang="ja-JP" sz="2400" dirty="0"/>
              <a:t>: </a:t>
            </a:r>
            <a:r>
              <a:rPr lang="ja-JP" altLang="en-US" sz="2400" dirty="0"/>
              <a:t>ソフトウェアエンジニア</a:t>
            </a:r>
            <a:endParaRPr lang="en-GB" altLang="ja-JP" sz="2400" dirty="0"/>
          </a:p>
          <a:p>
            <a:pPr marL="268288" indent="-268288"/>
            <a:r>
              <a:rPr lang="ja-JP" altLang="en-US" sz="2400" dirty="0"/>
              <a:t>趣味</a:t>
            </a:r>
            <a:endParaRPr lang="en-GB" altLang="ja-JP" sz="2400" dirty="0"/>
          </a:p>
          <a:p>
            <a:pPr marL="725488" lvl="1" indent="-268288"/>
            <a:r>
              <a:rPr lang="ja-JP" altLang="en-US" sz="2000" dirty="0"/>
              <a:t>言語学</a:t>
            </a:r>
            <a:endParaRPr lang="en-GB" altLang="ja-JP" sz="2000" dirty="0"/>
          </a:p>
          <a:p>
            <a:pPr marL="725488" lvl="1" indent="-268288"/>
            <a:r>
              <a:rPr lang="ja-JP" altLang="en-US" sz="2000" dirty="0"/>
              <a:t>カラオケ</a:t>
            </a:r>
            <a:endParaRPr lang="en-GB" altLang="ja-JP" sz="2000" dirty="0"/>
          </a:p>
          <a:p>
            <a:pPr marL="725488" lvl="1" indent="-268288"/>
            <a:r>
              <a:rPr lang="ja-JP" altLang="en-US" sz="2000" dirty="0"/>
              <a:t>音楽鑑賞</a:t>
            </a:r>
            <a:endParaRPr lang="en-GB" altLang="ja-JP" sz="2000" dirty="0"/>
          </a:p>
          <a:p>
            <a:pPr marL="725488" lvl="1" indent="-268288"/>
            <a:r>
              <a:rPr lang="ja-JP" altLang="en-US" sz="2000" dirty="0"/>
              <a:t>映画鑑賞</a:t>
            </a:r>
            <a:endParaRPr lang="en-GB" altLang="ja-JP" sz="2000" dirty="0"/>
          </a:p>
          <a:p>
            <a:pPr marL="725488" lvl="1" indent="-268288"/>
            <a:r>
              <a:rPr lang="ja-JP" altLang="en-US" sz="2000" dirty="0"/>
              <a:t>猫飼育</a:t>
            </a:r>
            <a:endParaRPr lang="en-GB" altLang="ja-JP" sz="2000" dirty="0"/>
          </a:p>
        </p:txBody>
      </p: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380ED74E-6B24-6DE6-5115-2AFD09572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97E0B2-B6F0-B141-7BB4-CCDD3AEE78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316" y="1824399"/>
            <a:ext cx="5804483" cy="435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25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55B8D0-FBD0-9B5F-A935-2990E9245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ja-JP" altLang="en-US" b="1" dirty="0">
                <a:latin typeface="+mj-ea"/>
              </a:rPr>
              <a:t>免許</a:t>
            </a:r>
            <a:r>
              <a:rPr lang="en-GB" altLang="ja-JP" b="1" dirty="0">
                <a:latin typeface="+mj-ea"/>
              </a:rPr>
              <a:t> / </a:t>
            </a:r>
            <a:r>
              <a:rPr lang="ja-JP" altLang="en-US" b="1" dirty="0">
                <a:latin typeface="+mj-ea"/>
              </a:rPr>
              <a:t>資格</a:t>
            </a:r>
            <a:endParaRPr lang="en-GB" b="1" dirty="0">
              <a:latin typeface="+mj-ea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56D017-33E9-546F-B8B3-A9515D8FA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68288" lvl="1" indent="-268288"/>
            <a:r>
              <a:rPr lang="ja-JP" altLang="en-US" dirty="0"/>
              <a:t>英語</a:t>
            </a:r>
            <a:endParaRPr lang="en-US" altLang="ja-JP" dirty="0"/>
          </a:p>
          <a:p>
            <a:pPr marL="725488" lvl="2" indent="-268288"/>
            <a:r>
              <a:rPr lang="en-US" altLang="ja-JP" dirty="0"/>
              <a:t>TOEIC® Listening &amp; Reading 915</a:t>
            </a:r>
            <a:r>
              <a:rPr lang="ja-JP" altLang="en-US" dirty="0"/>
              <a:t>点</a:t>
            </a:r>
            <a:r>
              <a:rPr lang="en-GB" altLang="ja-JP" dirty="0"/>
              <a:t>: 2019</a:t>
            </a:r>
            <a:r>
              <a:rPr lang="ja-JP" altLang="en-US" dirty="0"/>
              <a:t>年</a:t>
            </a:r>
            <a:r>
              <a:rPr lang="en-US" altLang="ja-JP" dirty="0"/>
              <a:t>12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</a:p>
          <a:p>
            <a:pPr marL="268288" lvl="1" indent="-268288"/>
            <a:r>
              <a:rPr lang="ja-JP" altLang="en-US" dirty="0"/>
              <a:t>エンジニアリング</a:t>
            </a:r>
            <a:endParaRPr lang="en-GB" altLang="ja-JP" dirty="0"/>
          </a:p>
          <a:p>
            <a:pPr marL="725488" lvl="2" indent="-268288"/>
            <a:r>
              <a:rPr lang="ja-JP" altLang="en-US" dirty="0"/>
              <a:t>情報セキュリティマネジメント</a:t>
            </a:r>
            <a:r>
              <a:rPr lang="en-GB" altLang="ja-JP" dirty="0"/>
              <a:t>: 2017</a:t>
            </a:r>
            <a:r>
              <a:rPr lang="ja-JP" altLang="en-US" dirty="0"/>
              <a:t>年</a:t>
            </a:r>
            <a:r>
              <a:rPr lang="en-US" altLang="ja-JP" dirty="0"/>
              <a:t>11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  <a:endParaRPr lang="en-GB" altLang="ja-JP" dirty="0"/>
          </a:p>
          <a:p>
            <a:pPr marL="725488" lvl="2" indent="-268288"/>
            <a:r>
              <a:rPr lang="ja-JP" altLang="en-US" dirty="0"/>
              <a:t>応用情報技術者</a:t>
            </a:r>
            <a:r>
              <a:rPr lang="en-GB" altLang="ja-JP" dirty="0"/>
              <a:t>: 2017</a:t>
            </a:r>
            <a:r>
              <a:rPr lang="ja-JP" altLang="en-US" dirty="0"/>
              <a:t>年</a:t>
            </a:r>
            <a:r>
              <a:rPr lang="en-US" altLang="ja-JP" dirty="0"/>
              <a:t>06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  <a:endParaRPr lang="en-GB" altLang="ja-JP" dirty="0"/>
          </a:p>
          <a:p>
            <a:pPr marL="725488" lvl="2" indent="-268288"/>
            <a:r>
              <a:rPr lang="ja-JP" altLang="en-US" dirty="0"/>
              <a:t>基本情報技術者</a:t>
            </a:r>
            <a:r>
              <a:rPr lang="en-GB" altLang="ja-JP" dirty="0"/>
              <a:t>: 2016</a:t>
            </a:r>
            <a:r>
              <a:rPr lang="ja-JP" altLang="en-US" dirty="0"/>
              <a:t>年</a:t>
            </a:r>
            <a:r>
              <a:rPr lang="en-US" altLang="ja-JP" dirty="0"/>
              <a:t>11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</a:p>
          <a:p>
            <a:pPr marL="725488" lvl="2" indent="-268288"/>
            <a:r>
              <a:rPr lang="en-US" altLang="ja-JP" dirty="0"/>
              <a:t>IT </a:t>
            </a:r>
            <a:r>
              <a:rPr lang="ja-JP" altLang="en-US" dirty="0"/>
              <a:t>パスポート</a:t>
            </a:r>
            <a:r>
              <a:rPr lang="en-GB" altLang="ja-JP" dirty="0"/>
              <a:t>: 2016</a:t>
            </a:r>
            <a:r>
              <a:rPr lang="ja-JP" altLang="en-US" dirty="0"/>
              <a:t>年</a:t>
            </a:r>
            <a:r>
              <a:rPr lang="en-US" altLang="ja-JP" dirty="0"/>
              <a:t>04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  <a:endParaRPr lang="en-GB" altLang="ja-JP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marL="268288" lvl="1" indent="-268288"/>
            <a:r>
              <a:rPr lang="ja-JP" altLang="en-US" dirty="0">
                <a:solidFill>
                  <a:srgbClr val="333333"/>
                </a:solidFill>
                <a:latin typeface="-apple-system"/>
              </a:rPr>
              <a:t>その他</a:t>
            </a:r>
            <a:endParaRPr lang="en-GB" altLang="ja-JP" dirty="0">
              <a:solidFill>
                <a:srgbClr val="333333"/>
              </a:solidFill>
              <a:latin typeface="-apple-system"/>
            </a:endParaRPr>
          </a:p>
          <a:p>
            <a:pPr marL="725488" lvl="2" indent="-268288"/>
            <a:r>
              <a:rPr lang="ja-JP" altLang="en-US" dirty="0">
                <a:solidFill>
                  <a:srgbClr val="333333"/>
                </a:solidFill>
                <a:latin typeface="-apple-system"/>
              </a:rPr>
              <a:t>珠算</a:t>
            </a:r>
            <a:r>
              <a:rPr lang="en-GB" altLang="ja-JP" dirty="0">
                <a:solidFill>
                  <a:srgbClr val="333333"/>
                </a:solidFill>
                <a:latin typeface="-apple-system"/>
              </a:rPr>
              <a:t>2</a:t>
            </a:r>
            <a:r>
              <a:rPr lang="ja-JP" altLang="en-US" dirty="0">
                <a:solidFill>
                  <a:srgbClr val="333333"/>
                </a:solidFill>
                <a:latin typeface="-apple-system"/>
              </a:rPr>
              <a:t>級</a:t>
            </a:r>
            <a:r>
              <a:rPr lang="en-GB" altLang="ja-JP" dirty="0">
                <a:solidFill>
                  <a:srgbClr val="333333"/>
                </a:solidFill>
                <a:latin typeface="-apple-system"/>
              </a:rPr>
              <a:t>: </a:t>
            </a:r>
            <a:r>
              <a:rPr lang="en-GB" altLang="ja-JP" dirty="0"/>
              <a:t>2002</a:t>
            </a:r>
            <a:r>
              <a:rPr lang="ja-JP" altLang="en-US" dirty="0"/>
              <a:t>年</a:t>
            </a:r>
            <a:r>
              <a:rPr lang="en-US" altLang="ja-JP" dirty="0"/>
              <a:t>06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  <a:endParaRPr lang="en-GB" altLang="ja-JP" dirty="0"/>
          </a:p>
          <a:p>
            <a:pPr marL="725488" lvl="2" indent="-268288"/>
            <a:r>
              <a:rPr lang="ja-JP" altLang="en-US" dirty="0">
                <a:solidFill>
                  <a:srgbClr val="333333"/>
                </a:solidFill>
                <a:latin typeface="-apple-system"/>
              </a:rPr>
              <a:t>暗算</a:t>
            </a:r>
            <a:r>
              <a:rPr lang="en-US" altLang="ja-JP" dirty="0">
                <a:solidFill>
                  <a:srgbClr val="333333"/>
                </a:solidFill>
                <a:latin typeface="-apple-system"/>
              </a:rPr>
              <a:t>3</a:t>
            </a:r>
            <a:r>
              <a:rPr lang="ja-JP" altLang="en-US" dirty="0">
                <a:solidFill>
                  <a:srgbClr val="333333"/>
                </a:solidFill>
                <a:latin typeface="-apple-system"/>
              </a:rPr>
              <a:t>級</a:t>
            </a:r>
            <a:r>
              <a:rPr lang="en-GB" altLang="ja-JP" b="0" i="0" dirty="0">
                <a:solidFill>
                  <a:srgbClr val="333333"/>
                </a:solidFill>
                <a:effectLst/>
                <a:latin typeface="-apple-system"/>
              </a:rPr>
              <a:t>: </a:t>
            </a:r>
            <a:r>
              <a:rPr lang="en-GB" altLang="ja-JP" dirty="0"/>
              <a:t>2001</a:t>
            </a:r>
            <a:r>
              <a:rPr lang="ja-JP" altLang="en-US" dirty="0"/>
              <a:t>年</a:t>
            </a:r>
            <a:r>
              <a:rPr lang="en-US" altLang="ja-JP" dirty="0"/>
              <a:t>02</a:t>
            </a:r>
            <a:r>
              <a:rPr lang="ja-JP" altLang="en-US" dirty="0"/>
              <a:t>月</a:t>
            </a:r>
            <a:r>
              <a:rPr lang="en-GB" altLang="ja-JP" dirty="0"/>
              <a:t> </a:t>
            </a:r>
            <a:r>
              <a:rPr lang="ja-JP" altLang="en-US" dirty="0"/>
              <a:t>取得</a:t>
            </a:r>
            <a:endParaRPr lang="en-GB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305983-0249-A6CE-AD02-933B3C887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2671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A0EEFF-9D0B-0A70-94BC-4BAD53818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D8EAA6-583A-0071-B872-4984C0821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kumimoji="1" lang="ja-JP" altLang="en-US" b="1" dirty="0">
                <a:latin typeface="+mn-lt"/>
              </a:rPr>
              <a:t>スキルスタック</a:t>
            </a:r>
            <a:endParaRPr lang="en-GB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045476-8B6F-B6CC-EDA9-84B2994AF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ja-JP" altLang="en-US" sz="2400" dirty="0"/>
              <a:t>自然言語</a:t>
            </a:r>
          </a:p>
          <a:p>
            <a:pPr marL="717550" lvl="1" indent="-260350"/>
            <a:r>
              <a:rPr lang="ja-JP" altLang="en-US" sz="2000" dirty="0"/>
              <a:t>日本語</a:t>
            </a:r>
            <a:r>
              <a:rPr lang="en-GB" altLang="ja-JP" sz="2000" dirty="0"/>
              <a:t>: </a:t>
            </a:r>
            <a:r>
              <a:rPr lang="ja-JP" altLang="en-US" sz="2000" dirty="0"/>
              <a:t>母語</a:t>
            </a:r>
            <a:endParaRPr lang="en-GB" altLang="ja-JP" sz="2000" dirty="0"/>
          </a:p>
          <a:p>
            <a:pPr marL="717550" lvl="1" indent="-260350"/>
            <a:r>
              <a:rPr lang="ja-JP" altLang="en-US" sz="2000" dirty="0"/>
              <a:t>英語</a:t>
            </a:r>
            <a:r>
              <a:rPr lang="en-GB" altLang="ja-JP" sz="2000" dirty="0"/>
              <a:t>: </a:t>
            </a:r>
            <a:r>
              <a:rPr lang="ja-JP" altLang="en-US" sz="2000" dirty="0"/>
              <a:t>ビジネスレベル</a:t>
            </a:r>
            <a:endParaRPr lang="en-GB" altLang="ja-JP" sz="2000" dirty="0"/>
          </a:p>
          <a:p>
            <a:pPr marL="268288" indent="-268288"/>
            <a:r>
              <a:rPr lang="ja-JP" altLang="en-US" sz="2400" dirty="0"/>
              <a:t>開発</a:t>
            </a:r>
            <a:endParaRPr lang="en-GB" altLang="ja-JP" sz="2400" dirty="0"/>
          </a:p>
          <a:p>
            <a:pPr marL="717550" lvl="1" indent="-260350"/>
            <a:r>
              <a:rPr lang="ja-JP" altLang="en-US" sz="2000" b="1" dirty="0"/>
              <a:t>バックエンド</a:t>
            </a:r>
            <a:r>
              <a:rPr lang="en-GB" altLang="ja-JP" sz="2000" b="1" dirty="0"/>
              <a:t>: Ruby(Ruby on Rails)</a:t>
            </a:r>
            <a:r>
              <a:rPr lang="en-GB" altLang="ja-JP" sz="2000" dirty="0"/>
              <a:t>, Python</a:t>
            </a:r>
          </a:p>
          <a:p>
            <a:pPr marL="717550" lvl="1" indent="-260350"/>
            <a:r>
              <a:rPr lang="ja-JP" altLang="en-US" sz="2000" dirty="0"/>
              <a:t>フロントエンド</a:t>
            </a:r>
            <a:r>
              <a:rPr lang="en-GB" altLang="ja-JP" sz="2000" dirty="0"/>
              <a:t>: TypeScript + React.js, TypeScript +Vue.js</a:t>
            </a:r>
          </a:p>
          <a:p>
            <a:pPr marL="717550" lvl="1" indent="-260350"/>
            <a:r>
              <a:rPr lang="ja-JP" altLang="en-US" sz="2000" b="1" dirty="0"/>
              <a:t>データベース</a:t>
            </a:r>
            <a:r>
              <a:rPr lang="en-GB" altLang="ja-JP" sz="2000" b="1" dirty="0"/>
              <a:t>: MySQL</a:t>
            </a:r>
            <a:r>
              <a:rPr lang="en-GB" altLang="ja-JP" sz="2000" dirty="0"/>
              <a:t>, PostgreSQL, MongoDB</a:t>
            </a:r>
          </a:p>
          <a:p>
            <a:pPr marL="717550" lvl="1" indent="-260350"/>
            <a:r>
              <a:rPr lang="ja-JP" altLang="en-US" sz="2000" b="1" dirty="0"/>
              <a:t>アーキテクチャー</a:t>
            </a:r>
            <a:r>
              <a:rPr lang="en-GB" altLang="ja-JP" sz="2000" b="1" dirty="0"/>
              <a:t>: </a:t>
            </a:r>
            <a:r>
              <a:rPr lang="ja-JP" altLang="en-US" sz="2000" b="1" dirty="0"/>
              <a:t>モノリス</a:t>
            </a:r>
            <a:r>
              <a:rPr lang="en-GB" altLang="ja-JP" sz="2000" b="1" dirty="0"/>
              <a:t>, </a:t>
            </a:r>
            <a:r>
              <a:rPr lang="ja-JP" altLang="en-US" sz="2000" b="1" dirty="0"/>
              <a:t>モジューラーモノリス</a:t>
            </a:r>
            <a:endParaRPr lang="en-GB" altLang="ja-JP" sz="2000" b="1" dirty="0"/>
          </a:p>
          <a:p>
            <a:pPr marL="717550" lvl="1" indent="-260350"/>
            <a:r>
              <a:rPr lang="ja-JP" altLang="en-US" sz="2000" dirty="0"/>
              <a:t>ホスティング</a:t>
            </a:r>
            <a:r>
              <a:rPr lang="en-GB" altLang="ja-JP" sz="2000" dirty="0"/>
              <a:t>: AWS ESK</a:t>
            </a:r>
          </a:p>
          <a:p>
            <a:pPr marL="717550" lvl="1" indent="-260350"/>
            <a:r>
              <a:rPr lang="ja-JP" altLang="en-US" sz="2000" dirty="0"/>
              <a:t>バージョン管理</a:t>
            </a:r>
            <a:r>
              <a:rPr lang="en-GB" altLang="ja-JP" sz="2000" dirty="0"/>
              <a:t>: Git, GitHub</a:t>
            </a:r>
          </a:p>
          <a:p>
            <a:pPr marL="717550" lvl="1" indent="-260350"/>
            <a:r>
              <a:rPr lang="en-GB" altLang="ja-JP" sz="2000" b="1" dirty="0"/>
              <a:t>CI/CD: GitHub Actions</a:t>
            </a:r>
            <a:r>
              <a:rPr lang="en-GB" altLang="ja-JP" sz="2000" dirty="0"/>
              <a:t>, ArgoCD</a:t>
            </a:r>
          </a:p>
          <a:p>
            <a:pPr marL="717550" lvl="1" indent="-260350"/>
            <a:r>
              <a:rPr lang="ja-JP" altLang="en-US" sz="2000" dirty="0"/>
              <a:t>監視</a:t>
            </a:r>
            <a:r>
              <a:rPr lang="en-GB" altLang="ja-JP" sz="2000" dirty="0"/>
              <a:t>: Datadog, Sentry</a:t>
            </a:r>
            <a:endParaRPr lang="en-GB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2FAB56-A097-420E-82B1-F83DDC005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3978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A889A5-D1A8-C562-F54E-6246E6930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59506A-CA53-2CE9-979D-4CA4FE4CF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ja-JP" altLang="en-US" b="1" dirty="0">
                <a:latin typeface="+mn-lt"/>
              </a:rPr>
              <a:t>職歴</a:t>
            </a:r>
          </a:p>
        </p:txBody>
      </p:sp>
      <p:sp>
        <p:nvSpPr>
          <p:cNvPr id="3" name="スライド番号プレースホルダー 3">
            <a:extLst>
              <a:ext uri="{FF2B5EF4-FFF2-40B4-BE49-F238E27FC236}">
                <a16:creationId xmlns:a16="http://schemas.microsoft.com/office/drawing/2014/main" id="{43AECEED-33A0-2DBB-944E-B0A9206D5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5F2CE0-8592-C575-504F-CEFD989F5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265345"/>
              </p:ext>
            </p:extLst>
          </p:nvPr>
        </p:nvGraphicFramePr>
        <p:xfrm>
          <a:off x="836798" y="1822829"/>
          <a:ext cx="105156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ja-JP" altLang="en-US" dirty="0"/>
                        <a:t>期間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業種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職種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業務内容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2021</a:t>
                      </a:r>
                      <a:r>
                        <a:rPr lang="ja-JP" altLang="en-US" dirty="0"/>
                        <a:t>年</a:t>
                      </a:r>
                      <a:r>
                        <a:rPr lang="en-GB" altLang="ja-JP" dirty="0"/>
                        <a:t>08</a:t>
                      </a:r>
                      <a:r>
                        <a:rPr lang="ja-JP" altLang="en-US" dirty="0"/>
                        <a:t>月</a:t>
                      </a:r>
                      <a:r>
                        <a:rPr lang="en-GB" altLang="ja-JP" dirty="0"/>
                        <a:t>-</a:t>
                      </a:r>
                    </a:p>
                    <a:p>
                      <a:r>
                        <a:rPr lang="en-GB" dirty="0"/>
                        <a:t>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EdTech SaaS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dirty="0"/>
                        <a:t>ソフトウェア</a:t>
                      </a:r>
                      <a:endParaRPr lang="en-GB" altLang="ja-JP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dirty="0"/>
                        <a:t>エンジニア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バックエンド開発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フロントエンド開発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CI/CD </a:t>
                      </a:r>
                      <a:r>
                        <a:rPr lang="ja-JP" altLang="en-US" dirty="0"/>
                        <a:t>運用・保守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週次リリースマネージャー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トラブル対応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ドキュメンテーション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技術負債解消</a:t>
                      </a:r>
                      <a:endParaRPr lang="en-GB" altLang="ja-JP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技術ブログ記事執筆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LT </a:t>
                      </a:r>
                      <a:r>
                        <a:rPr lang="ja-JP" altLang="en-US" dirty="0"/>
                        <a:t>登壇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6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2020</a:t>
                      </a:r>
                      <a:r>
                        <a:rPr lang="ja-JP" altLang="en-US" dirty="0"/>
                        <a:t>年</a:t>
                      </a:r>
                      <a:r>
                        <a:rPr lang="en-GB" altLang="ja-JP" dirty="0"/>
                        <a:t>02</a:t>
                      </a:r>
                      <a:r>
                        <a:rPr lang="ja-JP" altLang="en-US" dirty="0"/>
                        <a:t>月</a:t>
                      </a:r>
                      <a:r>
                        <a:rPr lang="en-GB" dirty="0"/>
                        <a:t>-</a:t>
                      </a:r>
                    </a:p>
                    <a:p>
                      <a:r>
                        <a:rPr lang="en-GB" dirty="0"/>
                        <a:t>2020</a:t>
                      </a:r>
                      <a:r>
                        <a:rPr lang="ja-JP" altLang="en-US" dirty="0"/>
                        <a:t>年</a:t>
                      </a:r>
                      <a:r>
                        <a:rPr lang="en-GB" altLang="ja-JP" dirty="0"/>
                        <a:t>12</a:t>
                      </a:r>
                      <a:r>
                        <a:rPr lang="ja-JP" altLang="en-US" dirty="0"/>
                        <a:t>月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チャットボット系</a:t>
                      </a:r>
                      <a:r>
                        <a:rPr lang="en-GB" altLang="ja-JP" dirty="0"/>
                        <a:t> </a:t>
                      </a:r>
                      <a:r>
                        <a:rPr lang="en-GB" dirty="0"/>
                        <a:t>SaaS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バックエンド</a:t>
                      </a:r>
                      <a:endParaRPr lang="en-GB" altLang="ja-JP" dirty="0"/>
                    </a:p>
                    <a:p>
                      <a:r>
                        <a:rPr lang="ja-JP" altLang="en-US" dirty="0"/>
                        <a:t>エンジニア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バックエンド開発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ドキュメンテーション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技術負債解消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代替</a:t>
                      </a:r>
                      <a:r>
                        <a:rPr lang="en-GB" dirty="0"/>
                        <a:t> API </a:t>
                      </a:r>
                      <a:r>
                        <a:rPr lang="ja-JP" altLang="en-US" dirty="0"/>
                        <a:t>検証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449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5413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DCF285-5E54-FD99-3ABC-D8EF3FB21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3CB99C-27DE-C56F-56BF-C2A149F8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ja-JP" altLang="en-US" b="1" dirty="0">
                <a:latin typeface="+mn-lt"/>
              </a:rPr>
              <a:t>職歴</a:t>
            </a:r>
          </a:p>
        </p:txBody>
      </p:sp>
      <p:sp>
        <p:nvSpPr>
          <p:cNvPr id="3" name="スライド番号プレースホルダー 3">
            <a:extLst>
              <a:ext uri="{FF2B5EF4-FFF2-40B4-BE49-F238E27FC236}">
                <a16:creationId xmlns:a16="http://schemas.microsoft.com/office/drawing/2014/main" id="{E7F7448A-FA0B-B8FD-C3C2-E43FE7D6A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7B3CA3-BDD7-23B1-D62B-357430221C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655129"/>
              </p:ext>
            </p:extLst>
          </p:nvPr>
        </p:nvGraphicFramePr>
        <p:xfrm>
          <a:off x="836798" y="1822829"/>
          <a:ext cx="105156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ja-JP" altLang="en-US" dirty="0"/>
                        <a:t>期間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業種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職種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業務内容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2018</a:t>
                      </a:r>
                      <a:r>
                        <a:rPr lang="ja-JP" altLang="en-US" dirty="0"/>
                        <a:t>年</a:t>
                      </a:r>
                      <a:r>
                        <a:rPr lang="en-US" altLang="ja-JP" dirty="0"/>
                        <a:t>06</a:t>
                      </a:r>
                      <a:r>
                        <a:rPr lang="ja-JP" altLang="en-US" dirty="0"/>
                        <a:t>月</a:t>
                      </a:r>
                      <a:r>
                        <a:rPr lang="en-GB" dirty="0"/>
                        <a:t> -</a:t>
                      </a:r>
                    </a:p>
                    <a:p>
                      <a:r>
                        <a:rPr lang="en-GB" dirty="0"/>
                        <a:t>2020</a:t>
                      </a:r>
                      <a:r>
                        <a:rPr lang="ja-JP" altLang="en-US" dirty="0"/>
                        <a:t>年</a:t>
                      </a:r>
                      <a:r>
                        <a:rPr lang="en-US" altLang="ja-JP" dirty="0"/>
                        <a:t>01</a:t>
                      </a:r>
                      <a:r>
                        <a:rPr lang="ja-JP" altLang="en-US" dirty="0"/>
                        <a:t>月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受託開発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ソフトウェア</a:t>
                      </a:r>
                      <a:endParaRPr lang="en-GB" altLang="ja-JP" dirty="0"/>
                    </a:p>
                    <a:p>
                      <a:r>
                        <a:rPr lang="ja-JP" altLang="en-US" dirty="0"/>
                        <a:t>エンジニア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バックエンド開発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フロントエンド開発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トラブル対応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QA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技術ブログ記事執筆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53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2016</a:t>
                      </a:r>
                      <a:r>
                        <a:rPr lang="ja-JP" altLang="en-US" dirty="0"/>
                        <a:t>年</a:t>
                      </a:r>
                      <a:r>
                        <a:rPr lang="en-US" altLang="ja-JP" dirty="0"/>
                        <a:t>04</a:t>
                      </a:r>
                      <a:r>
                        <a:rPr lang="ja-JP" altLang="en-US" dirty="0"/>
                        <a:t>月</a:t>
                      </a:r>
                      <a:r>
                        <a:rPr lang="en-GB" dirty="0"/>
                        <a:t> -</a:t>
                      </a:r>
                    </a:p>
                    <a:p>
                      <a:r>
                        <a:rPr lang="en-GB" dirty="0"/>
                        <a:t>2018</a:t>
                      </a:r>
                      <a:r>
                        <a:rPr lang="ja-JP" altLang="en-US" dirty="0"/>
                        <a:t>年</a:t>
                      </a:r>
                      <a:r>
                        <a:rPr lang="en-US" altLang="ja-JP" dirty="0"/>
                        <a:t>01</a:t>
                      </a:r>
                      <a:r>
                        <a:rPr lang="ja-JP" altLang="en-US" dirty="0"/>
                        <a:t>月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ja-JP" dirty="0"/>
                        <a:t>SES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システムエンジニア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全社アカウント管理者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Windows Server </a:t>
                      </a:r>
                      <a:r>
                        <a:rPr lang="ja-JP" altLang="en-US" dirty="0"/>
                        <a:t>運用・保守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セキュリティ管理者助手</a:t>
                      </a:r>
                      <a:endParaRPr lang="en-GB" dirty="0"/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dirty="0"/>
                        <a:t>翻訳・通訳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994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1971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BF8E831C-C70C-07DF-8FE9-3317578A9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kumimoji="1" lang="ja-JP" altLang="en-US" b="1" dirty="0">
                <a:latin typeface="+mn-lt"/>
              </a:rPr>
              <a:t>スキルセット</a:t>
            </a:r>
            <a:endParaRPr lang="en-GB" b="1" dirty="0"/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0BBBFD2C-EE03-7A81-957E-B0640D3A8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ja-JP" altLang="en-US" sz="2400" dirty="0"/>
              <a:t>言語</a:t>
            </a:r>
          </a:p>
          <a:p>
            <a:pPr marL="717550" lvl="1" indent="-260350"/>
            <a:r>
              <a:rPr lang="ja-JP" altLang="en-US" sz="2000" dirty="0"/>
              <a:t>日本語</a:t>
            </a:r>
            <a:r>
              <a:rPr lang="en-GB" altLang="ja-JP" sz="2000" dirty="0"/>
              <a:t>: </a:t>
            </a:r>
            <a:r>
              <a:rPr lang="ja-JP" altLang="en-US" sz="2000" dirty="0"/>
              <a:t>母語</a:t>
            </a:r>
            <a:endParaRPr lang="en-GB" altLang="ja-JP" sz="2000" dirty="0"/>
          </a:p>
          <a:p>
            <a:pPr marL="717550" lvl="1" indent="-260350"/>
            <a:r>
              <a:rPr lang="ja-JP" altLang="en-US" sz="2000" dirty="0"/>
              <a:t>英語</a:t>
            </a:r>
            <a:r>
              <a:rPr lang="en-GB" altLang="ja-JP" sz="2000" dirty="0"/>
              <a:t>: </a:t>
            </a:r>
            <a:r>
              <a:rPr lang="ja-JP" altLang="en-US" sz="2000" dirty="0"/>
              <a:t>ビジネスレベル</a:t>
            </a:r>
            <a:endParaRPr lang="en-GB" altLang="ja-JP" sz="2000" dirty="0"/>
          </a:p>
          <a:p>
            <a:pPr marL="268288" indent="-268288"/>
            <a:r>
              <a:rPr lang="ja-JP" altLang="en-US" sz="2400" dirty="0"/>
              <a:t>開発</a:t>
            </a:r>
            <a:endParaRPr lang="en-GB" altLang="ja-JP" sz="2400" dirty="0"/>
          </a:p>
          <a:p>
            <a:pPr marL="717550" lvl="1" indent="-260350"/>
            <a:r>
              <a:rPr lang="en-GB" altLang="ja-JP" sz="2000" dirty="0"/>
              <a:t>Ruby: </a:t>
            </a:r>
            <a:r>
              <a:rPr lang="ja-JP" altLang="en-US" sz="2000" dirty="0"/>
              <a:t>中上級</a:t>
            </a:r>
            <a:r>
              <a:rPr lang="en-GB" altLang="ja-JP" sz="2000" dirty="0"/>
              <a:t>(FW: Ruby on Rails)</a:t>
            </a:r>
          </a:p>
          <a:p>
            <a:pPr marL="717550" lvl="1" indent="-260350"/>
            <a:r>
              <a:rPr lang="en-GB" altLang="ja-JP" sz="2000" dirty="0"/>
              <a:t>Python: </a:t>
            </a:r>
            <a:r>
              <a:rPr lang="ja-JP" altLang="en-US" sz="2000" dirty="0"/>
              <a:t>中級</a:t>
            </a:r>
            <a:endParaRPr lang="en-GB" altLang="ja-JP" sz="2000" dirty="0"/>
          </a:p>
          <a:p>
            <a:pPr marL="717550" lvl="1" indent="-260350"/>
            <a:r>
              <a:rPr lang="en-GB" altLang="ja-JP" sz="2000" dirty="0"/>
              <a:t>TypeScript:</a:t>
            </a:r>
            <a:r>
              <a:rPr lang="ja-JP" altLang="en-US" sz="2000" dirty="0"/>
              <a:t>中級</a:t>
            </a:r>
            <a:r>
              <a:rPr lang="en-GB" altLang="ja-JP" sz="2000" dirty="0"/>
              <a:t>(Library: React.js) </a:t>
            </a:r>
          </a:p>
          <a:p>
            <a:pPr marL="717550" lvl="1" indent="-260350"/>
            <a:r>
              <a:rPr lang="en-GB" altLang="ja-JP" sz="2000" dirty="0"/>
              <a:t>HTML:</a:t>
            </a:r>
            <a:r>
              <a:rPr lang="ja-JP" altLang="en-US" sz="2000" dirty="0"/>
              <a:t>中級</a:t>
            </a:r>
            <a:r>
              <a:rPr lang="en-GB" altLang="ja-JP" sz="2000" dirty="0"/>
              <a:t>(Library: Bootstrap) </a:t>
            </a:r>
          </a:p>
          <a:p>
            <a:pPr marL="717550" lvl="1" indent="-260350"/>
            <a:r>
              <a:rPr lang="en-GB" altLang="ja-JP" sz="2000" dirty="0"/>
              <a:t>CSS:</a:t>
            </a:r>
            <a:r>
              <a:rPr lang="ja-JP" altLang="en-US" sz="2000" dirty="0"/>
              <a:t>中級</a:t>
            </a:r>
            <a:r>
              <a:rPr lang="en-GB" altLang="ja-JP" sz="2000" dirty="0"/>
              <a:t>(Library: Bootstrap)</a:t>
            </a:r>
          </a:p>
          <a:p>
            <a:pPr marL="717550" lvl="1" indent="-260350"/>
            <a:r>
              <a:rPr lang="en-GB" altLang="ja-JP" sz="2000" dirty="0"/>
              <a:t>SQL:</a:t>
            </a:r>
            <a:r>
              <a:rPr lang="ja-JP" altLang="en-US" sz="2000" dirty="0"/>
              <a:t>中級</a:t>
            </a:r>
            <a:endParaRPr lang="en-GB" altLang="ja-JP" sz="2000" dirty="0"/>
          </a:p>
          <a:p>
            <a:pPr marL="268288" lvl="1" indent="-268288"/>
            <a:r>
              <a:rPr lang="ja-JP" altLang="en-US" dirty="0"/>
              <a:t>その他</a:t>
            </a:r>
            <a:endParaRPr lang="en-GB" altLang="ja-JP" dirty="0"/>
          </a:p>
          <a:p>
            <a:pPr marL="725488" lvl="2" indent="-268288"/>
            <a:r>
              <a:rPr lang="ja-JP" altLang="en-US" dirty="0"/>
              <a:t>ドキュメンテーション</a:t>
            </a:r>
            <a:r>
              <a:rPr lang="en-GB" altLang="ja-JP" dirty="0"/>
              <a:t>: </a:t>
            </a:r>
            <a:r>
              <a:rPr lang="ja-JP" altLang="en-US" dirty="0"/>
              <a:t>上級</a:t>
            </a:r>
            <a:endParaRPr lang="en-GB" altLang="ja-JP" dirty="0"/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B466E99F-DE8D-B5C8-FF3D-07A77B49F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4566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40C2B9CD-E508-14EA-C68A-0EEDAB8B0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ja-JP" altLang="en-US" b="1" dirty="0">
                <a:latin typeface="+mn-lt"/>
              </a:rPr>
              <a:t>職歴</a:t>
            </a:r>
          </a:p>
        </p:txBody>
      </p:sp>
      <p:sp>
        <p:nvSpPr>
          <p:cNvPr id="10" name="スライド番号プレースホルダー 3">
            <a:extLst>
              <a:ext uri="{FF2B5EF4-FFF2-40B4-BE49-F238E27FC236}">
                <a16:creationId xmlns:a16="http://schemas.microsoft.com/office/drawing/2014/main" id="{3A525B54-F0C1-52B0-6223-2F2F2A2A2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コンテンツ プレースホルダー 5">
            <a:extLst>
              <a:ext uri="{FF2B5EF4-FFF2-40B4-BE49-F238E27FC236}">
                <a16:creationId xmlns:a16="http://schemas.microsoft.com/office/drawing/2014/main" id="{20C09252-6352-10F8-FBFE-BDD0CD6D9AA3}"/>
              </a:ext>
            </a:extLst>
          </p:cNvPr>
          <p:cNvSpPr txBox="1">
            <a:spLocks/>
          </p:cNvSpPr>
          <p:nvPr/>
        </p:nvSpPr>
        <p:spPr>
          <a:xfrm>
            <a:off x="839601" y="1822829"/>
            <a:ext cx="10515600" cy="435133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システムエンジニア</a:t>
            </a:r>
            <a:r>
              <a:rPr kumimoji="0" lang="en-GB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 </a:t>
            </a:r>
            <a:r>
              <a:rPr kumimoji="0" lang="en-GB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rPr>
              <a:t>@SES</a:t>
            </a:r>
          </a:p>
          <a:p>
            <a:pPr marL="625475" marR="0" lvl="1" indent="-1682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レガシー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 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rPr>
              <a:t>Windows Server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 </a:t>
            </a: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運用・保守</a:t>
            </a:r>
            <a:endParaRPr kumimoji="0" lang="en-GB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+mn-cs"/>
            </a:endParaRPr>
          </a:p>
          <a:p>
            <a:pPr marL="625475" marR="0" lvl="1" indent="-1682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社内アカウント管理</a:t>
            </a:r>
            <a:endParaRPr kumimoji="0" lang="en-GB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+mn-cs"/>
            </a:endParaRPr>
          </a:p>
          <a:p>
            <a:pPr marL="625475" marR="0" lvl="1" indent="-1682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社内セキュリティ啓蒙</a:t>
            </a:r>
            <a:endParaRPr kumimoji="0" lang="en-GB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+mn-cs"/>
            </a:endParaRPr>
          </a:p>
          <a:p>
            <a:pPr marL="625475" marR="0" lvl="1" indent="-1682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英語通訳</a:t>
            </a:r>
            <a:r>
              <a:rPr kumimoji="0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(</a:t>
            </a: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海外拠点とのオンライン会議・ベンダー対応・海外スタッフのアテンド</a:t>
            </a:r>
            <a:r>
              <a:rPr kumimoji="0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)</a:t>
            </a:r>
            <a:endParaRPr kumimoji="0" lang="en-GB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+mn-cs"/>
            </a:endParaRP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ソフトウェアエンジニア</a:t>
            </a:r>
            <a:r>
              <a:rPr kumimoji="0" lang="en-GB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 </a:t>
            </a:r>
            <a:r>
              <a:rPr kumimoji="0" lang="en-GB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rPr>
              <a:t>@</a:t>
            </a:r>
            <a:r>
              <a:rPr kumimoji="0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受託開発会社</a:t>
            </a:r>
            <a:endParaRPr kumimoji="0" lang="en-GB" altLang="ja-JP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+mn-cs"/>
            </a:endParaRPr>
          </a:p>
          <a:p>
            <a:pPr marL="625475" marR="0" lvl="1" indent="-1682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サーバーサイド開発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(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rPr>
              <a:t>Ruby on Rails, RSpec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)</a:t>
            </a:r>
          </a:p>
          <a:p>
            <a:pPr marL="625475" marR="0" lvl="1" indent="-1682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フロントエンド開発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(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rPr>
              <a:t>HTML / CSS, JavaScript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)</a:t>
            </a:r>
          </a:p>
          <a:p>
            <a:pPr marL="625475" marR="0" lvl="1" indent="-1682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rPr>
              <a:t>QA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(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rPr>
              <a:t>Native iOS / Android Apps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)</a:t>
            </a:r>
          </a:p>
          <a:p>
            <a:pPr marL="625475" marR="0" lvl="1" indent="-1682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企業技術ブログ記事執筆</a:t>
            </a:r>
            <a:endParaRPr kumimoji="0" lang="en-GB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+mn-cs"/>
            </a:endParaRP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ソフトウェアエンジニア </a:t>
            </a:r>
            <a:r>
              <a:rPr kumimoji="0" lang="en-GB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rPr>
              <a:t>@</a:t>
            </a:r>
            <a:r>
              <a:rPr kumimoji="0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チャットボットプラットフォーム開発会社</a:t>
            </a:r>
            <a:endParaRPr kumimoji="0" lang="en-GB" altLang="ja-JP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+mn-cs"/>
            </a:endParaRPr>
          </a:p>
          <a:p>
            <a:pPr marL="625475" marR="0" lvl="1" indent="-1682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既存チャットボットプラットフォーム開発・運用・保守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(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rPr>
              <a:t>Ruby on Rails, RSpec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)</a:t>
            </a:r>
          </a:p>
          <a:p>
            <a:pPr marL="625475" marR="0" lvl="1" indent="-1682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新規チャットボットエンジン性能検証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(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rPr>
              <a:t>Ruby, Ruby on Rails, RSpec, Python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)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ソフトウェアエンジニア </a:t>
            </a:r>
            <a:r>
              <a:rPr kumimoji="0" lang="en-GB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rPr>
              <a:t>@</a:t>
            </a:r>
            <a:r>
              <a:rPr kumimoji="0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rPr>
              <a:t>メガベンチャーの教育系サービス内製開発部門</a:t>
            </a:r>
            <a:endParaRPr kumimoji="0" lang="en-GB" altLang="ja-JP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+mn-cs"/>
            </a:endParaRPr>
          </a:p>
          <a:p>
            <a:pPr marL="625475" marR="0" lvl="1" indent="-1682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学事・進路支援機能開発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(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rPr>
              <a:t>Ruby on Rails, R</a:t>
            </a:r>
            <a:r>
              <a:rPr lang="en-GB" altLang="ja-JP" sz="14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50" charset="-128"/>
              </a:rPr>
              <a:t>S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rPr>
              <a:t>pec, Minitest, TypeScript + React.js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) </a:t>
            </a:r>
          </a:p>
          <a:p>
            <a:pPr marL="625475" marR="0" lvl="1" indent="-1682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年次高校マスタデータ更新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(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50" charset="-128"/>
                <a:cs typeface="+mn-cs"/>
              </a:rPr>
              <a:t>Ruby on Rails, RSpec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)</a:t>
            </a:r>
          </a:p>
          <a:p>
            <a:pPr marL="625475" marR="0" lvl="1" indent="-1682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負債解消活動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(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游ゴシック" panose="020B0400000000000000" pitchFamily="50" charset="-128"/>
                <a:cs typeface="+mn-cs"/>
              </a:rPr>
              <a:t>Ruby, Python, GitHub Actions etc.</a:t>
            </a:r>
            <a:r>
              <a:rPr kumimoji="0" lang="en-GB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5858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378C05C1-87B1-BA30-D593-66D492FF1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ja-JP" altLang="en-US" b="1" dirty="0"/>
              <a:t>国際交流活動</a:t>
            </a:r>
            <a:endParaRPr lang="en-GB" b="1" dirty="0"/>
          </a:p>
        </p:txBody>
      </p:sp>
      <p:sp>
        <p:nvSpPr>
          <p:cNvPr id="10" name="スライド番号プレースホルダー 3">
            <a:extLst>
              <a:ext uri="{FF2B5EF4-FFF2-40B4-BE49-F238E27FC236}">
                <a16:creationId xmlns:a16="http://schemas.microsoft.com/office/drawing/2014/main" id="{D7C9EA79-C769-23E2-9F3D-D4890F3C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1A2A920C-FA0F-BEBB-BB45-6CBA82FEA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0270"/>
            <a:ext cx="10515600" cy="434389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ja-JP" altLang="en-US" sz="1600" dirty="0"/>
              <a:t>大学時代</a:t>
            </a:r>
          </a:p>
          <a:p>
            <a:pPr marL="536575" lvl="1" indent="-268288"/>
            <a:r>
              <a:rPr lang="ja-JP" altLang="en-US" sz="1400" dirty="0"/>
              <a:t>英語学ゼミ</a:t>
            </a:r>
            <a:r>
              <a:rPr lang="en-US" altLang="ja-JP" sz="1400" dirty="0"/>
              <a:t>(</a:t>
            </a:r>
            <a:r>
              <a:rPr lang="ja-JP" altLang="en-US" sz="1400" dirty="0"/>
              <a:t>マスメディア英語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ja-JP" altLang="en-US" sz="1400" dirty="0"/>
              <a:t>国際交流サークル兼部</a:t>
            </a:r>
            <a:r>
              <a:rPr lang="en-US" altLang="ja-JP" sz="1400" dirty="0"/>
              <a:t>(2</a:t>
            </a:r>
            <a:r>
              <a:rPr lang="ja-JP" altLang="en-US" sz="1400" dirty="0"/>
              <a:t>年次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ja-JP" altLang="en-US" sz="1400" dirty="0">
                <a:hlinkClick r:id="rId3"/>
              </a:rPr>
              <a:t>内閣府主催国際交流プログラム</a:t>
            </a:r>
            <a:r>
              <a:rPr lang="en-US" altLang="ja-JP" sz="1400" dirty="0"/>
              <a:t>(2013</a:t>
            </a:r>
            <a:r>
              <a:rPr lang="ja-JP" altLang="en-US" sz="1400" dirty="0"/>
              <a:t>年 </a:t>
            </a:r>
            <a:r>
              <a:rPr lang="en-GB" altLang="ja-JP" sz="1400" dirty="0"/>
              <a:t>-</a:t>
            </a:r>
            <a:r>
              <a:rPr lang="en-US" altLang="ja-JP" sz="1400" dirty="0"/>
              <a:t> 2016</a:t>
            </a:r>
            <a:r>
              <a:rPr lang="ja-JP" altLang="en-US" sz="1400" dirty="0"/>
              <a:t>年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ja-JP" altLang="en-US" sz="1400" dirty="0"/>
              <a:t>日本語学の授業の</a:t>
            </a:r>
            <a:r>
              <a:rPr lang="en-GB" altLang="ja-JP" sz="1400" dirty="0"/>
              <a:t> S </a:t>
            </a:r>
            <a:r>
              <a:rPr lang="ja-JP" altLang="en-US" sz="1400" dirty="0"/>
              <a:t>単位取得</a:t>
            </a:r>
            <a:r>
              <a:rPr lang="en-GB" altLang="ja-JP" sz="1400" dirty="0"/>
              <a:t>(</a:t>
            </a:r>
            <a:r>
              <a:rPr lang="ja-JP" altLang="en-US" sz="1400" dirty="0"/>
              <a:t>最終年次</a:t>
            </a:r>
            <a:r>
              <a:rPr lang="en-GB" altLang="ja-JP" sz="1400" dirty="0"/>
              <a:t>)</a:t>
            </a:r>
            <a:endParaRPr lang="en-US" altLang="ja-JP" sz="1400" dirty="0"/>
          </a:p>
          <a:p>
            <a:pPr marL="268288" indent="-268288"/>
            <a:r>
              <a:rPr lang="ja-JP" altLang="en-US" sz="1600" dirty="0"/>
              <a:t>海外生活</a:t>
            </a:r>
          </a:p>
          <a:p>
            <a:pPr marL="536575" lvl="1" indent="-268288"/>
            <a:r>
              <a:rPr lang="ja-JP" altLang="en-US" sz="1400" dirty="0"/>
              <a:t>オーストラリアでのワーキングホリデー</a:t>
            </a:r>
            <a:r>
              <a:rPr lang="en-US" altLang="ja-JP" sz="1400" dirty="0"/>
              <a:t>(2014</a:t>
            </a:r>
            <a:r>
              <a:rPr lang="ja-JP" altLang="en-US" sz="1400" dirty="0"/>
              <a:t>年</a:t>
            </a:r>
            <a:r>
              <a:rPr lang="en-US" altLang="ja-JP" sz="1400" dirty="0"/>
              <a:t>04</a:t>
            </a:r>
            <a:r>
              <a:rPr lang="ja-JP" altLang="en-US" sz="1400" dirty="0"/>
              <a:t>月 </a:t>
            </a:r>
            <a:r>
              <a:rPr lang="en-US" altLang="ja-JP" sz="1400" dirty="0"/>
              <a:t>- </a:t>
            </a:r>
            <a:r>
              <a:rPr lang="en-GB" altLang="ja-JP" sz="1400" dirty="0"/>
              <a:t>2015</a:t>
            </a:r>
            <a:r>
              <a:rPr lang="ja-JP" altLang="en-US" sz="1400" dirty="0"/>
              <a:t>年</a:t>
            </a:r>
            <a:r>
              <a:rPr lang="en-US" altLang="ja-JP" sz="1400" dirty="0"/>
              <a:t>03</a:t>
            </a:r>
            <a:r>
              <a:rPr lang="ja-JP" altLang="en-US" sz="1400" dirty="0"/>
              <a:t>月</a:t>
            </a:r>
            <a:r>
              <a:rPr lang="en-US" altLang="ja-JP" sz="1400" dirty="0"/>
              <a:t>)</a:t>
            </a:r>
          </a:p>
          <a:p>
            <a:pPr marL="728662" lvl="2" indent="-285750"/>
            <a:r>
              <a:rPr lang="en-GB" altLang="ja-JP" sz="1200" dirty="0"/>
              <a:t>2</a:t>
            </a:r>
            <a:r>
              <a:rPr lang="ja-JP" altLang="en-US" sz="1200" dirty="0"/>
              <a:t>ヶ月間のシドニーの語学学校通学</a:t>
            </a:r>
            <a:endParaRPr lang="en-GB" altLang="ja-JP" sz="1200" dirty="0"/>
          </a:p>
          <a:p>
            <a:pPr marL="728662" lvl="2" indent="-285750"/>
            <a:r>
              <a:rPr lang="en-US" altLang="ja-JP" sz="1200" dirty="0"/>
              <a:t>6</a:t>
            </a:r>
            <a:r>
              <a:rPr lang="ja-JP" altLang="en-US" sz="1200" dirty="0"/>
              <a:t>ヶ月間の</a:t>
            </a:r>
            <a:r>
              <a:rPr lang="en-GB" altLang="ja-JP" sz="1200" dirty="0"/>
              <a:t> </a:t>
            </a:r>
            <a:r>
              <a:rPr lang="en-GB" altLang="ja-JP" sz="1200" dirty="0">
                <a:hlinkClick r:id="rId4"/>
              </a:rPr>
              <a:t>Hamilton Island Resort</a:t>
            </a:r>
            <a:r>
              <a:rPr lang="en-GB" altLang="ja-JP" sz="1200" dirty="0"/>
              <a:t> </a:t>
            </a:r>
            <a:r>
              <a:rPr lang="ja-JP" altLang="en-US" sz="1200" dirty="0"/>
              <a:t>での就労</a:t>
            </a:r>
            <a:endParaRPr lang="en-GB" altLang="ja-JP" sz="1200" dirty="0"/>
          </a:p>
          <a:p>
            <a:pPr marL="728662" lvl="2" indent="-285750"/>
            <a:r>
              <a:rPr lang="en-US" altLang="ja-JP" sz="1200" dirty="0"/>
              <a:t>1</a:t>
            </a:r>
            <a:r>
              <a:rPr lang="ja-JP" altLang="en-US" sz="1200" dirty="0"/>
              <a:t>ヶ月間の </a:t>
            </a:r>
            <a:r>
              <a:rPr lang="en-GB" altLang="ja-JP" sz="1200" dirty="0"/>
              <a:t>NSW </a:t>
            </a:r>
            <a:r>
              <a:rPr lang="ja-JP" altLang="en-US" sz="1200" dirty="0"/>
              <a:t>州の </a:t>
            </a:r>
            <a:r>
              <a:rPr lang="en-GB" altLang="ja-JP" sz="1200" dirty="0">
                <a:hlinkClick r:id="rId5"/>
              </a:rPr>
              <a:t>St Ives High School</a:t>
            </a:r>
            <a:r>
              <a:rPr lang="ja-JP" altLang="en-US" sz="1200" dirty="0"/>
              <a:t> での日本語教師アシスタントボランティア活動</a:t>
            </a:r>
            <a:endParaRPr lang="en-US" altLang="ja-JP" sz="1200" dirty="0"/>
          </a:p>
          <a:p>
            <a:pPr marL="268288" indent="-268288"/>
            <a:r>
              <a:rPr lang="ja-JP" altLang="en-US" sz="1600" dirty="0"/>
              <a:t>その他活動</a:t>
            </a:r>
            <a:endParaRPr lang="ja-JP" altLang="en-US" sz="900" dirty="0"/>
          </a:p>
          <a:p>
            <a:pPr marL="536575" lvl="1" indent="-268288"/>
            <a:r>
              <a:rPr lang="ja-JP" altLang="en-US" sz="1400" dirty="0"/>
              <a:t>英語での日々の日記</a:t>
            </a:r>
            <a:r>
              <a:rPr lang="en-GB" altLang="ja-JP" sz="1400" dirty="0"/>
              <a:t>(</a:t>
            </a:r>
            <a:r>
              <a:rPr lang="en-US" altLang="ja-JP" sz="1400" dirty="0"/>
              <a:t>2014</a:t>
            </a:r>
            <a:r>
              <a:rPr lang="ja-JP" altLang="en-US" sz="1400" dirty="0"/>
              <a:t>年</a:t>
            </a:r>
            <a:r>
              <a:rPr lang="en-US" altLang="ja-JP" sz="1400" dirty="0"/>
              <a:t>04</a:t>
            </a:r>
            <a:r>
              <a:rPr lang="ja-JP" altLang="en-US" sz="1400" dirty="0"/>
              <a:t>月 </a:t>
            </a:r>
            <a:r>
              <a:rPr lang="en-US" altLang="ja-JP" sz="1400" dirty="0"/>
              <a:t>- </a:t>
            </a:r>
            <a:r>
              <a:rPr lang="ja-JP" altLang="en-US" sz="1400" dirty="0"/>
              <a:t>現在</a:t>
            </a:r>
            <a:r>
              <a:rPr lang="en-GB" altLang="ja-JP" sz="1400" dirty="0"/>
              <a:t>)</a:t>
            </a:r>
            <a:endParaRPr lang="en-US" altLang="ja-JP" sz="1400" dirty="0">
              <a:hlinkClick r:id="rId6"/>
            </a:endParaRPr>
          </a:p>
          <a:p>
            <a:pPr marL="536575" lvl="1" indent="-268288"/>
            <a:r>
              <a:rPr lang="en-US" altLang="ja-JP" sz="1400" dirty="0">
                <a:hlinkClick r:id="rId7"/>
              </a:rPr>
              <a:t>Sunrise Toastmasters Club</a:t>
            </a:r>
            <a:r>
              <a:rPr lang="en-GB" altLang="ja-JP" sz="1400" dirty="0"/>
              <a:t> </a:t>
            </a:r>
            <a:r>
              <a:rPr lang="ja-JP" altLang="en-US" sz="1400" dirty="0"/>
              <a:t>参加</a:t>
            </a:r>
            <a:r>
              <a:rPr lang="en-US" altLang="ja-JP" sz="1400" dirty="0"/>
              <a:t>(2017</a:t>
            </a:r>
            <a:r>
              <a:rPr lang="ja-JP" altLang="en-US" sz="1400" dirty="0"/>
              <a:t>年</a:t>
            </a:r>
            <a:r>
              <a:rPr lang="en-US" altLang="ja-JP" sz="1400" dirty="0"/>
              <a:t>02</a:t>
            </a:r>
            <a:r>
              <a:rPr lang="ja-JP" altLang="en-US" sz="1400" dirty="0"/>
              <a:t>月 </a:t>
            </a:r>
            <a:r>
              <a:rPr lang="en-US" altLang="ja-JP" sz="1400" dirty="0"/>
              <a:t>- 2018</a:t>
            </a:r>
            <a:r>
              <a:rPr lang="ja-JP" altLang="en-US" sz="1400" dirty="0"/>
              <a:t>年</a:t>
            </a:r>
            <a:r>
              <a:rPr lang="en-US" altLang="ja-JP" sz="1400" dirty="0"/>
              <a:t>03</a:t>
            </a:r>
            <a:r>
              <a:rPr lang="ja-JP" altLang="en-US" sz="1400" dirty="0"/>
              <a:t>月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US" altLang="ja-JP" sz="1400" dirty="0">
                <a:hlinkClick r:id="rId8"/>
              </a:rPr>
              <a:t>Vital Japan</a:t>
            </a:r>
            <a:r>
              <a:rPr lang="en-US" altLang="ja-JP" sz="1400" dirty="0"/>
              <a:t> </a:t>
            </a:r>
            <a:r>
              <a:rPr lang="ja-JP" altLang="en-US" sz="1400" dirty="0"/>
              <a:t>参加</a:t>
            </a:r>
            <a:r>
              <a:rPr lang="en-US" altLang="ja-JP" sz="1400" dirty="0"/>
              <a:t>(2018</a:t>
            </a:r>
            <a:r>
              <a:rPr lang="ja-JP" altLang="en-US" sz="1400" dirty="0"/>
              <a:t>年</a:t>
            </a:r>
            <a:r>
              <a:rPr lang="en-US" altLang="ja-JP" sz="1400" dirty="0"/>
              <a:t>0</a:t>
            </a:r>
            <a:r>
              <a:rPr lang="en-GB" altLang="ja-JP" sz="1400" dirty="0"/>
              <a:t>1</a:t>
            </a:r>
            <a:r>
              <a:rPr lang="ja-JP" altLang="en-US" sz="1400" dirty="0"/>
              <a:t>月 </a:t>
            </a:r>
            <a:r>
              <a:rPr lang="en-US" altLang="ja-JP" sz="1400" dirty="0"/>
              <a:t>- 2019</a:t>
            </a:r>
            <a:r>
              <a:rPr lang="ja-JP" altLang="en-US" sz="1400" dirty="0"/>
              <a:t>年</a:t>
            </a:r>
            <a:r>
              <a:rPr lang="en-US" altLang="ja-JP" sz="1400" dirty="0"/>
              <a:t>0</a:t>
            </a:r>
            <a:r>
              <a:rPr lang="en-GB" altLang="ja-JP" sz="1400" dirty="0"/>
              <a:t>7</a:t>
            </a:r>
            <a:r>
              <a:rPr lang="ja-JP" altLang="en-US" sz="1400" dirty="0"/>
              <a:t>月、</a:t>
            </a:r>
            <a:r>
              <a:rPr lang="en-US" altLang="ja-JP" sz="1400" dirty="0"/>
              <a:t>2022</a:t>
            </a:r>
            <a:r>
              <a:rPr lang="ja-JP" altLang="en-US" sz="1400" dirty="0"/>
              <a:t>年</a:t>
            </a:r>
            <a:r>
              <a:rPr lang="en-US" altLang="ja-JP" sz="1400" dirty="0"/>
              <a:t>10</a:t>
            </a:r>
            <a:r>
              <a:rPr lang="ja-JP" altLang="en-US" sz="1400" dirty="0"/>
              <a:t>月 </a:t>
            </a:r>
            <a:r>
              <a:rPr lang="en-US" altLang="ja-JP" sz="1400" dirty="0"/>
              <a:t>- 2023</a:t>
            </a:r>
            <a:r>
              <a:rPr lang="ja-JP" altLang="en-US" sz="1400" dirty="0"/>
              <a:t>年</a:t>
            </a:r>
            <a:r>
              <a:rPr lang="en-US" altLang="ja-JP" sz="1400" dirty="0"/>
              <a:t>0</a:t>
            </a:r>
            <a:r>
              <a:rPr lang="en-GB" altLang="ja-JP" sz="1400" dirty="0"/>
              <a:t>2</a:t>
            </a:r>
            <a:r>
              <a:rPr lang="ja-JP" altLang="en-US" sz="1400" dirty="0"/>
              <a:t>月</a:t>
            </a:r>
            <a:r>
              <a:rPr lang="en-US" altLang="ja-JP" sz="1400" dirty="0"/>
              <a:t>) </a:t>
            </a:r>
          </a:p>
          <a:p>
            <a:pPr marL="536575" lvl="1" indent="-268288"/>
            <a:r>
              <a:rPr lang="ja-JP" altLang="en-US" sz="1400" dirty="0"/>
              <a:t>英語自己学習</a:t>
            </a:r>
            <a:endParaRPr lang="en-GB" altLang="ja-JP" sz="1400" dirty="0"/>
          </a:p>
          <a:p>
            <a:pPr marL="536575" lvl="1" indent="-268288"/>
            <a:r>
              <a:rPr lang="en-GB" altLang="ja-JP" sz="1400" dirty="0"/>
              <a:t>Ruby </a:t>
            </a:r>
            <a:r>
              <a:rPr lang="ja-JP" altLang="en-US" sz="1400"/>
              <a:t>関連カンファレンス参加</a:t>
            </a:r>
            <a:endParaRPr lang="en-GB" altLang="ja-JP" sz="1400" dirty="0"/>
          </a:p>
        </p:txBody>
      </p:sp>
    </p:spTree>
    <p:extLst>
      <p:ext uri="{BB962C8B-B14F-4D97-AF65-F5344CB8AC3E}">
        <p14:creationId xmlns:p14="http://schemas.microsoft.com/office/powerpoint/2010/main" val="2567433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ja-JP" altLang="en-US" b="1" dirty="0">
                <a:latin typeface="Calibri (Headings)"/>
              </a:rPr>
              <a:t>目次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3" action="ppaction://hlinksldjump"/>
              </a:rPr>
              <a:t>Economy of Efforts </a:t>
            </a:r>
            <a:r>
              <a:rPr lang="ja-JP" altLang="en-US" sz="2400" dirty="0">
                <a:sym typeface="Arial"/>
                <a:hlinkClick r:id="rId3" action="ppaction://hlinksldjump"/>
              </a:rPr>
              <a:t>とは？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ja-JP" altLang="en-US" sz="2400" dirty="0">
                <a:sym typeface="Arial"/>
                <a:hlinkClick r:id="rId4" action="ppaction://hlinksldjump"/>
              </a:rPr>
              <a:t>文法における労力の節約原理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ja-JP" altLang="en-US" sz="2400" dirty="0">
                <a:sym typeface="Arial"/>
                <a:hlinkClick r:id="rId5" action="ppaction://hlinksldjump"/>
              </a:rPr>
              <a:t>発音における労力の節約原理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ja-JP" altLang="en-US" sz="2400" dirty="0">
                <a:sym typeface="Arial"/>
                <a:hlinkClick r:id="rId6" action="ppaction://hlinksldjump"/>
              </a:rPr>
              <a:t>労力の節約原理の産物例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ja-JP" altLang="en-US" sz="2400" dirty="0">
                <a:sym typeface="Arial"/>
                <a:hlinkClick r:id="rId7" action="ppaction://hlinksldjump"/>
              </a:rPr>
              <a:t>まとめ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ja-JP" altLang="en-US" sz="2400" dirty="0">
                <a:sym typeface="Arial"/>
                <a:hlinkClick r:id="rId8" action="ppaction://hlinksldjump"/>
              </a:rPr>
              <a:t>参考文献</a:t>
            </a:r>
            <a:endParaRPr lang="en-GB" altLang="ja-JP" sz="2400" dirty="0">
              <a:sym typeface="Arial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825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Economy of Efforts </a:t>
            </a:r>
            <a:r>
              <a:rPr lang="ja-JP" altLang="en-US" b="1" dirty="0">
                <a:latin typeface="Calibri (Headings)"/>
                <a:sym typeface="Arial"/>
              </a:rPr>
              <a:t>とは？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3418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Economy of Efforts </a:t>
            </a:r>
            <a:r>
              <a:rPr lang="ja-JP" altLang="en-US" b="1" dirty="0">
                <a:latin typeface="Calibri (Headings)"/>
                <a:sym typeface="Arial"/>
              </a:rPr>
              <a:t>とは？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辞書上の定義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245110" lvl="0" indent="0" algn="l" defTabSz="914400" rtl="0" eaLnBrk="1" fontAlgn="auto" latinLnBrk="0" hangingPunct="1">
              <a:lnSpc>
                <a:spcPts val="2810"/>
              </a:lnSpc>
              <a:spcBef>
                <a:spcPts val="5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tendency of an organism 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efficiently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minimize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expenditure </a:t>
            </a:r>
            <a:r>
              <a:rPr kumimoji="0" lang="en-GB" sz="2400" b="0" i="1" u="none" strike="noStrike" kern="1200" cap="none" spc="-5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energy,</a:t>
            </a:r>
            <a:r>
              <a:rPr kumimoji="0" lang="en-GB" sz="24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such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by avoiding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any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unnecessary</a:t>
            </a:r>
            <a:r>
              <a:rPr kumimoji="0" lang="en-GB" sz="24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movements.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286385" lvl="0" indent="0" algn="l" defTabSz="914400" rtl="0" eaLnBrk="1" fontAlgn="auto" latinLnBrk="0" hangingPunct="1">
              <a:lnSpc>
                <a:spcPts val="2380"/>
              </a:lnSpc>
              <a:spcBef>
                <a:spcPts val="4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いかなる不必要な動作も避けるな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ど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して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効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率的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に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行動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し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、費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や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す労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力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を最</a:t>
            </a:r>
            <a:r>
              <a:rPr kumimoji="0" lang="ja-JP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小</a:t>
            </a:r>
            <a:r>
              <a:rPr kumimoji="0" lang="ja-JP" altLang="en-US" sz="22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限に </a:t>
            </a:r>
            <a:r>
              <a:rPr kumimoji="0" lang="ja-JP" altLang="en-US" sz="2200" b="0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留めるという生物が有する傾向。</a:t>
            </a:r>
            <a:endParaRPr kumimoji="0" lang="ja-JP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出典</a:t>
            </a:r>
            <a:r>
              <a:rPr kumimoji="0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lang="ja-JP" altLang="en-US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Economy</a:t>
            </a:r>
            <a:r>
              <a:rPr kumimoji="0" lang="en-GB" sz="1800" b="0" i="0" u="sng" strike="noStrike" kern="120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18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of </a:t>
            </a:r>
            <a:r>
              <a:rPr kumimoji="0" lang="en-GB" sz="1800" b="0" i="0" u="sng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Efforts</a:t>
            </a: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-</a:t>
            </a:r>
            <a:r>
              <a:rPr kumimoji="0" lang="en-GB" sz="18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1800" b="0" i="0" u="sng" strike="noStrike" kern="120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APA</a:t>
            </a:r>
            <a:r>
              <a:rPr kumimoji="0" lang="en-GB" sz="1800" b="0" i="0" u="sng" strike="noStrike" kern="1200" cap="none" spc="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18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Dictionary</a:t>
            </a:r>
            <a:r>
              <a:rPr kumimoji="0" lang="en-GB" sz="18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18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of </a:t>
            </a:r>
            <a:r>
              <a:rPr kumimoji="0" lang="en-GB" sz="1800" b="0" i="0" u="sng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Psychology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5280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Economy of Efforts </a:t>
            </a:r>
            <a:r>
              <a:rPr lang="ja-JP" altLang="en-US" b="1" dirty="0">
                <a:latin typeface="Calibri (Headings)"/>
                <a:sym typeface="Arial"/>
              </a:rPr>
              <a:t>とは？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要するに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「</a:t>
            </a:r>
            <a:r>
              <a:rPr kumimoji="0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コスパの良さ</a:t>
            </a:r>
            <a:r>
              <a:rPr kumimoji="0" lang="ja-JP" altLang="en-US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」を追求する行動のこと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→ 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最小の労力で最大の結果を得たい</a:t>
            </a:r>
          </a:p>
        </p:txBody>
      </p:sp>
    </p:spTree>
    <p:extLst>
      <p:ext uri="{BB962C8B-B14F-4D97-AF65-F5344CB8AC3E}">
        <p14:creationId xmlns:p14="http://schemas.microsoft.com/office/powerpoint/2010/main" val="2822346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Economy of Efforts </a:t>
            </a:r>
            <a:r>
              <a:rPr lang="ja-JP" altLang="en-US" b="1" dirty="0">
                <a:latin typeface="Calibri (Headings)"/>
                <a:sym typeface="Arial"/>
              </a:rPr>
              <a:t>とは？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プログラマーが</a:t>
            </a:r>
            <a:r>
              <a:rPr kumimoji="0" lang="ja-JP" altLang="en-US" sz="24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Lazin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</a:t>
            </a: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ss</a:t>
            </a:r>
            <a:r>
              <a:rPr kumimoji="0" lang="en-US" altLang="ja-JP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怠惰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r>
              <a:rPr kumimoji="0" lang="ja-JP" altLang="en-US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をもって面倒な繰返し作業をどうにか効率化 </a:t>
            </a: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しようとするのが美徳とされているのはよく知られている。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122555" lvl="0" indent="0" algn="l" defTabSz="914400" rtl="0" eaLnBrk="1" fontAlgn="auto" latinLnBrk="0" hangingPunct="1">
              <a:lnSpc>
                <a:spcPts val="2590"/>
              </a:lnSpc>
              <a:spcBef>
                <a:spcPts val="5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言語学においても同様に、面倒で難しい動作は無駄が省かれ効率化される 力学が働く。</a:t>
            </a:r>
          </a:p>
          <a:p>
            <a:pPr marL="12700" marR="118110" lvl="0" indent="0" algn="l" defTabSz="914400" rtl="0" eaLnBrk="1" fontAlgn="auto" latinLnBrk="0" hangingPunct="1">
              <a:lnSpc>
                <a:spcPts val="2590"/>
              </a:lnSpc>
              <a:spcBef>
                <a:spcPts val="4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Economy</a:t>
            </a:r>
            <a:r>
              <a:rPr kumimoji="0" lang="ja-JP" altLang="en-US" sz="24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ja-JP" altLang="en-US" sz="240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Efforts</a:t>
            </a:r>
            <a:r>
              <a:rPr kumimoji="0" lang="ja-JP" altLang="en-US" sz="2400" b="1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を起点に考えると、語学学習における「なぜ？」に対し て、大体の説明が付くので、知っているとお得である。</a:t>
            </a:r>
          </a:p>
        </p:txBody>
      </p:sp>
    </p:spTree>
    <p:extLst>
      <p:ext uri="{BB962C8B-B14F-4D97-AF65-F5344CB8AC3E}">
        <p14:creationId xmlns:p14="http://schemas.microsoft.com/office/powerpoint/2010/main" val="3298116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ja-JP" altLang="en-US" b="1" dirty="0">
                <a:latin typeface="Calibri (Headings)"/>
                <a:sym typeface="Arial"/>
              </a:rPr>
              <a:t>文法における労力の節約原理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1154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ja-JP" altLang="en-US" b="1" dirty="0">
                <a:latin typeface="Calibri (Headings)"/>
                <a:sym typeface="Arial"/>
              </a:rPr>
              <a:t>文法における労力の節約原理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英語において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spend</a:t>
            </a:r>
            <a:r>
              <a:rPr kumimoji="0" lang="ja-JP" altLang="en-US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~</a:t>
            </a:r>
            <a:r>
              <a:rPr kumimoji="0" lang="ja-JP" altLang="en-US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400" b="0" i="0" u="heavy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(in)</a:t>
            </a:r>
            <a:r>
              <a:rPr kumimoji="0" lang="ja-JP" altLang="en-US" sz="2400" b="0" i="0" u="heavy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400" b="0" i="0" u="heavy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Ving</a:t>
            </a: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…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「～を</a:t>
            </a: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…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するのに費やす」</a:t>
            </a: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US" altLang="ja-JP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take</a:t>
            </a:r>
            <a:r>
              <a:rPr kumimoji="0" lang="ja-JP" altLang="en-US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turns</a:t>
            </a:r>
            <a:r>
              <a:rPr kumimoji="0" lang="ja-JP" altLang="en-US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400" b="0" i="0" u="heavy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(in)</a:t>
            </a:r>
            <a:r>
              <a:rPr kumimoji="0" lang="ja-JP" altLang="en-US" sz="2400" b="0" i="0" u="heavy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400" b="0" i="0" u="heavy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Ving</a:t>
            </a: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…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「交代で～する」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なぜこれらのイディオムでは前置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詞</a:t>
            </a:r>
            <a:r>
              <a:rPr kumimoji="0" lang="ja-JP" altLang="en-US" sz="24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ja-JP" altLang="en-US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は省略できるのか？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35012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ja-JP" altLang="en-US" b="1" dirty="0">
                <a:latin typeface="Calibri (Headings)"/>
                <a:sym typeface="Arial"/>
              </a:rPr>
              <a:t>文法における労力の節約原理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英語において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Ving…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when</a:t>
            </a:r>
            <a:r>
              <a:rPr kumimoji="0" lang="en-GB" sz="2400" b="0" i="0" u="heavy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SV…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Ving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when</a:t>
            </a:r>
            <a:r>
              <a:rPr kumimoji="0" lang="en-GB" sz="2400" b="0" i="0" u="heavy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SV…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分詞構文の「時」の用</a:t>
            </a:r>
            <a:r>
              <a:rPr kumimoji="0" lang="ja-JP" altLang="en-US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法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どちらも同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じ</a:t>
            </a:r>
            <a:r>
              <a:rPr kumimoji="0" lang="ja-JP" altLang="en-US" sz="24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`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when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SV…`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を表すので、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が省略され、</a:t>
            </a:r>
            <a:r>
              <a:rPr kumimoji="0" lang="ja-JP" altLang="en-US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より簡潔</a:t>
            </a: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な</a:t>
            </a:r>
            <a:r>
              <a:rPr kumimoji="0" lang="ja-JP" altLang="en-US" sz="2400" b="1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Ving</a:t>
            </a:r>
            <a:r>
              <a:rPr kumimoji="0" lang="en-GB" sz="24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の分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0" lvl="0" indent="0" algn="l" defTabSz="914400" rtl="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詞構文の「時」の用法が一般的になっ</a:t>
            </a:r>
            <a:r>
              <a:rPr kumimoji="0" lang="ja-JP" altLang="en-US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た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e.g.,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spent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many</a:t>
            </a:r>
            <a:r>
              <a:rPr kumimoji="0" lang="en-GB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half</a:t>
            </a:r>
            <a:r>
              <a:rPr kumimoji="0" lang="en-GB" sz="24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day</a:t>
            </a:r>
            <a:r>
              <a:rPr kumimoji="0" lang="en-GB" sz="24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heavy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(in)</a:t>
            </a:r>
            <a:r>
              <a:rPr kumimoji="0" lang="en-GB" sz="2400" b="0" i="1" u="heavy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heavy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cleaning</a:t>
            </a:r>
            <a:r>
              <a:rPr kumimoji="0" lang="en-GB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up </a:t>
            </a:r>
            <a:r>
              <a:rPr kumimoji="0" lang="en-GB" sz="24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my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dirty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room</a:t>
            </a: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yesterday.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ts val="2735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前置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詞</a:t>
            </a:r>
            <a:r>
              <a:rPr kumimoji="0" lang="ja-JP" altLang="en-US" sz="24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の有無に関わらず、副詞句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は</a:t>
            </a:r>
            <a:r>
              <a:rPr kumimoji="0" lang="ja-JP" altLang="en-US" sz="24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'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when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I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cleaned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up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my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dirty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room'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と解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0" lvl="0" indent="0" algn="l" defTabSz="914400" rtl="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釈することができる。</a:t>
            </a:r>
          </a:p>
        </p:txBody>
      </p:sp>
    </p:spTree>
    <p:extLst>
      <p:ext uri="{BB962C8B-B14F-4D97-AF65-F5344CB8AC3E}">
        <p14:creationId xmlns:p14="http://schemas.microsoft.com/office/powerpoint/2010/main" val="1656222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ja-JP" altLang="en-US" b="1" dirty="0">
                <a:latin typeface="Calibri (Headings)"/>
                <a:sym typeface="Arial"/>
              </a:rPr>
              <a:t>文法における労力の節約原理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日本語において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食べられる</a:t>
            </a: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食べれる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なぜ「ら」は省略できるの？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481444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ja-JP" altLang="en-US" b="1" dirty="0">
                <a:latin typeface="Calibri (Headings)"/>
                <a:sym typeface="Arial"/>
              </a:rPr>
              <a:t>文法における労力の節約原理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ts val="3329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</a:rPr>
              <a:t>日本語において</a:t>
            </a:r>
          </a:p>
          <a:p>
            <a:pPr marL="280670" marR="0" lvl="0" indent="-268605" defTabSz="91440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  <a:tab pos="281305" algn="l"/>
              </a:tabLst>
              <a:defRPr/>
            </a:pPr>
            <a:r>
              <a:rPr kumimoji="0" lang="ja-JP" altLang="en-US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助動詞「れる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」</a:t>
            </a:r>
            <a:r>
              <a:rPr kumimoji="0" lang="ja-JP" altLang="en-US" sz="2400" b="0" i="0" u="none" strike="noStrike" kern="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ja-JP" altLang="en-US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「られる」</a:t>
            </a:r>
            <a:endParaRPr kumimoji="0" lang="ja-JP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730250" marR="0" lvl="1" indent="-260985" defTabSz="91440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受身「～れる」</a:t>
            </a:r>
          </a:p>
          <a:p>
            <a:pPr marL="730250" marR="0" lvl="1" indent="-260985" defTabSz="91440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尊敬「～なさる」</a:t>
            </a:r>
          </a:p>
          <a:p>
            <a:pPr marL="730250" marR="0" lvl="1" indent="-260985" defTabSz="91440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ja-JP" altLang="en-US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可能「～できる」</a:t>
            </a:r>
            <a:endParaRPr kumimoji="0" lang="ja-JP" altLang="en-US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730250" marR="0" lvl="1" indent="-260985" defTabSz="91440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  <a:tab pos="730885" algn="l"/>
              </a:tabLst>
              <a:defRPr/>
            </a:pPr>
            <a:r>
              <a:rPr kumimoji="0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自発「自然と～」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7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58419" lvl="0" indent="0" defTabSz="91440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どちらも同じ可能を表す下一段活用・未然形接続の助動詞なので、「ら」 が省略され、</a:t>
            </a:r>
            <a:r>
              <a:rPr kumimoji="0" lang="ja-JP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</a:rPr>
              <a:t>より簡潔な「食べれる」が一般的になっ</a:t>
            </a:r>
            <a:r>
              <a:rPr kumimoji="0" lang="ja-JP" altLang="en-US" sz="2400" b="1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</a:rPr>
              <a:t>た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。</a:t>
            </a:r>
            <a:endParaRPr kumimoji="0" lang="ja-JP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75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508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S Gothic"/>
                <a:ea typeface="+mn-ea"/>
                <a:cs typeface="MS Gothic"/>
              </a:rPr>
              <a:t>※</a:t>
            </a:r>
            <a:r>
              <a:rPr kumimoji="0" lang="ja-JP" altLang="en-US" sz="2200" b="0" i="0" u="none" strike="noStrike" kern="0" cap="none" spc="-5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S Gothic"/>
                <a:ea typeface="+mn-ea"/>
                <a:cs typeface="MS Gothic"/>
              </a:rPr>
              <a:t> </a:t>
            </a:r>
            <a:r>
              <a:rPr kumimoji="0" lang="ja-JP" altLang="en-US" sz="2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本来「れる」は五段・サ変動詞と</a:t>
            </a:r>
            <a:r>
              <a:rPr kumimoji="0" lang="ja-JP" alt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、</a:t>
            </a:r>
            <a:r>
              <a:rPr kumimoji="0" lang="ja-JP" altLang="en-US" sz="2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「ら</a:t>
            </a:r>
            <a:r>
              <a:rPr kumimoji="0" lang="ja-JP" alt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れ</a:t>
            </a:r>
            <a:r>
              <a:rPr kumimoji="0" lang="ja-JP" altLang="en-US" sz="2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る」</a:t>
            </a:r>
            <a:r>
              <a:rPr kumimoji="0" lang="ja-JP" alt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上</a:t>
            </a:r>
            <a:r>
              <a:rPr kumimoji="0" lang="ja-JP" altLang="en-US" sz="2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一段</a:t>
            </a:r>
            <a:r>
              <a:rPr kumimoji="0" lang="ja-JP" alt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</a:t>
            </a:r>
            <a:r>
              <a:rPr kumimoji="0" lang="ja-JP" altLang="en-US" sz="2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下一</a:t>
            </a:r>
            <a:r>
              <a:rPr kumimoji="0" lang="ja-JP" alt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段</a:t>
            </a:r>
            <a:r>
              <a:rPr kumimoji="0" lang="ja-JP" altLang="en-US" sz="2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・カ</a:t>
            </a:r>
            <a:r>
              <a:rPr kumimoji="0" lang="ja-JP" alt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変</a:t>
            </a:r>
            <a:r>
              <a:rPr kumimoji="0" lang="ja-JP" altLang="en-US" sz="2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動詞</a:t>
            </a:r>
            <a:r>
              <a:rPr kumimoji="0" lang="ja-JP" alt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と</a:t>
            </a:r>
            <a:r>
              <a:rPr kumimoji="0" lang="ja-JP" altLang="en-US" sz="2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結 びつく使い分けが存在する。</a:t>
            </a:r>
            <a:endParaRPr kumimoji="0" lang="ja-JP" altLang="en-US" sz="2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398F552B-EBA5-070C-13BC-5361CE1D1D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01691"/>
              </p:ext>
            </p:extLst>
          </p:nvPr>
        </p:nvGraphicFramePr>
        <p:xfrm>
          <a:off x="5687449" y="1819275"/>
          <a:ext cx="5671820" cy="19202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79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7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未然形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連用形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終止形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連体形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仮定形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命令形</a:t>
                      </a:r>
                      <a:endParaRPr sz="1800">
                        <a:latin typeface="Yu Gothic"/>
                        <a:cs typeface="Yu Gothic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受身のみ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れ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れ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れる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れる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れれ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7004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れろ れよ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られ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られ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られる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られる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られれ</a:t>
                      </a:r>
                      <a:endParaRPr sz="1800">
                        <a:latin typeface="Yu Gothic"/>
                        <a:cs typeface="Yu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71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Yu Gothic"/>
                          <a:cs typeface="Yu Gothic"/>
                        </a:rPr>
                        <a:t>られろ られよ</a:t>
                      </a: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5721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</a:t>
            </a:r>
            <a:r>
              <a:rPr lang="ja-JP" altLang="en-US" b="1" dirty="0">
                <a:latin typeface="Calibri (Headings)"/>
              </a:rPr>
              <a:t>発音における労力の節約原理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1934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</a:t>
            </a:r>
            <a:r>
              <a:rPr lang="ja-JP" altLang="en-US" b="1" dirty="0">
                <a:latin typeface="Calibri (Headings)"/>
              </a:rPr>
              <a:t>発音における労力の節約原理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英語において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6925E76-2C11-5993-9914-8527693EBEB2}"/>
              </a:ext>
            </a:extLst>
          </p:cNvPr>
          <p:cNvGraphicFramePr>
            <a:graphicFrameLocks noGrp="1"/>
          </p:cNvGraphicFramePr>
          <p:nvPr/>
        </p:nvGraphicFramePr>
        <p:xfrm>
          <a:off x="905713" y="2315845"/>
          <a:ext cx="10400030" cy="3815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83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4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2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単</a:t>
                      </a:r>
                      <a:r>
                        <a:rPr sz="1600" b="1" spc="365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語</a:t>
                      </a:r>
                      <a:r>
                        <a:rPr sz="16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/IPA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発音記号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現象名</a:t>
                      </a:r>
                      <a:endParaRPr sz="1600">
                        <a:latin typeface="Yu Gothic"/>
                        <a:cs typeface="Yu Gothic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Yu Gothic"/>
                          <a:cs typeface="Yu Gothic"/>
                        </a:rPr>
                        <a:t>原理</a:t>
                      </a:r>
                      <a:endParaRPr sz="1600">
                        <a:latin typeface="Yu Gothic"/>
                        <a:cs typeface="Yu Gothic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0639">
                <a:tc>
                  <a:txBody>
                    <a:bodyPr/>
                    <a:lstStyle/>
                    <a:p>
                      <a:pPr marL="377825" indent="-28702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•"/>
                        <a:tabLst>
                          <a:tab pos="377825" algn="l"/>
                          <a:tab pos="378460" algn="l"/>
                        </a:tabLst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lamb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/lam/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77825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  <a:tab pos="378460" algn="l"/>
                        </a:tabLst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climb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/klʌɪm/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77825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  <a:tab pos="378460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tomb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/tuːm/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77825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  <a:tab pos="378460" algn="l"/>
                        </a:tabLst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dumb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/dʌm/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-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38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/m/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/b/</a:t>
                      </a:r>
                      <a:r>
                        <a:rPr sz="1600" b="1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Yu Gothic"/>
                          <a:cs typeface="Yu Gothic"/>
                        </a:rPr>
                        <a:t>ともに「両唇音」であり、両者の</a:t>
                      </a:r>
                      <a:r>
                        <a:rPr sz="1600" spc="5" dirty="0">
                          <a:latin typeface="Yu Gothic"/>
                          <a:cs typeface="Yu Gothic"/>
                        </a:rPr>
                        <a:t>間</a:t>
                      </a:r>
                      <a:r>
                        <a:rPr sz="1600" spc="-5" dirty="0">
                          <a:latin typeface="Yu Gothic"/>
                          <a:cs typeface="Yu Gothic"/>
                        </a:rPr>
                        <a:t>には</a:t>
                      </a:r>
                      <a:r>
                        <a:rPr sz="1600" spc="-25" dirty="0">
                          <a:latin typeface="Yu Gothic"/>
                          <a:cs typeface="Yu Gothic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/m/</a:t>
                      </a:r>
                      <a:r>
                        <a:rPr sz="1600" b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Yu Gothic"/>
                          <a:cs typeface="Yu Gothic"/>
                        </a:rPr>
                        <a:t>が鼻か ら、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/b/ </a:t>
                      </a:r>
                      <a:r>
                        <a:rPr sz="1600" spc="-5" dirty="0">
                          <a:latin typeface="Yu Gothic"/>
                          <a:cs typeface="Yu Gothic"/>
                        </a:rPr>
                        <a:t>は口から空気が出るという差分</a:t>
                      </a:r>
                      <a:r>
                        <a:rPr sz="1600" spc="5" dirty="0">
                          <a:latin typeface="Yu Gothic"/>
                          <a:cs typeface="Yu Gothic"/>
                        </a:rPr>
                        <a:t>し</a:t>
                      </a:r>
                      <a:r>
                        <a:rPr sz="1600" spc="-5" dirty="0">
                          <a:latin typeface="Yu Gothic"/>
                          <a:cs typeface="Yu Gothic"/>
                        </a:rPr>
                        <a:t>かな</a:t>
                      </a:r>
                      <a:r>
                        <a:rPr sz="1600" spc="5" dirty="0">
                          <a:latin typeface="Yu Gothic"/>
                          <a:cs typeface="Yu Gothic"/>
                        </a:rPr>
                        <a:t>い</a:t>
                      </a:r>
                      <a:r>
                        <a:rPr sz="1600" spc="-5" dirty="0">
                          <a:latin typeface="Yu Gothic"/>
                          <a:cs typeface="Yu Gothic"/>
                        </a:rPr>
                        <a:t>。そ</a:t>
                      </a:r>
                      <a:r>
                        <a:rPr sz="1600" spc="5" dirty="0">
                          <a:latin typeface="Yu Gothic"/>
                          <a:cs typeface="Yu Gothic"/>
                        </a:rPr>
                        <a:t>の</a:t>
                      </a:r>
                      <a:r>
                        <a:rPr sz="1600" spc="-5" dirty="0">
                          <a:latin typeface="Yu Gothic"/>
                          <a:cs typeface="Yu Gothic"/>
                        </a:rPr>
                        <a:t>ため、 同じ音を繰り返し出すのは面倒で</a:t>
                      </a:r>
                      <a:r>
                        <a:rPr sz="1600" spc="5" dirty="0">
                          <a:latin typeface="Yu Gothic"/>
                          <a:cs typeface="Yu Gothic"/>
                        </a:rPr>
                        <a:t>難</a:t>
                      </a:r>
                      <a:r>
                        <a:rPr sz="1600" spc="-5" dirty="0">
                          <a:latin typeface="Yu Gothic"/>
                          <a:cs typeface="Yu Gothic"/>
                        </a:rPr>
                        <a:t>しい</a:t>
                      </a:r>
                      <a:r>
                        <a:rPr sz="1600" spc="5" dirty="0">
                          <a:latin typeface="Yu Gothic"/>
                          <a:cs typeface="Yu Gothic"/>
                        </a:rPr>
                        <a:t>と</a:t>
                      </a:r>
                      <a:r>
                        <a:rPr sz="1600" spc="-5" dirty="0">
                          <a:latin typeface="Yu Gothic"/>
                          <a:cs typeface="Yu Gothic"/>
                        </a:rPr>
                        <a:t>いう</a:t>
                      </a:r>
                      <a:r>
                        <a:rPr sz="1600" spc="5" dirty="0">
                          <a:latin typeface="Yu Gothic"/>
                          <a:cs typeface="Yu Gothic"/>
                        </a:rPr>
                        <a:t>理</a:t>
                      </a:r>
                      <a:r>
                        <a:rPr sz="1600" spc="-5" dirty="0">
                          <a:latin typeface="Yu Gothic"/>
                          <a:cs typeface="Yu Gothic"/>
                        </a:rPr>
                        <a:t>由で</a:t>
                      </a:r>
                      <a:r>
                        <a:rPr sz="1600" spc="-65" dirty="0">
                          <a:latin typeface="Yu Gothic"/>
                          <a:cs typeface="Yu Gothic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/b/</a:t>
                      </a:r>
                      <a:r>
                        <a:rPr sz="16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Yu Gothic"/>
                          <a:cs typeface="Yu Gothic"/>
                        </a:rPr>
                        <a:t>が脱 落した。</a:t>
                      </a:r>
                      <a:endParaRPr sz="1600">
                        <a:latin typeface="Yu Gothic"/>
                        <a:cs typeface="Yu Gothic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MS Gothic"/>
                          <a:cs typeface="MS Gothic"/>
                        </a:rPr>
                        <a:t>※</a:t>
                      </a:r>
                      <a:r>
                        <a:rPr sz="1600" spc="-430" dirty="0">
                          <a:latin typeface="MS Gothic"/>
                          <a:cs typeface="MS Gothic"/>
                        </a:rPr>
                        <a:t> </a:t>
                      </a:r>
                      <a:r>
                        <a:rPr sz="1600" dirty="0">
                          <a:latin typeface="Yu Gothic"/>
                          <a:cs typeface="Yu Gothic"/>
                        </a:rPr>
                        <a:t>古英語では</a:t>
                      </a:r>
                      <a:r>
                        <a:rPr sz="1600" spc="-85" dirty="0">
                          <a:latin typeface="Yu Gothic"/>
                          <a:cs typeface="Yu Gothic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600" b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Yu Gothic"/>
                          <a:cs typeface="Yu Gothic"/>
                        </a:rPr>
                        <a:t>は発音されていた。</a:t>
                      </a:r>
                      <a:endParaRPr sz="1600">
                        <a:latin typeface="Yu Gothic"/>
                        <a:cs typeface="Yu Gothic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377825" indent="-28702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•"/>
                        <a:tabLst>
                          <a:tab pos="377825" algn="l"/>
                          <a:tab pos="378460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cupboard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/ˈkʌbəd/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77825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  <a:tab pos="378460" algn="l"/>
                        </a:tabLst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raspberry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/ˈrɑːzb(ə)ri/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47370">
                        <a:lnSpc>
                          <a:spcPts val="2140"/>
                        </a:lnSpc>
                        <a:spcBef>
                          <a:spcPts val="3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sim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on 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800" dirty="0">
                          <a:latin typeface="Yu Gothic"/>
                          <a:cs typeface="Yu Gothic"/>
                        </a:rPr>
                        <a:t>同化作用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37795" algn="just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/p/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/b/</a:t>
                      </a:r>
                      <a:r>
                        <a:rPr sz="1600" b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Yu Gothic"/>
                          <a:cs typeface="Yu Gothic"/>
                        </a:rPr>
                        <a:t>ともに「両唇破裂音」であり、両者</a:t>
                      </a:r>
                      <a:r>
                        <a:rPr sz="1600" spc="5" dirty="0">
                          <a:latin typeface="Yu Gothic"/>
                          <a:cs typeface="Yu Gothic"/>
                        </a:rPr>
                        <a:t>の</a:t>
                      </a:r>
                      <a:r>
                        <a:rPr sz="1600" spc="-5" dirty="0">
                          <a:latin typeface="Yu Gothic"/>
                          <a:cs typeface="Yu Gothic"/>
                        </a:rPr>
                        <a:t>間には</a:t>
                      </a:r>
                      <a:r>
                        <a:rPr sz="1600" spc="-30" dirty="0">
                          <a:latin typeface="Yu Gothic"/>
                          <a:cs typeface="Yu Gothic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/p/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Yu Gothic"/>
                          <a:cs typeface="Yu Gothic"/>
                        </a:rPr>
                        <a:t>は無 声音、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/b/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Yu Gothic"/>
                          <a:cs typeface="Yu Gothic"/>
                        </a:rPr>
                        <a:t>は有声音という差分しかない。その</a:t>
                      </a:r>
                      <a:r>
                        <a:rPr sz="1600" spc="5" dirty="0">
                          <a:latin typeface="Yu Gothic"/>
                          <a:cs typeface="Yu Gothic"/>
                        </a:rPr>
                        <a:t>た</a:t>
                      </a:r>
                      <a:r>
                        <a:rPr sz="1600" spc="-5" dirty="0">
                          <a:latin typeface="Yu Gothic"/>
                          <a:cs typeface="Yu Gothic"/>
                        </a:rPr>
                        <a:t>め、</a:t>
                      </a:r>
                      <a:r>
                        <a:rPr sz="1600" spc="5" dirty="0">
                          <a:latin typeface="Yu Gothic"/>
                          <a:cs typeface="Yu Gothic"/>
                        </a:rPr>
                        <a:t>同</a:t>
                      </a:r>
                      <a:r>
                        <a:rPr sz="1600" spc="-5" dirty="0">
                          <a:latin typeface="Yu Gothic"/>
                          <a:cs typeface="Yu Gothic"/>
                        </a:rPr>
                        <a:t>じ音を </a:t>
                      </a:r>
                      <a:r>
                        <a:rPr sz="1600" dirty="0">
                          <a:latin typeface="Yu Gothic"/>
                          <a:cs typeface="Yu Gothic"/>
                        </a:rPr>
                        <a:t>繰り返し出すのは面倒で難しいと</a:t>
                      </a:r>
                      <a:r>
                        <a:rPr sz="1600" spc="10" dirty="0">
                          <a:latin typeface="Yu Gothic"/>
                          <a:cs typeface="Yu Gothic"/>
                        </a:rPr>
                        <a:t>い</a:t>
                      </a:r>
                      <a:r>
                        <a:rPr sz="1600" dirty="0">
                          <a:latin typeface="Yu Gothic"/>
                          <a:cs typeface="Yu Gothic"/>
                        </a:rPr>
                        <a:t>う理</a:t>
                      </a:r>
                      <a:r>
                        <a:rPr sz="1600" spc="10" dirty="0">
                          <a:latin typeface="Yu Gothic"/>
                          <a:cs typeface="Yu Gothic"/>
                        </a:rPr>
                        <a:t>由</a:t>
                      </a:r>
                      <a:r>
                        <a:rPr sz="1600" dirty="0">
                          <a:latin typeface="Yu Gothic"/>
                          <a:cs typeface="Yu Gothic"/>
                        </a:rPr>
                        <a:t>で</a:t>
                      </a:r>
                      <a:r>
                        <a:rPr sz="1600" spc="5" dirty="0">
                          <a:latin typeface="Yu Gothic"/>
                          <a:cs typeface="Yu Gothic"/>
                        </a:rPr>
                        <a:t>、</a:t>
                      </a:r>
                      <a:r>
                        <a:rPr sz="1600" b="1" spc="5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600" b="1" spc="-5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600" b="1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Yu Gothic"/>
                          <a:cs typeface="Yu Gothic"/>
                        </a:rPr>
                        <a:t>が</a:t>
                      </a:r>
                      <a:r>
                        <a:rPr sz="1600" spc="-100" dirty="0">
                          <a:latin typeface="Yu Gothic"/>
                          <a:cs typeface="Yu Gothic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600" b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Yu Gothic"/>
                          <a:cs typeface="Yu Gothic"/>
                        </a:rPr>
                        <a:t>に同 </a:t>
                      </a:r>
                      <a:r>
                        <a:rPr sz="1600" spc="-5" dirty="0">
                          <a:latin typeface="Yu Gothic"/>
                          <a:cs typeface="Yu Gothic"/>
                        </a:rPr>
                        <a:t>化した。</a:t>
                      </a:r>
                      <a:endParaRPr sz="1600">
                        <a:latin typeface="Yu Gothic"/>
                        <a:cs typeface="Yu Gothic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women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/ˈwɪmɪn/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15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i-mutation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ts val="215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800" dirty="0">
                          <a:latin typeface="Yu Gothic"/>
                          <a:cs typeface="Yu Gothic"/>
                        </a:rPr>
                        <a:t>母音変異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600" spc="-10" dirty="0">
                          <a:latin typeface="Yu Gothic"/>
                          <a:cs typeface="Yu Gothic"/>
                        </a:rPr>
                        <a:t>強勢のある母音や二重母音の音節</a:t>
                      </a:r>
                      <a:r>
                        <a:rPr sz="1600" spc="-5" dirty="0">
                          <a:latin typeface="Yu Gothic"/>
                          <a:cs typeface="Yu Gothic"/>
                        </a:rPr>
                        <a:t>に</a:t>
                      </a:r>
                      <a:r>
                        <a:rPr sz="1600" spc="-25" dirty="0">
                          <a:latin typeface="Yu Gothic"/>
                          <a:cs typeface="Yu Gothic"/>
                        </a:rPr>
                        <a:t> </a:t>
                      </a:r>
                      <a:r>
                        <a:rPr sz="1600" b="1" spc="-5" dirty="0">
                          <a:latin typeface="Calibri"/>
                          <a:cs typeface="Calibri"/>
                        </a:rPr>
                        <a:t>/i/ </a:t>
                      </a:r>
                      <a:r>
                        <a:rPr sz="1600" spc="-5" dirty="0">
                          <a:latin typeface="Yu Gothic"/>
                          <a:cs typeface="Yu Gothic"/>
                        </a:rPr>
                        <a:t>や</a:t>
                      </a:r>
                      <a:r>
                        <a:rPr sz="1600" spc="-95" dirty="0">
                          <a:latin typeface="Yu Gothic"/>
                          <a:cs typeface="Yu Gothic"/>
                        </a:rPr>
                        <a:t> </a:t>
                      </a:r>
                      <a:r>
                        <a:rPr sz="1600" b="1" spc="-5" dirty="0">
                          <a:latin typeface="Calibri"/>
                          <a:cs typeface="Calibri"/>
                        </a:rPr>
                        <a:t>/j/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Yu Gothic"/>
                          <a:cs typeface="Yu Gothic"/>
                        </a:rPr>
                        <a:t>が続くと、これ</a:t>
                      </a:r>
                      <a:endParaRPr sz="1600" dirty="0">
                        <a:latin typeface="Yu Gothic"/>
                        <a:cs typeface="Yu Gothic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Yu Gothic"/>
                          <a:cs typeface="Yu Gothic"/>
                        </a:rPr>
                        <a:t>らの発音に影響を受けて前方母音</a:t>
                      </a:r>
                      <a:r>
                        <a:rPr sz="1600" spc="10" dirty="0">
                          <a:latin typeface="Yu Gothic"/>
                          <a:cs typeface="Yu Gothic"/>
                        </a:rPr>
                        <a:t>化</a:t>
                      </a:r>
                      <a:r>
                        <a:rPr sz="1600" dirty="0">
                          <a:latin typeface="Yu Gothic"/>
                          <a:cs typeface="Yu Gothic"/>
                        </a:rPr>
                        <a:t>する。</a:t>
                      </a:r>
                    </a:p>
                    <a:p>
                      <a:pPr marL="92075" marR="9144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Yu Gothic"/>
                          <a:cs typeface="Yu Gothic"/>
                        </a:rPr>
                        <a:t>具体的には、元々</a:t>
                      </a:r>
                      <a:r>
                        <a:rPr sz="1600" spc="-95" dirty="0">
                          <a:latin typeface="Yu Gothic"/>
                          <a:cs typeface="Yu Gothic"/>
                        </a:rPr>
                        <a:t> </a:t>
                      </a:r>
                      <a:r>
                        <a:rPr sz="1600" b="1" spc="-5" dirty="0">
                          <a:latin typeface="Calibri"/>
                          <a:cs typeface="Calibri"/>
                        </a:rPr>
                        <a:t>/ˈwʊmɪn'/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Yu Gothic"/>
                          <a:cs typeface="Yu Gothic"/>
                        </a:rPr>
                        <a:t>だったのが、調音箇所を揃えるた めに</a:t>
                      </a:r>
                      <a:r>
                        <a:rPr sz="1600" spc="-90" dirty="0">
                          <a:latin typeface="Yu Gothic"/>
                          <a:cs typeface="Yu Gothic"/>
                        </a:rPr>
                        <a:t> </a:t>
                      </a:r>
                      <a:r>
                        <a:rPr sz="1600" b="1" spc="-5" dirty="0">
                          <a:latin typeface="Calibri"/>
                          <a:cs typeface="Calibri"/>
                        </a:rPr>
                        <a:t>/ʊ/</a:t>
                      </a:r>
                      <a:r>
                        <a:rPr sz="16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Yu Gothic"/>
                          <a:cs typeface="Yu Gothic"/>
                        </a:rPr>
                        <a:t>が</a:t>
                      </a:r>
                      <a:r>
                        <a:rPr sz="1600" spc="-105" dirty="0">
                          <a:latin typeface="Yu Gothic"/>
                          <a:cs typeface="Yu Gothic"/>
                        </a:rPr>
                        <a:t> </a:t>
                      </a:r>
                      <a:r>
                        <a:rPr sz="1600" b="1" spc="-5" dirty="0">
                          <a:latin typeface="Calibri"/>
                          <a:cs typeface="Calibri"/>
                        </a:rPr>
                        <a:t>/ɪ/</a:t>
                      </a:r>
                      <a:r>
                        <a:rPr sz="16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Yu Gothic"/>
                          <a:cs typeface="Yu Gothic"/>
                        </a:rPr>
                        <a:t>に影響されて同じ</a:t>
                      </a:r>
                      <a:r>
                        <a:rPr sz="1600" spc="-65" dirty="0">
                          <a:latin typeface="Yu Gothic"/>
                          <a:cs typeface="Yu Gothic"/>
                        </a:rPr>
                        <a:t> </a:t>
                      </a:r>
                      <a:r>
                        <a:rPr sz="1600" b="1" spc="-5" dirty="0">
                          <a:latin typeface="Calibri"/>
                          <a:cs typeface="Calibri"/>
                        </a:rPr>
                        <a:t>/ɪ/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Yu Gothic"/>
                          <a:cs typeface="Yu Gothic"/>
                        </a:rPr>
                        <a:t>に変化した。</a:t>
                      </a:r>
                      <a:endParaRPr sz="1600" dirty="0">
                        <a:latin typeface="Yu Gothic"/>
                        <a:cs typeface="Yu Gothic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28702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</a:t>
            </a:r>
            <a:r>
              <a:rPr lang="ja-JP" altLang="en-US" b="1" dirty="0">
                <a:latin typeface="Calibri (Headings)"/>
              </a:rPr>
              <a:t>発音における労力の節約原理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日本語において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日本語は英語と違い、全ての子音は母音を伴う。</a:t>
            </a:r>
          </a:p>
          <a:p>
            <a:pPr marL="12700" marR="5080" lvl="0" indent="0" algn="l" defTabSz="914400" rtl="0" eaLnBrk="1" fontAlgn="auto" latinLnBrk="0" hangingPunct="1">
              <a:lnSpc>
                <a:spcPct val="988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そのため、</a:t>
            </a: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平仮名・片仮名の文字</a:t>
            </a:r>
            <a:r>
              <a:rPr kumimoji="0" lang="ja-JP" altLang="en-US" sz="2400" b="1" i="0" u="none" strike="noStrike" kern="1200" cap="none" spc="5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数</a:t>
            </a:r>
            <a:r>
              <a:rPr kumimoji="0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 </a:t>
            </a: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音節数</a:t>
            </a:r>
            <a:r>
              <a:rPr kumimoji="0" lang="ja-JP" altLang="en-US" sz="2400" b="1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 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であることが基本である。 しかし、日本語の発音においても英語と同様の労力の節約原理が働くこと </a:t>
            </a: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がある。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79134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</a:t>
            </a:r>
            <a:r>
              <a:rPr lang="ja-JP" altLang="en-US" b="1" dirty="0">
                <a:latin typeface="Calibri (Headings)"/>
              </a:rPr>
              <a:t>発音における労力の節約原理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日本語において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altLang="ja-JP" dirty="0">
              <a:solidFill>
                <a:prstClr val="black"/>
              </a:solidFill>
              <a:latin typeface="Yu Gothic"/>
              <a:cs typeface="Yu Gothic"/>
            </a:endParaRPr>
          </a:p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ja-JP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「今日の日中は十中八九救急車が通る」</a:t>
            </a:r>
            <a:endParaRPr kumimoji="0" lang="en-GB" altLang="ja-JP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altLang="ja-JP" sz="2400" dirty="0">
              <a:solidFill>
                <a:prstClr val="black"/>
              </a:solidFill>
              <a:latin typeface="Yu Gothic"/>
              <a:cs typeface="Yu Gothic"/>
            </a:endParaRPr>
          </a:p>
          <a:p>
            <a:pPr marL="12700" marR="496570" lvl="0" indent="0" algn="l" defTabSz="914400" rtl="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上の文は、実際には「きょーのにっちゅーはじゅっちゅーはっくきゅー きゅーしゃがとーる」と発音し、ルビ通りに発音しない。</a:t>
            </a:r>
          </a:p>
          <a:p>
            <a:pPr marL="12700" marR="5080" lvl="0" indent="0" algn="l" defTabSz="914400" rtl="0" eaLnBrk="1" fontAlgn="auto" latinLnBrk="0" hangingPunct="1">
              <a:lnSpc>
                <a:spcPct val="90100"/>
              </a:lnSpc>
              <a:spcBef>
                <a:spcPts val="4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これは、「きゅ」「きょ」「ちゅ」などの拗</a:t>
            </a:r>
            <a:r>
              <a:rPr kumimoji="0" lang="ja-JP" altLang="en-US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音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ようおん</a:t>
            </a:r>
            <a:r>
              <a:rPr kumimoji="0" lang="en-US" altLang="ja-JP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の後に同じ、もし </a:t>
            </a: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くは似た音の母音が続く場合、同じ音を繰り返し出すのは面倒で難しいと 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いう理由で、長母音化して発音を簡単にした例である。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4844B3-2423-DF0A-C499-E43560464B67}"/>
              </a:ext>
            </a:extLst>
          </p:cNvPr>
          <p:cNvSpPr/>
          <p:nvPr/>
        </p:nvSpPr>
        <p:spPr>
          <a:xfrm>
            <a:off x="3698493" y="2990661"/>
            <a:ext cx="520818" cy="19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solidFill>
                  <a:schemeClr val="tx1"/>
                </a:solidFill>
              </a:rPr>
              <a:t>きょう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AB489F-3352-74F7-A321-A4F8A8D139DA}"/>
              </a:ext>
            </a:extLst>
          </p:cNvPr>
          <p:cNvSpPr/>
          <p:nvPr/>
        </p:nvSpPr>
        <p:spPr>
          <a:xfrm>
            <a:off x="4622331" y="2990662"/>
            <a:ext cx="699606" cy="19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solidFill>
                  <a:schemeClr val="tx1"/>
                </a:solidFill>
              </a:rPr>
              <a:t>にっちゅう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38EDAE-711A-8715-589C-04512EF0C95F}"/>
              </a:ext>
            </a:extLst>
          </p:cNvPr>
          <p:cNvSpPr/>
          <p:nvPr/>
        </p:nvSpPr>
        <p:spPr>
          <a:xfrm>
            <a:off x="5539181" y="2990662"/>
            <a:ext cx="1113638" cy="19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solidFill>
                  <a:schemeClr val="tx1"/>
                </a:solidFill>
              </a:rPr>
              <a:t>じゅっちゅうはっく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82B535-FCC7-1DF3-17AD-55A3AC9B3E09}"/>
              </a:ext>
            </a:extLst>
          </p:cNvPr>
          <p:cNvSpPr/>
          <p:nvPr/>
        </p:nvSpPr>
        <p:spPr>
          <a:xfrm>
            <a:off x="6641993" y="2990663"/>
            <a:ext cx="1023457" cy="19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solidFill>
                  <a:schemeClr val="tx1"/>
                </a:solidFill>
              </a:rPr>
              <a:t>きゅうきゅうしゃ</a:t>
            </a: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B3824D-9054-07F9-70A0-E91D7741F0E2}"/>
              </a:ext>
            </a:extLst>
          </p:cNvPr>
          <p:cNvSpPr/>
          <p:nvPr/>
        </p:nvSpPr>
        <p:spPr>
          <a:xfrm>
            <a:off x="7858387" y="2990661"/>
            <a:ext cx="455103" cy="19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とお</a:t>
            </a:r>
            <a:endParaRPr lang="en-GB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1807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4. </a:t>
            </a:r>
            <a:r>
              <a:rPr lang="ja-JP" altLang="en-US" b="1" dirty="0">
                <a:latin typeface="Calibri (Headings)"/>
              </a:rPr>
              <a:t>労力の節約原理の産物例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63034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4. </a:t>
            </a:r>
            <a:r>
              <a:rPr lang="ja-JP" altLang="en-US" b="1" dirty="0">
                <a:latin typeface="Calibri (Headings)"/>
              </a:rPr>
              <a:t>労力の節約原理の産物例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D49EE58D-D452-4512-F877-040E586E9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3329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Aussie</a:t>
            </a:r>
            <a:r>
              <a:rPr kumimoji="0" lang="en-GB" sz="28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English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800" b="1" i="0" u="none" strike="noStrike" kern="1200" cap="none" spc="6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の</a:t>
            </a:r>
            <a:r>
              <a:rPr kumimoji="0" lang="en-GB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Slang(</a:t>
            </a: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俗語・スラング</a:t>
            </a:r>
            <a:r>
              <a:rPr kumimoji="0" lang="en-US" altLang="ja-JP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ts val="2810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en-GB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G'day</a:t>
            </a:r>
            <a:r>
              <a:rPr kumimoji="0" lang="en-GB" sz="2400" b="0" i="1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&gt;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Good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day(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≒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/>
                <a:ea typeface="+mn-ea"/>
                <a:cs typeface="Cambria Math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Hello)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ts val="2805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Aussie</a:t>
            </a:r>
            <a:r>
              <a:rPr kumimoji="0" lang="en-GB" sz="24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&gt;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Australian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ts val="2810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en-GB" sz="2400" b="0" i="1" u="none" strike="noStrike" kern="1200" cap="none" spc="-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Brissie</a:t>
            </a:r>
            <a:r>
              <a:rPr kumimoji="0" lang="en-GB" sz="2400" b="0" i="1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&gt;</a:t>
            </a:r>
            <a:r>
              <a:rPr kumimoji="0" lang="en-GB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Brisbane</a:t>
            </a:r>
          </a:p>
          <a:p>
            <a:pPr marL="280670" marR="0" lvl="0" indent="-268605" algn="l" defTabSz="914400" rtl="0" eaLnBrk="1" fontAlgn="auto" latinLnBrk="0" hangingPunct="1">
              <a:lnSpc>
                <a:spcPts val="2805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en-GB" sz="2400" b="0" i="1" u="none" strike="noStrike" kern="1200" cap="none" spc="-4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Tassie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&gt;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Tasmanian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ts val="2805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en-GB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fridge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&gt;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refrigerator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ts val="2810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veggies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&gt;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vegetables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en-GB" sz="2400" b="0" i="1" u="none" strike="noStrike" kern="1200" cap="none" spc="-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sunnies</a:t>
            </a:r>
            <a:r>
              <a:rPr kumimoji="0" lang="en-GB" sz="24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&gt;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sunglasses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670" marR="0" lvl="0" indent="-268605" algn="l" defTabSz="914400" rtl="0" eaLnBrk="1" fontAlgn="auto" latinLnBrk="0" hangingPunct="1">
              <a:lnSpc>
                <a:spcPts val="2840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1305" algn="l"/>
                <a:tab pos="1741170" algn="l"/>
              </a:tabLst>
              <a:defRPr/>
            </a:pPr>
            <a:r>
              <a:rPr kumimoji="0" lang="en-GB" sz="2400" b="0" i="1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</a:t>
            </a:r>
            <a:r>
              <a:rPr kumimoji="0" lang="en-GB" sz="24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&gt;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Thank	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音節の多い単語の末尾が長母音化するパターンが多い。</a:t>
            </a:r>
          </a:p>
        </p:txBody>
      </p:sp>
    </p:spTree>
    <p:extLst>
      <p:ext uri="{BB962C8B-B14F-4D97-AF65-F5344CB8AC3E}">
        <p14:creationId xmlns:p14="http://schemas.microsoft.com/office/powerpoint/2010/main" val="36980407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4. </a:t>
            </a:r>
            <a:r>
              <a:rPr lang="ja-JP" altLang="en-US" b="1" dirty="0">
                <a:latin typeface="Calibri (Headings)"/>
              </a:rPr>
              <a:t>労力の節約原理の産物例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D49EE58D-D452-4512-F877-040E586E9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4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その他</a:t>
            </a: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コミュニティ用語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私の母校では第一食堂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は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「一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食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」と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呼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ばれる</a:t>
            </a: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社内用語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各社・各部門で多数存</a:t>
            </a:r>
            <a:r>
              <a:rPr kumimoji="0" lang="ja-JP" alt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在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する</a:t>
            </a:r>
          </a:p>
          <a:p>
            <a:pPr marL="280670" marR="0" lvl="0" indent="-268605" algn="l" defTabSz="914400" rtl="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業界用語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en-US" altLang="ja-JP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TV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業界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lang="ja-JP" alt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ロケハン</a:t>
            </a:r>
            <a:r>
              <a:rPr kumimoji="0" lang="en-US" altLang="ja-JP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(Location</a:t>
            </a:r>
            <a:r>
              <a:rPr kumimoji="0" lang="ja-JP" altLang="en-US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Hunting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lang="ja-JP" altLang="en-US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ロケ先の下調べ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</a:p>
          <a:p>
            <a:pPr marL="730250" marR="0" lvl="1" indent="-260985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飲食業界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 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ドンデン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次の宴席の準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備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時間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。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「ど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ん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でん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返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し」</a:t>
            </a:r>
            <a:r>
              <a:rPr kumimoji="0" lang="ja-JP" alt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に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由</a:t>
            </a:r>
            <a:r>
              <a:rPr kumimoji="0" lang="ja-JP" altLang="en-US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来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algn="l" defTabSz="914400" rtl="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これらの例は、労力の節約を目的とした略語としてだけでなく、隠語的な 役割も持つ。</a:t>
            </a:r>
          </a:p>
        </p:txBody>
      </p:sp>
    </p:spTree>
    <p:extLst>
      <p:ext uri="{BB962C8B-B14F-4D97-AF65-F5344CB8AC3E}">
        <p14:creationId xmlns:p14="http://schemas.microsoft.com/office/powerpoint/2010/main" val="25397823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5.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ja-JP" altLang="en-US" b="1" dirty="0">
                <a:latin typeface="Calibri (Headings)"/>
                <a:sym typeface="Arial"/>
              </a:rPr>
              <a:t>まとめ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87880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5.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ja-JP" altLang="en-US" b="1" dirty="0">
                <a:latin typeface="Calibri (Headings)"/>
                <a:sym typeface="Arial"/>
              </a:rPr>
              <a:t>まとめ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92490B7A-6E18-A5F8-262B-EABFCBE9F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労力の節約原理は、以下</a:t>
            </a:r>
            <a:r>
              <a:rPr kumimoji="0" lang="ja-JP" altLang="en-US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の</a:t>
            </a: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つの事例のような作用を持つ。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Calibri"/>
              <a:buAutoNum type="arabicPeriod"/>
              <a:tabLst>
                <a:tab pos="374015" algn="l"/>
                <a:tab pos="374650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文法において、同じ意味を表す場合はより簡潔な形の方が生き残る。</a:t>
            </a:r>
          </a:p>
          <a:p>
            <a:pPr marL="374015" marR="5080" lvl="0" indent="-361950" algn="l" defTabSz="914400" rtl="0" eaLnBrk="1" fontAlgn="auto" latinLnBrk="0" hangingPunct="1">
              <a:lnSpc>
                <a:spcPts val="259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 typeface="Calibri"/>
              <a:buAutoNum type="arabicPeriod"/>
              <a:tabLst>
                <a:tab pos="374015" algn="l"/>
                <a:tab pos="374650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発音において、差分の小さい同じ音を繰り返し発音するのを避けるため、 </a:t>
            </a: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音の脱落や同化、前方母音化が起こる。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374015" marR="614680" lvl="0" indent="-361950" algn="l" defTabSz="914400" rtl="0" eaLnBrk="1" fontAlgn="auto" latinLnBrk="0" hangingPunct="1">
              <a:lnSpc>
                <a:spcPts val="259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alibri"/>
              <a:buAutoNum type="arabicPeriod"/>
              <a:tabLst>
                <a:tab pos="374015" algn="l"/>
                <a:tab pos="374650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長い綴りや多音節の語彙は簡略化されてスラング化したり、独自のコ ミュニティ用語、社内用語、業界用語に転化することがある。</a:t>
            </a:r>
          </a:p>
        </p:txBody>
      </p:sp>
    </p:spTree>
    <p:extLst>
      <p:ext uri="{BB962C8B-B14F-4D97-AF65-F5344CB8AC3E}">
        <p14:creationId xmlns:p14="http://schemas.microsoft.com/office/powerpoint/2010/main" val="35154773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6. </a:t>
            </a:r>
            <a:r>
              <a:rPr lang="ja-JP" altLang="en-US" b="1" dirty="0">
                <a:latin typeface="Calibri (Headings)"/>
              </a:rPr>
              <a:t>参考文献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89575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6. </a:t>
            </a:r>
            <a:r>
              <a:rPr lang="ja-JP" altLang="en-US" b="1" dirty="0">
                <a:latin typeface="Calibri (Headings)"/>
              </a:rPr>
              <a:t>参考文献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96154D-0AC4-47C9-B8EE-32ED60A2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0A3A8506-B2C4-48D9-8B66-4EF42A117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0670" marR="0" lvl="0" indent="-268605" algn="l" defTabSz="914400" rtl="0" eaLnBrk="1" fontAlgn="auto" latinLnBrk="0" hangingPunct="1">
              <a:lnSpc>
                <a:spcPts val="277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en-GB" sz="2400" b="0" i="0" u="heavy" strike="noStrike" kern="1200" cap="none" spc="-6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APA</a:t>
            </a:r>
            <a:r>
              <a:rPr kumimoji="0" lang="en-GB" sz="2400" b="0" i="0" u="heavy" strike="noStrike" kern="120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Dictionary</a:t>
            </a:r>
            <a:r>
              <a:rPr kumimoji="0" lang="en-GB" sz="2400" b="0" i="0" u="heavy" strike="noStrike" kern="120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of</a:t>
            </a:r>
            <a:r>
              <a:rPr kumimoji="0" lang="en-GB" sz="2400" b="0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Psychology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0250" marR="0" lvl="1" indent="-260985" algn="l" defTabSz="914400" rtl="0" eaLnBrk="1" fontAlgn="auto" latinLnBrk="0" hangingPunct="1">
              <a:lnSpc>
                <a:spcPts val="213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最終アクセス日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lang="ja-JP" altLang="en-US" sz="20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2022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年</a:t>
            </a:r>
            <a:r>
              <a:rPr kumimoji="0" lang="en-US" altLang="ja-JP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04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月</a:t>
            </a:r>
            <a:r>
              <a:rPr kumimoji="0" lang="en-US" altLang="ja-JP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18</a:t>
            </a:r>
            <a:r>
              <a:rPr kumimoji="0" lang="ja-JP" altLang="en-US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日</a:t>
            </a:r>
            <a:endParaRPr kumimoji="0" lang="ja-JP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280670" marR="0" lvl="0" indent="-268605" algn="l" defTabSz="914400" rtl="0" eaLnBrk="1" fontAlgn="auto" latinLnBrk="0" hangingPunct="1">
              <a:lnSpc>
                <a:spcPts val="26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ja-JP" altLang="en-US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Yu Gothic"/>
                <a:ea typeface="+mn-ea"/>
                <a:cs typeface="Yu Gothic"/>
                <a:hlinkClick r:id="rId4"/>
              </a:rPr>
              <a:t>国語の文法</a:t>
            </a:r>
            <a:endParaRPr kumimoji="0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Yu Gothic"/>
              <a:ea typeface="+mn-ea"/>
              <a:cs typeface="Yu Gothic"/>
            </a:endParaRPr>
          </a:p>
          <a:p>
            <a:pPr marL="730250" marR="0" lvl="1" indent="-260985" algn="l" defTabSz="914400" rtl="0" eaLnBrk="1" fontAlgn="auto" latinLnBrk="0" hangingPunct="1"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885" algn="l"/>
              </a:tabLst>
              <a:defRPr/>
            </a:pP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最終アクセス日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lang="ja-JP" altLang="en-US" sz="20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2022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年</a:t>
            </a:r>
            <a:r>
              <a:rPr kumimoji="0" lang="en-US" altLang="ja-JP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04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月</a:t>
            </a:r>
            <a:r>
              <a:rPr kumimoji="0" lang="en-US" altLang="ja-JP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18</a:t>
            </a:r>
            <a:r>
              <a:rPr kumimoji="0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日</a:t>
            </a:r>
          </a:p>
          <a:p>
            <a:pPr marL="280670" marR="5080" lvl="0" indent="-268605" algn="l" defTabSz="914400" rtl="0" eaLnBrk="1" fontAlgn="auto" latinLnBrk="0" hangingPunct="1">
              <a:lnSpc>
                <a:spcPts val="2590"/>
              </a:lnSpc>
              <a:spcBef>
                <a:spcPts val="17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菊池清明・唐沢一友・堀田隆一・貝塚泰幸、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『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英語史：現代英語の特質を </a:t>
            </a: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求めて</a:t>
            </a: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</a:t>
            </a: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多文化性と国際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性</a:t>
            </a: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</a:t>
            </a:r>
            <a:r>
              <a:rPr kumimoji="0" lang="en-US" altLang="ja-JP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』</a:t>
            </a:r>
            <a:r>
              <a:rPr kumimoji="0" lang="ja-JP" alt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、大阪府、関西人文科学出版会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、</a:t>
            </a:r>
            <a:r>
              <a:rPr kumimoji="0" lang="en-US" altLang="ja-JP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2009</a:t>
            </a:r>
            <a:r>
              <a:rPr kumimoji="0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"/>
                <a:ea typeface="+mn-ea"/>
                <a:cs typeface="Yu Gothic"/>
              </a:rPr>
              <a:t>年</a:t>
            </a:r>
          </a:p>
        </p:txBody>
      </p:sp>
    </p:spTree>
    <p:extLst>
      <p:ext uri="{BB962C8B-B14F-4D97-AF65-F5344CB8AC3E}">
        <p14:creationId xmlns:p14="http://schemas.microsoft.com/office/powerpoint/2010/main" val="30412465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E6BD63-86C0-4411-B65D-4080E9A95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5400" b="1" dirty="0"/>
          </a:p>
          <a:p>
            <a:pPr marL="0" indent="0" algn="ctr">
              <a:buNone/>
            </a:pPr>
            <a:r>
              <a:rPr lang="en-GB" sz="5400" b="1" dirty="0"/>
              <a:t>EOD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458194-12B8-434A-8D6D-E01520C8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135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3279</Words>
  <Application>Microsoft Office PowerPoint</Application>
  <PresentationFormat>Widescreen</PresentationFormat>
  <Paragraphs>330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-apple-system</vt:lpstr>
      <vt:lpstr>Arial MT</vt:lpstr>
      <vt:lpstr>Calibri (Headings)</vt:lpstr>
      <vt:lpstr>MS Gothic</vt:lpstr>
      <vt:lpstr>游ゴシック</vt:lpstr>
      <vt:lpstr>游ゴシック</vt:lpstr>
      <vt:lpstr>Arial</vt:lpstr>
      <vt:lpstr>Calibri</vt:lpstr>
      <vt:lpstr>Calibri Light</vt:lpstr>
      <vt:lpstr>Cambria Math</vt:lpstr>
      <vt:lpstr>Office テーマ</vt:lpstr>
      <vt:lpstr>Economy of Efforts</vt:lpstr>
      <vt:lpstr>自己紹介</vt:lpstr>
      <vt:lpstr>免許 / 資格</vt:lpstr>
      <vt:lpstr>スキルスタック</vt:lpstr>
      <vt:lpstr>職歴</vt:lpstr>
      <vt:lpstr>職歴</vt:lpstr>
      <vt:lpstr>スキルセット</vt:lpstr>
      <vt:lpstr>職歴</vt:lpstr>
      <vt:lpstr>国際交流活動</vt:lpstr>
      <vt:lpstr>目次</vt:lpstr>
      <vt:lpstr>1. Economy of Efforts とは？</vt:lpstr>
      <vt:lpstr>1. Economy of Efforts とは？</vt:lpstr>
      <vt:lpstr>1. Economy of Efforts とは？</vt:lpstr>
      <vt:lpstr>1. Economy of Efforts とは？</vt:lpstr>
      <vt:lpstr>2. 文法における労力の節約原理</vt:lpstr>
      <vt:lpstr>2. 文法における労力の節約原理</vt:lpstr>
      <vt:lpstr>2. 文法における労力の節約原理</vt:lpstr>
      <vt:lpstr>2. 文法における労力の節約原理</vt:lpstr>
      <vt:lpstr>2. 文法における労力の節約原理</vt:lpstr>
      <vt:lpstr>3. 発音における労力の節約原理</vt:lpstr>
      <vt:lpstr>3. 発音における労力の節約原理</vt:lpstr>
      <vt:lpstr>3. 発音における労力の節約原理</vt:lpstr>
      <vt:lpstr>3. 発音における労力の節約原理</vt:lpstr>
      <vt:lpstr>4. 労力の節約原理の産物例</vt:lpstr>
      <vt:lpstr>4. 労力の節約原理の産物例</vt:lpstr>
      <vt:lpstr>4. 労力の節約原理の産物例</vt:lpstr>
      <vt:lpstr>5. まとめ</vt:lpstr>
      <vt:lpstr>5. まとめ</vt:lpstr>
      <vt:lpstr>6. 参考文献</vt:lpstr>
      <vt:lpstr>6. 参考文献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Hayato Ishida</dc:creator>
  <cp:lastModifiedBy>Hayato Ishida</cp:lastModifiedBy>
  <cp:revision>30</cp:revision>
  <dcterms:modified xsi:type="dcterms:W3CDTF">2025-09-01T03:28:32Z</dcterms:modified>
</cp:coreProperties>
</file>