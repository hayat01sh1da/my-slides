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87" r:id="rId3"/>
    <p:sldId id="388" r:id="rId4"/>
    <p:sldId id="445" r:id="rId5"/>
    <p:sldId id="447" r:id="rId6"/>
    <p:sldId id="446" r:id="rId7"/>
    <p:sldId id="280" r:id="rId8"/>
    <p:sldId id="311" r:id="rId9"/>
    <p:sldId id="259" r:id="rId10"/>
    <p:sldId id="330" r:id="rId11"/>
    <p:sldId id="408" r:id="rId12"/>
    <p:sldId id="325" r:id="rId13"/>
    <p:sldId id="354" r:id="rId14"/>
    <p:sldId id="409" r:id="rId15"/>
    <p:sldId id="410" r:id="rId16"/>
    <p:sldId id="411" r:id="rId17"/>
    <p:sldId id="412" r:id="rId18"/>
    <p:sldId id="413" r:id="rId19"/>
    <p:sldId id="414" r:id="rId20"/>
    <p:sldId id="415" r:id="rId21"/>
    <p:sldId id="416" r:id="rId22"/>
    <p:sldId id="417" r:id="rId23"/>
    <p:sldId id="326" r:id="rId24"/>
    <p:sldId id="436" r:id="rId25"/>
    <p:sldId id="444" r:id="rId26"/>
    <p:sldId id="437" r:id="rId27"/>
    <p:sldId id="438" r:id="rId28"/>
    <p:sldId id="439" r:id="rId29"/>
    <p:sldId id="440" r:id="rId30"/>
    <p:sldId id="441" r:id="rId31"/>
    <p:sldId id="442" r:id="rId32"/>
    <p:sldId id="443" r:id="rId33"/>
    <p:sldId id="426" r:id="rId34"/>
    <p:sldId id="427" r:id="rId35"/>
    <p:sldId id="428" r:id="rId36"/>
    <p:sldId id="429" r:id="rId37"/>
    <p:sldId id="430" r:id="rId38"/>
    <p:sldId id="431" r:id="rId39"/>
    <p:sldId id="357" r:id="rId40"/>
    <p:sldId id="358" r:id="rId41"/>
    <p:sldId id="385" r:id="rId42"/>
    <p:sldId id="386" r:id="rId43"/>
    <p:sldId id="432" r:id="rId44"/>
    <p:sldId id="328" r:id="rId45"/>
    <p:sldId id="295" r:id="rId46"/>
    <p:sldId id="28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2C070941-2E0C-40AB-8649-436100D966F4}"/>
    <pc:docChg chg="custSel modSld">
      <pc:chgData name="Hayato Ishida" userId="585fa0fa6384767c" providerId="LiveId" clId="{2C070941-2E0C-40AB-8649-436100D966F4}" dt="2025-05-03T11:27:43.367" v="8"/>
      <pc:docMkLst>
        <pc:docMk/>
      </pc:docMkLst>
      <pc:sldChg chg="addSp delSp modSp mod">
        <pc:chgData name="Hayato Ishida" userId="585fa0fa6384767c" providerId="LiveId" clId="{2C070941-2E0C-40AB-8649-436100D966F4}" dt="2025-05-03T11:27:43.367" v="8"/>
        <pc:sldMkLst>
          <pc:docMk/>
          <pc:sldMk cId="2567433019" sldId="280"/>
        </pc:sldMkLst>
      </pc:sldChg>
      <pc:sldChg chg="addSp delSp modSp mod">
        <pc:chgData name="Hayato Ishida" userId="585fa0fa6384767c" providerId="LiveId" clId="{2C070941-2E0C-40AB-8649-436100D966F4}" dt="2025-05-03T11:27:19.978" v="7"/>
        <pc:sldMkLst>
          <pc:docMk/>
          <pc:sldMk cId="155858466" sldId="286"/>
        </pc:sldMkLst>
      </pc:sldChg>
      <pc:sldChg chg="addSp delSp modSp mod">
        <pc:chgData name="Hayato Ishida" userId="585fa0fa6384767c" providerId="LiveId" clId="{2C070941-2E0C-40AB-8649-436100D966F4}" dt="2025-05-03T11:27:02.635" v="6"/>
        <pc:sldMkLst>
          <pc:docMk/>
          <pc:sldMk cId="654251065" sldId="287"/>
        </pc:sldMkLst>
      </pc:sldChg>
    </pc:docChg>
  </pc:docChgLst>
  <pc:docChgLst>
    <pc:chgData name="Hayato Ishida" userId="585fa0fa6384767c" providerId="LiveId" clId="{CFFC3ABA-458C-45A0-A9A7-E8D279ABCAD8}"/>
    <pc:docChg chg="custSel addSld delSld modSld sldOrd">
      <pc:chgData name="Hayato Ishida" userId="585fa0fa6384767c" providerId="LiveId" clId="{CFFC3ABA-458C-45A0-A9A7-E8D279ABCAD8}" dt="2025-09-01T03:37:14.312" v="14" actId="27636"/>
      <pc:docMkLst>
        <pc:docMk/>
      </pc:docMkLst>
      <pc:sldChg chg="del">
        <pc:chgData name="Hayato Ishida" userId="585fa0fa6384767c" providerId="LiveId" clId="{CFFC3ABA-458C-45A0-A9A7-E8D279ABCAD8}" dt="2025-08-31T18:01:23.128" v="2" actId="47"/>
        <pc:sldMkLst>
          <pc:docMk/>
          <pc:sldMk cId="155858466" sldId="286"/>
        </pc:sldMkLst>
      </pc:sldChg>
      <pc:sldChg chg="addSp delSp modSp mod">
        <pc:chgData name="Hayato Ishida" userId="585fa0fa6384767c" providerId="LiveId" clId="{CFFC3ABA-458C-45A0-A9A7-E8D279ABCAD8}" dt="2025-08-31T18:03:42.688" v="8"/>
        <pc:sldMkLst>
          <pc:docMk/>
          <pc:sldMk cId="654251065" sldId="287"/>
        </pc:sldMkLst>
        <pc:spChg chg="add del mod">
          <ac:chgData name="Hayato Ishida" userId="585fa0fa6384767c" providerId="LiveId" clId="{CFFC3ABA-458C-45A0-A9A7-E8D279ABCAD8}" dt="2025-08-31T18:01:19.403" v="1" actId="478"/>
          <ac:spMkLst>
            <pc:docMk/>
            <pc:sldMk cId="654251065" sldId="287"/>
            <ac:spMk id="3" creationId="{5A62BC4F-9A42-19A2-13BE-42FC79DC1312}"/>
          </ac:spMkLst>
        </pc:spChg>
        <pc:spChg chg="add del mod">
          <ac:chgData name="Hayato Ishida" userId="585fa0fa6384767c" providerId="LiveId" clId="{CFFC3ABA-458C-45A0-A9A7-E8D279ABCAD8}" dt="2025-08-31T18:01:19.403" v="1" actId="478"/>
          <ac:spMkLst>
            <pc:docMk/>
            <pc:sldMk cId="654251065" sldId="287"/>
            <ac:spMk id="5" creationId="{AB5D70FC-770C-7EF6-36E7-3279819EC77F}"/>
          </ac:spMkLst>
        </pc:spChg>
        <pc:spChg chg="del">
          <ac:chgData name="Hayato Ishida" userId="585fa0fa6384767c" providerId="LiveId" clId="{CFFC3ABA-458C-45A0-A9A7-E8D279ABCAD8}" dt="2025-08-31T18:01:18.971" v="0" actId="478"/>
          <ac:spMkLst>
            <pc:docMk/>
            <pc:sldMk cId="654251065" sldId="287"/>
            <ac:spMk id="6" creationId="{DECA2A84-0B93-2CA9-928F-D64DAF71A542}"/>
          </ac:spMkLst>
        </pc:spChg>
        <pc:spChg chg="del">
          <ac:chgData name="Hayato Ishida" userId="585fa0fa6384767c" providerId="LiveId" clId="{CFFC3ABA-458C-45A0-A9A7-E8D279ABCAD8}" dt="2025-08-31T18:01:18.971" v="0" actId="478"/>
          <ac:spMkLst>
            <pc:docMk/>
            <pc:sldMk cId="654251065" sldId="287"/>
            <ac:spMk id="7" creationId="{31090EF1-CCBA-C91C-2FCE-F697833E1D1E}"/>
          </ac:spMkLst>
        </pc:spChg>
        <pc:spChg chg="del">
          <ac:chgData name="Hayato Ishida" userId="585fa0fa6384767c" providerId="LiveId" clId="{CFFC3ABA-458C-45A0-A9A7-E8D279ABCAD8}" dt="2025-08-31T18:01:18.971" v="0" actId="478"/>
          <ac:spMkLst>
            <pc:docMk/>
            <pc:sldMk cId="654251065" sldId="287"/>
            <ac:spMk id="8" creationId="{3B0BA79E-64D7-D4B1-89DE-AC4923D56BB4}"/>
          </ac:spMkLst>
        </pc:spChg>
        <pc:spChg chg="add mod">
          <ac:chgData name="Hayato Ishida" userId="585fa0fa6384767c" providerId="LiveId" clId="{CFFC3ABA-458C-45A0-A9A7-E8D279ABCAD8}" dt="2025-08-31T18:03:42.688" v="8"/>
          <ac:spMkLst>
            <pc:docMk/>
            <pc:sldMk cId="654251065" sldId="287"/>
            <ac:spMk id="9" creationId="{D23CA0D8-9183-F547-175C-1C114B209185}"/>
          </ac:spMkLst>
        </pc:spChg>
        <pc:spChg chg="add mod">
          <ac:chgData name="Hayato Ishida" userId="585fa0fa6384767c" providerId="LiveId" clId="{CFFC3ABA-458C-45A0-A9A7-E8D279ABCAD8}" dt="2025-08-31T18:03:42.688" v="8"/>
          <ac:spMkLst>
            <pc:docMk/>
            <pc:sldMk cId="654251065" sldId="287"/>
            <ac:spMk id="10" creationId="{82D238E8-FD8A-4999-F73D-854F83AAF355}"/>
          </ac:spMkLst>
        </pc:spChg>
        <pc:spChg chg="add mod">
          <ac:chgData name="Hayato Ishida" userId="585fa0fa6384767c" providerId="LiveId" clId="{CFFC3ABA-458C-45A0-A9A7-E8D279ABCAD8}" dt="2025-08-31T18:03:42.688" v="8"/>
          <ac:spMkLst>
            <pc:docMk/>
            <pc:sldMk cId="654251065" sldId="287"/>
            <ac:spMk id="11" creationId="{21D6B5E4-4D3A-6E02-19B5-075055EC05B2}"/>
          </ac:spMkLst>
        </pc:spChg>
        <pc:picChg chg="del">
          <ac:chgData name="Hayato Ishida" userId="585fa0fa6384767c" providerId="LiveId" clId="{CFFC3ABA-458C-45A0-A9A7-E8D279ABCAD8}" dt="2025-08-31T18:01:18.971" v="0" actId="478"/>
          <ac:picMkLst>
            <pc:docMk/>
            <pc:sldMk cId="654251065" sldId="287"/>
            <ac:picMk id="12" creationId="{A46EF0C9-7096-B74A-A65F-509E6AB0E9CB}"/>
          </ac:picMkLst>
        </pc:picChg>
        <pc:picChg chg="add mod">
          <ac:chgData name="Hayato Ishida" userId="585fa0fa6384767c" providerId="LiveId" clId="{CFFC3ABA-458C-45A0-A9A7-E8D279ABCAD8}" dt="2025-08-31T18:03:42.688" v="8"/>
          <ac:picMkLst>
            <pc:docMk/>
            <pc:sldMk cId="654251065" sldId="287"/>
            <ac:picMk id="13" creationId="{46E7D3BD-2C46-94EA-8619-1276304DC5AE}"/>
          </ac:picMkLst>
        </pc:picChg>
      </pc:sldChg>
      <pc:sldChg chg="del">
        <pc:chgData name="Hayato Ishida" userId="585fa0fa6384767c" providerId="LiveId" clId="{CFFC3ABA-458C-45A0-A9A7-E8D279ABCAD8}" dt="2025-08-31T18:01:23.128" v="2" actId="47"/>
        <pc:sldMkLst>
          <pc:docMk/>
          <pc:sldMk cId="3064566856" sldId="387"/>
        </pc:sldMkLst>
      </pc:sldChg>
      <pc:sldChg chg="ord">
        <pc:chgData name="Hayato Ishida" userId="585fa0fa6384767c" providerId="LiveId" clId="{CFFC3ABA-458C-45A0-A9A7-E8D279ABCAD8}" dt="2025-08-31T18:01:27.115" v="5"/>
        <pc:sldMkLst>
          <pc:docMk/>
          <pc:sldMk cId="2712671586" sldId="388"/>
        </pc:sldMkLst>
      </pc:sldChg>
      <pc:sldChg chg="modSp mod">
        <pc:chgData name="Hayato Ishida" userId="585fa0fa6384767c" providerId="LiveId" clId="{CFFC3ABA-458C-45A0-A9A7-E8D279ABCAD8}" dt="2025-09-01T03:37:14.312" v="14" actId="27636"/>
        <pc:sldMkLst>
          <pc:docMk/>
          <pc:sldMk cId="3052052215" sldId="432"/>
        </pc:sldMkLst>
        <pc:spChg chg="mod">
          <ac:chgData name="Hayato Ishida" userId="585fa0fa6384767c" providerId="LiveId" clId="{CFFC3ABA-458C-45A0-A9A7-E8D279ABCAD8}" dt="2025-09-01T03:37:14.312" v="14" actId="27636"/>
          <ac:spMkLst>
            <pc:docMk/>
            <pc:sldMk cId="3052052215" sldId="432"/>
            <ac:spMk id="7" creationId="{92490B7A-6E18-A5F8-262B-EABFCBE9F2CD}"/>
          </ac:spMkLst>
        </pc:spChg>
      </pc:sldChg>
      <pc:sldChg chg="addSp modSp add">
        <pc:chgData name="Hayato Ishida" userId="585fa0fa6384767c" providerId="LiveId" clId="{CFFC3ABA-458C-45A0-A9A7-E8D279ABCAD8}" dt="2025-08-31T18:05:44.553" v="10"/>
        <pc:sldMkLst>
          <pc:docMk/>
          <pc:sldMk cId="458652515" sldId="445"/>
        </pc:sldMkLst>
        <pc:spChg chg="add mod">
          <ac:chgData name="Hayato Ishida" userId="585fa0fa6384767c" providerId="LiveId" clId="{CFFC3ABA-458C-45A0-A9A7-E8D279ABCAD8}" dt="2025-08-31T18:05:44.553" v="10"/>
          <ac:spMkLst>
            <pc:docMk/>
            <pc:sldMk cId="458652515" sldId="445"/>
            <ac:spMk id="2" creationId="{369960E2-2331-C7E9-CF60-6756A4D751C0}"/>
          </ac:spMkLst>
        </pc:spChg>
        <pc:spChg chg="add mod">
          <ac:chgData name="Hayato Ishida" userId="585fa0fa6384767c" providerId="LiveId" clId="{CFFC3ABA-458C-45A0-A9A7-E8D279ABCAD8}" dt="2025-08-31T18:05:44.553" v="10"/>
          <ac:spMkLst>
            <pc:docMk/>
            <pc:sldMk cId="458652515" sldId="445"/>
            <ac:spMk id="3" creationId="{B364F9F1-1184-A63B-AA76-9319B2955023}"/>
          </ac:spMkLst>
        </pc:spChg>
        <pc:spChg chg="add mod">
          <ac:chgData name="Hayato Ishida" userId="585fa0fa6384767c" providerId="LiveId" clId="{CFFC3ABA-458C-45A0-A9A7-E8D279ABCAD8}" dt="2025-08-31T18:05:44.553" v="10"/>
          <ac:spMkLst>
            <pc:docMk/>
            <pc:sldMk cId="458652515" sldId="445"/>
            <ac:spMk id="4" creationId="{16DDDCE2-D4E4-FA90-F688-DEA909A2B43B}"/>
          </ac:spMkLst>
        </pc:spChg>
      </pc:sldChg>
      <pc:sldChg chg="addSp modSp add">
        <pc:chgData name="Hayato Ishida" userId="585fa0fa6384767c" providerId="LiveId" clId="{CFFC3ABA-458C-45A0-A9A7-E8D279ABCAD8}" dt="2025-09-01T03:37:14.045" v="13"/>
        <pc:sldMkLst>
          <pc:docMk/>
          <pc:sldMk cId="545582580" sldId="446"/>
        </pc:sldMkLst>
        <pc:spChg chg="add mod">
          <ac:chgData name="Hayato Ishida" userId="585fa0fa6384767c" providerId="LiveId" clId="{CFFC3ABA-458C-45A0-A9A7-E8D279ABCAD8}" dt="2025-08-31T18:09:04.723" v="12"/>
          <ac:spMkLst>
            <pc:docMk/>
            <pc:sldMk cId="545582580" sldId="446"/>
            <ac:spMk id="2" creationId="{36BF7A5E-6139-6862-4B44-185A5AB99015}"/>
          </ac:spMkLst>
        </pc:spChg>
        <pc:spChg chg="add mod">
          <ac:chgData name="Hayato Ishida" userId="585fa0fa6384767c" providerId="LiveId" clId="{CFFC3ABA-458C-45A0-A9A7-E8D279ABCAD8}" dt="2025-08-31T18:09:04.723" v="12"/>
          <ac:spMkLst>
            <pc:docMk/>
            <pc:sldMk cId="545582580" sldId="446"/>
            <ac:spMk id="3" creationId="{CE84BA01-414F-F551-F8E1-472AD179080B}"/>
          </ac:spMkLst>
        </pc:spChg>
        <pc:graphicFrameChg chg="add mod">
          <ac:chgData name="Hayato Ishida" userId="585fa0fa6384767c" providerId="LiveId" clId="{CFFC3ABA-458C-45A0-A9A7-E8D279ABCAD8}" dt="2025-09-01T03:37:14.045" v="13"/>
          <ac:graphicFrameMkLst>
            <pc:docMk/>
            <pc:sldMk cId="545582580" sldId="446"/>
            <ac:graphicFrameMk id="4" creationId="{426B1015-C169-E262-5C02-4DF434EAE618}"/>
          </ac:graphicFrameMkLst>
        </pc:graphicFrameChg>
      </pc:sldChg>
      <pc:sldChg chg="addSp modSp add">
        <pc:chgData name="Hayato Ishida" userId="585fa0fa6384767c" providerId="LiveId" clId="{CFFC3ABA-458C-45A0-A9A7-E8D279ABCAD8}" dt="2025-09-01T03:37:14.045" v="13"/>
        <pc:sldMkLst>
          <pc:docMk/>
          <pc:sldMk cId="3753123781" sldId="447"/>
        </pc:sldMkLst>
        <pc:spChg chg="add mod">
          <ac:chgData name="Hayato Ishida" userId="585fa0fa6384767c" providerId="LiveId" clId="{CFFC3ABA-458C-45A0-A9A7-E8D279ABCAD8}" dt="2025-08-31T18:08:22.201" v="11"/>
          <ac:spMkLst>
            <pc:docMk/>
            <pc:sldMk cId="3753123781" sldId="447"/>
            <ac:spMk id="2" creationId="{BA575B78-2A65-29DC-593A-A20C586810E8}"/>
          </ac:spMkLst>
        </pc:spChg>
        <pc:spChg chg="add mod">
          <ac:chgData name="Hayato Ishida" userId="585fa0fa6384767c" providerId="LiveId" clId="{CFFC3ABA-458C-45A0-A9A7-E8D279ABCAD8}" dt="2025-08-31T18:08:22.201" v="11"/>
          <ac:spMkLst>
            <pc:docMk/>
            <pc:sldMk cId="3753123781" sldId="447"/>
            <ac:spMk id="3" creationId="{034A8C94-D735-9D0C-7AE8-2BD603007561}"/>
          </ac:spMkLst>
        </pc:spChg>
        <pc:graphicFrameChg chg="add mod">
          <ac:chgData name="Hayato Ishida" userId="585fa0fa6384767c" providerId="LiveId" clId="{CFFC3ABA-458C-45A0-A9A7-E8D279ABCAD8}" dt="2025-09-01T03:37:14.045" v="13"/>
          <ac:graphicFrameMkLst>
            <pc:docMk/>
            <pc:sldMk cId="3753123781" sldId="447"/>
            <ac:graphicFrameMk id="4" creationId="{8B21A3BE-43BD-53D4-BB66-CD3AB897EE54}"/>
          </ac:graphicFrameMkLst>
        </pc:graphicFrameChg>
      </pc:sldChg>
    </pc:docChg>
  </pc:docChgLst>
  <pc:docChgLst>
    <pc:chgData name="Hayato Ishida" userId="585fa0fa6384767c" providerId="LiveId" clId="{DA7750B2-F81A-4D52-BC3C-737804AB59AF}"/>
    <pc:docChg chg="custSel modSld">
      <pc:chgData name="Hayato Ishida" userId="585fa0fa6384767c" providerId="LiveId" clId="{DA7750B2-F81A-4D52-BC3C-737804AB59AF}" dt="2025-02-10T16:08:48.524" v="8" actId="3626"/>
      <pc:docMkLst>
        <pc:docMk/>
      </pc:docMkLst>
      <pc:sldChg chg="modSp mod">
        <pc:chgData name="Hayato Ishida" userId="585fa0fa6384767c" providerId="LiveId" clId="{DA7750B2-F81A-4D52-BC3C-737804AB59AF}" dt="2025-02-10T16:08:48.524" v="8" actId="3626"/>
        <pc:sldMkLst>
          <pc:docMk/>
          <pc:sldMk cId="3041246571"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science-of-corporate-technical-documentation-for-software-engineers-practice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44.xml"/><Relationship Id="rId3" Type="http://schemas.openxmlformats.org/officeDocument/2006/relationships/slide" Target="slide9.xml"/><Relationship Id="rId7" Type="http://schemas.openxmlformats.org/officeDocument/2006/relationships/slide" Target="slide4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slide" Target="slide23.xml"/><Relationship Id="rId4" Type="http://schemas.openxmlformats.org/officeDocument/2006/relationships/slide" Target="slide1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docswell.com/s/hayat01sh1da/5M12VG-science-of-corporate-technical-documentation-for-software-engineers-theories#p18" TargetMode="External"/><Relationship Id="rId13" Type="http://schemas.openxmlformats.org/officeDocument/2006/relationships/hyperlink" Target="https://www.docswell.com/s/hayat01sh1da/5M12VG-science-of-corporate-technical-documentation-for-software-engineers-theories#p24" TargetMode="External"/><Relationship Id="rId18" Type="http://schemas.openxmlformats.org/officeDocument/2006/relationships/hyperlink" Target="https://www.docswell.com/s/hayat01sh1da/5M12VG-science-of-corporate-technical-documentation-for-software-engineers-theories#p30" TargetMode="External"/><Relationship Id="rId3" Type="http://schemas.openxmlformats.org/officeDocument/2006/relationships/hyperlink" Target="https://www.docswell.com/s/hayat01sh1da/5M12VG-science-of-technical-documentation-for-software-engineers-practices" TargetMode="External"/><Relationship Id="rId7" Type="http://schemas.openxmlformats.org/officeDocument/2006/relationships/hyperlink" Target="https://www.docswell.com/s/hayat01sh1da/5M12VG-science-of-corporate-technical-documentation-for-software-engineers-theories#p17" TargetMode="External"/><Relationship Id="rId12" Type="http://schemas.openxmlformats.org/officeDocument/2006/relationships/hyperlink" Target="https://www.docswell.com/s/hayat01sh1da/5M12VG-science-of-corporate-technical-documentation-for-software-engineers-theories#p23" TargetMode="External"/><Relationship Id="rId17" Type="http://schemas.openxmlformats.org/officeDocument/2006/relationships/hyperlink" Target="https://www.docswell.com/s/hayat01sh1da/5M12VG-science-of-corporate-technical-documentation-for-software-engineers-theories#p29" TargetMode="External"/><Relationship Id="rId2" Type="http://schemas.openxmlformats.org/officeDocument/2006/relationships/image" Target="../media/image1.jpg"/><Relationship Id="rId16" Type="http://schemas.openxmlformats.org/officeDocument/2006/relationships/hyperlink" Target="https://www.docswell.com/s/hayat01sh1da/5M12VG-science-of-corporate-technical-documentation-for-software-engineers-theories#p27" TargetMode="External"/><Relationship Id="rId20" Type="http://schemas.openxmlformats.org/officeDocument/2006/relationships/hyperlink" Target="https://www.docswell.com/s/hayat01sh1da/5M12VG-science-of-corporate-technical-documentation-for-software-engineers-theories#p33" TargetMode="External"/><Relationship Id="rId1" Type="http://schemas.openxmlformats.org/officeDocument/2006/relationships/slideLayout" Target="../slideLayouts/slideLayout2.xml"/><Relationship Id="rId6" Type="http://schemas.openxmlformats.org/officeDocument/2006/relationships/hyperlink" Target="https://www.docswell.com/s/hayat01sh1da/5M12VG-science-of-corporate-technical-documentation-for-software-engineers-theories#p16" TargetMode="External"/><Relationship Id="rId11" Type="http://schemas.openxmlformats.org/officeDocument/2006/relationships/hyperlink" Target="https://www.docswell.com/s/hayat01sh1da/5M12VG-science-of-corporate-technical-documentation-for-software-engineers-theories#p22" TargetMode="External"/><Relationship Id="rId5" Type="http://schemas.openxmlformats.org/officeDocument/2006/relationships/hyperlink" Target="https://www.docswell.com/s/hayat01sh1da/5M12VG-science-of-corporate-technical-documentation-for-software-engineers-theories#p15" TargetMode="External"/><Relationship Id="rId15" Type="http://schemas.openxmlformats.org/officeDocument/2006/relationships/hyperlink" Target="https://www.docswell.com/s/hayat01sh1da/5M12VG-science-of-corporate-technical-documentation-for-software-engineers-theories#p26" TargetMode="External"/><Relationship Id="rId10" Type="http://schemas.openxmlformats.org/officeDocument/2006/relationships/hyperlink" Target="https://www.docswell.com/s/hayat01sh1da/5M12VG-science-of-corporate-technical-documentation-for-software-engineers-theories#p20" TargetMode="External"/><Relationship Id="rId19" Type="http://schemas.openxmlformats.org/officeDocument/2006/relationships/hyperlink" Target="https://www.docswell.com/s/hayat01sh1da/5M12VG-science-of-corporate-technical-documentation-for-software-engineers-theories#p32" TargetMode="External"/><Relationship Id="rId4" Type="http://schemas.openxmlformats.org/officeDocument/2006/relationships/hyperlink" Target="https://www.docswell.com/s/hayat01sh1da/5M12VG-science-of-corporate-technical-documentation-for-software-engineers-theories#p14" TargetMode="External"/><Relationship Id="rId9" Type="http://schemas.openxmlformats.org/officeDocument/2006/relationships/hyperlink" Target="https://www.docswell.com/s/hayat01sh1da/5M12VG-science-of-corporate-technical-documentation-for-software-engineers-theories#p19" TargetMode="External"/><Relationship Id="rId14" Type="http://schemas.openxmlformats.org/officeDocument/2006/relationships/hyperlink" Target="https://www.docswell.com/s/hayat01sh1da/5M12VG-science-of-corporate-technical-documentation-for-software-engineers-theories#p25"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12"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medium.com/datasheetest-by-tdsmaker?source=post_page-----36deab8d1220--------------------------------" TargetMode="External"/><Relationship Id="rId4" Type="http://schemas.openxmlformats.org/officeDocument/2006/relationships/hyperlink" Target="https://medium.com/datasheetest-by-tdsmaker/basics-of-technical-documentation-for-engineers-36deab8d1220"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13" TargetMode="External"/><Relationship Id="rId7" Type="http://schemas.openxmlformats.org/officeDocument/2006/relationships/hyperlink" Target="https://www.docswell.com/s/hayat01sh1da/KRXJ9J-science-of-corporate-technical-documentation-for-software-engineers-practices#p21"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KRXJ9J-science-of-corporate-technical-documentation-for-software-engineers-practices#p19" TargetMode="External"/><Relationship Id="rId5" Type="http://schemas.openxmlformats.org/officeDocument/2006/relationships/hyperlink" Target="https://www.docswell.com/s/hayat01sh1da/KRXJ9J-science-of-corporate-technical-documentation-for-software-engineers-practices#p17" TargetMode="External"/><Relationship Id="rId4" Type="http://schemas.openxmlformats.org/officeDocument/2006/relationships/hyperlink" Target="https://www.docswell.com/s/hayat01sh1da/KRXJ9J-science-of-corporate-technical-documentation-for-software-engineers-practices#p15"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36"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20"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4"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26"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docswell.com/s/hayat01sh1da/KRXJ9J-science-of-corporate-technical-documentation-for-software-engineers-practices#p31" TargetMode="External"/><Relationship Id="rId13" Type="http://schemas.openxmlformats.org/officeDocument/2006/relationships/hyperlink" Target="https://www.docswell.com/s/hayat01sh1da/KRXJ9J-science-of-corporate-technical-documentation-for-software-engineers-practices#p37" TargetMode="External"/><Relationship Id="rId3" Type="http://schemas.openxmlformats.org/officeDocument/2006/relationships/hyperlink" Target="https://www.docswell.com/s/hayat01sh1da/KRXJ9J-science-of-corporate-technical-documentation-for-software-engineers-practices#p12" TargetMode="External"/><Relationship Id="rId7" Type="http://schemas.openxmlformats.org/officeDocument/2006/relationships/hyperlink" Target="https://www.docswell.com/s/hayat01sh1da/KRXJ9J-science-of-corporate-technical-documentation-for-software-engineers-practices#p30" TargetMode="External"/><Relationship Id="rId12" Type="http://schemas.openxmlformats.org/officeDocument/2006/relationships/hyperlink" Target="https://www.docswell.com/s/hayat01sh1da/KRXJ9J-science-of-corporate-technical-documentation-for-software-engineers-practices#p36"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KRXJ9J-science-of-corporate-technical-documentation-for-software-engineers-practices#p28" TargetMode="External"/><Relationship Id="rId11" Type="http://schemas.openxmlformats.org/officeDocument/2006/relationships/hyperlink" Target="https://www.docswell.com/s/hayat01sh1da/KRXJ9J-science-of-corporate-technical-documentation-for-software-engineers-practices#p35" TargetMode="External"/><Relationship Id="rId5" Type="http://schemas.openxmlformats.org/officeDocument/2006/relationships/hyperlink" Target="https://www.docswell.com/s/hayat01sh1da/KRXJ9J-science-of-corporate-technical-documentation-for-software-engineers-practices#p26" TargetMode="External"/><Relationship Id="rId10" Type="http://schemas.openxmlformats.org/officeDocument/2006/relationships/hyperlink" Target="https://www.docswell.com/s/hayat01sh1da/KRXJ9J-science-of-corporate-technical-documentation-for-software-engineers-practices#p34" TargetMode="External"/><Relationship Id="rId4" Type="http://schemas.openxmlformats.org/officeDocument/2006/relationships/hyperlink" Target="https://www.docswell.com/s/hayat01sh1da/KRXJ9J-science-of-corporate-technical-documentation-for-software-engineers-practices#p24" TargetMode="External"/><Relationship Id="rId9" Type="http://schemas.openxmlformats.org/officeDocument/2006/relationships/hyperlink" Target="https://www.docswell.com/s/hayat01sh1da/KRXJ9J-science-of-corporate-technical-documentation-for-software-engineers-practices#p33"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20"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speakerdeck.com/hayat01sh1da/science-of-corporate-technical-documentation-for-software-engineers-theories?slide=20" TargetMode="External"/><Relationship Id="rId3" Type="http://schemas.openxmlformats.org/officeDocument/2006/relationships/hyperlink" Target="https://www.docswell.com/s/hayat01sh1da/KRXJ9J-science-of-corporate-technical-documentation-for-software-engineers-practices#p31" TargetMode="External"/><Relationship Id="rId7" Type="http://schemas.openxmlformats.org/officeDocument/2006/relationships/hyperlink" Target="https://www.docswell.com/s/hayat01sh1da/5M12VG-science-of-corporate-technical-documentation-for-software-engineers-theories#p18"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KRXJ9J-science-of-corporate-technical-documentation-for-software-engineers-practices#p20" TargetMode="External"/><Relationship Id="rId5" Type="http://schemas.openxmlformats.org/officeDocument/2006/relationships/hyperlink" Target="https://www.docswell.com/s/hayat01sh1da/KRXJ9J-science-of-corporate-technical-documentation-for-software-engineers-practices#p36" TargetMode="External"/><Relationship Id="rId4" Type="http://schemas.openxmlformats.org/officeDocument/2006/relationships/hyperlink" Target="https://www.docswell.com/s/hayat01sh1da/KRXJ9J-science-of-corporate-technical-documentation-for-software-engineers-practices#p35"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13"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36"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honkit/honkit"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docswell.com/s/hayat01sh1da/KRXJ9J-science-of-corporate-technical-documentation-for-software-engineers-practices#p36"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24"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30"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8"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rawio.com/" TargetMode="External"/><Relationship Id="rId5" Type="http://schemas.openxmlformats.org/officeDocument/2006/relationships/hyperlink" Target="https://plantuml.com/" TargetMode="External"/><Relationship Id="rId4" Type="http://schemas.openxmlformats.org/officeDocument/2006/relationships/hyperlink" Target="https://mermaid.js.org/"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www.docswell.com/s/hayat01sh1da/5M12VG-science-of-corporate-technical-documentation-for-software-engineers-theories#p18" TargetMode="External"/><Relationship Id="rId3" Type="http://schemas.openxmlformats.org/officeDocument/2006/relationships/hyperlink" Target="https://www.docswell.com/s/hayat01sh1da/5M12VG-science-of-corporate-technical-documentation-for-software-engineers-theories#p20" TargetMode="External"/><Relationship Id="rId7" Type="http://schemas.openxmlformats.org/officeDocument/2006/relationships/hyperlink" Target="https://www.docswell.com/s/hayat01sh1da/5M12VG-science-of-corporate-technical-documentation-for-software-engineers-theories#p17"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docswell.com/s/hayat01sh1da/5M12VG-science-of-corporate-technical-documentation-for-software-engineers-theories#p16" TargetMode="External"/><Relationship Id="rId5" Type="http://schemas.openxmlformats.org/officeDocument/2006/relationships/hyperlink" Target="https://www.docswell.com/s/hayat01sh1da/5M12VG-science-of-corporate-technical-documentation-for-software-engineers-theories#p15" TargetMode="External"/><Relationship Id="rId4" Type="http://schemas.openxmlformats.org/officeDocument/2006/relationships/hyperlink" Target="https://www.docswell.com/s/hayat01sh1da/KRXJ9J-science-of-corporate-technical-documentation-for-software-engineers-practices#p31"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36"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ww.docswell.com/s/hayat01sh1da/5M12VG-science-of-corporate-technical-documentation-for-software-engineers-theories#p29" TargetMode="External"/><Relationship Id="rId4" Type="http://schemas.openxmlformats.org/officeDocument/2006/relationships/hyperlink" Target="https://www.docswell.com/s/hayat01sh1da/5M12VG-science-of-corporate-technical-documentation-for-software-engineers-theories#p20"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hyperlink" Target="https://www.docswell.com/s/hayat01sh1da/KRXJ9J-science-of-corporate-technical-documentation-for-software-engineers-practices#p21" TargetMode="External"/><Relationship Id="rId13" Type="http://schemas.openxmlformats.org/officeDocument/2006/relationships/hyperlink" Target="https://www.docswell.com/s/hayat01sh1da/KRXJ9J-science-of-corporate-technical-documentation-for-software-engineers-practices#p30" TargetMode="External"/><Relationship Id="rId18" Type="http://schemas.openxmlformats.org/officeDocument/2006/relationships/hyperlink" Target="https://www.docswell.com/s/hayat01sh1da/KRXJ9J-science-of-corporate-technical-documentation-for-software-engineers-practices#p36" TargetMode="External"/><Relationship Id="rId3" Type="http://schemas.openxmlformats.org/officeDocument/2006/relationships/hyperlink" Target="https://www.docswell.com/s/hayat01sh1da/KRXJ9J-science-of-corporate-technical-documentation-for-software-engineers-practices#p12" TargetMode="External"/><Relationship Id="rId7" Type="http://schemas.openxmlformats.org/officeDocument/2006/relationships/hyperlink" Target="https://www.docswell.com/s/hayat01sh1da/KRXJ9J-science-of-corporate-technical-documentation-for-software-engineers-practices#p19" TargetMode="External"/><Relationship Id="rId12" Type="http://schemas.openxmlformats.org/officeDocument/2006/relationships/hyperlink" Target="https://www.docswell.com/s/hayat01sh1da/KRXJ9J-science-of-corporate-technical-documentation-for-software-engineers-practices#p28" TargetMode="External"/><Relationship Id="rId17" Type="http://schemas.openxmlformats.org/officeDocument/2006/relationships/hyperlink" Target="https://www.docswell.com/s/hayat01sh1da/KRXJ9J-science-of-corporate-technical-documentation-for-software-engineers-practices#p35" TargetMode="External"/><Relationship Id="rId2" Type="http://schemas.openxmlformats.org/officeDocument/2006/relationships/image" Target="../media/image1.jpg"/><Relationship Id="rId16" Type="http://schemas.openxmlformats.org/officeDocument/2006/relationships/hyperlink" Target="https://www.docswell.com/s/hayat01sh1da/KRXJ9J-science-of-corporate-technical-documentation-for-software-engineers-practices#p34" TargetMode="External"/><Relationship Id="rId1" Type="http://schemas.openxmlformats.org/officeDocument/2006/relationships/slideLayout" Target="../slideLayouts/slideLayout2.xml"/><Relationship Id="rId6" Type="http://schemas.openxmlformats.org/officeDocument/2006/relationships/hyperlink" Target="https://www.docswell.com/s/hayat01sh1da/KRXJ9J-science-of-corporate-technical-documentation-for-software-engineers-practices#p17" TargetMode="External"/><Relationship Id="rId11" Type="http://schemas.openxmlformats.org/officeDocument/2006/relationships/hyperlink" Target="https://www.docswell.com/s/hayat01sh1da/KRXJ9J-science-of-corporate-technical-documentation-for-software-engineers-practices#p26" TargetMode="External"/><Relationship Id="rId5" Type="http://schemas.openxmlformats.org/officeDocument/2006/relationships/hyperlink" Target="https://www.docswell.com/s/hayat01sh1da/KRXJ9J-science-of-corporate-technical-documentation-for-software-engineers-practices#p15" TargetMode="External"/><Relationship Id="rId15" Type="http://schemas.openxmlformats.org/officeDocument/2006/relationships/hyperlink" Target="https://www.docswell.com/s/hayat01sh1da/KRXJ9J-science-of-corporate-technical-documentation-for-software-engineers-practices#p33" TargetMode="External"/><Relationship Id="rId10" Type="http://schemas.openxmlformats.org/officeDocument/2006/relationships/hyperlink" Target="https://www.docswell.com/s/hayat01sh1da/KRXJ9J-science-of-corporate-technical-documentation-for-software-engineers-practices#p24" TargetMode="External"/><Relationship Id="rId19" Type="http://schemas.openxmlformats.org/officeDocument/2006/relationships/hyperlink" Target="https://www.docswell.com/s/hayat01sh1da/KRXJ9J-science-of-corporate-technical-documentation-for-software-engineers-practices#p37" TargetMode="External"/><Relationship Id="rId4" Type="http://schemas.openxmlformats.org/officeDocument/2006/relationships/hyperlink" Target="https://www.docswell.com/s/hayat01sh1da/KRXJ9J-science-of-corporate-technical-documentation-for-software-engineers-practices#p13" TargetMode="External"/><Relationship Id="rId9" Type="http://schemas.openxmlformats.org/officeDocument/2006/relationships/hyperlink" Target="https://www.docswell.com/s/hayat01sh1da/KRXJ9J-science-of-corporate-technical-documentation-for-software-engineers-practices#p23" TargetMode="External"/><Relationship Id="rId14" Type="http://schemas.openxmlformats.org/officeDocument/2006/relationships/hyperlink" Target="https://www.docswell.com/s/hayat01sh1da/KRXJ9J-science-of-corporate-technical-documentation-for-software-engineers-practices#p31" TargetMode="Externa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docswell.com/s/hayat01sh1da/5M12VG-science-of-corporate-technical-documentation-for-software-engineers-theories#p19"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medium.com/datasheetest-by-tdsmaker/basics-of-technical-documentation-for-engineers-36deab8d1220" TargetMode="External"/><Relationship Id="rId7" Type="http://schemas.openxmlformats.org/officeDocument/2006/relationships/hyperlink" Target="https://github.com/quipper/aya-issues/issues/72534"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github.com/quipper/aya-issues/issues/71958" TargetMode="External"/><Relationship Id="rId5" Type="http://schemas.openxmlformats.org/officeDocument/2006/relationships/hyperlink" Target="https://eowf.alc.co.jp/" TargetMode="External"/><Relationship Id="rId4" Type="http://schemas.openxmlformats.org/officeDocument/2006/relationships/hyperlink" Target="https://www.dictionary.com/"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Autofit/>
          </a:bodyPr>
          <a:lstStyle/>
          <a:p>
            <a:r>
              <a:rPr lang="ja-JP" altLang="en-US" sz="4400" b="1" dirty="0">
                <a:effectLst>
                  <a:outerShdw blurRad="38100" dist="38100" dir="2700000" algn="tl">
                    <a:srgbClr val="000000">
                      <a:alpha val="43137"/>
                    </a:srgbClr>
                  </a:outerShdw>
                </a:effectLst>
                <a:latin typeface="+mn-lt"/>
              </a:rPr>
              <a:t>ソフトウェアエンジニアの</a:t>
            </a:r>
            <a:br>
              <a:rPr lang="en-GB" altLang="ja-JP" sz="4400" b="1" dirty="0">
                <a:effectLst>
                  <a:outerShdw blurRad="38100" dist="38100" dir="2700000" algn="tl">
                    <a:srgbClr val="000000">
                      <a:alpha val="43137"/>
                    </a:srgbClr>
                  </a:outerShdw>
                </a:effectLst>
                <a:latin typeface="+mn-lt"/>
              </a:rPr>
            </a:br>
            <a:r>
              <a:rPr lang="ja-JP" altLang="en-US" sz="4400" b="1" dirty="0">
                <a:effectLst>
                  <a:outerShdw blurRad="38100" dist="38100" dir="2700000" algn="tl">
                    <a:srgbClr val="000000">
                      <a:alpha val="43137"/>
                    </a:srgbClr>
                  </a:outerShdw>
                </a:effectLst>
                <a:latin typeface="+mn-lt"/>
              </a:rPr>
              <a:t>社内技術ドキュメンテーションへの</a:t>
            </a:r>
            <a:br>
              <a:rPr lang="en-GB" altLang="ja-JP" sz="4400" b="1" dirty="0">
                <a:effectLst>
                  <a:outerShdw blurRad="38100" dist="38100" dir="2700000" algn="tl">
                    <a:srgbClr val="000000">
                      <a:alpha val="43137"/>
                    </a:srgbClr>
                  </a:outerShdw>
                </a:effectLst>
                <a:latin typeface="+mn-lt"/>
              </a:rPr>
            </a:br>
            <a:r>
              <a:rPr lang="ja-JP" altLang="en-US" sz="4400" b="1" dirty="0">
                <a:effectLst>
                  <a:outerShdw blurRad="38100" dist="38100" dir="2700000" algn="tl">
                    <a:srgbClr val="000000">
                      <a:alpha val="43137"/>
                    </a:srgbClr>
                  </a:outerShdw>
                </a:effectLst>
                <a:latin typeface="+mn-lt"/>
              </a:rPr>
              <a:t>向き合い方</a:t>
            </a:r>
            <a:endParaRPr lang="en-GB" sz="4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実践編</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D23CA0D8-9183-F547-175C-1C114B209185}"/>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82D238E8-FD8A-4999-F73D-854F83AAF355}"/>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21D6B5E4-4D3A-6E02-19B5-075055EC05B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46E7D3BD-2C46-94EA-8619-1276304DC5A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a:extLst>
            <a:ext uri="{FF2B5EF4-FFF2-40B4-BE49-F238E27FC236}">
              <a16:creationId xmlns:a16="http://schemas.microsoft.com/office/drawing/2014/main" id="{F71E1696-E509-18A1-6C92-C9EF042229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9960E2-2331-C7E9-CF60-6756A4D751C0}"/>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B364F9F1-1184-A63B-AA76-9319B2955023}"/>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16DDDCE2-D4E4-FA90-F688-DEA909A2B43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8652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a:extLst>
            <a:ext uri="{FF2B5EF4-FFF2-40B4-BE49-F238E27FC236}">
              <a16:creationId xmlns:a16="http://schemas.microsoft.com/office/drawing/2014/main" id="{064EB6B3-040C-9C3A-73BF-8CC0F124945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575B78-2A65-29DC-593A-A20C586810E8}"/>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034A8C94-D735-9D0C-7AE8-2BD603007561}"/>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8B21A3BE-43BD-53D4-BB66-CD3AB897EE54}"/>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3753123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a:extLst>
            <a:ext uri="{FF2B5EF4-FFF2-40B4-BE49-F238E27FC236}">
              <a16:creationId xmlns:a16="http://schemas.microsoft.com/office/drawing/2014/main" id="{438FE46A-3880-C12E-A1C2-EA5163EEE7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BF7A5E-6139-6862-4B44-185A5AB99015}"/>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CE84BA01-414F-F551-F8E1-472AD179080B}"/>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426B1015-C169-E262-5C02-4DF434EAE618}"/>
              </a:ext>
            </a:extLst>
          </p:cNvPr>
          <p:cNvGraphicFramePr>
            <a:graphicFrameLocks noGrp="1"/>
          </p:cNvGraphicFramePr>
          <p:nvPr>
            <p:extLst>
              <p:ext uri="{D42A27DB-BD31-4B8C-83A1-F6EECF244321}">
                <p14:modId xmlns:p14="http://schemas.microsoft.com/office/powerpoint/2010/main" val="17882978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545582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A2ADDE3B-6CE8-5694-06DF-5C874E7AAB6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7" name="スライド番号プレースホルダー 3">
            <a:extLst>
              <a:ext uri="{FF2B5EF4-FFF2-40B4-BE49-F238E27FC236}">
                <a16:creationId xmlns:a16="http://schemas.microsoft.com/office/drawing/2014/main" id="{A5E84B50-78EB-06B7-C682-F9B5A542B4B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コンテンツ プレースホルダー 2">
            <a:extLst>
              <a:ext uri="{FF2B5EF4-FFF2-40B4-BE49-F238E27FC236}">
                <a16:creationId xmlns:a16="http://schemas.microsoft.com/office/drawing/2014/main" id="{03615532-5B2F-632B-C21B-089148CAE60B}"/>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はじめに</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回避不可能な</a:t>
            </a:r>
            <a:r>
              <a:rPr lang="en-US" altLang="ja-JP" sz="2400" dirty="0">
                <a:sym typeface="Arial"/>
                <a:hlinkClick r:id="rId4" action="ppaction://hlinksldjump"/>
              </a:rPr>
              <a:t>5</a:t>
            </a:r>
            <a:r>
              <a:rPr lang="ja-JP" altLang="en-US" sz="2400" dirty="0">
                <a:sym typeface="Arial"/>
                <a:hlinkClick r:id="rId4" action="ppaction://hlinksldjump"/>
              </a:rPr>
              <a:t>大トレードオフへの向き合い方</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社内技術ドキュメンテーションの実践的</a:t>
            </a:r>
            <a:r>
              <a:rPr lang="en-US" altLang="ja-JP" sz="2400" dirty="0">
                <a:sym typeface="Arial"/>
                <a:hlinkClick r:id="rId5" action="ppaction://hlinksldjump"/>
              </a:rPr>
              <a:t>10</a:t>
            </a:r>
            <a:r>
              <a:rPr lang="ja-JP" altLang="en-US" sz="2400" dirty="0">
                <a:sym typeface="Arial"/>
                <a:hlinkClick r:id="rId5" action="ppaction://hlinksldjump"/>
              </a:rPr>
              <a:t>の手順</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おわりに</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8"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ct val="70000"/>
              </a:lnSpc>
              <a:spcBef>
                <a:spcPts val="640"/>
              </a:spcBef>
              <a:spcAft>
                <a:spcPts val="0"/>
              </a:spcAft>
              <a:buClrTx/>
              <a:buSzTx/>
              <a:buFontTx/>
              <a:buNone/>
              <a:tabLst/>
              <a:defRPr/>
            </a:pPr>
            <a:r>
              <a:rPr kumimoji="0" lang="ja-JP" altLang="en-US" sz="1500" b="0" i="0" u="none" strike="noStrike" kern="1200" cap="none" spc="0" normalizeH="0" baseline="0" noProof="0" dirty="0">
                <a:ln>
                  <a:noFill/>
                </a:ln>
                <a:solidFill>
                  <a:prstClr val="black"/>
                </a:solidFill>
                <a:effectLst/>
                <a:uLnTx/>
                <a:uFillTx/>
                <a:latin typeface="Yu Gothic"/>
                <a:ea typeface="+mn-ea"/>
                <a:cs typeface="Yu Gothic"/>
              </a:rPr>
              <a:t>前作</a:t>
            </a:r>
            <a:r>
              <a:rPr kumimoji="0" lang="en-US" altLang="ja-JP" sz="15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15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ソフトウェアエンジニアの社内技術ドキュメンテーションへの向き合い</a:t>
            </a:r>
            <a:r>
              <a:rPr kumimoji="0" lang="ja-JP" altLang="en-US" sz="1500" b="0" i="0" u="sng" strike="noStrike" kern="1200" cap="none" spc="340" normalizeH="0" baseline="0" noProof="0" dirty="0">
                <a:ln>
                  <a:noFill/>
                </a:ln>
                <a:solidFill>
                  <a:srgbClr val="0462C1"/>
                </a:solidFill>
                <a:effectLst/>
                <a:uLnTx/>
                <a:uFill>
                  <a:solidFill>
                    <a:srgbClr val="0462C1"/>
                  </a:solidFill>
                </a:uFill>
                <a:latin typeface="Yu Gothic"/>
                <a:ea typeface="+mn-ea"/>
                <a:cs typeface="Yu Gothic"/>
                <a:hlinkClick r:id="rId3"/>
              </a:rPr>
              <a:t>方</a:t>
            </a:r>
            <a:r>
              <a:rPr kumimoji="0" lang="en-US" altLang="ja-JP" sz="1500" b="0"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a:t>
            </a:r>
            <a:r>
              <a:rPr kumimoji="0" lang="ja-JP" altLang="en-US" sz="15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一般論編</a:t>
            </a:r>
            <a:r>
              <a:rPr kumimoji="0" lang="en-US" altLang="ja-JP" sz="1500" b="0"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a:t>
            </a:r>
            <a:r>
              <a:rPr kumimoji="0" lang="en-US" altLang="ja-JP" sz="15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1500" b="0" i="0" u="none" strike="noStrike" kern="1200" cap="none" spc="0" normalizeH="0" baseline="0" noProof="0" dirty="0">
                <a:ln>
                  <a:noFill/>
                </a:ln>
                <a:solidFill>
                  <a:prstClr val="black"/>
                </a:solidFill>
                <a:effectLst/>
                <a:uLnTx/>
                <a:uFillTx/>
                <a:latin typeface="Yu Gothic"/>
                <a:ea typeface="+mn-ea"/>
                <a:cs typeface="Yu Gothic"/>
              </a:rPr>
              <a:t>で以下の項目について詳説 した。</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ja-JP" altLang="en-US" sz="115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
                <a:srgbClr val="000000"/>
              </a:buClr>
              <a:buSzTx/>
              <a:buFont typeface="Calibri"/>
              <a:buAutoNum type="arabicPeriod"/>
              <a:tabLst>
                <a:tab pos="283210" algn="l"/>
              </a:tabLst>
              <a:defRPr/>
            </a:pPr>
            <a:r>
              <a:rPr kumimoji="0" lang="ja-JP" altLang="en-US" sz="15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社内技術ドキュメンテーションに必須の</a:t>
            </a:r>
            <a:r>
              <a:rPr kumimoji="0" lang="en-US" altLang="ja-JP" sz="1500" b="1"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6</a:t>
            </a:r>
            <a:r>
              <a:rPr kumimoji="0" lang="ja-JP" altLang="en-US" sz="15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大要素</a:t>
            </a:r>
            <a:endParaRPr kumimoji="0" lang="ja-JP" altLang="en-US" sz="15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30"/>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5"/>
              </a:rPr>
              <a:t>科学的であること</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40"/>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6"/>
              </a:rPr>
              <a:t>効率的であること</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20"/>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7"/>
              </a:rPr>
              <a:t>印象的であること</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40"/>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8"/>
              </a:rPr>
              <a:t>想定読者層が明確であること</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35"/>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9"/>
              </a:rPr>
              <a:t>技術者と非技術者間のコミュニケ</a:t>
            </a: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9"/>
              </a:rPr>
              <a:t>ー</a:t>
            </a: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9"/>
              </a:rPr>
              <a:t>ション</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25"/>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10" normalizeH="0" baseline="0" noProof="0" dirty="0">
                <a:ln>
                  <a:noFill/>
                </a:ln>
                <a:solidFill>
                  <a:srgbClr val="0462C1"/>
                </a:solidFill>
                <a:effectLst/>
                <a:uLnTx/>
                <a:uFill>
                  <a:solidFill>
                    <a:srgbClr val="0462C1"/>
                  </a:solidFill>
                </a:uFill>
                <a:latin typeface="Yu Gothic"/>
                <a:ea typeface="+mn-ea"/>
                <a:cs typeface="Yu Gothic"/>
                <a:hlinkClick r:id="rId10"/>
              </a:rPr>
              <a:t>適切なワークフロー設計</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459"/>
              </a:spcBef>
              <a:spcAft>
                <a:spcPts val="0"/>
              </a:spcAft>
              <a:buClr>
                <a:srgbClr val="000000"/>
              </a:buClr>
              <a:buSzTx/>
              <a:buFont typeface="Calibri"/>
              <a:buAutoNum type="arabicPeriod"/>
              <a:tabLst>
                <a:tab pos="283210" algn="l"/>
              </a:tabLst>
              <a:defRPr/>
            </a:pPr>
            <a:r>
              <a:rPr kumimoji="0" lang="ja-JP" altLang="en-US" sz="15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1"/>
              </a:rPr>
              <a:t>社内技術ドキュメンテーションに必須の</a:t>
            </a:r>
            <a:r>
              <a:rPr kumimoji="0" lang="en-US" altLang="ja-JP" sz="1500" b="1"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11"/>
              </a:rPr>
              <a:t>5</a:t>
            </a:r>
            <a:r>
              <a:rPr kumimoji="0" lang="ja-JP" altLang="en-US" sz="15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1"/>
              </a:rPr>
              <a:t>大スキル</a:t>
            </a:r>
            <a:endParaRPr kumimoji="0" lang="ja-JP" altLang="en-US" sz="15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30"/>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12"/>
              </a:rPr>
              <a:t>読み手目線の説明能力</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40"/>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13"/>
              </a:rPr>
              <a:t>ステークホルダーとの協業能力</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35"/>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14"/>
              </a:rPr>
              <a:t>問題解決能力</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25"/>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15"/>
              </a:rPr>
              <a:t>コスト管理能力</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35"/>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10" normalizeH="0" baseline="0" noProof="0" dirty="0">
                <a:ln>
                  <a:noFill/>
                </a:ln>
                <a:solidFill>
                  <a:srgbClr val="0462C1"/>
                </a:solidFill>
                <a:effectLst/>
                <a:uLnTx/>
                <a:uFill>
                  <a:solidFill>
                    <a:srgbClr val="0462C1"/>
                  </a:solidFill>
                </a:uFill>
                <a:latin typeface="Yu Gothic"/>
                <a:ea typeface="+mn-ea"/>
                <a:cs typeface="Yu Gothic"/>
                <a:hlinkClick r:id="rId16"/>
              </a:rPr>
              <a:t>潜在的な問題の予測能力</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459"/>
              </a:spcBef>
              <a:spcAft>
                <a:spcPts val="0"/>
              </a:spcAft>
              <a:buClr>
                <a:srgbClr val="000000"/>
              </a:buClr>
              <a:buSzTx/>
              <a:buFont typeface="Calibri"/>
              <a:buAutoNum type="arabicPeriod"/>
              <a:tabLst>
                <a:tab pos="283210" algn="l"/>
              </a:tabLst>
              <a:defRPr/>
            </a:pPr>
            <a:r>
              <a:rPr kumimoji="0" lang="ja-JP" altLang="en-US" sz="15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7"/>
              </a:rPr>
              <a:t>体系的社内技術ドキュメンテーションの</a:t>
            </a:r>
            <a:r>
              <a:rPr kumimoji="0" lang="en-US" altLang="ja-JP" sz="1500" b="1"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17"/>
              </a:rPr>
              <a:t>3</a:t>
            </a:r>
            <a:r>
              <a:rPr kumimoji="0" lang="ja-JP" altLang="en-US" sz="15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7"/>
              </a:rPr>
              <a:t>大恩恵</a:t>
            </a:r>
            <a:endParaRPr kumimoji="0" lang="ja-JP" altLang="en-US" sz="15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35"/>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18"/>
              </a:rPr>
              <a:t>組織への信頼感の醸成</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35"/>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19"/>
              </a:rPr>
              <a:t>中長期的な成果の創出</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25"/>
              </a:spcBef>
              <a:spcAft>
                <a:spcPts val="0"/>
              </a:spcAft>
              <a:buClr>
                <a:srgbClr val="000000"/>
              </a:buClr>
              <a:buSzTx/>
              <a:buFont typeface="Calibri"/>
              <a:buAutoNum type="arabicPeriod"/>
              <a:tabLst>
                <a:tab pos="728980" algn="l"/>
                <a:tab pos="729615" algn="l"/>
              </a:tabLst>
              <a:defRPr/>
            </a:pPr>
            <a:r>
              <a:rPr kumimoji="0" lang="ja-JP" altLang="en-US" sz="13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20"/>
              </a:rPr>
              <a:t>中長期的なコスト削減</a:t>
            </a:r>
            <a:endParaRPr kumimoji="0" lang="ja-JP" altLang="en-US" sz="13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はじめに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そして、</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回避不可能な</a:t>
            </a: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5</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大トレードオフ</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について頭出しを行った。</a:t>
            </a:r>
          </a:p>
          <a:p>
            <a:pPr marL="12700" marR="0" lvl="0" indent="0" algn="l" defTabSz="914400" rtl="0" eaLnBrk="1" fontAlgn="auto" latinLnBrk="0" hangingPunct="1">
              <a:lnSpc>
                <a:spcPts val="2735"/>
              </a:lnSpc>
              <a:spcBef>
                <a:spcPts val="219"/>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今回は、社内技術ドキュメンテーションにおいて向き合わなければいけな</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35"/>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いトレードオフを分析する。</a:t>
            </a:r>
          </a:p>
          <a:p>
            <a:pPr marL="12700" marR="309880" lvl="0" indent="0" algn="just" defTabSz="914400" rtl="0" eaLnBrk="1" fontAlgn="auto" latinLnBrk="0" hangingPunct="1">
              <a:lnSpc>
                <a:spcPts val="2590"/>
              </a:lnSpc>
              <a:spcBef>
                <a:spcPts val="53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その結果を加味した上で、どのような手順を踏めばソフトウェアエンジニ アが社内技術ドキュメンテーションで享受する恩恵を最大化出来るかを考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察する。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18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今回も前回同様、以下の記事を解釈・分析した内容を元に議論を展開する。</a:t>
            </a:r>
          </a:p>
          <a:p>
            <a:pPr marL="0" marR="0" lvl="0" indent="0" algn="l" defTabSz="914400" rtl="0" eaLnBrk="1" fontAlgn="auto" latinLnBrk="0" hangingPunct="1">
              <a:lnSpc>
                <a:spcPct val="100000"/>
              </a:lnSpc>
              <a:spcBef>
                <a:spcPts val="10"/>
              </a:spcBef>
              <a:spcAft>
                <a:spcPts val="0"/>
              </a:spcAft>
              <a:buClrTx/>
              <a:buSzTx/>
              <a:buFontTx/>
              <a:buNone/>
              <a:tabLst/>
              <a:defRPr/>
            </a:pPr>
            <a:endParaRPr kumimoji="0" lang="ja-JP" altLang="en-US" sz="175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just" defTabSz="914400" rtl="0" eaLnBrk="1" fontAlgn="auto" latinLnBrk="0" hangingPunct="1">
              <a:lnSpc>
                <a:spcPts val="2735"/>
              </a:lnSpc>
              <a:spcBef>
                <a:spcPts val="5"/>
              </a:spcBef>
              <a:spcAft>
                <a:spcPts val="0"/>
              </a:spcAft>
              <a:buClrTx/>
              <a:buSzTx/>
              <a:buFontTx/>
              <a:buNone/>
              <a:tabLst/>
              <a:defRPr/>
            </a:pPr>
            <a:r>
              <a:rPr kumimoji="0" lang="en-US" altLang="ja-JP" sz="2400" b="0" i="1"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4"/>
              </a:rPr>
              <a:t>Basics</a:t>
            </a:r>
            <a:r>
              <a:rPr kumimoji="0" lang="ja-JP" altLang="en-US" sz="2400" b="0" i="1"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1"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Of</a:t>
            </a:r>
            <a:r>
              <a:rPr kumimoji="0" lang="ja-JP" altLang="en-US" sz="2400" b="0" i="1"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1" u="heavy" strike="noStrike" kern="1200" cap="none" spc="-30" normalizeH="0" baseline="0" noProof="0" dirty="0">
                <a:ln>
                  <a:noFill/>
                </a:ln>
                <a:solidFill>
                  <a:srgbClr val="0462C1"/>
                </a:solidFill>
                <a:effectLst/>
                <a:uLnTx/>
                <a:uFill>
                  <a:solidFill>
                    <a:srgbClr val="0462C1"/>
                  </a:solidFill>
                </a:uFill>
                <a:latin typeface="Calibri"/>
                <a:ea typeface="+mn-ea"/>
                <a:cs typeface="Calibri"/>
                <a:hlinkClick r:id="rId4"/>
              </a:rPr>
              <a:t>Technical</a:t>
            </a:r>
            <a:r>
              <a:rPr kumimoji="0" lang="ja-JP" altLang="en-US" sz="2400" b="0" i="1"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1"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4"/>
              </a:rPr>
              <a:t>Documentation</a:t>
            </a:r>
            <a:r>
              <a:rPr kumimoji="0" lang="ja-JP" altLang="en-US" sz="2400" b="0" i="1"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1"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4"/>
              </a:rPr>
              <a:t>For</a:t>
            </a:r>
            <a:r>
              <a:rPr kumimoji="0" lang="ja-JP" altLang="en-US" sz="2400" b="0" i="1"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 </a:t>
            </a:r>
            <a:r>
              <a:rPr kumimoji="0" lang="en-US" altLang="ja-JP" sz="2400" b="0" i="1"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Engineers</a:t>
            </a:r>
            <a:r>
              <a:rPr kumimoji="0" lang="en-US" altLang="ja-JP" sz="2400" b="0" i="1"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400" b="0" i="1" u="none" strike="noStrike" kern="1200" cap="none" spc="5" normalizeH="0" baseline="0" noProof="0" dirty="0">
                <a:ln>
                  <a:noFill/>
                </a:ln>
                <a:solidFill>
                  <a:prstClr val="black"/>
                </a:solidFill>
                <a:effectLst/>
                <a:uLnTx/>
                <a:uFillTx/>
                <a:latin typeface="Calibri"/>
                <a:ea typeface="+mn-ea"/>
                <a:cs typeface="Calibri"/>
              </a:rPr>
              <a:t> </a:t>
            </a:r>
            <a:r>
              <a:rPr kumimoji="0" lang="en-US" altLang="ja-JP" sz="2400" b="0" i="1" u="none" strike="noStrike" kern="1200" cap="none" spc="-30" normalizeH="0" baseline="0" noProof="0" dirty="0">
                <a:ln>
                  <a:noFill/>
                </a:ln>
                <a:solidFill>
                  <a:prstClr val="black"/>
                </a:solidFill>
                <a:effectLst/>
                <a:uLnTx/>
                <a:uFillTx/>
                <a:latin typeface="Calibri"/>
                <a:ea typeface="+mn-ea"/>
                <a:cs typeface="Calibri"/>
              </a:rPr>
              <a:t>Ayca</a:t>
            </a:r>
            <a:r>
              <a:rPr kumimoji="0" lang="ja-JP" altLang="en-US" sz="2400" b="0" i="1" u="none" strike="noStrike" kern="1200" cap="none" spc="0" normalizeH="0" baseline="0" noProof="0" dirty="0">
                <a:ln>
                  <a:noFill/>
                </a:ln>
                <a:solidFill>
                  <a:prstClr val="black"/>
                </a:solidFill>
                <a:effectLst/>
                <a:uLnTx/>
                <a:uFillTx/>
                <a:latin typeface="Calibri"/>
                <a:ea typeface="+mn-ea"/>
                <a:cs typeface="Calibri"/>
              </a:rPr>
              <a:t> </a:t>
            </a:r>
            <a:r>
              <a:rPr kumimoji="0" lang="en-US" altLang="ja-JP" sz="2400" b="0" i="1" u="none" strike="noStrike" kern="1200" cap="none" spc="0" normalizeH="0" baseline="0" noProof="0" dirty="0">
                <a:ln>
                  <a:noFill/>
                </a:ln>
                <a:solidFill>
                  <a:prstClr val="black"/>
                </a:solidFill>
                <a:effectLst/>
                <a:uLnTx/>
                <a:uFillTx/>
                <a:latin typeface="Calibri"/>
                <a:ea typeface="+mn-ea"/>
                <a:cs typeface="Calibri"/>
              </a:rPr>
              <a:t>LITTLE,</a:t>
            </a:r>
            <a:r>
              <a:rPr kumimoji="0" lang="ja-JP" altLang="en-US" sz="2400" b="0" i="1" u="none" strike="noStrike" kern="1200" cap="none" spc="15" normalizeH="0" baseline="0" noProof="0" dirty="0">
                <a:ln>
                  <a:noFill/>
                </a:ln>
                <a:solidFill>
                  <a:prstClr val="black"/>
                </a:solidFill>
                <a:effectLst/>
                <a:uLnTx/>
                <a:uFillTx/>
                <a:latin typeface="Calibri"/>
                <a:ea typeface="+mn-ea"/>
                <a:cs typeface="Calibri"/>
              </a:rPr>
              <a:t> </a:t>
            </a:r>
            <a:r>
              <a:rPr kumimoji="0" lang="en-US" altLang="ja-JP" sz="2400" b="0" i="1" u="none" strike="noStrike" kern="1200" cap="none" spc="0" normalizeH="0" baseline="0" noProof="0" dirty="0">
                <a:ln>
                  <a:noFill/>
                </a:ln>
                <a:solidFill>
                  <a:prstClr val="black"/>
                </a:solidFill>
                <a:effectLst/>
                <a:uLnTx/>
                <a:uFillTx/>
                <a:latin typeface="Calibri"/>
                <a:ea typeface="+mn-ea"/>
                <a:cs typeface="Calibri"/>
              </a:rPr>
              <a:t>Published</a:t>
            </a:r>
            <a:r>
              <a:rPr kumimoji="0" lang="ja-JP" altLang="en-US" sz="2400" b="0" i="1" u="none" strike="noStrike" kern="1200" cap="none" spc="10" normalizeH="0" baseline="0" noProof="0" dirty="0">
                <a:ln>
                  <a:noFill/>
                </a:ln>
                <a:solidFill>
                  <a:prstClr val="black"/>
                </a:solidFill>
                <a:effectLst/>
                <a:uLnTx/>
                <a:uFillTx/>
                <a:latin typeface="Calibri"/>
                <a:ea typeface="+mn-ea"/>
                <a:cs typeface="Calibri"/>
              </a:rPr>
              <a:t> </a:t>
            </a:r>
            <a:r>
              <a:rPr kumimoji="0" lang="en-US" altLang="ja-JP" sz="2400" b="0" i="1" u="none" strike="noStrike" kern="1200" cap="none" spc="0" normalizeH="0" baseline="0" noProof="0" dirty="0">
                <a:ln>
                  <a:noFill/>
                </a:ln>
                <a:solidFill>
                  <a:prstClr val="black"/>
                </a:solidFill>
                <a:effectLst/>
                <a:uLnTx/>
                <a:uFillTx/>
                <a:latin typeface="Calibri"/>
                <a:ea typeface="+mn-ea"/>
                <a:cs typeface="Calibri"/>
              </a:rPr>
              <a:t>in</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a:p>
            <a:pPr marL="12700" marR="0" lvl="0" indent="0" algn="just" defTabSz="914400" rtl="0" eaLnBrk="1" fontAlgn="auto" latinLnBrk="0" hangingPunct="1">
              <a:lnSpc>
                <a:spcPts val="2735"/>
              </a:lnSpc>
              <a:spcBef>
                <a:spcPts val="0"/>
              </a:spcBef>
              <a:spcAft>
                <a:spcPts val="0"/>
              </a:spcAft>
              <a:buClrTx/>
              <a:buSzTx/>
              <a:buFontTx/>
              <a:buNone/>
              <a:tabLst/>
              <a:defRPr/>
            </a:pPr>
            <a:r>
              <a:rPr kumimoji="0" lang="en-US" altLang="ja-JP" sz="2400" b="0" i="1"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DatasheetEST</a:t>
            </a:r>
            <a:r>
              <a:rPr kumimoji="0" lang="ja-JP" altLang="en-US" sz="2400" b="0" i="1"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US" altLang="ja-JP" sz="2400" b="0" i="1"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5"/>
              </a:rPr>
              <a:t>by</a:t>
            </a:r>
            <a:r>
              <a:rPr kumimoji="0" lang="ja-JP" altLang="en-US" sz="2400" b="0" i="1"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US" altLang="ja-JP" sz="2400" b="0" i="1" u="heavy" strike="noStrike" kern="1200" cap="none" spc="-35" normalizeH="0" baseline="0" noProof="0" dirty="0">
                <a:ln>
                  <a:noFill/>
                </a:ln>
                <a:solidFill>
                  <a:srgbClr val="0462C1"/>
                </a:solidFill>
                <a:effectLst/>
                <a:uLnTx/>
                <a:uFill>
                  <a:solidFill>
                    <a:srgbClr val="0462C1"/>
                  </a:solidFill>
                </a:uFill>
                <a:latin typeface="Calibri"/>
                <a:ea typeface="+mn-ea"/>
                <a:cs typeface="Calibri"/>
                <a:hlinkClick r:id="rId5"/>
              </a:rPr>
              <a:t>TDSmaker</a:t>
            </a:r>
            <a:r>
              <a:rPr kumimoji="0" lang="en-US" altLang="ja-JP" sz="2400" b="0" i="1" u="none" strike="noStrike" kern="1200" cap="none" spc="-35" normalizeH="0" baseline="0" noProof="0" dirty="0">
                <a:ln>
                  <a:noFill/>
                </a:ln>
                <a:solidFill>
                  <a:prstClr val="black"/>
                </a:solidFill>
                <a:effectLst/>
                <a:uLnTx/>
                <a:uFillTx/>
                <a:latin typeface="Calibri"/>
                <a:ea typeface="+mn-ea"/>
                <a:cs typeface="Calibri"/>
              </a:rPr>
              <a:t>,</a:t>
            </a:r>
            <a:r>
              <a:rPr kumimoji="0" lang="ja-JP" altLang="en-US" sz="2400" b="0" i="1" u="none" strike="noStrike" kern="1200" cap="none" spc="0" normalizeH="0" baseline="0" noProof="0" dirty="0">
                <a:ln>
                  <a:noFill/>
                </a:ln>
                <a:solidFill>
                  <a:prstClr val="black"/>
                </a:solidFill>
                <a:effectLst/>
                <a:uLnTx/>
                <a:uFillTx/>
                <a:latin typeface="Calibri"/>
                <a:ea typeface="+mn-ea"/>
                <a:cs typeface="Calibri"/>
              </a:rPr>
              <a:t> </a:t>
            </a:r>
            <a:r>
              <a:rPr kumimoji="0" lang="en-US" altLang="ja-JP" sz="2400" b="0" i="1" u="none" strike="noStrike" kern="1200" cap="none" spc="0" normalizeH="0" baseline="0" noProof="0" dirty="0">
                <a:ln>
                  <a:noFill/>
                </a:ln>
                <a:solidFill>
                  <a:prstClr val="black"/>
                </a:solidFill>
                <a:effectLst/>
                <a:uLnTx/>
                <a:uFillTx/>
                <a:latin typeface="Calibri"/>
                <a:ea typeface="+mn-ea"/>
                <a:cs typeface="Calibri"/>
              </a:rPr>
              <a:t>25</a:t>
            </a:r>
            <a:r>
              <a:rPr kumimoji="0" lang="ja-JP" altLang="en-US" sz="2400" b="0" i="1" u="none" strike="noStrike" kern="1200" cap="none" spc="-15" normalizeH="0" baseline="0" noProof="0" dirty="0">
                <a:ln>
                  <a:noFill/>
                </a:ln>
                <a:solidFill>
                  <a:prstClr val="black"/>
                </a:solidFill>
                <a:effectLst/>
                <a:uLnTx/>
                <a:uFillTx/>
                <a:latin typeface="Calibri"/>
                <a:ea typeface="+mn-ea"/>
                <a:cs typeface="Calibri"/>
              </a:rPr>
              <a:t> </a:t>
            </a:r>
            <a:r>
              <a:rPr kumimoji="0" lang="en-US" altLang="ja-JP" sz="2400" b="0" i="1" u="none" strike="noStrike" kern="1200" cap="none" spc="0" normalizeH="0" baseline="0" noProof="0" dirty="0">
                <a:ln>
                  <a:noFill/>
                </a:ln>
                <a:solidFill>
                  <a:prstClr val="black"/>
                </a:solidFill>
                <a:effectLst/>
                <a:uLnTx/>
                <a:uFillTx/>
                <a:latin typeface="Calibri"/>
                <a:ea typeface="+mn-ea"/>
                <a:cs typeface="Calibri"/>
              </a:rPr>
              <a:t>April</a:t>
            </a:r>
            <a:r>
              <a:rPr kumimoji="0" lang="ja-JP" altLang="en-US" sz="2400" b="0" i="1" u="none" strike="noStrike" kern="1200" cap="none" spc="-20" normalizeH="0" baseline="0" noProof="0" dirty="0">
                <a:ln>
                  <a:noFill/>
                </a:ln>
                <a:solidFill>
                  <a:prstClr val="black"/>
                </a:solidFill>
                <a:effectLst/>
                <a:uLnTx/>
                <a:uFillTx/>
                <a:latin typeface="Calibri"/>
                <a:ea typeface="+mn-ea"/>
                <a:cs typeface="Calibri"/>
              </a:rPr>
              <a:t> </a:t>
            </a:r>
            <a:r>
              <a:rPr kumimoji="0" lang="en-US" altLang="ja-JP" sz="2400" b="0" i="1" u="none" strike="noStrike" kern="1200" cap="none" spc="-5" normalizeH="0" baseline="0" noProof="0" dirty="0">
                <a:ln>
                  <a:noFill/>
                </a:ln>
                <a:solidFill>
                  <a:prstClr val="black"/>
                </a:solidFill>
                <a:effectLst/>
                <a:uLnTx/>
                <a:uFillTx/>
                <a:latin typeface="Calibri"/>
                <a:ea typeface="+mn-ea"/>
                <a:cs typeface="Calibri"/>
              </a:rPr>
              <a:t>2018</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2452340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sz="3800" b="1" dirty="0">
                <a:latin typeface="Calibri (Headings)"/>
              </a:rPr>
              <a:t>2. </a:t>
            </a:r>
            <a:r>
              <a:rPr lang="ja-JP" altLang="en-US" sz="3800" b="1" dirty="0">
                <a:latin typeface="Calibri (Headings)"/>
                <a:sym typeface="Arial"/>
              </a:rPr>
              <a:t>回避不可能な</a:t>
            </a:r>
            <a:r>
              <a:rPr lang="en-US" altLang="ja-JP" sz="3800" b="1" dirty="0">
                <a:latin typeface="Calibri (Headings)"/>
                <a:sym typeface="Arial"/>
              </a:rPr>
              <a:t>5</a:t>
            </a:r>
            <a:r>
              <a:rPr lang="ja-JP" altLang="en-US" sz="3800" b="1" dirty="0">
                <a:latin typeface="Calibri (Headings)"/>
                <a:sym typeface="Arial"/>
              </a:rPr>
              <a:t>大トレードオフへの向き合い方</a:t>
            </a:r>
            <a:endParaRPr lang="en-GB" sz="38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ts val="2590"/>
              </a:lnSpc>
              <a:spcBef>
                <a:spcPts val="42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ソフトウェアエンジニアが社内技術ドキュメンテーションを行う上で向き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合わなければならない回避不可能</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な</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5</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大トレードオフは以下の通りである。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0"/>
              </a:spcBef>
              <a:spcAft>
                <a:spcPts val="0"/>
              </a:spcAft>
              <a:buClr>
                <a:srgbClr val="000000"/>
              </a:buClr>
              <a:buSzTx/>
              <a:buFont typeface="Calibri"/>
              <a:buAutoNum type="arabicPeriod"/>
              <a:tabLst>
                <a:tab pos="374650" algn="l"/>
              </a:tabLst>
              <a:defRPr/>
            </a:pP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属人性排除タスクそれ自体の属人性</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kumimoji="0" lang="ja-JP" altLang="en-US" sz="2400" b="1"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4"/>
              </a:rPr>
              <a:t>チーム作業の形成すべき合意内容</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5"/>
              </a:rPr>
              <a:t>ステークホルダーの数と文書の最新状態追従度の反比例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720"/>
              </a:spcBef>
              <a:spcAft>
                <a:spcPts val="0"/>
              </a:spcAft>
              <a:buClr>
                <a:srgbClr val="000000"/>
              </a:buClr>
              <a:buSzTx/>
              <a:buFont typeface="Calibri"/>
              <a:buAutoNum type="arabicPeriod"/>
              <a:tabLst>
                <a:tab pos="374650" algn="l"/>
              </a:tabLst>
              <a:defRPr/>
            </a:pP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継続的品質担保責任の発生</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705"/>
              </a:spcBef>
              <a:spcAft>
                <a:spcPts val="0"/>
              </a:spcAft>
              <a:buClr>
                <a:srgbClr val="000000"/>
              </a:buClr>
              <a:buSzTx/>
              <a:buFont typeface="Calibri"/>
              <a:buAutoNum type="arabicPeriod"/>
              <a:tabLst>
                <a:tab pos="374650" algn="l"/>
              </a:tabLst>
              <a:defRPr/>
            </a:pPr>
            <a:r>
              <a:rPr kumimoji="0" lang="ja-JP" altLang="en-US" sz="2400" b="1"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7"/>
              </a:rPr>
              <a:t>投資コストの限界値の見極めの難しさ</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123501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cs typeface="Yu Gothic"/>
              </a:rPr>
              <a:t>①</a:t>
            </a:r>
            <a:r>
              <a:rPr kumimoji="0" lang="ja-JP" altLang="en-US" sz="2800" b="1" i="0" u="none" strike="noStrike" kern="1200" cap="none" spc="-165" normalizeH="0" baseline="0" noProof="0" dirty="0">
                <a:ln>
                  <a:noFill/>
                </a:ln>
                <a:solidFill>
                  <a:prstClr val="black"/>
                </a:solidFill>
                <a:effectLst/>
                <a:uLnTx/>
                <a:uFillTx/>
                <a:latin typeface="Yu Gothic"/>
                <a:cs typeface="Yu Gothic"/>
              </a:rPr>
              <a:t> </a:t>
            </a:r>
            <a:r>
              <a:rPr kumimoji="0" lang="ja-JP" altLang="en-US" sz="2800" b="1" i="0" u="none" strike="noStrike" kern="1200" cap="none" spc="-5" normalizeH="0" baseline="0" noProof="0" dirty="0">
                <a:ln>
                  <a:noFill/>
                </a:ln>
                <a:solidFill>
                  <a:prstClr val="black"/>
                </a:solidFill>
                <a:effectLst/>
                <a:uLnTx/>
                <a:uFillTx/>
                <a:latin typeface="Yu Gothic"/>
                <a:cs typeface="Yu Gothic"/>
              </a:rPr>
              <a:t>属人性排除タスクそれ自体の属</a:t>
            </a:r>
            <a:r>
              <a:rPr kumimoji="0" lang="ja-JP" altLang="en-US" sz="2800" b="1" i="0" u="none" strike="noStrike" kern="1200" cap="none" spc="0" normalizeH="0" baseline="0" noProof="0" dirty="0">
                <a:ln>
                  <a:noFill/>
                </a:ln>
                <a:solidFill>
                  <a:prstClr val="black"/>
                </a:solidFill>
                <a:effectLst/>
                <a:uLnTx/>
                <a:uFillTx/>
                <a:latin typeface="Yu Gothic"/>
                <a:cs typeface="Yu Gothic"/>
              </a:rPr>
              <a:t>人</a:t>
            </a:r>
            <a:r>
              <a:rPr kumimoji="0" lang="ja-JP" altLang="en-US" sz="2800" b="1" i="0" u="none" strike="noStrike" kern="1200" cap="none" spc="-5" normalizeH="0" baseline="0" noProof="0" dirty="0">
                <a:ln>
                  <a:noFill/>
                </a:ln>
                <a:solidFill>
                  <a:prstClr val="black"/>
                </a:solidFill>
                <a:effectLst/>
                <a:uLnTx/>
                <a:uFillTx/>
                <a:latin typeface="Yu Gothic"/>
                <a:cs typeface="Yu Gothic"/>
              </a:rPr>
              <a:t>性</a:t>
            </a:r>
            <a:endParaRPr kumimoji="0" lang="ja-JP" altLang="en-US" sz="2800" b="0" i="0" u="none" strike="noStrike" kern="1200" cap="none" spc="0" normalizeH="0" baseline="0" noProof="0" dirty="0">
              <a:ln>
                <a:noFill/>
              </a:ln>
              <a:solidFill>
                <a:prstClr val="black"/>
              </a:solidFill>
              <a:effectLst/>
              <a:uLnTx/>
              <a:uFillTx/>
              <a:latin typeface="Yu Gothic"/>
              <a:cs typeface="Yu Gothic"/>
            </a:endParaRPr>
          </a:p>
          <a:p>
            <a:pPr marL="12700" marR="158750" lvl="0" indent="0" algn="just" defTabSz="914400" rtl="0" eaLnBrk="1" fontAlgn="auto" latinLnBrk="0" hangingPunct="1">
              <a:lnSpc>
                <a:spcPts val="2590"/>
              </a:lnSpc>
              <a:spcBef>
                <a:spcPts val="107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cs typeface="Yu Gothic"/>
              </a:rPr>
              <a:t>知見や運用が特定のメンバーやチームに依存している状態を属人的である と定義すると、それら</a:t>
            </a:r>
            <a:r>
              <a:rPr kumimoji="0" lang="ja-JP" altLang="en-US" sz="2400" b="0" i="0" u="none" strike="noStrike" kern="1200" cap="none" spc="5" normalizeH="0" baseline="0" noProof="0" dirty="0">
                <a:ln>
                  <a:noFill/>
                </a:ln>
                <a:solidFill>
                  <a:prstClr val="black"/>
                </a:solidFill>
                <a:effectLst/>
                <a:uLnTx/>
                <a:uFillTx/>
                <a:latin typeface="Yu Gothic"/>
                <a:cs typeface="Yu Gothic"/>
              </a:rPr>
              <a:t>を</a:t>
            </a:r>
            <a:r>
              <a:rPr kumimoji="0" lang="ja-JP" altLang="en-US" sz="2400" b="1" i="0" u="none" strike="noStrike" kern="1200" cap="none" spc="0" normalizeH="0" baseline="0" noProof="0" dirty="0">
                <a:ln>
                  <a:noFill/>
                </a:ln>
                <a:solidFill>
                  <a:prstClr val="black"/>
                </a:solidFill>
                <a:effectLst/>
                <a:uLnTx/>
                <a:uFillTx/>
                <a:latin typeface="Yu Gothic"/>
                <a:cs typeface="Yu Gothic"/>
              </a:rPr>
              <a:t>あらゆるステークホルダーが参照・運用出来る状 態にする動きを属人性の排</a:t>
            </a:r>
            <a:r>
              <a:rPr kumimoji="0" lang="ja-JP" altLang="en-US" sz="2400" b="1" i="0" u="none" strike="noStrike" kern="1200" cap="none" spc="5" normalizeH="0" baseline="0" noProof="0" dirty="0">
                <a:ln>
                  <a:noFill/>
                </a:ln>
                <a:solidFill>
                  <a:prstClr val="black"/>
                </a:solidFill>
                <a:effectLst/>
                <a:uLnTx/>
                <a:uFillTx/>
                <a:latin typeface="Yu Gothic"/>
                <a:cs typeface="Yu Gothic"/>
              </a:rPr>
              <a:t>除</a:t>
            </a:r>
            <a:r>
              <a:rPr kumimoji="0" lang="ja-JP" altLang="en-US" sz="2400" b="0" i="0" u="none" strike="noStrike" kern="1200" cap="none" spc="0" normalizeH="0" baseline="0" noProof="0" dirty="0">
                <a:ln>
                  <a:noFill/>
                </a:ln>
                <a:solidFill>
                  <a:prstClr val="black"/>
                </a:solidFill>
                <a:effectLst/>
                <a:uLnTx/>
                <a:uFillTx/>
                <a:latin typeface="Yu Gothic"/>
                <a:cs typeface="Yu Gothic"/>
              </a:rPr>
              <a:t>と呼ぶ。</a:t>
            </a:r>
          </a:p>
          <a:p>
            <a:pPr marL="12700" marR="0" lvl="0" indent="0" algn="l" defTabSz="914400" rtl="0" eaLnBrk="1" fontAlgn="auto" latinLnBrk="0" hangingPunct="1">
              <a:lnSpc>
                <a:spcPts val="2735"/>
              </a:lnSpc>
              <a:spcBef>
                <a:spcPts val="685"/>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cs typeface="Yu Gothic"/>
              </a:rPr>
              <a:t>ドキュメンテーションはそのための手段</a:t>
            </a:r>
            <a:r>
              <a:rPr kumimoji="0" lang="ja-JP" altLang="en-US" sz="2400" b="0" i="0" u="none" strike="noStrike" kern="1200" cap="none" spc="0" normalizeH="0" baseline="0" noProof="0" dirty="0">
                <a:ln>
                  <a:noFill/>
                </a:ln>
                <a:solidFill>
                  <a:prstClr val="black"/>
                </a:solidFill>
                <a:effectLst/>
                <a:uLnTx/>
                <a:uFillTx/>
                <a:latin typeface="Yu Gothic"/>
                <a:cs typeface="Yu Gothic"/>
              </a:rPr>
              <a:t>の</a:t>
            </a:r>
            <a:r>
              <a:rPr kumimoji="0" lang="en-US" altLang="ja-JP" sz="2400" b="0" i="0" u="none" strike="noStrike" kern="1200" cap="none" spc="-10" normalizeH="0" baseline="0" noProof="0" dirty="0">
                <a:ln>
                  <a:noFill/>
                </a:ln>
                <a:solidFill>
                  <a:prstClr val="black"/>
                </a:solidFill>
                <a:effectLst/>
                <a:uLnTx/>
                <a:uFillTx/>
                <a:latin typeface="Calibri"/>
                <a:cs typeface="Calibri"/>
              </a:rPr>
              <a:t>1</a:t>
            </a:r>
            <a:r>
              <a:rPr kumimoji="0" lang="ja-JP" altLang="en-US" sz="2400" b="0" i="0" u="none" strike="noStrike" kern="1200" cap="none" spc="-5" normalizeH="0" baseline="0" noProof="0" dirty="0">
                <a:ln>
                  <a:noFill/>
                </a:ln>
                <a:solidFill>
                  <a:prstClr val="black"/>
                </a:solidFill>
                <a:effectLst/>
                <a:uLnTx/>
                <a:uFillTx/>
                <a:latin typeface="Yu Gothic"/>
                <a:cs typeface="Yu Gothic"/>
              </a:rPr>
              <a:t>つだが、</a:t>
            </a:r>
            <a:r>
              <a:rPr kumimoji="0" lang="ja-JP" altLang="en-US" sz="2400" b="1" i="0" u="none" strike="noStrike" kern="1200" cap="none" spc="-5" normalizeH="0" baseline="0" noProof="0" dirty="0">
                <a:ln>
                  <a:noFill/>
                </a:ln>
                <a:solidFill>
                  <a:prstClr val="black"/>
                </a:solidFill>
                <a:effectLst/>
                <a:uLnTx/>
                <a:uFillTx/>
                <a:latin typeface="Yu Gothic"/>
                <a:cs typeface="Yu Gothic"/>
              </a:rPr>
              <a:t>それが完遂されるまで</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a:p>
            <a:pPr marL="12700" marR="0" lvl="0" indent="0" algn="l" defTabSz="914400" rtl="0" eaLnBrk="1" fontAlgn="auto" latinLnBrk="0" hangingPunct="1">
              <a:lnSpc>
                <a:spcPts val="2735"/>
              </a:lnSpc>
              <a:spcBef>
                <a:spcPts val="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cs typeface="Yu Gothic"/>
              </a:rPr>
              <a:t>は作業者が文書化する対象の知見や運用に精通している状</a:t>
            </a:r>
            <a:r>
              <a:rPr kumimoji="0" lang="ja-JP" altLang="en-US" sz="2400" b="1" i="0" u="none" strike="noStrike" kern="1200" cap="none" spc="10" normalizeH="0" baseline="0" noProof="0" dirty="0">
                <a:ln>
                  <a:noFill/>
                </a:ln>
                <a:solidFill>
                  <a:prstClr val="black"/>
                </a:solidFill>
                <a:effectLst/>
                <a:uLnTx/>
                <a:uFillTx/>
                <a:latin typeface="Yu Gothic"/>
                <a:cs typeface="Yu Gothic"/>
              </a:rPr>
              <a:t>態</a:t>
            </a:r>
            <a:r>
              <a:rPr kumimoji="0" lang="ja-JP" altLang="en-US" sz="2400" b="0" i="0" u="none" strike="noStrike" kern="1200" cap="none" spc="0" normalizeH="0" baseline="0" noProof="0" dirty="0">
                <a:ln>
                  <a:noFill/>
                </a:ln>
                <a:solidFill>
                  <a:prstClr val="black"/>
                </a:solidFill>
                <a:effectLst/>
                <a:uLnTx/>
                <a:uFillTx/>
                <a:latin typeface="Yu Gothic"/>
                <a:cs typeface="Yu Gothic"/>
              </a:rPr>
              <a:t>になる。</a:t>
            </a:r>
          </a:p>
          <a:p>
            <a:pPr marL="12700" marR="159385" lvl="0" indent="0" algn="l" defTabSz="914400" rtl="0" eaLnBrk="1" fontAlgn="auto" latinLnBrk="0" hangingPunct="1">
              <a:lnSpc>
                <a:spcPts val="2590"/>
              </a:lnSpc>
              <a:spcBef>
                <a:spcPts val="103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cs typeface="Yu Gothic"/>
              </a:rPr>
              <a:t>その知見や運用が比較的軽いものであれば協力者を募りレクチャーするこ とで負荷分散を図ることが出来るが</a:t>
            </a:r>
            <a:r>
              <a:rPr kumimoji="0" lang="ja-JP" altLang="en-US" sz="2400" b="0" i="0" u="none" strike="noStrike" kern="1200" cap="none" spc="5" normalizeH="0" baseline="0" noProof="0" dirty="0">
                <a:ln>
                  <a:noFill/>
                </a:ln>
                <a:solidFill>
                  <a:prstClr val="black"/>
                </a:solidFill>
                <a:effectLst/>
                <a:uLnTx/>
                <a:uFillTx/>
                <a:latin typeface="Yu Gothic"/>
                <a:cs typeface="Yu Gothic"/>
              </a:rPr>
              <a:t>、</a:t>
            </a:r>
            <a:r>
              <a:rPr kumimoji="0" lang="ja-JP" altLang="en-US" sz="2400" b="1" i="0" u="none" strike="noStrike" kern="1200" cap="none" spc="0" normalizeH="0" baseline="0" noProof="0" dirty="0">
                <a:ln>
                  <a:noFill/>
                </a:ln>
                <a:solidFill>
                  <a:prstClr val="black"/>
                </a:solidFill>
                <a:effectLst/>
                <a:uLnTx/>
                <a:uFillTx/>
                <a:latin typeface="Yu Gothic"/>
                <a:cs typeface="Yu Gothic"/>
              </a:rPr>
              <a:t>さもなくば文書化コストをレク</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a:p>
            <a:pPr marL="12700" marR="0" lvl="0" indent="0" algn="l" defTabSz="914400" rtl="0" eaLnBrk="1" fontAlgn="auto" latinLnBrk="0" hangingPunct="1">
              <a:lnSpc>
                <a:spcPts val="2555"/>
              </a:lnSpc>
              <a:spcBef>
                <a:spcPts val="0"/>
              </a:spcBef>
              <a:spcAft>
                <a:spcPts val="0"/>
              </a:spcAft>
              <a:buClrTx/>
              <a:buSzTx/>
              <a:buFontTx/>
              <a:buNone/>
              <a:tabLst/>
              <a:defRPr/>
            </a:pPr>
            <a:r>
              <a:rPr kumimoji="0" lang="ja-JP" altLang="en-US" sz="2400" b="1" i="0" u="none" strike="noStrike" kern="1200" cap="none" spc="-5" normalizeH="0" baseline="0" noProof="0" dirty="0">
                <a:ln>
                  <a:noFill/>
                </a:ln>
                <a:solidFill>
                  <a:prstClr val="black"/>
                </a:solidFill>
                <a:effectLst/>
                <a:uLnTx/>
                <a:uFillTx/>
                <a:latin typeface="Yu Gothic"/>
                <a:cs typeface="Yu Gothic"/>
              </a:rPr>
              <a:t>チャーコストが上回るため分業体制を敷くことが出来な</a:t>
            </a:r>
            <a:r>
              <a:rPr kumimoji="0" lang="ja-JP" altLang="en-US" sz="2400" b="1" i="0" u="none" strike="noStrike" kern="1200" cap="none" spc="5" normalizeH="0" baseline="0" noProof="0" dirty="0">
                <a:ln>
                  <a:noFill/>
                </a:ln>
                <a:solidFill>
                  <a:prstClr val="black"/>
                </a:solidFill>
                <a:effectLst/>
                <a:uLnTx/>
                <a:uFillTx/>
                <a:latin typeface="Yu Gothic"/>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cs typeface="Yu Gothic"/>
              </a:rPr>
              <a:t>。</a:t>
            </a:r>
          </a:p>
          <a:p>
            <a:pPr marL="12700" marR="0" lvl="0" indent="0" algn="l" defTabSz="914400" rtl="0" eaLnBrk="1" fontAlgn="auto" latinLnBrk="0" hangingPunct="1">
              <a:lnSpc>
                <a:spcPct val="100000"/>
              </a:lnSpc>
              <a:spcBef>
                <a:spcPts val="71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cs typeface="Yu Gothic"/>
              </a:rPr>
              <a:t>これこそが属人性排除タスクそれ自体が再帰的に属人的たる理由である。</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p:txBody>
      </p:sp>
    </p:spTree>
    <p:extLst>
      <p:ext uri="{BB962C8B-B14F-4D97-AF65-F5344CB8AC3E}">
        <p14:creationId xmlns:p14="http://schemas.microsoft.com/office/powerpoint/2010/main" val="1761223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60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cs typeface="Yu Gothic"/>
              </a:rPr>
              <a:t>①</a:t>
            </a:r>
            <a:r>
              <a:rPr kumimoji="0" lang="ja-JP" altLang="en-US" sz="2800" b="1" i="0" u="none" strike="noStrike" kern="1200" cap="none" spc="-165" normalizeH="0" baseline="0" noProof="0" dirty="0">
                <a:ln>
                  <a:noFill/>
                </a:ln>
                <a:solidFill>
                  <a:prstClr val="black"/>
                </a:solidFill>
                <a:effectLst/>
                <a:uLnTx/>
                <a:uFillTx/>
                <a:latin typeface="Yu Gothic"/>
                <a:cs typeface="Yu Gothic"/>
              </a:rPr>
              <a:t> </a:t>
            </a:r>
            <a:r>
              <a:rPr kumimoji="0" lang="ja-JP" altLang="en-US" sz="2800" b="1" i="0" u="none" strike="noStrike" kern="1200" cap="none" spc="-5" normalizeH="0" baseline="0" noProof="0" dirty="0">
                <a:ln>
                  <a:noFill/>
                </a:ln>
                <a:solidFill>
                  <a:prstClr val="black"/>
                </a:solidFill>
                <a:effectLst/>
                <a:uLnTx/>
                <a:uFillTx/>
                <a:latin typeface="Yu Gothic"/>
                <a:cs typeface="Yu Gothic"/>
              </a:rPr>
              <a:t>属人性排除タスクそれ自体の属</a:t>
            </a:r>
            <a:r>
              <a:rPr kumimoji="0" lang="ja-JP" altLang="en-US" sz="2800" b="1" i="0" u="none" strike="noStrike" kern="1200" cap="none" spc="0" normalizeH="0" baseline="0" noProof="0" dirty="0">
                <a:ln>
                  <a:noFill/>
                </a:ln>
                <a:solidFill>
                  <a:prstClr val="black"/>
                </a:solidFill>
                <a:effectLst/>
                <a:uLnTx/>
                <a:uFillTx/>
                <a:latin typeface="Yu Gothic"/>
                <a:cs typeface="Yu Gothic"/>
              </a:rPr>
              <a:t>人</a:t>
            </a:r>
            <a:r>
              <a:rPr kumimoji="0" lang="ja-JP" altLang="en-US" sz="2800" b="1" i="0" u="none" strike="noStrike" kern="1200" cap="none" spc="-5" normalizeH="0" baseline="0" noProof="0" dirty="0">
                <a:ln>
                  <a:noFill/>
                </a:ln>
                <a:solidFill>
                  <a:prstClr val="black"/>
                </a:solidFill>
                <a:effectLst/>
                <a:uLnTx/>
                <a:uFillTx/>
                <a:latin typeface="Yu Gothic"/>
                <a:cs typeface="Yu Gothic"/>
              </a:rPr>
              <a:t>性</a:t>
            </a:r>
            <a:endParaRPr kumimoji="0" lang="ja-JP" altLang="en-US" sz="2800" b="0" i="0" u="none" strike="noStrike" kern="1200" cap="none" spc="0" normalizeH="0" baseline="0" noProof="0" dirty="0">
              <a:ln>
                <a:noFill/>
              </a:ln>
              <a:solidFill>
                <a:prstClr val="black"/>
              </a:solidFill>
              <a:effectLst/>
              <a:uLnTx/>
              <a:uFillTx/>
              <a:latin typeface="Yu Gothic"/>
              <a:cs typeface="Yu Gothic"/>
            </a:endParaRPr>
          </a:p>
          <a:p>
            <a:pPr marL="12700" marR="0" lvl="0" indent="0" algn="l" defTabSz="914400" rtl="0" eaLnBrk="1" fontAlgn="auto" latinLnBrk="0" hangingPunct="1">
              <a:lnSpc>
                <a:spcPct val="100000"/>
              </a:lnSpc>
              <a:spcBef>
                <a:spcPts val="44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cs typeface="Yu Gothic"/>
              </a:rPr>
              <a:t>このトレードオフに対する向き合い方は、以下</a:t>
            </a:r>
            <a:r>
              <a:rPr kumimoji="0" lang="ja-JP" altLang="en-US" sz="2400" b="0" i="0" u="none" strike="noStrike" kern="1200" cap="none" spc="5" normalizeH="0" baseline="0" noProof="0" dirty="0">
                <a:ln>
                  <a:noFill/>
                </a:ln>
                <a:solidFill>
                  <a:prstClr val="black"/>
                </a:solidFill>
                <a:effectLst/>
                <a:uLnTx/>
                <a:uFillTx/>
                <a:latin typeface="Yu Gothic"/>
                <a:cs typeface="Yu Gothic"/>
              </a:rPr>
              <a:t>の</a:t>
            </a:r>
            <a:r>
              <a:rPr kumimoji="0" lang="en-US" altLang="ja-JP" sz="2400" b="0" i="0" u="none" strike="noStrike" kern="1200" cap="none" spc="-5" normalizeH="0" baseline="0" noProof="0" dirty="0">
                <a:ln>
                  <a:noFill/>
                </a:ln>
                <a:solidFill>
                  <a:prstClr val="black"/>
                </a:solidFill>
                <a:effectLst/>
                <a:uLnTx/>
                <a:uFillTx/>
                <a:latin typeface="Calibri"/>
                <a:cs typeface="Calibri"/>
              </a:rPr>
              <a:t>2</a:t>
            </a:r>
            <a:r>
              <a:rPr kumimoji="0" lang="ja-JP" altLang="en-US" sz="2400" b="0" i="0" u="none" strike="noStrike" kern="1200" cap="none" spc="0" normalizeH="0" baseline="0" noProof="0" dirty="0">
                <a:ln>
                  <a:noFill/>
                </a:ln>
                <a:solidFill>
                  <a:prstClr val="black"/>
                </a:solidFill>
                <a:effectLst/>
                <a:uLnTx/>
                <a:uFillTx/>
                <a:latin typeface="Yu Gothic"/>
                <a:cs typeface="Yu Gothic"/>
              </a:rPr>
              <a:t>つのいずれかである。</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ja-JP" altLang="en-US" sz="195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ct val="100000"/>
              </a:lnSpc>
              <a:spcBef>
                <a:spcPts val="0"/>
              </a:spcBef>
              <a:spcAft>
                <a:spcPts val="0"/>
              </a:spcAft>
              <a:buClrTx/>
              <a:buSzTx/>
              <a:buFont typeface="Calibri"/>
              <a:buAutoNum type="arabicPeriod"/>
              <a:tabLst>
                <a:tab pos="374015" algn="l"/>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cs typeface="Yu Gothic"/>
              </a:rPr>
              <a:t>文書化コストを受け入れて一気通貫でやり切る</a:t>
            </a:r>
          </a:p>
          <a:p>
            <a:pPr marL="374015" marR="0" lvl="0" indent="-361950" algn="l" defTabSz="914400" rtl="0" eaLnBrk="1" fontAlgn="auto" latinLnBrk="0" hangingPunct="1">
              <a:lnSpc>
                <a:spcPct val="100000"/>
              </a:lnSpc>
              <a:spcBef>
                <a:spcPts val="420"/>
              </a:spcBef>
              <a:spcAft>
                <a:spcPts val="0"/>
              </a:spcAft>
              <a:buClrTx/>
              <a:buSzTx/>
              <a:buFont typeface="Calibri"/>
              <a:buAutoNum type="arabicPeriod"/>
              <a:tabLst>
                <a:tab pos="374015" algn="l"/>
                <a:tab pos="374650" algn="l"/>
              </a:tabLst>
              <a:defRPr/>
            </a:pPr>
            <a:r>
              <a:rPr kumimoji="0" lang="ja-JP" altLang="en-US" sz="2400" b="0" i="0" u="none" strike="noStrike" kern="1200" cap="none" spc="-5" normalizeH="0" baseline="0" noProof="0" dirty="0">
                <a:ln>
                  <a:noFill/>
                </a:ln>
                <a:solidFill>
                  <a:prstClr val="black"/>
                </a:solidFill>
                <a:effectLst/>
                <a:uLnTx/>
                <a:uFillTx/>
                <a:latin typeface="Yu Gothic"/>
                <a:cs typeface="Yu Gothic"/>
              </a:rPr>
              <a:t>レクチャーコストを払ってでも文書化コストを分散させる</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a:p>
            <a:pPr marL="0" marR="0" lvl="0" indent="0" algn="l" defTabSz="914400" rtl="0" eaLnBrk="1" fontAlgn="auto" latinLnBrk="0" hangingPunct="1">
              <a:lnSpc>
                <a:spcPct val="100000"/>
              </a:lnSpc>
              <a:spcBef>
                <a:spcPts val="35"/>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latin typeface="Yu Gothic"/>
              <a:cs typeface="Yu Gothic"/>
            </a:endParaRPr>
          </a:p>
          <a:p>
            <a:pPr marL="12700" marR="6350" lvl="0" indent="0" algn="l" defTabSz="914400" rtl="0" eaLnBrk="1" fontAlgn="auto" latinLnBrk="0" hangingPunct="1">
              <a:lnSpc>
                <a:spcPts val="230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cs typeface="Yu Gothic"/>
              </a:rPr>
              <a:t>私は</a:t>
            </a:r>
            <a:r>
              <a:rPr kumimoji="0" lang="en-US" altLang="ja-JP" sz="2400" b="0" i="0" u="none" strike="noStrike" kern="1200" cap="none" spc="-5" normalizeH="0" baseline="0" noProof="0" dirty="0">
                <a:ln>
                  <a:noFill/>
                </a:ln>
                <a:solidFill>
                  <a:prstClr val="black"/>
                </a:solidFill>
                <a:effectLst/>
                <a:uLnTx/>
                <a:uFillTx/>
                <a:latin typeface="Calibri"/>
                <a:cs typeface="Calibri"/>
              </a:rPr>
              <a:t>1</a:t>
            </a:r>
            <a:r>
              <a:rPr kumimoji="0" lang="ja-JP" altLang="en-US" sz="2400" b="0" i="0" u="none" strike="noStrike" kern="1200" cap="none" spc="0" normalizeH="0" baseline="0" noProof="0" dirty="0">
                <a:ln>
                  <a:noFill/>
                </a:ln>
                <a:solidFill>
                  <a:prstClr val="black"/>
                </a:solidFill>
                <a:effectLst/>
                <a:uLnTx/>
                <a:uFillTx/>
                <a:latin typeface="Yu Gothic"/>
                <a:cs typeface="Yu Gothic"/>
              </a:rPr>
              <a:t>を実際に経験し、深遠・難解かつ広範なドメイン知識や情報整理技術 を獲得した一方で、精神的に相当に疲弊してしまった。</a:t>
            </a:r>
          </a:p>
          <a:p>
            <a:pPr marL="12700" marR="5080" lvl="0" indent="0" algn="l" defTabSz="914400" rtl="0" eaLnBrk="1" fontAlgn="auto" latinLnBrk="0" hangingPunct="1">
              <a:lnSpc>
                <a:spcPct val="80000"/>
              </a:lnSpc>
              <a:spcBef>
                <a:spcPts val="102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cs typeface="Yu Gothic"/>
              </a:rPr>
              <a:t>「毒を食らわば皿まで」の性分ゆえ</a:t>
            </a:r>
            <a:r>
              <a:rPr kumimoji="0" lang="ja-JP" altLang="en-US" sz="2400" b="0" i="0" u="none" strike="noStrike" kern="1200" cap="none" spc="5" normalizeH="0" baseline="0" noProof="0" dirty="0">
                <a:ln>
                  <a:noFill/>
                </a:ln>
                <a:solidFill>
                  <a:prstClr val="black"/>
                </a:solidFill>
                <a:effectLst/>
                <a:uLnTx/>
                <a:uFillTx/>
                <a:latin typeface="Yu Gothic"/>
                <a:cs typeface="Yu Gothic"/>
              </a:rPr>
              <a:t>に</a:t>
            </a:r>
            <a:r>
              <a:rPr kumimoji="0" lang="en-US" altLang="ja-JP" sz="2400" b="0" i="0" u="none" strike="noStrike" kern="1200" cap="none" spc="-5" normalizeH="0" baseline="0" noProof="0" dirty="0">
                <a:ln>
                  <a:noFill/>
                </a:ln>
                <a:solidFill>
                  <a:prstClr val="black"/>
                </a:solidFill>
                <a:effectLst/>
                <a:uLnTx/>
                <a:uFillTx/>
                <a:latin typeface="Calibri"/>
                <a:cs typeface="Calibri"/>
              </a:rPr>
              <a:t>1</a:t>
            </a:r>
            <a:r>
              <a:rPr kumimoji="0" lang="ja-JP" altLang="en-US" sz="2400" b="0" i="0" u="none" strike="noStrike" kern="1200" cap="none" spc="0" normalizeH="0" baseline="0" noProof="0" dirty="0">
                <a:ln>
                  <a:noFill/>
                </a:ln>
                <a:solidFill>
                  <a:prstClr val="black"/>
                </a:solidFill>
                <a:effectLst/>
                <a:uLnTx/>
                <a:uFillTx/>
                <a:latin typeface="Yu Gothic"/>
                <a:cs typeface="Yu Gothic"/>
              </a:rPr>
              <a:t>の手法を取ったが、</a:t>
            </a:r>
            <a:r>
              <a:rPr kumimoji="0" lang="ja-JP" altLang="en-US" sz="2400" b="1" i="0" u="none" strike="noStrike" kern="1200" cap="none" spc="0" normalizeH="0" baseline="0" noProof="0" dirty="0">
                <a:ln>
                  <a:noFill/>
                </a:ln>
                <a:solidFill>
                  <a:prstClr val="black"/>
                </a:solidFill>
                <a:effectLst/>
                <a:uLnTx/>
                <a:uFillTx/>
                <a:latin typeface="Yu Gothic"/>
                <a:cs typeface="Yu Gothic"/>
              </a:rPr>
              <a:t>自分ひとりや </a:t>
            </a:r>
            <a:r>
              <a:rPr kumimoji="0" lang="ja-JP" altLang="en-US" sz="2400" b="1" i="0" u="none" strike="noStrike" kern="1200" cap="none" spc="5" normalizeH="0" baseline="0" noProof="0" dirty="0">
                <a:ln>
                  <a:noFill/>
                </a:ln>
                <a:solidFill>
                  <a:prstClr val="black"/>
                </a:solidFill>
                <a:effectLst/>
                <a:uLnTx/>
                <a:uFillTx/>
                <a:latin typeface="Yu Gothic"/>
                <a:cs typeface="Yu Gothic"/>
              </a:rPr>
              <a:t> </a:t>
            </a:r>
            <a:r>
              <a:rPr kumimoji="0" lang="ja-JP" altLang="en-US" sz="2400" b="1" i="0" u="none" strike="noStrike" kern="1200" cap="none" spc="0" normalizeH="0" baseline="0" noProof="0" dirty="0">
                <a:ln>
                  <a:noFill/>
                </a:ln>
                <a:solidFill>
                  <a:prstClr val="black"/>
                </a:solidFill>
                <a:effectLst/>
                <a:uLnTx/>
                <a:uFillTx/>
                <a:latin typeface="Yu Gothic"/>
                <a:cs typeface="Yu Gothic"/>
              </a:rPr>
              <a:t>チームだけで完結することにこだわりがなければ</a:t>
            </a:r>
            <a:r>
              <a:rPr kumimoji="0" lang="ja-JP" altLang="en-US" sz="2400" b="1" i="0" u="none" strike="noStrike" kern="1200" cap="none" spc="5" normalizeH="0" baseline="0" noProof="0" dirty="0">
                <a:ln>
                  <a:noFill/>
                </a:ln>
                <a:solidFill>
                  <a:prstClr val="black"/>
                </a:solidFill>
                <a:effectLst/>
                <a:uLnTx/>
                <a:uFillTx/>
                <a:latin typeface="Yu Gothic"/>
                <a:cs typeface="Yu Gothic"/>
              </a:rPr>
              <a:t>、</a:t>
            </a:r>
            <a:r>
              <a:rPr kumimoji="0" lang="en-US" altLang="ja-JP" sz="2400" b="1" i="0" u="none" strike="noStrike" kern="1200" cap="none" spc="-5" normalizeH="0" baseline="0" noProof="0" dirty="0">
                <a:ln>
                  <a:noFill/>
                </a:ln>
                <a:solidFill>
                  <a:prstClr val="black"/>
                </a:solidFill>
                <a:effectLst/>
                <a:uLnTx/>
                <a:uFillTx/>
                <a:latin typeface="Calibri"/>
                <a:cs typeface="Calibri"/>
              </a:rPr>
              <a:t>2</a:t>
            </a:r>
            <a:r>
              <a:rPr kumimoji="0" lang="ja-JP" altLang="en-US" sz="2400" b="1" i="0" u="none" strike="noStrike" kern="1200" cap="none" spc="0" normalizeH="0" baseline="0" noProof="0" dirty="0">
                <a:ln>
                  <a:noFill/>
                </a:ln>
                <a:solidFill>
                  <a:prstClr val="black"/>
                </a:solidFill>
                <a:effectLst/>
                <a:uLnTx/>
                <a:uFillTx/>
                <a:latin typeface="Yu Gothic"/>
                <a:cs typeface="Yu Gothic"/>
              </a:rPr>
              <a:t>の手法を取る方が精神 衛生上大変健全</a:t>
            </a:r>
            <a:r>
              <a:rPr kumimoji="0" lang="ja-JP" altLang="en-US" sz="2400" b="0" i="0" u="none" strike="noStrike" kern="1200" cap="none" spc="0" normalizeH="0" baseline="0" noProof="0" dirty="0">
                <a:ln>
                  <a:noFill/>
                </a:ln>
                <a:solidFill>
                  <a:prstClr val="black"/>
                </a:solidFill>
                <a:effectLst/>
                <a:uLnTx/>
                <a:uFillTx/>
                <a:latin typeface="Yu Gothic"/>
                <a:cs typeface="Yu Gothic"/>
              </a:rPr>
              <a:t>である。</a:t>
            </a:r>
          </a:p>
        </p:txBody>
      </p:sp>
    </p:spTree>
    <p:extLst>
      <p:ext uri="{BB962C8B-B14F-4D97-AF65-F5344CB8AC3E}">
        <p14:creationId xmlns:p14="http://schemas.microsoft.com/office/powerpoint/2010/main" val="331982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sz="2800" b="1" i="0" u="none" strike="noStrike" kern="0" cap="none" spc="-5" normalizeH="0" baseline="0" noProof="0" dirty="0">
                <a:ln>
                  <a:noFill/>
                </a:ln>
                <a:solidFill>
                  <a:prstClr val="black"/>
                </a:solidFill>
                <a:effectLst/>
                <a:uLnTx/>
                <a:uFillTx/>
                <a:latin typeface="Yu Gothic"/>
                <a:ea typeface="+mn-ea"/>
              </a:rPr>
              <a:t>②</a:t>
            </a:r>
            <a:r>
              <a:rPr kumimoji="0" lang="ja-JP" altLang="en-US" sz="2800" b="1" i="0" u="none" strike="noStrike" kern="0" cap="none" spc="-165" normalizeH="0" baseline="0" noProof="0" dirty="0">
                <a:ln>
                  <a:noFill/>
                </a:ln>
                <a:solidFill>
                  <a:prstClr val="black"/>
                </a:solidFill>
                <a:effectLst/>
                <a:uLnTx/>
                <a:uFillTx/>
                <a:latin typeface="Yu Gothic"/>
                <a:ea typeface="+mn-ea"/>
              </a:rPr>
              <a:t> </a:t>
            </a:r>
            <a:r>
              <a:rPr kumimoji="0" lang="ja-JP" altLang="en-US" sz="2800" b="1" i="0" u="none" strike="noStrike" kern="0" cap="none" spc="-5" normalizeH="0" baseline="0" noProof="0" dirty="0">
                <a:ln>
                  <a:noFill/>
                </a:ln>
                <a:solidFill>
                  <a:prstClr val="black"/>
                </a:solidFill>
                <a:effectLst/>
                <a:uLnTx/>
                <a:uFillTx/>
                <a:latin typeface="Yu Gothic"/>
                <a:ea typeface="+mn-ea"/>
              </a:rPr>
              <a:t>チーム作業の形成すべき合意内容</a:t>
            </a:r>
          </a:p>
          <a:p>
            <a:pPr marL="42545" marR="309880" lvl="0" indent="0" defTabSz="914400" eaLnBrk="1" fontAlgn="auto" latinLnBrk="0" hangingPunct="1">
              <a:lnSpc>
                <a:spcPts val="2590"/>
              </a:lnSpc>
              <a:spcBef>
                <a:spcPts val="575"/>
              </a:spcBef>
              <a:spcAft>
                <a:spcPts val="0"/>
              </a:spcAft>
              <a:buClrTx/>
              <a:buSzTx/>
              <a:buFontTx/>
              <a:buNone/>
              <a:tabLst/>
              <a:defRPr/>
            </a:pPr>
            <a:r>
              <a:rPr kumimoji="0" lang="ja-JP" altLang="en-US" sz="2400" b="1" i="0" u="none" strike="noStrike" kern="0" cap="none" spc="0" normalizeH="0" baseline="0" noProof="0" dirty="0">
                <a:ln>
                  <a:noFill/>
                </a:ln>
                <a:solidFill>
                  <a:prstClr val="black"/>
                </a:solidFill>
                <a:effectLst/>
                <a:uLnTx/>
                <a:uFillTx/>
                <a:latin typeface="Yu Gothic"/>
                <a:ea typeface="+mn-ea"/>
              </a:rPr>
              <a:t>チームメンバーで分担して作業する場合、作業負荷は軽減される一方で、 成果物の品質にばらつきが出やすい。</a:t>
            </a:r>
          </a:p>
          <a:p>
            <a:pPr marL="42545" marR="5080" lvl="0" indent="0" defTabSz="914400" eaLnBrk="1" fontAlgn="auto" latinLnBrk="0" hangingPunct="1">
              <a:lnSpc>
                <a:spcPts val="2590"/>
              </a:lnSpc>
              <a:spcBef>
                <a:spcPts val="49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特にチームメンバー間のドキュメンテーションの経験値の差が大きい場合、 文章構成や表現の揺れ</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を</a:t>
            </a:r>
            <a:r>
              <a:rPr kumimoji="0" lang="ja-JP" altLang="en-US" sz="2400" b="0" i="0" u="heavy" strike="noStrike" kern="0" cap="none" spc="0" normalizeH="0" baseline="0" noProof="0" dirty="0">
                <a:ln>
                  <a:noFill/>
                </a:ln>
                <a:solidFill>
                  <a:srgbClr val="0462C1"/>
                </a:solidFill>
                <a:effectLst/>
                <a:uLnTx/>
                <a:uFill>
                  <a:solidFill>
                    <a:srgbClr val="0462C1"/>
                  </a:solidFill>
                </a:uFill>
                <a:latin typeface="Yu Gothic"/>
                <a:ea typeface="+mn-ea"/>
                <a:cs typeface="Yu Gothic"/>
                <a:hlinkClick r:id="rId3"/>
              </a:rPr>
              <a:t>レビュー</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で解消し切れないことがある。</a:t>
            </a:r>
            <a:endParaRPr kumimoji="0" lang="ja-JP" altLang="en-US" sz="2400" b="1" i="0" u="none" strike="noStrike" kern="0" cap="none" spc="0" normalizeH="0" baseline="0" noProof="0" dirty="0">
              <a:ln>
                <a:noFill/>
              </a:ln>
              <a:solidFill>
                <a:prstClr val="black"/>
              </a:solidFill>
              <a:effectLst/>
              <a:uLnTx/>
              <a:uFillTx/>
              <a:latin typeface="Yu Gothic"/>
              <a:ea typeface="+mn-ea"/>
              <a:cs typeface="Yu Gothic"/>
            </a:endParaRPr>
          </a:p>
          <a:p>
            <a:pPr marL="42545" marR="309880" lvl="0" indent="0" defTabSz="914400" eaLnBrk="1" fontAlgn="auto" latinLnBrk="0" hangingPunct="1">
              <a:lnSpc>
                <a:spcPts val="2590"/>
              </a:lnSpc>
              <a:spcBef>
                <a:spcPts val="509"/>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デザインガイドラインと同じような発想でドキュメンテーションガイドラ インを作り縛りを設けるのも一案かもしれない。</a:t>
            </a:r>
            <a:endParaRPr kumimoji="0" lang="ja-JP" altLang="en-US" sz="2400" b="1" i="0" u="none" strike="noStrike" kern="0" cap="none" spc="0" normalizeH="0" baseline="0" noProof="0" dirty="0">
              <a:ln>
                <a:noFill/>
              </a:ln>
              <a:solidFill>
                <a:prstClr val="black"/>
              </a:solidFill>
              <a:effectLst/>
              <a:uLnTx/>
              <a:uFillTx/>
              <a:latin typeface="Yu Gothic"/>
              <a:ea typeface="+mn-ea"/>
              <a:cs typeface="Yu Gothic"/>
            </a:endParaRPr>
          </a:p>
          <a:p>
            <a:pPr marL="42545" marR="307975" lvl="0" indent="0" defTabSz="914400" eaLnBrk="1" fontAlgn="auto" latinLnBrk="0" hangingPunct="1">
              <a:lnSpc>
                <a:spcPts val="2590"/>
              </a:lnSpc>
              <a:spcBef>
                <a:spcPts val="505"/>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しかし、</a:t>
            </a:r>
            <a:r>
              <a:rPr kumimoji="0" lang="ja-JP" altLang="en-US" sz="2400" b="1" i="0" u="none" strike="noStrike" kern="0" cap="none" spc="0" normalizeH="0" baseline="0" noProof="0" dirty="0">
                <a:ln>
                  <a:noFill/>
                </a:ln>
                <a:solidFill>
                  <a:prstClr val="black"/>
                </a:solidFill>
                <a:effectLst/>
                <a:uLnTx/>
                <a:uFillTx/>
                <a:latin typeface="Yu Gothic"/>
                <a:ea typeface="+mn-ea"/>
              </a:rPr>
              <a:t>明らかな文法・語法的ミス以外も性悪説モデルで縛り付けると、 </a:t>
            </a:r>
            <a:r>
              <a:rPr kumimoji="0" lang="ja-JP" altLang="en-US" sz="2400" b="1" i="0" u="none" strike="noStrike" kern="0" cap="none" spc="-5" normalizeH="0" baseline="0" noProof="0" dirty="0">
                <a:ln>
                  <a:noFill/>
                </a:ln>
                <a:solidFill>
                  <a:prstClr val="black"/>
                </a:solidFill>
                <a:effectLst/>
                <a:uLnTx/>
                <a:uFillTx/>
                <a:latin typeface="Yu Gothic"/>
                <a:ea typeface="+mn-ea"/>
              </a:rPr>
              <a:t>今度は書き手の表現の自由を奪い、作業自体の苦痛をもたらしかねな</a:t>
            </a:r>
            <a:r>
              <a:rPr kumimoji="0" lang="ja-JP" altLang="en-US" sz="2400" b="1" i="0" u="none" strike="noStrike" kern="0" cap="none" spc="5" normalizeH="0" baseline="0" noProof="0" dirty="0">
                <a:ln>
                  <a:noFill/>
                </a:ln>
                <a:solidFill>
                  <a:prstClr val="black"/>
                </a:solidFill>
                <a:effectLst/>
                <a:uLnTx/>
                <a:uFillTx/>
                <a:latin typeface="Yu Gothic"/>
                <a:ea typeface="+mn-ea"/>
              </a:rPr>
              <a:t>い</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a:t>
            </a:r>
            <a:endParaRPr kumimoji="0" lang="ja-JP" altLang="en-US" sz="2400" b="1" i="0" u="none" strike="noStrike" kern="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667050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cs typeface="Yu Gothic"/>
              </a:rPr>
              <a:t>②</a:t>
            </a:r>
            <a:r>
              <a:rPr kumimoji="0" lang="ja-JP" altLang="en-US" sz="2800" b="1" i="0" u="none" strike="noStrike" kern="1200" cap="none" spc="-165" normalizeH="0" baseline="0" noProof="0" dirty="0">
                <a:ln>
                  <a:noFill/>
                </a:ln>
                <a:solidFill>
                  <a:prstClr val="black"/>
                </a:solidFill>
                <a:effectLst/>
                <a:uLnTx/>
                <a:uFillTx/>
                <a:latin typeface="Yu Gothic"/>
                <a:cs typeface="Yu Gothic"/>
              </a:rPr>
              <a:t> </a:t>
            </a:r>
            <a:r>
              <a:rPr kumimoji="0" lang="ja-JP" altLang="en-US" sz="2800" b="1" i="0" u="none" strike="noStrike" kern="1200" cap="none" spc="-5" normalizeH="0" baseline="0" noProof="0" dirty="0">
                <a:ln>
                  <a:noFill/>
                </a:ln>
                <a:solidFill>
                  <a:prstClr val="black"/>
                </a:solidFill>
                <a:effectLst/>
                <a:uLnTx/>
                <a:uFillTx/>
                <a:latin typeface="Yu Gothic"/>
                <a:cs typeface="Yu Gothic"/>
              </a:rPr>
              <a:t>チーム作業の形成すべき合意内容</a:t>
            </a:r>
            <a:endParaRPr kumimoji="0" lang="ja-JP" altLang="en-US" sz="2800" b="0" i="0" u="none" strike="noStrike" kern="1200" cap="none" spc="0" normalizeH="0" baseline="0" noProof="0" dirty="0">
              <a:ln>
                <a:noFill/>
              </a:ln>
              <a:solidFill>
                <a:prstClr val="black"/>
              </a:solidFill>
              <a:effectLst/>
              <a:uLnTx/>
              <a:uFillTx/>
              <a:latin typeface="Yu Gothic"/>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cs typeface="Yu Gothic"/>
              </a:rPr>
              <a:t>私が所属するチームでチームドキュメントを作成するにあたりリードを</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a:p>
            <a:pPr marL="12700" marR="0" lvl="0" indent="0" algn="l" defTabSz="914400" rtl="0" eaLnBrk="1" fontAlgn="auto" latinLnBrk="0" hangingPunct="1">
              <a:lnSpc>
                <a:spcPts val="2595"/>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cs typeface="Yu Gothic"/>
              </a:rPr>
              <a:t>行った際に、以下</a:t>
            </a:r>
            <a:r>
              <a:rPr kumimoji="0" lang="ja-JP" altLang="en-US" sz="2400" b="0" i="0" u="none" strike="noStrike" kern="1200" cap="none" spc="5" normalizeH="0" baseline="0" noProof="0" dirty="0">
                <a:ln>
                  <a:noFill/>
                </a:ln>
                <a:solidFill>
                  <a:prstClr val="black"/>
                </a:solidFill>
                <a:effectLst/>
                <a:uLnTx/>
                <a:uFillTx/>
                <a:latin typeface="Yu Gothic"/>
                <a:cs typeface="Yu Gothic"/>
              </a:rPr>
              <a:t>の</a:t>
            </a:r>
            <a:r>
              <a:rPr kumimoji="0" lang="en-US" altLang="ja-JP" sz="2400" b="0" i="0" u="none" strike="noStrike" kern="1200" cap="none" spc="-5" normalizeH="0" baseline="0" noProof="0" dirty="0">
                <a:ln>
                  <a:noFill/>
                </a:ln>
                <a:solidFill>
                  <a:prstClr val="black"/>
                </a:solidFill>
                <a:effectLst/>
                <a:uLnTx/>
                <a:uFillTx/>
                <a:latin typeface="Calibri"/>
                <a:cs typeface="Calibri"/>
              </a:rPr>
              <a:t>5</a:t>
            </a:r>
            <a:r>
              <a:rPr kumimoji="0" lang="ja-JP" altLang="en-US" sz="2400" b="0" i="0" u="none" strike="noStrike" kern="1200" cap="none" spc="0" normalizeH="0" baseline="0" noProof="0" dirty="0">
                <a:ln>
                  <a:noFill/>
                </a:ln>
                <a:solidFill>
                  <a:prstClr val="black"/>
                </a:solidFill>
                <a:effectLst/>
                <a:uLnTx/>
                <a:uFillTx/>
                <a:latin typeface="Yu Gothic"/>
                <a:cs typeface="Yu Gothic"/>
              </a:rPr>
              <a:t>点に絞って合意形成を行った。</a:t>
            </a:r>
          </a:p>
          <a:p>
            <a:pPr marL="0" marR="0" lvl="0" indent="0" algn="l" defTabSz="914400" rtl="0" eaLnBrk="1" fontAlgn="auto" latinLnBrk="0" hangingPunct="1">
              <a:lnSpc>
                <a:spcPct val="100000"/>
              </a:lnSpc>
              <a:spcBef>
                <a:spcPts val="75"/>
              </a:spcBef>
              <a:spcAft>
                <a:spcPts val="0"/>
              </a:spcAft>
              <a:buClrTx/>
              <a:buSzTx/>
              <a:buFontTx/>
              <a:buNone/>
              <a:tabLst/>
              <a:defRPr/>
            </a:pPr>
            <a:endParaRPr kumimoji="0" lang="ja-JP" altLang="en-US" sz="14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845"/>
              </a:lnSpc>
              <a:spcBef>
                <a:spcPts val="0"/>
              </a:spcBef>
              <a:spcAft>
                <a:spcPts val="0"/>
              </a:spcAft>
              <a:buClrTx/>
              <a:buSzTx/>
              <a:buFont typeface="Calibri"/>
              <a:buAutoNum type="arabicPeriod"/>
              <a:tabLst>
                <a:tab pos="374650" algn="l"/>
              </a:tabLst>
              <a:defRPr/>
            </a:pPr>
            <a:r>
              <a:rPr kumimoji="0" lang="ja-JP" altLang="en-US" sz="2400" b="1" i="0" u="none" strike="noStrike" kern="1200" cap="none" spc="0" normalizeH="0" baseline="0" noProof="0" dirty="0">
                <a:ln>
                  <a:noFill/>
                </a:ln>
                <a:solidFill>
                  <a:prstClr val="black"/>
                </a:solidFill>
                <a:effectLst/>
                <a:uLnTx/>
                <a:uFillTx/>
                <a:latin typeface="Yu Gothic"/>
                <a:cs typeface="Yu Gothic"/>
              </a:rPr>
              <a:t>全体の節・</a:t>
            </a:r>
            <a:r>
              <a:rPr kumimoji="0" lang="ja-JP" altLang="en-US" sz="2400" b="1" i="0" u="none" strike="noStrike" kern="1200" cap="none" spc="0" normalizeH="0" baseline="0" noProof="0" dirty="0">
                <a:ln>
                  <a:noFill/>
                </a:ln>
                <a:solidFill>
                  <a:prstClr val="black"/>
                </a:solidFill>
                <a:effectLst/>
                <a:uLnTx/>
                <a:uFillTx/>
                <a:latin typeface="+mn-ea"/>
                <a:cs typeface="Yu Gothic"/>
              </a:rPr>
              <a:t>章</a:t>
            </a:r>
            <a:r>
              <a:rPr kumimoji="0" lang="ja-JP" altLang="en-US" sz="2400" b="1" i="0" u="none" strike="noStrike" kern="1200" cap="none" spc="0" normalizeH="0" baseline="0" noProof="0" dirty="0">
                <a:ln>
                  <a:noFill/>
                </a:ln>
                <a:solidFill>
                  <a:prstClr val="black"/>
                </a:solidFill>
                <a:effectLst/>
                <a:uLnTx/>
                <a:uFillTx/>
                <a:latin typeface="Yu Gothic"/>
                <a:cs typeface="Yu Gothic"/>
              </a:rPr>
              <a:t>立て</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805"/>
              </a:lnSpc>
              <a:spcBef>
                <a:spcPts val="0"/>
              </a:spcBef>
              <a:spcAft>
                <a:spcPts val="0"/>
              </a:spcAft>
              <a:buClrTx/>
              <a:buSzTx/>
              <a:buFont typeface="Calibri"/>
              <a:buAutoNum type="arabicPeriod"/>
              <a:tabLst>
                <a:tab pos="374650" algn="l"/>
              </a:tabLst>
              <a:defRPr/>
            </a:pPr>
            <a:r>
              <a:rPr kumimoji="0" lang="ja-JP" altLang="en-US" sz="2400" b="1" i="0" u="none" strike="noStrike" kern="1200" cap="none" spc="-5" normalizeH="0" baseline="0" noProof="0" dirty="0">
                <a:ln>
                  <a:noFill/>
                </a:ln>
                <a:solidFill>
                  <a:prstClr val="black"/>
                </a:solidFill>
                <a:effectLst/>
                <a:uLnTx/>
                <a:uFillTx/>
                <a:latin typeface="Yu Gothic"/>
                <a:cs typeface="Yu Gothic"/>
              </a:rPr>
              <a:t>節・</a:t>
            </a:r>
            <a:r>
              <a:rPr kumimoji="0" lang="ja-JP" altLang="en-US" sz="2400" b="1" i="0" u="none" strike="noStrike" kern="1200" cap="none" spc="-5" normalizeH="0" baseline="0" noProof="0" dirty="0">
                <a:ln>
                  <a:noFill/>
                </a:ln>
                <a:solidFill>
                  <a:prstClr val="black"/>
                </a:solidFill>
                <a:effectLst/>
                <a:uLnTx/>
                <a:uFillTx/>
                <a:latin typeface="+mn-ea"/>
                <a:cs typeface="Yu Gothic"/>
              </a:rPr>
              <a:t>章</a:t>
            </a:r>
            <a:r>
              <a:rPr kumimoji="0" lang="ja-JP" altLang="en-US" sz="2400" b="1" i="0" u="none" strike="noStrike" kern="1200" cap="none" spc="-5" normalizeH="0" baseline="0" noProof="0" dirty="0">
                <a:ln>
                  <a:noFill/>
                </a:ln>
                <a:solidFill>
                  <a:prstClr val="black"/>
                </a:solidFill>
                <a:effectLst/>
                <a:uLnTx/>
                <a:uFillTx/>
                <a:latin typeface="Yu Gothic"/>
                <a:cs typeface="Yu Gothic"/>
              </a:rPr>
              <a:t>ごとのコス</a:t>
            </a:r>
            <a:r>
              <a:rPr kumimoji="0" lang="ja-JP" altLang="en-US" sz="2400" b="1" i="0" u="none" strike="noStrike" kern="1200" cap="none" spc="0" normalizeH="0" baseline="0" noProof="0" dirty="0">
                <a:ln>
                  <a:noFill/>
                </a:ln>
                <a:solidFill>
                  <a:prstClr val="black"/>
                </a:solidFill>
                <a:effectLst/>
                <a:uLnTx/>
                <a:uFillTx/>
                <a:latin typeface="Yu Gothic"/>
                <a:cs typeface="Yu Gothic"/>
              </a:rPr>
              <a:t>ト</a:t>
            </a:r>
            <a:r>
              <a:rPr kumimoji="0" lang="en-US" altLang="ja-JP" sz="2400" b="1" i="0" u="none" strike="noStrike" kern="1200" cap="none" spc="-5" normalizeH="0" baseline="0" noProof="0" dirty="0">
                <a:ln>
                  <a:noFill/>
                </a:ln>
                <a:solidFill>
                  <a:prstClr val="black"/>
                </a:solidFill>
                <a:effectLst/>
                <a:uLnTx/>
                <a:uFillTx/>
                <a:latin typeface="Calibri"/>
                <a:cs typeface="Calibri"/>
              </a:rPr>
              <a:t>(</a:t>
            </a:r>
            <a:r>
              <a:rPr kumimoji="0" lang="ja-JP" altLang="en-US" sz="2400" b="1" i="0" u="none" strike="noStrike" kern="1200" cap="none" spc="-5" normalizeH="0" baseline="0" noProof="0" dirty="0">
                <a:ln>
                  <a:noFill/>
                </a:ln>
                <a:solidFill>
                  <a:prstClr val="black"/>
                </a:solidFill>
                <a:effectLst/>
                <a:uLnTx/>
                <a:uFillTx/>
                <a:latin typeface="Yu Gothic"/>
                <a:cs typeface="Yu Gothic"/>
              </a:rPr>
              <a:t>ストーリーポイント</a:t>
            </a:r>
            <a:r>
              <a:rPr kumimoji="0" lang="en-US" altLang="ja-JP" sz="2400" b="1" i="0" u="none" strike="noStrike" kern="1200" cap="none" spc="0" normalizeH="0" baseline="0" noProof="0" dirty="0">
                <a:ln>
                  <a:noFill/>
                </a:ln>
                <a:solidFill>
                  <a:prstClr val="black"/>
                </a:solidFill>
                <a:effectLst/>
                <a:uLnTx/>
                <a:uFillTx/>
                <a:latin typeface="Calibri"/>
                <a:cs typeface="Calibri"/>
              </a:rPr>
              <a:t>)</a:t>
            </a:r>
            <a:endParaRPr kumimoji="0" lang="ja-JP" altLang="en-US" sz="2400" b="0" i="0" u="none" strike="noStrike" kern="1200" cap="none" spc="0" normalizeH="0" baseline="0" noProof="0" dirty="0">
              <a:ln>
                <a:noFill/>
              </a:ln>
              <a:solidFill>
                <a:prstClr val="black"/>
              </a:solidFill>
              <a:effectLst/>
              <a:uLnTx/>
              <a:uFillTx/>
              <a:latin typeface="Calibri"/>
              <a:cs typeface="Calibri"/>
            </a:endParaRPr>
          </a:p>
          <a:p>
            <a:pPr marL="374015" marR="0" lvl="0" indent="-361950" algn="l" defTabSz="914400" rtl="0" eaLnBrk="1" fontAlgn="auto" latinLnBrk="0" hangingPunct="1">
              <a:lnSpc>
                <a:spcPts val="2805"/>
              </a:lnSpc>
              <a:spcBef>
                <a:spcPts val="0"/>
              </a:spcBef>
              <a:spcAft>
                <a:spcPts val="0"/>
              </a:spcAft>
              <a:buClrTx/>
              <a:buSzTx/>
              <a:buFont typeface="Calibri"/>
              <a:buAutoNum type="arabicPeriod"/>
              <a:tabLst>
                <a:tab pos="374650" algn="l"/>
              </a:tabLst>
              <a:defRPr/>
            </a:pPr>
            <a:r>
              <a:rPr kumimoji="0" lang="ja-JP" altLang="en-US" sz="2400" b="1" i="0" u="none" strike="noStrike" kern="1200" cap="none" spc="0" normalizeH="0" baseline="0" noProof="0" dirty="0">
                <a:ln>
                  <a:noFill/>
                </a:ln>
                <a:solidFill>
                  <a:prstClr val="black"/>
                </a:solidFill>
                <a:effectLst/>
                <a:uLnTx/>
                <a:uFillTx/>
                <a:latin typeface="Yu Gothic"/>
                <a:cs typeface="Yu Gothic"/>
              </a:rPr>
              <a:t>節・</a:t>
            </a:r>
            <a:r>
              <a:rPr kumimoji="0" lang="ja-JP" altLang="en-US" sz="2400" b="1" i="0" u="none" strike="noStrike" kern="1200" cap="none" spc="0" normalizeH="0" baseline="0" noProof="0" dirty="0">
                <a:ln>
                  <a:noFill/>
                </a:ln>
                <a:solidFill>
                  <a:prstClr val="black"/>
                </a:solidFill>
                <a:effectLst/>
                <a:uLnTx/>
                <a:uFillTx/>
                <a:latin typeface="+mn-ea"/>
                <a:cs typeface="Yu Gothic"/>
              </a:rPr>
              <a:t>章</a:t>
            </a:r>
            <a:r>
              <a:rPr kumimoji="0" lang="ja-JP" altLang="en-US" sz="2400" b="1" i="0" u="none" strike="noStrike" kern="1200" cap="none" spc="0" normalizeH="0" baseline="0" noProof="0" dirty="0">
                <a:ln>
                  <a:noFill/>
                </a:ln>
                <a:solidFill>
                  <a:prstClr val="black"/>
                </a:solidFill>
                <a:effectLst/>
                <a:uLnTx/>
                <a:uFillTx/>
                <a:latin typeface="Yu Gothic"/>
                <a:cs typeface="Yu Gothic"/>
              </a:rPr>
              <a:t>ごとの担当者割振り方針・担当者任用</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810"/>
              </a:lnSpc>
              <a:spcBef>
                <a:spcPts val="0"/>
              </a:spcBef>
              <a:spcAft>
                <a:spcPts val="0"/>
              </a:spcAft>
              <a:buClrTx/>
              <a:buSzTx/>
              <a:buFont typeface="Calibri"/>
              <a:buAutoNum type="arabicPeriod"/>
              <a:tabLst>
                <a:tab pos="374650" algn="l"/>
              </a:tabLst>
              <a:defRPr/>
            </a:pPr>
            <a:r>
              <a:rPr kumimoji="0" lang="ja-JP" altLang="en-US" sz="2400" b="1" i="0" u="none" strike="noStrike" kern="1200" cap="none" spc="0" normalizeH="0" baseline="0" noProof="0" dirty="0">
                <a:ln>
                  <a:noFill/>
                </a:ln>
                <a:solidFill>
                  <a:prstClr val="black"/>
                </a:solidFill>
                <a:effectLst/>
                <a:uLnTx/>
                <a:uFillTx/>
                <a:latin typeface="Yu Gothic"/>
                <a:cs typeface="Yu Gothic"/>
              </a:rPr>
              <a:t>図解に使用する描画ツール</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845"/>
              </a:lnSpc>
              <a:spcBef>
                <a:spcPts val="0"/>
              </a:spcBef>
              <a:spcAft>
                <a:spcPts val="0"/>
              </a:spcAft>
              <a:buClr>
                <a:srgbClr val="000000"/>
              </a:buClr>
              <a:buSzTx/>
              <a:buFont typeface="Calibri"/>
              <a:buAutoNum type="arabicPeriod"/>
              <a:tabLst>
                <a:tab pos="374650" algn="l"/>
              </a:tabLst>
              <a:defRPr/>
            </a:pP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cs typeface="Yu Gothic"/>
                <a:hlinkClick r:id="rId3"/>
              </a:rPr>
              <a:t>作業ワークフロー</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a:p>
            <a:pPr marL="0" marR="0" lvl="0" indent="0" algn="l" defTabSz="914400" rtl="0" eaLnBrk="1" fontAlgn="auto" latinLnBrk="0" hangingPunct="1">
              <a:lnSpc>
                <a:spcPct val="100000"/>
              </a:lnSpc>
              <a:spcBef>
                <a:spcPts val="80"/>
              </a:spcBef>
              <a:spcAft>
                <a:spcPts val="0"/>
              </a:spcAft>
              <a:buClrTx/>
              <a:buSzTx/>
              <a:buFontTx/>
              <a:buNone/>
              <a:tabLst/>
              <a:defRPr/>
            </a:pPr>
            <a:endParaRPr kumimoji="0" lang="ja-JP" altLang="en-US" sz="1700" b="0" i="0" u="none" strike="noStrike" kern="1200" cap="none" spc="0" normalizeH="0" baseline="0" noProof="0" dirty="0">
              <a:ln>
                <a:noFill/>
              </a:ln>
              <a:solidFill>
                <a:prstClr val="black"/>
              </a:solidFill>
              <a:effectLst/>
              <a:uLnTx/>
              <a:uFillTx/>
              <a:latin typeface="Yu Gothic"/>
              <a:cs typeface="Yu Gothic"/>
            </a:endParaRPr>
          </a:p>
          <a:p>
            <a:pPr marL="12700" marR="5080" lvl="0" indent="0" algn="l" defTabSz="914400" rtl="0" eaLnBrk="1" fontAlgn="auto" latinLnBrk="0" hangingPunct="1">
              <a:lnSpc>
                <a:spcPts val="2300"/>
              </a:lnSpc>
              <a:spcBef>
                <a:spcPts val="5"/>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cs typeface="Yu Gothic"/>
              </a:rPr>
              <a:t>厳密なルールは設けず、重要な事項のみ合意形成を行うことで、良好な作 業体験と品質の担保を実現した。</a:t>
            </a:r>
            <a:endParaRPr kumimoji="0" lang="ja-JP" altLang="en-US" sz="2400" b="0" i="0" u="none" strike="noStrike" kern="1200" cap="none" spc="0" normalizeH="0" baseline="0" noProof="0" dirty="0">
              <a:ln>
                <a:noFill/>
              </a:ln>
              <a:solidFill>
                <a:prstClr val="black"/>
              </a:solidFill>
              <a:effectLst/>
              <a:uLnTx/>
              <a:uFillTx/>
              <a:latin typeface="Yu Gothic"/>
              <a:cs typeface="Yu Gothic"/>
            </a:endParaRPr>
          </a:p>
        </p:txBody>
      </p:sp>
    </p:spTree>
    <p:extLst>
      <p:ext uri="{BB962C8B-B14F-4D97-AF65-F5344CB8AC3E}">
        <p14:creationId xmlns:p14="http://schemas.microsoft.com/office/powerpoint/2010/main" val="3511931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95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③</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ステークホルダーの数と文書の</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最</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新状</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態</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追従</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度</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の反</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比</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例</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107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個人的な文書は自分の意志だけで文書を改訂することが出来、チームの場 合はメンバー同士の合意さえ形成されていればそれが可能である。</a:t>
            </a:r>
          </a:p>
          <a:p>
            <a:pPr marL="12700" marR="5080" lvl="0" indent="0" algn="just" defTabSz="914400" rtl="0" eaLnBrk="1" fontAlgn="auto" latinLnBrk="0" hangingPunct="1">
              <a:lnSpc>
                <a:spcPct val="90000"/>
              </a:lnSpc>
              <a:spcBef>
                <a:spcPts val="969"/>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ところが、他部署のメンバーや場合によって社外の人間が関わるような広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範なステークホルダーを擁する大きなプロジェクトの場合、仕様や要件の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変更や更新が多くの人を介した伝言ゲームで伝わることによる正確性とリ アルタイム性の担保の難しさが存在する。</a:t>
            </a:r>
          </a:p>
          <a:p>
            <a:pPr marL="12700" marR="0" lvl="0" indent="0" algn="l" defTabSz="914400" rtl="0" eaLnBrk="1" fontAlgn="auto" latinLnBrk="0" hangingPunct="1">
              <a:lnSpc>
                <a:spcPct val="100000"/>
              </a:lnSpc>
              <a:spcBef>
                <a:spcPts val="7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また、変更や更新した情報対する合意を形成するのもまた難しい。</a:t>
            </a:r>
          </a:p>
          <a:p>
            <a:pPr marL="12700" marR="5080" lvl="0" indent="0" algn="l" defTabSz="914400" rtl="0" eaLnBrk="1" fontAlgn="auto" latinLnBrk="0" hangingPunct="1">
              <a:lnSpc>
                <a:spcPts val="2590"/>
              </a:lnSpc>
              <a:spcBef>
                <a:spcPts val="103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おしなべて、</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多くのステークホルダー間で最新の情報に関する認識の軌を 一にするのは容易ではな</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p:txBody>
      </p:sp>
    </p:spTree>
    <p:extLst>
      <p:ext uri="{BB962C8B-B14F-4D97-AF65-F5344CB8AC3E}">
        <p14:creationId xmlns:p14="http://schemas.microsoft.com/office/powerpoint/2010/main" val="1691095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95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③</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ステークホルダーの数と文書の</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最</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新状</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態</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追従</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度</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の反</a:t>
            </a:r>
            <a:r>
              <a:rPr kumimoji="0" lang="ja-JP" altLang="en-US" sz="2800" b="1" i="0" u="none" strike="noStrike" kern="1200" cap="none" spc="0" normalizeH="0" baseline="0" noProof="0" dirty="0">
                <a:ln>
                  <a:noFill/>
                </a:ln>
                <a:solidFill>
                  <a:prstClr val="black"/>
                </a:solidFill>
                <a:effectLst/>
                <a:uLnTx/>
                <a:uFillTx/>
                <a:latin typeface="Yu Gothic"/>
                <a:ea typeface="+mn-ea"/>
                <a:cs typeface="Yu Gothic"/>
              </a:rPr>
              <a:t>比</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例</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107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このトレードオフに対する向き合い方は、対象のステークホルダーを必要 最小限に絞り、スモールスタートで文書化に着手することだ。</a:t>
            </a:r>
          </a:p>
          <a:p>
            <a:pPr marL="12700" marR="5080" lvl="0" indent="0" algn="just" defTabSz="914400" rtl="0" eaLnBrk="1" fontAlgn="auto" latinLnBrk="0" hangingPunct="1">
              <a:lnSpc>
                <a:spcPct val="90000"/>
              </a:lnSpc>
              <a:spcBef>
                <a:spcPts val="969"/>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具体的には、</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まずは所属チーム内で合意形成が完結するレベルのドキュメ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ンテーションを行い、文書を参照するステークホルダーが必要とする情報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を徐々に盛り込んでいくスモールステップを踏むのが良</a:t>
            </a:r>
            <a:r>
              <a:rPr kumimoji="0" lang="ja-JP" altLang="en-US" sz="2400" b="1" i="0" u="none" strike="noStrike" kern="1200" cap="none" spc="10"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a:p>
            <a:pPr marL="12700" marR="5080" lvl="0" indent="0" algn="just" defTabSz="914400" rtl="0" eaLnBrk="1" fontAlgn="auto" latinLnBrk="0" hangingPunct="1">
              <a:lnSpc>
                <a:spcPts val="2590"/>
              </a:lnSpc>
              <a:spcBef>
                <a:spcPts val="103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ゼロベースでいきなり大きな成果物を作るのは完成品を想像しづらく手戻 りも多いので、</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具体的なイメージを持ちやすい成果物を小さく作って育て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ていくという発想を持つとよ</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p:txBody>
      </p:sp>
    </p:spTree>
    <p:extLst>
      <p:ext uri="{BB962C8B-B14F-4D97-AF65-F5344CB8AC3E}">
        <p14:creationId xmlns:p14="http://schemas.microsoft.com/office/powerpoint/2010/main" val="4214127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675"/>
              </a:spcBef>
              <a:spcAft>
                <a:spcPts val="0"/>
              </a:spcAft>
              <a:buClrTx/>
              <a:buSzTx/>
              <a:buFontTx/>
              <a:buNone/>
              <a:tabLst/>
              <a:defRPr/>
            </a:pP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④</a:t>
            </a:r>
            <a:r>
              <a:rPr kumimoji="0" lang="ja-JP" altLang="en-US" sz="2600" b="1" i="0" u="none" strike="noStrike" kern="1200" cap="none" spc="-175" normalizeH="0" baseline="0" noProof="0" dirty="0">
                <a:ln>
                  <a:noFill/>
                </a:ln>
                <a:solidFill>
                  <a:prstClr val="black"/>
                </a:solidFill>
                <a:effectLst/>
                <a:uLnTx/>
                <a:uFillTx/>
                <a:latin typeface="Yu Gothic"/>
                <a:ea typeface="+mn-ea"/>
                <a:cs typeface="Yu Gothic"/>
              </a:rPr>
              <a:t> </a:t>
            </a: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継続的品質担保責任</a:t>
            </a:r>
            <a:r>
              <a:rPr kumimoji="0" lang="ja-JP" altLang="en-US" sz="2600" b="1"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発生</a:t>
            </a:r>
            <a:endParaRPr kumimoji="0" lang="ja-JP" altLang="en-US" sz="26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75"/>
              </a:lnSpc>
              <a:spcBef>
                <a:spcPts val="484"/>
              </a:spcBef>
              <a:spcAft>
                <a:spcPts val="0"/>
              </a:spcAft>
              <a:buClrTx/>
              <a:buSzTx/>
              <a:buFontTx/>
              <a:buNone/>
              <a:tabLst/>
              <a:defRPr/>
            </a:pP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ドキュメンテーションは一度着手</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し</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たら</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文書</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の</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品質</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を</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一定</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以</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上に</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担</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保し</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て</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メ</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75"/>
              </a:lnSpc>
              <a:spcBef>
                <a:spcPts val="0"/>
              </a:spcBef>
              <a:spcAft>
                <a:spcPts val="0"/>
              </a:spcAft>
              <a:buClrTx/>
              <a:buSzTx/>
              <a:buFontTx/>
              <a:buNone/>
              <a:tabLst/>
              <a:defRPr/>
            </a:pP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リットを提供続けなければ存在価</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値</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がな</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い</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ct val="80000"/>
              </a:lnSpc>
              <a:spcBef>
                <a:spcPts val="1010"/>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陳腐化して最新の仕様や要件から</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大</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きく</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落</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後し</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た</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文書</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は</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、享</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受</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出来</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恩恵</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が</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ない どころか、混乱をもたらす有害な</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ゴ</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ミで</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あ</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75"/>
              </a:lnSpc>
              <a:spcBef>
                <a:spcPts val="465"/>
              </a:spcBef>
              <a:spcAft>
                <a:spcPts val="0"/>
              </a:spcAft>
              <a:buClrTx/>
              <a:buSzTx/>
              <a:buFontTx/>
              <a:buNone/>
              <a:tabLst/>
              <a:defRPr/>
            </a:pP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一度ゴミと化した文書は、放置す</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る</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と余</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計</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な保</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有</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コス</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ト</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や情</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報</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検索</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時</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のノ</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イ</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ズを</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75"/>
              </a:lnSpc>
              <a:spcBef>
                <a:spcPts val="0"/>
              </a:spcBef>
              <a:spcAft>
                <a:spcPts val="0"/>
              </a:spcAft>
              <a:buClrTx/>
              <a:buSzTx/>
              <a:buFontTx/>
              <a:buNone/>
              <a:tabLst/>
              <a:defRPr/>
            </a:pP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生み、大きな不利益をもたらす。</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ct val="80000"/>
              </a:lnSpc>
              <a:spcBef>
                <a:spcPts val="1000"/>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その結果、作業に費やしたコスト</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は</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水泡</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に</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帰す</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ば</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かり</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で</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なく</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最悪</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の</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場合</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に</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一か ら作り直しをすると追加のコスト</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ま</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でか</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るこ</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と</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にな</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480"/>
              </a:spcBef>
              <a:spcAft>
                <a:spcPts val="0"/>
              </a:spcAft>
              <a:buClrTx/>
              <a:buSzTx/>
              <a:buFontTx/>
              <a:buNone/>
              <a:tabLst/>
              <a:defRPr/>
            </a:pP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そのため、基本的に</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一度</a:t>
            </a:r>
            <a:r>
              <a:rPr kumimoji="0" lang="ja-JP" altLang="en-US" sz="2200" b="1" i="0" u="none" strike="noStrike" kern="1200" cap="none" spc="-15" normalizeH="0" baseline="0" noProof="0" dirty="0">
                <a:ln>
                  <a:noFill/>
                </a:ln>
                <a:solidFill>
                  <a:prstClr val="black"/>
                </a:solidFill>
                <a:effectLst/>
                <a:uLnTx/>
                <a:uFillTx/>
                <a:latin typeface="Yu Gothic"/>
                <a:ea typeface="+mn-ea"/>
                <a:cs typeface="Yu Gothic"/>
              </a:rPr>
              <a:t>作</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成し</a:t>
            </a:r>
            <a:r>
              <a:rPr kumimoji="0" lang="ja-JP" altLang="en-US" sz="2200" b="1" i="0" u="none" strike="noStrike" kern="1200" cap="none" spc="-15" normalizeH="0" baseline="0" noProof="0" dirty="0">
                <a:ln>
                  <a:noFill/>
                </a:ln>
                <a:solidFill>
                  <a:prstClr val="black"/>
                </a:solidFill>
                <a:effectLst/>
                <a:uLnTx/>
                <a:uFillTx/>
                <a:latin typeface="Yu Gothic"/>
                <a:ea typeface="+mn-ea"/>
                <a:cs typeface="Yu Gothic"/>
              </a:rPr>
              <a:t>た</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文</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書は品質を</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担</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保し続けな</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け</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ればならな</a:t>
            </a:r>
            <a:r>
              <a:rPr kumimoji="0" lang="ja-JP" altLang="en-US" sz="2200" b="1" i="0" u="none" strike="noStrike" kern="1200" cap="none" spc="20" normalizeH="0" baseline="0" noProof="0" dirty="0">
                <a:ln>
                  <a:noFill/>
                </a:ln>
                <a:solidFill>
                  <a:prstClr val="black"/>
                </a:solidFill>
                <a:effectLst/>
                <a:uLnTx/>
                <a:uFillTx/>
                <a:latin typeface="Yu Gothic"/>
                <a:ea typeface="+mn-ea"/>
                <a:cs typeface="Yu Gothic"/>
              </a:rPr>
              <a:t>い</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283845" lvl="0" indent="0" algn="l" defTabSz="914400" rtl="0" eaLnBrk="1" fontAlgn="auto" latinLnBrk="0" hangingPunct="1">
              <a:lnSpc>
                <a:spcPct val="80000"/>
              </a:lnSpc>
              <a:spcBef>
                <a:spcPts val="994"/>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余談だが、意識か無意識か上記の</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内</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容を</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理</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解し</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て</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いる</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らこ</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そ</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多く</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の</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組織</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で</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ド キュメンテーションに着手するの</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に</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腰が</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重</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いの</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だ</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と推</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察</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する。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2631650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60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④</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継続的品質担保責任の発生</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44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このトレードオフに対する向き合い方は、以下</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の</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2</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つの両方である。</a:t>
            </a:r>
          </a:p>
          <a:p>
            <a:pPr marL="0" marR="0" lvl="0" indent="0" algn="l" defTabSz="914400" rtl="0" eaLnBrk="1" fontAlgn="auto" latinLnBrk="0" hangingPunct="1">
              <a:lnSpc>
                <a:spcPct val="100000"/>
              </a:lnSpc>
              <a:spcBef>
                <a:spcPts val="35"/>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latin typeface="Yu Gothic"/>
              <a:ea typeface="+mn-ea"/>
              <a:cs typeface="Yu Gothic"/>
            </a:endParaRPr>
          </a:p>
          <a:p>
            <a:pPr marL="374015" marR="5715" lvl="0" indent="-361950" algn="l" defTabSz="914400" rtl="0" eaLnBrk="1" fontAlgn="auto" latinLnBrk="0" hangingPunct="1">
              <a:lnSpc>
                <a:spcPts val="2300"/>
              </a:lnSpc>
              <a:spcBef>
                <a:spcPts val="0"/>
              </a:spcBef>
              <a:spcAft>
                <a:spcPts val="0"/>
              </a:spcAft>
              <a:buClrTx/>
              <a:buSzTx/>
              <a:buFont typeface="Calibri"/>
              <a:buAutoNum type="arabicPeriod"/>
              <a:tabLst>
                <a:tab pos="374650" algn="l"/>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マネージャーや組織長などのコストに関して権限を持つ上長と担保する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品質とコスト感について合意形成する。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70"/>
              </a:spcBef>
              <a:spcAft>
                <a:spcPts val="0"/>
              </a:spcAft>
              <a:buClr>
                <a:srgbClr val="000000"/>
              </a:buClr>
              <a:buSzTx/>
              <a:buFont typeface="Arial MT"/>
              <a:buChar char="•"/>
              <a:tabLst>
                <a:tab pos="698500" algn="l"/>
                <a:tab pos="699135" algn="l"/>
              </a:tabLst>
              <a:defRPr/>
            </a:pP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社内技術ドキュメンテ</a:t>
            </a:r>
            <a:r>
              <a:rPr kumimoji="0" lang="ja-JP" altLang="en-US" sz="20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ー</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ショ</a:t>
            </a:r>
            <a:r>
              <a:rPr kumimoji="0" lang="ja-JP" altLang="en-US" sz="20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ン</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に必</a:t>
            </a:r>
            <a:r>
              <a:rPr kumimoji="0" lang="ja-JP" altLang="en-US" sz="20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須</a:t>
            </a:r>
            <a:r>
              <a:rPr kumimoji="0" lang="ja-JP" altLang="en-US" sz="20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の</a:t>
            </a:r>
            <a:r>
              <a:rPr kumimoji="0" lang="en-US" altLang="ja-JP" sz="2000" b="0" i="0" u="sng"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6</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大要</a:t>
            </a:r>
            <a:r>
              <a:rPr kumimoji="0" lang="ja-JP" altLang="en-US" sz="20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素</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は最</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低</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限必</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ず</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満た</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す</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よう</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に</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する</a:t>
            </a:r>
          </a:p>
          <a:p>
            <a:pPr marL="374015" marR="5715" lvl="0" indent="-361950" algn="l" defTabSz="914400" rtl="0" eaLnBrk="1" fontAlgn="auto" latinLnBrk="0" hangingPunct="1">
              <a:lnSpc>
                <a:spcPts val="2300"/>
              </a:lnSpc>
              <a:spcBef>
                <a:spcPts val="960"/>
              </a:spcBef>
              <a:spcAft>
                <a:spcPts val="0"/>
              </a:spcAft>
              <a:buClrTx/>
              <a:buSzTx/>
              <a:buFont typeface="Calibri"/>
              <a:buAutoNum type="arabicPeriod"/>
              <a:tabLst>
                <a:tab pos="374650" algn="l"/>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コストから逆算した作業計画を立案して必要であればチームメンバーを 巻き込んだ協業体制を敷く。</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698500" marR="0" lvl="1" indent="-229235" algn="l" defTabSz="914400" rtl="0" eaLnBrk="1" fontAlgn="auto" latinLnBrk="0" hangingPunct="1">
              <a:lnSpc>
                <a:spcPct val="100000"/>
              </a:lnSpc>
              <a:spcBef>
                <a:spcPts val="65"/>
              </a:spcBef>
              <a:spcAft>
                <a:spcPts val="0"/>
              </a:spcAft>
              <a:buClrTx/>
              <a:buSzTx/>
              <a:buFont typeface="Arial MT"/>
              <a:buChar char="•"/>
              <a:tabLst>
                <a:tab pos="698500" algn="l"/>
                <a:tab pos="69913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成果物の要求される品</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質</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の担</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保</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への</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最</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短距</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離</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を意</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識</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する</a:t>
            </a:r>
          </a:p>
          <a:p>
            <a:pPr marL="374015" marR="5080" lvl="0" indent="-361950" algn="l" defTabSz="914400" rtl="0" eaLnBrk="1" fontAlgn="auto" latinLnBrk="0" hangingPunct="1">
              <a:lnSpc>
                <a:spcPct val="80000"/>
              </a:lnSpc>
              <a:spcBef>
                <a:spcPts val="985"/>
              </a:spcBef>
              <a:spcAft>
                <a:spcPts val="0"/>
              </a:spcAft>
              <a:buClrTx/>
              <a:buSzTx/>
              <a:buFont typeface="Calibri"/>
              <a:buAutoNum type="arabicPeriod"/>
              <a:tabLst>
                <a:tab pos="374015" algn="l"/>
                <a:tab pos="37465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管理・運用コストに釣り合う恩恵を享受出来ない場合</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その文書はアー カイヴし、改めてその仕様・要件や知見を明文化する価値を再考す</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る</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p:txBody>
      </p:sp>
    </p:spTree>
    <p:extLst>
      <p:ext uri="{BB962C8B-B14F-4D97-AF65-F5344CB8AC3E}">
        <p14:creationId xmlns:p14="http://schemas.microsoft.com/office/powerpoint/2010/main" val="42732877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回避不可能な</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5</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大トレードオフへの向き合い方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42545" marR="0" lvl="0" indent="0" defTabSz="914400" eaLnBrk="1" fontAlgn="auto" latinLnBrk="0" hangingPunct="1">
              <a:lnSpc>
                <a:spcPct val="100000"/>
              </a:lnSpc>
              <a:spcBef>
                <a:spcPts val="605"/>
              </a:spcBef>
              <a:spcAft>
                <a:spcPts val="0"/>
              </a:spcAft>
              <a:buClrTx/>
              <a:buSzTx/>
              <a:buFontTx/>
              <a:buNone/>
              <a:tabLst/>
              <a:defRPr/>
            </a:pPr>
            <a:r>
              <a:rPr kumimoji="0" lang="ja-JP" altLang="en-US" sz="2800" b="1" i="0" u="none" strike="noStrike" kern="0" cap="none" spc="-5" normalizeH="0" baseline="0" noProof="0" dirty="0">
                <a:ln>
                  <a:noFill/>
                </a:ln>
                <a:solidFill>
                  <a:prstClr val="black"/>
                </a:solidFill>
                <a:effectLst/>
                <a:uLnTx/>
                <a:uFillTx/>
                <a:latin typeface="Yu Gothic"/>
                <a:ea typeface="+mn-ea"/>
              </a:rPr>
              <a:t>⑤</a:t>
            </a:r>
            <a:r>
              <a:rPr kumimoji="0" lang="ja-JP" altLang="en-US" sz="2800" b="1" i="0" u="none" strike="noStrike" kern="0" cap="none" spc="-165" normalizeH="0" baseline="0" noProof="0" dirty="0">
                <a:ln>
                  <a:noFill/>
                </a:ln>
                <a:solidFill>
                  <a:prstClr val="black"/>
                </a:solidFill>
                <a:effectLst/>
                <a:uLnTx/>
                <a:uFillTx/>
                <a:latin typeface="Yu Gothic"/>
                <a:ea typeface="+mn-ea"/>
              </a:rPr>
              <a:t> </a:t>
            </a:r>
            <a:r>
              <a:rPr kumimoji="0" lang="ja-JP" altLang="en-US" sz="2800" b="1" i="0" u="none" strike="noStrike" kern="0" cap="none" spc="-5" normalizeH="0" baseline="0" noProof="0" dirty="0">
                <a:ln>
                  <a:noFill/>
                </a:ln>
                <a:solidFill>
                  <a:prstClr val="black"/>
                </a:solidFill>
                <a:effectLst/>
                <a:uLnTx/>
                <a:uFillTx/>
                <a:latin typeface="Yu Gothic"/>
                <a:ea typeface="+mn-ea"/>
              </a:rPr>
              <a:t>投資コストの限界値の見極めの</a:t>
            </a:r>
            <a:r>
              <a:rPr kumimoji="0" lang="ja-JP" altLang="en-US" sz="2800" b="1" i="0" u="none" strike="noStrike" kern="0" cap="none" spc="0" normalizeH="0" baseline="0" noProof="0" dirty="0">
                <a:ln>
                  <a:noFill/>
                </a:ln>
                <a:solidFill>
                  <a:prstClr val="black"/>
                </a:solidFill>
                <a:effectLst/>
                <a:uLnTx/>
                <a:uFillTx/>
                <a:latin typeface="Yu Gothic"/>
                <a:ea typeface="+mn-ea"/>
              </a:rPr>
              <a:t>難</a:t>
            </a:r>
            <a:r>
              <a:rPr kumimoji="0" lang="ja-JP" altLang="en-US" sz="2800" b="1" i="0" u="none" strike="noStrike" kern="0" cap="none" spc="-5" normalizeH="0" baseline="0" noProof="0" dirty="0">
                <a:ln>
                  <a:noFill/>
                </a:ln>
                <a:solidFill>
                  <a:prstClr val="black"/>
                </a:solidFill>
                <a:effectLst/>
                <a:uLnTx/>
                <a:uFillTx/>
                <a:latin typeface="Yu Gothic"/>
                <a:ea typeface="+mn-ea"/>
              </a:rPr>
              <a:t>しさ</a:t>
            </a:r>
          </a:p>
          <a:p>
            <a:pPr marL="42545" marR="36830" lvl="0" indent="0" defTabSz="914400" eaLnBrk="1" fontAlgn="auto" latinLnBrk="0" hangingPunct="1">
              <a:lnSpc>
                <a:spcPct val="80000"/>
              </a:lnSpc>
              <a:spcBef>
                <a:spcPts val="1015"/>
              </a:spcBef>
              <a:spcAft>
                <a:spcPts val="0"/>
              </a:spcAft>
              <a:buClrTx/>
              <a:buSzTx/>
              <a:buFontTx/>
              <a:buNone/>
              <a:tabLst/>
              <a:defRPr/>
            </a:pPr>
            <a:r>
              <a:rPr kumimoji="0" lang="ja-JP" altLang="en-US" sz="2400" b="1" i="0" u="none" strike="noStrike" kern="0" cap="none" spc="0" normalizeH="0" baseline="0" noProof="0" dirty="0">
                <a:ln>
                  <a:noFill/>
                </a:ln>
                <a:solidFill>
                  <a:prstClr val="black"/>
                </a:solidFill>
                <a:effectLst/>
                <a:uLnTx/>
                <a:uFillTx/>
                <a:latin typeface="Yu Gothic"/>
                <a:ea typeface="+mn-ea"/>
              </a:rPr>
              <a:t>社内技術ドキュメンテーションはそれ自体が利益をもたらすものではない </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ため、投資した初期コスト以上の還元される成果がどの程度かとい</a:t>
            </a:r>
            <a:r>
              <a:rPr kumimoji="0" lang="ja-JP" altLang="en-US" sz="2400" b="0" i="0" u="none" strike="noStrike" kern="0" cap="none" spc="550" normalizeH="0" baseline="0" noProof="0" dirty="0">
                <a:ln>
                  <a:noFill/>
                </a:ln>
                <a:solidFill>
                  <a:prstClr val="black"/>
                </a:solidFill>
                <a:effectLst/>
                <a:uLnTx/>
                <a:uFillTx/>
                <a:latin typeface="Yu Gothic"/>
                <a:ea typeface="+mn-ea"/>
                <a:cs typeface="Yu Gothic"/>
              </a:rPr>
              <a:t>う</a:t>
            </a:r>
            <a:r>
              <a:rPr kumimoji="0" lang="en-US" altLang="ja-JP" sz="2400" b="0" i="0" u="none" strike="noStrike" kern="0" cap="none" spc="-10" normalizeH="0" baseline="0" noProof="0" dirty="0">
                <a:ln>
                  <a:noFill/>
                </a:ln>
                <a:solidFill>
                  <a:prstClr val="black"/>
                </a:solidFill>
                <a:effectLst/>
                <a:uLnTx/>
                <a:uFillTx/>
                <a:latin typeface="Calibri"/>
                <a:ea typeface="+mn-ea"/>
                <a:cs typeface="Calibri"/>
              </a:rPr>
              <a:t>ROI</a:t>
            </a:r>
            <a:r>
              <a:rPr kumimoji="0" lang="ja-JP" altLang="en-US" sz="2400" b="0" i="0" u="none" strike="noStrike" kern="0" cap="none" spc="-120" normalizeH="0" baseline="0" noProof="0" dirty="0">
                <a:ln>
                  <a:noFill/>
                </a:ln>
                <a:solidFill>
                  <a:prstClr val="black"/>
                </a:solidFill>
                <a:effectLst/>
                <a:uLnTx/>
                <a:uFillTx/>
                <a:latin typeface="Calibri"/>
                <a:ea typeface="+mn-ea"/>
                <a:cs typeface="Calibri"/>
              </a:rPr>
              <a:t> </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の 判断は難しい。</a:t>
            </a:r>
            <a:endParaRPr kumimoji="0" lang="ja-JP" altLang="en-US" sz="2400" b="1" i="0" u="none" strike="noStrike" kern="0" cap="none" spc="0" normalizeH="0" baseline="0" noProof="0" dirty="0">
              <a:ln>
                <a:noFill/>
              </a:ln>
              <a:solidFill>
                <a:prstClr val="black"/>
              </a:solidFill>
              <a:effectLst/>
              <a:uLnTx/>
              <a:uFillTx/>
              <a:latin typeface="Yu Gothic"/>
              <a:ea typeface="+mn-ea"/>
              <a:cs typeface="Yu Gothic"/>
            </a:endParaRPr>
          </a:p>
          <a:p>
            <a:pPr marL="42545" marR="309880" lvl="0" indent="0" defTabSz="914400" eaLnBrk="1" fontAlgn="auto" latinLnBrk="0" hangingPunct="1">
              <a:lnSpc>
                <a:spcPct val="80000"/>
              </a:lnSpc>
              <a:spcBef>
                <a:spcPts val="1010"/>
              </a:spcBef>
              <a:spcAft>
                <a:spcPts val="0"/>
              </a:spcAft>
              <a:buClrTx/>
              <a:buSzTx/>
              <a:buFontTx/>
              <a:buNone/>
              <a:tabLst/>
              <a:defRPr/>
            </a:pPr>
            <a:r>
              <a:rPr kumimoji="0" lang="ja-JP" altLang="en-US" sz="2400" b="1" i="0" u="none" strike="noStrike" kern="0" cap="none" spc="0" normalizeH="0" baseline="0" noProof="0" dirty="0">
                <a:ln>
                  <a:noFill/>
                </a:ln>
                <a:solidFill>
                  <a:prstClr val="black"/>
                </a:solidFill>
                <a:effectLst/>
                <a:uLnTx/>
                <a:uFillTx/>
                <a:latin typeface="Yu Gothic"/>
                <a:ea typeface="+mn-ea"/>
              </a:rPr>
              <a:t>ドキュメンテーションは作業コストの見積りが難しい上、見積りと作業実 </a:t>
            </a:r>
            <a:r>
              <a:rPr kumimoji="0" lang="ja-JP" altLang="en-US" sz="2400" b="1" i="0" u="none" strike="noStrike" kern="0" cap="none" spc="-5" normalizeH="0" baseline="0" noProof="0" dirty="0">
                <a:ln>
                  <a:noFill/>
                </a:ln>
                <a:solidFill>
                  <a:prstClr val="black"/>
                </a:solidFill>
                <a:effectLst/>
                <a:uLnTx/>
                <a:uFillTx/>
                <a:latin typeface="Yu Gothic"/>
                <a:ea typeface="+mn-ea"/>
              </a:rPr>
              <a:t>績の乖離が往々にして発生する不確実を孕んでいる。</a:t>
            </a:r>
            <a:endParaRPr kumimoji="0" lang="ja-JP" altLang="en-US" sz="2400" b="1" i="0" u="none" strike="noStrike" kern="0" cap="none" spc="0" normalizeH="0" baseline="0" noProof="0" dirty="0">
              <a:ln>
                <a:noFill/>
              </a:ln>
              <a:solidFill>
                <a:prstClr val="black"/>
              </a:solidFill>
              <a:effectLst/>
              <a:uLnTx/>
              <a:uFillTx/>
              <a:latin typeface="Yu Gothic"/>
              <a:ea typeface="+mn-ea"/>
            </a:endParaRPr>
          </a:p>
          <a:p>
            <a:pPr marL="42545" marR="0" lvl="0" indent="0" defTabSz="914400" eaLnBrk="1" fontAlgn="auto" latinLnBrk="0" hangingPunct="1">
              <a:lnSpc>
                <a:spcPct val="100000"/>
              </a:lnSpc>
              <a:spcBef>
                <a:spcPts val="420"/>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だからこそ、作業者に</a:t>
            </a: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は</a:t>
            </a:r>
            <a:r>
              <a:rPr kumimoji="0" lang="ja-JP" altLang="en-US" sz="2400" b="0" i="0" u="heavy" strike="noStrike" kern="0" cap="none" spc="0" normalizeH="0" baseline="0" noProof="0" dirty="0">
                <a:ln>
                  <a:noFill/>
                </a:ln>
                <a:solidFill>
                  <a:srgbClr val="0462C1"/>
                </a:solidFill>
                <a:effectLst/>
                <a:uLnTx/>
                <a:uFill>
                  <a:solidFill>
                    <a:srgbClr val="0462C1"/>
                  </a:solidFill>
                </a:uFill>
                <a:latin typeface="Yu Gothic"/>
                <a:ea typeface="+mn-ea"/>
                <a:cs typeface="Yu Gothic"/>
                <a:hlinkClick r:id="rId3"/>
              </a:rPr>
              <a:t>コスト管理能力</a:t>
            </a:r>
            <a:r>
              <a:rPr kumimoji="0" lang="ja-JP" altLang="en-US" sz="2400" b="0" i="0" u="none" strike="noStrike" kern="0" cap="none" spc="0" normalizeH="0" baseline="0" noProof="0" dirty="0">
                <a:ln>
                  <a:noFill/>
                </a:ln>
                <a:solidFill>
                  <a:prstClr val="black"/>
                </a:solidFill>
                <a:effectLst/>
                <a:uLnTx/>
                <a:uFillTx/>
                <a:latin typeface="Yu Gothic"/>
                <a:ea typeface="+mn-ea"/>
                <a:cs typeface="Yu Gothic"/>
              </a:rPr>
              <a:t>が求められる訳だ。</a:t>
            </a:r>
            <a:endParaRPr kumimoji="0" lang="ja-JP" altLang="en-US" sz="2400" b="1" i="0" u="none" strike="noStrike" kern="0" cap="none" spc="0" normalizeH="0" baseline="0" noProof="0" dirty="0">
              <a:ln>
                <a:noFill/>
              </a:ln>
              <a:solidFill>
                <a:prstClr val="black"/>
              </a:solidFill>
              <a:effectLst/>
              <a:uLnTx/>
              <a:uFillTx/>
              <a:latin typeface="Yu Gothic"/>
              <a:ea typeface="+mn-ea"/>
              <a:cs typeface="Yu Gothic"/>
            </a:endParaRPr>
          </a:p>
          <a:p>
            <a:pPr marL="29845" marR="0" lvl="0" indent="0" defTabSz="914400" eaLnBrk="1" fontAlgn="auto" latinLnBrk="0" hangingPunct="1">
              <a:lnSpc>
                <a:spcPct val="100000"/>
              </a:lnSpc>
              <a:spcBef>
                <a:spcPts val="45"/>
              </a:spcBef>
              <a:spcAft>
                <a:spcPts val="0"/>
              </a:spcAft>
              <a:buClrTx/>
              <a:buSzTx/>
              <a:buFontTx/>
              <a:buNone/>
              <a:tabLst/>
              <a:defRPr/>
            </a:pPr>
            <a:endParaRPr kumimoji="0" lang="ja-JP" altLang="en-US" sz="1950" b="1" i="0" u="none" strike="noStrike" kern="0" cap="none" spc="0" normalizeH="0" baseline="0" noProof="0" dirty="0">
              <a:ln>
                <a:noFill/>
              </a:ln>
              <a:solidFill>
                <a:prstClr val="black"/>
              </a:solidFill>
              <a:effectLst/>
              <a:uLnTx/>
              <a:uFillTx/>
              <a:latin typeface="Yu Gothic"/>
              <a:ea typeface="+mn-ea"/>
              <a:cs typeface="Yu Gothic"/>
            </a:endParaRPr>
          </a:p>
          <a:p>
            <a:pPr marL="42545" marR="0" lvl="0" indent="0" defTabSz="914400" eaLnBrk="1" fontAlgn="auto" latinLnBrk="0" hangingPunct="1">
              <a:lnSpc>
                <a:spcPct val="100000"/>
              </a:lnSpc>
              <a:spcBef>
                <a:spcPts val="0"/>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cs typeface="Yu Gothic"/>
              </a:rPr>
              <a:t>このトレードオフへの向き合い方は、経験を個人・チームで積むしかない。</a:t>
            </a:r>
            <a:endParaRPr kumimoji="0" lang="ja-JP" altLang="en-US" sz="2400" b="1" i="0" u="none" strike="noStrike" kern="0" cap="none" spc="0" normalizeH="0" baseline="0" noProof="0" dirty="0">
              <a:ln>
                <a:noFill/>
              </a:ln>
              <a:solidFill>
                <a:prstClr val="black"/>
              </a:solidFill>
              <a:effectLst/>
              <a:uLnTx/>
              <a:uFillTx/>
              <a:latin typeface="Yu Gothic"/>
              <a:ea typeface="+mn-ea"/>
              <a:cs typeface="Yu Gothic"/>
            </a:endParaRPr>
          </a:p>
          <a:p>
            <a:pPr marL="42545" marR="309880" lvl="0" indent="0" defTabSz="914400" eaLnBrk="1" fontAlgn="auto" latinLnBrk="0" hangingPunct="1">
              <a:lnSpc>
                <a:spcPct val="80000"/>
              </a:lnSpc>
              <a:spcBef>
                <a:spcPts val="1000"/>
              </a:spcBef>
              <a:spcAft>
                <a:spcPts val="0"/>
              </a:spcAft>
              <a:buClrTx/>
              <a:buSzTx/>
              <a:buFontTx/>
              <a:buNone/>
              <a:tabLst/>
              <a:defRPr/>
            </a:pPr>
            <a:r>
              <a:rPr kumimoji="0" lang="ja-JP" altLang="en-US" sz="2400" b="1" i="0" u="none" strike="noStrike" kern="0" cap="none" spc="0" normalizeH="0" baseline="0" noProof="0" dirty="0">
                <a:ln>
                  <a:noFill/>
                </a:ln>
                <a:solidFill>
                  <a:prstClr val="black"/>
                </a:solidFill>
                <a:effectLst/>
                <a:uLnTx/>
                <a:uFillTx/>
                <a:latin typeface="Yu Gothic"/>
                <a:ea typeface="+mn-ea"/>
              </a:rPr>
              <a:t>不確実性の見極め能力の獲得には、理論だけではなく実践の積み重ねが必 要だからだ。</a:t>
            </a:r>
          </a:p>
        </p:txBody>
      </p:sp>
    </p:spTree>
    <p:extLst>
      <p:ext uri="{BB962C8B-B14F-4D97-AF65-F5344CB8AC3E}">
        <p14:creationId xmlns:p14="http://schemas.microsoft.com/office/powerpoint/2010/main" val="2401746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3500" b="1" dirty="0">
                <a:latin typeface="Calibri (Headings)"/>
              </a:rPr>
              <a:t>3. </a:t>
            </a:r>
            <a:r>
              <a:rPr lang="ja-JP" altLang="en-US" sz="3500" b="1" dirty="0">
                <a:latin typeface="Calibri (Headings)"/>
              </a:rPr>
              <a:t>社内技術ドキュメンテーションの実践的</a:t>
            </a:r>
            <a:r>
              <a:rPr lang="en-US" altLang="ja-JP" sz="3500" b="1" dirty="0">
                <a:latin typeface="Calibri (Headings)"/>
              </a:rPr>
              <a:t>10</a:t>
            </a:r>
            <a:r>
              <a:rPr lang="ja-JP" altLang="en-US" sz="3500" b="1" dirty="0">
                <a:latin typeface="Calibri (Headings)"/>
              </a:rPr>
              <a:t>の手順</a:t>
            </a:r>
            <a:endParaRPr lang="en-GB" sz="35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ct val="70000"/>
              </a:lnSpc>
              <a:spcBef>
                <a:spcPts val="885"/>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cs typeface="Yu Gothic"/>
              </a:rPr>
              <a:t>前</a:t>
            </a:r>
            <a:r>
              <a:rPr kumimoji="0" lang="ja-JP" altLang="en-US" sz="2200" b="0" i="0" u="none" strike="noStrike" kern="1200" cap="none" spc="-5" normalizeH="0" baseline="0" noProof="0" dirty="0">
                <a:ln>
                  <a:noFill/>
                </a:ln>
                <a:solidFill>
                  <a:prstClr val="black"/>
                </a:solidFill>
                <a:effectLst/>
                <a:uLnTx/>
                <a:uFillTx/>
                <a:latin typeface="+mn-ea"/>
                <a:cs typeface="Yu Gothic"/>
              </a:rPr>
              <a:t>章</a:t>
            </a:r>
            <a:r>
              <a:rPr kumimoji="0" lang="ja-JP" altLang="en-US" sz="2200" b="0" i="0" u="none" strike="noStrike" kern="1200" cap="none" spc="-5" normalizeH="0" baseline="0" noProof="0" dirty="0">
                <a:ln>
                  <a:noFill/>
                </a:ln>
                <a:solidFill>
                  <a:prstClr val="black"/>
                </a:solidFill>
                <a:effectLst/>
                <a:uLnTx/>
                <a:uFillTx/>
                <a:latin typeface="Yu Gothic"/>
                <a:cs typeface="Yu Gothic"/>
              </a:rPr>
              <a:t>の</a:t>
            </a:r>
            <a:r>
              <a:rPr kumimoji="0" lang="ja-JP" altLang="en-US" sz="2200" b="0"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3"/>
              </a:rPr>
              <a:t>回避不可能な</a:t>
            </a:r>
            <a:r>
              <a:rPr kumimoji="0" lang="en-US" altLang="ja-JP" sz="2200" b="0" i="0" u="heavy" strike="noStrike" kern="1200" cap="none" spc="-5" normalizeH="0" baseline="0" noProof="0" dirty="0">
                <a:ln>
                  <a:noFill/>
                </a:ln>
                <a:solidFill>
                  <a:srgbClr val="0462C1"/>
                </a:solidFill>
                <a:effectLst/>
                <a:uLnTx/>
                <a:uFill>
                  <a:solidFill>
                    <a:srgbClr val="0462C1"/>
                  </a:solidFill>
                </a:uFill>
                <a:latin typeface="Calibri"/>
                <a:cs typeface="Calibri"/>
                <a:hlinkClick r:id="rId3"/>
              </a:rPr>
              <a:t>5</a:t>
            </a:r>
            <a:r>
              <a:rPr kumimoji="0" lang="ja-JP" altLang="en-US" sz="2200" b="0"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3"/>
              </a:rPr>
              <a:t>大トレードオ</a:t>
            </a:r>
            <a:r>
              <a:rPr kumimoji="0" lang="ja-JP" altLang="en-US" sz="2200" b="0" i="0" u="heavy" strike="noStrike" kern="1200" cap="none" spc="-20" normalizeH="0" baseline="0" noProof="0" dirty="0">
                <a:ln>
                  <a:noFill/>
                </a:ln>
                <a:solidFill>
                  <a:srgbClr val="0462C1"/>
                </a:solidFill>
                <a:effectLst/>
                <a:uLnTx/>
                <a:uFill>
                  <a:solidFill>
                    <a:srgbClr val="0462C1"/>
                  </a:solidFill>
                </a:uFill>
                <a:latin typeface="Yu Gothic"/>
                <a:cs typeface="Yu Gothic"/>
                <a:hlinkClick r:id="rId3"/>
              </a:rPr>
              <a:t>フ</a:t>
            </a:r>
            <a:r>
              <a:rPr kumimoji="0" lang="ja-JP" altLang="en-US" sz="2200" b="0" i="0" u="none" strike="noStrike" kern="1200" cap="none" spc="0" normalizeH="0" baseline="0" noProof="0" dirty="0">
                <a:ln>
                  <a:noFill/>
                </a:ln>
                <a:solidFill>
                  <a:prstClr val="black"/>
                </a:solidFill>
                <a:effectLst/>
                <a:uLnTx/>
                <a:uFillTx/>
                <a:latin typeface="Yu Gothic"/>
                <a:cs typeface="Yu Gothic"/>
              </a:rPr>
              <a:t>を</a:t>
            </a:r>
            <a:r>
              <a:rPr kumimoji="0" lang="ja-JP" altLang="en-US" sz="2200" b="0" i="0" u="none" strike="noStrike" kern="1200" cap="none" spc="-5" normalizeH="0" baseline="0" noProof="0" dirty="0">
                <a:ln>
                  <a:noFill/>
                </a:ln>
                <a:solidFill>
                  <a:prstClr val="black"/>
                </a:solidFill>
                <a:effectLst/>
                <a:uLnTx/>
                <a:uFillTx/>
                <a:latin typeface="Yu Gothic"/>
                <a:cs typeface="Yu Gothic"/>
              </a:rPr>
              <a:t>加味</a:t>
            </a:r>
            <a:r>
              <a:rPr kumimoji="0" lang="ja-JP" altLang="en-US" sz="2200" b="0" i="0" u="none" strike="noStrike" kern="1200" cap="none" spc="0" normalizeH="0" baseline="0" noProof="0" dirty="0">
                <a:ln>
                  <a:noFill/>
                </a:ln>
                <a:solidFill>
                  <a:prstClr val="black"/>
                </a:solidFill>
                <a:effectLst/>
                <a:uLnTx/>
                <a:uFillTx/>
                <a:latin typeface="Yu Gothic"/>
                <a:cs typeface="Yu Gothic"/>
              </a:rPr>
              <a:t>し</a:t>
            </a:r>
            <a:r>
              <a:rPr kumimoji="0" lang="ja-JP" altLang="en-US" sz="2200" b="0" i="0" u="none" strike="noStrike" kern="1200" cap="none" spc="-5" normalizeH="0" baseline="0" noProof="0" dirty="0">
                <a:ln>
                  <a:noFill/>
                </a:ln>
                <a:solidFill>
                  <a:prstClr val="black"/>
                </a:solidFill>
                <a:effectLst/>
                <a:uLnTx/>
                <a:uFillTx/>
                <a:latin typeface="Yu Gothic"/>
                <a:cs typeface="Yu Gothic"/>
              </a:rPr>
              <a:t>た上</a:t>
            </a:r>
            <a:r>
              <a:rPr kumimoji="0" lang="ja-JP" altLang="en-US" sz="2200" b="0" i="0" u="none" strike="noStrike" kern="1200" cap="none" spc="0" normalizeH="0" baseline="0" noProof="0" dirty="0">
                <a:ln>
                  <a:noFill/>
                </a:ln>
                <a:solidFill>
                  <a:prstClr val="black"/>
                </a:solidFill>
                <a:effectLst/>
                <a:uLnTx/>
                <a:uFillTx/>
                <a:latin typeface="Yu Gothic"/>
                <a:cs typeface="Yu Gothic"/>
              </a:rPr>
              <a:t>で</a:t>
            </a:r>
            <a:r>
              <a:rPr kumimoji="0" lang="ja-JP" altLang="en-US" sz="2200" b="0" i="0" u="none" strike="noStrike" kern="1200" cap="none" spc="-5" normalizeH="0" baseline="0" noProof="0" dirty="0">
                <a:ln>
                  <a:noFill/>
                </a:ln>
                <a:solidFill>
                  <a:prstClr val="black"/>
                </a:solidFill>
                <a:effectLst/>
                <a:uLnTx/>
                <a:uFillTx/>
                <a:latin typeface="Yu Gothic"/>
                <a:cs typeface="Yu Gothic"/>
              </a:rPr>
              <a:t>、社</a:t>
            </a:r>
            <a:r>
              <a:rPr kumimoji="0" lang="ja-JP" altLang="en-US" sz="2200" b="0" i="0" u="none" strike="noStrike" kern="1200" cap="none" spc="0" normalizeH="0" baseline="0" noProof="0" dirty="0">
                <a:ln>
                  <a:noFill/>
                </a:ln>
                <a:solidFill>
                  <a:prstClr val="black"/>
                </a:solidFill>
                <a:effectLst/>
                <a:uLnTx/>
                <a:uFillTx/>
                <a:latin typeface="Yu Gothic"/>
                <a:cs typeface="Yu Gothic"/>
              </a:rPr>
              <a:t>内</a:t>
            </a:r>
            <a:r>
              <a:rPr kumimoji="0" lang="ja-JP" altLang="en-US" sz="2200" b="0" i="0" u="none" strike="noStrike" kern="1200" cap="none" spc="-5" normalizeH="0" baseline="0" noProof="0" dirty="0">
                <a:ln>
                  <a:noFill/>
                </a:ln>
                <a:solidFill>
                  <a:prstClr val="black"/>
                </a:solidFill>
                <a:effectLst/>
                <a:uLnTx/>
                <a:uFillTx/>
                <a:latin typeface="Yu Gothic"/>
                <a:cs typeface="Yu Gothic"/>
              </a:rPr>
              <a:t>技術</a:t>
            </a:r>
            <a:r>
              <a:rPr kumimoji="0" lang="ja-JP" altLang="en-US" sz="2200" b="0" i="0" u="none" strike="noStrike" kern="1200" cap="none" spc="0" normalizeH="0" baseline="0" noProof="0" dirty="0">
                <a:ln>
                  <a:noFill/>
                </a:ln>
                <a:solidFill>
                  <a:prstClr val="black"/>
                </a:solidFill>
                <a:effectLst/>
                <a:uLnTx/>
                <a:uFillTx/>
                <a:latin typeface="Yu Gothic"/>
                <a:cs typeface="Yu Gothic"/>
              </a:rPr>
              <a:t>ド</a:t>
            </a:r>
            <a:r>
              <a:rPr kumimoji="0" lang="ja-JP" altLang="en-US" sz="2200" b="0" i="0" u="none" strike="noStrike" kern="1200" cap="none" spc="-5" normalizeH="0" baseline="0" noProof="0" dirty="0">
                <a:ln>
                  <a:noFill/>
                </a:ln>
                <a:solidFill>
                  <a:prstClr val="black"/>
                </a:solidFill>
                <a:effectLst/>
                <a:uLnTx/>
                <a:uFillTx/>
                <a:latin typeface="Yu Gothic"/>
                <a:cs typeface="Yu Gothic"/>
              </a:rPr>
              <a:t>キュ</a:t>
            </a:r>
            <a:r>
              <a:rPr kumimoji="0" lang="ja-JP" altLang="en-US" sz="2200" b="0" i="0" u="none" strike="noStrike" kern="1200" cap="none" spc="0" normalizeH="0" baseline="0" noProof="0" dirty="0">
                <a:ln>
                  <a:noFill/>
                </a:ln>
                <a:solidFill>
                  <a:prstClr val="black"/>
                </a:solidFill>
                <a:effectLst/>
                <a:uLnTx/>
                <a:uFillTx/>
                <a:latin typeface="Yu Gothic"/>
                <a:cs typeface="Yu Gothic"/>
              </a:rPr>
              <a:t>メ</a:t>
            </a:r>
            <a:r>
              <a:rPr kumimoji="0" lang="ja-JP" altLang="en-US" sz="2200" b="0" i="0" u="none" strike="noStrike" kern="1200" cap="none" spc="-5" normalizeH="0" baseline="0" noProof="0" dirty="0">
                <a:ln>
                  <a:noFill/>
                </a:ln>
                <a:solidFill>
                  <a:prstClr val="black"/>
                </a:solidFill>
                <a:effectLst/>
                <a:uLnTx/>
                <a:uFillTx/>
                <a:latin typeface="Yu Gothic"/>
                <a:cs typeface="Yu Gothic"/>
              </a:rPr>
              <a:t>ンテー ションから享受する恩恵を最大化</a:t>
            </a:r>
            <a:r>
              <a:rPr kumimoji="0" lang="ja-JP" altLang="en-US" sz="2200" b="0" i="0" u="none" strike="noStrike" kern="1200" cap="none" spc="0" normalizeH="0" baseline="0" noProof="0" dirty="0">
                <a:ln>
                  <a:noFill/>
                </a:ln>
                <a:solidFill>
                  <a:prstClr val="black"/>
                </a:solidFill>
                <a:effectLst/>
                <a:uLnTx/>
                <a:uFillTx/>
                <a:latin typeface="Yu Gothic"/>
                <a:cs typeface="Yu Gothic"/>
              </a:rPr>
              <a:t>す</a:t>
            </a:r>
            <a:r>
              <a:rPr kumimoji="0" lang="ja-JP" altLang="en-US" sz="2200" b="0" i="0" u="none" strike="noStrike" kern="1200" cap="none" spc="-5" normalizeH="0" baseline="0" noProof="0" dirty="0">
                <a:ln>
                  <a:noFill/>
                </a:ln>
                <a:solidFill>
                  <a:prstClr val="black"/>
                </a:solidFill>
                <a:effectLst/>
                <a:uLnTx/>
                <a:uFillTx/>
                <a:latin typeface="Yu Gothic"/>
                <a:cs typeface="Yu Gothic"/>
              </a:rPr>
              <a:t>るた</a:t>
            </a:r>
            <a:r>
              <a:rPr kumimoji="0" lang="ja-JP" altLang="en-US" sz="2200" b="0" i="0" u="none" strike="noStrike" kern="1200" cap="none" spc="0" normalizeH="0" baseline="0" noProof="0" dirty="0">
                <a:ln>
                  <a:noFill/>
                </a:ln>
                <a:solidFill>
                  <a:prstClr val="black"/>
                </a:solidFill>
                <a:effectLst/>
                <a:uLnTx/>
                <a:uFillTx/>
                <a:latin typeface="Yu Gothic"/>
                <a:cs typeface="Yu Gothic"/>
              </a:rPr>
              <a:t>め</a:t>
            </a:r>
            <a:r>
              <a:rPr kumimoji="0" lang="ja-JP" altLang="en-US" sz="2200" b="0" i="0" u="none" strike="noStrike" kern="1200" cap="none" spc="-5" normalizeH="0" baseline="0" noProof="0" dirty="0">
                <a:ln>
                  <a:noFill/>
                </a:ln>
                <a:solidFill>
                  <a:prstClr val="black"/>
                </a:solidFill>
                <a:effectLst/>
                <a:uLnTx/>
                <a:uFillTx/>
                <a:latin typeface="Yu Gothic"/>
                <a:cs typeface="Yu Gothic"/>
              </a:rPr>
              <a:t>に踏</a:t>
            </a:r>
            <a:r>
              <a:rPr kumimoji="0" lang="ja-JP" altLang="en-US" sz="2200" b="0" i="0" u="none" strike="noStrike" kern="1200" cap="none" spc="0" normalizeH="0" baseline="0" noProof="0" dirty="0">
                <a:ln>
                  <a:noFill/>
                </a:ln>
                <a:solidFill>
                  <a:prstClr val="black"/>
                </a:solidFill>
                <a:effectLst/>
                <a:uLnTx/>
                <a:uFillTx/>
                <a:latin typeface="Yu Gothic"/>
                <a:cs typeface="Yu Gothic"/>
              </a:rPr>
              <a:t>む</a:t>
            </a:r>
            <a:r>
              <a:rPr kumimoji="0" lang="ja-JP" altLang="en-US" sz="2200" b="0" i="0" u="none" strike="noStrike" kern="1200" cap="none" spc="-5" normalizeH="0" baseline="0" noProof="0" dirty="0">
                <a:ln>
                  <a:noFill/>
                </a:ln>
                <a:solidFill>
                  <a:prstClr val="black"/>
                </a:solidFill>
                <a:effectLst/>
                <a:uLnTx/>
                <a:uFillTx/>
                <a:latin typeface="Yu Gothic"/>
                <a:cs typeface="Yu Gothic"/>
              </a:rPr>
              <a:t>べき</a:t>
            </a:r>
            <a:r>
              <a:rPr kumimoji="0" lang="ja-JP" altLang="en-US" sz="2200" b="0" i="0" u="none" strike="noStrike" kern="1200" cap="none" spc="0" normalizeH="0" baseline="0" noProof="0" dirty="0">
                <a:ln>
                  <a:noFill/>
                </a:ln>
                <a:solidFill>
                  <a:prstClr val="black"/>
                </a:solidFill>
                <a:effectLst/>
                <a:uLnTx/>
                <a:uFillTx/>
                <a:latin typeface="Yu Gothic"/>
                <a:cs typeface="Yu Gothic"/>
              </a:rPr>
              <a:t>具</a:t>
            </a:r>
            <a:r>
              <a:rPr kumimoji="0" lang="ja-JP" altLang="en-US" sz="2200" b="0" i="0" u="none" strike="noStrike" kern="1200" cap="none" spc="-5" normalizeH="0" baseline="0" noProof="0" dirty="0">
                <a:ln>
                  <a:noFill/>
                </a:ln>
                <a:solidFill>
                  <a:prstClr val="black"/>
                </a:solidFill>
                <a:effectLst/>
                <a:uLnTx/>
                <a:uFillTx/>
                <a:latin typeface="Yu Gothic"/>
                <a:cs typeface="Yu Gothic"/>
              </a:rPr>
              <a:t>体的</a:t>
            </a:r>
            <a:r>
              <a:rPr kumimoji="0" lang="ja-JP" altLang="en-US" sz="2200" b="0" i="0" u="none" strike="noStrike" kern="1200" cap="none" spc="15" normalizeH="0" baseline="0" noProof="0" dirty="0">
                <a:ln>
                  <a:noFill/>
                </a:ln>
                <a:solidFill>
                  <a:prstClr val="black"/>
                </a:solidFill>
                <a:effectLst/>
                <a:uLnTx/>
                <a:uFillTx/>
                <a:latin typeface="Yu Gothic"/>
                <a:cs typeface="Yu Gothic"/>
              </a:rPr>
              <a:t>な</a:t>
            </a:r>
            <a:r>
              <a:rPr kumimoji="0" lang="en-US" altLang="ja-JP" sz="2200" b="0" i="0" u="none" strike="noStrike" kern="1200" cap="none" spc="-5" normalizeH="0" baseline="0" noProof="0" dirty="0">
                <a:ln>
                  <a:noFill/>
                </a:ln>
                <a:solidFill>
                  <a:prstClr val="black"/>
                </a:solidFill>
                <a:effectLst/>
                <a:uLnTx/>
                <a:uFillTx/>
                <a:latin typeface="Calibri"/>
                <a:cs typeface="Calibri"/>
              </a:rPr>
              <a:t>10</a:t>
            </a:r>
            <a:r>
              <a:rPr kumimoji="0" lang="ja-JP" altLang="en-US" sz="2200" b="0" i="0" u="none" strike="noStrike" kern="1200" cap="none" spc="-5" normalizeH="0" baseline="0" noProof="0" dirty="0">
                <a:ln>
                  <a:noFill/>
                </a:ln>
                <a:solidFill>
                  <a:prstClr val="black"/>
                </a:solidFill>
                <a:effectLst/>
                <a:uLnTx/>
                <a:uFillTx/>
                <a:latin typeface="Yu Gothic"/>
                <a:cs typeface="Yu Gothic"/>
              </a:rPr>
              <a:t>の</a:t>
            </a:r>
            <a:r>
              <a:rPr kumimoji="0" lang="ja-JP" altLang="en-US" sz="2200" b="0" i="0" u="none" strike="noStrike" kern="1200" cap="none" spc="0" normalizeH="0" baseline="0" noProof="0" dirty="0">
                <a:ln>
                  <a:noFill/>
                </a:ln>
                <a:solidFill>
                  <a:prstClr val="black"/>
                </a:solidFill>
                <a:effectLst/>
                <a:uLnTx/>
                <a:uFillTx/>
                <a:latin typeface="Yu Gothic"/>
                <a:cs typeface="Yu Gothic"/>
              </a:rPr>
              <a:t>手</a:t>
            </a:r>
            <a:r>
              <a:rPr kumimoji="0" lang="ja-JP" altLang="en-US" sz="2200" b="0" i="0" u="none" strike="noStrike" kern="1200" cap="none" spc="-5" normalizeH="0" baseline="0" noProof="0" dirty="0">
                <a:ln>
                  <a:noFill/>
                </a:ln>
                <a:solidFill>
                  <a:prstClr val="black"/>
                </a:solidFill>
                <a:effectLst/>
                <a:uLnTx/>
                <a:uFillTx/>
                <a:latin typeface="Yu Gothic"/>
                <a:cs typeface="Yu Gothic"/>
              </a:rPr>
              <a:t>順を</a:t>
            </a:r>
            <a:r>
              <a:rPr kumimoji="0" lang="ja-JP" altLang="en-US" sz="2200" b="0" i="0" u="none" strike="noStrike" kern="1200" cap="none" spc="0" normalizeH="0" baseline="0" noProof="0" dirty="0">
                <a:ln>
                  <a:noFill/>
                </a:ln>
                <a:solidFill>
                  <a:prstClr val="black"/>
                </a:solidFill>
                <a:effectLst/>
                <a:uLnTx/>
                <a:uFillTx/>
                <a:latin typeface="Yu Gothic"/>
                <a:cs typeface="Yu Gothic"/>
              </a:rPr>
              <a:t>説</a:t>
            </a:r>
            <a:r>
              <a:rPr kumimoji="0" lang="ja-JP" altLang="en-US" sz="2200" b="0" i="0" u="none" strike="noStrike" kern="1200" cap="none" spc="-5" normalizeH="0" baseline="0" noProof="0" dirty="0">
                <a:ln>
                  <a:noFill/>
                </a:ln>
                <a:solidFill>
                  <a:prstClr val="black"/>
                </a:solidFill>
                <a:effectLst/>
                <a:uLnTx/>
                <a:uFillTx/>
                <a:latin typeface="Yu Gothic"/>
                <a:cs typeface="Yu Gothic"/>
              </a:rPr>
              <a:t>明す </a:t>
            </a:r>
            <a:r>
              <a:rPr kumimoji="0" lang="ja-JP" altLang="en-US" sz="2200" b="0" i="0" u="none" strike="noStrike" kern="1200" cap="none" spc="-10" normalizeH="0" baseline="0" noProof="0" dirty="0">
                <a:ln>
                  <a:noFill/>
                </a:ln>
                <a:solidFill>
                  <a:prstClr val="black"/>
                </a:solidFill>
                <a:effectLst/>
                <a:uLnTx/>
                <a:uFillTx/>
                <a:latin typeface="Yu Gothic"/>
                <a:cs typeface="Yu Gothic"/>
              </a:rPr>
              <a:t>る。</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495"/>
              </a:lnSpc>
              <a:spcBef>
                <a:spcPts val="2055"/>
              </a:spcBef>
              <a:spcAft>
                <a:spcPts val="0"/>
              </a:spcAft>
              <a:buClr>
                <a:srgbClr val="000000"/>
              </a:buClr>
              <a:buSzTx/>
              <a:buFontTx/>
              <a:buAutoNum type="arabicPeriod"/>
              <a:tabLst>
                <a:tab pos="374015" algn="l"/>
                <a:tab pos="374650" algn="l"/>
              </a:tabLst>
              <a:defRPr/>
            </a:pPr>
            <a:r>
              <a:rPr kumimoji="0" lang="en-US" altLang="ja-JP" sz="2200" b="1" i="0" u="heavy" strike="noStrike" kern="1200" cap="none" spc="-5" normalizeH="0" baseline="0" noProof="0" dirty="0">
                <a:ln>
                  <a:noFill/>
                </a:ln>
                <a:solidFill>
                  <a:srgbClr val="0462C1"/>
                </a:solidFill>
                <a:effectLst/>
                <a:uLnTx/>
                <a:uFill>
                  <a:solidFill>
                    <a:srgbClr val="0462C1"/>
                  </a:solidFill>
                </a:uFill>
                <a:latin typeface="Calibri"/>
                <a:cs typeface="Calibri"/>
                <a:hlinkClick r:id="rId4"/>
              </a:rPr>
              <a:t>5W1H</a:t>
            </a:r>
            <a:r>
              <a:rPr kumimoji="0" lang="ja-JP" altLang="en-US" sz="2200" b="1" i="0" u="heavy" strike="noStrike" kern="1200" cap="none" spc="-35" normalizeH="0" baseline="0" noProof="0" dirty="0">
                <a:ln>
                  <a:noFill/>
                </a:ln>
                <a:solidFill>
                  <a:srgbClr val="0462C1"/>
                </a:solidFill>
                <a:effectLst/>
                <a:uLnTx/>
                <a:uFill>
                  <a:solidFill>
                    <a:srgbClr val="0462C1"/>
                  </a:solidFill>
                </a:uFill>
                <a:latin typeface="Calibri"/>
                <a:cs typeface="Calibri"/>
                <a:hlinkClick r:id="rId4"/>
              </a:rPr>
              <a:t> </a:t>
            </a: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4"/>
              </a:rPr>
              <a:t>の明確化</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345"/>
              </a:lnSpc>
              <a:spcBef>
                <a:spcPts val="0"/>
              </a:spcBef>
              <a:spcAft>
                <a:spcPts val="0"/>
              </a:spcAft>
              <a:buClr>
                <a:srgbClr val="000000"/>
              </a:buClr>
              <a:buSzTx/>
              <a:buFontTx/>
              <a:buAutoNum type="arabicPeriod"/>
              <a:tabLst>
                <a:tab pos="374015" algn="l"/>
                <a:tab pos="374650" algn="l"/>
              </a:tabLst>
              <a:defRPr/>
            </a:pPr>
            <a:r>
              <a:rPr kumimoji="0" lang="en-US" altLang="ja-JP" sz="2200" b="1" i="0" u="heavy" strike="noStrike" kern="1200" cap="none" spc="-10" normalizeH="0" baseline="0" noProof="0" dirty="0">
                <a:ln>
                  <a:noFill/>
                </a:ln>
                <a:solidFill>
                  <a:srgbClr val="0462C1"/>
                </a:solidFill>
                <a:effectLst/>
                <a:uLnTx/>
                <a:uFill>
                  <a:solidFill>
                    <a:srgbClr val="0462C1"/>
                  </a:solidFill>
                </a:uFill>
                <a:latin typeface="Calibri"/>
                <a:cs typeface="Calibri"/>
                <a:hlinkClick r:id="rId5"/>
              </a:rPr>
              <a:t>Ownership</a:t>
            </a:r>
            <a:r>
              <a:rPr kumimoji="0" lang="ja-JP" altLang="en-US" sz="2200" b="1" i="0" u="heavy" strike="noStrike" kern="1200" cap="none" spc="-15" normalizeH="0" baseline="0" noProof="0" dirty="0">
                <a:ln>
                  <a:noFill/>
                </a:ln>
                <a:solidFill>
                  <a:srgbClr val="0462C1"/>
                </a:solidFill>
                <a:effectLst/>
                <a:uLnTx/>
                <a:uFill>
                  <a:solidFill>
                    <a:srgbClr val="0462C1"/>
                  </a:solidFill>
                </a:uFill>
                <a:latin typeface="Calibri"/>
                <a:cs typeface="Calibri"/>
                <a:hlinkClick r:id="rId5"/>
              </a:rPr>
              <a:t> </a:t>
            </a: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5"/>
              </a:rPr>
              <a:t>とステークホルダーの明確化</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345"/>
              </a:lnSpc>
              <a:spcBef>
                <a:spcPts val="0"/>
              </a:spcBef>
              <a:spcAft>
                <a:spcPts val="0"/>
              </a:spcAft>
              <a:buClr>
                <a:srgbClr val="000000"/>
              </a:buClr>
              <a:buSzTx/>
              <a:buFont typeface="Calibri"/>
              <a:buAutoNum type="arabicPeriod"/>
              <a:tabLst>
                <a:tab pos="374015" algn="l"/>
                <a:tab pos="374650" algn="l"/>
              </a:tabLst>
              <a:defRPr/>
            </a:pPr>
            <a:r>
              <a:rPr kumimoji="0" lang="ja-JP" altLang="en-US" sz="2200" b="1" i="0" u="heavy" strike="noStrike" kern="1200" cap="none" spc="-10" normalizeH="0" baseline="0" noProof="0" dirty="0">
                <a:ln>
                  <a:noFill/>
                </a:ln>
                <a:solidFill>
                  <a:srgbClr val="0462C1"/>
                </a:solidFill>
                <a:effectLst/>
                <a:uLnTx/>
                <a:uFill>
                  <a:solidFill>
                    <a:srgbClr val="0462C1"/>
                  </a:solidFill>
                </a:uFill>
                <a:latin typeface="Yu Gothic"/>
                <a:cs typeface="Yu Gothic"/>
                <a:hlinkClick r:id="rId6"/>
              </a:rPr>
              <a:t>文書の置き場と公開場所の検討</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355"/>
              </a:lnSpc>
              <a:spcBef>
                <a:spcPts val="0"/>
              </a:spcBef>
              <a:spcAft>
                <a:spcPts val="0"/>
              </a:spcAft>
              <a:buClr>
                <a:srgbClr val="000000"/>
              </a:buClr>
              <a:buSzTx/>
              <a:buFont typeface="Calibri"/>
              <a:buAutoNum type="arabicPeriod"/>
              <a:tabLst>
                <a:tab pos="374015" algn="l"/>
                <a:tab pos="374650" algn="l"/>
              </a:tabLst>
              <a:defRPr/>
            </a:pP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7"/>
              </a:rPr>
              <a:t>文書化対象の情報の洗い出し</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345"/>
              </a:lnSpc>
              <a:spcBef>
                <a:spcPts val="0"/>
              </a:spcBef>
              <a:spcAft>
                <a:spcPts val="0"/>
              </a:spcAft>
              <a:buClr>
                <a:srgbClr val="000000"/>
              </a:buClr>
              <a:buSzTx/>
              <a:buFont typeface="Calibri"/>
              <a:buAutoNum type="arabicPeriod"/>
              <a:tabLst>
                <a:tab pos="374015" algn="l"/>
                <a:tab pos="374650" algn="l"/>
              </a:tabLst>
              <a:defRPr/>
            </a:pP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8"/>
              </a:rPr>
              <a:t>文書全体の構成検討</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345"/>
              </a:lnSpc>
              <a:spcBef>
                <a:spcPts val="0"/>
              </a:spcBef>
              <a:spcAft>
                <a:spcPts val="0"/>
              </a:spcAft>
              <a:buClr>
                <a:srgbClr val="000000"/>
              </a:buClr>
              <a:buSzTx/>
              <a:buFont typeface="Calibri"/>
              <a:buAutoNum type="arabicPeriod"/>
              <a:tabLst>
                <a:tab pos="374015" algn="l"/>
                <a:tab pos="374650" algn="l"/>
              </a:tabLst>
              <a:defRPr/>
            </a:pP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9"/>
              </a:rPr>
              <a:t>文体・描画ツールの合意形成</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350"/>
              </a:lnSpc>
              <a:spcBef>
                <a:spcPts val="0"/>
              </a:spcBef>
              <a:spcAft>
                <a:spcPts val="0"/>
              </a:spcAft>
              <a:buClr>
                <a:srgbClr val="000000"/>
              </a:buClr>
              <a:buSzTx/>
              <a:buFont typeface="Calibri"/>
              <a:buAutoNum type="arabicPeriod"/>
              <a:tabLst>
                <a:tab pos="374015" algn="l"/>
                <a:tab pos="374650" algn="l"/>
              </a:tabLst>
              <a:defRPr/>
            </a:pP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10"/>
              </a:rPr>
              <a:t>節・</a:t>
            </a: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ea typeface="ＭＳ Ｐゴシック" panose="020B0600070205080204" pitchFamily="50" charset="-128"/>
                <a:cs typeface="Yu Gothic"/>
                <a:hlinkClick r:id="rId10"/>
              </a:rPr>
              <a:t>章</a:t>
            </a: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10"/>
              </a:rPr>
              <a:t>ごとの明文化難易度評価</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345"/>
              </a:lnSpc>
              <a:spcBef>
                <a:spcPts val="0"/>
              </a:spcBef>
              <a:spcAft>
                <a:spcPts val="0"/>
              </a:spcAft>
              <a:buClr>
                <a:srgbClr val="000000"/>
              </a:buClr>
              <a:buSzTx/>
              <a:buFont typeface="Calibri"/>
              <a:buAutoNum type="arabicPeriod"/>
              <a:tabLst>
                <a:tab pos="374015" algn="l"/>
                <a:tab pos="374650" algn="l"/>
              </a:tabLst>
              <a:defRPr/>
            </a:pPr>
            <a:r>
              <a:rPr kumimoji="0" lang="ja-JP" altLang="en-US" sz="2200" b="1" i="0" u="heavy" strike="noStrike" kern="1200" cap="none" spc="-10" normalizeH="0" baseline="0" noProof="0" dirty="0">
                <a:ln>
                  <a:noFill/>
                </a:ln>
                <a:solidFill>
                  <a:srgbClr val="0462C1"/>
                </a:solidFill>
                <a:effectLst/>
                <a:uLnTx/>
                <a:uFill>
                  <a:solidFill>
                    <a:srgbClr val="0462C1"/>
                  </a:solidFill>
                </a:uFill>
                <a:latin typeface="Yu Gothic"/>
                <a:cs typeface="Yu Gothic"/>
                <a:hlinkClick r:id="rId11"/>
              </a:rPr>
              <a:t>節・</a:t>
            </a:r>
            <a:r>
              <a:rPr kumimoji="0" lang="ja-JP" altLang="en-US" sz="2200" b="1" i="0" u="heavy" strike="noStrike" kern="1200" cap="none" spc="-10" normalizeH="0" baseline="0" noProof="0" dirty="0">
                <a:ln>
                  <a:noFill/>
                </a:ln>
                <a:solidFill>
                  <a:srgbClr val="0462C1"/>
                </a:solidFill>
                <a:effectLst/>
                <a:uLnTx/>
                <a:uFill>
                  <a:solidFill>
                    <a:srgbClr val="0462C1"/>
                  </a:solidFill>
                </a:uFill>
                <a:latin typeface="Yu Gothic"/>
                <a:ea typeface="ＭＳ Ｐゴシック" panose="020B0600070205080204" pitchFamily="50" charset="-128"/>
                <a:cs typeface="Yu Gothic"/>
                <a:hlinkClick r:id="rId11"/>
              </a:rPr>
              <a:t>章</a:t>
            </a:r>
            <a:r>
              <a:rPr kumimoji="0" lang="ja-JP" altLang="en-US" sz="2200" b="1" i="0" u="heavy" strike="noStrike" kern="1200" cap="none" spc="-10" normalizeH="0" baseline="0" noProof="0" dirty="0">
                <a:ln>
                  <a:noFill/>
                </a:ln>
                <a:solidFill>
                  <a:srgbClr val="0462C1"/>
                </a:solidFill>
                <a:effectLst/>
                <a:uLnTx/>
                <a:uFill>
                  <a:solidFill>
                    <a:srgbClr val="0462C1"/>
                  </a:solidFill>
                </a:uFill>
                <a:latin typeface="Yu Gothic"/>
                <a:cs typeface="Yu Gothic"/>
                <a:hlinkClick r:id="rId11"/>
              </a:rPr>
              <a:t>ごとの担当者割り振り</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345"/>
              </a:lnSpc>
              <a:spcBef>
                <a:spcPts val="0"/>
              </a:spcBef>
              <a:spcAft>
                <a:spcPts val="0"/>
              </a:spcAft>
              <a:buClr>
                <a:srgbClr val="000000"/>
              </a:buClr>
              <a:buSzTx/>
              <a:buFont typeface="Calibri"/>
              <a:buAutoNum type="arabicPeriod"/>
              <a:tabLst>
                <a:tab pos="374015" algn="l"/>
                <a:tab pos="374650" algn="l"/>
              </a:tabLst>
              <a:defRPr/>
            </a:pP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12"/>
              </a:rPr>
              <a:t>レビュー</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a:p>
            <a:pPr marL="374015" marR="0" lvl="0" indent="-361950" algn="l" defTabSz="914400" rtl="0" eaLnBrk="1" fontAlgn="auto" latinLnBrk="0" hangingPunct="1">
              <a:lnSpc>
                <a:spcPts val="2495"/>
              </a:lnSpc>
              <a:spcBef>
                <a:spcPts val="0"/>
              </a:spcBef>
              <a:spcAft>
                <a:spcPts val="0"/>
              </a:spcAft>
              <a:buClr>
                <a:srgbClr val="000000"/>
              </a:buClr>
              <a:buSzTx/>
              <a:buFont typeface="Calibri"/>
              <a:buAutoNum type="arabicPeriod"/>
              <a:tabLst>
                <a:tab pos="374650" algn="l"/>
              </a:tabLst>
              <a:defRPr/>
            </a:pP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cs typeface="Yu Gothic"/>
                <a:hlinkClick r:id="rId13"/>
              </a:rPr>
              <a:t>公開</a:t>
            </a:r>
            <a:endParaRPr kumimoji="0" lang="ja-JP" altLang="en-US" sz="2200" b="0" i="0" u="none" strike="noStrike" kern="1200" cap="none" spc="0" normalizeH="0" baseline="0" noProof="0" dirty="0">
              <a:ln>
                <a:noFill/>
              </a:ln>
              <a:solidFill>
                <a:prstClr val="black"/>
              </a:solidFill>
              <a:effectLst/>
              <a:uLnTx/>
              <a:uFillTx/>
              <a:latin typeface="Yu Gothic"/>
              <a:cs typeface="Yu Gothic"/>
            </a:endParaRPr>
          </a:p>
        </p:txBody>
      </p:sp>
    </p:spTree>
    <p:extLst>
      <p:ext uri="{BB962C8B-B14F-4D97-AF65-F5344CB8AC3E}">
        <p14:creationId xmlns:p14="http://schemas.microsoft.com/office/powerpoint/2010/main" val="3956330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①</a:t>
            </a:r>
            <a:r>
              <a:rPr kumimoji="0" lang="ja-JP" altLang="en-US" sz="2800" b="1" i="0" u="none" strike="noStrike" kern="1200" cap="none" spc="-190" normalizeH="0" baseline="0" noProof="0" dirty="0">
                <a:ln>
                  <a:noFill/>
                </a:ln>
                <a:solidFill>
                  <a:prstClr val="black"/>
                </a:solidFill>
                <a:effectLst/>
                <a:uLnTx/>
                <a:uFillTx/>
                <a:latin typeface="Yu Gothic"/>
                <a:ea typeface="+mn-ea"/>
                <a:cs typeface="Yu Gothic"/>
              </a:rPr>
              <a:t> </a:t>
            </a:r>
            <a:r>
              <a:rPr kumimoji="0" lang="en-US" altLang="ja-JP" sz="2800" b="1" i="0" u="none" strike="noStrike" kern="1200" cap="none" spc="-5" normalizeH="0" baseline="0" noProof="0" dirty="0">
                <a:ln>
                  <a:noFill/>
                </a:ln>
                <a:solidFill>
                  <a:prstClr val="black"/>
                </a:solidFill>
                <a:effectLst/>
                <a:uLnTx/>
                <a:uFillTx/>
                <a:latin typeface="Calibri"/>
                <a:ea typeface="+mn-ea"/>
                <a:cs typeface="Calibri"/>
              </a:rPr>
              <a:t>5W1H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の明確化</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57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社内技術ドキュメンテーションに限らず、全ての作業では以下の</a:t>
            </a:r>
            <a:r>
              <a:rPr kumimoji="0" lang="ja-JP" altLang="en-US" sz="2400" b="0" i="0" u="none" strike="noStrike" kern="1200" cap="none" spc="-135"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5W</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1</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H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 明確にする必要がある。</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Tx/>
              <a:buSzTx/>
              <a:buFont typeface="Arial MT"/>
              <a:buChar char="•"/>
              <a:tabLst>
                <a:tab pos="282575" algn="l"/>
                <a:tab pos="283210" algn="l"/>
              </a:tabLst>
              <a:defRPr/>
            </a:pPr>
            <a:r>
              <a:rPr kumimoji="0" lang="en-US" altLang="ja-JP" sz="2400" b="1" i="0" u="none" strike="noStrike" kern="1200" cap="none" spc="-5" normalizeH="0" baseline="0" noProof="0" dirty="0">
                <a:ln>
                  <a:noFill/>
                </a:ln>
                <a:solidFill>
                  <a:prstClr val="black"/>
                </a:solidFill>
                <a:effectLst/>
                <a:uLnTx/>
                <a:uFillTx/>
                <a:latin typeface="Calibri"/>
                <a:ea typeface="+mn-ea"/>
                <a:cs typeface="Calibri"/>
              </a:rPr>
              <a:t>WHY</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作業目的</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。何が問題でそれを解決するとどう嬉しいのか？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220"/>
              </a:spcBef>
              <a:spcAft>
                <a:spcPts val="0"/>
              </a:spcAft>
              <a:buClrTx/>
              <a:buSzTx/>
              <a:buFont typeface="Arial MT"/>
              <a:buChar char="•"/>
              <a:tabLst>
                <a:tab pos="282575" algn="l"/>
                <a:tab pos="283210" algn="l"/>
              </a:tabLst>
              <a:defRPr/>
            </a:pPr>
            <a:r>
              <a:rPr kumimoji="0" lang="en-US" altLang="ja-JP" sz="2400" b="1" i="0" u="none" strike="noStrike" kern="1200" cap="none" spc="-45" normalizeH="0" baseline="0" noProof="0" dirty="0">
                <a:ln>
                  <a:noFill/>
                </a:ln>
                <a:solidFill>
                  <a:prstClr val="black"/>
                </a:solidFill>
                <a:effectLst/>
                <a:uLnTx/>
                <a:uFillTx/>
                <a:latin typeface="Calibri"/>
                <a:ea typeface="+mn-ea"/>
                <a:cs typeface="Calibri"/>
              </a:rPr>
              <a:t>WHAT</a:t>
            </a:r>
            <a:r>
              <a:rPr kumimoji="0" lang="en-US" altLang="ja-JP" sz="2400" b="0" i="0" u="none" strike="noStrike" kern="1200" cap="none" spc="-45" normalizeH="0" baseline="0" noProof="0" dirty="0">
                <a:ln>
                  <a:noFill/>
                </a:ln>
                <a:solidFill>
                  <a:prstClr val="black"/>
                </a:solidFill>
                <a:effectLst/>
                <a:uLnTx/>
                <a:uFillTx/>
                <a:latin typeface="Calibri"/>
                <a:ea typeface="+mn-ea"/>
                <a:cs typeface="Calibri"/>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個々の作業</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。作業目的を果たすために必要なタスクは何か？</a:t>
            </a:r>
          </a:p>
          <a:p>
            <a:pPr marL="282575" marR="0" lvl="0" indent="-270510" algn="l" defTabSz="914400" rtl="0" eaLnBrk="1" fontAlgn="auto" latinLnBrk="0" hangingPunct="1">
              <a:lnSpc>
                <a:spcPct val="100000"/>
              </a:lnSpc>
              <a:spcBef>
                <a:spcPts val="204"/>
              </a:spcBef>
              <a:spcAft>
                <a:spcPts val="0"/>
              </a:spcAft>
              <a:buClrTx/>
              <a:buSzTx/>
              <a:buFont typeface="Arial MT"/>
              <a:buChar char="•"/>
              <a:tabLst>
                <a:tab pos="282575" algn="l"/>
                <a:tab pos="283210" algn="l"/>
              </a:tabLst>
              <a:defRPr/>
            </a:pPr>
            <a:r>
              <a:rPr kumimoji="0" lang="en-US" altLang="ja-JP" sz="2400" b="1" i="0" u="none" strike="noStrike" kern="1200" cap="none" spc="-5" normalizeH="0" baseline="0" noProof="0" dirty="0">
                <a:ln>
                  <a:noFill/>
                </a:ln>
                <a:solidFill>
                  <a:prstClr val="black"/>
                </a:solidFill>
                <a:effectLst/>
                <a:uLnTx/>
                <a:uFillTx/>
                <a:latin typeface="Calibri"/>
                <a:ea typeface="+mn-ea"/>
                <a:cs typeface="Calibri"/>
              </a:rPr>
              <a:t>WHO</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作業担当者</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400" b="0" i="0" u="none" strike="noStrike" kern="1200" cap="none" spc="-155" normalizeH="0" baseline="0" noProof="0" dirty="0">
                <a:ln>
                  <a:noFill/>
                </a:ln>
                <a:solidFill>
                  <a:prstClr val="black"/>
                </a:solidFill>
                <a:effectLst/>
                <a:uLnTx/>
                <a:uFillTx/>
                <a:latin typeface="Yu Gothic"/>
                <a:ea typeface="+mn-ea"/>
                <a:cs typeface="Yu Gothic"/>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誰が、もしくはどのチームがやるのか？</a:t>
            </a:r>
          </a:p>
          <a:p>
            <a:pPr marL="282575" marR="0" lvl="0" indent="-270510" algn="l" defTabSz="914400" rtl="0" eaLnBrk="1" fontAlgn="auto" latinLnBrk="0" hangingPunct="1">
              <a:lnSpc>
                <a:spcPct val="100000"/>
              </a:lnSpc>
              <a:spcBef>
                <a:spcPts val="215"/>
              </a:spcBef>
              <a:spcAft>
                <a:spcPts val="0"/>
              </a:spcAft>
              <a:buClrTx/>
              <a:buSzTx/>
              <a:buFont typeface="Arial MT"/>
              <a:buChar char="•"/>
              <a:tabLst>
                <a:tab pos="282575" algn="l"/>
                <a:tab pos="283210" algn="l"/>
              </a:tabLst>
              <a:defRPr/>
            </a:pPr>
            <a:r>
              <a:rPr kumimoji="0" lang="en-US" altLang="ja-JP" sz="2400" b="1" i="0" u="none" strike="noStrike" kern="1200" cap="none" spc="-5" normalizeH="0" baseline="0" noProof="0" dirty="0">
                <a:ln>
                  <a:noFill/>
                </a:ln>
                <a:solidFill>
                  <a:prstClr val="black"/>
                </a:solidFill>
                <a:effectLst/>
                <a:uLnTx/>
                <a:uFillTx/>
                <a:latin typeface="Calibri"/>
                <a:ea typeface="+mn-ea"/>
                <a:cs typeface="Calibri"/>
              </a:rPr>
              <a:t>WHEN</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65" normalizeH="0" baseline="0" noProof="0" dirty="0">
                <a:ln>
                  <a:noFill/>
                </a:ln>
                <a:solidFill>
                  <a:prstClr val="black"/>
                </a:solidFill>
                <a:effectLst/>
                <a:uLnTx/>
                <a:uFillTx/>
                <a:latin typeface="Calibri"/>
                <a:ea typeface="+mn-ea"/>
                <a:cs typeface="Calibri"/>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開始・終了時期</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。いつまでに始め、完了させるのか？</a:t>
            </a:r>
          </a:p>
          <a:p>
            <a:pPr marL="282575" marR="0" lvl="0" indent="-270510" algn="l" defTabSz="914400" rtl="0" eaLnBrk="1" fontAlgn="auto" latinLnBrk="0" hangingPunct="1">
              <a:lnSpc>
                <a:spcPct val="100000"/>
              </a:lnSpc>
              <a:spcBef>
                <a:spcPts val="219"/>
              </a:spcBef>
              <a:spcAft>
                <a:spcPts val="0"/>
              </a:spcAft>
              <a:buClrTx/>
              <a:buSzTx/>
              <a:buFont typeface="Arial MT"/>
              <a:buChar char="•"/>
              <a:tabLst>
                <a:tab pos="282575" algn="l"/>
                <a:tab pos="283210" algn="l"/>
              </a:tabLst>
              <a:defRPr/>
            </a:pPr>
            <a:r>
              <a:rPr kumimoji="0" lang="en-US" altLang="ja-JP" sz="2400" b="1" i="0" u="none" strike="noStrike" kern="1200" cap="none" spc="-5" normalizeH="0" baseline="0" noProof="0" dirty="0">
                <a:ln>
                  <a:noFill/>
                </a:ln>
                <a:solidFill>
                  <a:prstClr val="black"/>
                </a:solidFill>
                <a:effectLst/>
                <a:uLnTx/>
                <a:uFillTx/>
                <a:latin typeface="Calibri"/>
                <a:ea typeface="+mn-ea"/>
                <a:cs typeface="Calibri"/>
              </a:rPr>
              <a:t>WHERE</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45" normalizeH="0" baseline="0" noProof="0" dirty="0">
                <a:ln>
                  <a:noFill/>
                </a:ln>
                <a:solidFill>
                  <a:prstClr val="black"/>
                </a:solidFill>
                <a:effectLst/>
                <a:uLnTx/>
                <a:uFillTx/>
                <a:latin typeface="Calibri"/>
                <a:ea typeface="+mn-ea"/>
                <a:cs typeface="Calibri"/>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成果物納品先</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。文書をどこに置き公開するのか？</a:t>
            </a:r>
          </a:p>
          <a:p>
            <a:pPr marL="282575" marR="0" lvl="0" indent="-270510" algn="l" defTabSz="914400" rtl="0" eaLnBrk="1" fontAlgn="auto" latinLnBrk="0" hangingPunct="1">
              <a:lnSpc>
                <a:spcPct val="100000"/>
              </a:lnSpc>
              <a:spcBef>
                <a:spcPts val="200"/>
              </a:spcBef>
              <a:spcAft>
                <a:spcPts val="0"/>
              </a:spcAft>
              <a:buClrTx/>
              <a:buSzTx/>
              <a:buFont typeface="Arial MT"/>
              <a:buChar char="•"/>
              <a:tabLst>
                <a:tab pos="282575" algn="l"/>
                <a:tab pos="283210" algn="l"/>
              </a:tabLst>
              <a:defRPr/>
            </a:pPr>
            <a:r>
              <a:rPr kumimoji="0" lang="en-US" altLang="ja-JP" sz="2400" b="1" i="0" u="none" strike="noStrike" kern="1200" cap="none" spc="-10" normalizeH="0" baseline="0" noProof="0" dirty="0">
                <a:ln>
                  <a:noFill/>
                </a:ln>
                <a:solidFill>
                  <a:prstClr val="black"/>
                </a:solidFill>
                <a:effectLst/>
                <a:uLnTx/>
                <a:uFillTx/>
                <a:latin typeface="Calibri"/>
                <a:ea typeface="+mn-ea"/>
                <a:cs typeface="Calibri"/>
              </a:rPr>
              <a:t>HOW</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50" normalizeH="0" baseline="0" noProof="0" dirty="0">
                <a:ln>
                  <a:noFill/>
                </a:ln>
                <a:solidFill>
                  <a:prstClr val="black"/>
                </a:solidFill>
                <a:effectLst/>
                <a:uLnTx/>
                <a:uFillTx/>
                <a:latin typeface="Calibri"/>
                <a:ea typeface="+mn-ea"/>
                <a:cs typeface="Calibri"/>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方法・手順</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。どのように進めるのか？</a:t>
            </a:r>
          </a:p>
        </p:txBody>
      </p:sp>
    </p:spTree>
    <p:extLst>
      <p:ext uri="{BB962C8B-B14F-4D97-AF65-F5344CB8AC3E}">
        <p14:creationId xmlns:p14="http://schemas.microsoft.com/office/powerpoint/2010/main" val="3158105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just" defTabSz="914400" rtl="0" eaLnBrk="1" fontAlgn="auto" latinLnBrk="0" hangingPunct="1">
              <a:lnSpc>
                <a:spcPct val="100000"/>
              </a:lnSpc>
              <a:spcBef>
                <a:spcPts val="405"/>
              </a:spcBef>
              <a:spcAft>
                <a:spcPts val="0"/>
              </a:spcAft>
              <a:buClrTx/>
              <a:buSzTx/>
              <a:buFontTx/>
              <a:buNone/>
              <a:tabLst/>
              <a:defRPr/>
            </a:pP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①</a:t>
            </a:r>
            <a:r>
              <a:rPr kumimoji="0" lang="ja-JP" altLang="en-US" sz="2600" b="1" i="0" u="none" strike="noStrike" kern="1200" cap="none" spc="-180" normalizeH="0" baseline="0" noProof="0" dirty="0">
                <a:ln>
                  <a:noFill/>
                </a:ln>
                <a:solidFill>
                  <a:prstClr val="black"/>
                </a:solidFill>
                <a:effectLst/>
                <a:uLnTx/>
                <a:uFillTx/>
                <a:latin typeface="Yu Gothic"/>
                <a:ea typeface="+mn-ea"/>
                <a:cs typeface="Yu Gothic"/>
              </a:rPr>
              <a:t> </a:t>
            </a:r>
            <a:r>
              <a:rPr kumimoji="0" lang="en-US" altLang="ja-JP" sz="2600" b="1" i="0" u="none" strike="noStrike" kern="1200" cap="none" spc="0" normalizeH="0" baseline="0" noProof="0" dirty="0">
                <a:ln>
                  <a:noFill/>
                </a:ln>
                <a:solidFill>
                  <a:prstClr val="black"/>
                </a:solidFill>
                <a:effectLst/>
                <a:uLnTx/>
                <a:uFillTx/>
                <a:latin typeface="Calibri"/>
                <a:ea typeface="+mn-ea"/>
                <a:cs typeface="Calibri"/>
              </a:rPr>
              <a:t>5W1H</a:t>
            </a:r>
            <a:r>
              <a:rPr kumimoji="0" lang="ja-JP" altLang="en-US" sz="2600" b="1" i="0" u="none" strike="noStrike" kern="1200" cap="none" spc="-40" normalizeH="0" baseline="0" noProof="0" dirty="0">
                <a:ln>
                  <a:noFill/>
                </a:ln>
                <a:solidFill>
                  <a:prstClr val="black"/>
                </a:solidFill>
                <a:effectLst/>
                <a:uLnTx/>
                <a:uFillTx/>
                <a:latin typeface="Calibri"/>
                <a:ea typeface="+mn-ea"/>
                <a:cs typeface="Calibri"/>
              </a:rPr>
              <a:t> </a:t>
            </a: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の明確化</a:t>
            </a:r>
            <a:endParaRPr kumimoji="0" lang="ja-JP" altLang="en-US" sz="26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just" defTabSz="914400" rtl="0" eaLnBrk="1" fontAlgn="auto" latinLnBrk="0" hangingPunct="1">
              <a:lnSpc>
                <a:spcPct val="100000"/>
              </a:lnSpc>
              <a:spcBef>
                <a:spcPts val="259"/>
              </a:spcBef>
              <a:spcAft>
                <a:spcPts val="0"/>
              </a:spcAft>
              <a:buClrTx/>
              <a:buSzTx/>
              <a:buFontTx/>
              <a:buNone/>
              <a:tabLst/>
              <a:defRPr/>
            </a:pP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とりわ</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け</a:t>
            </a:r>
            <a:r>
              <a:rPr kumimoji="0" lang="ja-JP" altLang="en-US" sz="2200" b="1" i="0" u="none" strike="noStrike" kern="1200" cap="none" spc="-95" normalizeH="0" baseline="0" noProof="0" dirty="0">
                <a:ln>
                  <a:noFill/>
                </a:ln>
                <a:solidFill>
                  <a:prstClr val="black"/>
                </a:solidFill>
                <a:effectLst/>
                <a:uLnTx/>
                <a:uFillTx/>
                <a:latin typeface="Yu Gothic"/>
                <a:ea typeface="+mn-ea"/>
                <a:cs typeface="Yu Gothic"/>
              </a:rPr>
              <a:t> </a:t>
            </a:r>
            <a:r>
              <a:rPr kumimoji="0" lang="en-US" altLang="ja-JP" sz="2200" b="1" i="0" u="none" strike="noStrike" kern="1200" cap="none" spc="-10" normalizeH="0" baseline="0" noProof="0" dirty="0">
                <a:ln>
                  <a:noFill/>
                </a:ln>
                <a:solidFill>
                  <a:prstClr val="black"/>
                </a:solidFill>
                <a:effectLst/>
                <a:uLnTx/>
                <a:uFillTx/>
                <a:latin typeface="Calibri"/>
                <a:ea typeface="+mn-ea"/>
                <a:cs typeface="Calibri"/>
              </a:rPr>
              <a:t>WHY(</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作業目</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的</a:t>
            </a:r>
            <a:r>
              <a:rPr kumimoji="0" lang="en-US" altLang="ja-JP" sz="2200" b="1" i="0" u="none" strike="noStrike" kern="1200" cap="none" spc="-10" normalizeH="0" baseline="0" noProof="0" dirty="0">
                <a:ln>
                  <a:noFill/>
                </a:ln>
                <a:solidFill>
                  <a:prstClr val="black"/>
                </a:solidFill>
                <a:effectLst/>
                <a:uLnTx/>
                <a:uFillTx/>
                <a:latin typeface="Calibri"/>
                <a:ea typeface="+mn-ea"/>
                <a:cs typeface="Calibri"/>
              </a:rPr>
              <a:t>)</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を最</a:t>
            </a:r>
            <a:r>
              <a:rPr kumimoji="0" lang="ja-JP" altLang="en-US" sz="2200" b="1" i="0" u="none" strike="noStrike" kern="1200" cap="none" spc="-15" normalizeH="0" baseline="0" noProof="0" dirty="0">
                <a:ln>
                  <a:noFill/>
                </a:ln>
                <a:solidFill>
                  <a:prstClr val="black"/>
                </a:solidFill>
                <a:effectLst/>
                <a:uLnTx/>
                <a:uFillTx/>
                <a:latin typeface="Yu Gothic"/>
                <a:ea typeface="+mn-ea"/>
                <a:cs typeface="Yu Gothic"/>
              </a:rPr>
              <a:t>初</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に明</a:t>
            </a:r>
            <a:r>
              <a:rPr kumimoji="0" lang="ja-JP" altLang="en-US" sz="2200" b="1" i="0" u="none" strike="noStrike" kern="1200" cap="none" spc="-15" normalizeH="0" baseline="0" noProof="0" dirty="0">
                <a:ln>
                  <a:noFill/>
                </a:ln>
                <a:solidFill>
                  <a:prstClr val="black"/>
                </a:solidFill>
                <a:effectLst/>
                <a:uLnTx/>
                <a:uFillTx/>
                <a:latin typeface="Yu Gothic"/>
                <a:ea typeface="+mn-ea"/>
                <a:cs typeface="Yu Gothic"/>
              </a:rPr>
              <a:t>確</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に</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することは</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非</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常に重要で</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あ</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290830" lvl="0" indent="0" algn="just" defTabSz="914400" rtl="0" eaLnBrk="1" fontAlgn="auto" latinLnBrk="0" hangingPunct="1">
              <a:lnSpc>
                <a:spcPts val="2380"/>
              </a:lnSpc>
              <a:spcBef>
                <a:spcPts val="535"/>
              </a:spcBef>
              <a:spcAft>
                <a:spcPts val="0"/>
              </a:spcAft>
              <a:buClrTx/>
              <a:buSzTx/>
              <a:buFontTx/>
              <a:buNone/>
              <a:tabLst/>
              <a:defRPr/>
            </a:pP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文書がないことで何をどう困って</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い</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て、</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そ</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れを</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解</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決す</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る</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とど</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ん</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なメ</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リ</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ット</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が</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ある のか、</a:t>
            </a: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継続的品質担保責任の発生</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を</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考慮</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す</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ると</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そ</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もそ</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も</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ドキ</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ュ</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メン</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テ</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ーシ</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ョ</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ンが 最適な手段なのかを検討する必要</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が</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ある。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just" defTabSz="914400" rtl="0" eaLnBrk="1" fontAlgn="auto" latinLnBrk="0" hangingPunct="1">
              <a:lnSpc>
                <a:spcPct val="100000"/>
              </a:lnSpc>
              <a:spcBef>
                <a:spcPts val="200"/>
              </a:spcBef>
              <a:spcAft>
                <a:spcPts val="0"/>
              </a:spcAft>
              <a:buClrTx/>
              <a:buSzTx/>
              <a:buFontTx/>
              <a:buNone/>
              <a:tabLst/>
              <a:defRPr/>
            </a:pP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ドキュメンテーションの必要性は</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以下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の</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2</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つの質問を自問自答すると分か</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l" defTabSz="914400" rtl="0" eaLnBrk="1" fontAlgn="auto" latinLnBrk="0" hangingPunct="1">
              <a:lnSpc>
                <a:spcPct val="100000"/>
              </a:lnSpc>
              <a:spcBef>
                <a:spcPts val="80"/>
              </a:spcBef>
              <a:spcAft>
                <a:spcPts val="0"/>
              </a:spcAft>
              <a:buClrTx/>
              <a:buSzTx/>
              <a:buFontTx/>
              <a:buNone/>
              <a:tabLst/>
              <a:defRPr/>
            </a:pPr>
            <a:endParaRPr kumimoji="0" lang="ja-JP" altLang="en-US" sz="16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0"/>
              </a:spcBef>
              <a:spcAft>
                <a:spcPts val="0"/>
              </a:spcAft>
              <a:buClrTx/>
              <a:buSzTx/>
              <a:buFont typeface="Calibri"/>
              <a:buAutoNum type="arabicPeriod"/>
              <a:tabLst>
                <a:tab pos="374015" algn="l"/>
                <a:tab pos="37465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今この瞬間に自分が事故や病気で</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死</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んだ</a:t>
            </a:r>
            <a:r>
              <a:rPr kumimoji="0" lang="ja-JP" altLang="en-US" sz="2200" b="0" i="0" u="none" strike="noStrike" kern="1200" cap="none" spc="15" normalizeH="0" baseline="0" noProof="0" dirty="0">
                <a:ln>
                  <a:noFill/>
                </a:ln>
                <a:solidFill>
                  <a:prstClr val="black"/>
                </a:solidFill>
                <a:effectLst/>
                <a:uLnTx/>
                <a:uFillTx/>
                <a:latin typeface="Yu Gothic"/>
                <a:ea typeface="+mn-ea"/>
                <a:cs typeface="Yu Gothic"/>
              </a:rPr>
              <a:t>ら</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困る</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ス</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テー</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ク</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ホル</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ダ</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ーが</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い</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る</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240"/>
              </a:spcBef>
              <a:spcAft>
                <a:spcPts val="0"/>
              </a:spcAft>
              <a:buClrTx/>
              <a:buSzTx/>
              <a:buFont typeface="Calibri"/>
              <a:buAutoNum type="arabicPeriod"/>
              <a:tabLst>
                <a:tab pos="374015" algn="l"/>
                <a:tab pos="37465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今この瞬間に特定のステークホル</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ダ</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ーが</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故や</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病</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気で</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死</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んだ</a:t>
            </a:r>
            <a:r>
              <a:rPr kumimoji="0" lang="ja-JP" altLang="en-US" sz="2200" b="0" i="0" u="none" strike="noStrike" kern="1200" cap="none" spc="25" normalizeH="0" baseline="0" noProof="0" dirty="0">
                <a:ln>
                  <a:noFill/>
                </a:ln>
                <a:solidFill>
                  <a:prstClr val="black"/>
                </a:solidFill>
                <a:effectLst/>
                <a:uLnTx/>
                <a:uFillTx/>
                <a:latin typeface="Yu Gothic"/>
                <a:ea typeface="+mn-ea"/>
                <a:cs typeface="Yu Gothic"/>
              </a:rPr>
              <a:t>ら</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自分</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が</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困る</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0" marR="0" lvl="0" indent="0" algn="l" defTabSz="914400" rtl="0" eaLnBrk="1" fontAlgn="auto" latinLnBrk="0" hangingPunct="1">
              <a:lnSpc>
                <a:spcPct val="100000"/>
              </a:lnSpc>
              <a:spcBef>
                <a:spcPts val="85"/>
              </a:spcBef>
              <a:spcAft>
                <a:spcPts val="0"/>
              </a:spcAft>
              <a:buClrTx/>
              <a:buSzTx/>
              <a:buFontTx/>
              <a:buNone/>
              <a:tabLst/>
              <a:defRPr/>
            </a:pPr>
            <a:endParaRPr kumimoji="0" lang="ja-JP" altLang="en-US" sz="16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いずれ</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かの</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答えが</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是で</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あれば</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「ド</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キュメ</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ンテ</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ーショ</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ンの</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必要有</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り」</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と判定</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出来</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240"/>
              </a:spcBef>
              <a:spcAft>
                <a:spcPts val="0"/>
              </a:spcAft>
              <a:buClrTx/>
              <a:buSzTx/>
              <a:buFontTx/>
              <a:buNone/>
              <a:tabLst/>
              <a:defRPr/>
            </a:pPr>
            <a:r>
              <a:rPr kumimoji="0" lang="en-US" altLang="ja-JP" sz="2200" b="0" i="0" u="none" strike="noStrike" kern="1200" cap="none" spc="-15" normalizeH="0" baseline="0" noProof="0" dirty="0">
                <a:ln>
                  <a:noFill/>
                </a:ln>
                <a:solidFill>
                  <a:prstClr val="black"/>
                </a:solidFill>
                <a:effectLst/>
                <a:uLnTx/>
                <a:uFillTx/>
                <a:latin typeface="Calibri"/>
                <a:ea typeface="+mn-ea"/>
                <a:cs typeface="Calibri"/>
              </a:rPr>
              <a:t>(</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残りの</a:t>
            </a:r>
            <a:r>
              <a:rPr kumimoji="0" lang="ja-JP" altLang="en-US" sz="2200" b="0" i="0" u="none" strike="noStrike" kern="1200" cap="none" spc="-125"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4H1W</a:t>
            </a:r>
            <a:r>
              <a:rPr kumimoji="0" lang="ja-JP" altLang="en-US" sz="2200" b="0" i="0" u="none" strike="noStrike" kern="1200" cap="none" spc="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は手順</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2</a:t>
            </a:r>
            <a:r>
              <a:rPr kumimoji="0" lang="ja-JP" altLang="en-US" sz="2200" b="0" i="0" u="none" strike="noStrike" kern="1200" cap="none" spc="5" normalizeH="0" baseline="0" noProof="0" dirty="0">
                <a:ln>
                  <a:noFill/>
                </a:ln>
                <a:solidFill>
                  <a:prstClr val="black"/>
                </a:solidFill>
                <a:effectLst/>
                <a:uLnTx/>
                <a:uFillTx/>
                <a:latin typeface="Calibri"/>
                <a:ea typeface="+mn-ea"/>
                <a:cs typeface="Calibri"/>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- 10</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で説明するので、このまま読み進め</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て</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頂き</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た</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い</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a:t>
            </a:r>
            <a:endParaRPr kumimoji="0" lang="ja-JP" altLang="en-US" sz="22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2089718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②</a:t>
            </a:r>
            <a:r>
              <a:rPr kumimoji="0" lang="ja-JP" altLang="en-US" sz="2800" b="1" i="0" u="none" strike="noStrike" kern="1200" cap="none" spc="-185" normalizeH="0" baseline="0" noProof="0" dirty="0">
                <a:ln>
                  <a:noFill/>
                </a:ln>
                <a:solidFill>
                  <a:prstClr val="black"/>
                </a:solidFill>
                <a:effectLst/>
                <a:uLnTx/>
                <a:uFillTx/>
                <a:latin typeface="Yu Gothic"/>
                <a:ea typeface="+mn-ea"/>
                <a:cs typeface="Yu Gothic"/>
              </a:rPr>
              <a:t> </a:t>
            </a:r>
            <a:r>
              <a:rPr kumimoji="0" lang="en-US" altLang="ja-JP" sz="2800" b="1" i="0" u="none" strike="noStrike" kern="1200" cap="none" spc="-10" normalizeH="0" baseline="0" noProof="0" dirty="0">
                <a:ln>
                  <a:noFill/>
                </a:ln>
                <a:solidFill>
                  <a:prstClr val="black"/>
                </a:solidFill>
                <a:effectLst/>
                <a:uLnTx/>
                <a:uFillTx/>
                <a:latin typeface="Calibri"/>
                <a:ea typeface="+mn-ea"/>
                <a:cs typeface="Calibri"/>
              </a:rPr>
              <a:t>Ownership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とステークホルダーの明確化</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81280" lvl="0" indent="0" algn="l" defTabSz="914400" rtl="0" eaLnBrk="1" fontAlgn="auto" latinLnBrk="0" hangingPunct="1">
              <a:lnSpc>
                <a:spcPts val="2590"/>
              </a:lnSpc>
              <a:spcBef>
                <a:spcPts val="575"/>
              </a:spcBef>
              <a:spcAft>
                <a:spcPts val="0"/>
              </a:spcAft>
              <a:buClrTx/>
              <a:buSzTx/>
              <a:buFontTx/>
              <a:buNone/>
              <a:tabLst/>
              <a:defRPr/>
            </a:pPr>
            <a:r>
              <a:rPr kumimoji="0" lang="en-US" altLang="ja-JP" sz="2400" b="1" i="0" u="none" strike="noStrike" kern="1200" cap="none" spc="-10" normalizeH="0" baseline="0" noProof="0" dirty="0">
                <a:ln>
                  <a:noFill/>
                </a:ln>
                <a:solidFill>
                  <a:prstClr val="black"/>
                </a:solidFill>
                <a:effectLst/>
                <a:uLnTx/>
                <a:uFillTx/>
                <a:latin typeface="Calibri"/>
                <a:ea typeface="+mn-ea"/>
                <a:cs typeface="Calibri"/>
              </a:rPr>
              <a:t>Ownership</a:t>
            </a:r>
            <a:r>
              <a:rPr kumimoji="0" lang="ja-JP" altLang="en-US" sz="2400" b="1" i="0" u="none" strike="noStrike" kern="1200" cap="none" spc="-55" normalizeH="0" baseline="0" noProof="0" dirty="0">
                <a:ln>
                  <a:noFill/>
                </a:ln>
                <a:solidFill>
                  <a:prstClr val="black"/>
                </a:solidFill>
                <a:effectLst/>
                <a:uLnTx/>
                <a:uFillTx/>
                <a:latin typeface="Calibri"/>
                <a:ea typeface="+mn-ea"/>
                <a:cs typeface="Calibri"/>
              </a:rPr>
              <a:t>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はドキュメンテーションのワークフローにおいて</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a:t>
            </a: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設計</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執筆</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 </a:t>
            </a: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5"/>
              </a:rPr>
              <a:t>レビュー</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・公開を管理する責任の所在が誰に、もしくはどのチームにある かを指す。</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310515" lvl="0" indent="0" algn="l" defTabSz="914400" rtl="0" eaLnBrk="1" fontAlgn="auto" latinLnBrk="0" hangingPunct="1">
              <a:lnSpc>
                <a:spcPts val="2590"/>
              </a:lnSpc>
              <a:spcBef>
                <a:spcPts val="49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これを曖昧にするとたちまち文書は放置され、あっという間</a:t>
            </a:r>
            <a:r>
              <a:rPr kumimoji="0" lang="ja-JP" altLang="en-US" sz="2400" b="0" i="0" u="none" strike="noStrike" kern="1200" cap="none" spc="10" normalizeH="0" baseline="0" noProof="0" dirty="0">
                <a:ln>
                  <a:noFill/>
                </a:ln>
                <a:solidFill>
                  <a:prstClr val="black"/>
                </a:solidFill>
                <a:effectLst/>
                <a:uLnTx/>
                <a:uFillTx/>
                <a:latin typeface="Yu Gothic"/>
                <a:ea typeface="+mn-ea"/>
                <a:cs typeface="Yu Gothic"/>
              </a:rPr>
              <a:t>に</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継続的品質</a:t>
            </a:r>
            <a:r>
              <a:rPr kumimoji="0" lang="ja-JP" altLang="en-US" sz="2400" b="0" i="0" u="heavy" strike="noStrike" kern="1200" cap="none" spc="-2445" normalizeH="0" baseline="0" noProof="0" dirty="0">
                <a:ln>
                  <a:noFill/>
                </a:ln>
                <a:solidFill>
                  <a:srgbClr val="0462C1"/>
                </a:solidFill>
                <a:effectLst/>
                <a:uLnTx/>
                <a:uFill>
                  <a:solidFill>
                    <a:srgbClr val="0462C1"/>
                  </a:solidFill>
                </a:uFill>
                <a:latin typeface="Yu Gothic"/>
                <a:ea typeface="+mn-ea"/>
                <a:cs typeface="Yu Gothic"/>
                <a:hlinkClick r:id="rId6"/>
              </a:rPr>
              <a:t>担 </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保責任</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が反故にされてしまうので、最初期に明確にする必要がある。</a:t>
            </a:r>
          </a:p>
          <a:p>
            <a:pPr marL="0" marR="0" lvl="0" indent="0" algn="l" defTabSz="914400" rtl="0" eaLnBrk="1" fontAlgn="auto" latinLnBrk="0" hangingPunct="1">
              <a:lnSpc>
                <a:spcPct val="100000"/>
              </a:lnSpc>
              <a:spcBef>
                <a:spcPts val="10"/>
              </a:spcBef>
              <a:spcAft>
                <a:spcPts val="0"/>
              </a:spcAft>
              <a:buClrTx/>
              <a:buSzTx/>
              <a:buFontTx/>
              <a:buNone/>
              <a:tabLst/>
              <a:defRPr/>
            </a:pPr>
            <a:endParaRPr kumimoji="0" lang="ja-JP" altLang="en-US" sz="175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ct val="9860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ステークホルダーは、ここで</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は</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文書の読み手や情報源となる関係</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者</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を指す。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これを明確にすることは</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400" b="1"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7"/>
              </a:rPr>
              <a:t>想定読者層</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と</a:t>
            </a:r>
            <a:r>
              <a:rPr kumimoji="0" lang="ja-JP" altLang="en-US" sz="2400" b="1"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8"/>
              </a:rPr>
              <a:t>公開範囲</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の設定してそれを把握す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 るために必要である。</a:t>
            </a:r>
          </a:p>
        </p:txBody>
      </p:sp>
    </p:spTree>
    <p:extLst>
      <p:ext uri="{BB962C8B-B14F-4D97-AF65-F5344CB8AC3E}">
        <p14:creationId xmlns:p14="http://schemas.microsoft.com/office/powerpoint/2010/main" val="1839618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②</a:t>
            </a:r>
            <a:r>
              <a:rPr kumimoji="0" lang="ja-JP" altLang="en-US" sz="2800" b="1" i="0" u="none" strike="noStrike" kern="1200" cap="none" spc="-185" normalizeH="0" baseline="0" noProof="0" dirty="0">
                <a:ln>
                  <a:noFill/>
                </a:ln>
                <a:solidFill>
                  <a:prstClr val="black"/>
                </a:solidFill>
                <a:effectLst/>
                <a:uLnTx/>
                <a:uFillTx/>
                <a:latin typeface="Yu Gothic"/>
                <a:ea typeface="+mn-ea"/>
                <a:cs typeface="Yu Gothic"/>
              </a:rPr>
              <a:t> </a:t>
            </a:r>
            <a:r>
              <a:rPr kumimoji="0" lang="en-US" altLang="ja-JP" sz="2800" b="1" i="0" u="none" strike="noStrike" kern="1200" cap="none" spc="-10" normalizeH="0" baseline="0" noProof="0" dirty="0">
                <a:ln>
                  <a:noFill/>
                </a:ln>
                <a:solidFill>
                  <a:prstClr val="black"/>
                </a:solidFill>
                <a:effectLst/>
                <a:uLnTx/>
                <a:uFillTx/>
                <a:latin typeface="Calibri"/>
                <a:ea typeface="+mn-ea"/>
                <a:cs typeface="Calibri"/>
              </a:rPr>
              <a:t>Ownership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とステークホルダーの明確化</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74930" lvl="0" indent="0" algn="l" defTabSz="914400" rtl="0" eaLnBrk="1" fontAlgn="auto" latinLnBrk="0" hangingPunct="1">
              <a:lnSpc>
                <a:spcPts val="2590"/>
              </a:lnSpc>
              <a:spcBef>
                <a:spcPts val="57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私が所属する部署では</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Ownership</a:t>
            </a:r>
            <a:r>
              <a:rPr kumimoji="0" lang="ja-JP" altLang="en-US" sz="2400" b="0" i="0" u="none" strike="noStrike" kern="1200" cap="none" spc="-8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はチームドキュメントの場合はチーム単 位で持つ。</a:t>
            </a:r>
          </a:p>
          <a:p>
            <a:pPr marL="12700" marR="5080" lvl="0" indent="0" algn="l" defTabSz="914400" rtl="0" eaLnBrk="1" fontAlgn="auto" latinLnBrk="0" hangingPunct="1">
              <a:lnSpc>
                <a:spcPts val="2590"/>
              </a:lnSpc>
              <a:spcBef>
                <a:spcPts val="49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一方、年次メンテナンスなど輪番制のプロジェクトでは明確な</a:t>
            </a:r>
            <a:r>
              <a:rPr kumimoji="0" lang="ja-JP" altLang="en-US" sz="2400" b="0" i="0" u="none" strike="noStrike" kern="1200" cap="none" spc="-135"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Owne</a:t>
            </a:r>
            <a:r>
              <a:rPr kumimoji="0" lang="en-US" altLang="ja-JP" sz="2400" b="0" i="0" u="none" strike="noStrike" kern="1200" cap="none" spc="-35" normalizeH="0" baseline="0" noProof="0" dirty="0">
                <a:ln>
                  <a:noFill/>
                </a:ln>
                <a:solidFill>
                  <a:prstClr val="black"/>
                </a:solidFill>
                <a:effectLst/>
                <a:uLnTx/>
                <a:uFillTx/>
                <a:latin typeface="Calibri"/>
                <a:ea typeface="+mn-ea"/>
                <a:cs typeface="Calibri"/>
              </a:rPr>
              <a:t>r</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shi</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p</a:t>
            </a:r>
            <a:r>
              <a:rPr kumimoji="0" lang="ja-JP" altLang="en-US" sz="2400" b="0" i="0" u="none" strike="noStrike" kern="1200" cap="none" spc="-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が 存在しないので、その年の担当者が持つことになる。</a:t>
            </a:r>
          </a:p>
          <a:p>
            <a:pPr marL="12700" marR="173355" lvl="0" indent="0" algn="l" defTabSz="914400" rtl="0" eaLnBrk="1" fontAlgn="auto" latinLnBrk="0" hangingPunct="1">
              <a:lnSpc>
                <a:spcPts val="2590"/>
              </a:lnSpc>
              <a:spcBef>
                <a:spcPts val="509"/>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それが原因で長年ドキュメントが存在しなかったので、自ら</a:t>
            </a:r>
            <a:r>
              <a:rPr kumimoji="0" lang="ja-JP" altLang="en-US" sz="2400" b="0" i="0" u="none" strike="noStrike" kern="1200" cap="none" spc="-155"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Ownership</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 持って決定版文書を作成し</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た</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属人性排除タスクそれ自体の属人</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性</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に大いに 悩まされたが</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a:p>
            <a:pPr marL="12700" marR="0" lvl="0" indent="0" algn="l" defTabSz="914400" rtl="0" eaLnBrk="1" fontAlgn="auto" latinLnBrk="0" hangingPunct="1">
              <a:lnSpc>
                <a:spcPts val="2740"/>
              </a:lnSpc>
              <a:spcBef>
                <a:spcPts val="180"/>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どうして</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も</a:t>
            </a:r>
            <a:r>
              <a:rPr kumimoji="0" lang="ja-JP" altLang="en-US" sz="2400" b="0" i="0" u="none" strike="noStrike" kern="1200" cap="none" spc="-150"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10" normalizeH="0" baseline="0" noProof="0" dirty="0">
                <a:ln>
                  <a:noFill/>
                </a:ln>
                <a:solidFill>
                  <a:prstClr val="black"/>
                </a:solidFill>
                <a:effectLst/>
                <a:uLnTx/>
                <a:uFillTx/>
                <a:latin typeface="Calibri"/>
                <a:ea typeface="+mn-ea"/>
                <a:cs typeface="Calibri"/>
              </a:rPr>
              <a:t>Ownership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が明確にならない場合は、</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話を理解してくれること</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4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を願いながら</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上長に相談し方針を一緒に考えて頂くと良いだろう。</a:t>
            </a:r>
          </a:p>
        </p:txBody>
      </p:sp>
    </p:spTree>
    <p:extLst>
      <p:ext uri="{BB962C8B-B14F-4D97-AF65-F5344CB8AC3E}">
        <p14:creationId xmlns:p14="http://schemas.microsoft.com/office/powerpoint/2010/main" val="26127728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③</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文書の置き場と公開場所の検討</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ドキュメンテーションで恐らく一番最初に直面するのが「どこに書こ</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55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う？」問題である。</a:t>
            </a:r>
          </a:p>
          <a:p>
            <a:pPr marL="12700" marR="5080" lvl="0" indent="0" algn="l" defTabSz="914400" rtl="0" eaLnBrk="1" fontAlgn="auto" latinLnBrk="0" hangingPunct="1">
              <a:lnSpc>
                <a:spcPts val="2300"/>
              </a:lnSpc>
              <a:spcBef>
                <a:spcPts val="51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以下のトレードオフを考慮しつつ、ドキュメントツールごとの長所・短所 を比較・検討の上決定する。</a:t>
            </a: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145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Tx/>
              <a:buSzTx/>
              <a:buFont typeface="Arial MT"/>
              <a:buChar char="•"/>
              <a:tabLst>
                <a:tab pos="282575" algn="l"/>
                <a:tab pos="283210" algn="l"/>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参照コス</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ト</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11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文書を読む上でハードルがないか？</a:t>
            </a:r>
          </a:p>
          <a:p>
            <a:pPr marL="728980" marR="0" lvl="1" indent="-259715" algn="l" defTabSz="914400" rtl="0" eaLnBrk="1" fontAlgn="auto" latinLnBrk="0" hangingPunct="1">
              <a:lnSpc>
                <a:spcPct val="100000"/>
              </a:lnSpc>
              <a:spcBef>
                <a:spcPts val="30"/>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検索性が低かったり見</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辛</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かっ</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た</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り</a:t>
            </a:r>
            <a:r>
              <a:rPr kumimoji="0" lang="ja-JP" altLang="en-US" sz="2000" b="0" i="0" u="none" strike="noStrike" kern="1200" cap="none" spc="-140" normalizeH="0" baseline="0" noProof="0" dirty="0">
                <a:ln>
                  <a:noFill/>
                </a:ln>
                <a:solidFill>
                  <a:prstClr val="black"/>
                </a:solidFill>
                <a:effectLst/>
                <a:uLnTx/>
                <a:uFillTx/>
                <a:latin typeface="Yu Gothic"/>
                <a:ea typeface="+mn-ea"/>
                <a:cs typeface="Yu Gothic"/>
              </a:rPr>
              <a:t> </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VPN</a:t>
            </a:r>
            <a:r>
              <a:rPr kumimoji="0" lang="ja-JP" altLang="en-US" sz="2000" b="0" i="0" u="none" strike="noStrike" kern="1200" cap="none" spc="5"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に繋がなければ見れ</a:t>
            </a:r>
            <a:r>
              <a:rPr kumimoji="0" lang="ja-JP" altLang="en-US" sz="2000" b="0" i="0" u="none" strike="noStrike" kern="1200" cap="none" spc="-10" normalizeH="0" baseline="0" noProof="0" dirty="0">
                <a:ln>
                  <a:noFill/>
                </a:ln>
                <a:solidFill>
                  <a:prstClr val="black"/>
                </a:solidFill>
                <a:effectLst/>
                <a:uLnTx/>
                <a:uFillTx/>
                <a:latin typeface="Yu Gothic"/>
                <a:ea typeface="+mn-ea"/>
                <a:cs typeface="Yu Gothic"/>
              </a:rPr>
              <a:t>な</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いなど</a:t>
            </a:r>
          </a:p>
          <a:p>
            <a:pPr marL="728980" marR="0" lvl="1" indent="-259715" algn="l" defTabSz="914400" rtl="0" eaLnBrk="1" fontAlgn="auto" latinLnBrk="0" hangingPunct="1">
              <a:lnSpc>
                <a:spcPts val="2355"/>
              </a:lnSpc>
              <a:spcBef>
                <a:spcPts val="25"/>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参照する行為にストレ</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ス</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を感</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じ</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ると</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せ</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っか</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く</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書い</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た</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文書</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も</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読ま</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れ</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なく</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な</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る</a:t>
            </a:r>
          </a:p>
          <a:p>
            <a:pPr marL="282575" marR="0" lvl="0" indent="-270510" algn="l" defTabSz="914400" rtl="0" eaLnBrk="1" fontAlgn="auto" latinLnBrk="0" hangingPunct="1">
              <a:lnSpc>
                <a:spcPts val="2835"/>
              </a:lnSpc>
              <a:spcBef>
                <a:spcPts val="0"/>
              </a:spcBef>
              <a:spcAft>
                <a:spcPts val="0"/>
              </a:spcAft>
              <a:buClrTx/>
              <a:buSzTx/>
              <a:buFont typeface="Arial MT"/>
              <a:buChar char="•"/>
              <a:tabLst>
                <a:tab pos="282575" algn="l"/>
                <a:tab pos="283210" algn="l"/>
              </a:tabLst>
              <a:defRPr/>
            </a:pP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編集コスト</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5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文書を更新する上でハードルはないか？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ct val="100000"/>
              </a:lnSpc>
              <a:spcBef>
                <a:spcPts val="30"/>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管理・運用しやすいフ</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ォ</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ーマ</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ッ</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ト</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(e.g.,</a:t>
            </a:r>
            <a:r>
              <a:rPr kumimoji="0" lang="ja-JP" altLang="en-US" sz="2000" b="0" i="0" u="none" strike="noStrike" kern="1200" cap="none" spc="-40"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HTML,</a:t>
            </a:r>
            <a:r>
              <a:rPr kumimoji="0" lang="ja-JP" altLang="en-US" sz="2000" b="0" i="0" u="none" strike="noStrike" kern="1200" cap="none" spc="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Markdown,</a:t>
            </a:r>
            <a:r>
              <a:rPr kumimoji="0" lang="ja-JP" altLang="en-US" sz="2000" b="0" i="0" u="none" strike="noStrike" kern="1200" cap="none" spc="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WYSIWYG)</a:t>
            </a:r>
            <a:endParaRPr kumimoji="0" lang="ja-JP" altLang="en-US" sz="2000" b="0" i="0" u="none" strike="noStrike" kern="1200" cap="none" spc="0" normalizeH="0" baseline="0" noProof="0" dirty="0">
              <a:ln>
                <a:noFill/>
              </a:ln>
              <a:solidFill>
                <a:prstClr val="black"/>
              </a:solidFill>
              <a:effectLst/>
              <a:uLnTx/>
              <a:uFillTx/>
              <a:latin typeface="Calibri"/>
              <a:ea typeface="+mn-ea"/>
              <a:cs typeface="Calibri"/>
            </a:endParaRPr>
          </a:p>
          <a:p>
            <a:pPr marL="728980" marR="0" lvl="1" indent="-259715" algn="l" defTabSz="914400" rtl="0" eaLnBrk="1" fontAlgn="auto" latinLnBrk="0" hangingPunct="1">
              <a:lnSpc>
                <a:spcPct val="100000"/>
              </a:lnSpc>
              <a:spcBef>
                <a:spcPts val="25"/>
              </a:spcBef>
              <a:spcAft>
                <a:spcPts val="0"/>
              </a:spcAft>
              <a:buClrTx/>
              <a:buSzTx/>
              <a:buFont typeface="Arial MT"/>
              <a:buChar char="•"/>
              <a:tabLst>
                <a:tab pos="728980" algn="l"/>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精密さを要求される情</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報</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の更</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新</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は</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レ</a:t>
            </a:r>
            <a:r>
              <a:rPr kumimoji="0" lang="ja-JP" altLang="en-US" sz="20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3"/>
              </a:rPr>
              <a:t>ビ</a:t>
            </a:r>
            <a:r>
              <a:rPr kumimoji="0" lang="ja-JP" altLang="en-US" sz="20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ュー</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を</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必須</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と</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し、</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一</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定の</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不便</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さ</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」は</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残</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す</a:t>
            </a:r>
          </a:p>
        </p:txBody>
      </p:sp>
    </p:spTree>
    <p:extLst>
      <p:ext uri="{BB962C8B-B14F-4D97-AF65-F5344CB8AC3E}">
        <p14:creationId xmlns:p14="http://schemas.microsoft.com/office/powerpoint/2010/main" val="14664316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lnSpcReduction="10000"/>
          </a:bodyPr>
          <a:lstStyle/>
          <a:p>
            <a:pPr marL="12700" marR="0" lvl="0" indent="0" algn="l" defTabSz="914400" rtl="0" eaLnBrk="1" fontAlgn="auto" latinLnBrk="0" hangingPunct="1">
              <a:lnSpc>
                <a:spcPts val="2970"/>
              </a:lnSpc>
              <a:spcBef>
                <a:spcPts val="105"/>
              </a:spcBef>
              <a:spcAft>
                <a:spcPts val="0"/>
              </a:spcAft>
              <a:buClrTx/>
              <a:buSzTx/>
              <a:buFontTx/>
              <a:buNone/>
              <a:tabLst/>
              <a:defRPr/>
            </a:pP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③</a:t>
            </a:r>
            <a:r>
              <a:rPr kumimoji="0" lang="ja-JP" altLang="en-US" sz="2600" b="1" i="0" u="none" strike="noStrike" kern="1200" cap="none" spc="-175" normalizeH="0" baseline="0" noProof="0" dirty="0">
                <a:ln>
                  <a:noFill/>
                </a:ln>
                <a:solidFill>
                  <a:prstClr val="black"/>
                </a:solidFill>
                <a:effectLst/>
                <a:uLnTx/>
                <a:uFillTx/>
                <a:latin typeface="Yu Gothic"/>
                <a:ea typeface="+mn-ea"/>
                <a:cs typeface="Yu Gothic"/>
              </a:rPr>
              <a:t> </a:t>
            </a: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文書の置き場と公開</a:t>
            </a:r>
            <a:r>
              <a:rPr kumimoji="0" lang="ja-JP" altLang="en-US" sz="2600" b="1" i="0" u="none" strike="noStrike" kern="1200" cap="none" spc="-15" normalizeH="0" baseline="0" noProof="0" dirty="0">
                <a:ln>
                  <a:noFill/>
                </a:ln>
                <a:solidFill>
                  <a:prstClr val="black"/>
                </a:solidFill>
                <a:effectLst/>
                <a:uLnTx/>
                <a:uFillTx/>
                <a:latin typeface="Yu Gothic"/>
                <a:ea typeface="+mn-ea"/>
                <a:cs typeface="Yu Gothic"/>
              </a:rPr>
              <a:t>場</a:t>
            </a: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所の</a:t>
            </a:r>
            <a:r>
              <a:rPr kumimoji="0" lang="ja-JP" altLang="en-US" sz="2600" b="1" i="0" u="none" strike="noStrike" kern="1200" cap="none" spc="-15" normalizeH="0" baseline="0" noProof="0" dirty="0">
                <a:ln>
                  <a:noFill/>
                </a:ln>
                <a:solidFill>
                  <a:prstClr val="black"/>
                </a:solidFill>
                <a:effectLst/>
                <a:uLnTx/>
                <a:uFillTx/>
                <a:latin typeface="Yu Gothic"/>
                <a:ea typeface="+mn-ea"/>
                <a:cs typeface="Yu Gothic"/>
              </a:rPr>
              <a:t>検</a:t>
            </a: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討</a:t>
            </a:r>
            <a:endParaRPr kumimoji="0" lang="ja-JP" altLang="en-US" sz="26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ct val="70100"/>
              </a:lnSpc>
              <a:spcBef>
                <a:spcPts val="640"/>
              </a:spcBef>
              <a:spcAft>
                <a:spcPts val="0"/>
              </a:spcAft>
              <a:buClrTx/>
              <a:buSzTx/>
              <a:buFontTx/>
              <a:buNone/>
              <a:tabLst/>
              <a:defRPr/>
            </a:pP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前頁のトレードオフを鑑みて、私</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が</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所属</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す</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るチ</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ー</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ムで</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は</a:t>
            </a:r>
            <a:r>
              <a:rPr kumimoji="0" lang="ja-JP" altLang="en-US" sz="2200" b="0" i="0" u="none" strike="noStrike" kern="1200" cap="none" spc="-50" normalizeH="0" baseline="0" noProof="0" dirty="0">
                <a:ln>
                  <a:noFill/>
                </a:ln>
                <a:solidFill>
                  <a:prstClr val="black"/>
                </a:solidFill>
                <a:effectLst/>
                <a:uLnTx/>
                <a:uFillTx/>
                <a:latin typeface="Yu Gothic"/>
                <a:ea typeface="+mn-ea"/>
                <a:cs typeface="Yu Gothic"/>
              </a:rPr>
              <a:t> </a:t>
            </a:r>
            <a:r>
              <a:rPr kumimoji="0" lang="en-US" altLang="ja-JP" sz="22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Honkit</a:t>
            </a:r>
            <a:r>
              <a:rPr kumimoji="0" lang="ja-JP" altLang="en-US" sz="2200" b="0" i="0" u="none" strike="noStrike" kern="1200" cap="none" spc="5" normalizeH="0" baseline="0" noProof="0" dirty="0">
                <a:ln>
                  <a:noFill/>
                </a:ln>
                <a:solidFill>
                  <a:srgbClr val="0462C1"/>
                </a:solidFill>
                <a:effectLst/>
                <a:uLnTx/>
                <a:uFillTx/>
                <a:latin typeface="Calibri"/>
                <a:ea typeface="+mn-ea"/>
                <a:cs typeface="Calibri"/>
                <a:hlinkClick r:id="rId3"/>
              </a:rPr>
              <a:t> </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エンジンを使い、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ドキュメントを</a:t>
            </a:r>
            <a:r>
              <a:rPr kumimoji="0" lang="ja-JP" altLang="en-US" sz="2200" b="0" i="0" u="none" strike="noStrike" kern="1200" cap="none" spc="-120"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40" normalizeH="0" baseline="0" noProof="0" dirty="0">
                <a:ln>
                  <a:noFill/>
                </a:ln>
                <a:solidFill>
                  <a:prstClr val="black"/>
                </a:solidFill>
                <a:effectLst/>
                <a:uLnTx/>
                <a:uFillTx/>
                <a:latin typeface="Calibri"/>
                <a:ea typeface="+mn-ea"/>
                <a:cs typeface="Calibri"/>
              </a:rPr>
              <a:t>AWS</a:t>
            </a:r>
            <a:r>
              <a:rPr kumimoji="0" lang="ja-JP" altLang="en-US" sz="2200" b="0" i="0" u="none" strike="noStrike" kern="1200" cap="none" spc="-5" normalizeH="0" baseline="0" noProof="0" dirty="0">
                <a:ln>
                  <a:noFill/>
                </a:ln>
                <a:solidFill>
                  <a:prstClr val="black"/>
                </a:solidFill>
                <a:effectLst/>
                <a:uLnTx/>
                <a:uFillTx/>
                <a:latin typeface="Calibri"/>
                <a:ea typeface="+mn-ea"/>
                <a:cs typeface="Calibri"/>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S3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上に配置して静的ページとしてホス</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テ</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ィン</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グ</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する</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方</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式を採 用している。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50"/>
              </a:lnSpc>
              <a:spcBef>
                <a:spcPts val="0"/>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公開までの手順は以下の</a:t>
            </a:r>
            <a:r>
              <a:rPr kumimoji="0" lang="ja-JP" altLang="en-US" sz="2200" b="0" i="0" u="none" strike="noStrike" kern="1200" cap="none" spc="-130"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3</a:t>
            </a:r>
            <a:r>
              <a:rPr kumimoji="0" lang="ja-JP" altLang="en-US" sz="2200" b="0" i="0" u="none" strike="noStrike" kern="1200" cap="none" spc="-3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つだけである。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ts val="2495"/>
              </a:lnSpc>
              <a:spcBef>
                <a:spcPts val="2050"/>
              </a:spcBef>
              <a:spcAft>
                <a:spcPts val="0"/>
              </a:spcAft>
              <a:buClrTx/>
              <a:buSzTx/>
              <a:buFont typeface="Calibri"/>
              <a:buAutoNum type="arabicPeriod"/>
              <a:tabLst>
                <a:tab pos="374015" algn="l"/>
                <a:tab pos="374650" algn="l"/>
              </a:tabLst>
              <a:defRPr/>
            </a:pP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専用</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の</a:t>
            </a:r>
            <a:r>
              <a:rPr kumimoji="0" lang="ja-JP" altLang="en-US" sz="2200" b="0" i="0" u="none" strike="noStrike" kern="1200" cap="none" spc="-130"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GitHub</a:t>
            </a:r>
            <a:r>
              <a:rPr kumimoji="0" lang="ja-JP" altLang="en-US" sz="2200" b="0" i="0" u="none" strike="noStrike" kern="1200" cap="none" spc="-1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リポジトリ上でトピックブラン</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チ</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を切</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ts val="2355"/>
              </a:lnSpc>
              <a:spcBef>
                <a:spcPts val="0"/>
              </a:spcBef>
              <a:spcAft>
                <a:spcPts val="0"/>
              </a:spcAft>
              <a:buClrTx/>
              <a:buSzTx/>
              <a:buFont typeface="Calibri"/>
              <a:buAutoNum type="arabicPeriod"/>
              <a:tabLst>
                <a:tab pos="374015" algn="l"/>
                <a:tab pos="374650" algn="l"/>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編集内容を</a:t>
            </a:r>
            <a:r>
              <a:rPr kumimoji="0" lang="ja-JP" altLang="en-US" sz="22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4"/>
              </a:rPr>
              <a:t>レビュー</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し、</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main</a:t>
            </a:r>
            <a:r>
              <a:rPr kumimoji="0" lang="ja-JP" altLang="en-US" sz="2200" b="0" i="0" u="none" strike="noStrike" kern="1200" cap="none" spc="-3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ブランチにマージする。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ts val="2495"/>
              </a:lnSpc>
              <a:spcBef>
                <a:spcPts val="0"/>
              </a:spcBef>
              <a:spcAft>
                <a:spcPts val="0"/>
              </a:spcAft>
              <a:buClrTx/>
              <a:buSzTx/>
              <a:buFontTx/>
              <a:buAutoNum type="arabicPeriod"/>
              <a:tabLst>
                <a:tab pos="374015" algn="l"/>
                <a:tab pos="374650" algn="l"/>
              </a:tabLst>
              <a:defRPr/>
            </a:pP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GitHub</a:t>
            </a:r>
            <a:r>
              <a:rPr kumimoji="0" lang="ja-JP" altLang="en-US" sz="2200" b="0" i="0" u="none" strike="noStrike" kern="1200" cap="none" spc="0" normalizeH="0" baseline="0" noProof="0" dirty="0">
                <a:ln>
                  <a:noFill/>
                </a:ln>
                <a:solidFill>
                  <a:prstClr val="black"/>
                </a:solidFill>
                <a:effectLst/>
                <a:uLnTx/>
                <a:uFillTx/>
                <a:latin typeface="Calibri"/>
                <a:ea typeface="+mn-ea"/>
                <a:cs typeface="Calibri"/>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Actions</a:t>
            </a:r>
            <a:r>
              <a:rPr kumimoji="0" lang="ja-JP" altLang="en-US" sz="2200" b="0" i="0" u="none" strike="noStrike" kern="1200" cap="none" spc="-1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495" normalizeH="0" baseline="0" noProof="0" dirty="0">
                <a:ln>
                  <a:noFill/>
                </a:ln>
                <a:solidFill>
                  <a:prstClr val="black"/>
                </a:solidFill>
                <a:effectLst/>
                <a:uLnTx/>
                <a:uFillTx/>
                <a:latin typeface="Yu Gothic"/>
                <a:ea typeface="+mn-ea"/>
                <a:cs typeface="Yu Gothic"/>
              </a:rPr>
              <a:t>が</a:t>
            </a:r>
            <a:r>
              <a:rPr kumimoji="0" lang="en-US" altLang="ja-JP" sz="2200" b="0" i="0" u="none" strike="noStrike" kern="1200" cap="none" spc="-40" normalizeH="0" baseline="0" noProof="0" dirty="0">
                <a:ln>
                  <a:noFill/>
                </a:ln>
                <a:solidFill>
                  <a:prstClr val="black"/>
                </a:solidFill>
                <a:effectLst/>
                <a:uLnTx/>
                <a:uFillTx/>
                <a:latin typeface="Calibri"/>
                <a:ea typeface="+mn-ea"/>
                <a:cs typeface="Calibri"/>
              </a:rPr>
              <a:t>AWS</a:t>
            </a:r>
            <a:r>
              <a:rPr kumimoji="0" lang="ja-JP" altLang="en-US" sz="2200" b="0" i="0" u="none" strike="noStrike" kern="1200" cap="none" spc="0" normalizeH="0" baseline="0" noProof="0" dirty="0">
                <a:ln>
                  <a:noFill/>
                </a:ln>
                <a:solidFill>
                  <a:prstClr val="black"/>
                </a:solidFill>
                <a:effectLst/>
                <a:uLnTx/>
                <a:uFillTx/>
                <a:latin typeface="Calibri"/>
                <a:ea typeface="+mn-ea"/>
                <a:cs typeface="Calibri"/>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S3</a:t>
            </a:r>
            <a:r>
              <a:rPr kumimoji="0" lang="ja-JP" altLang="en-US" sz="2200" b="0" i="0" u="none" strike="noStrike" kern="1200" cap="none" spc="1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上にデプロイを行い自動公開され</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245"/>
              </a:lnSpc>
              <a:spcBef>
                <a:spcPts val="2055"/>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参照コストの観点では</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VPN</a:t>
            </a:r>
            <a:r>
              <a:rPr kumimoji="0" lang="ja-JP" altLang="en-US" sz="2200" b="0" i="0" u="none" strike="noStrike" kern="1200" cap="none" spc="3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接続が不要で文書は</a:t>
            </a:r>
            <a:r>
              <a:rPr kumimoji="0" lang="ja-JP" altLang="en-US" sz="2200" b="0" i="0" u="none" strike="noStrike" kern="1200" cap="none" spc="-110"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Wiki</a:t>
            </a:r>
            <a:r>
              <a:rPr kumimoji="0" lang="ja-JP" altLang="en-US" sz="2200" b="0" i="0" u="none" strike="noStrike" kern="1200" cap="none" spc="-1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形式で構成はサイドメ</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100"/>
              </a:lnSpc>
              <a:spcBef>
                <a:spcPts val="0"/>
              </a:spcBef>
              <a:spcAft>
                <a:spcPts val="0"/>
              </a:spcAft>
              <a:buClrTx/>
              <a:buSzTx/>
              <a:buFontTx/>
              <a:buNone/>
              <a:tabLst/>
              <a:defRPr/>
            </a:pP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ニューにツリー構造で表示される</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た</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め、</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検</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索性</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が</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高く</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見</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やす</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い</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のが</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長</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所だ。</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155575" lvl="0" indent="0" algn="just" defTabSz="914400" rtl="0" eaLnBrk="1" fontAlgn="auto" latinLnBrk="0" hangingPunct="1">
              <a:lnSpc>
                <a:spcPct val="70000"/>
              </a:lnSpc>
              <a:spcBef>
                <a:spcPts val="645"/>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編集コストの観点では</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2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4"/>
              </a:rPr>
              <a:t>レビュー</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必</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須の</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運</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用に</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よ</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って</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編</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集し</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た</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情報</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は</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第三</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者</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の目 を通すことになっているので、情</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報</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の正</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確</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さと</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信</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用性</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も</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担保</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さ</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れて</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い</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るの</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が</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長所 だ。</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666394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④</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文書化対象の情報の洗い出し</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575"/>
              </a:spcBef>
              <a:spcAft>
                <a:spcPts val="0"/>
              </a:spcAft>
              <a:buClrTx/>
              <a:buSzTx/>
              <a:buFontTx/>
              <a:buNone/>
              <a:tabLst/>
              <a:defRPr/>
            </a:pP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5W1H</a:t>
            </a:r>
            <a:r>
              <a:rPr kumimoji="0" lang="ja-JP" altLang="en-US" sz="2400" b="0" i="0" u="heavy" strike="noStrike" kern="1200" cap="none" spc="-9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の明確化</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の話に若干戻るが、情報が明文化されていないことで困って いるからこそドキュメンテーションをしようとしているはずである。</a:t>
            </a:r>
          </a:p>
          <a:p>
            <a:pPr marL="12700" marR="203835" lvl="0" indent="0" algn="l" defTabSz="914400" rtl="0" eaLnBrk="1" fontAlgn="auto" latinLnBrk="0" hangingPunct="1">
              <a:lnSpc>
                <a:spcPts val="2590"/>
              </a:lnSpc>
              <a:spcBef>
                <a:spcPts val="495"/>
              </a:spcBef>
              <a:spcAft>
                <a:spcPts val="0"/>
              </a:spcAft>
              <a:buClrTx/>
              <a:buSzTx/>
              <a:buFontTx/>
              <a:buNone/>
              <a:tabLst/>
              <a:defRPr/>
            </a:pP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SaaS</a:t>
            </a:r>
            <a:r>
              <a:rPr kumimoji="0" lang="ja-JP" altLang="en-US" sz="2400" b="0" i="0" u="none" strike="noStrike" kern="1200" cap="none" spc="-11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の開発に携わっているソフトウェアエンジニアなら、例えば以下のよ うな情報が欲しいはずだ。</a:t>
            </a:r>
          </a:p>
          <a:p>
            <a:pPr marL="0" marR="0" lvl="0" indent="0" algn="l" defTabSz="914400" rtl="0" eaLnBrk="1" fontAlgn="auto" latinLnBrk="0" hangingPunct="1">
              <a:lnSpc>
                <a:spcPct val="100000"/>
              </a:lnSpc>
              <a:spcBef>
                <a:spcPts val="60"/>
              </a:spcBef>
              <a:spcAft>
                <a:spcPts val="0"/>
              </a:spcAft>
              <a:buClrTx/>
              <a:buSzTx/>
              <a:buFontTx/>
              <a:buNone/>
              <a:tabLst/>
              <a:defRPr/>
            </a:pP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インフラ構成図</a:t>
            </a:r>
          </a:p>
          <a:p>
            <a:pPr marL="282575" marR="0" lvl="0" indent="-270510" algn="l" defTabSz="914400" rtl="0" eaLnBrk="1" fontAlgn="auto" latinLnBrk="0" hangingPunct="1">
              <a:lnSpc>
                <a:spcPct val="100000"/>
              </a:lnSpc>
              <a:spcBef>
                <a:spcPts val="204"/>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マイクロサービス間通信シーケンス図</a:t>
            </a:r>
          </a:p>
          <a:p>
            <a:pPr marL="282575" marR="0" lvl="0" indent="-270510" algn="l" defTabSz="914400" rtl="0" eaLnBrk="1" fontAlgn="auto" latinLnBrk="0" hangingPunct="1">
              <a:lnSpc>
                <a:spcPct val="100000"/>
              </a:lnSpc>
              <a:spcBef>
                <a:spcPts val="215"/>
              </a:spcBef>
              <a:spcAft>
                <a:spcPts val="0"/>
              </a:spcAft>
              <a:buClrTx/>
              <a:buSzTx/>
              <a:buFont typeface="Arial MT"/>
              <a:buChar char="•"/>
              <a:tabLst>
                <a:tab pos="282575" algn="l"/>
                <a:tab pos="283210" algn="l"/>
              </a:tabLst>
              <a:defRPr/>
            </a:pP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DB</a:t>
            </a:r>
            <a:r>
              <a:rPr kumimoji="0" lang="ja-JP" altLang="en-US" sz="2400" b="0" i="0" u="none" strike="noStrike" kern="1200" cap="none" spc="-3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のテーブル構成</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と</a:t>
            </a:r>
            <a:r>
              <a:rPr kumimoji="0" lang="ja-JP" altLang="en-US" sz="2400" b="0" i="0" u="none" strike="noStrike" kern="1200" cap="none" spc="-160"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E-R</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図</a:t>
            </a:r>
          </a:p>
          <a:p>
            <a:pPr marL="282575" marR="0" lvl="0" indent="-270510" algn="l" defTabSz="914400" rtl="0" eaLnBrk="1" fontAlgn="auto" latinLnBrk="0" hangingPunct="1">
              <a:lnSpc>
                <a:spcPct val="100000"/>
              </a:lnSpc>
              <a:spcBef>
                <a:spcPts val="220"/>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外部システム連携図</a:t>
            </a:r>
          </a:p>
          <a:p>
            <a:pPr marL="282575" marR="0" lvl="0" indent="-270510" algn="l" defTabSz="914400" rtl="0" eaLnBrk="1" fontAlgn="auto" latinLnBrk="0" hangingPunct="1">
              <a:lnSpc>
                <a:spcPct val="100000"/>
              </a:lnSpc>
              <a:spcBef>
                <a:spcPts val="204"/>
              </a:spcBef>
              <a:spcAft>
                <a:spcPts val="0"/>
              </a:spcAft>
              <a:buClrTx/>
              <a:buSzTx/>
              <a:buFont typeface="Arial MT"/>
              <a:buChar char="•"/>
              <a:tabLst>
                <a:tab pos="282575" algn="l"/>
                <a:tab pos="283210" algn="l"/>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運用・トラブルシューティング</a:t>
            </a:r>
          </a:p>
        </p:txBody>
      </p:sp>
    </p:spTree>
    <p:extLst>
      <p:ext uri="{BB962C8B-B14F-4D97-AF65-F5344CB8AC3E}">
        <p14:creationId xmlns:p14="http://schemas.microsoft.com/office/powerpoint/2010/main" val="30076875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⑤</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文書全体の構成検討</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575"/>
              </a:spcBef>
              <a:spcAft>
                <a:spcPts val="0"/>
              </a:spcAft>
              <a:buClrTx/>
              <a:buSzTx/>
              <a:buFontTx/>
              <a:buNone/>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洗い出した欲しい情</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報</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を粒度や重要度の降順</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大</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525" normalizeH="0" baseline="0" noProof="0" dirty="0">
                <a:ln>
                  <a:noFill/>
                </a:ln>
                <a:solidFill>
                  <a:prstClr val="black"/>
                </a:solidFill>
                <a:effectLst/>
                <a:uLnTx/>
                <a:uFillTx/>
                <a:latin typeface="Yu Gothic"/>
                <a:ea typeface="+mn-ea"/>
                <a:cs typeface="Yu Gothic"/>
              </a:rPr>
              <a:t>高</a:t>
            </a:r>
            <a:r>
              <a:rPr kumimoji="0" lang="ja-JP" altLang="en-US"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100"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小</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低</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で並べ替え、例 えば以下のような節と</a:t>
            </a:r>
            <a:r>
              <a:rPr kumimoji="0" lang="ja-JP" altLang="en-US" sz="2400" b="0" i="0" u="none" strike="noStrike" kern="1200" cap="none" spc="0" normalizeH="0" baseline="0" noProof="0" dirty="0">
                <a:ln>
                  <a:noFill/>
                </a:ln>
                <a:solidFill>
                  <a:prstClr val="black"/>
                </a:solidFill>
                <a:effectLst/>
                <a:uLnTx/>
                <a:uFillTx/>
                <a:latin typeface="+mn-ea"/>
                <a:cs typeface="Yu Gothic"/>
              </a:rPr>
              <a:t>章</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に切り出す。</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374015" marR="0" lvl="0" indent="-361950" algn="l" defTabSz="914400" rtl="0" eaLnBrk="1" fontAlgn="auto" latinLnBrk="0" hangingPunct="1">
              <a:lnSpc>
                <a:spcPct val="100000"/>
              </a:lnSpc>
              <a:spcBef>
                <a:spcPts val="0"/>
              </a:spcBef>
              <a:spcAft>
                <a:spcPts val="0"/>
              </a:spcAft>
              <a:buClrTx/>
              <a:buSzTx/>
              <a:buFont typeface="Calibri"/>
              <a:buAutoNum type="arabicPeriod"/>
              <a:tabLst>
                <a:tab pos="374015" algn="l"/>
                <a:tab pos="374650" algn="l"/>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全体構成</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831215" marR="0" lvl="1" indent="-361950" algn="l" defTabSz="914400" rtl="0" eaLnBrk="1" fontAlgn="auto" latinLnBrk="0" hangingPunct="1">
              <a:lnSpc>
                <a:spcPct val="100000"/>
              </a:lnSpc>
              <a:spcBef>
                <a:spcPts val="295"/>
              </a:spcBef>
              <a:spcAft>
                <a:spcPts val="0"/>
              </a:spcAft>
              <a:buClrTx/>
              <a:buSzTx/>
              <a:buFont typeface="Calibri"/>
              <a:buAutoNum type="arabicPeriod"/>
              <a:tabLst>
                <a:tab pos="831215" algn="l"/>
                <a:tab pos="83185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インフラ構成</a:t>
            </a:r>
          </a:p>
          <a:p>
            <a:pPr marL="831215" marR="0" lvl="1" indent="-361950" algn="l" defTabSz="914400" rtl="0" eaLnBrk="1" fontAlgn="auto" latinLnBrk="0" hangingPunct="1">
              <a:lnSpc>
                <a:spcPct val="100000"/>
              </a:lnSpc>
              <a:spcBef>
                <a:spcPts val="250"/>
              </a:spcBef>
              <a:spcAft>
                <a:spcPts val="0"/>
              </a:spcAft>
              <a:buClrTx/>
              <a:buSzTx/>
              <a:buFont typeface="Calibri"/>
              <a:buAutoNum type="arabicPeriod"/>
              <a:tabLst>
                <a:tab pos="831215" algn="l"/>
                <a:tab pos="83185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マイクロサービス間通信</a:t>
            </a:r>
          </a:p>
          <a:p>
            <a:pPr marL="374015" marR="0" lvl="0" indent="-361950" algn="l" defTabSz="914400" rtl="0" eaLnBrk="1" fontAlgn="auto" latinLnBrk="0" hangingPunct="1">
              <a:lnSpc>
                <a:spcPct val="100000"/>
              </a:lnSpc>
              <a:spcBef>
                <a:spcPts val="190"/>
              </a:spcBef>
              <a:spcAft>
                <a:spcPts val="0"/>
              </a:spcAft>
              <a:buClrTx/>
              <a:buSzTx/>
              <a:buFontTx/>
              <a:buAutoNum type="arabicPeriod"/>
              <a:tabLst>
                <a:tab pos="374015" algn="l"/>
                <a:tab pos="374650" algn="l"/>
              </a:tabLst>
              <a:defRPr/>
            </a:pP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DB</a:t>
            </a:r>
            <a:r>
              <a:rPr kumimoji="0" lang="ja-JP" altLang="en-US" sz="2400" b="0" i="0" u="none" strike="noStrike" kern="1200" cap="none" spc="-5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周辺知識</a:t>
            </a:r>
          </a:p>
          <a:p>
            <a:pPr marL="831215" marR="0" lvl="1" indent="-361950" algn="l" defTabSz="914400" rtl="0" eaLnBrk="1" fontAlgn="auto" latinLnBrk="0" hangingPunct="1">
              <a:lnSpc>
                <a:spcPct val="100000"/>
              </a:lnSpc>
              <a:spcBef>
                <a:spcPts val="290"/>
              </a:spcBef>
              <a:spcAft>
                <a:spcPts val="0"/>
              </a:spcAft>
              <a:buClrTx/>
              <a:buSzTx/>
              <a:buFont typeface="Calibri"/>
              <a:buAutoNum type="arabicPeriod"/>
              <a:tabLst>
                <a:tab pos="831215" algn="l"/>
                <a:tab pos="83185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テーブル構成</a:t>
            </a:r>
          </a:p>
          <a:p>
            <a:pPr marL="831215" marR="0" lvl="1" indent="-361950" algn="l" defTabSz="914400" rtl="0" eaLnBrk="1" fontAlgn="auto" latinLnBrk="0" hangingPunct="1">
              <a:lnSpc>
                <a:spcPct val="100000"/>
              </a:lnSpc>
              <a:spcBef>
                <a:spcPts val="254"/>
              </a:spcBef>
              <a:spcAft>
                <a:spcPts val="0"/>
              </a:spcAft>
              <a:buClrTx/>
              <a:buSzTx/>
              <a:buFontTx/>
              <a:buAutoNum type="arabicPeriod"/>
              <a:tabLst>
                <a:tab pos="831215" algn="l"/>
                <a:tab pos="831850" algn="l"/>
              </a:tabLst>
              <a:defRPr/>
            </a:pP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E-R</a:t>
            </a:r>
            <a:r>
              <a:rPr kumimoji="0" lang="ja-JP" altLang="en-US" sz="2000" b="0" i="0" u="none" strike="noStrike" kern="1200" cap="none" spc="-60" normalizeH="0" baseline="0" noProof="0" dirty="0">
                <a:ln>
                  <a:noFill/>
                </a:ln>
                <a:solidFill>
                  <a:prstClr val="black"/>
                </a:solidFill>
                <a:effectLst/>
                <a:uLnTx/>
                <a:uFillTx/>
                <a:latin typeface="Calibri"/>
                <a:ea typeface="+mn-ea"/>
                <a:cs typeface="Calibri"/>
              </a:rPr>
              <a:t> </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図</a:t>
            </a:r>
          </a:p>
          <a:p>
            <a:pPr marL="12700" marR="0" lvl="0" indent="0" algn="l" defTabSz="914400" rtl="0" eaLnBrk="1" fontAlgn="auto" latinLnBrk="0" hangingPunct="1">
              <a:lnSpc>
                <a:spcPct val="100000"/>
              </a:lnSpc>
              <a:spcBef>
                <a:spcPts val="200"/>
              </a:spcBef>
              <a:spcAft>
                <a:spcPts val="0"/>
              </a:spcAft>
              <a:buClrTx/>
              <a:buSzTx/>
              <a:buFontTx/>
              <a:buNone/>
              <a:tabLst>
                <a:tab pos="374015" algn="l"/>
              </a:tabLst>
              <a:defRPr/>
            </a:pP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3.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p>
        </p:txBody>
      </p:sp>
    </p:spTree>
    <p:extLst>
      <p:ext uri="{BB962C8B-B14F-4D97-AF65-F5344CB8AC3E}">
        <p14:creationId xmlns:p14="http://schemas.microsoft.com/office/powerpoint/2010/main" val="2587512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just"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⑤</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文書全体の構成検討</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88265" lvl="0" indent="0" algn="just" defTabSz="914400" rtl="0" eaLnBrk="1" fontAlgn="auto" latinLnBrk="0" hangingPunct="1">
              <a:lnSpc>
                <a:spcPts val="2590"/>
              </a:lnSpc>
              <a:spcBef>
                <a:spcPts val="575"/>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ドキュメンテーションは品質を求めると青天井なので、前頁のようにまず は大まかで良いので全体の構成を決めてしまい、内容を縛るのが効率の良 い進め方である。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88265" lvl="0" indent="0" algn="l" defTabSz="914400" rtl="0" eaLnBrk="1" fontAlgn="auto" latinLnBrk="0" hangingPunct="1">
              <a:lnSpc>
                <a:spcPts val="2590"/>
              </a:lnSpc>
              <a:spcBef>
                <a:spcPts val="49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内容を詰めていくうちに構成と整合性が取れない場合は、表題を変えたり 節や</a:t>
            </a:r>
            <a:r>
              <a:rPr kumimoji="0" lang="ja-JP" altLang="en-US" sz="2400" b="0" i="0" u="none" strike="noStrike" kern="1200" cap="none" spc="0" normalizeH="0" baseline="0" noProof="0" dirty="0">
                <a:ln>
                  <a:noFill/>
                </a:ln>
                <a:solidFill>
                  <a:prstClr val="black"/>
                </a:solidFill>
                <a:effectLst/>
                <a:uLnTx/>
                <a:uFillTx/>
                <a:latin typeface="+mn-ea"/>
                <a:cs typeface="Yu Gothic"/>
              </a:rPr>
              <a:t>章</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を切り直すのもよくあることだ。</a:t>
            </a:r>
          </a:p>
          <a:p>
            <a:pPr marL="12700" marR="88265" lvl="0" indent="0" algn="l" defTabSz="914400" rtl="0" eaLnBrk="1" fontAlgn="auto" latinLnBrk="0" hangingPunct="1">
              <a:lnSpc>
                <a:spcPts val="2590"/>
              </a:lnSpc>
              <a:spcBef>
                <a:spcPts val="509"/>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一度決めたからと言ってその構成を未来永劫守らなければいけない訳では ない。</a:t>
            </a:r>
          </a:p>
          <a:p>
            <a:pPr marL="12700" marR="0" lvl="0" indent="0" algn="l" defTabSz="914400" rtl="0" eaLnBrk="1" fontAlgn="auto" latinLnBrk="0" hangingPunct="1">
              <a:lnSpc>
                <a:spcPts val="2740"/>
              </a:lnSpc>
              <a:spcBef>
                <a:spcPts val="180"/>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むしろ、</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構</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成</a:t>
            </a:r>
            <a:r>
              <a:rPr kumimoji="0" lang="ja-JP" altLang="en-US" sz="24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400" b="0" i="0" u="none" strike="noStrike" kern="1200" cap="none" spc="0" normalizeH="0" baseline="0" noProof="0" dirty="0">
                <a:ln>
                  <a:noFill/>
                </a:ln>
                <a:solidFill>
                  <a:prstClr val="black"/>
                </a:solidFill>
                <a:effectLst/>
                <a:uLnTx/>
                <a:uFillTx/>
                <a:latin typeface="Cambria Math"/>
                <a:ea typeface="+mn-ea"/>
                <a:cs typeface="Cambria Math"/>
              </a:rPr>
              <a:t>⇆</a:t>
            </a:r>
            <a:r>
              <a:rPr kumimoji="0" lang="ja-JP" altLang="en-US" sz="2400" b="0" i="0" u="none" strike="noStrike" kern="1200" cap="none" spc="-45" normalizeH="0" baseline="0" noProof="0" dirty="0">
                <a:ln>
                  <a:noFill/>
                </a:ln>
                <a:solidFill>
                  <a:prstClr val="black"/>
                </a:solidFill>
                <a:effectLst/>
                <a:uLnTx/>
                <a:uFillTx/>
                <a:latin typeface="Cambria Math"/>
                <a:ea typeface="+mn-ea"/>
                <a:cs typeface="Cambria Math"/>
              </a:rPr>
              <a:t> </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内容間の最適化が発生するのが普通なので、途中で構成が</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740"/>
              </a:lnSpc>
              <a:spcBef>
                <a:spcPts val="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変わることはおかしいと案ずる必要はない。</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3964493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115"/>
              </a:lnSpc>
              <a:spcBef>
                <a:spcPts val="105"/>
              </a:spcBef>
              <a:spcAft>
                <a:spcPts val="0"/>
              </a:spcAft>
              <a:buClrTx/>
              <a:buSzTx/>
              <a:buFontTx/>
              <a:buNone/>
              <a:tabLst/>
              <a:defRPr/>
            </a:pP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⑥</a:t>
            </a:r>
            <a:r>
              <a:rPr kumimoji="0" lang="ja-JP" altLang="en-US" sz="2600" b="1" i="0" u="none" strike="noStrike" kern="1200" cap="none" spc="-175" normalizeH="0" baseline="0" noProof="0" dirty="0">
                <a:ln>
                  <a:noFill/>
                </a:ln>
                <a:solidFill>
                  <a:prstClr val="black"/>
                </a:solidFill>
                <a:effectLst/>
                <a:uLnTx/>
                <a:uFillTx/>
                <a:latin typeface="Yu Gothic"/>
                <a:ea typeface="+mn-ea"/>
                <a:cs typeface="Yu Gothic"/>
              </a:rPr>
              <a:t> </a:t>
            </a: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文体・描画ツールの</a:t>
            </a:r>
            <a:r>
              <a:rPr kumimoji="0" lang="ja-JP" altLang="en-US" sz="2600" b="1" i="0" u="none" strike="noStrike" kern="1200" cap="none" spc="-15" normalizeH="0" baseline="0" noProof="0" dirty="0">
                <a:ln>
                  <a:noFill/>
                </a:ln>
                <a:solidFill>
                  <a:prstClr val="black"/>
                </a:solidFill>
                <a:effectLst/>
                <a:uLnTx/>
                <a:uFillTx/>
                <a:latin typeface="Yu Gothic"/>
                <a:ea typeface="+mn-ea"/>
                <a:cs typeface="Yu Gothic"/>
              </a:rPr>
              <a:t>合</a:t>
            </a:r>
            <a:r>
              <a:rPr kumimoji="0" lang="ja-JP" altLang="en-US" sz="2600" b="1" i="0" u="none" strike="noStrike" kern="1200" cap="none" spc="0" normalizeH="0" baseline="0" noProof="0" dirty="0">
                <a:ln>
                  <a:noFill/>
                </a:ln>
                <a:solidFill>
                  <a:prstClr val="black"/>
                </a:solidFill>
                <a:effectLst/>
                <a:uLnTx/>
                <a:uFillTx/>
                <a:latin typeface="Yu Gothic"/>
                <a:ea typeface="+mn-ea"/>
                <a:cs typeface="Yu Gothic"/>
              </a:rPr>
              <a:t>意形成</a:t>
            </a:r>
            <a:endParaRPr kumimoji="0" lang="ja-JP" altLang="en-US" sz="26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75"/>
              </a:lnSpc>
              <a:spcBef>
                <a:spcPts val="0"/>
              </a:spcBef>
              <a:spcAft>
                <a:spcPts val="0"/>
              </a:spcAft>
              <a:buClrTx/>
              <a:buSzTx/>
              <a:buFontTx/>
              <a:buNone/>
              <a:tabLst/>
              <a:defRPr/>
            </a:pP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個人で作業する場合は問題ないが</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とり</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わ</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けチ</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ー</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ムメ</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ン</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バー</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で</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分担</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す</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る場</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合</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に揺</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60"/>
              </a:lnSpc>
              <a:spcBef>
                <a:spcPts val="0"/>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れが発生するのが文体や使用する</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描</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画ツ</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ー</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ルだ。</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29845" lvl="0" indent="0" algn="l" defTabSz="914400" rtl="0" eaLnBrk="1" fontAlgn="auto" latinLnBrk="0" hangingPunct="1">
              <a:lnSpc>
                <a:spcPct val="80000"/>
              </a:lnSpc>
              <a:spcBef>
                <a:spcPts val="509"/>
              </a:spcBef>
              <a:spcAft>
                <a:spcPts val="0"/>
              </a:spcAft>
              <a:buClrTx/>
              <a:buSzTx/>
              <a:buFontTx/>
              <a:buNone/>
              <a:tabLst/>
              <a:defRPr/>
            </a:pP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文体に関しては、</a:t>
            </a:r>
            <a:r>
              <a:rPr kumimoji="0" lang="ja-JP" altLang="en-US" sz="2200" b="1"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想定読者層</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が既</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存</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参画</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メ</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ンバ</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ー</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だけ</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な</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ら常</a:t>
            </a:r>
            <a:r>
              <a:rPr kumimoji="0" lang="ja-JP" altLang="en-US" sz="2200" b="1" i="0" u="none" strike="noStrike" kern="1200" cap="none" spc="20" normalizeH="0" baseline="0" noProof="0" dirty="0">
                <a:ln>
                  <a:noFill/>
                </a:ln>
                <a:solidFill>
                  <a:prstClr val="black"/>
                </a:solidFill>
                <a:effectLst/>
                <a:uLnTx/>
                <a:uFillTx/>
                <a:latin typeface="Yu Gothic"/>
                <a:ea typeface="+mn-ea"/>
                <a:cs typeface="Yu Gothic"/>
              </a:rPr>
              <a:t>体</a:t>
            </a:r>
            <a:r>
              <a:rPr kumimoji="0" lang="en-US" altLang="ja-JP" sz="2200" b="1" i="0" u="none" strike="noStrike" kern="1200" cap="none" spc="-10" normalizeH="0" baseline="0" noProof="0" dirty="0">
                <a:ln>
                  <a:noFill/>
                </a:ln>
                <a:solidFill>
                  <a:prstClr val="black"/>
                </a:solidFill>
                <a:effectLst/>
                <a:uLnTx/>
                <a:uFillTx/>
                <a:latin typeface="Calibri"/>
                <a:ea typeface="+mn-ea"/>
                <a:cs typeface="Calibri"/>
              </a:rPr>
              <a:t>(</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で</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あ</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る調</a:t>
            </a:r>
            <a:r>
              <a:rPr kumimoji="0" lang="en-US" altLang="ja-JP" sz="22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、新</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規</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参 画者や広範なステークホルダーの</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場</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合は</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敬</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体</a:t>
            </a:r>
            <a:r>
              <a:rPr kumimoji="0" lang="en-US" altLang="ja-JP" sz="2200" b="1" i="0" u="none" strike="noStrike" kern="1200" cap="none" spc="-10" normalizeH="0" baseline="0" noProof="0" dirty="0">
                <a:ln>
                  <a:noFill/>
                </a:ln>
                <a:solidFill>
                  <a:prstClr val="black"/>
                </a:solidFill>
                <a:effectLst/>
                <a:uLnTx/>
                <a:uFillTx/>
                <a:latin typeface="Calibri"/>
                <a:ea typeface="+mn-ea"/>
                <a:cs typeface="Calibri"/>
              </a:rPr>
              <a:t>(</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で</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す・</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ま</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す</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調</a:t>
            </a:r>
            <a:r>
              <a:rPr kumimoji="0" lang="en-US" altLang="ja-JP" sz="2200" b="1" i="0" u="none" strike="noStrike" kern="1200" cap="none" spc="5" normalizeH="0" baseline="0" noProof="0" dirty="0">
                <a:ln>
                  <a:noFill/>
                </a:ln>
                <a:solidFill>
                  <a:prstClr val="black"/>
                </a:solidFill>
                <a:effectLst/>
                <a:uLnTx/>
                <a:uFillTx/>
                <a:latin typeface="Calibri"/>
                <a:ea typeface="+mn-ea"/>
                <a:cs typeface="Calibri"/>
              </a:rPr>
              <a:t>)</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を採</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用</a:t>
            </a: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する。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55"/>
              </a:lnSpc>
              <a:spcBef>
                <a:spcPts val="0"/>
              </a:spcBef>
              <a:spcAft>
                <a:spcPts val="0"/>
              </a:spcAft>
              <a:buClrTx/>
              <a:buSzTx/>
              <a:buFontTx/>
              <a:buNone/>
              <a:tabLst/>
              <a:defRPr/>
            </a:pP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描画ツールに関しては、少なくと</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も</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作業</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者</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が退</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職</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して</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も</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閲覧</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権</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限が</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失</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われ</a:t>
            </a:r>
            <a:r>
              <a:rPr kumimoji="0" lang="ja-JP" altLang="en-US" sz="2200" b="1" i="0" u="none" strike="noStrike" kern="1200" cap="none" spc="0" normalizeH="0" baseline="0" noProof="0" dirty="0">
                <a:ln>
                  <a:noFill/>
                </a:ln>
                <a:solidFill>
                  <a:prstClr val="black"/>
                </a:solidFill>
                <a:effectLst/>
                <a:uLnTx/>
                <a:uFillTx/>
                <a:latin typeface="Yu Gothic"/>
                <a:ea typeface="+mn-ea"/>
                <a:cs typeface="Yu Gothic"/>
              </a:rPr>
              <a:t>な</a:t>
            </a:r>
            <a:r>
              <a:rPr kumimoji="0" lang="ja-JP" altLang="en-US" sz="2200" b="1" i="0" u="none" strike="noStrike" kern="1200" cap="none" spc="-10" normalizeH="0" baseline="0" noProof="0" dirty="0">
                <a:ln>
                  <a:noFill/>
                </a:ln>
                <a:solidFill>
                  <a:prstClr val="black"/>
                </a:solidFill>
                <a:effectLst/>
                <a:uLnTx/>
                <a:uFillTx/>
                <a:latin typeface="Yu Gothic"/>
                <a:ea typeface="+mn-ea"/>
                <a:cs typeface="Yu Gothic"/>
              </a:rPr>
              <a:t>い状</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65"/>
              </a:lnSpc>
              <a:spcBef>
                <a:spcPts val="0"/>
              </a:spcBef>
              <a:spcAft>
                <a:spcPts val="0"/>
              </a:spcAft>
              <a:buClrTx/>
              <a:buSzTx/>
              <a:buFontTx/>
              <a:buNone/>
              <a:tabLst/>
              <a:defRPr/>
            </a:pPr>
            <a:r>
              <a:rPr kumimoji="0" lang="ja-JP" altLang="en-US" sz="2200" b="1" i="0" u="none" strike="noStrike" kern="1200" cap="none" spc="-5" normalizeH="0" baseline="0" noProof="0" dirty="0">
                <a:ln>
                  <a:noFill/>
                </a:ln>
                <a:solidFill>
                  <a:prstClr val="black"/>
                </a:solidFill>
                <a:effectLst/>
                <a:uLnTx/>
                <a:uFillTx/>
                <a:latin typeface="Yu Gothic"/>
                <a:ea typeface="+mn-ea"/>
                <a:cs typeface="Yu Gothic"/>
              </a:rPr>
              <a:t>態を担保しなければならない。</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67945" lvl="0" indent="0" algn="just" defTabSz="914400" rtl="0" eaLnBrk="1" fontAlgn="auto" latinLnBrk="0" hangingPunct="1">
              <a:lnSpc>
                <a:spcPct val="80000"/>
              </a:lnSpc>
              <a:spcBef>
                <a:spcPts val="515"/>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例えば、</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Google</a:t>
            </a:r>
            <a:r>
              <a:rPr kumimoji="0" lang="ja-JP" altLang="en-US" sz="2200" b="0" i="0" u="none" strike="noStrike" kern="1200" cap="none" spc="0" normalizeH="0" baseline="0" noProof="0" dirty="0">
                <a:ln>
                  <a:noFill/>
                </a:ln>
                <a:solidFill>
                  <a:prstClr val="black"/>
                </a:solidFill>
                <a:effectLst/>
                <a:uLnTx/>
                <a:uFillTx/>
                <a:latin typeface="Calibri"/>
                <a:ea typeface="+mn-ea"/>
                <a:cs typeface="Calibri"/>
              </a:rPr>
              <a:t> </a:t>
            </a:r>
            <a:r>
              <a:rPr kumimoji="0" lang="en-US" altLang="ja-JP" sz="2200" b="0" i="0" u="none" strike="noStrike" kern="1200" cap="none" spc="-10" normalizeH="0" baseline="0" noProof="0" dirty="0">
                <a:ln>
                  <a:noFill/>
                </a:ln>
                <a:solidFill>
                  <a:prstClr val="black"/>
                </a:solidFill>
                <a:effectLst/>
                <a:uLnTx/>
                <a:uFillTx/>
                <a:latin typeface="Calibri"/>
                <a:ea typeface="+mn-ea"/>
                <a:cs typeface="Calibri"/>
              </a:rPr>
              <a:t>Drive</a:t>
            </a:r>
            <a:r>
              <a:rPr kumimoji="0" lang="ja-JP" altLang="en-US" sz="2200" b="0" i="0" u="none" strike="noStrike" kern="1200" cap="none" spc="-20"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に保存した画像を埋め込んでいる場</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合</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、退</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職</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後は</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ア</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カウ</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ン</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ト が削除されて参照エラーになって</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し</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まう。</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just" defTabSz="914400" rtl="0" eaLnBrk="1" fontAlgn="auto" latinLnBrk="0" hangingPunct="1">
              <a:lnSpc>
                <a:spcPct val="89600"/>
              </a:lnSpc>
              <a:spcBef>
                <a:spcPts val="235"/>
              </a:spcBef>
              <a:spcAft>
                <a:spcPts val="0"/>
              </a:spcAft>
              <a:buClrTx/>
              <a:buSzTx/>
              <a:buFontTx/>
              <a:buNone/>
              <a:tabLst/>
              <a:defRPr/>
            </a:pP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私が所属するチームでは</a:t>
            </a:r>
            <a:r>
              <a:rPr kumimoji="0" lang="ja-JP" altLang="en-US" sz="2200" b="0" i="0" u="none" strike="noStrike" kern="1200" cap="none" spc="0" normalizeH="0" baseline="0" noProof="0" dirty="0">
                <a:ln>
                  <a:noFill/>
                </a:ln>
                <a:solidFill>
                  <a:prstClr val="black"/>
                </a:solidFill>
                <a:effectLst/>
                <a:uLnTx/>
                <a:uFillTx/>
                <a:latin typeface="Yu Gothic"/>
                <a:ea typeface="+mn-ea"/>
                <a:cs typeface="Yu Gothic"/>
              </a:rPr>
              <a:t>、</a:t>
            </a:r>
            <a:r>
              <a:rPr kumimoji="0" lang="en-US" altLang="ja-JP" sz="22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4"/>
              </a:rPr>
              <a:t>Mermaid</a:t>
            </a:r>
            <a:r>
              <a:rPr kumimoji="0" lang="ja-JP" altLang="en-US" sz="2200" b="0" i="0" u="none" strike="noStrike" kern="1200" cap="none" spc="45" normalizeH="0" baseline="0" noProof="0" dirty="0">
                <a:ln>
                  <a:noFill/>
                </a:ln>
                <a:solidFill>
                  <a:srgbClr val="0462C1"/>
                </a:solidFill>
                <a:effectLst/>
                <a:uLnTx/>
                <a:uFillTx/>
                <a:latin typeface="Calibri"/>
                <a:ea typeface="+mn-ea"/>
                <a:cs typeface="Calibri"/>
                <a:hlinkClick r:id="rId4"/>
              </a:rPr>
              <a:t> </a:t>
            </a:r>
            <a:r>
              <a:rPr kumimoji="0" lang="ja-JP" altLang="en-US" sz="2200" b="0" i="0" u="none" strike="noStrike" kern="1200" cap="none" spc="495" normalizeH="0" baseline="0" noProof="0" dirty="0">
                <a:ln>
                  <a:noFill/>
                </a:ln>
                <a:solidFill>
                  <a:prstClr val="black"/>
                </a:solidFill>
                <a:effectLst/>
                <a:uLnTx/>
                <a:uFillTx/>
                <a:latin typeface="Yu Gothic"/>
                <a:ea typeface="+mn-ea"/>
                <a:cs typeface="Yu Gothic"/>
              </a:rPr>
              <a:t>や</a:t>
            </a:r>
            <a:r>
              <a:rPr kumimoji="0" lang="en-US" altLang="ja-JP" sz="22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PlantUML</a:t>
            </a:r>
            <a:r>
              <a:rPr kumimoji="0" lang="ja-JP" altLang="en-US" sz="2200" b="0" i="0" u="none" strike="noStrike" kern="1200" cap="none" spc="0" normalizeH="0" baseline="0" noProof="0" dirty="0">
                <a:ln>
                  <a:noFill/>
                </a:ln>
                <a:solidFill>
                  <a:srgbClr val="0462C1"/>
                </a:solidFill>
                <a:effectLst/>
                <a:uLnTx/>
                <a:uFillTx/>
                <a:latin typeface="Calibri"/>
                <a:ea typeface="+mn-ea"/>
                <a:cs typeface="Calibri"/>
                <a:hlinkClick r:id="rId5"/>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など</a:t>
            </a:r>
            <a:r>
              <a:rPr kumimoji="0" lang="ja-JP" altLang="en-US" sz="2200" b="0" i="0" u="none" strike="noStrike" kern="1200" cap="none" spc="-114"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Plain</a:t>
            </a:r>
            <a:r>
              <a:rPr kumimoji="0" lang="ja-JP" altLang="en-US" sz="2200" b="0" i="0" u="none" strike="noStrike" kern="1200" cap="none" spc="-25" normalizeH="0" baseline="0" noProof="0" dirty="0">
                <a:ln>
                  <a:noFill/>
                </a:ln>
                <a:solidFill>
                  <a:prstClr val="black"/>
                </a:solidFill>
                <a:effectLst/>
                <a:uLnTx/>
                <a:uFillTx/>
                <a:latin typeface="Calibri"/>
                <a:ea typeface="+mn-ea"/>
                <a:cs typeface="Calibri"/>
              </a:rPr>
              <a:t> </a:t>
            </a:r>
            <a:r>
              <a:rPr kumimoji="0" lang="en-US" altLang="ja-JP" sz="2200" b="0" i="0" u="none" strike="noStrike" kern="1200" cap="none" spc="-60" normalizeH="0" baseline="0" noProof="0" dirty="0">
                <a:ln>
                  <a:noFill/>
                </a:ln>
                <a:solidFill>
                  <a:prstClr val="black"/>
                </a:solidFill>
                <a:effectLst/>
                <a:uLnTx/>
                <a:uFillTx/>
                <a:latin typeface="Calibri"/>
                <a:ea typeface="+mn-ea"/>
                <a:cs typeface="Calibri"/>
              </a:rPr>
              <a:t>Text</a:t>
            </a:r>
            <a:r>
              <a:rPr kumimoji="0" lang="ja-JP" altLang="en-US" sz="2200" b="0" i="0" u="none" strike="noStrike" kern="1200" cap="none" spc="1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ベースで描画出来る </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エンジンも検討したが、表現力</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や</a:t>
            </a:r>
            <a:r>
              <a:rPr kumimoji="0" lang="ja-JP" altLang="en-US" sz="2200" b="0" i="0" u="none" strike="noStrike" kern="1200" cap="none" spc="-60"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Honkit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との親和性を考慮し</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 </a:t>
            </a:r>
            <a:r>
              <a:rPr kumimoji="0" lang="en-US" altLang="ja-JP" sz="2200" b="0" i="0" u="heavy" strike="noStrike" kern="1200" cap="none" spc="-35" normalizeH="0" baseline="0" noProof="0" dirty="0">
                <a:ln>
                  <a:noFill/>
                </a:ln>
                <a:solidFill>
                  <a:srgbClr val="0462C1"/>
                </a:solidFill>
                <a:effectLst/>
                <a:uLnTx/>
                <a:uFill>
                  <a:solidFill>
                    <a:srgbClr val="0462C1"/>
                  </a:solidFill>
                </a:uFill>
                <a:latin typeface="Calibri"/>
                <a:ea typeface="+mn-ea"/>
                <a:cs typeface="Calibri"/>
                <a:hlinkClick r:id="rId6"/>
              </a:rPr>
              <a:t>draw.io</a:t>
            </a:r>
            <a:r>
              <a:rPr kumimoji="0" lang="ja-JP" altLang="en-US" sz="2200" b="0" i="0" u="none" strike="noStrike" kern="1200" cap="none" spc="-10" normalizeH="0" baseline="0" noProof="0" dirty="0">
                <a:ln>
                  <a:noFill/>
                </a:ln>
                <a:solidFill>
                  <a:srgbClr val="0462C1"/>
                </a:solidFill>
                <a:effectLst/>
                <a:uLnTx/>
                <a:uFillTx/>
                <a:latin typeface="Calibri"/>
                <a:ea typeface="+mn-ea"/>
                <a:cs typeface="Calibri"/>
                <a:hlinkClick r:id="rId6"/>
              </a:rPr>
              <a:t> </a:t>
            </a:r>
            <a:r>
              <a:rPr kumimoji="0" lang="ja-JP" altLang="en-US" sz="2200" b="0" i="0" u="none" strike="noStrike" kern="1200" cap="none" spc="-10" normalizeH="0" baseline="0" noProof="0" dirty="0">
                <a:ln>
                  <a:noFill/>
                </a:ln>
                <a:solidFill>
                  <a:prstClr val="black"/>
                </a:solidFill>
                <a:effectLst/>
                <a:uLnTx/>
                <a:uFillTx/>
                <a:latin typeface="Yu Gothic"/>
                <a:ea typeface="+mn-ea"/>
                <a:cs typeface="Yu Gothic"/>
              </a:rPr>
              <a:t>を採用した。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描画した図表は</a:t>
            </a:r>
            <a:r>
              <a:rPr kumimoji="0" lang="ja-JP" altLang="en-US" sz="2200" b="0" i="0" u="none" strike="noStrike" kern="1200" cap="none" spc="-105"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20" normalizeH="0" baseline="0" noProof="0" dirty="0">
                <a:ln>
                  <a:noFill/>
                </a:ln>
                <a:solidFill>
                  <a:prstClr val="black"/>
                </a:solidFill>
                <a:effectLst/>
                <a:uLnTx/>
                <a:uFillTx/>
                <a:latin typeface="Calibri"/>
                <a:ea typeface="+mn-ea"/>
                <a:cs typeface="Calibri"/>
              </a:rPr>
              <a:t>SVG</a:t>
            </a:r>
            <a:r>
              <a:rPr kumimoji="0" lang="ja-JP" altLang="en-US" sz="2200" b="0" i="0" u="none" strike="noStrike" kern="1200" cap="none" spc="-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ファイルとして保存して</a:t>
            </a:r>
            <a:r>
              <a:rPr kumimoji="0" lang="ja-JP" altLang="en-US" sz="2200" b="0" i="0" u="none" strike="noStrike" kern="1200" cap="none" spc="-75" normalizeH="0" baseline="0" noProof="0" dirty="0">
                <a:ln>
                  <a:noFill/>
                </a:ln>
                <a:solidFill>
                  <a:prstClr val="black"/>
                </a:solidFill>
                <a:effectLst/>
                <a:uLnTx/>
                <a:uFillTx/>
                <a:latin typeface="Yu Gothic"/>
                <a:ea typeface="+mn-ea"/>
                <a:cs typeface="Yu Gothic"/>
              </a:rPr>
              <a:t> </a:t>
            </a:r>
            <a:r>
              <a:rPr kumimoji="0" lang="en-US" altLang="ja-JP" sz="2200" b="0" i="0" u="none" strike="noStrike" kern="1200" cap="none" spc="-15" normalizeH="0" baseline="0" noProof="0" dirty="0">
                <a:ln>
                  <a:noFill/>
                </a:ln>
                <a:solidFill>
                  <a:prstClr val="black"/>
                </a:solidFill>
                <a:effectLst/>
                <a:uLnTx/>
                <a:uFillTx/>
                <a:latin typeface="Calibri"/>
                <a:ea typeface="+mn-ea"/>
                <a:cs typeface="Calibri"/>
              </a:rPr>
              <a:t>Markdown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ファイルから参照し、</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just" defTabSz="914400" rtl="0" eaLnBrk="1" fontAlgn="auto" latinLnBrk="0" hangingPunct="1">
              <a:lnSpc>
                <a:spcPts val="2110"/>
              </a:lnSpc>
              <a:spcBef>
                <a:spcPts val="0"/>
              </a:spcBef>
              <a:spcAft>
                <a:spcPts val="0"/>
              </a:spcAft>
              <a:buClrTx/>
              <a:buSzTx/>
              <a:buFontTx/>
              <a:buNone/>
              <a:tabLst/>
              <a:defRPr/>
            </a:pPr>
            <a:r>
              <a:rPr kumimoji="0" lang="en-US" altLang="ja-JP" sz="2200" b="0" i="0" u="none" strike="noStrike" kern="1200" cap="none" spc="-5" normalizeH="0" baseline="0" noProof="0" dirty="0">
                <a:ln>
                  <a:noFill/>
                </a:ln>
                <a:solidFill>
                  <a:prstClr val="black"/>
                </a:solidFill>
                <a:effectLst/>
                <a:uLnTx/>
                <a:uFillTx/>
                <a:latin typeface="Calibri"/>
                <a:ea typeface="+mn-ea"/>
                <a:cs typeface="Calibri"/>
              </a:rPr>
              <a:t>GitHub</a:t>
            </a:r>
            <a:r>
              <a:rPr kumimoji="0" lang="ja-JP" altLang="en-US" sz="2200" b="0" i="0"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2200" b="0" i="0" u="none" strike="noStrike" kern="1200" cap="none" spc="-5" normalizeH="0" baseline="0" noProof="0" dirty="0">
                <a:ln>
                  <a:noFill/>
                </a:ln>
                <a:solidFill>
                  <a:prstClr val="black"/>
                </a:solidFill>
                <a:effectLst/>
                <a:uLnTx/>
                <a:uFillTx/>
                <a:latin typeface="Yu Gothic"/>
                <a:ea typeface="+mn-ea"/>
                <a:cs typeface="Yu Gothic"/>
              </a:rPr>
              <a:t>でバージョン管理を行っている。</a:t>
            </a:r>
            <a:endParaRPr kumimoji="0" lang="ja-JP" altLang="en-US" sz="22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9986787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⑦</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節・</a:t>
            </a:r>
            <a:r>
              <a:rPr kumimoji="0" lang="ja-JP" altLang="en-US" sz="2800" b="1" i="0" u="none" strike="noStrike" kern="1200" cap="none" spc="-5" normalizeH="0" baseline="0" noProof="0" dirty="0">
                <a:ln>
                  <a:noFill/>
                </a:ln>
                <a:solidFill>
                  <a:prstClr val="black"/>
                </a:solidFill>
                <a:effectLst/>
                <a:uLnTx/>
                <a:uFillTx/>
                <a:latin typeface="+mn-ea"/>
                <a:cs typeface="Yu Gothic"/>
              </a:rPr>
              <a:t>章</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ごとの明文化難易度評価</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文書を構成する節・</a:t>
            </a:r>
            <a:r>
              <a:rPr kumimoji="0" lang="ja-JP" altLang="en-US" sz="2400" b="1" i="0" u="none" strike="noStrike" kern="1200" cap="none" spc="-5" normalizeH="0" baseline="0" noProof="0" dirty="0">
                <a:ln>
                  <a:noFill/>
                </a:ln>
                <a:solidFill>
                  <a:prstClr val="black"/>
                </a:solidFill>
                <a:effectLst/>
                <a:uLnTx/>
                <a:uFillTx/>
                <a:latin typeface="+mn-ea"/>
                <a:cs typeface="Yu Gothic"/>
              </a:rPr>
              <a:t>章</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には必ず概念的抽象度に差があり、明文化する上で</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550"/>
              </a:lnSpc>
              <a:spcBef>
                <a:spcPts val="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の難易度・作業コストと正比例する。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300"/>
              </a:lnSpc>
              <a:spcBef>
                <a:spcPts val="51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私が所属するチームで</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は</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図解が必要かどうかの尺度で概念的抽象度を評価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し、以下の</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3</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つの分類でストーリーポイントを付けていった。</a:t>
            </a: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145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ts val="2840"/>
              </a:lnSpc>
              <a:spcBef>
                <a:spcPts val="0"/>
              </a:spcBef>
              <a:spcAft>
                <a:spcPts val="0"/>
              </a:spcAft>
              <a:buClrTx/>
              <a:buSzTx/>
              <a:buFont typeface="Arial MT"/>
              <a:buChar char="•"/>
              <a:tabLst>
                <a:tab pos="282575" algn="l"/>
                <a:tab pos="283210" algn="l"/>
              </a:tabLst>
              <a:defRPr/>
            </a:pP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[MUST]</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図解がなければ理解に支障が出るほど概念的抽象度が高</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い</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30"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3</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30"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5</a:t>
            </a:r>
          </a:p>
          <a:p>
            <a:pPr marL="282575" marR="0" lvl="0" indent="-270510" algn="l" defTabSz="914400" rtl="0" eaLnBrk="1" fontAlgn="auto" latinLnBrk="0" hangingPunct="1">
              <a:lnSpc>
                <a:spcPts val="2800"/>
              </a:lnSpc>
              <a:spcBef>
                <a:spcPts val="0"/>
              </a:spcBef>
              <a:spcAft>
                <a:spcPts val="0"/>
              </a:spcAft>
              <a:buClrTx/>
              <a:buSzTx/>
              <a:buFont typeface="Arial MT"/>
              <a:buChar char="•"/>
              <a:tabLst>
                <a:tab pos="282575" algn="l"/>
                <a:tab pos="283210" algn="l"/>
              </a:tabLst>
              <a:defRPr/>
            </a:pP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[SHOULD]</a:t>
            </a:r>
            <a:r>
              <a:rPr kumimoji="0" lang="ja-JP" altLang="en-US" sz="2400" b="0" i="0" u="none" strike="noStrike" kern="1200" cap="none" spc="-1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文</a:t>
            </a:r>
            <a:r>
              <a:rPr kumimoji="0" lang="ja-JP" altLang="en-US" sz="2400" b="0" i="0" u="none" strike="noStrike" kern="1200" cap="none" spc="0" normalizeH="0" baseline="0" noProof="0" dirty="0">
                <a:ln>
                  <a:noFill/>
                </a:ln>
                <a:solidFill>
                  <a:prstClr val="black"/>
                </a:solidFill>
                <a:effectLst/>
                <a:uLnTx/>
                <a:uFillTx/>
                <a:latin typeface="+mn-ea"/>
                <a:cs typeface="Yu Gothic"/>
              </a:rPr>
              <a:t>章</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で概ね理解出来るが図解がないと認知負荷が高</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い</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2</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3</a:t>
            </a:r>
          </a:p>
          <a:p>
            <a:pPr marL="282575" marR="0" lvl="0" indent="-270510" algn="l" defTabSz="914400" rtl="0" eaLnBrk="1" fontAlgn="auto" latinLnBrk="0" hangingPunct="1">
              <a:lnSpc>
                <a:spcPts val="2845"/>
              </a:lnSpc>
              <a:spcBef>
                <a:spcPts val="0"/>
              </a:spcBef>
              <a:spcAft>
                <a:spcPts val="0"/>
              </a:spcAft>
              <a:buClrTx/>
              <a:buSzTx/>
              <a:buFont typeface="Arial MT"/>
              <a:buChar char="•"/>
              <a:tabLst>
                <a:tab pos="282575" algn="l"/>
                <a:tab pos="283210" algn="l"/>
              </a:tabLst>
              <a:defRPr/>
            </a:pPr>
            <a:r>
              <a:rPr kumimoji="0" lang="en-US" altLang="ja-JP" sz="2400" b="0" i="0" u="none" strike="noStrike" kern="1200" cap="none" spc="-40" normalizeH="0" baseline="0" noProof="0" dirty="0">
                <a:ln>
                  <a:noFill/>
                </a:ln>
                <a:solidFill>
                  <a:prstClr val="black"/>
                </a:solidFill>
                <a:effectLst/>
                <a:uLnTx/>
                <a:uFillTx/>
                <a:latin typeface="Calibri"/>
                <a:ea typeface="+mn-ea"/>
                <a:cs typeface="Calibri"/>
              </a:rPr>
              <a:t>[MAY]</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図解の有無による理解度への影響がな</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い</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1</a:t>
            </a:r>
            <a:r>
              <a:rPr kumimoji="0" lang="ja-JP" altLang="en-US" sz="2400" b="0" i="0" u="none" strike="noStrike" kern="1200" cap="none" spc="-25"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30" normalizeH="0" baseline="0" noProof="0" dirty="0">
                <a:ln>
                  <a:noFill/>
                </a:ln>
                <a:solidFill>
                  <a:prstClr val="black"/>
                </a:solidFill>
                <a:effectLst/>
                <a:uLnTx/>
                <a:uFillTx/>
                <a:latin typeface="Calibri"/>
                <a:ea typeface="+mn-ea"/>
                <a:cs typeface="Calibri"/>
              </a:rPr>
              <a:t> </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2</a:t>
            </a:r>
          </a:p>
          <a:p>
            <a:pPr marL="0" marR="0" lvl="0" indent="0" algn="l" defTabSz="914400" rtl="0" eaLnBrk="1" fontAlgn="auto" latinLnBrk="0" hangingPunct="1">
              <a:lnSpc>
                <a:spcPct val="100000"/>
              </a:lnSpc>
              <a:spcBef>
                <a:spcPts val="10"/>
              </a:spcBef>
              <a:spcAft>
                <a:spcPts val="0"/>
              </a:spcAft>
              <a:buClrTx/>
              <a:buSzTx/>
              <a:buFontTx/>
              <a:buNone/>
              <a:tabLst/>
              <a:defRPr/>
            </a:pPr>
            <a:endParaRPr kumimoji="0" lang="ja-JP" altLang="en-US" sz="2700" b="0" i="0" u="none" strike="noStrike" kern="1200" cap="none" spc="0" normalizeH="0" baseline="0" noProof="0" dirty="0">
              <a:ln>
                <a:noFill/>
              </a:ln>
              <a:solidFill>
                <a:prstClr val="black"/>
              </a:solidFill>
              <a:effectLst/>
              <a:uLnTx/>
              <a:uFillTx/>
              <a:latin typeface="Calibri"/>
              <a:ea typeface="+mn-ea"/>
              <a:cs typeface="Calibri"/>
            </a:endParaRPr>
          </a:p>
          <a:p>
            <a:pPr marL="12700" marR="6350" lvl="0" indent="0" algn="l" defTabSz="914400" rtl="0" eaLnBrk="1" fontAlgn="auto" latinLnBrk="0" hangingPunct="1">
              <a:lnSpc>
                <a:spcPct val="8000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上記のストーリーポイントとチームのベロシティを照らし合わせ、そのス プリントでどの程度タスクを消化するかを決定した。</a:t>
            </a:r>
          </a:p>
        </p:txBody>
      </p:sp>
    </p:spTree>
    <p:extLst>
      <p:ext uri="{BB962C8B-B14F-4D97-AF65-F5344CB8AC3E}">
        <p14:creationId xmlns:p14="http://schemas.microsoft.com/office/powerpoint/2010/main" val="16916670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lnSpcReduction="10000"/>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⑧</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節・</a:t>
            </a:r>
            <a:r>
              <a:rPr kumimoji="0" lang="ja-JP" altLang="en-US" sz="2800" b="1" i="0" u="none" strike="noStrike" kern="1200" cap="none" spc="-5" normalizeH="0" baseline="0" noProof="0" dirty="0">
                <a:ln>
                  <a:noFill/>
                </a:ln>
                <a:solidFill>
                  <a:prstClr val="black"/>
                </a:solidFill>
                <a:effectLst/>
                <a:uLnTx/>
                <a:uFillTx/>
                <a:latin typeface="+mn-ea"/>
                <a:cs typeface="Yu Gothic"/>
              </a:rPr>
              <a:t>章</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ごとの担当者割り振り</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精通している節・</a:t>
            </a:r>
            <a:r>
              <a:rPr kumimoji="0" lang="ja-JP" altLang="en-US" sz="2400" b="0" i="0" u="none" strike="noStrike" kern="1200" cap="none" spc="-5" normalizeH="0" baseline="0" noProof="0" dirty="0">
                <a:ln>
                  <a:noFill/>
                </a:ln>
                <a:solidFill>
                  <a:prstClr val="black"/>
                </a:solidFill>
                <a:effectLst/>
                <a:uLnTx/>
                <a:uFillTx/>
                <a:latin typeface="+mn-ea"/>
                <a:cs typeface="Yu Gothic"/>
              </a:rPr>
              <a:t>章</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をそのメンバーが担当するのが最も効率的だが、作業</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55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負荷が集中する可能性がある。</a:t>
            </a:r>
          </a:p>
          <a:p>
            <a:pPr marL="12700" marR="309880" lvl="0" indent="0" algn="l" defTabSz="914400" rtl="0" eaLnBrk="1" fontAlgn="auto" latinLnBrk="0" hangingPunct="1">
              <a:lnSpc>
                <a:spcPts val="2300"/>
              </a:lnSpc>
              <a:spcBef>
                <a:spcPts val="51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一方で、作業を均等に分担すると、精通していない分野の節・</a:t>
            </a:r>
            <a:r>
              <a:rPr kumimoji="0" lang="ja-JP" altLang="en-US" sz="2400" b="0" i="0" u="none" strike="noStrike" kern="1200" cap="none" spc="0" normalizeH="0" baseline="0" noProof="0" dirty="0">
                <a:ln>
                  <a:noFill/>
                </a:ln>
                <a:solidFill>
                  <a:prstClr val="black"/>
                </a:solidFill>
                <a:effectLst/>
                <a:uLnTx/>
                <a:uFillTx/>
                <a:latin typeface="+mn-ea"/>
                <a:cs typeface="Yu Gothic"/>
              </a:rPr>
              <a:t>章</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を担当するメンバーには調査・執筆コストがかかる。</a:t>
            </a:r>
          </a:p>
          <a:p>
            <a:pPr marL="0" marR="0" lvl="0" indent="0" algn="l" defTabSz="914400" rtl="0" eaLnBrk="1" fontAlgn="auto" latinLnBrk="0" hangingPunct="1">
              <a:lnSpc>
                <a:spcPct val="100000"/>
              </a:lnSpc>
              <a:spcBef>
                <a:spcPts val="70"/>
              </a:spcBef>
              <a:spcAft>
                <a:spcPts val="0"/>
              </a:spcAft>
              <a:buClrTx/>
              <a:buSzTx/>
              <a:buFontTx/>
              <a:buNone/>
              <a:tabLst/>
              <a:defRPr/>
            </a:pPr>
            <a:endParaRPr kumimoji="0" lang="ja-JP" altLang="en-US" sz="1600" b="0" i="0" u="none" strike="noStrike" kern="1200" cap="none" spc="0" normalizeH="0" baseline="0" noProof="0" dirty="0">
              <a:ln>
                <a:noFill/>
              </a:ln>
              <a:solidFill>
                <a:prstClr val="black"/>
              </a:solidFill>
              <a:effectLst/>
              <a:uLnTx/>
              <a:uFillTx/>
              <a:latin typeface="Yu Gothic"/>
              <a:ea typeface="+mn-ea"/>
              <a:cs typeface="Yu Gothic"/>
            </a:endParaRPr>
          </a:p>
          <a:p>
            <a:pPr marL="12700" marR="309880" lvl="0" indent="0" algn="l" defTabSz="914400" rtl="0" eaLnBrk="1" fontAlgn="auto" latinLnBrk="0" hangingPunct="1">
              <a:lnSpc>
                <a:spcPct val="8850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私が所属するチームは最初は前者の方針で進めたが、手の早いメンバーがどんどん作業を巻き取っていき、最終的に後者の方針にスイッチした。精通していない分野の明文化は確かに大変ではあったが、あるメンバーは</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別チームの有識者に熱心なヒアリングを行うことでこの難局を乗り切った。</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309245" lvl="0" indent="0" algn="just" defTabSz="914400" rtl="0" eaLnBrk="1" fontAlgn="auto" latinLnBrk="0" hangingPunct="1">
              <a:lnSpc>
                <a:spcPct val="80000"/>
              </a:lnSpc>
              <a:spcBef>
                <a:spcPts val="54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そのメンバーは有識者とのコミュニケーションや新しい知見の獲得を楽しんだようで、</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精通していない分野のドキュメンテーションはポジティヴな体験をもたらすことすらあ</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る</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p:txBody>
      </p:sp>
    </p:spTree>
    <p:extLst>
      <p:ext uri="{BB962C8B-B14F-4D97-AF65-F5344CB8AC3E}">
        <p14:creationId xmlns:p14="http://schemas.microsoft.com/office/powerpoint/2010/main" val="2572583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⑨</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レビュー</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ct val="98500"/>
              </a:lnSpc>
              <a:spcBef>
                <a:spcPts val="290"/>
              </a:spcBef>
              <a:spcAft>
                <a:spcPts val="0"/>
              </a:spcAft>
              <a:buClrTx/>
              <a:buSzTx/>
              <a:buFontTx/>
              <a:buNone/>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社内技術ドキュメンテーションのワークフロ</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ー</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に則り、読み手目線</a:t>
            </a:r>
            <a:r>
              <a:rPr kumimoji="0" lang="ja-JP" altLang="en-US" sz="2400" b="0" i="0" u="none" strike="noStrike" kern="1200" cap="none" spc="-10" normalizeH="0" baseline="0" noProof="0" dirty="0">
                <a:ln>
                  <a:noFill/>
                </a:ln>
                <a:solidFill>
                  <a:prstClr val="black"/>
                </a:solidFill>
                <a:effectLst/>
                <a:uLnTx/>
                <a:uFillTx/>
                <a:latin typeface="Yu Gothic"/>
                <a:ea typeface="+mn-ea"/>
                <a:cs typeface="Yu Gothic"/>
              </a:rPr>
              <a:t>で</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設計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と内容を精査し、不自由さをフィードバックするのがこの段階である。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具体的には、以下の観点を持ち、その上で不便さがあれば適宜フィード</a:t>
            </a:r>
          </a:p>
          <a:p>
            <a:pPr marL="12700" marR="0" lvl="0" indent="0" algn="l" defTabSz="914400" rtl="0" eaLnBrk="1" fontAlgn="auto" latinLnBrk="0" hangingPunct="1">
              <a:lnSpc>
                <a:spcPts val="259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バックすると良い。</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75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0"/>
              </a:spcBef>
              <a:spcAft>
                <a:spcPts val="0"/>
              </a:spcAft>
              <a:buClr>
                <a:srgbClr val="3C4249"/>
              </a:buClr>
              <a:buSzTx/>
              <a:buFont typeface="Arial MT"/>
              <a:buChar char="•"/>
              <a:tabLst>
                <a:tab pos="282575" algn="l"/>
                <a:tab pos="283210" algn="l"/>
              </a:tabLst>
              <a:defRPr/>
            </a:pP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5"/>
              </a:rPr>
              <a:t>科学的であるか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204"/>
              </a:spcBef>
              <a:spcAft>
                <a:spcPts val="0"/>
              </a:spcAft>
              <a:buClr>
                <a:srgbClr val="3C4249"/>
              </a:buClr>
              <a:buSzTx/>
              <a:buFont typeface="Arial MT"/>
              <a:buChar char="•"/>
              <a:tabLst>
                <a:tab pos="282575" algn="l"/>
                <a:tab pos="283210" algn="l"/>
              </a:tabLst>
              <a:defRPr/>
            </a:pP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効率的であるか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215"/>
              </a:spcBef>
              <a:spcAft>
                <a:spcPts val="0"/>
              </a:spcAft>
              <a:buClr>
                <a:srgbClr val="3C4249"/>
              </a:buClr>
              <a:buSzTx/>
              <a:buFont typeface="Arial MT"/>
              <a:buChar char="•"/>
              <a:tabLst>
                <a:tab pos="282575" algn="l"/>
                <a:tab pos="283210" algn="l"/>
              </a:tabLst>
              <a:defRPr/>
            </a:pPr>
            <a:r>
              <a:rPr kumimoji="0" lang="ja-JP" altLang="en-US" sz="2400" b="1"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7"/>
              </a:rPr>
              <a:t>印象的であるか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ct val="100000"/>
              </a:lnSpc>
              <a:spcBef>
                <a:spcPts val="220"/>
              </a:spcBef>
              <a:spcAft>
                <a:spcPts val="0"/>
              </a:spcAft>
              <a:buClr>
                <a:srgbClr val="3C4249"/>
              </a:buClr>
              <a:buSzTx/>
              <a:buFont typeface="Arial MT"/>
              <a:buChar char="•"/>
              <a:tabLst>
                <a:tab pos="282575" algn="l"/>
                <a:tab pos="283210" algn="l"/>
              </a:tabLst>
              <a:defRPr/>
            </a:pPr>
            <a:r>
              <a:rPr kumimoji="0" lang="ja-JP" altLang="en-US" sz="2400" b="1"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8"/>
              </a:rPr>
              <a:t>想定読者層が明確であるか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42578982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社内技術ドキュメンテーションの実践的</a:t>
            </a:r>
            <a:r>
              <a:rPr kumimoji="0" lang="en-US"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10</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の手順</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84"/>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⑩</a:t>
            </a:r>
            <a:r>
              <a:rPr kumimoji="0" lang="ja-JP" altLang="en-US" sz="2800" b="1" i="0" u="none" strike="noStrike" kern="1200" cap="none" spc="-165" normalizeH="0" baseline="0" noProof="0" dirty="0">
                <a:ln>
                  <a:noFill/>
                </a:ln>
                <a:solidFill>
                  <a:prstClr val="black"/>
                </a:solidFill>
                <a:effectLst/>
                <a:uLnTx/>
                <a:uFillTx/>
                <a:latin typeface="Yu Gothic"/>
                <a:ea typeface="+mn-ea"/>
                <a:cs typeface="Yu Gothic"/>
              </a:rPr>
              <a:t> </a:t>
            </a:r>
            <a:r>
              <a:rPr kumimoji="0" lang="ja-JP" altLang="en-US" sz="2800" b="1" i="0" u="none" strike="noStrike" kern="1200" cap="none" spc="-5" normalizeH="0" baseline="0" noProof="0" dirty="0">
                <a:ln>
                  <a:noFill/>
                </a:ln>
                <a:solidFill>
                  <a:prstClr val="black"/>
                </a:solidFill>
                <a:effectLst/>
                <a:uLnTx/>
                <a:uFillTx/>
                <a:latin typeface="Yu Gothic"/>
                <a:ea typeface="+mn-ea"/>
                <a:cs typeface="Yu Gothic"/>
              </a:rPr>
              <a:t>公開</a:t>
            </a:r>
            <a:endParaRPr kumimoji="0" lang="ja-JP" altLang="en-US" sz="28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ct val="100000"/>
              </a:lnSpc>
              <a:spcBef>
                <a:spcPts val="245"/>
              </a:spcBef>
              <a:spcAft>
                <a:spcPts val="0"/>
              </a:spcAft>
              <a:buClrTx/>
              <a:buSzTx/>
              <a:buFontTx/>
              <a:buNone/>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レビュー</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をクリアしたら、</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然るべきフロー</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で文書を公開する。</a:t>
            </a:r>
          </a:p>
          <a:p>
            <a:pPr marL="12700" marR="265430" lvl="0" indent="0" algn="l" defTabSz="914400" rtl="0" eaLnBrk="1" fontAlgn="auto" latinLnBrk="0" hangingPunct="1">
              <a:lnSpc>
                <a:spcPts val="2590"/>
              </a:lnSpc>
              <a:spcBef>
                <a:spcPts val="53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公開した文書はステークホルダーに情報をインプットしてもらうことが目 的なので、参照してもらえなければ意味がな</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a:p>
            <a:pPr marL="0" marR="0" lvl="0" indent="0" algn="l" defTabSz="914400" rtl="0" eaLnBrk="1" fontAlgn="auto" latinLnBrk="0" hangingPunct="1">
              <a:lnSpc>
                <a:spcPct val="100000"/>
              </a:lnSpc>
              <a:spcBef>
                <a:spcPts val="15"/>
              </a:spcBef>
              <a:spcAft>
                <a:spcPts val="0"/>
              </a:spcAft>
              <a:buClrTx/>
              <a:buSzTx/>
              <a:buFontTx/>
              <a:buNone/>
              <a:tabLst/>
              <a:defRPr/>
            </a:pP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12700" marR="265430" lvl="0" indent="0" algn="l" defTabSz="914400" rtl="0" eaLnBrk="1" fontAlgn="auto" latinLnBrk="0" hangingPunct="1">
              <a:lnSpc>
                <a:spcPts val="2590"/>
              </a:lnSpc>
              <a:spcBef>
                <a:spcPts val="0"/>
              </a:spcBef>
              <a:spcAft>
                <a:spcPts val="0"/>
              </a:spcAft>
              <a:buClrTx/>
              <a:buSzTx/>
              <a:buFontTx/>
              <a:buNone/>
              <a:tabLst/>
              <a:defRPr/>
            </a:pP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公開後は然るべきステークホルダーに広報し、文書の存在を知ってもらい フィードバックを積極的に得て品質向上に役立ててい</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く</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p>
          <a:p>
            <a:pPr marL="12700" marR="5080" lvl="0" indent="0" algn="just" defTabSz="914400" rtl="0" eaLnBrk="1" fontAlgn="auto" latinLnBrk="0" hangingPunct="1">
              <a:lnSpc>
                <a:spcPct val="90100"/>
              </a:lnSpc>
              <a:spcBef>
                <a:spcPts val="45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あとは</a:t>
            </a:r>
            <a:r>
              <a:rPr kumimoji="0" lang="ja-JP" altLang="en-US" sz="2400" b="0" i="0" u="none" strike="noStrike" kern="1200" cap="none" spc="-145" normalizeH="0" baseline="0" noProof="0" dirty="0">
                <a:ln>
                  <a:noFill/>
                </a:ln>
                <a:solidFill>
                  <a:prstClr val="black"/>
                </a:solidFill>
                <a:effectLst/>
                <a:uLnTx/>
                <a:uFillTx/>
                <a:latin typeface="Yu Gothic"/>
                <a:ea typeface="+mn-ea"/>
                <a:cs typeface="Yu Gothic"/>
              </a:rPr>
              <a:t> </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Owne</a:t>
            </a:r>
            <a:r>
              <a:rPr kumimoji="0" lang="en-US" altLang="ja-JP" sz="2400" b="0" i="0" u="none" strike="noStrike" kern="1200" cap="none" spc="-35" normalizeH="0" baseline="0" noProof="0" dirty="0">
                <a:ln>
                  <a:noFill/>
                </a:ln>
                <a:solidFill>
                  <a:prstClr val="black"/>
                </a:solidFill>
                <a:effectLst/>
                <a:uLnTx/>
                <a:uFillTx/>
                <a:latin typeface="Calibri"/>
                <a:ea typeface="+mn-ea"/>
                <a:cs typeface="Calibri"/>
              </a:rPr>
              <a:t>r</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shi</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p</a:t>
            </a:r>
            <a:r>
              <a:rPr kumimoji="0" lang="ja-JP" altLang="en-US" sz="2400" b="0" i="0" u="none" strike="noStrike" kern="1200" cap="none" spc="-5" normalizeH="0" baseline="0" noProof="0" dirty="0">
                <a:ln>
                  <a:noFill/>
                </a:ln>
                <a:solidFill>
                  <a:prstClr val="black"/>
                </a:solidFill>
                <a:effectLst/>
                <a:uLnTx/>
                <a:uFillTx/>
                <a:latin typeface="Calibri"/>
                <a:ea typeface="+mn-ea"/>
                <a:cs typeface="Calibri"/>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を持つメンバーやチームが責任を持って文書を運用してい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けば</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a:t>
            </a:r>
            <a:r>
              <a:rPr kumimoji="0" lang="ja-JP" altLang="en-US" sz="2400" b="0" i="0" u="none" strike="noStrike" kern="1200" cap="none" spc="-160" normalizeH="0" baseline="0" noProof="0" dirty="0">
                <a:ln>
                  <a:noFill/>
                </a:ln>
                <a:solidFill>
                  <a:prstClr val="black"/>
                </a:solidFill>
                <a:effectLst/>
                <a:uLnTx/>
                <a:uFillTx/>
                <a:latin typeface="Yu Gothic"/>
                <a:ea typeface="+mn-ea"/>
                <a:cs typeface="Yu Gothic"/>
              </a:rPr>
              <a:t> </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5"/>
              </a:rPr>
              <a:t>体系的社内技術ドキュメンテーション</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5"/>
              </a:rPr>
              <a:t>の</a:t>
            </a:r>
            <a:r>
              <a:rPr kumimoji="0" lang="en-US" altLang="ja-JP"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3</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5"/>
              </a:rPr>
              <a:t>大恩恵</a:t>
            </a:r>
            <a:r>
              <a:rPr kumimoji="0" lang="ja-JP" altLang="en-US" sz="2400" b="0" i="0" u="none" strike="noStrike" kern="1200" cap="none" spc="-5" normalizeH="0" baseline="0" noProof="0" dirty="0">
                <a:ln>
                  <a:noFill/>
                </a:ln>
                <a:solidFill>
                  <a:srgbClr val="3C4249"/>
                </a:solidFill>
                <a:effectLst/>
                <a:uLnTx/>
                <a:uFillTx/>
                <a:latin typeface="Yu Gothic"/>
                <a:ea typeface="+mn-ea"/>
                <a:cs typeface="Yu Gothic"/>
              </a:rPr>
              <a:t>を享受し続けられる </a:t>
            </a:r>
            <a:r>
              <a:rPr kumimoji="0" lang="ja-JP" altLang="en-US" sz="2400" b="0" i="0" u="none" strike="noStrike" kern="1200" cap="none" spc="0" normalizeH="0" baseline="0" noProof="0" dirty="0">
                <a:ln>
                  <a:noFill/>
                </a:ln>
                <a:solidFill>
                  <a:srgbClr val="3C4249"/>
                </a:solidFill>
                <a:effectLst/>
                <a:uLnTx/>
                <a:uFillTx/>
                <a:latin typeface="Yu Gothic"/>
                <a:ea typeface="+mn-ea"/>
                <a:cs typeface="Yu Gothic"/>
              </a:rPr>
              <a:t>だろう。</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22052035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latin typeface="Calibri (Headings)"/>
              </a:rPr>
              <a:t>4. </a:t>
            </a:r>
            <a:r>
              <a:rPr lang="ja-JP" altLang="en-US" b="1" dirty="0">
                <a:latin typeface="Calibri (Headings)"/>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63034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b="1" dirty="0">
                <a:latin typeface="Calibri (Headings)"/>
              </a:rPr>
              <a:t>4. </a:t>
            </a:r>
            <a:r>
              <a:rPr lang="ja-JP" altLang="en-US" b="1" dirty="0">
                <a:latin typeface="Calibri (Headings)"/>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282575" marR="0" lvl="0" indent="-270510" algn="l" defTabSz="914400" rtl="0" eaLnBrk="1" fontAlgn="auto" latinLnBrk="0" hangingPunct="1">
              <a:lnSpc>
                <a:spcPts val="2225"/>
              </a:lnSpc>
              <a:spcBef>
                <a:spcPts val="95"/>
              </a:spcBef>
              <a:spcAft>
                <a:spcPts val="0"/>
              </a:spcAft>
              <a:buClr>
                <a:srgbClr val="000000"/>
              </a:buClr>
              <a:buSzTx/>
              <a:buFont typeface="Calibri"/>
              <a:buAutoNum type="arabicPeriod"/>
              <a:tabLst>
                <a:tab pos="283210" algn="l"/>
              </a:tabLst>
              <a:defRPr/>
            </a:pPr>
            <a:r>
              <a:rPr kumimoji="0" lang="ja-JP" altLang="en-US" sz="1900" b="1"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回避不可能</a:t>
            </a:r>
            <a:r>
              <a:rPr kumimoji="0" lang="ja-JP" altLang="en-US" sz="1900" b="1" i="0" u="sng" strike="noStrike" kern="1200" cap="none" spc="-10" normalizeH="0" baseline="0" noProof="0" dirty="0">
                <a:ln>
                  <a:noFill/>
                </a:ln>
                <a:solidFill>
                  <a:srgbClr val="0462C1"/>
                </a:solidFill>
                <a:effectLst/>
                <a:uLnTx/>
                <a:uFill>
                  <a:solidFill>
                    <a:srgbClr val="0462C1"/>
                  </a:solidFill>
                </a:uFill>
                <a:latin typeface="Yu Gothic"/>
                <a:ea typeface="+mn-ea"/>
                <a:cs typeface="Yu Gothic"/>
                <a:hlinkClick r:id="rId3"/>
              </a:rPr>
              <a:t>な</a:t>
            </a:r>
            <a:r>
              <a:rPr kumimoji="0" lang="en-US" altLang="ja-JP" sz="1900" b="1" i="0" u="sng"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5</a:t>
            </a:r>
            <a:r>
              <a:rPr kumimoji="0" lang="ja-JP" altLang="en-US" sz="1900" b="1"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大トレードオフへ</a:t>
            </a:r>
            <a:r>
              <a:rPr kumimoji="0" lang="ja-JP" altLang="en-US" sz="19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の</a:t>
            </a:r>
            <a:r>
              <a:rPr kumimoji="0" lang="ja-JP" altLang="en-US" sz="1900" b="1"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向き</a:t>
            </a:r>
            <a:r>
              <a:rPr kumimoji="0" lang="ja-JP" altLang="en-US" sz="19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合</a:t>
            </a:r>
            <a:r>
              <a:rPr kumimoji="0" lang="ja-JP" altLang="en-US" sz="1900" b="1"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い方</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30"/>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属人性排除タスクそれ</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4"/>
              </a:rPr>
              <a:t>自</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体の</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4"/>
              </a:rPr>
              <a:t>属</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4"/>
              </a:rPr>
              <a:t>人性</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25"/>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5"/>
              </a:rPr>
              <a:t>チーム作業の形成すべ</a:t>
            </a:r>
            <a:r>
              <a:rPr kumimoji="0" lang="ja-JP" altLang="en-US" sz="1700" b="0" i="0" u="sng" strike="noStrike" kern="1200" cap="none" spc="-10" normalizeH="0" baseline="0" noProof="0" dirty="0">
                <a:ln>
                  <a:noFill/>
                </a:ln>
                <a:solidFill>
                  <a:srgbClr val="0462C1"/>
                </a:solidFill>
                <a:effectLst/>
                <a:uLnTx/>
                <a:uFill>
                  <a:solidFill>
                    <a:srgbClr val="0462C1"/>
                  </a:solidFill>
                </a:uFill>
                <a:latin typeface="Yu Gothic"/>
                <a:ea typeface="+mn-ea"/>
                <a:cs typeface="Yu Gothic"/>
                <a:hlinkClick r:id="rId5"/>
              </a:rPr>
              <a:t>き</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5"/>
              </a:rPr>
              <a:t>合意</a:t>
            </a:r>
            <a:r>
              <a:rPr kumimoji="0" lang="ja-JP" altLang="en-US" sz="1700" b="0" i="0" u="sng" strike="noStrike" kern="1200" cap="none" spc="-10" normalizeH="0" baseline="0" noProof="0" dirty="0">
                <a:ln>
                  <a:noFill/>
                </a:ln>
                <a:solidFill>
                  <a:srgbClr val="0462C1"/>
                </a:solidFill>
                <a:effectLst/>
                <a:uLnTx/>
                <a:uFill>
                  <a:solidFill>
                    <a:srgbClr val="0462C1"/>
                  </a:solidFill>
                </a:uFill>
                <a:latin typeface="Yu Gothic"/>
                <a:ea typeface="+mn-ea"/>
                <a:cs typeface="Yu Gothic"/>
                <a:hlinkClick r:id="rId5"/>
              </a:rPr>
              <a:t>内</a:t>
            </a:r>
            <a:r>
              <a:rPr kumimoji="0" lang="ja-JP" altLang="en-US" sz="1700" b="0"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5"/>
              </a:rPr>
              <a:t>容</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25"/>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ステークホルダーの数</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6"/>
              </a:rPr>
              <a:t>と</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文書</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6"/>
              </a:rPr>
              <a:t>の</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最新</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6"/>
              </a:rPr>
              <a:t>状</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態追</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6"/>
              </a:rPr>
              <a:t>従</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度の</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6"/>
              </a:rPr>
              <a:t>反</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6"/>
              </a:rPr>
              <a:t>比例</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30"/>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7"/>
              </a:rPr>
              <a:t>継続的品質担保責任の</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7"/>
              </a:rPr>
              <a:t>発</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7"/>
              </a:rPr>
              <a:t>生</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85"/>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8"/>
              </a:rPr>
              <a:t>投資コストの限界値の</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8"/>
              </a:rPr>
              <a:t>見</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8"/>
              </a:rPr>
              <a:t>極め</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8"/>
              </a:rPr>
              <a:t>の</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8"/>
              </a:rPr>
              <a:t>難しさ</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ts val="2230"/>
              </a:lnSpc>
              <a:spcBef>
                <a:spcPts val="305"/>
              </a:spcBef>
              <a:spcAft>
                <a:spcPts val="0"/>
              </a:spcAft>
              <a:buClr>
                <a:srgbClr val="000000"/>
              </a:buClr>
              <a:buSzTx/>
              <a:buFont typeface="Calibri"/>
              <a:buAutoNum type="arabicPeriod"/>
              <a:tabLst>
                <a:tab pos="283210" algn="l"/>
              </a:tabLst>
              <a:defRPr/>
            </a:pPr>
            <a:r>
              <a:rPr kumimoji="0" lang="ja-JP" altLang="en-US" sz="1900" b="1"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9"/>
              </a:rPr>
              <a:t>社内技術ドキュメンテーションの</a:t>
            </a:r>
            <a:r>
              <a:rPr kumimoji="0" lang="ja-JP" altLang="en-US" sz="19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9"/>
              </a:rPr>
              <a:t>実</a:t>
            </a:r>
            <a:r>
              <a:rPr kumimoji="0" lang="ja-JP" altLang="en-US" sz="1900" b="1"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9"/>
              </a:rPr>
              <a:t>践</a:t>
            </a:r>
            <a:r>
              <a:rPr kumimoji="0" lang="ja-JP" altLang="en-US" sz="1900" b="1"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9"/>
              </a:rPr>
              <a:t>的</a:t>
            </a:r>
            <a:r>
              <a:rPr kumimoji="0" lang="en-US" altLang="ja-JP" sz="1900" b="1" i="0" u="sng"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9"/>
              </a:rPr>
              <a:t>1</a:t>
            </a:r>
            <a:r>
              <a:rPr kumimoji="0" lang="en-US" altLang="ja-JP" sz="1900" b="1"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9"/>
              </a:rPr>
              <a:t>0</a:t>
            </a:r>
            <a:r>
              <a:rPr kumimoji="0" lang="ja-JP" altLang="en-US" sz="1900" b="1" i="0" u="sng"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9"/>
              </a:rPr>
              <a:t>の手順</a:t>
            </a:r>
            <a:endParaRPr kumimoji="0" lang="ja-JP" altLang="en-US" sz="19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30"/>
              </a:lnSpc>
              <a:spcBef>
                <a:spcPts val="0"/>
              </a:spcBef>
              <a:spcAft>
                <a:spcPts val="0"/>
              </a:spcAft>
              <a:buClr>
                <a:srgbClr val="000000"/>
              </a:buClr>
              <a:buSzTx/>
              <a:buFontTx/>
              <a:buAutoNum type="arabicPeriod"/>
              <a:tabLst>
                <a:tab pos="729615" algn="l"/>
              </a:tabLst>
              <a:defRPr/>
            </a:pPr>
            <a:r>
              <a:rPr kumimoji="0" lang="en-US" altLang="ja-JP" sz="1700" b="0" i="0" u="sng"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10"/>
              </a:rPr>
              <a:t>5W1H</a:t>
            </a:r>
            <a:r>
              <a:rPr kumimoji="0" lang="ja-JP" altLang="en-US" sz="1700" b="0" i="0" u="sng" strike="noStrike" kern="1200" cap="none" spc="-40" normalizeH="0" baseline="0" noProof="0" dirty="0">
                <a:ln>
                  <a:noFill/>
                </a:ln>
                <a:solidFill>
                  <a:srgbClr val="0462C1"/>
                </a:solidFill>
                <a:effectLst/>
                <a:uLnTx/>
                <a:uFill>
                  <a:solidFill>
                    <a:srgbClr val="0462C1"/>
                  </a:solidFill>
                </a:uFill>
                <a:latin typeface="Calibri"/>
                <a:ea typeface="+mn-ea"/>
                <a:cs typeface="Calibri"/>
                <a:hlinkClick r:id="rId10"/>
              </a:rPr>
              <a:t> </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0"/>
              </a:rPr>
              <a:t>の明確化</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25"/>
              </a:lnSpc>
              <a:spcBef>
                <a:spcPts val="0"/>
              </a:spcBef>
              <a:spcAft>
                <a:spcPts val="0"/>
              </a:spcAft>
              <a:buClr>
                <a:srgbClr val="000000"/>
              </a:buClr>
              <a:buSzTx/>
              <a:buFontTx/>
              <a:buAutoNum type="arabicPeriod"/>
              <a:tabLst>
                <a:tab pos="729615" algn="l"/>
              </a:tabLst>
              <a:defRPr/>
            </a:pPr>
            <a:r>
              <a:rPr kumimoji="0" lang="en-US" altLang="ja-JP" sz="1700" b="0" i="0" u="sng"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11"/>
              </a:rPr>
              <a:t>Ownership</a:t>
            </a:r>
            <a:r>
              <a:rPr kumimoji="0" lang="ja-JP" altLang="en-US" sz="1700" b="0" i="0" u="sng" strike="noStrike" kern="1200" cap="none" spc="-60" normalizeH="0" baseline="0" noProof="0" dirty="0">
                <a:ln>
                  <a:noFill/>
                </a:ln>
                <a:solidFill>
                  <a:srgbClr val="0462C1"/>
                </a:solidFill>
                <a:effectLst/>
                <a:uLnTx/>
                <a:uFill>
                  <a:solidFill>
                    <a:srgbClr val="0462C1"/>
                  </a:solidFill>
                </a:uFill>
                <a:latin typeface="Calibri"/>
                <a:ea typeface="+mn-ea"/>
                <a:cs typeface="Calibri"/>
                <a:hlinkClick r:id="rId11"/>
              </a:rPr>
              <a:t> </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1"/>
              </a:rPr>
              <a:t>とステークホルダーの</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11"/>
              </a:rPr>
              <a:t>明</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1"/>
              </a:rPr>
              <a:t>確化</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30"/>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2"/>
              </a:rPr>
              <a:t>文書の置き場と公開場</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12"/>
              </a:rPr>
              <a:t>所</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2"/>
              </a:rPr>
              <a:t>の検討</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25"/>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3"/>
              </a:rPr>
              <a:t>文書化対象の情報の洗</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13"/>
              </a:rPr>
              <a:t>い</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3"/>
              </a:rPr>
              <a:t>出し</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25"/>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4"/>
              </a:rPr>
              <a:t>文書全体の構成検討</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35"/>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5"/>
              </a:rPr>
              <a:t>文体・描画ツールの合</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15"/>
              </a:rPr>
              <a:t>意</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5"/>
              </a:rPr>
              <a:t>形成</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30"/>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6"/>
              </a:rPr>
              <a:t>節・</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mn-ea"/>
                <a:cs typeface="Yu Gothic"/>
                <a:hlinkClick r:id="rId16"/>
              </a:rPr>
              <a:t>章</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6"/>
              </a:rPr>
              <a:t>ごとの明文化難</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16"/>
              </a:rPr>
              <a:t>易</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6"/>
              </a:rPr>
              <a:t>度評価</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25"/>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7"/>
              </a:rPr>
              <a:t>節・</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mn-ea"/>
                <a:cs typeface="Yu Gothic"/>
                <a:hlinkClick r:id="rId17"/>
              </a:rPr>
              <a:t>章</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7"/>
              </a:rPr>
              <a:t>ごとの担当者割</a:t>
            </a:r>
            <a:r>
              <a:rPr kumimoji="0" lang="ja-JP" altLang="en-US" sz="1700" b="0" i="0" u="sng" strike="noStrike" kern="1200" cap="none" spc="-15" normalizeH="0" baseline="0" noProof="0" dirty="0">
                <a:ln>
                  <a:noFill/>
                </a:ln>
                <a:solidFill>
                  <a:srgbClr val="0462C1"/>
                </a:solidFill>
                <a:effectLst/>
                <a:uLnTx/>
                <a:uFill>
                  <a:solidFill>
                    <a:srgbClr val="0462C1"/>
                  </a:solidFill>
                </a:uFill>
                <a:latin typeface="Yu Gothic"/>
                <a:ea typeface="+mn-ea"/>
                <a:cs typeface="Yu Gothic"/>
                <a:hlinkClick r:id="rId17"/>
              </a:rPr>
              <a:t>り</a:t>
            </a: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7"/>
              </a:rPr>
              <a:t>振り</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28980" marR="0" lvl="1" indent="-259715" algn="l" defTabSz="914400" rtl="0" eaLnBrk="1" fontAlgn="auto" latinLnBrk="0" hangingPunct="1">
              <a:lnSpc>
                <a:spcPts val="1930"/>
              </a:lnSpc>
              <a:spcBef>
                <a:spcPts val="0"/>
              </a:spcBef>
              <a:spcAft>
                <a:spcPts val="0"/>
              </a:spcAft>
              <a:buClr>
                <a:srgbClr val="000000"/>
              </a:buClr>
              <a:buSzTx/>
              <a:buFont typeface="Calibri"/>
              <a:buAutoNum type="arabicPeriod"/>
              <a:tabLst>
                <a:tab pos="729615"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8"/>
              </a:rPr>
              <a:t>レビュー</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a:p>
            <a:pPr marL="744855" marR="0" lvl="1" indent="-275590" algn="l" defTabSz="914400" rtl="0" eaLnBrk="1" fontAlgn="auto" latinLnBrk="0" hangingPunct="1">
              <a:lnSpc>
                <a:spcPts val="1985"/>
              </a:lnSpc>
              <a:spcBef>
                <a:spcPts val="0"/>
              </a:spcBef>
              <a:spcAft>
                <a:spcPts val="0"/>
              </a:spcAft>
              <a:buClr>
                <a:srgbClr val="000000"/>
              </a:buClr>
              <a:buSzTx/>
              <a:buFont typeface="Calibri"/>
              <a:buAutoNum type="arabicPeriod"/>
              <a:tabLst>
                <a:tab pos="745490" algn="l"/>
              </a:tabLst>
              <a:defRPr/>
            </a:pPr>
            <a:r>
              <a:rPr kumimoji="0" lang="ja-JP" altLang="en-US" sz="1700" b="0" i="0" u="sng"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19"/>
              </a:rPr>
              <a:t>公開</a:t>
            </a:r>
            <a:endParaRPr kumimoji="0" lang="ja-JP" altLang="en-US" sz="1700" b="0" i="0" u="none" strike="noStrike" kern="1200" cap="none" spc="0" normalizeH="0" baseline="0" noProof="0" dirty="0">
              <a:ln>
                <a:noFill/>
              </a:ln>
              <a:solidFill>
                <a:prstClr val="black"/>
              </a:solidFill>
              <a:effectLst/>
              <a:uLnTx/>
              <a:uFillTx/>
              <a:latin typeface="Yu Gothic"/>
              <a:ea typeface="+mn-ea"/>
              <a:cs typeface="Yu Gothic"/>
            </a:endParaRPr>
          </a:p>
        </p:txBody>
      </p:sp>
    </p:spTree>
    <p:extLst>
      <p:ext uri="{BB962C8B-B14F-4D97-AF65-F5344CB8AC3E}">
        <p14:creationId xmlns:p14="http://schemas.microsoft.com/office/powerpoint/2010/main" val="36980407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5.</a:t>
            </a:r>
            <a:r>
              <a:rPr lang="en-GB" altLang="ja-JP" b="1" dirty="0">
                <a:latin typeface="Calibri (Headings)"/>
              </a:rPr>
              <a:t> </a:t>
            </a:r>
            <a:r>
              <a:rPr lang="ja-JP" altLang="en-US" b="1" dirty="0">
                <a:latin typeface="Calibri (Headings)"/>
                <a:sym typeface="Arial"/>
              </a:rPr>
              <a:t>おわりに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5.</a:t>
            </a:r>
            <a:r>
              <a:rPr lang="en-GB" altLang="ja-JP" b="1" dirty="0">
                <a:latin typeface="Calibri (Headings)"/>
              </a:rPr>
              <a:t> </a:t>
            </a:r>
            <a:r>
              <a:rPr lang="ja-JP" altLang="en-US" b="1" dirty="0">
                <a:latin typeface="Calibri (Headings)"/>
                <a:sym typeface="Arial"/>
              </a:rPr>
              <a:t>おわりに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12700" marR="310515" lvl="0" indent="0" algn="l" defTabSz="914400" rtl="0" eaLnBrk="1" fontAlgn="auto" latinLnBrk="0" hangingPunct="1">
              <a:lnSpc>
                <a:spcPts val="2590"/>
              </a:lnSpc>
              <a:spcBef>
                <a:spcPts val="42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社内技術ドキュメンテーションはその重要度と難易度に見合った評価を得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辛い作業という印象がある。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310515" lvl="0" indent="0" algn="l" defTabSz="914400" rtl="0" eaLnBrk="1" fontAlgn="auto" latinLnBrk="0" hangingPunct="1">
              <a:lnSpc>
                <a:spcPts val="2590"/>
              </a:lnSpc>
              <a:spcBef>
                <a:spcPts val="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私自身、エンジニア界隈ではドキュメンテーションよりコードを書くのが 正義という伝統と文化がある印象を持っている。</a:t>
            </a:r>
          </a:p>
          <a:p>
            <a:pPr marL="12700" marR="310515" lvl="0" indent="0" algn="l" defTabSz="914400" rtl="0" eaLnBrk="1" fontAlgn="auto" latinLnBrk="0" hangingPunct="1">
              <a:lnSpc>
                <a:spcPts val="259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確かにコードは最新の仕様や要件に則って書かれたものが多いので、それ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を読めば良いという意見も一理ある。</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5080" lvl="0" indent="0" algn="l" defTabSz="914400" rtl="0" eaLnBrk="1" fontAlgn="auto" latinLnBrk="0" hangingPunct="1">
              <a:lnSpc>
                <a:spcPts val="2590"/>
              </a:lnSpc>
              <a:spcBef>
                <a:spcPts val="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しかし、「</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3"/>
              </a:rPr>
              <a:t>技術者と非技術者間のコミュニケーショ</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Yu Gothic"/>
                <a:ea typeface="+mn-ea"/>
                <a:cs typeface="Yu Gothic"/>
                <a:hlinkClick r:id="rId3"/>
              </a:rPr>
              <a:t>ン</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」でも述べたように、 技術者だけで完結する仕事は実際は多くなく、非技術者に分かるように言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 </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語化する能力はソフトウェアエンジニアに必須である。</a:t>
            </a: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lang="ja-JP" altLang="en-US" sz="1350" b="0" i="0" u="none" strike="noStrike" kern="1200" cap="none" spc="0" normalizeH="0" baseline="0" noProof="0" dirty="0">
              <a:ln>
                <a:noFill/>
              </a:ln>
              <a:solidFill>
                <a:prstClr val="black"/>
              </a:solidFill>
              <a:effectLst/>
              <a:uLnTx/>
              <a:uFillTx/>
              <a:latin typeface="Yu Gothic"/>
              <a:ea typeface="+mn-ea"/>
              <a:cs typeface="Yu Gothic"/>
            </a:endParaRPr>
          </a:p>
          <a:p>
            <a:pPr marL="12700" marR="5715" lvl="0" indent="0" algn="l" defTabSz="914400" rtl="0" eaLnBrk="1" fontAlgn="auto" latinLnBrk="0" hangingPunct="1">
              <a:lnSpc>
                <a:spcPts val="259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幸い私が所属する部署は比較的ドキュメンテーション文化が根付いており、 適切に評価されるし言語化能力の高いメンバーも多い。</a:t>
            </a:r>
          </a:p>
        </p:txBody>
      </p:sp>
    </p:spTree>
    <p:extLst>
      <p:ext uri="{BB962C8B-B14F-4D97-AF65-F5344CB8AC3E}">
        <p14:creationId xmlns:p14="http://schemas.microsoft.com/office/powerpoint/2010/main" val="35154773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5.</a:t>
            </a:r>
            <a:r>
              <a:rPr lang="en-GB" altLang="ja-JP" b="1" dirty="0">
                <a:latin typeface="Calibri (Headings)"/>
              </a:rPr>
              <a:t> </a:t>
            </a:r>
            <a:r>
              <a:rPr lang="ja-JP" altLang="en-US" b="1" dirty="0">
                <a:latin typeface="Calibri (Headings)"/>
                <a:sym typeface="Arial"/>
              </a:rPr>
              <a:t>おわりに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12700" marR="264795" lvl="0" indent="0" algn="just" defTabSz="914400" rtl="0" eaLnBrk="1" fontAlgn="auto" latinLnBrk="0" hangingPunct="1">
              <a:lnSpc>
                <a:spcPct val="80100"/>
              </a:lnSpc>
              <a:spcBef>
                <a:spcPts val="67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これまで</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4</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社経験してきたが</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2024</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02</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月現</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在</a:t>
            </a:r>
            <a:r>
              <a:rPr kumimoji="0" lang="en-US" altLang="ja-JP" sz="24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、その中で出会ったドキュメ </a:t>
            </a: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ンテーション習慣のあるエンジニアの共通点</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は</a:t>
            </a:r>
            <a:r>
              <a:rPr kumimoji="0" lang="ja-JP" altLang="en-US" sz="2400" b="1" i="0" u="none" strike="noStrike" kern="1200" cap="none" spc="-5" normalizeH="0" baseline="0" noProof="0" dirty="0">
                <a:ln>
                  <a:noFill/>
                </a:ln>
                <a:solidFill>
                  <a:prstClr val="black"/>
                </a:solidFill>
                <a:effectLst/>
                <a:uLnTx/>
                <a:uFillTx/>
                <a:latin typeface="Yu Gothic"/>
                <a:ea typeface="+mn-ea"/>
                <a:cs typeface="Yu Gothic"/>
              </a:rPr>
              <a:t>未来の自分の記憶を信用し </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ていない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ことである。</a:t>
            </a:r>
          </a:p>
          <a:p>
            <a:pPr marL="12700" marR="155575" lvl="0" indent="0" algn="l" defTabSz="914400" rtl="0" eaLnBrk="1" fontAlgn="auto" latinLnBrk="0" hangingPunct="1">
              <a:lnSpc>
                <a:spcPct val="8000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ソースコードは</a:t>
            </a:r>
            <a:r>
              <a:rPr kumimoji="0" lang="en-US" altLang="ja-JP" sz="2400" b="0" i="0" u="none" strike="noStrike" kern="1200" cap="none" spc="-5" normalizeH="0" baseline="0" noProof="0" dirty="0">
                <a:ln>
                  <a:noFill/>
                </a:ln>
                <a:solidFill>
                  <a:prstClr val="black"/>
                </a:solidFill>
                <a:effectLst/>
                <a:uLnTx/>
                <a:uFillTx/>
                <a:latin typeface="Calibri"/>
                <a:ea typeface="+mn-ea"/>
                <a:cs typeface="Calibri"/>
              </a:rPr>
              <a:t>1</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ヶ月も経てばほぼ他人が書いたものなので、どんな背景で その実装をしたのか、またはレビュアーとして承認したのかを詳らかに覚 えていることはほとんどないと言って良い。</a:t>
            </a:r>
          </a:p>
          <a:p>
            <a:pPr marL="12700" marR="0" lvl="0" indent="0" algn="l" defTabSz="914400" rtl="0" eaLnBrk="1" fontAlgn="auto" latinLnBrk="0" hangingPunct="1">
              <a:lnSpc>
                <a:spcPts val="2014"/>
              </a:lnSpc>
              <a:spcBef>
                <a:spcPts val="0"/>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そんな時に詳細に残しておいた作業ログを見れば背景を思い出すことが出</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来てるので、過去の自分に感謝するものだ。</a:t>
            </a:r>
          </a:p>
          <a:p>
            <a:pPr marL="12700" marR="308610" lvl="0" indent="0" algn="l" defTabSz="914400" rtl="0" eaLnBrk="1" fontAlgn="auto" latinLnBrk="0" hangingPunct="1">
              <a:lnSpc>
                <a:spcPts val="2300"/>
              </a:lnSpc>
              <a:spcBef>
                <a:spcPts val="27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ドキュメンテーションは一定のスキルが要求されるが、それ以上</a:t>
            </a:r>
            <a:r>
              <a:rPr kumimoji="0" lang="ja-JP" altLang="en-US" sz="2400" b="0" i="0" u="none" strike="noStrike" kern="1200" cap="none" spc="10" normalizeH="0" baseline="0" noProof="0" dirty="0">
                <a:ln>
                  <a:noFill/>
                </a:ln>
                <a:solidFill>
                  <a:prstClr val="black"/>
                </a:solidFill>
                <a:effectLst/>
                <a:uLnTx/>
                <a:uFillTx/>
                <a:latin typeface="Yu Gothic"/>
                <a:ea typeface="+mn-ea"/>
                <a:cs typeface="Yu Gothic"/>
              </a:rPr>
              <a:t>に</a:t>
            </a:r>
            <a:r>
              <a:rPr kumimoji="0" lang="ja-JP" altLang="en-US" sz="2400" b="1" i="0" u="none" strike="noStrike" kern="1200" cap="none" spc="0" normalizeH="0" baseline="0" noProof="0" dirty="0">
                <a:ln>
                  <a:noFill/>
                </a:ln>
                <a:solidFill>
                  <a:prstClr val="black"/>
                </a:solidFill>
                <a:effectLst/>
                <a:uLnTx/>
                <a:uFillTx/>
                <a:latin typeface="Yu Gothic"/>
                <a:ea typeface="+mn-ea"/>
                <a:cs typeface="Yu Gothic"/>
              </a:rPr>
              <a:t>未来の 自分と他人を思いやって記録を残す行為の延長に過ぎな</a:t>
            </a:r>
            <a:r>
              <a:rPr kumimoji="0" lang="ja-JP" altLang="en-US" sz="2400" b="1" i="0" u="none" strike="noStrike" kern="1200" cap="none" spc="10" normalizeH="0" baseline="0" noProof="0" dirty="0">
                <a:ln>
                  <a:noFill/>
                </a:ln>
                <a:solidFill>
                  <a:prstClr val="black"/>
                </a:solidFill>
                <a:effectLst/>
                <a:uLnTx/>
                <a:uFillTx/>
                <a:latin typeface="Yu Gothic"/>
                <a:ea typeface="+mn-ea"/>
                <a:cs typeface="Yu Gothic"/>
              </a:rPr>
              <a:t>い</a:t>
            </a: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と考える。</a:t>
            </a:r>
          </a:p>
          <a:p>
            <a:pPr marL="12700" marR="0" lvl="0" indent="0" algn="l" defTabSz="914400" rtl="0" eaLnBrk="1" fontAlgn="auto" latinLnBrk="0" hangingPunct="1">
              <a:lnSpc>
                <a:spcPts val="2039"/>
              </a:lnSpc>
              <a:spcBef>
                <a:spcPts val="0"/>
              </a:spcBef>
              <a:spcAft>
                <a:spcPts val="0"/>
              </a:spcAft>
              <a:buClrTx/>
              <a:buSzTx/>
              <a:buFontTx/>
              <a:buNone/>
              <a:tabLst/>
              <a:defRPr/>
            </a:pPr>
            <a:r>
              <a:rPr kumimoji="0" lang="ja-JP" altLang="en-US" sz="2400" b="0" i="0" u="none" strike="noStrike" kern="1200" cap="none" spc="-5" normalizeH="0" baseline="0" noProof="0" dirty="0">
                <a:ln>
                  <a:noFill/>
                </a:ln>
                <a:solidFill>
                  <a:prstClr val="black"/>
                </a:solidFill>
                <a:effectLst/>
                <a:uLnTx/>
                <a:uFillTx/>
                <a:latin typeface="Yu Gothic"/>
                <a:ea typeface="+mn-ea"/>
                <a:cs typeface="Yu Gothic"/>
              </a:rPr>
              <a:t>ドキュメンテーションに苦手意識のあるソフトウェアエンジニアの方々は、</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12700" marR="0" lvl="0" indent="0" algn="l" defTabSz="914400" rtl="0" eaLnBrk="1" fontAlgn="auto" latinLnBrk="0" hangingPunct="1">
              <a:lnSpc>
                <a:spcPts val="2305"/>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まずは本日の作業ログを残すところから始めてみてはどうだろう。</a:t>
            </a:r>
          </a:p>
          <a:p>
            <a:pPr marL="12700" marR="309880" lvl="0" indent="0" algn="l" defTabSz="914400" rtl="0" eaLnBrk="1" fontAlgn="auto" latinLnBrk="0" hangingPunct="1">
              <a:lnSpc>
                <a:spcPct val="80000"/>
              </a:lnSpc>
              <a:spcBef>
                <a:spcPts val="28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latin typeface="Yu Gothic"/>
                <a:ea typeface="+mn-ea"/>
                <a:cs typeface="Yu Gothic"/>
              </a:rPr>
              <a:t>それがいつか重要な社内技術ドキュメンテーションをする場面で必ず役に 立つはずだ。</a:t>
            </a:r>
          </a:p>
        </p:txBody>
      </p:sp>
    </p:spTree>
    <p:extLst>
      <p:ext uri="{BB962C8B-B14F-4D97-AF65-F5344CB8AC3E}">
        <p14:creationId xmlns:p14="http://schemas.microsoft.com/office/powerpoint/2010/main" val="3052052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6.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82575" marR="0" lvl="0" indent="-270510" algn="l" defTabSz="914400" rtl="0" eaLnBrk="1" fontAlgn="auto" latinLnBrk="0" hangingPunct="1">
              <a:lnSpc>
                <a:spcPts val="2770"/>
              </a:lnSpc>
              <a:spcBef>
                <a:spcPts val="100"/>
              </a:spcBef>
              <a:spcAft>
                <a:spcPts val="0"/>
              </a:spcAft>
              <a:buClr>
                <a:srgbClr val="000000"/>
              </a:buClr>
              <a:buSzPct val="116666"/>
              <a:buFont typeface="Arial MT"/>
              <a:buChar char="•"/>
              <a:tabLst>
                <a:tab pos="283210" algn="l"/>
              </a:tabLst>
              <a:defRPr/>
            </a:pPr>
            <a:r>
              <a:rPr kumimoji="0" lang="en-US" altLang="ja-JP"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3"/>
              </a:rPr>
              <a:t>Basics</a:t>
            </a:r>
            <a:r>
              <a:rPr kumimoji="0" lang="ja-JP" altLang="en-US" sz="2400" b="0" i="0" u="heavy" strike="noStrike" kern="1200" cap="none" spc="-3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Of</a:t>
            </a:r>
            <a:r>
              <a:rPr kumimoji="0" lang="ja-JP" altLang="en-US"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30" normalizeH="0" baseline="0" noProof="0" dirty="0">
                <a:ln>
                  <a:noFill/>
                </a:ln>
                <a:solidFill>
                  <a:srgbClr val="0462C1"/>
                </a:solidFill>
                <a:effectLst/>
                <a:uLnTx/>
                <a:uFill>
                  <a:solidFill>
                    <a:srgbClr val="0462C1"/>
                  </a:solidFill>
                </a:uFill>
                <a:latin typeface="Calibri"/>
                <a:ea typeface="+mn-ea"/>
                <a:cs typeface="Calibri"/>
                <a:hlinkClick r:id="rId3"/>
              </a:rPr>
              <a:t>Technical</a:t>
            </a:r>
            <a:r>
              <a:rPr kumimoji="0" lang="ja-JP" altLang="en-US"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Documentation</a:t>
            </a:r>
            <a:r>
              <a:rPr kumimoji="0" lang="ja-JP" altLang="en-US" sz="2400" b="0" i="0" u="heavy" strike="noStrike" kern="1200" cap="none" spc="-4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3"/>
              </a:rPr>
              <a:t>For</a:t>
            </a:r>
            <a:r>
              <a:rPr kumimoji="0" lang="ja-JP" altLang="en-US"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 </a:t>
            </a:r>
            <a:r>
              <a:rPr kumimoji="0" lang="en-US" altLang="ja-JP"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3"/>
              </a:rPr>
              <a:t>Engineers</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a:p>
            <a:pPr marL="728980" marR="0" lvl="1" indent="-229235" algn="l" defTabSz="914400" rtl="0" eaLnBrk="1" fontAlgn="auto" latinLnBrk="0" hangingPunct="1">
              <a:lnSpc>
                <a:spcPts val="2135"/>
              </a:lnSpc>
              <a:spcBef>
                <a:spcPts val="0"/>
              </a:spcBef>
              <a:spcAft>
                <a:spcPts val="0"/>
              </a:spcAft>
              <a:buClrTx/>
              <a:buSzPct val="140000"/>
              <a:buFont typeface="Arial MT"/>
              <a:buChar char="•"/>
              <a:tabLst>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8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2023</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11</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12</a:t>
            </a:r>
            <a:r>
              <a:rPr kumimoji="0" lang="ja-JP" altLang="en-US" sz="2000" b="0" i="0" u="none" strike="noStrike" kern="1200" cap="none" spc="5" normalizeH="0" baseline="0" noProof="0" dirty="0">
                <a:ln>
                  <a:noFill/>
                </a:ln>
                <a:solidFill>
                  <a:prstClr val="black"/>
                </a:solidFill>
                <a:effectLst/>
                <a:uLnTx/>
                <a:uFillTx/>
                <a:latin typeface="Yu Gothic"/>
                <a:ea typeface="+mn-ea"/>
                <a:cs typeface="Yu Gothic"/>
              </a:rPr>
              <a:t>日</a:t>
            </a:r>
            <a:endParaRPr kumimoji="0" lang="ja-JP" altLang="en-US" sz="20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en-US" altLang="ja-JP" sz="2400" b="0" i="0" u="heavy" strike="noStrike" kern="1200" cap="none" spc="-20" normalizeH="0" baseline="0" noProof="0" dirty="0">
                <a:ln>
                  <a:noFill/>
                </a:ln>
                <a:solidFill>
                  <a:srgbClr val="0462C1"/>
                </a:solidFill>
                <a:effectLst/>
                <a:uLnTx/>
                <a:uFill>
                  <a:solidFill>
                    <a:srgbClr val="0462C1"/>
                  </a:solidFill>
                </a:uFill>
                <a:latin typeface="Calibri"/>
                <a:ea typeface="+mn-ea"/>
                <a:cs typeface="Calibri"/>
                <a:hlinkClick r:id="rId4"/>
              </a:rPr>
              <a:t>Dictionary.com</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a:p>
            <a:pPr marL="728980" marR="0" lvl="1" indent="-229235" algn="l" defTabSz="914400" rtl="0" eaLnBrk="1" fontAlgn="auto" latinLnBrk="0" hangingPunct="1">
              <a:lnSpc>
                <a:spcPts val="2130"/>
              </a:lnSpc>
              <a:spcBef>
                <a:spcPts val="0"/>
              </a:spcBef>
              <a:spcAft>
                <a:spcPts val="0"/>
              </a:spcAft>
              <a:buClrTx/>
              <a:buSzPct val="140000"/>
              <a:buFont typeface="Arial MT"/>
              <a:buChar char="•"/>
              <a:tabLst>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2023</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11</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日</a:t>
            </a: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5"/>
              </a:rPr>
              <a:t>英辞</a:t>
            </a:r>
            <a:r>
              <a:rPr kumimoji="0" lang="ja-JP" altLang="en-US" sz="2400" b="0" i="0" u="heavy" strike="noStrike" kern="1200" cap="none" spc="535" normalizeH="0" baseline="0" noProof="0" dirty="0">
                <a:ln>
                  <a:noFill/>
                </a:ln>
                <a:solidFill>
                  <a:srgbClr val="0462C1"/>
                </a:solidFill>
                <a:effectLst/>
                <a:uLnTx/>
                <a:uFill>
                  <a:solidFill>
                    <a:srgbClr val="0462C1"/>
                  </a:solidFill>
                </a:uFill>
                <a:latin typeface="Yu Gothic"/>
                <a:ea typeface="+mn-ea"/>
                <a:cs typeface="Yu Gothic"/>
                <a:hlinkClick r:id="rId5"/>
              </a:rPr>
              <a:t>郎</a:t>
            </a:r>
            <a:r>
              <a:rPr kumimoji="0" lang="en-US" altLang="ja-JP" sz="2400" b="0" i="0" u="heavy" strike="noStrike" kern="1200" cap="none" spc="-15" normalizeH="0" baseline="0" noProof="0" dirty="0">
                <a:ln>
                  <a:noFill/>
                </a:ln>
                <a:solidFill>
                  <a:srgbClr val="0462C1"/>
                </a:solidFill>
                <a:effectLst/>
                <a:uLnTx/>
                <a:uFill>
                  <a:solidFill>
                    <a:srgbClr val="0462C1"/>
                  </a:solidFill>
                </a:uFill>
                <a:latin typeface="Calibri"/>
                <a:ea typeface="+mn-ea"/>
                <a:cs typeface="Calibri"/>
                <a:hlinkClick r:id="rId5"/>
              </a:rPr>
              <a:t>Pro</a:t>
            </a:r>
            <a:r>
              <a:rPr kumimoji="0" lang="ja-JP" altLang="en-US" sz="2400" b="0" i="0" u="heavy" strike="noStrike" kern="1200" cap="none" spc="-114" normalizeH="0" baseline="0" noProof="0" dirty="0">
                <a:ln>
                  <a:noFill/>
                </a:ln>
                <a:solidFill>
                  <a:srgbClr val="0462C1"/>
                </a:solidFill>
                <a:effectLst/>
                <a:uLnTx/>
                <a:uFill>
                  <a:solidFill>
                    <a:srgbClr val="0462C1"/>
                  </a:solidFill>
                </a:uFill>
                <a:latin typeface="Calibri"/>
                <a:ea typeface="+mn-ea"/>
                <a:cs typeface="Calibri"/>
                <a:hlinkClick r:id="rId5"/>
              </a:rPr>
              <a:t> </a:t>
            </a:r>
            <a:r>
              <a:rPr kumimoji="0" lang="en-US" altLang="ja-JP" sz="2400" b="0" i="0" u="heavy" strike="noStrike" kern="1200" cap="none" spc="-10" normalizeH="0" baseline="0" noProof="0" dirty="0">
                <a:ln>
                  <a:noFill/>
                </a:ln>
                <a:solidFill>
                  <a:srgbClr val="0462C1"/>
                </a:solidFill>
                <a:effectLst/>
                <a:uLnTx/>
                <a:uFill>
                  <a:solidFill>
                    <a:srgbClr val="0462C1"/>
                  </a:solidFill>
                </a:uFill>
                <a:latin typeface="Calibri"/>
                <a:ea typeface="+mn-ea"/>
                <a:cs typeface="Calibri"/>
                <a:hlinkClick r:id="rId5"/>
              </a:rPr>
              <a:t>Lite</a:t>
            </a:r>
            <a:endParaRPr kumimoji="0" lang="ja-JP" altLang="en-US" sz="2400" b="0" i="0" u="none" strike="noStrike" kern="1200" cap="none" spc="0" normalizeH="0" baseline="0" noProof="0" dirty="0">
              <a:ln>
                <a:noFill/>
              </a:ln>
              <a:solidFill>
                <a:prstClr val="black"/>
              </a:solidFill>
              <a:effectLst/>
              <a:uLnTx/>
              <a:uFillTx/>
              <a:latin typeface="Calibri"/>
              <a:ea typeface="+mn-ea"/>
              <a:cs typeface="Calibri"/>
            </a:endParaRPr>
          </a:p>
          <a:p>
            <a:pPr marL="728980" marR="0" lvl="1" indent="-229235" algn="l" defTabSz="914400" rtl="0" eaLnBrk="1" fontAlgn="auto" latinLnBrk="0" hangingPunct="1">
              <a:lnSpc>
                <a:spcPts val="2135"/>
              </a:lnSpc>
              <a:spcBef>
                <a:spcPts val="0"/>
              </a:spcBef>
              <a:spcAft>
                <a:spcPts val="0"/>
              </a:spcAft>
              <a:buClrTx/>
              <a:buSzPct val="140000"/>
              <a:buFont typeface="Arial MT"/>
              <a:buChar char="•"/>
              <a:tabLst>
                <a:tab pos="729615"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a:t>
            </a:r>
            <a:r>
              <a:rPr kumimoji="0" lang="ja-JP" altLang="en-US" sz="2000" b="0" i="0" u="none" strike="noStrike" kern="1200" cap="none" spc="-65" normalizeH="0" baseline="0" noProof="0" dirty="0">
                <a:ln>
                  <a:noFill/>
                </a:ln>
                <a:solidFill>
                  <a:prstClr val="black"/>
                </a:solidFill>
                <a:effectLst/>
                <a:uLnTx/>
                <a:uFillTx/>
                <a:latin typeface="Calibri"/>
                <a:ea typeface="+mn-ea"/>
                <a:cs typeface="Calibri"/>
              </a:rPr>
              <a:t> </a:t>
            </a:r>
            <a:r>
              <a:rPr kumimoji="0" lang="en-US" altLang="ja-JP" sz="2000" b="0" i="0" u="none" strike="noStrike" kern="1200" cap="none" spc="0" normalizeH="0" baseline="0" noProof="0" dirty="0">
                <a:ln>
                  <a:noFill/>
                </a:ln>
                <a:solidFill>
                  <a:prstClr val="black"/>
                </a:solidFill>
                <a:effectLst/>
                <a:uLnTx/>
                <a:uFillTx/>
                <a:latin typeface="Calibri"/>
                <a:ea typeface="+mn-ea"/>
                <a:cs typeface="Calibri"/>
              </a:rPr>
              <a:t>2023</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年</a:t>
            </a:r>
            <a:r>
              <a:rPr kumimoji="0" lang="en-US" altLang="ja-JP" sz="2000" b="0" i="0" u="none" strike="noStrike" kern="1200" cap="none" spc="-5" normalizeH="0" baseline="0" noProof="0" dirty="0">
                <a:ln>
                  <a:noFill/>
                </a:ln>
                <a:solidFill>
                  <a:prstClr val="black"/>
                </a:solidFill>
                <a:effectLst/>
                <a:uLnTx/>
                <a:uFillTx/>
                <a:latin typeface="Calibri"/>
                <a:ea typeface="+mn-ea"/>
                <a:cs typeface="Calibri"/>
              </a:rPr>
              <a:t>11</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月</a:t>
            </a:r>
            <a:r>
              <a:rPr kumimoji="0" lang="en-US" altLang="ja-JP" sz="2000" b="0" i="0" u="none" strike="noStrike" kern="1200" cap="none" spc="-10" normalizeH="0" baseline="0" noProof="0" dirty="0">
                <a:ln>
                  <a:noFill/>
                </a:ln>
                <a:solidFill>
                  <a:prstClr val="black"/>
                </a:solidFill>
                <a:effectLst/>
                <a:uLnTx/>
                <a:uFillTx/>
                <a:latin typeface="Calibri"/>
                <a:ea typeface="+mn-ea"/>
                <a:cs typeface="Calibri"/>
              </a:rPr>
              <a:t>12</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日</a:t>
            </a:r>
            <a:endParaRPr kumimoji="0" lang="en-GB" altLang="ja-JP" sz="2000" b="0" i="0" u="none" strike="noStrike" kern="1200" cap="none" spc="0" normalizeH="0" baseline="0" noProof="0" dirty="0">
              <a:ln>
                <a:noFill/>
              </a:ln>
              <a:solidFill>
                <a:prstClr val="black"/>
              </a:solidFill>
              <a:effectLst/>
              <a:uLnTx/>
              <a:uFillTx/>
              <a:latin typeface="Yu Gothic"/>
              <a:ea typeface="+mn-ea"/>
              <a:cs typeface="Yu Gothic"/>
            </a:endParaRPr>
          </a:p>
          <a:p>
            <a:pPr marL="268288" lvl="1" indent="-268288">
              <a:lnSpc>
                <a:spcPts val="2135"/>
              </a:lnSpc>
              <a:spcBef>
                <a:spcPts val="0"/>
              </a:spcBef>
              <a:buSzPct val="140000"/>
              <a:tabLst>
                <a:tab pos="729615" algn="l"/>
              </a:tabLst>
              <a:defRPr/>
            </a:pPr>
            <a:r>
              <a:rPr kumimoji="0" lang="en-US" altLang="ja-JP" sz="2400" b="0" i="0" strike="noStrike" kern="1200" cap="none" spc="-5" normalizeH="0" baseline="0" noProof="0" dirty="0">
                <a:ln>
                  <a:noFill/>
                </a:ln>
                <a:effectLst/>
                <a:uLnTx/>
                <a:uFill>
                  <a:solidFill>
                    <a:srgbClr val="0462C1"/>
                  </a:solidFill>
                </a:uFill>
                <a:latin typeface="Calibri"/>
                <a:ea typeface="+mn-ea"/>
                <a:cs typeface="Calibri"/>
                <a:hlinkClick r:id="rId6"/>
              </a:rPr>
              <a:t>[PBI]</a:t>
            </a:r>
            <a:r>
              <a:rPr kumimoji="0" lang="ja-JP" altLang="en-US" sz="2400" b="0" i="0" strike="noStrike" kern="1200" cap="none" spc="-75" normalizeH="0" baseline="0" noProof="0" dirty="0">
                <a:ln>
                  <a:noFill/>
                </a:ln>
                <a:effectLst/>
                <a:uLnTx/>
                <a:uFill>
                  <a:solidFill>
                    <a:srgbClr val="0462C1"/>
                  </a:solidFill>
                </a:uFill>
                <a:latin typeface="Calibri"/>
                <a:ea typeface="+mn-ea"/>
                <a:cs typeface="Calibri"/>
                <a:hlinkClick r:id="rId6"/>
              </a:rPr>
              <a:t> </a:t>
            </a:r>
            <a:r>
              <a:rPr kumimoji="0" lang="ja-JP" altLang="en-US" sz="2400" b="0" i="0" strike="noStrike" kern="1200" cap="none" spc="0" normalizeH="0" baseline="0" noProof="0" dirty="0">
                <a:ln>
                  <a:noFill/>
                </a:ln>
                <a:effectLst/>
                <a:uLnTx/>
                <a:uFill>
                  <a:solidFill>
                    <a:srgbClr val="0462C1"/>
                  </a:solidFill>
                </a:uFill>
                <a:latin typeface="Yu Gothic"/>
                <a:ea typeface="+mn-ea"/>
                <a:cs typeface="Yu Gothic"/>
                <a:hlinkClick r:id="rId6"/>
              </a:rPr>
              <a:t>技術仕様ドキュメント作成</a:t>
            </a:r>
            <a:endParaRPr lang="en-GB" altLang="ja-JP" dirty="0">
              <a:latin typeface="Yu Gothic"/>
              <a:cs typeface="Yu Gothic"/>
            </a:endParaRPr>
          </a:p>
          <a:p>
            <a:pPr marL="725488" lvl="2" indent="-268288">
              <a:lnSpc>
                <a:spcPts val="2135"/>
              </a:lnSpc>
              <a:spcBef>
                <a:spcPts val="0"/>
              </a:spcBef>
              <a:buSzPct val="140000"/>
              <a:tabLst>
                <a:tab pos="729615" algn="l"/>
              </a:tabLst>
              <a:defRPr/>
            </a:pPr>
            <a:r>
              <a:rPr kumimoji="0" lang="ja-JP" altLang="en-US" b="0" i="0" u="none" strike="noStrike" kern="1200" cap="none" spc="0" normalizeH="0" baseline="0" noProof="0" dirty="0">
                <a:ln>
                  <a:noFill/>
                </a:ln>
                <a:solidFill>
                  <a:prstClr val="black"/>
                </a:solidFill>
                <a:effectLst/>
                <a:uLnTx/>
                <a:uFillTx/>
                <a:latin typeface="Yu Gothic"/>
                <a:ea typeface="+mn-ea"/>
                <a:cs typeface="Yu Gothic"/>
              </a:rPr>
              <a:t>私が所属する部署社員</a:t>
            </a:r>
            <a:r>
              <a:rPr kumimoji="0" lang="ja-JP" altLang="en-US"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b="0" i="0" u="none" strike="noStrike" kern="1200" cap="none" spc="0" normalizeH="0" baseline="0" noProof="0" dirty="0">
                <a:ln>
                  <a:noFill/>
                </a:ln>
                <a:solidFill>
                  <a:prstClr val="black"/>
                </a:solidFill>
                <a:effectLst/>
                <a:uLnTx/>
                <a:uFillTx/>
                <a:latin typeface="Yu Gothic"/>
                <a:ea typeface="+mn-ea"/>
                <a:cs typeface="Yu Gothic"/>
              </a:rPr>
              <a:t>み閲</a:t>
            </a:r>
            <a:r>
              <a:rPr kumimoji="0" lang="ja-JP" altLang="en-US" b="0" i="0" u="none" strike="noStrike" kern="1200" cap="none" spc="-15" normalizeH="0" baseline="0" noProof="0" dirty="0">
                <a:ln>
                  <a:noFill/>
                </a:ln>
                <a:solidFill>
                  <a:prstClr val="black"/>
                </a:solidFill>
                <a:effectLst/>
                <a:uLnTx/>
                <a:uFillTx/>
                <a:latin typeface="Yu Gothic"/>
                <a:ea typeface="+mn-ea"/>
                <a:cs typeface="Yu Gothic"/>
              </a:rPr>
              <a:t>覧</a:t>
            </a:r>
            <a:r>
              <a:rPr kumimoji="0" lang="ja-JP" altLang="en-US" b="0" i="0" u="none" strike="noStrike" kern="1200" cap="none" spc="0" normalizeH="0" baseline="0" noProof="0" dirty="0">
                <a:ln>
                  <a:noFill/>
                </a:ln>
                <a:solidFill>
                  <a:prstClr val="black"/>
                </a:solidFill>
                <a:effectLst/>
                <a:uLnTx/>
                <a:uFillTx/>
                <a:latin typeface="Yu Gothic"/>
                <a:ea typeface="+mn-ea"/>
                <a:cs typeface="Yu Gothic"/>
              </a:rPr>
              <a:t>可</a:t>
            </a:r>
            <a:endParaRPr kumimoji="0" lang="ja-JP" altLang="en-US" sz="1600" b="0" i="0" u="none" strike="noStrike" kern="1200" cap="none" spc="0" normalizeH="0" baseline="0" noProof="0" dirty="0">
              <a:ln>
                <a:noFill/>
              </a:ln>
              <a:solidFill>
                <a:prstClr val="black"/>
              </a:solidFill>
              <a:effectLst/>
              <a:uLnTx/>
              <a:uFillTx/>
              <a:latin typeface="Yu Gothic"/>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en-US" altLang="ja-JP" sz="2400" b="0" i="0" u="heavy" strike="noStrike" kern="1200" cap="none" spc="-5" normalizeH="0" baseline="0" noProof="0" dirty="0">
                <a:ln>
                  <a:noFill/>
                </a:ln>
                <a:solidFill>
                  <a:srgbClr val="0462C1"/>
                </a:solidFill>
                <a:effectLst/>
                <a:uLnTx/>
                <a:uFill>
                  <a:solidFill>
                    <a:srgbClr val="0462C1"/>
                  </a:solidFill>
                </a:uFill>
                <a:latin typeface="Calibri"/>
                <a:ea typeface="+mn-ea"/>
                <a:cs typeface="Calibri"/>
                <a:hlinkClick r:id="rId7"/>
              </a:rPr>
              <a:t>[SBI][</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7"/>
              </a:rPr>
              <a:t>技術仕様ドキュメント</a:t>
            </a:r>
            <a:r>
              <a:rPr kumimoji="0" lang="en-US" altLang="ja-JP"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7"/>
              </a:rPr>
              <a:t>]</a:t>
            </a:r>
            <a:r>
              <a:rPr kumimoji="0" lang="ja-JP" altLang="en-US" sz="2400" b="0" i="0" u="heavy" strike="noStrike" kern="1200" cap="none" spc="-45" normalizeH="0" baseline="0" noProof="0" dirty="0">
                <a:ln>
                  <a:noFill/>
                </a:ln>
                <a:solidFill>
                  <a:srgbClr val="0462C1"/>
                </a:solidFill>
                <a:effectLst/>
                <a:uLnTx/>
                <a:uFill>
                  <a:solidFill>
                    <a:srgbClr val="0462C1"/>
                  </a:solidFill>
                </a:uFill>
                <a:latin typeface="Calibri"/>
                <a:ea typeface="+mn-ea"/>
                <a:cs typeface="Calibri"/>
                <a:hlinkClick r:id="rId7"/>
              </a:rPr>
              <a:t> </a:t>
            </a:r>
            <a:r>
              <a:rPr kumimoji="0" lang="en-US" altLang="ja-JP" sz="2400" b="0" i="0" u="heavy" strike="noStrike" kern="1200" cap="none" spc="0" normalizeH="0" baseline="0" noProof="0" dirty="0">
                <a:ln>
                  <a:noFill/>
                </a:ln>
                <a:solidFill>
                  <a:srgbClr val="0462C1"/>
                </a:solidFill>
                <a:effectLst/>
                <a:uLnTx/>
                <a:uFill>
                  <a:solidFill>
                    <a:srgbClr val="0462C1"/>
                  </a:solidFill>
                </a:uFill>
                <a:latin typeface="Calibri"/>
                <a:ea typeface="+mn-ea"/>
                <a:cs typeface="Calibri"/>
                <a:hlinkClick r:id="rId7"/>
              </a:rPr>
              <a:t>7.</a:t>
            </a:r>
            <a:r>
              <a:rPr kumimoji="0" lang="ja-JP" altLang="en-US" sz="2400" b="0" i="0" u="heavy" strike="noStrike" kern="1200" cap="none" spc="-65" normalizeH="0" baseline="0" noProof="0" dirty="0">
                <a:ln>
                  <a:noFill/>
                </a:ln>
                <a:solidFill>
                  <a:srgbClr val="0462C1"/>
                </a:solidFill>
                <a:effectLst/>
                <a:uLnTx/>
                <a:uFill>
                  <a:solidFill>
                    <a:srgbClr val="0462C1"/>
                  </a:solidFill>
                </a:uFill>
                <a:latin typeface="Calibri"/>
                <a:ea typeface="+mn-ea"/>
                <a:cs typeface="Calibri"/>
                <a:hlinkClick r:id="rId7"/>
              </a:rPr>
              <a:t> </a:t>
            </a:r>
            <a:r>
              <a:rPr kumimoji="0" lang="ja-JP" altLang="en-US" sz="2400" b="0" i="0" u="heavy" strike="noStrike" kern="1200" cap="none" spc="0" normalizeH="0" baseline="0" noProof="0" dirty="0">
                <a:ln>
                  <a:noFill/>
                </a:ln>
                <a:solidFill>
                  <a:srgbClr val="0462C1"/>
                </a:solidFill>
                <a:effectLst/>
                <a:uLnTx/>
                <a:uFill>
                  <a:solidFill>
                    <a:srgbClr val="0462C1"/>
                  </a:solidFill>
                </a:uFill>
                <a:latin typeface="Yu Gothic"/>
                <a:ea typeface="+mn-ea"/>
                <a:cs typeface="Yu Gothic"/>
                <a:hlinkClick r:id="rId7"/>
              </a:rPr>
              <a:t>社外システム連携</a:t>
            </a:r>
            <a:endParaRPr kumimoji="0" lang="ja-JP" altLang="en-US" sz="2400" b="0" i="0" u="none" strike="noStrike" kern="1200" cap="none" spc="0" normalizeH="0" baseline="0" noProof="0" dirty="0">
              <a:ln>
                <a:noFill/>
              </a:ln>
              <a:solidFill>
                <a:prstClr val="black"/>
              </a:solidFill>
              <a:effectLst/>
              <a:uLnTx/>
              <a:uFillTx/>
              <a:latin typeface="Yu Gothic"/>
              <a:ea typeface="+mn-ea"/>
              <a:cs typeface="Yu Gothic"/>
            </a:endParaRPr>
          </a:p>
          <a:p>
            <a:pPr marL="739775" marR="0" lvl="1" indent="-270510" algn="l" defTabSz="914400" rtl="0" eaLnBrk="1" fontAlgn="auto" latinLnBrk="0" hangingPunct="1">
              <a:lnSpc>
                <a:spcPts val="2295"/>
              </a:lnSpc>
              <a:spcBef>
                <a:spcPts val="0"/>
              </a:spcBef>
              <a:spcAft>
                <a:spcPts val="0"/>
              </a:spcAft>
              <a:buClrTx/>
              <a:buSzPct val="140000"/>
              <a:buFont typeface="Arial MT"/>
              <a:buChar char="•"/>
              <a:tabLst>
                <a:tab pos="740410" algn="l"/>
              </a:tabLst>
              <a:defRPr/>
            </a:pP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私が所属する部署社員</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の</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み閲</a:t>
            </a:r>
            <a:r>
              <a:rPr kumimoji="0" lang="ja-JP" altLang="en-US" sz="2000" b="0" i="0" u="none" strike="noStrike" kern="1200" cap="none" spc="-15" normalizeH="0" baseline="0" noProof="0" dirty="0">
                <a:ln>
                  <a:noFill/>
                </a:ln>
                <a:solidFill>
                  <a:prstClr val="black"/>
                </a:solidFill>
                <a:effectLst/>
                <a:uLnTx/>
                <a:uFillTx/>
                <a:latin typeface="Yu Gothic"/>
                <a:ea typeface="+mn-ea"/>
                <a:cs typeface="Yu Gothic"/>
              </a:rPr>
              <a:t>覧</a:t>
            </a:r>
            <a:r>
              <a:rPr kumimoji="0" lang="ja-JP" altLang="en-US" sz="2000" b="0" i="0" u="none" strike="noStrike" kern="1200" cap="none" spc="0" normalizeH="0" baseline="0" noProof="0" dirty="0">
                <a:ln>
                  <a:noFill/>
                </a:ln>
                <a:solidFill>
                  <a:prstClr val="black"/>
                </a:solidFill>
                <a:effectLst/>
                <a:uLnTx/>
                <a:uFillTx/>
                <a:latin typeface="Yu Gothic"/>
                <a:ea typeface="+mn-ea"/>
                <a:cs typeface="Yu Gothic"/>
              </a:rPr>
              <a:t>可</a:t>
            </a:r>
          </a:p>
        </p:txBody>
      </p:sp>
    </p:spTree>
    <p:extLst>
      <p:ext uri="{BB962C8B-B14F-4D97-AF65-F5344CB8AC3E}">
        <p14:creationId xmlns:p14="http://schemas.microsoft.com/office/powerpoint/2010/main" val="30412465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4000" b="-4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9277</Words>
  <Application>Microsoft Office PowerPoint</Application>
  <PresentationFormat>Widescreen</PresentationFormat>
  <Paragraphs>468</Paragraphs>
  <Slides>46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-apple-system</vt:lpstr>
      <vt:lpstr>Arial MT</vt:lpstr>
      <vt:lpstr>Calibri (Headings)</vt:lpstr>
      <vt:lpstr>Yu Gothic</vt:lpstr>
      <vt:lpstr>Arial</vt:lpstr>
      <vt:lpstr>Calibri</vt:lpstr>
      <vt:lpstr>Calibri Light</vt:lpstr>
      <vt:lpstr>Cambria Math</vt:lpstr>
      <vt:lpstr>Office テーマ</vt:lpstr>
      <vt:lpstr>ソフトウェアエンジニアの 社内技術ドキュメンテーションへの 向き合い方</vt:lpstr>
      <vt:lpstr>自己紹介</vt:lpstr>
      <vt:lpstr>免許 / 資格</vt:lpstr>
      <vt:lpstr>スキルスタック</vt:lpstr>
      <vt:lpstr>職歴</vt:lpstr>
      <vt:lpstr>職歴</vt:lpstr>
      <vt:lpstr>国際交流活動</vt:lpstr>
      <vt:lpstr>目次</vt:lpstr>
      <vt:lpstr>1. はじめに</vt:lpstr>
      <vt:lpstr>1. はじめに</vt:lpstr>
      <vt:lpstr>1. はじめに</vt:lpstr>
      <vt:lpstr>2. 回避不可能な5大トレードオフへの向き合い方</vt:lpstr>
      <vt:lpstr>2. 回避不可能な5大トレードオフへの向き合い方</vt:lpstr>
      <vt:lpstr>2. 回避不可能な5大トレードオフへの向き合い方</vt:lpstr>
      <vt:lpstr>2. 回避不可能な5大トレードオフへの向き合い方</vt:lpstr>
      <vt:lpstr>2. 回避不可能な5大トレードオフへの向き合い方</vt:lpstr>
      <vt:lpstr>2. 回避不可能な5大トレードオフへの向き合い方</vt:lpstr>
      <vt:lpstr>2. 回避不可能な5大トレードオフへの向き合い方</vt:lpstr>
      <vt:lpstr>2. 回避不可能な5大トレードオフへの向き合い方</vt:lpstr>
      <vt:lpstr>2. 回避不可能な5大トレードオフへの向き合い方</vt:lpstr>
      <vt:lpstr>2. 回避不可能な5大トレードオフへの向き合い方</vt:lpstr>
      <vt:lpstr>2. 回避不可能な5大トレードオフへの向き合い方</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3. 社内技術ドキュメンテーションの実践的10の手順</vt:lpstr>
      <vt:lpstr>4. まとめ</vt:lpstr>
      <vt:lpstr>4. まとめ</vt:lpstr>
      <vt:lpstr>5. おわりに</vt:lpstr>
      <vt:lpstr>5. おわりに</vt:lpstr>
      <vt:lpstr>5. おわりに</vt:lpstr>
      <vt:lpstr>6. 参考文献</vt:lpstr>
      <vt:lpstr>6.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53</cp:revision>
  <dcterms:modified xsi:type="dcterms:W3CDTF">2025-09-01T03:37:15Z</dcterms:modified>
</cp:coreProperties>
</file>