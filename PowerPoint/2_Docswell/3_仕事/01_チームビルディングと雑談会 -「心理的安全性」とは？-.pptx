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87" r:id="rId3"/>
    <p:sldId id="388" r:id="rId4"/>
    <p:sldId id="421" r:id="rId5"/>
    <p:sldId id="423" r:id="rId6"/>
    <p:sldId id="422" r:id="rId7"/>
    <p:sldId id="280" r:id="rId8"/>
    <p:sldId id="311" r:id="rId9"/>
    <p:sldId id="259" r:id="rId10"/>
    <p:sldId id="330" r:id="rId11"/>
    <p:sldId id="412" r:id="rId12"/>
    <p:sldId id="413" r:id="rId13"/>
    <p:sldId id="325" r:id="rId14"/>
    <p:sldId id="354" r:id="rId15"/>
    <p:sldId id="326" r:id="rId16"/>
    <p:sldId id="336" r:id="rId17"/>
    <p:sldId id="414" r:id="rId18"/>
    <p:sldId id="415" r:id="rId19"/>
    <p:sldId id="416" r:id="rId20"/>
    <p:sldId id="357" r:id="rId21"/>
    <p:sldId id="358" r:id="rId22"/>
    <p:sldId id="359" r:id="rId23"/>
    <p:sldId id="360" r:id="rId24"/>
    <p:sldId id="417" r:id="rId25"/>
    <p:sldId id="408" r:id="rId26"/>
    <p:sldId id="409" r:id="rId27"/>
    <p:sldId id="418" r:id="rId28"/>
    <p:sldId id="419" r:id="rId29"/>
    <p:sldId id="410" r:id="rId30"/>
    <p:sldId id="411" r:id="rId31"/>
    <p:sldId id="420" r:id="rId32"/>
    <p:sldId id="385" r:id="rId33"/>
    <p:sldId id="386" r:id="rId34"/>
    <p:sldId id="328" r:id="rId35"/>
    <p:sldId id="295" r:id="rId36"/>
    <p:sldId id="28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石田 隼人" initials="石田" lastIdx="1" clrIdx="0">
    <p:extLst>
      <p:ext uri="{19B8F6BF-5375-455C-9EA6-DF929625EA0E}">
        <p15:presenceInfo xmlns:p15="http://schemas.microsoft.com/office/powerpoint/2012/main" userId="石田 隼人"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varScale="1">
        <p:scale>
          <a:sx n="152" d="100"/>
          <a:sy n="152" d="100"/>
        </p:scale>
        <p:origin x="42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ato Ishida" userId="585fa0fa6384767c" providerId="LiveId" clId="{CECADF3C-D71B-4CE9-8D48-7A6D96C8DFEE}"/>
    <pc:docChg chg="custSel modSld">
      <pc:chgData name="Hayato Ishida" userId="585fa0fa6384767c" providerId="LiveId" clId="{CECADF3C-D71B-4CE9-8D48-7A6D96C8DFEE}" dt="2025-05-03T11:25:42.451" v="9"/>
      <pc:docMkLst>
        <pc:docMk/>
      </pc:docMkLst>
      <pc:sldChg chg="addSp delSp modSp mod">
        <pc:chgData name="Hayato Ishida" userId="585fa0fa6384767c" providerId="LiveId" clId="{CECADF3C-D71B-4CE9-8D48-7A6D96C8DFEE}" dt="2025-05-03T11:25:42.451" v="9"/>
        <pc:sldMkLst>
          <pc:docMk/>
          <pc:sldMk cId="2567433019" sldId="280"/>
        </pc:sldMkLst>
      </pc:sldChg>
      <pc:sldChg chg="addSp delSp modSp mod">
        <pc:chgData name="Hayato Ishida" userId="585fa0fa6384767c" providerId="LiveId" clId="{CECADF3C-D71B-4CE9-8D48-7A6D96C8DFEE}" dt="2025-05-03T11:25:34.837" v="8"/>
        <pc:sldMkLst>
          <pc:docMk/>
          <pc:sldMk cId="155858466" sldId="286"/>
        </pc:sldMkLst>
      </pc:sldChg>
      <pc:sldChg chg="addSp delSp modSp mod">
        <pc:chgData name="Hayato Ishida" userId="585fa0fa6384767c" providerId="LiveId" clId="{CECADF3C-D71B-4CE9-8D48-7A6D96C8DFEE}" dt="2025-05-03T11:25:26.460" v="6"/>
        <pc:sldMkLst>
          <pc:docMk/>
          <pc:sldMk cId="654251065" sldId="287"/>
        </pc:sldMkLst>
      </pc:sldChg>
    </pc:docChg>
  </pc:docChgLst>
  <pc:docChgLst>
    <pc:chgData name="Hayato Ishida" userId="585fa0fa6384767c" providerId="LiveId" clId="{E63015A7-674C-4DA9-8C49-D0FFAAFB30F8}"/>
    <pc:docChg chg="custSel addSld delSld modSld sldOrd">
      <pc:chgData name="Hayato Ishida" userId="585fa0fa6384767c" providerId="LiveId" clId="{E63015A7-674C-4DA9-8C49-D0FFAAFB30F8}" dt="2025-09-01T03:37:56.585" v="12"/>
      <pc:docMkLst>
        <pc:docMk/>
      </pc:docMkLst>
      <pc:sldChg chg="del">
        <pc:chgData name="Hayato Ishida" userId="585fa0fa6384767c" providerId="LiveId" clId="{E63015A7-674C-4DA9-8C49-D0FFAAFB30F8}" dt="2025-08-31T18:00:49.367" v="5" actId="47"/>
        <pc:sldMkLst>
          <pc:docMk/>
          <pc:sldMk cId="155858466" sldId="286"/>
        </pc:sldMkLst>
      </pc:sldChg>
      <pc:sldChg chg="addSp delSp modSp mod">
        <pc:chgData name="Hayato Ishida" userId="585fa0fa6384767c" providerId="LiveId" clId="{E63015A7-674C-4DA9-8C49-D0FFAAFB30F8}" dt="2025-08-31T18:03:36.947" v="8"/>
        <pc:sldMkLst>
          <pc:docMk/>
          <pc:sldMk cId="654251065" sldId="287"/>
        </pc:sldMkLst>
        <pc:spChg chg="add del mod">
          <ac:chgData name="Hayato Ishida" userId="585fa0fa6384767c" providerId="LiveId" clId="{E63015A7-674C-4DA9-8C49-D0FFAAFB30F8}" dt="2025-08-31T18:00:42.460" v="1" actId="478"/>
          <ac:spMkLst>
            <pc:docMk/>
            <pc:sldMk cId="654251065" sldId="287"/>
            <ac:spMk id="3" creationId="{EFEBCF35-532B-A512-89A3-492EC4C9372A}"/>
          </ac:spMkLst>
        </pc:spChg>
        <pc:spChg chg="add del mod">
          <ac:chgData name="Hayato Ishida" userId="585fa0fa6384767c" providerId="LiveId" clId="{E63015A7-674C-4DA9-8C49-D0FFAAFB30F8}" dt="2025-08-31T18:00:42.460" v="1" actId="478"/>
          <ac:spMkLst>
            <pc:docMk/>
            <pc:sldMk cId="654251065" sldId="287"/>
            <ac:spMk id="5" creationId="{A6C50BA4-6CC5-CC20-9CF6-3E792C8DBD94}"/>
          </ac:spMkLst>
        </pc:spChg>
        <pc:spChg chg="del">
          <ac:chgData name="Hayato Ishida" userId="585fa0fa6384767c" providerId="LiveId" clId="{E63015A7-674C-4DA9-8C49-D0FFAAFB30F8}" dt="2025-08-31T18:00:41.280" v="0" actId="478"/>
          <ac:spMkLst>
            <pc:docMk/>
            <pc:sldMk cId="654251065" sldId="287"/>
            <ac:spMk id="6" creationId="{569213DF-1FA2-8ABB-61E5-8177B417B82A}"/>
          </ac:spMkLst>
        </pc:spChg>
        <pc:spChg chg="del">
          <ac:chgData name="Hayato Ishida" userId="585fa0fa6384767c" providerId="LiveId" clId="{E63015A7-674C-4DA9-8C49-D0FFAAFB30F8}" dt="2025-08-31T18:00:41.280" v="0" actId="478"/>
          <ac:spMkLst>
            <pc:docMk/>
            <pc:sldMk cId="654251065" sldId="287"/>
            <ac:spMk id="7" creationId="{6D98EAF2-1296-D3A4-AD37-9462FD6E59FD}"/>
          </ac:spMkLst>
        </pc:spChg>
        <pc:spChg chg="del">
          <ac:chgData name="Hayato Ishida" userId="585fa0fa6384767c" providerId="LiveId" clId="{E63015A7-674C-4DA9-8C49-D0FFAAFB30F8}" dt="2025-08-31T18:00:41.280" v="0" actId="478"/>
          <ac:spMkLst>
            <pc:docMk/>
            <pc:sldMk cId="654251065" sldId="287"/>
            <ac:spMk id="8" creationId="{4F812E6A-2311-0E5F-0A7B-BF440BD4B0B9}"/>
          </ac:spMkLst>
        </pc:spChg>
        <pc:spChg chg="add mod">
          <ac:chgData name="Hayato Ishida" userId="585fa0fa6384767c" providerId="LiveId" clId="{E63015A7-674C-4DA9-8C49-D0FFAAFB30F8}" dt="2025-08-31T18:03:36.947" v="8"/>
          <ac:spMkLst>
            <pc:docMk/>
            <pc:sldMk cId="654251065" sldId="287"/>
            <ac:spMk id="9" creationId="{ECE013A8-E419-CD8B-E8AE-7DB649538362}"/>
          </ac:spMkLst>
        </pc:spChg>
        <pc:spChg chg="add mod">
          <ac:chgData name="Hayato Ishida" userId="585fa0fa6384767c" providerId="LiveId" clId="{E63015A7-674C-4DA9-8C49-D0FFAAFB30F8}" dt="2025-08-31T18:03:36.947" v="8"/>
          <ac:spMkLst>
            <pc:docMk/>
            <pc:sldMk cId="654251065" sldId="287"/>
            <ac:spMk id="10" creationId="{3BD5F551-36B0-00A8-96F1-88801919B76E}"/>
          </ac:spMkLst>
        </pc:spChg>
        <pc:spChg chg="add mod">
          <ac:chgData name="Hayato Ishida" userId="585fa0fa6384767c" providerId="LiveId" clId="{E63015A7-674C-4DA9-8C49-D0FFAAFB30F8}" dt="2025-08-31T18:03:36.947" v="8"/>
          <ac:spMkLst>
            <pc:docMk/>
            <pc:sldMk cId="654251065" sldId="287"/>
            <ac:spMk id="11" creationId="{1986B682-7D88-81E5-68CB-2E0BCCAA47DC}"/>
          </ac:spMkLst>
        </pc:spChg>
        <pc:picChg chg="del">
          <ac:chgData name="Hayato Ishida" userId="585fa0fa6384767c" providerId="LiveId" clId="{E63015A7-674C-4DA9-8C49-D0FFAAFB30F8}" dt="2025-08-31T18:00:41.280" v="0" actId="478"/>
          <ac:picMkLst>
            <pc:docMk/>
            <pc:sldMk cId="654251065" sldId="287"/>
            <ac:picMk id="12" creationId="{36000193-E96E-817A-5F18-1AE780490B8C}"/>
          </ac:picMkLst>
        </pc:picChg>
        <pc:picChg chg="add mod">
          <ac:chgData name="Hayato Ishida" userId="585fa0fa6384767c" providerId="LiveId" clId="{E63015A7-674C-4DA9-8C49-D0FFAAFB30F8}" dt="2025-08-31T18:03:36.947" v="8"/>
          <ac:picMkLst>
            <pc:docMk/>
            <pc:sldMk cId="654251065" sldId="287"/>
            <ac:picMk id="13" creationId="{F5055CFD-1170-7C99-4822-CFFD531DFC0E}"/>
          </ac:picMkLst>
        </pc:picChg>
      </pc:sldChg>
      <pc:sldChg chg="del">
        <pc:chgData name="Hayato Ishida" userId="585fa0fa6384767c" providerId="LiveId" clId="{E63015A7-674C-4DA9-8C49-D0FFAAFB30F8}" dt="2025-08-31T18:00:49.367" v="5" actId="47"/>
        <pc:sldMkLst>
          <pc:docMk/>
          <pc:sldMk cId="3064566856" sldId="387"/>
        </pc:sldMkLst>
      </pc:sldChg>
      <pc:sldChg chg="addSp modSp add ord">
        <pc:chgData name="Hayato Ishida" userId="585fa0fa6384767c" providerId="LiveId" clId="{E63015A7-674C-4DA9-8C49-D0FFAAFB30F8}" dt="2025-08-31T18:05:36.043" v="9"/>
        <pc:sldMkLst>
          <pc:docMk/>
          <pc:sldMk cId="3576559055" sldId="421"/>
        </pc:sldMkLst>
        <pc:spChg chg="add mod">
          <ac:chgData name="Hayato Ishida" userId="585fa0fa6384767c" providerId="LiveId" clId="{E63015A7-674C-4DA9-8C49-D0FFAAFB30F8}" dt="2025-08-31T18:05:36.043" v="9"/>
          <ac:spMkLst>
            <pc:docMk/>
            <pc:sldMk cId="3576559055" sldId="421"/>
            <ac:spMk id="2" creationId="{D21ECA9B-821D-9497-AC17-3EE17BA3AC19}"/>
          </ac:spMkLst>
        </pc:spChg>
        <pc:spChg chg="add mod">
          <ac:chgData name="Hayato Ishida" userId="585fa0fa6384767c" providerId="LiveId" clId="{E63015A7-674C-4DA9-8C49-D0FFAAFB30F8}" dt="2025-08-31T18:05:36.043" v="9"/>
          <ac:spMkLst>
            <pc:docMk/>
            <pc:sldMk cId="3576559055" sldId="421"/>
            <ac:spMk id="3" creationId="{772916DD-D59E-59E9-62AB-FD20D7C50149}"/>
          </ac:spMkLst>
        </pc:spChg>
        <pc:spChg chg="add mod">
          <ac:chgData name="Hayato Ishida" userId="585fa0fa6384767c" providerId="LiveId" clId="{E63015A7-674C-4DA9-8C49-D0FFAAFB30F8}" dt="2025-08-31T18:05:36.043" v="9"/>
          <ac:spMkLst>
            <pc:docMk/>
            <pc:sldMk cId="3576559055" sldId="421"/>
            <ac:spMk id="4" creationId="{4FB6B804-6858-4A16-5DCA-AE38434A1501}"/>
          </ac:spMkLst>
        </pc:spChg>
      </pc:sldChg>
      <pc:sldChg chg="addSp modSp add">
        <pc:chgData name="Hayato Ishida" userId="585fa0fa6384767c" providerId="LiveId" clId="{E63015A7-674C-4DA9-8C49-D0FFAAFB30F8}" dt="2025-09-01T03:37:56.585" v="12"/>
        <pc:sldMkLst>
          <pc:docMk/>
          <pc:sldMk cId="948688057" sldId="422"/>
        </pc:sldMkLst>
        <pc:spChg chg="add mod">
          <ac:chgData name="Hayato Ishida" userId="585fa0fa6384767c" providerId="LiveId" clId="{E63015A7-674C-4DA9-8C49-D0FFAAFB30F8}" dt="2025-08-31T18:09:17.630" v="11"/>
          <ac:spMkLst>
            <pc:docMk/>
            <pc:sldMk cId="948688057" sldId="422"/>
            <ac:spMk id="2" creationId="{AB85B1AD-0046-6149-25D6-E485F85971FC}"/>
          </ac:spMkLst>
        </pc:spChg>
        <pc:spChg chg="add mod">
          <ac:chgData name="Hayato Ishida" userId="585fa0fa6384767c" providerId="LiveId" clId="{E63015A7-674C-4DA9-8C49-D0FFAAFB30F8}" dt="2025-08-31T18:09:17.630" v="11"/>
          <ac:spMkLst>
            <pc:docMk/>
            <pc:sldMk cId="948688057" sldId="422"/>
            <ac:spMk id="3" creationId="{38ACB9F7-EFD8-F02B-A132-3968DDB074B1}"/>
          </ac:spMkLst>
        </pc:spChg>
        <pc:graphicFrameChg chg="add mod">
          <ac:chgData name="Hayato Ishida" userId="585fa0fa6384767c" providerId="LiveId" clId="{E63015A7-674C-4DA9-8C49-D0FFAAFB30F8}" dt="2025-09-01T03:37:56.585" v="12"/>
          <ac:graphicFrameMkLst>
            <pc:docMk/>
            <pc:sldMk cId="948688057" sldId="422"/>
            <ac:graphicFrameMk id="4" creationId="{7A9EF1CA-A959-C5C5-9A3E-F0EAE37824E9}"/>
          </ac:graphicFrameMkLst>
        </pc:graphicFrameChg>
      </pc:sldChg>
      <pc:sldChg chg="addSp modSp add">
        <pc:chgData name="Hayato Ishida" userId="585fa0fa6384767c" providerId="LiveId" clId="{E63015A7-674C-4DA9-8C49-D0FFAAFB30F8}" dt="2025-09-01T03:37:56.585" v="12"/>
        <pc:sldMkLst>
          <pc:docMk/>
          <pc:sldMk cId="2861963563" sldId="423"/>
        </pc:sldMkLst>
        <pc:spChg chg="add mod">
          <ac:chgData name="Hayato Ishida" userId="585fa0fa6384767c" providerId="LiveId" clId="{E63015A7-674C-4DA9-8C49-D0FFAAFB30F8}" dt="2025-08-31T18:08:11.714" v="10"/>
          <ac:spMkLst>
            <pc:docMk/>
            <pc:sldMk cId="2861963563" sldId="423"/>
            <ac:spMk id="2" creationId="{0D68D220-F2EE-2832-DD02-DFCBB833EEB4}"/>
          </ac:spMkLst>
        </pc:spChg>
        <pc:spChg chg="add mod">
          <ac:chgData name="Hayato Ishida" userId="585fa0fa6384767c" providerId="LiveId" clId="{E63015A7-674C-4DA9-8C49-D0FFAAFB30F8}" dt="2025-08-31T18:08:11.714" v="10"/>
          <ac:spMkLst>
            <pc:docMk/>
            <pc:sldMk cId="2861963563" sldId="423"/>
            <ac:spMk id="3" creationId="{7F16B47F-6B89-5F6F-6597-C0699A2A486A}"/>
          </ac:spMkLst>
        </pc:spChg>
        <pc:graphicFrameChg chg="add mod">
          <ac:chgData name="Hayato Ishida" userId="585fa0fa6384767c" providerId="LiveId" clId="{E63015A7-674C-4DA9-8C49-D0FFAAFB30F8}" dt="2025-09-01T03:37:56.585" v="12"/>
          <ac:graphicFrameMkLst>
            <pc:docMk/>
            <pc:sldMk cId="2861963563" sldId="423"/>
            <ac:graphicFrameMk id="4" creationId="{DAD373DA-AEE5-FE92-637A-CAB704FA45BF}"/>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77555-114C-4D13-A8E9-982D3FBDE682}" type="datetimeFigureOut">
              <a:rPr lang="en-GB" smtClean="0"/>
              <a:t>01/09/2025</a:t>
            </a:fld>
            <a:endParaRPr lang="en-GB"/>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87483F-3F00-45CA-B9CE-71766AA0FCEC}" type="slidenum">
              <a:rPr lang="en-GB" smtClean="0"/>
              <a:t>‹#›</a:t>
            </a:fld>
            <a:endParaRPr lang="en-GB"/>
          </a:p>
        </p:txBody>
      </p:sp>
    </p:spTree>
    <p:extLst>
      <p:ext uri="{BB962C8B-B14F-4D97-AF65-F5344CB8AC3E}">
        <p14:creationId xmlns:p14="http://schemas.microsoft.com/office/powerpoint/2010/main" val="344071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AF5D98A5-C926-421E-8D16-8672B57BCFF1}"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381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5A2F9E5C-BB41-4DEE-A1EA-DBAEA4256446}"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11880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A7E24A89-DB0D-48E1-8471-1D24BDCF8ED1}"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817010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F64D5387-62D3-481B-BBE0-5C3C88B297B2}"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842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3CF17D8-7CE6-4CF7-8FAB-60185E786EB9}"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8146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43C7B8A6-723D-47BA-A0C2-370A8E40CF5A}"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556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FB3FA632-D8E5-4DA3-B4CD-9FEBF68DCEB0}"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9247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1A7EE16D-35BE-4BE7-8AC7-B36F6CD3E5EC}"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55405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92CD8CDB-487D-4044-B328-87D0F47F3BCF}"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4067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2966C4E5-BC84-4427-9D05-A5F29CCAC796}"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25409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7F1E0025-920B-4CEF-B7FD-D6EA5B89461B}"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3788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92097A-6903-4692-A2D1-BE7A41A75E71}"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1019568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peakerdeck.com/hayat01sh1da/necessity-of-chatting-hours-for-team-building-what-psychological-safety-is"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hyperlink" Target="https://github.com/hayat01sh1da" TargetMode="External"/><Relationship Id="rId7" Type="http://schemas.openxmlformats.org/officeDocument/2006/relationships/hyperlink" Target="https://www.docswell.com/user/hayat01sh1da"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speakerdeck.com/hayat01sh1da" TargetMode="External"/><Relationship Id="rId5" Type="http://schemas.openxmlformats.org/officeDocument/2006/relationships/hyperlink" Target="https://www.linkedin.com/in/hayat01sh1da/" TargetMode="External"/><Relationship Id="rId4" Type="http://schemas.openxmlformats.org/officeDocument/2006/relationships/hyperlink" Target="https://hackmd.io/@hayat01sh1da"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vitaljapan.com/" TargetMode="External"/><Relationship Id="rId3" Type="http://schemas.openxmlformats.org/officeDocument/2006/relationships/hyperlink" Target="http://www.centerye.org/" TargetMode="External"/><Relationship Id="rId7" Type="http://schemas.openxmlformats.org/officeDocument/2006/relationships/hyperlink" Target="https://sunrisetmc.toastmastersclubs.org/"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idiy.biz/teachers-profile/?id=4976" TargetMode="External"/><Relationship Id="rId5" Type="http://schemas.openxmlformats.org/officeDocument/2006/relationships/hyperlink" Target="https://stives-h.schools.nsw.gov.au/" TargetMode="External"/><Relationship Id="rId4" Type="http://schemas.openxmlformats.org/officeDocument/2006/relationships/hyperlink" Target="https://www.hamiltonisland.com.au/" TargetMode="External"/></Relationships>
</file>

<file path=ppt/slides/_rels/slide8.xml.rels><?xml version="1.0" encoding="UTF-8" standalone="yes"?>
<Relationships xmlns="http://schemas.openxmlformats.org/package/2006/relationships"><Relationship Id="rId8" Type="http://schemas.openxmlformats.org/officeDocument/2006/relationships/slide" Target="slide25.xml"/><Relationship Id="rId3" Type="http://schemas.openxmlformats.org/officeDocument/2006/relationships/slide" Target="slide9.xml"/><Relationship Id="rId7"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 Target="slide20.xml"/><Relationship Id="rId11" Type="http://schemas.openxmlformats.org/officeDocument/2006/relationships/slide" Target="slide34.xml"/><Relationship Id="rId5" Type="http://schemas.openxmlformats.org/officeDocument/2006/relationships/slide" Target="slide15.xml"/><Relationship Id="rId10" Type="http://schemas.openxmlformats.org/officeDocument/2006/relationships/slide" Target="slide32.xml"/><Relationship Id="rId4" Type="http://schemas.openxmlformats.org/officeDocument/2006/relationships/slide" Target="slide13.xml"/><Relationship Id="rId9" Type="http://schemas.openxmlformats.org/officeDocument/2006/relationships/slide" Target="slide29.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aws.amazon.com/what-is/scrum/#%3A~%3Atext%3DScrum%20is%20a%20management%20framework%2Cexperience%2C%20and%20adapt%20to%20change"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recruit-ms.co.jp/glossary/dtl/0000000230/"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aws.amazon.com/what-is/scrum/#%3A~%3Atext%3DScrum%20is%20a%20management%20framework%2Cexperience%2C%20and%20adapt%20to%20change"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www.atlassian.com/team-playbook/plays/working-agreements"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docswell.com/s/hayat01sh1da/ZQ84YJ-necessity-of-chatting-hours-for-team-building-what-psychological-safety-is#p14"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docswell.com/s/hayat01sh1da/ZQ84YJ-necessity-of-chatting-hours-for-team-building-what-psychological-safety-is#p20"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docswell.com/s/hayat01sh1da/ZQ84YJ-necessity-of-chatting-hours-for-team-building-what-psychological-safety-is#p11"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aws.amazon.com/what-is/scrum/#%3A~%3Atext%3DScrum%20is%20a%20management%20framework%2Cexperience%2C%20and%20adapt%20to%20change"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aws.amazon.com/what-is/scrum/#%3A~%3Atext%3DScrum%20is%20a%20management%20framework%2Cexperience%2C%20and%20adapt%20to%20change"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www.recruit-ms.co.jp/glossary/dtl/0000000230/" TargetMode="External"/></Relationships>
</file>

<file path=ppt/slides/_rels/slide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838FDBDF-AA97-A755-5929-CA04991594C5}"/>
              </a:ext>
            </a:extLst>
          </p:cNvPr>
          <p:cNvSpPr>
            <a:spLocks noGrp="1"/>
          </p:cNvSpPr>
          <p:nvPr>
            <p:ph type="ctrTitle"/>
          </p:nvPr>
        </p:nvSpPr>
        <p:spPr>
          <a:xfrm>
            <a:off x="1470870" y="1824605"/>
            <a:ext cx="9144000" cy="1689552"/>
          </a:xfrm>
          <a:ln>
            <a:noFill/>
          </a:ln>
        </p:spPr>
        <p:txBody>
          <a:bodyPr>
            <a:normAutofit/>
          </a:bodyPr>
          <a:lstStyle/>
          <a:p>
            <a:r>
              <a:rPr lang="ja-JP" altLang="en-US" sz="5400" b="1" dirty="0">
                <a:effectLst>
                  <a:outerShdw blurRad="38100" dist="38100" dir="2700000" algn="tl">
                    <a:srgbClr val="000000">
                      <a:alpha val="43137"/>
                    </a:srgbClr>
                  </a:outerShdw>
                </a:effectLst>
                <a:latin typeface="+mn-lt"/>
              </a:rPr>
              <a:t>チームビルディングと雑談会</a:t>
            </a:r>
            <a:endParaRPr lang="en-GB" sz="5400" b="1" dirty="0">
              <a:effectLst>
                <a:outerShdw blurRad="38100" dist="38100" dir="2700000" algn="tl">
                  <a:srgbClr val="000000">
                    <a:alpha val="43137"/>
                  </a:srgbClr>
                </a:outerShdw>
              </a:effectLst>
              <a:latin typeface="+mn-lt"/>
            </a:endParaRPr>
          </a:p>
        </p:txBody>
      </p:sp>
      <p:sp>
        <p:nvSpPr>
          <p:cNvPr id="11" name="字幕 2">
            <a:extLst>
              <a:ext uri="{FF2B5EF4-FFF2-40B4-BE49-F238E27FC236}">
                <a16:creationId xmlns:a16="http://schemas.microsoft.com/office/drawing/2014/main" id="{9F3859FD-9718-0C81-33B3-44F030588BCF}"/>
              </a:ext>
            </a:extLst>
          </p:cNvPr>
          <p:cNvSpPr>
            <a:spLocks noGrp="1"/>
          </p:cNvSpPr>
          <p:nvPr>
            <p:ph type="subTitle" idx="1"/>
          </p:nvPr>
        </p:nvSpPr>
        <p:spPr>
          <a:xfrm>
            <a:off x="5931017" y="4706224"/>
            <a:ext cx="4683854" cy="496465"/>
          </a:xfrm>
          <a:ln>
            <a:noFill/>
          </a:ln>
        </p:spPr>
        <p:txBody>
          <a:bodyPr>
            <a:normAutofit fontScale="92500" lnSpcReduction="10000"/>
          </a:bodyPr>
          <a:lstStyle/>
          <a:p>
            <a:pPr algn="r"/>
            <a:r>
              <a:rPr lang="ja-JP" altLang="en-US" sz="3200" b="1" dirty="0">
                <a:latin typeface="+mn-ea"/>
              </a:rPr>
              <a:t>作成者</a:t>
            </a:r>
            <a:r>
              <a:rPr lang="en-US" sz="3200" b="1" dirty="0">
                <a:latin typeface="+mn-ea"/>
              </a:rPr>
              <a:t>: </a:t>
            </a:r>
            <a:r>
              <a:rPr lang="ja-JP" altLang="en-US" sz="3200" b="1" dirty="0">
                <a:latin typeface="+mn-ea"/>
              </a:rPr>
              <a:t>石田</a:t>
            </a:r>
            <a:r>
              <a:rPr lang="en-US" sz="3200" b="1" dirty="0">
                <a:latin typeface="+mn-ea"/>
              </a:rPr>
              <a:t> </a:t>
            </a:r>
            <a:r>
              <a:rPr lang="ja-JP" altLang="en-US" sz="3200" b="1" dirty="0">
                <a:latin typeface="+mn-ea"/>
              </a:rPr>
              <a:t>隼人</a:t>
            </a:r>
            <a:endParaRPr lang="en-GB" sz="3200" b="1" dirty="0">
              <a:latin typeface="+mn-ea"/>
            </a:endParaRPr>
          </a:p>
        </p:txBody>
      </p:sp>
      <p:sp>
        <p:nvSpPr>
          <p:cNvPr id="12" name="スライド番号プレースホルダー 3">
            <a:extLst>
              <a:ext uri="{FF2B5EF4-FFF2-40B4-BE49-F238E27FC236}">
                <a16:creationId xmlns:a16="http://schemas.microsoft.com/office/drawing/2014/main" id="{37DCA1F6-8A6F-EFA2-32E0-4107C174B296}"/>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3" name="字幕 2">
            <a:extLst>
              <a:ext uri="{FF2B5EF4-FFF2-40B4-BE49-F238E27FC236}">
                <a16:creationId xmlns:a16="http://schemas.microsoft.com/office/drawing/2014/main" id="{7EC127B2-8036-0DBB-686D-9BBD027D4A12}"/>
              </a:ext>
            </a:extLst>
          </p:cNvPr>
          <p:cNvSpPr txBox="1">
            <a:spLocks/>
          </p:cNvSpPr>
          <p:nvPr/>
        </p:nvSpPr>
        <p:spPr>
          <a:xfrm>
            <a:off x="6648275" y="5445970"/>
            <a:ext cx="396659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ja-JP" altLang="en-US" sz="2000" b="1" i="0" u="none" strike="noStrike" kern="1200" cap="none" spc="0" normalizeH="0" baseline="0" noProof="0" dirty="0">
                <a:ln>
                  <a:noFill/>
                </a:ln>
                <a:solidFill>
                  <a:prstClr val="black"/>
                </a:solidFill>
                <a:effectLst/>
                <a:uLnTx/>
                <a:uFillTx/>
                <a:latin typeface="+mn-ea"/>
                <a:cs typeface="+mn-cs"/>
              </a:rPr>
              <a:t>最終更新日</a:t>
            </a:r>
            <a:r>
              <a:rPr kumimoji="0" lang="en-GB" altLang="ja-JP" sz="2000" b="1" i="0" u="none" strike="noStrike" kern="1200" cap="none" spc="0" normalizeH="0" baseline="0" noProof="0" dirty="0">
                <a:ln>
                  <a:noFill/>
                </a:ln>
                <a:solidFill>
                  <a:prstClr val="black"/>
                </a:solidFill>
                <a:effectLst/>
                <a:uLnTx/>
                <a:uFillTx/>
                <a:latin typeface="+mn-ea"/>
                <a:cs typeface="+mn-cs"/>
              </a:rPr>
              <a:t>: </a:t>
            </a:r>
            <a:r>
              <a:rPr kumimoji="0" lang="en-GB" altLang="ja-JP" sz="2000" b="1" i="0" u="none" strike="noStrike" kern="1200" cap="none" spc="0" normalizeH="0" baseline="0" noProof="0" dirty="0">
                <a:ln>
                  <a:noFill/>
                </a:ln>
                <a:solidFill>
                  <a:prstClr val="black"/>
                </a:solidFill>
                <a:effectLst/>
                <a:uLnTx/>
                <a:uFillTx/>
                <a:cs typeface="+mn-cs"/>
              </a:rPr>
              <a:t>2024</a:t>
            </a:r>
            <a:r>
              <a:rPr kumimoji="0" lang="ja-JP" altLang="en-US" sz="2000" b="1" i="0" u="none" strike="noStrike" kern="1200" cap="none" spc="0" normalizeH="0" baseline="0" noProof="0" dirty="0">
                <a:ln>
                  <a:noFill/>
                </a:ln>
                <a:solidFill>
                  <a:prstClr val="black"/>
                </a:solidFill>
                <a:effectLst/>
                <a:uLnTx/>
                <a:uFillTx/>
                <a:latin typeface="+mn-ea"/>
                <a:cs typeface="+mn-cs"/>
              </a:rPr>
              <a:t>年</a:t>
            </a:r>
            <a:r>
              <a:rPr kumimoji="0" lang="en-GB" altLang="ja-JP" sz="2000" b="1" i="0" u="none" strike="noStrike" kern="1200" cap="none" spc="0" normalizeH="0" baseline="0" noProof="0" dirty="0">
                <a:ln>
                  <a:noFill/>
                </a:ln>
                <a:solidFill>
                  <a:prstClr val="black"/>
                </a:solidFill>
                <a:effectLst/>
                <a:uLnTx/>
                <a:uFillTx/>
                <a:cs typeface="+mn-cs"/>
              </a:rPr>
              <a:t>07</a:t>
            </a:r>
            <a:r>
              <a:rPr kumimoji="0" lang="ja-JP" altLang="en-US" sz="2000" b="1" i="0" u="none" strike="noStrike" kern="1200" cap="none" spc="0" normalizeH="0" baseline="0" noProof="0" dirty="0">
                <a:ln>
                  <a:noFill/>
                </a:ln>
                <a:solidFill>
                  <a:prstClr val="black"/>
                </a:solidFill>
                <a:effectLst/>
                <a:uLnTx/>
                <a:uFillTx/>
                <a:latin typeface="+mn-ea"/>
                <a:cs typeface="+mn-cs"/>
              </a:rPr>
              <a:t>月</a:t>
            </a:r>
            <a:r>
              <a:rPr kumimoji="0" lang="en-GB" altLang="ja-JP" sz="2000" b="1" i="0" u="none" strike="noStrike" kern="1200" cap="none" spc="0" normalizeH="0" baseline="0" noProof="0" dirty="0">
                <a:ln>
                  <a:noFill/>
                </a:ln>
                <a:solidFill>
                  <a:prstClr val="black"/>
                </a:solidFill>
                <a:effectLst/>
                <a:uLnTx/>
                <a:uFillTx/>
                <a:cs typeface="+mn-cs"/>
              </a:rPr>
              <a:t>16</a:t>
            </a:r>
            <a:r>
              <a:rPr kumimoji="0" lang="ja-JP" altLang="en-US" sz="2000" b="1" i="0" u="none" strike="noStrike" kern="1200" cap="none" spc="0" normalizeH="0" baseline="0" noProof="0" dirty="0">
                <a:ln>
                  <a:noFill/>
                </a:ln>
                <a:solidFill>
                  <a:prstClr val="black"/>
                </a:solidFill>
                <a:effectLst/>
                <a:uLnTx/>
                <a:uFillTx/>
                <a:latin typeface="+mn-ea"/>
                <a:cs typeface="+mn-cs"/>
              </a:rPr>
              <a:t>日</a:t>
            </a:r>
            <a:endParaRPr kumimoji="0" lang="en-GB" sz="2000" b="1" i="0" u="none" strike="noStrike" kern="1200" cap="none" spc="0" normalizeH="0" baseline="0" noProof="0" dirty="0">
              <a:ln>
                <a:noFill/>
              </a:ln>
              <a:solidFill>
                <a:prstClr val="black"/>
              </a:solidFill>
              <a:effectLst/>
              <a:uLnTx/>
              <a:uFillTx/>
              <a:latin typeface="+mn-ea"/>
              <a:cs typeface="+mn-cs"/>
            </a:endParaRPr>
          </a:p>
        </p:txBody>
      </p:sp>
      <p:sp>
        <p:nvSpPr>
          <p:cNvPr id="14" name="タイトル 1">
            <a:extLst>
              <a:ext uri="{FF2B5EF4-FFF2-40B4-BE49-F238E27FC236}">
                <a16:creationId xmlns:a16="http://schemas.microsoft.com/office/drawing/2014/main" id="{9384CEEA-9ED1-6887-AFE8-7BA71E626EBF}"/>
              </a:ext>
            </a:extLst>
          </p:cNvPr>
          <p:cNvSpPr txBox="1">
            <a:spLocks/>
          </p:cNvSpPr>
          <p:nvPr/>
        </p:nvSpPr>
        <p:spPr>
          <a:xfrm>
            <a:off x="1470870" y="3514157"/>
            <a:ext cx="9144000" cy="555772"/>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a:t>
            </a:r>
            <a:r>
              <a:rPr kumimoji="0" lang="ja-JP" altLang="en-US"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「心理的安全性」とは？</a:t>
            </a:r>
            <a:r>
              <a:rPr kumimoji="0" lang="en-US"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a:t>
            </a:r>
            <a:endParaRPr kumimoji="0" lang="en-GB"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j-ea"/>
              <a:cs typeface="+mj-cs"/>
            </a:endParaRPr>
          </a:p>
        </p:txBody>
      </p:sp>
      <p:sp>
        <p:nvSpPr>
          <p:cNvPr id="2" name="字幕 2">
            <a:extLst>
              <a:ext uri="{FF2B5EF4-FFF2-40B4-BE49-F238E27FC236}">
                <a16:creationId xmlns:a16="http://schemas.microsoft.com/office/drawing/2014/main" id="{9105717C-FCFA-427A-0249-8F2D02825EE3}"/>
              </a:ext>
            </a:extLst>
          </p:cNvPr>
          <p:cNvSpPr txBox="1">
            <a:spLocks/>
          </p:cNvSpPr>
          <p:nvPr/>
        </p:nvSpPr>
        <p:spPr>
          <a:xfrm>
            <a:off x="1470871" y="5440495"/>
            <a:ext cx="196861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ja-JP" altLang="en-US" sz="2000" dirty="0"/>
              <a:t>英語版は</a:t>
            </a:r>
            <a:r>
              <a:rPr lang="ja-JP" altLang="en-US" sz="2000" dirty="0">
                <a:hlinkClick r:id="rId3"/>
              </a:rPr>
              <a:t>こちら</a:t>
            </a:r>
            <a:endParaRPr lang="en-GB" sz="2000" dirty="0"/>
          </a:p>
        </p:txBody>
      </p:sp>
    </p:spTree>
    <p:extLst>
      <p:ext uri="{BB962C8B-B14F-4D97-AF65-F5344CB8AC3E}">
        <p14:creationId xmlns:p14="http://schemas.microsoft.com/office/powerpoint/2010/main" val="387871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ECE013A8-E419-CD8B-E8AE-7DB649538362}"/>
              </a:ext>
            </a:extLst>
          </p:cNvPr>
          <p:cNvSpPr>
            <a:spLocks noGrp="1"/>
          </p:cNvSpPr>
          <p:nvPr>
            <p:ph type="title"/>
          </p:nvPr>
        </p:nvSpPr>
        <p:spPr>
          <a:xfrm>
            <a:off x="838200" y="365125"/>
            <a:ext cx="10515600" cy="1325563"/>
          </a:xfrm>
        </p:spPr>
        <p:txBody>
          <a:bodyPr/>
          <a:lstStyle/>
          <a:p>
            <a:pPr algn="ctr"/>
            <a:r>
              <a:rPr lang="ja-JP" altLang="en-US" b="1" dirty="0"/>
              <a:t>自己紹介</a:t>
            </a:r>
            <a:endParaRPr lang="en-GB" b="1" dirty="0"/>
          </a:p>
        </p:txBody>
      </p:sp>
      <p:sp>
        <p:nvSpPr>
          <p:cNvPr id="10" name="コンテンツ プレースホルダー 2">
            <a:extLst>
              <a:ext uri="{FF2B5EF4-FFF2-40B4-BE49-F238E27FC236}">
                <a16:creationId xmlns:a16="http://schemas.microsoft.com/office/drawing/2014/main" id="{3BD5F551-36B0-00A8-96F1-88801919B76E}"/>
              </a:ext>
            </a:extLst>
          </p:cNvPr>
          <p:cNvSpPr>
            <a:spLocks noGrp="1"/>
          </p:cNvSpPr>
          <p:nvPr>
            <p:ph idx="1"/>
          </p:nvPr>
        </p:nvSpPr>
        <p:spPr>
          <a:xfrm>
            <a:off x="838200" y="1825625"/>
            <a:ext cx="10515600" cy="4351338"/>
          </a:xfrm>
        </p:spPr>
        <p:txBody>
          <a:bodyPr>
            <a:normAutofit lnSpcReduction="10000"/>
          </a:bodyPr>
          <a:lstStyle/>
          <a:p>
            <a:pPr marL="268288" indent="-268288"/>
            <a:r>
              <a:rPr lang="ja-JP" altLang="en-US" sz="2400" dirty="0"/>
              <a:t>各種アカウント</a:t>
            </a:r>
            <a:endParaRPr lang="en-GB" altLang="ja-JP" sz="2400" dirty="0"/>
          </a:p>
          <a:p>
            <a:pPr marL="725488" lvl="1" indent="-268288"/>
            <a:r>
              <a:rPr lang="en-US" altLang="ja-JP" sz="2000" dirty="0"/>
              <a:t>GitHub: </a:t>
            </a:r>
            <a:r>
              <a:rPr lang="en-US" altLang="ja-JP" sz="2000" dirty="0">
                <a:hlinkClick r:id="rId3"/>
              </a:rPr>
              <a:t>@hayat01sh1da</a:t>
            </a:r>
            <a:endParaRPr lang="en-US" altLang="ja-JP" sz="2000" dirty="0"/>
          </a:p>
          <a:p>
            <a:pPr marL="725488" lvl="1" indent="-268288"/>
            <a:r>
              <a:rPr lang="en-US" altLang="ja-JP" sz="2000" dirty="0"/>
              <a:t>X: </a:t>
            </a:r>
            <a:r>
              <a:rPr lang="en-US" altLang="ja-JP" sz="2000" dirty="0">
                <a:hlinkClick r:id="rId4"/>
              </a:rPr>
              <a:t>@hayat01sh1da</a:t>
            </a:r>
            <a:endParaRPr lang="en-GB" altLang="ja-JP" sz="2000" dirty="0"/>
          </a:p>
          <a:p>
            <a:pPr marL="725488" lvl="1" indent="-268288"/>
            <a:r>
              <a:rPr lang="en-GB" altLang="ja-JP" sz="2000" dirty="0"/>
              <a:t>LinkedIn: </a:t>
            </a:r>
            <a:r>
              <a:rPr lang="en-US" altLang="ja-JP" sz="2000" dirty="0">
                <a:hlinkClick r:id="rId5"/>
              </a:rPr>
              <a:t>@hayat01sh1da</a:t>
            </a:r>
            <a:endParaRPr lang="en-US" altLang="ja-JP" sz="2000" dirty="0"/>
          </a:p>
          <a:p>
            <a:pPr marL="725488" lvl="1" indent="-268288"/>
            <a:r>
              <a:rPr lang="en-US" altLang="ja-JP" sz="2000" dirty="0"/>
              <a:t>Speaker Deck: </a:t>
            </a:r>
            <a:r>
              <a:rPr lang="en-US" altLang="ja-JP" sz="2000" dirty="0">
                <a:hlinkClick r:id="rId6"/>
              </a:rPr>
              <a:t>@hayat01sh1da</a:t>
            </a:r>
            <a:endParaRPr lang="en-US" altLang="ja-JP" sz="2000" dirty="0"/>
          </a:p>
          <a:p>
            <a:pPr marL="725488" lvl="1" indent="-268288"/>
            <a:r>
              <a:rPr lang="en-US" altLang="ja-JP" sz="2000" dirty="0"/>
              <a:t>Docswell: </a:t>
            </a:r>
            <a:r>
              <a:rPr lang="en-US" altLang="ja-JP" sz="2000" dirty="0">
                <a:hlinkClick r:id="rId7"/>
              </a:rPr>
              <a:t>@hayat01sh1da</a:t>
            </a:r>
            <a:endParaRPr lang="en-US" altLang="ja-JP" sz="2000" dirty="0"/>
          </a:p>
          <a:p>
            <a:pPr marL="268288" indent="-268288"/>
            <a:r>
              <a:rPr lang="ja-JP" altLang="en-US" sz="2400" dirty="0"/>
              <a:t>職業</a:t>
            </a:r>
            <a:r>
              <a:rPr lang="en-GB" altLang="ja-JP" sz="2400" dirty="0"/>
              <a:t>: </a:t>
            </a:r>
            <a:r>
              <a:rPr lang="ja-JP" altLang="en-US" sz="2400" dirty="0"/>
              <a:t>ソフトウェアエンジニア</a:t>
            </a:r>
            <a:endParaRPr lang="en-GB" altLang="ja-JP" sz="2400" dirty="0"/>
          </a:p>
          <a:p>
            <a:pPr marL="268288" indent="-268288"/>
            <a:r>
              <a:rPr lang="ja-JP" altLang="en-US" sz="2400" dirty="0"/>
              <a:t>趣味</a:t>
            </a:r>
            <a:endParaRPr lang="en-GB" altLang="ja-JP" sz="2400" dirty="0"/>
          </a:p>
          <a:p>
            <a:pPr marL="725488" lvl="1" indent="-268288"/>
            <a:r>
              <a:rPr lang="ja-JP" altLang="en-US" sz="2000" dirty="0"/>
              <a:t>言語学</a:t>
            </a:r>
            <a:endParaRPr lang="en-GB" altLang="ja-JP" sz="2000" dirty="0"/>
          </a:p>
          <a:p>
            <a:pPr marL="725488" lvl="1" indent="-268288"/>
            <a:r>
              <a:rPr lang="ja-JP" altLang="en-US" sz="2000" dirty="0"/>
              <a:t>カラオケ</a:t>
            </a:r>
            <a:endParaRPr lang="en-GB" altLang="ja-JP" sz="2000" dirty="0"/>
          </a:p>
          <a:p>
            <a:pPr marL="725488" lvl="1" indent="-268288"/>
            <a:r>
              <a:rPr lang="ja-JP" altLang="en-US" sz="2000" dirty="0"/>
              <a:t>音楽鑑賞</a:t>
            </a:r>
            <a:endParaRPr lang="en-GB" altLang="ja-JP" sz="2000" dirty="0"/>
          </a:p>
          <a:p>
            <a:pPr marL="725488" lvl="1" indent="-268288"/>
            <a:r>
              <a:rPr lang="ja-JP" altLang="en-US" sz="2000" dirty="0"/>
              <a:t>映画鑑賞</a:t>
            </a:r>
            <a:endParaRPr lang="en-GB" altLang="ja-JP" sz="2000" dirty="0"/>
          </a:p>
          <a:p>
            <a:pPr marL="725488" lvl="1" indent="-268288"/>
            <a:r>
              <a:rPr lang="ja-JP" altLang="en-US" sz="2000" dirty="0"/>
              <a:t>猫飼育</a:t>
            </a:r>
            <a:endParaRPr lang="en-GB" altLang="ja-JP" sz="2000" dirty="0"/>
          </a:p>
        </p:txBody>
      </p:sp>
      <p:sp>
        <p:nvSpPr>
          <p:cNvPr id="11" name="スライド番号プレースホルダー 3">
            <a:extLst>
              <a:ext uri="{FF2B5EF4-FFF2-40B4-BE49-F238E27FC236}">
                <a16:creationId xmlns:a16="http://schemas.microsoft.com/office/drawing/2014/main" id="{1986B682-7D88-81E5-68CB-2E0BCCAA47DC}"/>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F5055CFD-1170-7C99-4822-CFFD531DFC0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49316" y="1824399"/>
            <a:ext cx="5804483" cy="4352564"/>
          </a:xfrm>
          <a:prstGeom prst="rect">
            <a:avLst/>
          </a:prstGeom>
        </p:spPr>
      </p:pic>
    </p:spTree>
    <p:extLst>
      <p:ext uri="{BB962C8B-B14F-4D97-AF65-F5344CB8AC3E}">
        <p14:creationId xmlns:p14="http://schemas.microsoft.com/office/powerpoint/2010/main" val="65425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55B8D0-FBD0-9B5F-A935-2990E9245FDB}"/>
              </a:ext>
            </a:extLst>
          </p:cNvPr>
          <p:cNvSpPr>
            <a:spLocks noGrp="1"/>
          </p:cNvSpPr>
          <p:nvPr>
            <p:ph type="title"/>
          </p:nvPr>
        </p:nvSpPr>
        <p:spPr>
          <a:xfrm>
            <a:off x="838200" y="365125"/>
            <a:ext cx="10515600" cy="1325563"/>
          </a:xfrm>
        </p:spPr>
        <p:txBody>
          <a:bodyPr/>
          <a:lstStyle/>
          <a:p>
            <a:pPr algn="ctr"/>
            <a:r>
              <a:rPr lang="ja-JP" altLang="en-US" b="1" dirty="0">
                <a:latin typeface="+mj-ea"/>
              </a:rPr>
              <a:t>免許</a:t>
            </a:r>
            <a:r>
              <a:rPr lang="en-GB" altLang="ja-JP" b="1" dirty="0">
                <a:latin typeface="+mj-ea"/>
              </a:rPr>
              <a:t> / </a:t>
            </a:r>
            <a:r>
              <a:rPr lang="ja-JP" altLang="en-US" b="1" dirty="0">
                <a:latin typeface="+mj-ea"/>
              </a:rPr>
              <a:t>資格</a:t>
            </a:r>
            <a:endParaRPr lang="en-GB" b="1" dirty="0">
              <a:latin typeface="+mj-ea"/>
            </a:endParaRPr>
          </a:p>
        </p:txBody>
      </p:sp>
      <p:sp>
        <p:nvSpPr>
          <p:cNvPr id="3" name="コンテンツ プレースホルダー 2">
            <a:extLst>
              <a:ext uri="{FF2B5EF4-FFF2-40B4-BE49-F238E27FC236}">
                <a16:creationId xmlns:a16="http://schemas.microsoft.com/office/drawing/2014/main" id="{8A56D017-33E9-546F-B8B3-A9515D8FACD7}"/>
              </a:ext>
            </a:extLst>
          </p:cNvPr>
          <p:cNvSpPr>
            <a:spLocks noGrp="1"/>
          </p:cNvSpPr>
          <p:nvPr>
            <p:ph idx="1"/>
          </p:nvPr>
        </p:nvSpPr>
        <p:spPr>
          <a:xfrm>
            <a:off x="838200" y="1825625"/>
            <a:ext cx="10515600" cy="4351338"/>
          </a:xfrm>
        </p:spPr>
        <p:txBody>
          <a:bodyPr>
            <a:normAutofit/>
          </a:bodyPr>
          <a:lstStyle/>
          <a:p>
            <a:pPr marL="268288" lvl="1" indent="-268288"/>
            <a:r>
              <a:rPr lang="ja-JP" altLang="en-US" dirty="0"/>
              <a:t>英語</a:t>
            </a:r>
            <a:endParaRPr lang="en-US" altLang="ja-JP" dirty="0"/>
          </a:p>
          <a:p>
            <a:pPr marL="725488" lvl="2" indent="-268288"/>
            <a:r>
              <a:rPr lang="en-US" altLang="ja-JP" dirty="0"/>
              <a:t>TOEIC® Listening &amp; Reading 915</a:t>
            </a:r>
            <a:r>
              <a:rPr lang="ja-JP" altLang="en-US" dirty="0"/>
              <a:t>点</a:t>
            </a:r>
            <a:r>
              <a:rPr lang="en-GB" altLang="ja-JP" dirty="0"/>
              <a:t>: 2019</a:t>
            </a:r>
            <a:r>
              <a:rPr lang="ja-JP" altLang="en-US" dirty="0"/>
              <a:t>年</a:t>
            </a:r>
            <a:r>
              <a:rPr lang="en-US" altLang="ja-JP" dirty="0"/>
              <a:t>12</a:t>
            </a:r>
            <a:r>
              <a:rPr lang="ja-JP" altLang="en-US" dirty="0"/>
              <a:t>月</a:t>
            </a:r>
            <a:r>
              <a:rPr lang="en-GB" altLang="ja-JP" dirty="0"/>
              <a:t> </a:t>
            </a:r>
            <a:r>
              <a:rPr lang="ja-JP" altLang="en-US" dirty="0"/>
              <a:t>取得</a:t>
            </a:r>
          </a:p>
          <a:p>
            <a:pPr marL="268288" lvl="1" indent="-268288"/>
            <a:r>
              <a:rPr lang="ja-JP" altLang="en-US" dirty="0"/>
              <a:t>エンジニアリング</a:t>
            </a:r>
            <a:endParaRPr lang="en-GB" altLang="ja-JP" dirty="0"/>
          </a:p>
          <a:p>
            <a:pPr marL="725488" lvl="2" indent="-268288"/>
            <a:r>
              <a:rPr lang="ja-JP" altLang="en-US" dirty="0"/>
              <a:t>情報セキュリティマネジメント</a:t>
            </a:r>
            <a:r>
              <a:rPr lang="en-GB" altLang="ja-JP" dirty="0"/>
              <a:t>: 2017</a:t>
            </a:r>
            <a:r>
              <a:rPr lang="ja-JP" altLang="en-US" dirty="0"/>
              <a:t>年</a:t>
            </a:r>
            <a:r>
              <a:rPr lang="en-US" altLang="ja-JP" dirty="0"/>
              <a:t>11</a:t>
            </a:r>
            <a:r>
              <a:rPr lang="ja-JP" altLang="en-US" dirty="0"/>
              <a:t>月</a:t>
            </a:r>
            <a:r>
              <a:rPr lang="en-GB" altLang="ja-JP" dirty="0"/>
              <a:t> </a:t>
            </a:r>
            <a:r>
              <a:rPr lang="ja-JP" altLang="en-US" dirty="0"/>
              <a:t>取得</a:t>
            </a:r>
            <a:endParaRPr lang="en-GB" altLang="ja-JP" dirty="0"/>
          </a:p>
          <a:p>
            <a:pPr marL="725488" lvl="2" indent="-268288"/>
            <a:r>
              <a:rPr lang="ja-JP" altLang="en-US" dirty="0"/>
              <a:t>応用情報技術者</a:t>
            </a:r>
            <a:r>
              <a:rPr lang="en-GB" altLang="ja-JP" dirty="0"/>
              <a:t>: 2017</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t>基本情報技術者</a:t>
            </a:r>
            <a:r>
              <a:rPr lang="en-GB" altLang="ja-JP" dirty="0"/>
              <a:t>: 2016</a:t>
            </a:r>
            <a:r>
              <a:rPr lang="ja-JP" altLang="en-US" dirty="0"/>
              <a:t>年</a:t>
            </a:r>
            <a:r>
              <a:rPr lang="en-US" altLang="ja-JP" dirty="0"/>
              <a:t>11</a:t>
            </a:r>
            <a:r>
              <a:rPr lang="ja-JP" altLang="en-US" dirty="0"/>
              <a:t>月</a:t>
            </a:r>
            <a:r>
              <a:rPr lang="en-GB" altLang="ja-JP" dirty="0"/>
              <a:t> </a:t>
            </a:r>
            <a:r>
              <a:rPr lang="ja-JP" altLang="en-US" dirty="0"/>
              <a:t>取得</a:t>
            </a:r>
          </a:p>
          <a:p>
            <a:pPr marL="725488" lvl="2" indent="-268288"/>
            <a:r>
              <a:rPr lang="en-US" altLang="ja-JP" dirty="0"/>
              <a:t>IT </a:t>
            </a:r>
            <a:r>
              <a:rPr lang="ja-JP" altLang="en-US" dirty="0"/>
              <a:t>パスポート</a:t>
            </a:r>
            <a:r>
              <a:rPr lang="en-GB" altLang="ja-JP" dirty="0"/>
              <a:t>: 2016</a:t>
            </a:r>
            <a:r>
              <a:rPr lang="ja-JP" altLang="en-US" dirty="0"/>
              <a:t>年</a:t>
            </a:r>
            <a:r>
              <a:rPr lang="en-US" altLang="ja-JP" dirty="0"/>
              <a:t>04</a:t>
            </a:r>
            <a:r>
              <a:rPr lang="ja-JP" altLang="en-US" dirty="0"/>
              <a:t>月</a:t>
            </a:r>
            <a:r>
              <a:rPr lang="en-GB" altLang="ja-JP" dirty="0"/>
              <a:t> </a:t>
            </a:r>
            <a:r>
              <a:rPr lang="ja-JP" altLang="en-US" dirty="0"/>
              <a:t>取得</a:t>
            </a:r>
            <a:endParaRPr lang="en-GB" altLang="ja-JP" b="0" i="0" dirty="0">
              <a:solidFill>
                <a:srgbClr val="333333"/>
              </a:solidFill>
              <a:effectLst/>
              <a:latin typeface="-apple-system"/>
            </a:endParaRPr>
          </a:p>
          <a:p>
            <a:pPr marL="268288" lvl="1" indent="-268288"/>
            <a:r>
              <a:rPr lang="ja-JP" altLang="en-US" dirty="0">
                <a:solidFill>
                  <a:srgbClr val="333333"/>
                </a:solidFill>
                <a:latin typeface="-apple-system"/>
              </a:rPr>
              <a:t>その他</a:t>
            </a:r>
            <a:endParaRPr lang="en-GB" altLang="ja-JP" dirty="0">
              <a:solidFill>
                <a:srgbClr val="333333"/>
              </a:solidFill>
              <a:latin typeface="-apple-system"/>
            </a:endParaRPr>
          </a:p>
          <a:p>
            <a:pPr marL="725488" lvl="2" indent="-268288"/>
            <a:r>
              <a:rPr lang="ja-JP" altLang="en-US" dirty="0">
                <a:solidFill>
                  <a:srgbClr val="333333"/>
                </a:solidFill>
                <a:latin typeface="-apple-system"/>
              </a:rPr>
              <a:t>珠算</a:t>
            </a:r>
            <a:r>
              <a:rPr lang="en-GB" altLang="ja-JP" dirty="0">
                <a:solidFill>
                  <a:srgbClr val="333333"/>
                </a:solidFill>
                <a:latin typeface="-apple-system"/>
              </a:rPr>
              <a:t>2</a:t>
            </a:r>
            <a:r>
              <a:rPr lang="ja-JP" altLang="en-US" dirty="0">
                <a:solidFill>
                  <a:srgbClr val="333333"/>
                </a:solidFill>
                <a:latin typeface="-apple-system"/>
              </a:rPr>
              <a:t>級</a:t>
            </a:r>
            <a:r>
              <a:rPr lang="en-GB" altLang="ja-JP" dirty="0">
                <a:solidFill>
                  <a:srgbClr val="333333"/>
                </a:solidFill>
                <a:latin typeface="-apple-system"/>
              </a:rPr>
              <a:t>: </a:t>
            </a:r>
            <a:r>
              <a:rPr lang="en-GB" altLang="ja-JP" dirty="0"/>
              <a:t>2002</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solidFill>
                  <a:srgbClr val="333333"/>
                </a:solidFill>
                <a:latin typeface="-apple-system"/>
              </a:rPr>
              <a:t>暗算</a:t>
            </a:r>
            <a:r>
              <a:rPr lang="en-US" altLang="ja-JP" dirty="0">
                <a:solidFill>
                  <a:srgbClr val="333333"/>
                </a:solidFill>
                <a:latin typeface="-apple-system"/>
              </a:rPr>
              <a:t>3</a:t>
            </a:r>
            <a:r>
              <a:rPr lang="ja-JP" altLang="en-US" dirty="0">
                <a:solidFill>
                  <a:srgbClr val="333333"/>
                </a:solidFill>
                <a:latin typeface="-apple-system"/>
              </a:rPr>
              <a:t>級</a:t>
            </a:r>
            <a:r>
              <a:rPr lang="en-GB" altLang="ja-JP" b="0" i="0" dirty="0">
                <a:solidFill>
                  <a:srgbClr val="333333"/>
                </a:solidFill>
                <a:effectLst/>
                <a:latin typeface="-apple-system"/>
              </a:rPr>
              <a:t>: </a:t>
            </a:r>
            <a:r>
              <a:rPr lang="en-GB" altLang="ja-JP" dirty="0"/>
              <a:t>2001</a:t>
            </a:r>
            <a:r>
              <a:rPr lang="ja-JP" altLang="en-US" dirty="0"/>
              <a:t>年</a:t>
            </a:r>
            <a:r>
              <a:rPr lang="en-US" altLang="ja-JP" dirty="0"/>
              <a:t>02</a:t>
            </a:r>
            <a:r>
              <a:rPr lang="ja-JP" altLang="en-US" dirty="0"/>
              <a:t>月</a:t>
            </a:r>
            <a:r>
              <a:rPr lang="en-GB" altLang="ja-JP" dirty="0"/>
              <a:t> </a:t>
            </a:r>
            <a:r>
              <a:rPr lang="ja-JP" altLang="en-US" dirty="0"/>
              <a:t>取得</a:t>
            </a:r>
            <a:endParaRPr lang="en-GB" altLang="ja-JP" dirty="0"/>
          </a:p>
        </p:txBody>
      </p:sp>
      <p:sp>
        <p:nvSpPr>
          <p:cNvPr id="4" name="スライド番号プレースホルダー 3">
            <a:extLst>
              <a:ext uri="{FF2B5EF4-FFF2-40B4-BE49-F238E27FC236}">
                <a16:creationId xmlns:a16="http://schemas.microsoft.com/office/drawing/2014/main" id="{CF305983-0249-A6CE-AD02-933B3C88710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26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a:extLst>
            <a:ext uri="{FF2B5EF4-FFF2-40B4-BE49-F238E27FC236}">
              <a16:creationId xmlns:a16="http://schemas.microsoft.com/office/drawing/2014/main" id="{CAA49820-64CA-10AB-3F7F-469948BB563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21ECA9B-821D-9497-AC17-3EE17BA3AC19}"/>
              </a:ext>
            </a:extLst>
          </p:cNvPr>
          <p:cNvSpPr>
            <a:spLocks noGrp="1"/>
          </p:cNvSpPr>
          <p:nvPr>
            <p:ph type="title"/>
          </p:nvPr>
        </p:nvSpPr>
        <p:spPr>
          <a:xfrm>
            <a:off x="838200" y="365125"/>
            <a:ext cx="10515600" cy="1325563"/>
          </a:xfrm>
        </p:spPr>
        <p:txBody>
          <a:bodyPr/>
          <a:lstStyle/>
          <a:p>
            <a:pPr algn="ctr"/>
            <a:r>
              <a:rPr kumimoji="1" lang="ja-JP" altLang="en-US" b="1" dirty="0">
                <a:latin typeface="+mn-lt"/>
              </a:rPr>
              <a:t>スキルスタック</a:t>
            </a:r>
            <a:endParaRPr lang="en-GB" b="1" dirty="0"/>
          </a:p>
        </p:txBody>
      </p:sp>
      <p:sp>
        <p:nvSpPr>
          <p:cNvPr id="3" name="コンテンツ プレースホルダー 2">
            <a:extLst>
              <a:ext uri="{FF2B5EF4-FFF2-40B4-BE49-F238E27FC236}">
                <a16:creationId xmlns:a16="http://schemas.microsoft.com/office/drawing/2014/main" id="{772916DD-D59E-59E9-62AB-FD20D7C50149}"/>
              </a:ext>
            </a:extLst>
          </p:cNvPr>
          <p:cNvSpPr>
            <a:spLocks noGrp="1"/>
          </p:cNvSpPr>
          <p:nvPr>
            <p:ph idx="1"/>
          </p:nvPr>
        </p:nvSpPr>
        <p:spPr>
          <a:xfrm>
            <a:off x="838200" y="1825625"/>
            <a:ext cx="10515600" cy="4351338"/>
          </a:xfrm>
          <a:ln>
            <a:noFill/>
          </a:ln>
        </p:spPr>
        <p:txBody>
          <a:bodyPr>
            <a:normAutofit/>
          </a:bodyPr>
          <a:lstStyle/>
          <a:p>
            <a:pPr marL="268288" indent="-268288"/>
            <a:r>
              <a:rPr lang="ja-JP" altLang="en-US" sz="2400" dirty="0"/>
              <a:t>自然言語</a:t>
            </a:r>
          </a:p>
          <a:p>
            <a:pPr marL="717550" lvl="1" indent="-260350"/>
            <a:r>
              <a:rPr lang="ja-JP" altLang="en-US" sz="2000" dirty="0"/>
              <a:t>日本語</a:t>
            </a:r>
            <a:r>
              <a:rPr lang="en-GB" altLang="ja-JP" sz="2000" dirty="0"/>
              <a:t>: </a:t>
            </a:r>
            <a:r>
              <a:rPr lang="ja-JP" altLang="en-US" sz="2000" dirty="0"/>
              <a:t>母語</a:t>
            </a:r>
            <a:endParaRPr lang="en-GB" altLang="ja-JP" sz="2000" dirty="0"/>
          </a:p>
          <a:p>
            <a:pPr marL="717550" lvl="1" indent="-260350"/>
            <a:r>
              <a:rPr lang="ja-JP" altLang="en-US" sz="2000" dirty="0"/>
              <a:t>英語</a:t>
            </a:r>
            <a:r>
              <a:rPr lang="en-GB" altLang="ja-JP" sz="2000" dirty="0"/>
              <a:t>: </a:t>
            </a:r>
            <a:r>
              <a:rPr lang="ja-JP" altLang="en-US" sz="2000" dirty="0"/>
              <a:t>ビジネスレベル</a:t>
            </a:r>
            <a:endParaRPr lang="en-GB" altLang="ja-JP" sz="2000" dirty="0"/>
          </a:p>
          <a:p>
            <a:pPr marL="268288" indent="-268288"/>
            <a:r>
              <a:rPr lang="ja-JP" altLang="en-US" sz="2400" dirty="0"/>
              <a:t>開発</a:t>
            </a:r>
            <a:endParaRPr lang="en-GB" altLang="ja-JP" sz="2400" dirty="0"/>
          </a:p>
          <a:p>
            <a:pPr marL="717550" lvl="1" indent="-260350"/>
            <a:r>
              <a:rPr lang="ja-JP" altLang="en-US" sz="2000" b="1" dirty="0"/>
              <a:t>バックエンド</a:t>
            </a:r>
            <a:r>
              <a:rPr lang="en-GB" altLang="ja-JP" sz="2000" b="1" dirty="0"/>
              <a:t>: Ruby(Ruby on Rails)</a:t>
            </a:r>
            <a:r>
              <a:rPr lang="en-GB" altLang="ja-JP" sz="2000" dirty="0"/>
              <a:t>, Python</a:t>
            </a:r>
          </a:p>
          <a:p>
            <a:pPr marL="717550" lvl="1" indent="-260350"/>
            <a:r>
              <a:rPr lang="ja-JP" altLang="en-US" sz="2000" dirty="0"/>
              <a:t>フロントエンド</a:t>
            </a:r>
            <a:r>
              <a:rPr lang="en-GB" altLang="ja-JP" sz="2000" dirty="0"/>
              <a:t>: TypeScript + React.js, TypeScript +Vue.js</a:t>
            </a:r>
          </a:p>
          <a:p>
            <a:pPr marL="717550" lvl="1" indent="-260350"/>
            <a:r>
              <a:rPr lang="ja-JP" altLang="en-US" sz="2000" b="1" dirty="0"/>
              <a:t>データベース</a:t>
            </a:r>
            <a:r>
              <a:rPr lang="en-GB" altLang="ja-JP" sz="2000" b="1" dirty="0"/>
              <a:t>: MySQL</a:t>
            </a:r>
            <a:r>
              <a:rPr lang="en-GB" altLang="ja-JP" sz="2000" dirty="0"/>
              <a:t>, PostgreSQL, MongoDB</a:t>
            </a:r>
          </a:p>
          <a:p>
            <a:pPr marL="717550" lvl="1" indent="-260350"/>
            <a:r>
              <a:rPr lang="ja-JP" altLang="en-US" sz="2000" b="1" dirty="0"/>
              <a:t>アーキテクチャー</a:t>
            </a:r>
            <a:r>
              <a:rPr lang="en-GB" altLang="ja-JP" sz="2000" b="1" dirty="0"/>
              <a:t>: </a:t>
            </a:r>
            <a:r>
              <a:rPr lang="ja-JP" altLang="en-US" sz="2000" b="1" dirty="0"/>
              <a:t>モノリス</a:t>
            </a:r>
            <a:r>
              <a:rPr lang="en-GB" altLang="ja-JP" sz="2000" b="1" dirty="0"/>
              <a:t>, </a:t>
            </a:r>
            <a:r>
              <a:rPr lang="ja-JP" altLang="en-US" sz="2000" b="1" dirty="0"/>
              <a:t>モジューラーモノリス</a:t>
            </a:r>
            <a:endParaRPr lang="en-GB" altLang="ja-JP" sz="2000" b="1" dirty="0"/>
          </a:p>
          <a:p>
            <a:pPr marL="717550" lvl="1" indent="-260350"/>
            <a:r>
              <a:rPr lang="ja-JP" altLang="en-US" sz="2000" dirty="0"/>
              <a:t>ホスティング</a:t>
            </a:r>
            <a:r>
              <a:rPr lang="en-GB" altLang="ja-JP" sz="2000" dirty="0"/>
              <a:t>: AWS ESK</a:t>
            </a:r>
          </a:p>
          <a:p>
            <a:pPr marL="717550" lvl="1" indent="-260350"/>
            <a:r>
              <a:rPr lang="ja-JP" altLang="en-US" sz="2000" dirty="0"/>
              <a:t>バージョン管理</a:t>
            </a:r>
            <a:r>
              <a:rPr lang="en-GB" altLang="ja-JP" sz="2000" dirty="0"/>
              <a:t>: Git, GitHub</a:t>
            </a:r>
          </a:p>
          <a:p>
            <a:pPr marL="717550" lvl="1" indent="-260350"/>
            <a:r>
              <a:rPr lang="en-GB" altLang="ja-JP" sz="2000" b="1" dirty="0"/>
              <a:t>CI/CD: GitHub Actions</a:t>
            </a:r>
            <a:r>
              <a:rPr lang="en-GB" altLang="ja-JP" sz="2000" dirty="0"/>
              <a:t>, ArgoCD</a:t>
            </a:r>
          </a:p>
          <a:p>
            <a:pPr marL="717550" lvl="1" indent="-260350"/>
            <a:r>
              <a:rPr lang="ja-JP" altLang="en-US" sz="2000" dirty="0"/>
              <a:t>監視</a:t>
            </a:r>
            <a:r>
              <a:rPr lang="en-GB" altLang="ja-JP" sz="2000" dirty="0"/>
              <a:t>: Datadog, Sentry</a:t>
            </a:r>
            <a:endParaRPr lang="en-GB" altLang="ja-JP" dirty="0"/>
          </a:p>
        </p:txBody>
      </p:sp>
      <p:sp>
        <p:nvSpPr>
          <p:cNvPr id="4" name="スライド番号プレースホルダー 3">
            <a:extLst>
              <a:ext uri="{FF2B5EF4-FFF2-40B4-BE49-F238E27FC236}">
                <a16:creationId xmlns:a16="http://schemas.microsoft.com/office/drawing/2014/main" id="{4FB6B804-6858-4A16-5DCA-AE38434A1501}"/>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6559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a:extLst>
            <a:ext uri="{FF2B5EF4-FFF2-40B4-BE49-F238E27FC236}">
              <a16:creationId xmlns:a16="http://schemas.microsoft.com/office/drawing/2014/main" id="{B11AA3E3-4C77-785A-314B-6F0D1FAD6F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D68D220-F2EE-2832-DD02-DFCBB833EEB4}"/>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7F16B47F-6B89-5F6F-6597-C0699A2A486A}"/>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DAD373DA-AEE5-FE92-637A-CAB704FA45BF}"/>
              </a:ext>
            </a:extLst>
          </p:cNvPr>
          <p:cNvGraphicFramePr>
            <a:graphicFrameLocks noGrp="1"/>
          </p:cNvGraphicFramePr>
          <p:nvPr>
            <p:extLst>
              <p:ext uri="{D42A27DB-BD31-4B8C-83A1-F6EECF244321}">
                <p14:modId xmlns:p14="http://schemas.microsoft.com/office/powerpoint/2010/main" val="812265345"/>
              </p:ext>
            </p:extLst>
          </p:nvPr>
        </p:nvGraphicFramePr>
        <p:xfrm>
          <a:off x="836798" y="1822829"/>
          <a:ext cx="10515600" cy="411988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2021</a:t>
                      </a:r>
                      <a:r>
                        <a:rPr lang="ja-JP" altLang="en-US" dirty="0"/>
                        <a:t>年</a:t>
                      </a:r>
                      <a:r>
                        <a:rPr lang="en-GB" altLang="ja-JP" dirty="0"/>
                        <a:t>08</a:t>
                      </a:r>
                      <a:r>
                        <a:rPr lang="ja-JP" altLang="en-US" dirty="0"/>
                        <a:t>月</a:t>
                      </a:r>
                      <a:r>
                        <a:rPr lang="en-GB" altLang="ja-JP" dirty="0"/>
                        <a:t>-</a:t>
                      </a:r>
                    </a:p>
                    <a:p>
                      <a:r>
                        <a:rPr lang="en-GB" dirty="0"/>
                        <a:t>Present</a:t>
                      </a:r>
                    </a:p>
                  </a:txBody>
                  <a:tcPr/>
                </a:tc>
                <a:tc>
                  <a:txBody>
                    <a:bodyPr/>
                    <a:lstStyle/>
                    <a:p>
                      <a:r>
                        <a:rPr lang="en-GB" dirty="0"/>
                        <a:t>EdTech SaaS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ソフトウェア</a:t>
                      </a:r>
                      <a:endParaRPr lang="en-GB"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en-GB" dirty="0"/>
                        <a:t>CI/CD </a:t>
                      </a:r>
                      <a:r>
                        <a:rPr lang="ja-JP" altLang="en-US" dirty="0"/>
                        <a:t>運用・保守</a:t>
                      </a:r>
                      <a:endParaRPr lang="en-GB" dirty="0"/>
                    </a:p>
                    <a:p>
                      <a:pPr marL="180975" indent="-180975">
                        <a:buFont typeface="Arial" panose="020B0604020202020204" pitchFamily="34" charset="0"/>
                        <a:buChar char="•"/>
                      </a:pPr>
                      <a:r>
                        <a:rPr lang="ja-JP" altLang="en-US" dirty="0"/>
                        <a:t>週次リリースマネージャー</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altLang="ja-JP" dirty="0"/>
                    </a:p>
                    <a:p>
                      <a:pPr marL="180975" indent="-180975">
                        <a:buFont typeface="Arial" panose="020B0604020202020204" pitchFamily="34" charset="0"/>
                        <a:buChar char="•"/>
                      </a:pPr>
                      <a:r>
                        <a:rPr lang="ja-JP" altLang="en-US" dirty="0"/>
                        <a:t>技術ブログ記事執筆</a:t>
                      </a:r>
                      <a:endParaRPr lang="en-GB" dirty="0"/>
                    </a:p>
                    <a:p>
                      <a:pPr marL="180975" indent="-180975">
                        <a:buFont typeface="Arial" panose="020B0604020202020204" pitchFamily="34" charset="0"/>
                        <a:buChar char="•"/>
                      </a:pPr>
                      <a:r>
                        <a:rPr lang="en-GB" dirty="0"/>
                        <a:t>LT </a:t>
                      </a:r>
                      <a:r>
                        <a:rPr lang="ja-JP" altLang="en-US" dirty="0"/>
                        <a:t>登壇</a:t>
                      </a:r>
                      <a:endParaRPr lang="en-GB" dirty="0"/>
                    </a:p>
                  </a:txBody>
                  <a:tcPr/>
                </a:tc>
                <a:extLst>
                  <a:ext uri="{0D108BD9-81ED-4DB2-BD59-A6C34878D82A}">
                    <a16:rowId xmlns:a16="http://schemas.microsoft.com/office/drawing/2014/main" val="1529764250"/>
                  </a:ext>
                </a:extLst>
              </a:tr>
              <a:tr h="370840">
                <a:tc>
                  <a:txBody>
                    <a:bodyPr/>
                    <a:lstStyle/>
                    <a:p>
                      <a:r>
                        <a:rPr lang="en-GB" dirty="0"/>
                        <a:t>2020</a:t>
                      </a:r>
                      <a:r>
                        <a:rPr lang="ja-JP" altLang="en-US" dirty="0"/>
                        <a:t>年</a:t>
                      </a:r>
                      <a:r>
                        <a:rPr lang="en-GB" altLang="ja-JP" dirty="0"/>
                        <a:t>02</a:t>
                      </a:r>
                      <a:r>
                        <a:rPr lang="ja-JP" altLang="en-US" dirty="0"/>
                        <a:t>月</a:t>
                      </a:r>
                      <a:r>
                        <a:rPr lang="en-GB" dirty="0"/>
                        <a:t>-</a:t>
                      </a:r>
                    </a:p>
                    <a:p>
                      <a:r>
                        <a:rPr lang="en-GB" dirty="0"/>
                        <a:t>2020</a:t>
                      </a:r>
                      <a:r>
                        <a:rPr lang="ja-JP" altLang="en-US" dirty="0"/>
                        <a:t>年</a:t>
                      </a:r>
                      <a:r>
                        <a:rPr lang="en-GB" altLang="ja-JP" dirty="0"/>
                        <a:t>12</a:t>
                      </a:r>
                      <a:r>
                        <a:rPr lang="ja-JP" altLang="en-US" dirty="0"/>
                        <a:t>月</a:t>
                      </a:r>
                      <a:endParaRPr lang="en-GB" dirty="0"/>
                    </a:p>
                  </a:txBody>
                  <a:tcPr/>
                </a:tc>
                <a:tc>
                  <a:txBody>
                    <a:bodyPr/>
                    <a:lstStyle/>
                    <a:p>
                      <a:r>
                        <a:rPr lang="ja-JP" altLang="en-US" dirty="0"/>
                        <a:t>チャットボット系</a:t>
                      </a:r>
                      <a:r>
                        <a:rPr lang="en-GB" altLang="ja-JP" dirty="0"/>
                        <a:t> </a:t>
                      </a:r>
                      <a:r>
                        <a:rPr lang="en-GB" dirty="0"/>
                        <a:t>SaaS</a:t>
                      </a:r>
                    </a:p>
                  </a:txBody>
                  <a:tcPr/>
                </a:tc>
                <a:tc>
                  <a:txBody>
                    <a:bodyPr/>
                    <a:lstStyle/>
                    <a:p>
                      <a:r>
                        <a:rPr lang="ja-JP" altLang="en-US" dirty="0"/>
                        <a:t>バックエンド</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dirty="0"/>
                    </a:p>
                    <a:p>
                      <a:pPr marL="180975" indent="-180975">
                        <a:buFont typeface="Arial" panose="020B0604020202020204" pitchFamily="34" charset="0"/>
                        <a:buChar char="•"/>
                      </a:pPr>
                      <a:r>
                        <a:rPr lang="ja-JP" altLang="en-US" dirty="0"/>
                        <a:t>代替</a:t>
                      </a:r>
                      <a:r>
                        <a:rPr lang="en-GB" dirty="0"/>
                        <a:t> API </a:t>
                      </a:r>
                      <a:r>
                        <a:rPr lang="ja-JP" altLang="en-US" dirty="0"/>
                        <a:t>検証</a:t>
                      </a:r>
                      <a:endParaRPr lang="en-GB" dirty="0"/>
                    </a:p>
                  </a:txBody>
                  <a:tcPr/>
                </a:tc>
                <a:extLst>
                  <a:ext uri="{0D108BD9-81ED-4DB2-BD59-A6C34878D82A}">
                    <a16:rowId xmlns:a16="http://schemas.microsoft.com/office/drawing/2014/main" val="2157449828"/>
                  </a:ext>
                </a:extLst>
              </a:tr>
            </a:tbl>
          </a:graphicData>
        </a:graphic>
      </p:graphicFrame>
    </p:spTree>
    <p:extLst>
      <p:ext uri="{BB962C8B-B14F-4D97-AF65-F5344CB8AC3E}">
        <p14:creationId xmlns:p14="http://schemas.microsoft.com/office/powerpoint/2010/main" val="2861963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a:extLst>
            <a:ext uri="{FF2B5EF4-FFF2-40B4-BE49-F238E27FC236}">
              <a16:creationId xmlns:a16="http://schemas.microsoft.com/office/drawing/2014/main" id="{0A163DC8-7DE8-EB81-77B1-F66A2616CCF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B85B1AD-0046-6149-25D6-E485F85971FC}"/>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38ACB9F7-EFD8-F02B-A132-3968DDB074B1}"/>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7A9EF1CA-A959-C5C5-9A3E-F0EAE37824E9}"/>
              </a:ext>
            </a:extLst>
          </p:cNvPr>
          <p:cNvGraphicFramePr>
            <a:graphicFrameLocks noGrp="1"/>
          </p:cNvGraphicFramePr>
          <p:nvPr>
            <p:extLst>
              <p:ext uri="{D42A27DB-BD31-4B8C-83A1-F6EECF244321}">
                <p14:modId xmlns:p14="http://schemas.microsoft.com/office/powerpoint/2010/main" val="1788297845"/>
              </p:ext>
            </p:extLst>
          </p:nvPr>
        </p:nvGraphicFramePr>
        <p:xfrm>
          <a:off x="836798" y="1822829"/>
          <a:ext cx="10515600" cy="302260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2018</a:t>
                      </a:r>
                      <a:r>
                        <a:rPr lang="ja-JP" altLang="en-US" dirty="0"/>
                        <a:t>年</a:t>
                      </a:r>
                      <a:r>
                        <a:rPr lang="en-US" altLang="ja-JP" dirty="0"/>
                        <a:t>06</a:t>
                      </a:r>
                      <a:r>
                        <a:rPr lang="ja-JP" altLang="en-US" dirty="0"/>
                        <a:t>月</a:t>
                      </a:r>
                      <a:r>
                        <a:rPr lang="en-GB" dirty="0"/>
                        <a:t> -</a:t>
                      </a:r>
                    </a:p>
                    <a:p>
                      <a:r>
                        <a:rPr lang="en-GB" dirty="0"/>
                        <a:t>2020</a:t>
                      </a:r>
                      <a:r>
                        <a:rPr lang="ja-JP" altLang="en-US" dirty="0"/>
                        <a:t>年</a:t>
                      </a:r>
                      <a:r>
                        <a:rPr lang="en-US" altLang="ja-JP" dirty="0"/>
                        <a:t>01</a:t>
                      </a:r>
                      <a:r>
                        <a:rPr lang="ja-JP" altLang="en-US" dirty="0"/>
                        <a:t>月</a:t>
                      </a:r>
                      <a:endParaRPr lang="en-GB" dirty="0"/>
                    </a:p>
                  </a:txBody>
                  <a:tcPr/>
                </a:tc>
                <a:tc>
                  <a:txBody>
                    <a:bodyPr/>
                    <a:lstStyle/>
                    <a:p>
                      <a:r>
                        <a:rPr lang="ja-JP" altLang="en-US" dirty="0"/>
                        <a:t>受託開発</a:t>
                      </a:r>
                      <a:endParaRPr lang="en-GB" dirty="0"/>
                    </a:p>
                  </a:txBody>
                  <a:tcPr/>
                </a:tc>
                <a:tc>
                  <a:txBody>
                    <a:bodyPr/>
                    <a:lstStyle/>
                    <a:p>
                      <a:r>
                        <a:rPr lang="ja-JP" altLang="en-US" dirty="0"/>
                        <a:t>ソフトウェア</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en-GB" dirty="0"/>
                        <a:t>QA</a:t>
                      </a:r>
                    </a:p>
                    <a:p>
                      <a:pPr marL="180975" indent="-180975">
                        <a:buFont typeface="Arial" panose="020B0604020202020204" pitchFamily="34" charset="0"/>
                        <a:buChar char="•"/>
                      </a:pPr>
                      <a:r>
                        <a:rPr lang="ja-JP" altLang="en-US" dirty="0"/>
                        <a:t>技術ブログ記事執筆</a:t>
                      </a:r>
                      <a:endParaRPr lang="en-GB" dirty="0"/>
                    </a:p>
                  </a:txBody>
                  <a:tcPr/>
                </a:tc>
                <a:extLst>
                  <a:ext uri="{0D108BD9-81ED-4DB2-BD59-A6C34878D82A}">
                    <a16:rowId xmlns:a16="http://schemas.microsoft.com/office/drawing/2014/main" val="2130531394"/>
                  </a:ext>
                </a:extLst>
              </a:tr>
              <a:tr h="370840">
                <a:tc>
                  <a:txBody>
                    <a:bodyPr/>
                    <a:lstStyle/>
                    <a:p>
                      <a:r>
                        <a:rPr lang="en-GB" dirty="0"/>
                        <a:t>2016</a:t>
                      </a:r>
                      <a:r>
                        <a:rPr lang="ja-JP" altLang="en-US" dirty="0"/>
                        <a:t>年</a:t>
                      </a:r>
                      <a:r>
                        <a:rPr lang="en-US" altLang="ja-JP" dirty="0"/>
                        <a:t>04</a:t>
                      </a:r>
                      <a:r>
                        <a:rPr lang="ja-JP" altLang="en-US" dirty="0"/>
                        <a:t>月</a:t>
                      </a:r>
                      <a:r>
                        <a:rPr lang="en-GB" dirty="0"/>
                        <a:t> -</a:t>
                      </a:r>
                    </a:p>
                    <a:p>
                      <a:r>
                        <a:rPr lang="en-GB" dirty="0"/>
                        <a:t>2018</a:t>
                      </a:r>
                      <a:r>
                        <a:rPr lang="ja-JP" altLang="en-US" dirty="0"/>
                        <a:t>年</a:t>
                      </a:r>
                      <a:r>
                        <a:rPr lang="en-US" altLang="ja-JP" dirty="0"/>
                        <a:t>01</a:t>
                      </a:r>
                      <a:r>
                        <a:rPr lang="ja-JP" altLang="en-US" dirty="0"/>
                        <a:t>月</a:t>
                      </a:r>
                      <a:endParaRPr lang="en-GB" dirty="0"/>
                    </a:p>
                  </a:txBody>
                  <a:tcPr/>
                </a:tc>
                <a:tc>
                  <a:txBody>
                    <a:bodyPr/>
                    <a:lstStyle/>
                    <a:p>
                      <a:r>
                        <a:rPr lang="en-GB" altLang="ja-JP" dirty="0"/>
                        <a:t>SES</a:t>
                      </a:r>
                      <a:endParaRPr lang="en-GB" dirty="0"/>
                    </a:p>
                  </a:txBody>
                  <a:tcPr/>
                </a:tc>
                <a:tc>
                  <a:txBody>
                    <a:bodyPr/>
                    <a:lstStyle/>
                    <a:p>
                      <a:r>
                        <a:rPr lang="ja-JP" altLang="en-US" dirty="0"/>
                        <a:t>システムエンジニア</a:t>
                      </a:r>
                      <a:endParaRPr lang="en-GB" dirty="0"/>
                    </a:p>
                  </a:txBody>
                  <a:tcPr/>
                </a:tc>
                <a:tc>
                  <a:txBody>
                    <a:bodyPr/>
                    <a:lstStyle/>
                    <a:p>
                      <a:pPr marL="180975" indent="-180975">
                        <a:buFont typeface="Arial" panose="020B0604020202020204" pitchFamily="34" charset="0"/>
                        <a:buChar char="•"/>
                      </a:pPr>
                      <a:r>
                        <a:rPr lang="ja-JP" altLang="en-US" dirty="0"/>
                        <a:t>全社アカウント管理者</a:t>
                      </a:r>
                      <a:endParaRPr lang="en-GB" dirty="0"/>
                    </a:p>
                    <a:p>
                      <a:pPr marL="180975" indent="-180975">
                        <a:buFont typeface="Arial" panose="020B0604020202020204" pitchFamily="34" charset="0"/>
                        <a:buChar char="•"/>
                      </a:pPr>
                      <a:r>
                        <a:rPr lang="en-GB" dirty="0"/>
                        <a:t>Windows Server </a:t>
                      </a:r>
                      <a:r>
                        <a:rPr lang="ja-JP" altLang="en-US" dirty="0"/>
                        <a:t>運用・保守</a:t>
                      </a:r>
                      <a:endParaRPr lang="en-GB" dirty="0"/>
                    </a:p>
                    <a:p>
                      <a:pPr marL="180975" indent="-180975">
                        <a:buFont typeface="Arial" panose="020B0604020202020204" pitchFamily="34" charset="0"/>
                        <a:buChar char="•"/>
                      </a:pPr>
                      <a:r>
                        <a:rPr lang="ja-JP" altLang="en-US" dirty="0"/>
                        <a:t>セキュリティ管理者助手</a:t>
                      </a:r>
                      <a:endParaRPr lang="en-GB" dirty="0"/>
                    </a:p>
                    <a:p>
                      <a:pPr marL="180975" indent="-180975">
                        <a:buFont typeface="Arial" panose="020B0604020202020204" pitchFamily="34" charset="0"/>
                        <a:buChar char="•"/>
                      </a:pPr>
                      <a:r>
                        <a:rPr lang="ja-JP" altLang="en-US" dirty="0"/>
                        <a:t>翻訳・通訳</a:t>
                      </a:r>
                      <a:endParaRPr lang="en-GB" dirty="0"/>
                    </a:p>
                  </a:txBody>
                  <a:tcPr/>
                </a:tc>
                <a:extLst>
                  <a:ext uri="{0D108BD9-81ED-4DB2-BD59-A6C34878D82A}">
                    <a16:rowId xmlns:a16="http://schemas.microsoft.com/office/drawing/2014/main" val="2598994669"/>
                  </a:ext>
                </a:extLst>
              </a:tr>
            </a:tbl>
          </a:graphicData>
        </a:graphic>
      </p:graphicFrame>
    </p:spTree>
    <p:extLst>
      <p:ext uri="{BB962C8B-B14F-4D97-AF65-F5344CB8AC3E}">
        <p14:creationId xmlns:p14="http://schemas.microsoft.com/office/powerpoint/2010/main" val="948688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500050F0-8304-2767-A330-562716444FD9}"/>
              </a:ext>
            </a:extLst>
          </p:cNvPr>
          <p:cNvSpPr>
            <a:spLocks noGrp="1"/>
          </p:cNvSpPr>
          <p:nvPr>
            <p:ph type="title"/>
          </p:nvPr>
        </p:nvSpPr>
        <p:spPr>
          <a:xfrm>
            <a:off x="838200" y="365125"/>
            <a:ext cx="10515600" cy="1325563"/>
          </a:xfrm>
        </p:spPr>
        <p:txBody>
          <a:bodyPr/>
          <a:lstStyle/>
          <a:p>
            <a:pPr algn="ctr"/>
            <a:r>
              <a:rPr lang="ja-JP" altLang="en-US" b="1" dirty="0"/>
              <a:t>国際交流活動</a:t>
            </a:r>
            <a:endParaRPr lang="en-GB" b="1" dirty="0"/>
          </a:p>
        </p:txBody>
      </p:sp>
      <p:sp>
        <p:nvSpPr>
          <p:cNvPr id="7" name="スライド番号プレースホルダー 3">
            <a:extLst>
              <a:ext uri="{FF2B5EF4-FFF2-40B4-BE49-F238E27FC236}">
                <a16:creationId xmlns:a16="http://schemas.microsoft.com/office/drawing/2014/main" id="{6DB25FEF-6EFF-9A65-7E03-6A861AED538C}"/>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コンテンツ プレースホルダー 2">
            <a:extLst>
              <a:ext uri="{FF2B5EF4-FFF2-40B4-BE49-F238E27FC236}">
                <a16:creationId xmlns:a16="http://schemas.microsoft.com/office/drawing/2014/main" id="{6AE27565-C316-998B-EFAE-FD4A8E36CDA6}"/>
              </a:ext>
            </a:extLst>
          </p:cNvPr>
          <p:cNvSpPr>
            <a:spLocks noGrp="1"/>
          </p:cNvSpPr>
          <p:nvPr>
            <p:ph idx="1"/>
          </p:nvPr>
        </p:nvSpPr>
        <p:spPr>
          <a:xfrm>
            <a:off x="838200" y="1830270"/>
            <a:ext cx="10515600" cy="4343898"/>
          </a:xfrm>
          <a:ln>
            <a:noFill/>
          </a:ln>
        </p:spPr>
        <p:txBody>
          <a:bodyPr>
            <a:normAutofit/>
          </a:bodyPr>
          <a:lstStyle/>
          <a:p>
            <a:pPr marL="268288" indent="-268288"/>
            <a:r>
              <a:rPr lang="ja-JP" altLang="en-US" sz="1600" dirty="0"/>
              <a:t>大学時代</a:t>
            </a:r>
          </a:p>
          <a:p>
            <a:pPr marL="536575" lvl="1" indent="-268288"/>
            <a:r>
              <a:rPr lang="ja-JP" altLang="en-US" sz="1400" dirty="0"/>
              <a:t>英語学ゼミ</a:t>
            </a:r>
            <a:r>
              <a:rPr lang="en-US" altLang="ja-JP" sz="1400" dirty="0"/>
              <a:t>(</a:t>
            </a:r>
            <a:r>
              <a:rPr lang="ja-JP" altLang="en-US" sz="1400" dirty="0"/>
              <a:t>マスメディア英語</a:t>
            </a:r>
            <a:r>
              <a:rPr lang="en-US" altLang="ja-JP" sz="1400" dirty="0"/>
              <a:t>)</a:t>
            </a:r>
          </a:p>
          <a:p>
            <a:pPr marL="536575" lvl="1" indent="-268288"/>
            <a:r>
              <a:rPr lang="ja-JP" altLang="en-US" sz="1400" dirty="0"/>
              <a:t>国際交流サークル兼部</a:t>
            </a:r>
            <a:r>
              <a:rPr lang="en-US" altLang="ja-JP" sz="1400" dirty="0"/>
              <a:t>(2</a:t>
            </a:r>
            <a:r>
              <a:rPr lang="ja-JP" altLang="en-US" sz="1400" dirty="0"/>
              <a:t>年次</a:t>
            </a:r>
            <a:r>
              <a:rPr lang="en-US" altLang="ja-JP" sz="1400" dirty="0"/>
              <a:t>)</a:t>
            </a:r>
          </a:p>
          <a:p>
            <a:pPr marL="536575" lvl="1" indent="-268288"/>
            <a:r>
              <a:rPr lang="ja-JP" altLang="en-US" sz="1400" dirty="0">
                <a:hlinkClick r:id="rId3"/>
              </a:rPr>
              <a:t>内閣府主催国際交流プログラム</a:t>
            </a:r>
            <a:r>
              <a:rPr lang="en-US" altLang="ja-JP" sz="1400" dirty="0"/>
              <a:t>(2013</a:t>
            </a:r>
            <a:r>
              <a:rPr lang="ja-JP" altLang="en-US" sz="1400" dirty="0"/>
              <a:t>年 </a:t>
            </a:r>
            <a:r>
              <a:rPr lang="en-GB" altLang="ja-JP" sz="1400" dirty="0"/>
              <a:t>-</a:t>
            </a:r>
            <a:r>
              <a:rPr lang="en-US" altLang="ja-JP" sz="1400" dirty="0"/>
              <a:t> 2016</a:t>
            </a:r>
            <a:r>
              <a:rPr lang="ja-JP" altLang="en-US" sz="1400" dirty="0"/>
              <a:t>年</a:t>
            </a:r>
            <a:r>
              <a:rPr lang="en-US" altLang="ja-JP" sz="1400" dirty="0"/>
              <a:t>)</a:t>
            </a:r>
          </a:p>
          <a:p>
            <a:pPr marL="536575" lvl="1" indent="-268288"/>
            <a:r>
              <a:rPr lang="ja-JP" altLang="en-US" sz="1400" dirty="0"/>
              <a:t>日本語学の授業の</a:t>
            </a:r>
            <a:r>
              <a:rPr lang="en-GB" altLang="ja-JP" sz="1400" dirty="0"/>
              <a:t> S </a:t>
            </a:r>
            <a:r>
              <a:rPr lang="ja-JP" altLang="en-US" sz="1400" dirty="0"/>
              <a:t>単位取得</a:t>
            </a:r>
            <a:r>
              <a:rPr lang="en-GB" altLang="ja-JP" sz="1400" dirty="0"/>
              <a:t>(</a:t>
            </a:r>
            <a:r>
              <a:rPr lang="ja-JP" altLang="en-US" sz="1400" dirty="0"/>
              <a:t>最終年次</a:t>
            </a:r>
            <a:r>
              <a:rPr lang="en-GB" altLang="ja-JP" sz="1400" dirty="0"/>
              <a:t>)</a:t>
            </a:r>
            <a:endParaRPr lang="en-US" altLang="ja-JP" sz="1400" dirty="0"/>
          </a:p>
          <a:p>
            <a:pPr marL="268288" indent="-268288"/>
            <a:r>
              <a:rPr lang="ja-JP" altLang="en-US" sz="1600" dirty="0"/>
              <a:t>海外生活</a:t>
            </a:r>
          </a:p>
          <a:p>
            <a:pPr marL="536575" lvl="1" indent="-268288"/>
            <a:r>
              <a:rPr lang="ja-JP" altLang="en-US" sz="1400" dirty="0"/>
              <a:t>オーストラリアでのワーキングホリデー</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en-GB" altLang="ja-JP" sz="1400" dirty="0"/>
              <a:t>2015</a:t>
            </a:r>
            <a:r>
              <a:rPr lang="ja-JP" altLang="en-US" sz="1400" dirty="0"/>
              <a:t>年</a:t>
            </a:r>
            <a:r>
              <a:rPr lang="en-US" altLang="ja-JP" sz="1400" dirty="0"/>
              <a:t>03</a:t>
            </a:r>
            <a:r>
              <a:rPr lang="ja-JP" altLang="en-US" sz="1400" dirty="0"/>
              <a:t>月</a:t>
            </a:r>
            <a:r>
              <a:rPr lang="en-US" altLang="ja-JP" sz="1400" dirty="0"/>
              <a:t>)</a:t>
            </a:r>
          </a:p>
          <a:p>
            <a:pPr marL="728662" lvl="2" indent="-285750"/>
            <a:r>
              <a:rPr lang="en-GB" altLang="ja-JP" sz="1200" dirty="0"/>
              <a:t>2</a:t>
            </a:r>
            <a:r>
              <a:rPr lang="ja-JP" altLang="en-US" sz="1200" dirty="0"/>
              <a:t>ヶ月間のシドニーの語学学校通学</a:t>
            </a:r>
            <a:endParaRPr lang="en-GB" altLang="ja-JP" sz="1200" dirty="0"/>
          </a:p>
          <a:p>
            <a:pPr marL="728662" lvl="2" indent="-285750"/>
            <a:r>
              <a:rPr lang="en-US" altLang="ja-JP" sz="1200" dirty="0"/>
              <a:t>6</a:t>
            </a:r>
            <a:r>
              <a:rPr lang="ja-JP" altLang="en-US" sz="1200" dirty="0"/>
              <a:t>ヶ月間の</a:t>
            </a:r>
            <a:r>
              <a:rPr lang="en-GB" altLang="ja-JP" sz="1200" dirty="0"/>
              <a:t> </a:t>
            </a:r>
            <a:r>
              <a:rPr lang="en-GB" altLang="ja-JP" sz="1200" dirty="0">
                <a:hlinkClick r:id="rId4"/>
              </a:rPr>
              <a:t>Hamilton Island Resort</a:t>
            </a:r>
            <a:r>
              <a:rPr lang="en-GB" altLang="ja-JP" sz="1200" dirty="0"/>
              <a:t> </a:t>
            </a:r>
            <a:r>
              <a:rPr lang="ja-JP" altLang="en-US" sz="1200" dirty="0"/>
              <a:t>での就労</a:t>
            </a:r>
            <a:endParaRPr lang="en-GB" altLang="ja-JP" sz="1200" dirty="0"/>
          </a:p>
          <a:p>
            <a:pPr marL="728662" lvl="2" indent="-285750"/>
            <a:r>
              <a:rPr lang="en-US" altLang="ja-JP" sz="1200" dirty="0"/>
              <a:t>1</a:t>
            </a:r>
            <a:r>
              <a:rPr lang="ja-JP" altLang="en-US" sz="1200" dirty="0"/>
              <a:t>ヶ月間の </a:t>
            </a:r>
            <a:r>
              <a:rPr lang="en-GB" altLang="ja-JP" sz="1200" dirty="0"/>
              <a:t>NSW </a:t>
            </a:r>
            <a:r>
              <a:rPr lang="ja-JP" altLang="en-US" sz="1200" dirty="0"/>
              <a:t>州の </a:t>
            </a:r>
            <a:r>
              <a:rPr lang="en-GB" altLang="ja-JP" sz="1200" dirty="0">
                <a:hlinkClick r:id="rId5"/>
              </a:rPr>
              <a:t>St Ives High School</a:t>
            </a:r>
            <a:r>
              <a:rPr lang="ja-JP" altLang="en-US" sz="1200" dirty="0"/>
              <a:t> での日本語教師アシスタントボランティア活動</a:t>
            </a:r>
            <a:endParaRPr lang="en-US" altLang="ja-JP" sz="1200" dirty="0"/>
          </a:p>
          <a:p>
            <a:pPr marL="268288" indent="-268288"/>
            <a:r>
              <a:rPr lang="ja-JP" altLang="en-US" sz="1600" dirty="0"/>
              <a:t>その他活動</a:t>
            </a:r>
            <a:endParaRPr lang="ja-JP" altLang="en-US" sz="900" dirty="0"/>
          </a:p>
          <a:p>
            <a:pPr marL="536575" lvl="1" indent="-268288"/>
            <a:r>
              <a:rPr lang="ja-JP" altLang="en-US" sz="1400" dirty="0"/>
              <a:t>英語での日々の日記</a:t>
            </a:r>
            <a:r>
              <a:rPr lang="en-GB" altLang="ja-JP" sz="1400" dirty="0"/>
              <a:t>(</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ja-JP" altLang="en-US" sz="1400" dirty="0"/>
              <a:t>現在</a:t>
            </a:r>
            <a:r>
              <a:rPr lang="en-GB" altLang="ja-JP" sz="1400" dirty="0"/>
              <a:t>)</a:t>
            </a:r>
            <a:endParaRPr lang="en-US" altLang="ja-JP" sz="1400" dirty="0">
              <a:hlinkClick r:id="rId6"/>
            </a:endParaRPr>
          </a:p>
          <a:p>
            <a:pPr marL="536575" lvl="1" indent="-268288"/>
            <a:r>
              <a:rPr lang="en-US" altLang="ja-JP" sz="1400" dirty="0">
                <a:hlinkClick r:id="rId7"/>
              </a:rPr>
              <a:t>Sunrise Toastmasters Club</a:t>
            </a:r>
            <a:r>
              <a:rPr lang="en-GB" altLang="ja-JP" sz="1400" dirty="0"/>
              <a:t> </a:t>
            </a:r>
            <a:r>
              <a:rPr lang="ja-JP" altLang="en-US" sz="1400" dirty="0"/>
              <a:t>参加</a:t>
            </a:r>
            <a:r>
              <a:rPr lang="en-US" altLang="ja-JP" sz="1400" dirty="0"/>
              <a:t>(2017</a:t>
            </a:r>
            <a:r>
              <a:rPr lang="ja-JP" altLang="en-US" sz="1400" dirty="0"/>
              <a:t>年</a:t>
            </a:r>
            <a:r>
              <a:rPr lang="en-US" altLang="ja-JP" sz="1400" dirty="0"/>
              <a:t>02</a:t>
            </a:r>
            <a:r>
              <a:rPr lang="ja-JP" altLang="en-US" sz="1400" dirty="0"/>
              <a:t>月 </a:t>
            </a:r>
            <a:r>
              <a:rPr lang="en-US" altLang="ja-JP" sz="1400" dirty="0"/>
              <a:t>- 2018</a:t>
            </a:r>
            <a:r>
              <a:rPr lang="ja-JP" altLang="en-US" sz="1400" dirty="0"/>
              <a:t>年</a:t>
            </a:r>
            <a:r>
              <a:rPr lang="en-US" altLang="ja-JP" sz="1400" dirty="0"/>
              <a:t>03</a:t>
            </a:r>
            <a:r>
              <a:rPr lang="ja-JP" altLang="en-US" sz="1400" dirty="0"/>
              <a:t>月</a:t>
            </a:r>
            <a:r>
              <a:rPr lang="en-US" altLang="ja-JP" sz="1400" dirty="0"/>
              <a:t>)</a:t>
            </a:r>
          </a:p>
          <a:p>
            <a:pPr marL="536575" lvl="1" indent="-268288"/>
            <a:r>
              <a:rPr lang="en-US" altLang="ja-JP" sz="1400" dirty="0">
                <a:hlinkClick r:id="rId8"/>
              </a:rPr>
              <a:t>Vital Japan</a:t>
            </a:r>
            <a:r>
              <a:rPr lang="en-US" altLang="ja-JP" sz="1400" dirty="0"/>
              <a:t> </a:t>
            </a:r>
            <a:r>
              <a:rPr lang="ja-JP" altLang="en-US" sz="1400" dirty="0"/>
              <a:t>参加</a:t>
            </a:r>
            <a:r>
              <a:rPr lang="en-US" altLang="ja-JP" sz="1400" dirty="0"/>
              <a:t>(2018</a:t>
            </a:r>
            <a:r>
              <a:rPr lang="ja-JP" altLang="en-US" sz="1400" dirty="0"/>
              <a:t>年</a:t>
            </a:r>
            <a:r>
              <a:rPr lang="en-US" altLang="ja-JP" sz="1400" dirty="0"/>
              <a:t>0</a:t>
            </a:r>
            <a:r>
              <a:rPr lang="en-GB" altLang="ja-JP" sz="1400" dirty="0"/>
              <a:t>1</a:t>
            </a:r>
            <a:r>
              <a:rPr lang="ja-JP" altLang="en-US" sz="1400" dirty="0"/>
              <a:t>月 </a:t>
            </a:r>
            <a:r>
              <a:rPr lang="en-US" altLang="ja-JP" sz="1400" dirty="0"/>
              <a:t>- 2019</a:t>
            </a:r>
            <a:r>
              <a:rPr lang="ja-JP" altLang="en-US" sz="1400" dirty="0"/>
              <a:t>年</a:t>
            </a:r>
            <a:r>
              <a:rPr lang="en-US" altLang="ja-JP" sz="1400" dirty="0"/>
              <a:t>0</a:t>
            </a:r>
            <a:r>
              <a:rPr lang="en-GB" altLang="ja-JP" sz="1400" dirty="0"/>
              <a:t>7</a:t>
            </a:r>
            <a:r>
              <a:rPr lang="ja-JP" altLang="en-US" sz="1400" dirty="0"/>
              <a:t>月、</a:t>
            </a:r>
            <a:r>
              <a:rPr lang="en-US" altLang="ja-JP" sz="1400" dirty="0"/>
              <a:t>2022</a:t>
            </a:r>
            <a:r>
              <a:rPr lang="ja-JP" altLang="en-US" sz="1400" dirty="0"/>
              <a:t>年</a:t>
            </a:r>
            <a:r>
              <a:rPr lang="en-US" altLang="ja-JP" sz="1400" dirty="0"/>
              <a:t>10</a:t>
            </a:r>
            <a:r>
              <a:rPr lang="ja-JP" altLang="en-US" sz="1400" dirty="0"/>
              <a:t>月 </a:t>
            </a:r>
            <a:r>
              <a:rPr lang="en-US" altLang="ja-JP" sz="1400" dirty="0"/>
              <a:t>- 2023</a:t>
            </a:r>
            <a:r>
              <a:rPr lang="ja-JP" altLang="en-US" sz="1400" dirty="0"/>
              <a:t>年</a:t>
            </a:r>
            <a:r>
              <a:rPr lang="en-US" altLang="ja-JP" sz="1400" dirty="0"/>
              <a:t>0</a:t>
            </a:r>
            <a:r>
              <a:rPr lang="en-GB" altLang="ja-JP" sz="1400" dirty="0"/>
              <a:t>2</a:t>
            </a:r>
            <a:r>
              <a:rPr lang="ja-JP" altLang="en-US" sz="1400" dirty="0"/>
              <a:t>月</a:t>
            </a:r>
            <a:r>
              <a:rPr lang="en-US" altLang="ja-JP" sz="1400" dirty="0"/>
              <a:t>) </a:t>
            </a:r>
          </a:p>
          <a:p>
            <a:pPr marL="536575" lvl="1" indent="-268288"/>
            <a:r>
              <a:rPr lang="ja-JP" altLang="en-US" sz="1400" dirty="0"/>
              <a:t>英語自己学習</a:t>
            </a:r>
            <a:endParaRPr lang="en-GB" altLang="ja-JP" sz="1400" dirty="0"/>
          </a:p>
          <a:p>
            <a:pPr marL="536575" lvl="1" indent="-268288"/>
            <a:r>
              <a:rPr lang="en-GB" altLang="ja-JP" sz="1400" dirty="0"/>
              <a:t>Ruby </a:t>
            </a:r>
            <a:r>
              <a:rPr lang="ja-JP" altLang="en-US" sz="1400" dirty="0"/>
              <a:t>関連カンファレンス参加</a:t>
            </a:r>
            <a:endParaRPr lang="en-GB" altLang="ja-JP" sz="1400" dirty="0"/>
          </a:p>
        </p:txBody>
      </p:sp>
    </p:spTree>
    <p:extLst>
      <p:ext uri="{BB962C8B-B14F-4D97-AF65-F5344CB8AC3E}">
        <p14:creationId xmlns:p14="http://schemas.microsoft.com/office/powerpoint/2010/main" val="25674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ja-JP" altLang="en-US" b="1" dirty="0">
                <a:latin typeface="Calibri (Headings)"/>
              </a:rPr>
              <a:t>目次</a:t>
            </a:r>
            <a:endParaRPr lang="en-GB" b="1" dirty="0">
              <a:latin typeface="Calibri (Headings)"/>
            </a:endParaRPr>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360363" indent="-360363">
              <a:buClr>
                <a:schemeClr val="dk1"/>
              </a:buClr>
              <a:buSzPts val="2800"/>
              <a:buAutoNum type="arabicPeriod"/>
            </a:pPr>
            <a:r>
              <a:rPr lang="ja-JP" altLang="en-US" sz="2400" dirty="0">
                <a:sym typeface="Arial"/>
                <a:hlinkClick r:id="rId3" action="ppaction://hlinksldjump"/>
              </a:rPr>
              <a:t>はじめに</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4" action="ppaction://hlinksldjump"/>
              </a:rPr>
              <a:t>そもそも「心理的安全性」とは？</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5" action="ppaction://hlinksldjump"/>
              </a:rPr>
              <a:t>職場における「心理的安全性」</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6" action="ppaction://hlinksldjump"/>
              </a:rPr>
              <a:t>「心理的安全性」の</a:t>
            </a:r>
            <a:r>
              <a:rPr lang="en-US" altLang="ja-JP" sz="2400" dirty="0">
                <a:sym typeface="Arial"/>
                <a:hlinkClick r:id="rId6" action="ppaction://hlinksldjump"/>
              </a:rPr>
              <a:t>3</a:t>
            </a:r>
            <a:r>
              <a:rPr lang="ja-JP" altLang="en-US" sz="2400" dirty="0">
                <a:sym typeface="Arial"/>
                <a:hlinkClick r:id="rId6" action="ppaction://hlinksldjump"/>
              </a:rPr>
              <a:t>大前提条件</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7" action="ppaction://hlinksldjump"/>
              </a:rPr>
              <a:t>「心理的安全性」を醸成する方法</a:t>
            </a:r>
            <a:endParaRPr lang="en-GB" altLang="ja-JP" sz="2400" dirty="0">
              <a:sym typeface="Arial"/>
            </a:endParaRPr>
          </a:p>
          <a:p>
            <a:pPr marL="360363" indent="-360363">
              <a:buClr>
                <a:schemeClr val="dk1"/>
              </a:buClr>
              <a:buSzPts val="2800"/>
              <a:buFont typeface="Arial" panose="020B0604020202020204" pitchFamily="34" charset="0"/>
              <a:buAutoNum type="arabicPeriod"/>
            </a:pPr>
            <a:r>
              <a:rPr lang="ja-JP" altLang="en-US" sz="2400" dirty="0">
                <a:sym typeface="Arial"/>
                <a:hlinkClick r:id="rId8" action="ppaction://hlinksldjump"/>
              </a:rPr>
              <a:t>「雑談会」開催の妥当性</a:t>
            </a:r>
            <a:endParaRPr lang="en-GB" altLang="ja-JP" sz="2400" dirty="0">
              <a:sym typeface="Arial"/>
            </a:endParaRPr>
          </a:p>
          <a:p>
            <a:pPr marL="360363" indent="-360363">
              <a:buClr>
                <a:schemeClr val="dk1"/>
              </a:buClr>
              <a:buSzPts val="2800"/>
              <a:buFont typeface="Arial" panose="020B0604020202020204" pitchFamily="34" charset="0"/>
              <a:buAutoNum type="arabicPeriod"/>
            </a:pPr>
            <a:r>
              <a:rPr lang="ja-JP" altLang="en-US" sz="2400" dirty="0">
                <a:sym typeface="Arial"/>
                <a:hlinkClick r:id="rId9" action="ppaction://hlinksldjump"/>
              </a:rPr>
              <a:t>チームメンバーからのフィードバック</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10" action="ppaction://hlinksldjump"/>
              </a:rPr>
              <a:t>まとめ</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11" action="ppaction://hlinksldjump"/>
              </a:rPr>
              <a:t>参考文献</a:t>
            </a:r>
            <a:endParaRPr lang="en-GB" altLang="ja-JP" sz="2400" dirty="0">
              <a:sym typeface="Arial"/>
            </a:endParaRPr>
          </a:p>
        </p:txBody>
      </p:sp>
      <p:sp>
        <p:nvSpPr>
          <p:cNvPr id="4" name="スライド番号プレースホルダー 3">
            <a:extLst>
              <a:ext uri="{FF2B5EF4-FFF2-40B4-BE49-F238E27FC236}">
                <a16:creationId xmlns:a16="http://schemas.microsoft.com/office/drawing/2014/main" id="{36D8F513-A7B1-4711-A8CD-4E8A5B622D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82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はじめに</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3418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はじめに</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66675" lvl="0" indent="0" algn="l" defTabSz="914400" rtl="0" eaLnBrk="1" fontAlgn="auto" latinLnBrk="0" hangingPunct="1">
              <a:lnSpc>
                <a:spcPct val="80000"/>
              </a:lnSpc>
              <a:spcBef>
                <a:spcPts val="67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私が所属する開発チームでは、毎週水曜日</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の</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15:00</a:t>
            </a:r>
            <a:r>
              <a:rPr kumimoji="0" lang="ja-JP" altLang="en-US" sz="2400" b="0" i="0" u="none" strike="noStrike" kern="1200" cap="none" spc="-65" normalizeH="0" baseline="0" noProof="0" dirty="0">
                <a:ln>
                  <a:noFill/>
                </a:ln>
                <a:solidFill>
                  <a:prstClr val="black"/>
                </a:solidFill>
                <a:effectLst/>
                <a:uLnTx/>
                <a:uFillTx/>
                <a:latin typeface="Calibri"/>
                <a:ea typeface="+mn-ea"/>
                <a:cs typeface="Calibri"/>
              </a:rPr>
              <a:t> </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45" normalizeH="0" baseline="0" noProof="0" dirty="0">
                <a:ln>
                  <a:noFill/>
                </a:ln>
                <a:solidFill>
                  <a:prstClr val="black"/>
                </a:solidFill>
                <a:effectLst/>
                <a:uLnTx/>
                <a:uFillTx/>
                <a:latin typeface="Calibri"/>
                <a:ea typeface="+mn-ea"/>
                <a:cs typeface="Calibri"/>
              </a:rPr>
              <a:t> </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16:00</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に「雑談会」が開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催されている。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5080" lvl="0" indent="0" algn="l" defTabSz="914400" rtl="0" eaLnBrk="1" fontAlgn="auto" latinLnBrk="0" hangingPunct="1">
              <a:lnSpc>
                <a:spcPts val="2300"/>
              </a:lnSpc>
              <a:spcBef>
                <a:spcPts val="49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弊チームは</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スクラム開発</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を採用しており、ほぼ毎営業日</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に</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30</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分間の</a:t>
            </a:r>
            <a:r>
              <a:rPr kumimoji="0" lang="ja-JP" altLang="en-US" sz="2400" b="0" i="0" u="none" strike="noStrike" kern="1200" cap="none" spc="-145" normalizeH="0" baseline="0" noProof="0" dirty="0">
                <a:ln>
                  <a:noFill/>
                </a:ln>
                <a:solidFill>
                  <a:prstClr val="black"/>
                </a:solidFill>
                <a:effectLst/>
                <a:uLnTx/>
                <a:uFillTx/>
                <a:latin typeface="Yu Gothic"/>
                <a:ea typeface="+mn-ea"/>
                <a:cs typeface="Yu Gothic"/>
              </a:rPr>
              <a:t> </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D</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S</a:t>
            </a:r>
            <a:r>
              <a:rPr kumimoji="0" lang="ja-JP" altLang="en-US" sz="2400" b="0" i="0" u="none" strike="noStrike" kern="1200" cap="none" spc="-15"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が行 われる。</a:t>
            </a:r>
          </a:p>
          <a:p>
            <a:pPr marL="12700" marR="121920" lvl="0" indent="0" algn="l" defTabSz="914400" rtl="0" eaLnBrk="1" fontAlgn="auto" latinLnBrk="0" hangingPunct="1">
              <a:lnSpc>
                <a:spcPts val="2300"/>
              </a:lnSpc>
              <a:spcBef>
                <a:spcPts val="50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一般的に行われる</a:t>
            </a:r>
            <a:r>
              <a:rPr kumimoji="0" lang="ja-JP" altLang="en-US" sz="2400" b="0" i="0" u="none" strike="noStrike" kern="1200" cap="none" spc="-155" normalizeH="0" baseline="0" noProof="0" dirty="0">
                <a:ln>
                  <a:noFill/>
                </a:ln>
                <a:solidFill>
                  <a:prstClr val="black"/>
                </a:solidFill>
                <a:effectLst/>
                <a:uLnTx/>
                <a:uFillTx/>
                <a:latin typeface="Yu Gothic"/>
                <a:ea typeface="+mn-ea"/>
                <a:cs typeface="Yu Gothic"/>
              </a:rPr>
              <a:t> </a:t>
            </a:r>
            <a:r>
              <a:rPr kumimoji="0" lang="en-US" altLang="ja-JP" sz="2400" b="0" i="0" u="none" strike="noStrike" kern="1200" cap="none" spc="-10" normalizeH="0" baseline="0" noProof="0" dirty="0">
                <a:ln>
                  <a:noFill/>
                </a:ln>
                <a:solidFill>
                  <a:prstClr val="black"/>
                </a:solidFill>
                <a:effectLst/>
                <a:uLnTx/>
                <a:uFillTx/>
                <a:latin typeface="Calibri"/>
                <a:ea typeface="+mn-ea"/>
                <a:cs typeface="Calibri"/>
              </a:rPr>
              <a:t>SBI(Sprint</a:t>
            </a:r>
            <a:r>
              <a:rPr kumimoji="0" lang="ja-JP" altLang="en-US" sz="2400" b="0" i="0" u="none" strike="noStrike" kern="1200" cap="none" spc="-40" normalizeH="0" baseline="0" noProof="0" dirty="0">
                <a:ln>
                  <a:noFill/>
                </a:ln>
                <a:solidFill>
                  <a:prstClr val="black"/>
                </a:solidFill>
                <a:effectLst/>
                <a:uLnTx/>
                <a:uFillTx/>
                <a:latin typeface="Calibri"/>
                <a:ea typeface="+mn-ea"/>
                <a:cs typeface="Calibri"/>
              </a:rPr>
              <a:t> </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Backlog</a:t>
            </a:r>
            <a:r>
              <a:rPr kumimoji="0" lang="ja-JP" altLang="en-US" sz="2400" b="0" i="0" u="none" strike="noStrike" kern="1200" cap="none" spc="-55" normalizeH="0" baseline="0" noProof="0" dirty="0">
                <a:ln>
                  <a:noFill/>
                </a:ln>
                <a:solidFill>
                  <a:prstClr val="black"/>
                </a:solidFill>
                <a:effectLst/>
                <a:uLnTx/>
                <a:uFillTx/>
                <a:latin typeface="Calibri"/>
                <a:ea typeface="+mn-ea"/>
                <a:cs typeface="Calibri"/>
              </a:rPr>
              <a:t> </a:t>
            </a:r>
            <a:r>
              <a:rPr kumimoji="0" lang="en-US" altLang="ja-JP" sz="2400" b="0" i="0" u="none" strike="noStrike" kern="1200" cap="none" spc="-10" normalizeH="0" baseline="0" noProof="0" dirty="0">
                <a:ln>
                  <a:noFill/>
                </a:ln>
                <a:solidFill>
                  <a:prstClr val="black"/>
                </a:solidFill>
                <a:effectLst/>
                <a:uLnTx/>
                <a:uFillTx/>
                <a:latin typeface="Calibri"/>
                <a:ea typeface="+mn-ea"/>
                <a:cs typeface="Calibri"/>
              </a:rPr>
              <a:t>Item)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の進捗状況の確認以外に、各メン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バーからチームに以下の項目が共有される。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0" marR="0" lvl="0" indent="0" algn="l" defTabSz="914400" rtl="0" eaLnBrk="1" fontAlgn="auto" latinLnBrk="0" hangingPunct="1">
              <a:lnSpc>
                <a:spcPct val="100000"/>
              </a:lnSpc>
              <a:spcBef>
                <a:spcPts val="20"/>
              </a:spcBef>
              <a:spcAft>
                <a:spcPts val="0"/>
              </a:spcAft>
              <a:buClrTx/>
              <a:buSzTx/>
              <a:buFontTx/>
              <a:buNone/>
              <a:tabLst/>
              <a:defRPr/>
            </a:pPr>
            <a:endParaRPr kumimoji="0" lang="ja-JP" altLang="en-US" sz="145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ct val="100000"/>
              </a:lnSpc>
              <a:spcBef>
                <a:spcPts val="0"/>
              </a:spcBef>
              <a:spcAft>
                <a:spcPts val="0"/>
              </a:spcAft>
              <a:buClrTx/>
              <a:buSzTx/>
              <a:buFont typeface="Arial MT"/>
              <a:buChar char="•"/>
              <a:tabLst>
                <a:tab pos="282575" algn="l"/>
                <a:tab pos="283210" algn="l"/>
              </a:tabLst>
              <a:defRPr/>
            </a:pP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SBI</a:t>
            </a:r>
            <a:r>
              <a:rPr kumimoji="0" lang="ja-JP" altLang="en-US" sz="2400" b="0" i="0" u="none" strike="noStrike" kern="1200" cap="none" spc="-55"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以外のタスク</a:t>
            </a:r>
          </a:p>
          <a:p>
            <a:pPr marL="728980" marR="0" lvl="1" indent="-259715" algn="l" defTabSz="914400" rtl="0" eaLnBrk="1" fontAlgn="auto" latinLnBrk="0" hangingPunct="1">
              <a:lnSpc>
                <a:spcPts val="2355"/>
              </a:lnSpc>
              <a:spcBef>
                <a:spcPts val="25"/>
              </a:spcBef>
              <a:spcAft>
                <a:spcPts val="0"/>
              </a:spcAft>
              <a:buClrTx/>
              <a:buSzTx/>
              <a:buFont typeface="Arial MT"/>
              <a:buChar char="•"/>
              <a:tabLst>
                <a:tab pos="728980" algn="l"/>
                <a:tab pos="72961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問合せ対応、提出物な</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ど</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事務</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対</a:t>
            </a:r>
            <a:r>
              <a:rPr kumimoji="0" lang="ja-JP" altLang="en-US" sz="2000" b="0" i="0" u="none" strike="noStrike" kern="1200" cap="none" spc="420" normalizeH="0" baseline="0" noProof="0" dirty="0">
                <a:ln>
                  <a:noFill/>
                </a:ln>
                <a:solidFill>
                  <a:prstClr val="black"/>
                </a:solidFill>
                <a:effectLst/>
                <a:uLnTx/>
                <a:uFillTx/>
                <a:latin typeface="Yu Gothic"/>
                <a:ea typeface="+mn-ea"/>
                <a:cs typeface="Yu Gothic"/>
              </a:rPr>
              <a:t>応</a:t>
            </a:r>
            <a:r>
              <a:rPr kumimoji="0" lang="en-US" altLang="ja-JP" sz="2000" b="0" i="0" u="none" strike="noStrike" kern="1200" cap="none" spc="-15" normalizeH="0" baseline="0" noProof="0" dirty="0">
                <a:ln>
                  <a:noFill/>
                </a:ln>
                <a:solidFill>
                  <a:prstClr val="black"/>
                </a:solidFill>
                <a:effectLst/>
                <a:uLnTx/>
                <a:uFillTx/>
                <a:latin typeface="Calibri"/>
                <a:ea typeface="+mn-ea"/>
                <a:cs typeface="Calibri"/>
              </a:rPr>
              <a:t>e</a:t>
            </a:r>
            <a:r>
              <a:rPr kumimoji="0" lang="en-US" altLang="ja-JP" sz="2000" b="0" i="0" u="none" strike="noStrike" kern="1200" cap="none" spc="-25" normalizeH="0" baseline="0" noProof="0" dirty="0">
                <a:ln>
                  <a:noFill/>
                </a:ln>
                <a:solidFill>
                  <a:prstClr val="black"/>
                </a:solidFill>
                <a:effectLst/>
                <a:uLnTx/>
                <a:uFillTx/>
                <a:latin typeface="Calibri"/>
                <a:ea typeface="+mn-ea"/>
                <a:cs typeface="Calibri"/>
              </a:rPr>
              <a:t>t</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c.</a:t>
            </a:r>
          </a:p>
          <a:p>
            <a:pPr marL="282575" marR="0" lvl="0" indent="-270510" algn="l" defTabSz="914400" rtl="0" eaLnBrk="1" fontAlgn="auto" latinLnBrk="0" hangingPunct="1">
              <a:lnSpc>
                <a:spcPts val="2835"/>
              </a:lnSpc>
              <a:spcBef>
                <a:spcPts val="0"/>
              </a:spcBef>
              <a:spcAft>
                <a:spcPts val="0"/>
              </a:spcAft>
              <a:buClrTx/>
              <a:buSzTx/>
              <a:buFont typeface="Arial MT"/>
              <a:buChar char="•"/>
              <a:tabLst>
                <a:tab pos="282575" algn="l"/>
                <a:tab pos="283210" algn="l"/>
              </a:tabLst>
              <a:defRPr/>
            </a:pP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業務上の困りごと・相談事項</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2350"/>
              </a:lnSpc>
              <a:spcBef>
                <a:spcPts val="45"/>
              </a:spcBef>
              <a:spcAft>
                <a:spcPts val="0"/>
              </a:spcAft>
              <a:buClrTx/>
              <a:buSzTx/>
              <a:buFont typeface="Arial MT"/>
              <a:buChar char="•"/>
              <a:tabLst>
                <a:tab pos="728980" algn="l"/>
                <a:tab pos="729615" algn="l"/>
              </a:tabLst>
              <a:defRPr/>
            </a:pPr>
            <a:r>
              <a:rPr kumimoji="0" lang="en-US" altLang="ja-JP" sz="2000" b="0" i="0" u="none" strike="noStrike" kern="1200" cap="none" spc="-5" normalizeH="0" baseline="0" noProof="0" dirty="0">
                <a:ln>
                  <a:noFill/>
                </a:ln>
                <a:solidFill>
                  <a:prstClr val="black"/>
                </a:solidFill>
                <a:effectLst/>
                <a:uLnTx/>
                <a:uFillTx/>
                <a:latin typeface="Calibri"/>
                <a:ea typeface="+mn-ea"/>
                <a:cs typeface="Calibri"/>
              </a:rPr>
              <a:t>SBI</a:t>
            </a:r>
            <a:r>
              <a:rPr kumimoji="0" lang="ja-JP" altLang="en-US" sz="2000" b="0" i="0" u="none" strike="noStrike" kern="1200" cap="none" spc="0" normalizeH="0" baseline="0" noProof="0" dirty="0">
                <a:ln>
                  <a:noFill/>
                </a:ln>
                <a:solidFill>
                  <a:prstClr val="black"/>
                </a:solidFill>
                <a:effectLst/>
                <a:uLnTx/>
                <a:uFillTx/>
                <a:latin typeface="Calibri"/>
                <a:ea typeface="+mn-ea"/>
                <a:cs typeface="Calibri"/>
              </a:rPr>
              <a:t> </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を進める上での技術・</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ド</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メイ</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ン</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知識</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観</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点の</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情</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報共</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有</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依</a:t>
            </a:r>
            <a:r>
              <a:rPr kumimoji="0" lang="ja-JP" altLang="en-US" sz="2000" b="0" i="0" u="none" strike="noStrike" kern="1200" cap="none" spc="409" normalizeH="0" baseline="0" noProof="0" dirty="0">
                <a:ln>
                  <a:noFill/>
                </a:ln>
                <a:solidFill>
                  <a:prstClr val="black"/>
                </a:solidFill>
                <a:effectLst/>
                <a:uLnTx/>
                <a:uFillTx/>
                <a:latin typeface="Yu Gothic"/>
                <a:ea typeface="+mn-ea"/>
                <a:cs typeface="Yu Gothic"/>
              </a:rPr>
              <a:t>頼</a:t>
            </a:r>
            <a:r>
              <a:rPr kumimoji="0" lang="en-US" altLang="ja-JP" sz="2000" b="0" i="0" u="none" strike="noStrike" kern="1200" cap="none" spc="-10" normalizeH="0" baseline="0" noProof="0" dirty="0">
                <a:ln>
                  <a:noFill/>
                </a:ln>
                <a:solidFill>
                  <a:prstClr val="black"/>
                </a:solidFill>
                <a:effectLst/>
                <a:uLnTx/>
                <a:uFillTx/>
                <a:latin typeface="Calibri"/>
                <a:ea typeface="+mn-ea"/>
                <a:cs typeface="Calibri"/>
              </a:rPr>
              <a:t>etc.</a:t>
            </a:r>
            <a:endParaRPr kumimoji="0" lang="ja-JP" altLang="en-US" sz="2000" b="0" i="0" u="none" strike="noStrike" kern="1200" cap="none" spc="0" normalizeH="0" baseline="0" noProof="0" dirty="0">
              <a:ln>
                <a:noFill/>
              </a:ln>
              <a:solidFill>
                <a:prstClr val="black"/>
              </a:solidFill>
              <a:effectLst/>
              <a:uLnTx/>
              <a:uFillTx/>
              <a:latin typeface="Calibri"/>
              <a:ea typeface="+mn-ea"/>
              <a:cs typeface="Calibri"/>
            </a:endParaRPr>
          </a:p>
          <a:p>
            <a:pPr marL="282575" marR="0" lvl="0" indent="-270510" algn="l" defTabSz="914400" rtl="0" eaLnBrk="1" fontAlgn="auto" latinLnBrk="0" hangingPunct="1">
              <a:lnSpc>
                <a:spcPts val="2830"/>
              </a:lnSpc>
              <a:spcBef>
                <a:spcPts val="0"/>
              </a:spcBef>
              <a:spcAft>
                <a:spcPts val="0"/>
              </a:spcAft>
              <a:buClrTx/>
              <a:buSzTx/>
              <a:buFont typeface="Arial MT"/>
              <a:buChar char="•"/>
              <a:tabLst>
                <a:tab pos="282575" algn="l"/>
                <a:tab pos="28321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今日の一言</a:t>
            </a:r>
          </a:p>
          <a:p>
            <a:pPr marL="728980" marR="0" lvl="1" indent="-259715" algn="l" defTabSz="914400" rtl="0" eaLnBrk="1" fontAlgn="auto" latinLnBrk="0" hangingPunct="1">
              <a:lnSpc>
                <a:spcPct val="100000"/>
              </a:lnSpc>
              <a:spcBef>
                <a:spcPts val="40"/>
              </a:spcBef>
              <a:spcAft>
                <a:spcPts val="0"/>
              </a:spcAft>
              <a:buClrTx/>
              <a:buSzTx/>
              <a:buFont typeface="Arial MT"/>
              <a:buChar char="•"/>
              <a:tabLst>
                <a:tab pos="728980" algn="l"/>
                <a:tab pos="72961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週末のお出かけや子育</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て</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、お</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気</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に入</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り</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スイ</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ー</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ツ情</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報</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の共</a:t>
            </a:r>
            <a:r>
              <a:rPr kumimoji="0" lang="ja-JP" altLang="en-US" sz="2000" b="0" i="0" u="none" strike="noStrike" kern="1200" cap="none" spc="409" normalizeH="0" baseline="0" noProof="0" dirty="0">
                <a:ln>
                  <a:noFill/>
                </a:ln>
                <a:solidFill>
                  <a:prstClr val="black"/>
                </a:solidFill>
                <a:effectLst/>
                <a:uLnTx/>
                <a:uFillTx/>
                <a:latin typeface="Yu Gothic"/>
                <a:ea typeface="+mn-ea"/>
                <a:cs typeface="Yu Gothic"/>
              </a:rPr>
              <a:t>有</a:t>
            </a:r>
            <a:r>
              <a:rPr kumimoji="0" lang="en-US" altLang="ja-JP" sz="2000" b="0" i="0" u="none" strike="noStrike" kern="1200" cap="none" spc="-10" normalizeH="0" baseline="0" noProof="0" dirty="0">
                <a:ln>
                  <a:noFill/>
                </a:ln>
                <a:solidFill>
                  <a:prstClr val="black"/>
                </a:solidFill>
                <a:effectLst/>
                <a:uLnTx/>
                <a:uFillTx/>
                <a:latin typeface="Calibri"/>
                <a:ea typeface="+mn-ea"/>
                <a:cs typeface="Calibri"/>
              </a:rPr>
              <a:t>etc.</a:t>
            </a:r>
            <a:endParaRPr kumimoji="0" lang="ja-JP" altLang="en-US" sz="2000" b="0" i="0" u="none" strike="noStrike" kern="1200" cap="none" spc="0" normalizeH="0" baseline="0" noProof="0" dirty="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3715280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はじめに</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42545" marR="32384" lvl="0" indent="0" defTabSz="914400" eaLnBrk="1" fontAlgn="auto" latinLnBrk="0" hangingPunct="1">
              <a:lnSpc>
                <a:spcPct val="90100"/>
              </a:lnSpc>
              <a:spcBef>
                <a:spcPts val="385"/>
              </a:spcBef>
              <a:spcAft>
                <a:spcPts val="0"/>
              </a:spcAft>
              <a:buClrTx/>
              <a:buSzTx/>
              <a:buFontTx/>
              <a:buNone/>
              <a:tabLst/>
              <a:defRPr/>
            </a:pP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チームメンバーが増えたこともあり、「今日の一言」が長引いて</a:t>
            </a:r>
            <a:r>
              <a:rPr kumimoji="0" lang="ja-JP" altLang="en-US" sz="2400" b="0" i="0" u="none" strike="noStrike" kern="0" cap="none" spc="-165" normalizeH="0" baseline="0" noProof="0" dirty="0">
                <a:ln>
                  <a:noFill/>
                </a:ln>
                <a:solidFill>
                  <a:prstClr val="black"/>
                </a:solidFill>
                <a:effectLst/>
                <a:uLnTx/>
                <a:uFillTx/>
                <a:latin typeface="Yu Gothic"/>
                <a:ea typeface="+mn-ea"/>
                <a:cs typeface="Yu Gothic"/>
              </a:rPr>
              <a:t> </a:t>
            </a:r>
            <a:r>
              <a:rPr kumimoji="0" lang="en-US" altLang="ja-JP" sz="2400" b="0" i="0" u="none" strike="noStrike" kern="0" cap="none" spc="-5" normalizeH="0" baseline="0" noProof="0" dirty="0">
                <a:ln>
                  <a:noFill/>
                </a:ln>
                <a:solidFill>
                  <a:prstClr val="black"/>
                </a:solidFill>
                <a:effectLst/>
                <a:uLnTx/>
                <a:uFillTx/>
                <a:latin typeface="Calibri"/>
                <a:ea typeface="+mn-ea"/>
                <a:cs typeface="Calibri"/>
              </a:rPr>
              <a:t>DS</a:t>
            </a:r>
            <a:r>
              <a:rPr kumimoji="0" lang="ja-JP" altLang="en-US" sz="2400" b="0" i="0" u="none" strike="noStrike" kern="0" cap="none" spc="-40" normalizeH="0" baseline="0" noProof="0" dirty="0">
                <a:ln>
                  <a:noFill/>
                </a:ln>
                <a:solidFill>
                  <a:prstClr val="black"/>
                </a:solidFill>
                <a:effectLst/>
                <a:uLnTx/>
                <a:uFillTx/>
                <a:latin typeface="Calibri"/>
                <a:ea typeface="+mn-ea"/>
                <a:cs typeface="Calibri"/>
              </a:rPr>
              <a:t> </a:t>
            </a: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が</a:t>
            </a:r>
            <a:r>
              <a:rPr kumimoji="0" lang="en-US" altLang="ja-JP" sz="2400" b="0" i="0" u="none" strike="noStrike" kern="0" cap="none" spc="-5" normalizeH="0" baseline="0" noProof="0" dirty="0">
                <a:ln>
                  <a:noFill/>
                </a:ln>
                <a:solidFill>
                  <a:prstClr val="black"/>
                </a:solidFill>
                <a:effectLst/>
                <a:uLnTx/>
                <a:uFillTx/>
                <a:latin typeface="Calibri"/>
                <a:ea typeface="+mn-ea"/>
                <a:cs typeface="Calibri"/>
              </a:rPr>
              <a:t>30</a:t>
            </a: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分 </a:t>
            </a:r>
            <a:r>
              <a:rPr kumimoji="0" lang="ja-JP" altLang="en-US" sz="2400" b="0" i="0" u="none" strike="noStrike" kern="0" cap="none" spc="-5" normalizeH="0" baseline="0" noProof="0" dirty="0">
                <a:ln>
                  <a:noFill/>
                </a:ln>
                <a:solidFill>
                  <a:prstClr val="black"/>
                </a:solidFill>
                <a:effectLst/>
                <a:uLnTx/>
                <a:uFillTx/>
                <a:latin typeface="Yu Gothic"/>
                <a:ea typeface="+mn-ea"/>
                <a:cs typeface="Yu Gothic"/>
              </a:rPr>
              <a:t>以内に終わらないことが増え</a:t>
            </a: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a:t>
            </a:r>
            <a:r>
              <a:rPr kumimoji="0" lang="en-US" altLang="ja-JP" sz="2400" b="0" i="0" u="none" strike="noStrike" kern="0" cap="none" spc="-10" normalizeH="0" baseline="0" noProof="0" dirty="0">
                <a:ln>
                  <a:noFill/>
                </a:ln>
                <a:solidFill>
                  <a:prstClr val="black"/>
                </a:solidFill>
                <a:effectLst/>
                <a:uLnTx/>
                <a:uFillTx/>
                <a:latin typeface="Calibri"/>
                <a:ea typeface="+mn-ea"/>
                <a:cs typeface="Calibri"/>
              </a:rPr>
              <a:t>1</a:t>
            </a:r>
            <a:r>
              <a:rPr kumimoji="0" lang="ja-JP" altLang="en-US" sz="2400" b="0" i="0" u="none" strike="noStrike" kern="0" cap="none" spc="-5" normalizeH="0" baseline="0" noProof="0" dirty="0">
                <a:ln>
                  <a:noFill/>
                </a:ln>
                <a:solidFill>
                  <a:prstClr val="black"/>
                </a:solidFill>
                <a:effectLst/>
                <a:uLnTx/>
                <a:uFillTx/>
                <a:latin typeface="Yu Gothic"/>
                <a:ea typeface="+mn-ea"/>
                <a:cs typeface="Yu Gothic"/>
              </a:rPr>
              <a:t>時間</a:t>
            </a:r>
            <a:r>
              <a:rPr kumimoji="0" lang="en-US" altLang="ja-JP" sz="2400" b="0" i="0" u="none" strike="noStrike" kern="0" cap="none" spc="-5" normalizeH="0" baseline="0" noProof="0" dirty="0">
                <a:ln>
                  <a:noFill/>
                </a:ln>
                <a:solidFill>
                  <a:prstClr val="black"/>
                </a:solidFill>
                <a:effectLst/>
                <a:uLnTx/>
                <a:uFillTx/>
                <a:latin typeface="Calibri"/>
                <a:ea typeface="+mn-ea"/>
                <a:cs typeface="Calibri"/>
              </a:rPr>
              <a:t>/</a:t>
            </a: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週の「雑談会」枠を設けたのがことの 始まりである。</a:t>
            </a:r>
          </a:p>
          <a:p>
            <a:pPr marL="42545" marR="309880" lvl="0" indent="0" defTabSz="914400" eaLnBrk="1" fontAlgn="auto" latinLnBrk="0" hangingPunct="1">
              <a:lnSpc>
                <a:spcPts val="2590"/>
              </a:lnSpc>
              <a:spcBef>
                <a:spcPts val="545"/>
              </a:spcBef>
              <a:spcAft>
                <a:spcPts val="0"/>
              </a:spcAft>
              <a:buClrTx/>
              <a:buSzTx/>
              <a:buFontTx/>
              <a:buNone/>
              <a:tabLst/>
              <a:defRPr/>
            </a:pP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「今日の一言」はプライベートの話をする数少ない機会であり、チームメ ンバーの人となりを知ることが出来る。</a:t>
            </a:r>
          </a:p>
          <a:p>
            <a:pPr marL="42545" marR="309245" lvl="0" indent="0" defTabSz="914400" eaLnBrk="1" fontAlgn="auto" latinLnBrk="0" hangingPunct="1">
              <a:lnSpc>
                <a:spcPts val="2590"/>
              </a:lnSpc>
              <a:spcBef>
                <a:spcPts val="495"/>
              </a:spcBef>
              <a:spcAft>
                <a:spcPts val="0"/>
              </a:spcAft>
              <a:buClrTx/>
              <a:buSzTx/>
              <a:buFontTx/>
              <a:buNone/>
              <a:tabLst/>
              <a:defRPr/>
            </a:pP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換言すれば、「</a:t>
            </a:r>
            <a:r>
              <a:rPr kumimoji="0" lang="ja-JP" altLang="en-US" sz="2400" b="1" i="0" u="none" strike="noStrike" kern="0" cap="none" spc="0" normalizeH="0" baseline="0" noProof="0" dirty="0">
                <a:ln>
                  <a:noFill/>
                </a:ln>
                <a:solidFill>
                  <a:prstClr val="black"/>
                </a:solidFill>
                <a:effectLst/>
                <a:uLnTx/>
                <a:uFillTx/>
                <a:latin typeface="Yu Gothic"/>
                <a:ea typeface="+mn-ea"/>
              </a:rPr>
              <a:t>心理的安全性</a:t>
            </a: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」を確保し、忌憚なく業務的な議論を侃々 </a:t>
            </a:r>
            <a:r>
              <a:rPr kumimoji="0" lang="ja-JP" altLang="en-US" sz="2400" b="0" i="0" u="none" strike="noStrike" kern="0" cap="none" spc="5" normalizeH="0" baseline="0" noProof="0" dirty="0">
                <a:ln>
                  <a:noFill/>
                </a:ln>
                <a:solidFill>
                  <a:prstClr val="black"/>
                </a:solidFill>
                <a:effectLst/>
                <a:uLnTx/>
                <a:uFillTx/>
                <a:latin typeface="Yu Gothic"/>
                <a:ea typeface="+mn-ea"/>
                <a:cs typeface="Yu Gothic"/>
              </a:rPr>
              <a:t> </a:t>
            </a: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諤々行うための</a:t>
            </a:r>
            <a:r>
              <a:rPr kumimoji="0" lang="ja-JP" altLang="en-US" sz="2400" b="1" i="0" u="none" strike="noStrike" kern="0" cap="none" spc="0" normalizeH="0" baseline="0" noProof="0" dirty="0">
                <a:ln>
                  <a:noFill/>
                </a:ln>
                <a:solidFill>
                  <a:prstClr val="black"/>
                </a:solidFill>
                <a:effectLst/>
                <a:uLnTx/>
                <a:uFillTx/>
                <a:latin typeface="Yu Gothic"/>
                <a:ea typeface="+mn-ea"/>
              </a:rPr>
              <a:t>チームビルディング</a:t>
            </a: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が究極の目的であると認識している。</a:t>
            </a:r>
          </a:p>
          <a:p>
            <a:pPr marL="42545" marR="614680" lvl="0" indent="0" defTabSz="914400" eaLnBrk="1" fontAlgn="auto" latinLnBrk="0" hangingPunct="1">
              <a:lnSpc>
                <a:spcPts val="2590"/>
              </a:lnSpc>
              <a:spcBef>
                <a:spcPts val="509"/>
              </a:spcBef>
              <a:spcAft>
                <a:spcPts val="0"/>
              </a:spcAft>
              <a:buClrTx/>
              <a:buSzTx/>
              <a:buFontTx/>
              <a:buNone/>
              <a:tabLst/>
              <a:defRPr/>
            </a:pP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一方で、「雑談会」がアイスブレーキングとして機能してこの目的にコ ミットしているかについて大きな疑問を抱くようになった。</a:t>
            </a:r>
          </a:p>
          <a:p>
            <a:pPr marL="42545" marR="0" lvl="0" indent="0" defTabSz="914400" eaLnBrk="1" fontAlgn="auto" latinLnBrk="0" hangingPunct="1">
              <a:lnSpc>
                <a:spcPct val="100000"/>
              </a:lnSpc>
              <a:spcBef>
                <a:spcPts val="180"/>
              </a:spcBef>
              <a:spcAft>
                <a:spcPts val="0"/>
              </a:spcAft>
              <a:buClrTx/>
              <a:buSzTx/>
              <a:buFontTx/>
              <a:buNone/>
              <a:tabLst/>
              <a:defRPr/>
            </a:pP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きっかけは、この「雑談会」自体にストレスを感じるようになったことだ。</a:t>
            </a:r>
          </a:p>
        </p:txBody>
      </p:sp>
    </p:spTree>
    <p:extLst>
      <p:ext uri="{BB962C8B-B14F-4D97-AF65-F5344CB8AC3E}">
        <p14:creationId xmlns:p14="http://schemas.microsoft.com/office/powerpoint/2010/main" val="295511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はじめに</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1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何故私はストレスを感じるようになったのか。</a:t>
            </a:r>
          </a:p>
          <a:p>
            <a:pPr marL="12700" marR="0" lvl="0" indent="0" algn="l" defTabSz="914400" rtl="0" eaLnBrk="1" fontAlgn="auto" latinLnBrk="0" hangingPunct="1">
              <a:lnSpc>
                <a:spcPct val="100000"/>
              </a:lnSpc>
              <a:spcBef>
                <a:spcPts val="219"/>
              </a:spcBef>
              <a:spcAft>
                <a:spcPts val="0"/>
              </a:spcAft>
              <a:buClrTx/>
              <a:buSzTx/>
              <a:buFontTx/>
              <a:buNone/>
              <a:tabLst/>
              <a:defRPr/>
            </a:pP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このモヤモヤを分析すると、以下</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の</a:t>
            </a:r>
            <a:r>
              <a:rPr kumimoji="0" lang="en-US" altLang="ja-JP" sz="2400" b="0" i="0" u="none" strike="noStrike" kern="1200" cap="none" spc="-10" normalizeH="0" baseline="0" noProof="0" dirty="0">
                <a:ln>
                  <a:noFill/>
                </a:ln>
                <a:solidFill>
                  <a:prstClr val="black"/>
                </a:solidFill>
                <a:effectLst/>
                <a:uLnTx/>
                <a:uFillTx/>
                <a:latin typeface="Calibri"/>
                <a:ea typeface="+mn-ea"/>
                <a:cs typeface="Calibri"/>
              </a:rPr>
              <a:t>3</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つの要素が大きく関わっていた。</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0" marR="0" lvl="0" indent="0" algn="l" defTabSz="914400" rtl="0" eaLnBrk="1" fontAlgn="auto" latinLnBrk="0" hangingPunct="1">
              <a:lnSpc>
                <a:spcPct val="100000"/>
              </a:lnSpc>
              <a:spcBef>
                <a:spcPts val="85"/>
              </a:spcBef>
              <a:spcAft>
                <a:spcPts val="0"/>
              </a:spcAft>
              <a:buClrTx/>
              <a:buSzTx/>
              <a:buFontTx/>
              <a:buNone/>
              <a:tabLst/>
              <a:defRPr/>
            </a:pP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ct val="100000"/>
              </a:lnSpc>
              <a:spcBef>
                <a:spcPts val="0"/>
              </a:spcBef>
              <a:spcAft>
                <a:spcPts val="0"/>
              </a:spcAft>
              <a:buClrTx/>
              <a:buSzTx/>
              <a:buFont typeface="Arial MT"/>
              <a:buChar char="•"/>
              <a:tabLst>
                <a:tab pos="282575" algn="l"/>
                <a:tab pos="28321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そもそも職場における「心理的安全性」とは何か？</a:t>
            </a:r>
          </a:p>
          <a:p>
            <a:pPr marL="282575" marR="0" lvl="0" indent="-270510" algn="l" defTabSz="914400" rtl="0" eaLnBrk="1" fontAlgn="auto" latinLnBrk="0" hangingPunct="1">
              <a:lnSpc>
                <a:spcPct val="100000"/>
              </a:lnSpc>
              <a:spcBef>
                <a:spcPts val="215"/>
              </a:spcBef>
              <a:spcAft>
                <a:spcPts val="0"/>
              </a:spcAft>
              <a:buClrTx/>
              <a:buSzTx/>
              <a:buFont typeface="Arial MT"/>
              <a:buChar char="•"/>
              <a:tabLst>
                <a:tab pos="282575" algn="l"/>
                <a:tab pos="283210" algn="l"/>
              </a:tabLst>
              <a:defRPr/>
            </a:pP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「心理的安全性」があるとはどのような状態か？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ct val="100000"/>
              </a:lnSpc>
              <a:spcBef>
                <a:spcPts val="204"/>
              </a:spcBef>
              <a:spcAft>
                <a:spcPts val="0"/>
              </a:spcAft>
              <a:buClrTx/>
              <a:buSzTx/>
              <a:buFont typeface="Arial MT"/>
              <a:buChar char="•"/>
              <a:tabLst>
                <a:tab pos="282575" algn="l"/>
                <a:tab pos="28321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「心理的安全性」を醸成する方法論は何か？</a:t>
            </a:r>
          </a:p>
          <a:p>
            <a:pPr marL="0" marR="0" lvl="0" indent="0" algn="l" defTabSz="914400" rtl="0" eaLnBrk="1" fontAlgn="auto" latinLnBrk="0" hangingPunct="1">
              <a:lnSpc>
                <a:spcPct val="100000"/>
              </a:lnSpc>
              <a:spcBef>
                <a:spcPts val="45"/>
              </a:spcBef>
              <a:spcAft>
                <a:spcPts val="0"/>
              </a:spcAft>
              <a:buClrTx/>
              <a:buSzTx/>
              <a:buFontTx/>
              <a:buNone/>
              <a:tabLst/>
              <a:defRPr/>
            </a:pPr>
            <a:endParaRPr kumimoji="0" lang="ja-JP" altLang="en-US" sz="1900" b="0" i="0" u="none" strike="noStrike" kern="1200" cap="none" spc="0" normalizeH="0" baseline="0" noProof="0" dirty="0">
              <a:ln>
                <a:noFill/>
              </a:ln>
              <a:solidFill>
                <a:prstClr val="black"/>
              </a:solidFill>
              <a:effectLst/>
              <a:uLnTx/>
              <a:uFillTx/>
              <a:latin typeface="Yu Gothic"/>
              <a:ea typeface="+mn-ea"/>
              <a:cs typeface="Yu Gothic"/>
            </a:endParaRPr>
          </a:p>
          <a:p>
            <a:pPr marL="12700" marR="5080" lvl="0" indent="0" algn="l" defTabSz="914400" rtl="0" eaLnBrk="1" fontAlgn="auto" latinLnBrk="0" hangingPunct="1">
              <a:lnSpc>
                <a:spcPts val="2590"/>
              </a:lnSpc>
              <a:spcBef>
                <a:spcPts val="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以上の</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3</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要素の解像度を上げ、果たして「雑談会」という手段が適当なのか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を考察し、チームメンバーに共有した。</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ct val="100000"/>
              </a:lnSpc>
              <a:spcBef>
                <a:spcPts val="17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今回は、考察内容とチームメンバーからのフィードバックを共有する。</a:t>
            </a:r>
          </a:p>
        </p:txBody>
      </p:sp>
    </p:spTree>
    <p:extLst>
      <p:ext uri="{BB962C8B-B14F-4D97-AF65-F5344CB8AC3E}">
        <p14:creationId xmlns:p14="http://schemas.microsoft.com/office/powerpoint/2010/main" val="756556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US" altLang="ja-JP" b="1" dirty="0">
                <a:latin typeface="Calibri (Headings)"/>
              </a:rPr>
              <a:t>2. </a:t>
            </a:r>
            <a:r>
              <a:rPr lang="ja-JP" altLang="en-US" b="1" dirty="0">
                <a:latin typeface="Calibri (Headings)"/>
                <a:sym typeface="Arial"/>
              </a:rPr>
              <a:t>そもそも「心理的安全性」とは？</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1154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そもそも「心理的安全性」とは？</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引用</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305"/>
              </a:lnSpc>
              <a:spcBef>
                <a:spcPts val="110"/>
              </a:spcBef>
              <a:spcAft>
                <a:spcPts val="0"/>
              </a:spcAft>
              <a:buClrTx/>
              <a:buSzTx/>
              <a:buFontTx/>
              <a:buNone/>
              <a:tabLst/>
              <a:defRPr/>
            </a:pP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「心理的安全性</a:t>
            </a:r>
            <a:r>
              <a:rPr kumimoji="0" lang="ja-JP" altLang="en-US" sz="2200" b="0" i="0" u="none" strike="noStrike" kern="1200" cap="none" spc="-20" normalizeH="0" baseline="0" noProof="0" dirty="0">
                <a:ln>
                  <a:noFill/>
                </a:ln>
                <a:solidFill>
                  <a:prstClr val="black"/>
                </a:solidFill>
                <a:effectLst/>
                <a:uLnTx/>
                <a:uFillTx/>
                <a:latin typeface="Yu Gothic"/>
                <a:ea typeface="+mn-ea"/>
                <a:cs typeface="Yu Gothic"/>
              </a:rPr>
              <a:t>（</a:t>
            </a:r>
            <a:r>
              <a:rPr kumimoji="0" lang="en-US" altLang="ja-JP" sz="2200" b="0" i="1" u="none" strike="noStrike" kern="1200" cap="none" spc="-20" normalizeH="0" baseline="0" noProof="0" dirty="0">
                <a:ln>
                  <a:noFill/>
                </a:ln>
                <a:solidFill>
                  <a:prstClr val="black"/>
                </a:solidFill>
                <a:effectLst/>
                <a:uLnTx/>
                <a:uFillTx/>
                <a:latin typeface="Calibri"/>
                <a:ea typeface="+mn-ea"/>
                <a:cs typeface="Calibri"/>
              </a:rPr>
              <a:t>psychological</a:t>
            </a:r>
            <a:r>
              <a:rPr kumimoji="0" lang="ja-JP" altLang="en-US" sz="2200" b="0" i="1" u="none" strike="noStrike" kern="1200" cap="none" spc="55" normalizeH="0" baseline="0" noProof="0" dirty="0">
                <a:ln>
                  <a:noFill/>
                </a:ln>
                <a:solidFill>
                  <a:prstClr val="black"/>
                </a:solidFill>
                <a:effectLst/>
                <a:uLnTx/>
                <a:uFillTx/>
                <a:latin typeface="Calibri"/>
                <a:ea typeface="+mn-ea"/>
                <a:cs typeface="Calibri"/>
              </a:rPr>
              <a:t> </a:t>
            </a:r>
            <a:r>
              <a:rPr kumimoji="0" lang="en-US" altLang="ja-JP" sz="2200" b="0" i="1" u="none" strike="noStrike" kern="1200" cap="none" spc="-30" normalizeH="0" baseline="0" noProof="0" dirty="0">
                <a:ln>
                  <a:noFill/>
                </a:ln>
                <a:solidFill>
                  <a:prstClr val="black"/>
                </a:solidFill>
                <a:effectLst/>
                <a:uLnTx/>
                <a:uFillTx/>
                <a:latin typeface="Calibri"/>
                <a:ea typeface="+mn-ea"/>
                <a:cs typeface="Calibri"/>
              </a:rPr>
              <a:t>safety</a:t>
            </a:r>
            <a:r>
              <a:rPr kumimoji="0" lang="ja-JP" altLang="en-US" sz="2200" b="0" i="0" u="none" strike="noStrike" kern="1200" cap="none" spc="-30" normalizeH="0" baseline="0" noProof="0" dirty="0">
                <a:ln>
                  <a:noFill/>
                </a:ln>
                <a:solidFill>
                  <a:prstClr val="black"/>
                </a:solidFill>
                <a:effectLst/>
                <a:uLnTx/>
                <a:uFillTx/>
                <a:latin typeface="Yu Gothic"/>
                <a:ea typeface="+mn-ea"/>
                <a:cs typeface="Yu Gothic"/>
              </a:rPr>
              <a:t>）</a:t>
            </a: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」とは、組織の中で自分</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の</a:t>
            </a: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考え</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や</a:t>
            </a: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気持</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ち</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を</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305"/>
              </a:lnSpc>
              <a:spcBef>
                <a:spcPts val="0"/>
              </a:spcBef>
              <a:spcAft>
                <a:spcPts val="0"/>
              </a:spcAft>
              <a:buClrTx/>
              <a:buSzTx/>
              <a:buFontTx/>
              <a:buNone/>
              <a:tabLst/>
              <a:defRPr/>
            </a:pP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誰に対してでも安心して発言でき</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る</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状態</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の</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こと</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で</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す。</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305"/>
              </a:lnSpc>
              <a:spcBef>
                <a:spcPts val="85"/>
              </a:spcBef>
              <a:spcAft>
                <a:spcPts val="0"/>
              </a:spcAft>
              <a:buClrTx/>
              <a:buSzTx/>
              <a:buFontTx/>
              <a:buNone/>
              <a:tabLst/>
              <a:defRPr/>
            </a:pP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組織行動学を研究するエドモンド</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ソ</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ン</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が</a:t>
            </a:r>
            <a:r>
              <a:rPr kumimoji="0" lang="en-US" altLang="ja-JP" sz="2200" b="0" i="1" u="none" strike="noStrike" kern="1200" cap="none" spc="-5" normalizeH="0" baseline="0" noProof="0" dirty="0">
                <a:ln>
                  <a:noFill/>
                </a:ln>
                <a:solidFill>
                  <a:prstClr val="black"/>
                </a:solidFill>
                <a:effectLst/>
                <a:uLnTx/>
                <a:uFillTx/>
                <a:latin typeface="Calibri"/>
                <a:ea typeface="+mn-ea"/>
                <a:cs typeface="Calibri"/>
              </a:rPr>
              <a:t>199</a:t>
            </a:r>
            <a:r>
              <a:rPr kumimoji="0" lang="en-US" altLang="ja-JP" sz="2200" b="0" i="1" u="none" strike="noStrike" kern="1200" cap="none" spc="0" normalizeH="0" baseline="0" noProof="0" dirty="0">
                <a:ln>
                  <a:noFill/>
                </a:ln>
                <a:solidFill>
                  <a:prstClr val="black"/>
                </a:solidFill>
                <a:effectLst/>
                <a:uLnTx/>
                <a:uFillTx/>
                <a:latin typeface="Calibri"/>
                <a:ea typeface="+mn-ea"/>
                <a:cs typeface="Calibri"/>
              </a:rPr>
              <a:t>9</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年に提</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唱</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した</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心</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理学</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用</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語で</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「チー</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1850"/>
              </a:lnSpc>
              <a:spcBef>
                <a:spcPts val="0"/>
              </a:spcBef>
              <a:spcAft>
                <a:spcPts val="0"/>
              </a:spcAft>
              <a:buClrTx/>
              <a:buSzTx/>
              <a:buFontTx/>
              <a:buNone/>
              <a:tabLst/>
              <a:defRPr/>
            </a:pP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ムの他のメンバーが自分の発言を</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拒</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絶し</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た</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り、</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罰</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した</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り</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しな</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い</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と確</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信</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でき</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る</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状</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1850"/>
              </a:lnSpc>
              <a:spcBef>
                <a:spcPts val="0"/>
              </a:spcBef>
              <a:spcAft>
                <a:spcPts val="0"/>
              </a:spcAft>
              <a:buClrTx/>
              <a:buSzTx/>
              <a:buFontTx/>
              <a:buNone/>
              <a:tabLst/>
              <a:defRPr/>
            </a:pP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態」と定義しています。メンバー</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同</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士の</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関</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係性</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で</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「こ</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の</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チー</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ム</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内で</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は</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、メ</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ン</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バー</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1850"/>
              </a:lnSpc>
              <a:spcBef>
                <a:spcPts val="0"/>
              </a:spcBef>
              <a:spcAft>
                <a:spcPts val="0"/>
              </a:spcAft>
              <a:buClrTx/>
              <a:buSzTx/>
              <a:buFontTx/>
              <a:buNone/>
              <a:tabLst/>
              <a:defRPr/>
            </a:pP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の発言や指摘によって人間関係の</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悪</a:t>
            </a: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化を</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招</a:t>
            </a: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くこ</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と</a:t>
            </a: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がな</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い</a:t>
            </a: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とい</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う</a:t>
            </a: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安心</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感</a:t>
            </a: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が共</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有</a:t>
            </a: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され</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305"/>
              </a:lnSpc>
              <a:spcBef>
                <a:spcPts val="0"/>
              </a:spcBef>
              <a:spcAft>
                <a:spcPts val="0"/>
              </a:spcAft>
              <a:buClrTx/>
              <a:buSzTx/>
              <a:buFontTx/>
              <a:buNone/>
              <a:tabLst/>
              <a:defRPr/>
            </a:pP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ている」ことが重要なポイントで</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す</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305"/>
              </a:lnSpc>
              <a:spcBef>
                <a:spcPts val="95"/>
              </a:spcBef>
              <a:spcAft>
                <a:spcPts val="0"/>
              </a:spcAft>
              <a:buClrTx/>
              <a:buSzTx/>
              <a:buFontTx/>
              <a:buNone/>
              <a:tabLst/>
              <a:defRPr/>
            </a:pP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心理的安全性が高い状況であれば</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質問</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や</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アイ</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デ</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ィア</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を</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提案</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し</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ても</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受</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け止</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め</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ても</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289560" lvl="0" indent="0" algn="l" defTabSz="914400" rtl="0" eaLnBrk="1" fontAlgn="auto" latinLnBrk="0" hangingPunct="1">
              <a:lnSpc>
                <a:spcPct val="67000"/>
              </a:lnSpc>
              <a:spcBef>
                <a:spcPts val="455"/>
              </a:spcBef>
              <a:spcAft>
                <a:spcPts val="0"/>
              </a:spcAft>
              <a:buClrTx/>
              <a:buSzTx/>
              <a:buFontTx/>
              <a:buNone/>
              <a:tabLst/>
              <a:defRPr/>
            </a:pP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らえると信じることができ、思い</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つ</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いた</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ア</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イデ</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ィ</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アや</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考</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えを</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率</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直に</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発</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言す</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る</a:t>
            </a:r>
            <a:r>
              <a:rPr kumimoji="0" lang="ja-JP" altLang="en-US" sz="2200" b="0" i="0" u="none" strike="noStrike" kern="1200" cap="none" spc="-80" normalizeH="0" baseline="0" noProof="0" dirty="0">
                <a:ln>
                  <a:noFill/>
                </a:ln>
                <a:solidFill>
                  <a:prstClr val="black"/>
                </a:solidFill>
                <a:effectLst/>
                <a:uLnTx/>
                <a:uFillTx/>
                <a:latin typeface="Yu Gothic"/>
                <a:ea typeface="+mn-ea"/>
                <a:cs typeface="Yu Gothic"/>
              </a:rPr>
              <a:t>こと </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ができます。</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305"/>
              </a:lnSpc>
              <a:spcBef>
                <a:spcPts val="85"/>
              </a:spcBef>
              <a:spcAft>
                <a:spcPts val="0"/>
              </a:spcAft>
              <a:buClrTx/>
              <a:buSzTx/>
              <a:buFontTx/>
              <a:buNone/>
              <a:tabLst/>
              <a:defRPr/>
            </a:pP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例えば、旧来の手法への提言や革</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新</a:t>
            </a: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的な</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ア</a:t>
            </a: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イデ</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ィ</a:t>
            </a: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アに</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つ</a:t>
            </a: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いて</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オ</a:t>
            </a: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ープ</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ン</a:t>
            </a: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に話</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し</a:t>
            </a: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合え</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305"/>
              </a:lnSpc>
              <a:spcBef>
                <a:spcPts val="0"/>
              </a:spcBef>
              <a:spcAft>
                <a:spcPts val="0"/>
              </a:spcAft>
              <a:buClrTx/>
              <a:buSzTx/>
              <a:buFontTx/>
              <a:buNone/>
              <a:tabLst/>
              <a:defRPr/>
            </a:pP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る雰囲気がある組織は、心理的安</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全</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性が</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高</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いと</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い</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える</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で</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しょ</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う</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0" marR="0" lvl="0" indent="0" algn="r" defTabSz="914400" rtl="0" eaLnBrk="1" fontAlgn="auto" latinLnBrk="0" hangingPunct="1">
              <a:lnSpc>
                <a:spcPct val="100000"/>
              </a:lnSpc>
              <a:spcBef>
                <a:spcPts val="330"/>
              </a:spcBef>
              <a:spcAft>
                <a:spcPts val="0"/>
              </a:spcAft>
              <a:buClrTx/>
              <a:buSzTx/>
              <a:buFontTx/>
              <a:buNone/>
              <a:tabLst/>
              <a:defRPr/>
            </a:pPr>
            <a:r>
              <a:rPr kumimoji="0" lang="ja-JP" altLang="en-US" sz="1800" b="0" i="0" u="none" strike="noStrike" kern="1200" cap="none" spc="0" normalizeH="0" baseline="0" noProof="0" dirty="0">
                <a:ln>
                  <a:noFill/>
                </a:ln>
                <a:solidFill>
                  <a:prstClr val="black"/>
                </a:solidFill>
                <a:effectLst/>
                <a:uLnTx/>
                <a:uFillTx/>
                <a:latin typeface="Yu Gothic"/>
                <a:ea typeface="+mn-ea"/>
                <a:cs typeface="Yu Gothic"/>
              </a:rPr>
              <a:t>引用</a:t>
            </a:r>
            <a:r>
              <a:rPr kumimoji="0" lang="en-US" altLang="ja-JP" sz="18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1800" b="0" i="0" u="none" strike="noStrike" kern="1200" cap="none" spc="-90" normalizeH="0" baseline="0" noProof="0" dirty="0">
                <a:ln>
                  <a:noFill/>
                </a:ln>
                <a:solidFill>
                  <a:prstClr val="black"/>
                </a:solidFill>
                <a:effectLst/>
                <a:uLnTx/>
                <a:uFillTx/>
                <a:latin typeface="Calibri"/>
                <a:ea typeface="+mn-ea"/>
                <a:cs typeface="Calibri"/>
              </a:rPr>
              <a:t> </a:t>
            </a:r>
            <a:r>
              <a:rPr kumimoji="0" lang="ja-JP" altLang="en-US" sz="1800" b="0" i="0" u="none" strike="noStrike" kern="1200" cap="none" spc="0" normalizeH="0" baseline="0" noProof="0" dirty="0">
                <a:ln>
                  <a:noFill/>
                </a:ln>
                <a:solidFill>
                  <a:prstClr val="black"/>
                </a:solidFill>
                <a:effectLst/>
                <a:uLnTx/>
                <a:uFillTx/>
                <a:latin typeface="Yu Gothic"/>
                <a:ea typeface="+mn-ea"/>
                <a:cs typeface="Yu Gothic"/>
              </a:rPr>
              <a:t>「</a:t>
            </a:r>
            <a:r>
              <a:rPr kumimoji="0" lang="ja-JP" altLang="en-US" sz="18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心理的安全性とは</a:t>
            </a:r>
            <a:r>
              <a:rPr kumimoji="0" lang="ja-JP" altLang="en-US" sz="1800" b="0" i="0" u="none" strike="noStrike" kern="1200" cap="none" spc="0" normalizeH="0" baseline="0" noProof="0" dirty="0">
                <a:ln>
                  <a:noFill/>
                </a:ln>
                <a:solidFill>
                  <a:prstClr val="black"/>
                </a:solidFill>
                <a:effectLst/>
                <a:uLnTx/>
                <a:uFillTx/>
                <a:latin typeface="Yu Gothic"/>
                <a:ea typeface="+mn-ea"/>
                <a:cs typeface="Yu Gothic"/>
              </a:rPr>
              <a:t>」、リクルートマネジメントソリューションズ</a:t>
            </a:r>
            <a:r>
              <a:rPr kumimoji="0" lang="ja-JP" altLang="en-US" sz="1800" b="0" i="0" u="none" strike="noStrike" kern="1200" cap="none" spc="5" normalizeH="0" baseline="0" noProof="0" dirty="0">
                <a:ln>
                  <a:noFill/>
                </a:ln>
                <a:solidFill>
                  <a:prstClr val="black"/>
                </a:solidFill>
                <a:effectLst/>
                <a:uLnTx/>
                <a:uFillTx/>
                <a:latin typeface="Yu Gothic"/>
                <a:ea typeface="+mn-ea"/>
                <a:cs typeface="Yu Gothic"/>
              </a:rPr>
              <a:t>、</a:t>
            </a:r>
            <a:r>
              <a:rPr kumimoji="0" lang="en-US" altLang="ja-JP" sz="1800" b="0" i="0" u="none" strike="noStrike" kern="1200" cap="none" spc="-5" normalizeH="0" baseline="0" noProof="0" dirty="0">
                <a:ln>
                  <a:noFill/>
                </a:ln>
                <a:solidFill>
                  <a:prstClr val="black"/>
                </a:solidFill>
                <a:effectLst/>
                <a:uLnTx/>
                <a:uFillTx/>
                <a:latin typeface="Calibri"/>
                <a:ea typeface="+mn-ea"/>
                <a:cs typeface="Calibri"/>
              </a:rPr>
              <a:t>2022</a:t>
            </a:r>
            <a:r>
              <a:rPr kumimoji="0" lang="ja-JP" altLang="en-US" sz="1800" b="0" i="0" u="none" strike="noStrike" kern="1200" cap="none" spc="0" normalizeH="0" baseline="0" noProof="0" dirty="0">
                <a:ln>
                  <a:noFill/>
                </a:ln>
                <a:solidFill>
                  <a:prstClr val="black"/>
                </a:solidFill>
                <a:effectLst/>
                <a:uLnTx/>
                <a:uFillTx/>
                <a:latin typeface="Yu Gothic"/>
                <a:ea typeface="+mn-ea"/>
                <a:cs typeface="Yu Gothic"/>
              </a:rPr>
              <a:t>年</a:t>
            </a:r>
            <a:r>
              <a:rPr kumimoji="0" lang="en-US" altLang="ja-JP" sz="1800" b="0" i="0" u="none" strike="noStrike" kern="1200" cap="none" spc="-5" normalizeH="0" baseline="0" noProof="0" dirty="0">
                <a:ln>
                  <a:noFill/>
                </a:ln>
                <a:solidFill>
                  <a:prstClr val="black"/>
                </a:solidFill>
                <a:effectLst/>
                <a:uLnTx/>
                <a:uFillTx/>
                <a:latin typeface="Calibri"/>
                <a:ea typeface="+mn-ea"/>
                <a:cs typeface="Calibri"/>
              </a:rPr>
              <a:t>08</a:t>
            </a:r>
            <a:r>
              <a:rPr kumimoji="0" lang="ja-JP" altLang="en-US" sz="1800" b="0" i="0" u="none" strike="noStrike" kern="1200" cap="none" spc="0" normalizeH="0" baseline="0" noProof="0" dirty="0">
                <a:ln>
                  <a:noFill/>
                </a:ln>
                <a:solidFill>
                  <a:prstClr val="black"/>
                </a:solidFill>
                <a:effectLst/>
                <a:uLnTx/>
                <a:uFillTx/>
                <a:latin typeface="Yu Gothic"/>
                <a:ea typeface="+mn-ea"/>
                <a:cs typeface="Yu Gothic"/>
              </a:rPr>
              <a:t>月</a:t>
            </a:r>
            <a:r>
              <a:rPr kumimoji="0" lang="en-US" altLang="ja-JP" sz="1800" b="0" i="0" u="none" strike="noStrike" kern="1200" cap="none" spc="-5" normalizeH="0" baseline="0" noProof="0" dirty="0">
                <a:ln>
                  <a:noFill/>
                </a:ln>
                <a:solidFill>
                  <a:prstClr val="black"/>
                </a:solidFill>
                <a:effectLst/>
                <a:uLnTx/>
                <a:uFillTx/>
                <a:latin typeface="Calibri"/>
                <a:ea typeface="+mn-ea"/>
                <a:cs typeface="Calibri"/>
              </a:rPr>
              <a:t>18</a:t>
            </a:r>
            <a:r>
              <a:rPr kumimoji="0" lang="ja-JP" altLang="en-US" sz="1800" b="0" i="0" u="none" strike="noStrike" kern="1200" cap="none" spc="0" normalizeH="0" baseline="0" noProof="0" dirty="0">
                <a:ln>
                  <a:noFill/>
                </a:ln>
                <a:solidFill>
                  <a:prstClr val="black"/>
                </a:solidFill>
                <a:effectLst/>
                <a:uLnTx/>
                <a:uFillTx/>
                <a:latin typeface="Yu Gothic"/>
                <a:ea typeface="+mn-ea"/>
                <a:cs typeface="Yu Gothic"/>
              </a:rPr>
              <a:t>日公開</a:t>
            </a:r>
          </a:p>
        </p:txBody>
      </p:sp>
    </p:spTree>
    <p:extLst>
      <p:ext uri="{BB962C8B-B14F-4D97-AF65-F5344CB8AC3E}">
        <p14:creationId xmlns:p14="http://schemas.microsoft.com/office/powerpoint/2010/main" val="1235012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3. </a:t>
            </a:r>
            <a:r>
              <a:rPr lang="ja-JP" altLang="en-US" b="1" dirty="0">
                <a:latin typeface="Calibri (Headings)"/>
              </a:rPr>
              <a:t>職場における「心理的安全性」</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1934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3. </a:t>
            </a:r>
            <a:r>
              <a:rPr lang="ja-JP" altLang="en-US" b="1" dirty="0">
                <a:latin typeface="Calibri (Headings)"/>
              </a:rPr>
              <a:t>職場における「心理的安全性」</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135890" lvl="0" indent="0" algn="l" defTabSz="914400" rtl="0" eaLnBrk="1" fontAlgn="auto" latinLnBrk="0" hangingPunct="1">
              <a:lnSpc>
                <a:spcPts val="2590"/>
              </a:lnSpc>
              <a:spcBef>
                <a:spcPts val="42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職場においての「心理的安全性」は、つまるとこ</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ろ</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ステークホルダーと物 </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事を腹を割って議論出来るかどう</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か</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に尽きると考える。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66675" lvl="0" indent="0" algn="just" defTabSz="914400" rtl="0" eaLnBrk="1" fontAlgn="auto" latinLnBrk="0" hangingPunct="1">
              <a:lnSpc>
                <a:spcPts val="2590"/>
              </a:lnSpc>
              <a:spcBef>
                <a:spcPts val="100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何故なら、職場においては「自己完結するタス</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ク</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&lt;&lt;&lt;&lt;&lt;&lt;&lt;&lt;</a:t>
            </a:r>
            <a:r>
              <a:rPr kumimoji="0" lang="ja-JP" altLang="en-US" sz="2400" b="0" i="0" u="none" strike="noStrike" kern="1200" cap="none" spc="-90"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他者との協業が 必要なタスク」が発生するケースが多く、どんな部署・役職・職種でも他 者とのコミュニケーションが発生するからだ。</a:t>
            </a:r>
          </a:p>
          <a:p>
            <a:pPr marL="0" marR="0" lvl="0" indent="0" algn="l" defTabSz="914400" rtl="0" eaLnBrk="1" fontAlgn="auto" latinLnBrk="0" hangingPunct="1">
              <a:lnSpc>
                <a:spcPct val="100000"/>
              </a:lnSpc>
              <a:spcBef>
                <a:spcPts val="65"/>
              </a:spcBef>
              <a:spcAft>
                <a:spcPts val="0"/>
              </a:spcAft>
              <a:buClrTx/>
              <a:buSzTx/>
              <a:buFontTx/>
              <a:buNone/>
              <a:tabLst/>
              <a:defRPr/>
            </a:pP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5080" lvl="0" indent="0" algn="l" defTabSz="914400" rtl="0" eaLnBrk="1" fontAlgn="auto" latinLnBrk="0" hangingPunct="1">
              <a:lnSpc>
                <a:spcPts val="2590"/>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その際に大事なのは</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物事の正しい</a:t>
            </a:r>
            <a:r>
              <a:rPr kumimoji="0" lang="en-US" altLang="ja-JP" sz="2400" b="1"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正しくないの議論と人間性を結びつけ ない</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ことだ。</a:t>
            </a:r>
          </a:p>
        </p:txBody>
      </p:sp>
    </p:spTree>
    <p:extLst>
      <p:ext uri="{BB962C8B-B14F-4D97-AF65-F5344CB8AC3E}">
        <p14:creationId xmlns:p14="http://schemas.microsoft.com/office/powerpoint/2010/main" val="2302870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3. </a:t>
            </a:r>
            <a:r>
              <a:rPr lang="ja-JP" altLang="en-US" b="1" dirty="0">
                <a:latin typeface="Calibri (Headings)"/>
              </a:rPr>
              <a:t>職場における「心理的安全性」</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以下の議論を例に取って考えてみよう。</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2450" b="0" i="0" u="none" strike="noStrike" kern="1200" cap="none" spc="0" normalizeH="0" baseline="0" noProof="0" dirty="0">
              <a:ln>
                <a:noFill/>
              </a:ln>
              <a:solidFill>
                <a:prstClr val="black"/>
              </a:solidFill>
              <a:effectLst/>
              <a:uLnTx/>
              <a:uFillTx/>
              <a:latin typeface="Yu Gothic"/>
              <a:ea typeface="+mn-ea"/>
              <a:cs typeface="Yu Gothic"/>
            </a:endParaRPr>
          </a:p>
          <a:p>
            <a:pPr marL="282575" marR="310515" lvl="0" indent="-270510" algn="l" defTabSz="914400" rtl="0" eaLnBrk="1" fontAlgn="auto" latinLnBrk="0" hangingPunct="1">
              <a:lnSpc>
                <a:spcPts val="2590"/>
              </a:lnSpc>
              <a:spcBef>
                <a:spcPts val="5"/>
              </a:spcBef>
              <a:spcAft>
                <a:spcPts val="0"/>
              </a:spcAft>
              <a:buClrTx/>
              <a:buSzTx/>
              <a:buFont typeface="Calibri"/>
              <a:buAutoNum type="alphaUcPeriod"/>
              <a:tabLst>
                <a:tab pos="35179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テストケースが増えると、その分</a:t>
            </a:r>
            <a:r>
              <a:rPr kumimoji="0" lang="ja-JP" altLang="en-US" sz="2400" b="0" i="0" u="none" strike="noStrike" kern="1200" cap="none" spc="-170" normalizeH="0" baseline="0" noProof="0" dirty="0">
                <a:ln>
                  <a:noFill/>
                </a:ln>
                <a:solidFill>
                  <a:prstClr val="black"/>
                </a:solidFill>
                <a:effectLst/>
                <a:uLnTx/>
                <a:uFillTx/>
                <a:latin typeface="Yu Gothic"/>
                <a:ea typeface="+mn-ea"/>
                <a:cs typeface="Yu Gothic"/>
              </a:rPr>
              <a:t> </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CI</a:t>
            </a:r>
            <a:r>
              <a:rPr kumimoji="0" lang="ja-JP" altLang="en-US" sz="2400" b="0" i="0" u="none" strike="noStrike" kern="1200" cap="none" spc="-35"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の時間が延びるので、同じ条件のテ ストは纏めてしまうことが多い。ただし、理論的には分けた方が良いのも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分かるので、そのトレードオフが難しい。</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282575" marR="311150" lvl="0" indent="-270510" algn="l" defTabSz="914400" rtl="0" eaLnBrk="1" fontAlgn="auto" latinLnBrk="0" hangingPunct="1">
              <a:lnSpc>
                <a:spcPts val="2590"/>
              </a:lnSpc>
              <a:spcBef>
                <a:spcPts val="1000"/>
              </a:spcBef>
              <a:spcAft>
                <a:spcPts val="0"/>
              </a:spcAft>
              <a:buClrTx/>
              <a:buSzTx/>
              <a:buFont typeface="Calibri"/>
              <a:buAutoNum type="alphaUcPeriod"/>
              <a:tabLst>
                <a:tab pos="28321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「どちらのカラムの値も更新する</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しない」という挙動であれば</a:t>
            </a:r>
            <a:r>
              <a:rPr kumimoji="0" lang="ja-JP" altLang="en-US" sz="2400" b="0" i="0" u="none" strike="noStrike" kern="1200" cap="none" spc="-165" normalizeH="0" baseline="0" noProof="0" dirty="0">
                <a:ln>
                  <a:noFill/>
                </a:ln>
                <a:solidFill>
                  <a:prstClr val="black"/>
                </a:solidFill>
                <a:effectLst/>
                <a:uLnTx/>
                <a:uFillTx/>
                <a:latin typeface="Yu Gothic"/>
                <a:ea typeface="+mn-ea"/>
                <a:cs typeface="Yu Gothic"/>
              </a:rPr>
              <a:t> </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1</a:t>
            </a:r>
            <a:r>
              <a:rPr kumimoji="0" lang="ja-JP" altLang="en-US" sz="2400" b="0" i="0" u="none" strike="noStrike" kern="1200" cap="none" spc="-30"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つのテ ストケースに纏めるが、今回は「一方のカラムの値だけ更新する」という</a:t>
            </a:r>
          </a:p>
          <a:p>
            <a:pPr marL="282575" marR="0" lvl="0" indent="0" algn="l" defTabSz="914400" rtl="0" eaLnBrk="1" fontAlgn="auto" latinLnBrk="0" hangingPunct="1">
              <a:lnSpc>
                <a:spcPts val="2555"/>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挙動でカラムによって期待値が異なるので、テストケースを別</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々</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にしたい。</a:t>
            </a:r>
          </a:p>
          <a:p>
            <a:pPr marL="728980" marR="0" lvl="1" indent="-259715" algn="l" defTabSz="914400" rtl="0" eaLnBrk="1" fontAlgn="auto" latinLnBrk="0" hangingPunct="1">
              <a:lnSpc>
                <a:spcPct val="100000"/>
              </a:lnSpc>
              <a:spcBef>
                <a:spcPts val="295"/>
              </a:spcBef>
              <a:spcAft>
                <a:spcPts val="0"/>
              </a:spcAft>
              <a:buClrTx/>
              <a:buSzTx/>
              <a:buFont typeface="Arial MT"/>
              <a:buChar char="•"/>
              <a:tabLst>
                <a:tab pos="728980" algn="l"/>
                <a:tab pos="729615" algn="l"/>
              </a:tabLst>
              <a:defRPr/>
            </a:pP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CI</a:t>
            </a:r>
            <a:r>
              <a:rPr kumimoji="0" lang="ja-JP" altLang="en-US" sz="2000" b="0" i="0" u="none" strike="noStrike" kern="1200" cap="none" spc="-20" normalizeH="0" baseline="0" noProof="0" dirty="0">
                <a:ln>
                  <a:noFill/>
                </a:ln>
                <a:solidFill>
                  <a:prstClr val="black"/>
                </a:solidFill>
                <a:effectLst/>
                <a:uLnTx/>
                <a:uFillTx/>
                <a:latin typeface="Calibri"/>
                <a:ea typeface="+mn-ea"/>
                <a:cs typeface="Calibri"/>
              </a:rPr>
              <a:t> </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の時間が伸びるトレ</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ー</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ドオ</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フ</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を考</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慮</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した</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上</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で</a:t>
            </a:r>
            <a:r>
              <a:rPr kumimoji="0" lang="ja-JP" altLang="en-US" sz="2000" b="0" i="0" u="none" strike="noStrike" kern="1200" cap="none" spc="5" normalizeH="0" baseline="0" noProof="0" dirty="0">
                <a:ln>
                  <a:noFill/>
                </a:ln>
                <a:solidFill>
                  <a:prstClr val="black"/>
                </a:solidFill>
                <a:effectLst/>
                <a:uLnTx/>
                <a:uFillTx/>
                <a:latin typeface="Yu Gothic"/>
                <a:ea typeface="+mn-ea"/>
                <a:cs typeface="Yu Gothic"/>
              </a:rPr>
              <a:t>、</a:t>
            </a:r>
            <a:r>
              <a:rPr kumimoji="0" lang="en-US" altLang="ja-JP" sz="2000" b="0" i="0" u="none" strike="noStrike" kern="1200" cap="none" spc="-5" normalizeH="0" baseline="0" noProof="0" dirty="0">
                <a:ln>
                  <a:noFill/>
                </a:ln>
                <a:solidFill>
                  <a:prstClr val="black"/>
                </a:solidFill>
                <a:effectLst/>
                <a:uLnTx/>
                <a:uFillTx/>
                <a:latin typeface="Calibri"/>
                <a:ea typeface="+mn-ea"/>
                <a:cs typeface="Calibri"/>
              </a:rPr>
              <a:t>spec</a:t>
            </a:r>
            <a:r>
              <a:rPr kumimoji="0" lang="ja-JP" altLang="en-US" sz="2000" b="0" i="0" u="none" strike="noStrike" kern="1200" cap="none" spc="-40" normalizeH="0" baseline="0" noProof="0" dirty="0">
                <a:ln>
                  <a:noFill/>
                </a:ln>
                <a:solidFill>
                  <a:prstClr val="black"/>
                </a:solidFill>
                <a:effectLst/>
                <a:uLnTx/>
                <a:uFillTx/>
                <a:latin typeface="Calibri"/>
                <a:ea typeface="+mn-ea"/>
                <a:cs typeface="Calibri"/>
              </a:rPr>
              <a:t> </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25" normalizeH="0" baseline="0" noProof="0" dirty="0">
                <a:ln>
                  <a:noFill/>
                </a:ln>
                <a:solidFill>
                  <a:prstClr val="black"/>
                </a:solidFill>
                <a:effectLst/>
                <a:uLnTx/>
                <a:uFillTx/>
                <a:latin typeface="Calibri"/>
                <a:ea typeface="+mn-ea"/>
                <a:cs typeface="Calibri"/>
              </a:rPr>
              <a:t> </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仕様書としての側面を重視</a:t>
            </a:r>
          </a:p>
        </p:txBody>
      </p:sp>
    </p:spTree>
    <p:extLst>
      <p:ext uri="{BB962C8B-B14F-4D97-AF65-F5344CB8AC3E}">
        <p14:creationId xmlns:p14="http://schemas.microsoft.com/office/powerpoint/2010/main" val="3700263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3. </a:t>
            </a:r>
            <a:r>
              <a:rPr lang="ja-JP" altLang="en-US" b="1" dirty="0">
                <a:latin typeface="Calibri (Headings)"/>
              </a:rPr>
              <a:t>職場における「心理的安全性」</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42545" marR="229235" lvl="0" indent="0" defTabSz="914400" eaLnBrk="1" fontAlgn="auto" latinLnBrk="0" hangingPunct="1">
              <a:lnSpc>
                <a:spcPts val="2590"/>
              </a:lnSpc>
              <a:spcBef>
                <a:spcPts val="425"/>
              </a:spcBef>
              <a:spcAft>
                <a:spcPts val="0"/>
              </a:spcAft>
              <a:buClrTx/>
              <a:buSzTx/>
              <a:buFontTx/>
              <a:buNone/>
              <a:tabLst/>
              <a:defRPr/>
            </a:pP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上記の登場人</a:t>
            </a:r>
            <a:r>
              <a:rPr kumimoji="0" lang="ja-JP" altLang="en-US" sz="2400" b="0" i="0" u="none" strike="noStrike" kern="0" cap="none" spc="540" normalizeH="0" baseline="0" noProof="0" dirty="0">
                <a:ln>
                  <a:noFill/>
                </a:ln>
                <a:solidFill>
                  <a:prstClr val="black"/>
                </a:solidFill>
                <a:effectLst/>
                <a:uLnTx/>
                <a:uFillTx/>
                <a:latin typeface="Yu Gothic"/>
                <a:ea typeface="+mn-ea"/>
                <a:cs typeface="Yu Gothic"/>
              </a:rPr>
              <a:t>物</a:t>
            </a:r>
            <a:r>
              <a:rPr kumimoji="0" lang="en-US" altLang="ja-JP" sz="2400" b="0" i="0" u="none" strike="noStrike" kern="0" cap="none" spc="0" normalizeH="0" baseline="0" noProof="0" dirty="0">
                <a:ln>
                  <a:noFill/>
                </a:ln>
                <a:solidFill>
                  <a:prstClr val="black"/>
                </a:solidFill>
                <a:effectLst/>
                <a:uLnTx/>
                <a:uFillTx/>
                <a:latin typeface="Calibri"/>
                <a:ea typeface="+mn-ea"/>
                <a:cs typeface="Calibri"/>
              </a:rPr>
              <a:t>A</a:t>
            </a:r>
            <a:r>
              <a:rPr kumimoji="0" lang="ja-JP" altLang="en-US" sz="2400" b="0" i="0" u="none" strike="noStrike" kern="0" cap="none" spc="-40" normalizeH="0" baseline="0" noProof="0" dirty="0">
                <a:ln>
                  <a:noFill/>
                </a:ln>
                <a:solidFill>
                  <a:prstClr val="black"/>
                </a:solidFill>
                <a:effectLst/>
                <a:uLnTx/>
                <a:uFillTx/>
                <a:latin typeface="Calibri"/>
                <a:ea typeface="+mn-ea"/>
                <a:cs typeface="Calibri"/>
              </a:rPr>
              <a:t> </a:t>
            </a:r>
            <a:r>
              <a:rPr kumimoji="0" lang="ja-JP" altLang="en-US" sz="2400" b="0" i="0" u="none" strike="noStrike" kern="0" cap="none" spc="540" normalizeH="0" baseline="0" noProof="0" dirty="0">
                <a:ln>
                  <a:noFill/>
                </a:ln>
                <a:solidFill>
                  <a:prstClr val="black"/>
                </a:solidFill>
                <a:effectLst/>
                <a:uLnTx/>
                <a:uFillTx/>
                <a:latin typeface="Yu Gothic"/>
                <a:ea typeface="+mn-ea"/>
                <a:cs typeface="Yu Gothic"/>
              </a:rPr>
              <a:t>と</a:t>
            </a:r>
            <a:r>
              <a:rPr kumimoji="0" lang="en-US" altLang="ja-JP" sz="2400" b="0" i="0" u="none" strike="noStrike" kern="0" cap="none" spc="0" normalizeH="0" baseline="0" noProof="0" dirty="0">
                <a:ln>
                  <a:noFill/>
                </a:ln>
                <a:solidFill>
                  <a:prstClr val="black"/>
                </a:solidFill>
                <a:effectLst/>
                <a:uLnTx/>
                <a:uFillTx/>
                <a:latin typeface="Calibri"/>
                <a:ea typeface="+mn-ea"/>
                <a:cs typeface="Calibri"/>
              </a:rPr>
              <a:t>B</a:t>
            </a:r>
            <a:r>
              <a:rPr kumimoji="0" lang="ja-JP" altLang="en-US" sz="2400" b="0" i="0" u="none" strike="noStrike" kern="0" cap="none" spc="-40" normalizeH="0" baseline="0" noProof="0" dirty="0">
                <a:ln>
                  <a:noFill/>
                </a:ln>
                <a:solidFill>
                  <a:prstClr val="black"/>
                </a:solidFill>
                <a:effectLst/>
                <a:uLnTx/>
                <a:uFillTx/>
                <a:latin typeface="Calibri"/>
                <a:ea typeface="+mn-ea"/>
                <a:cs typeface="Calibri"/>
              </a:rPr>
              <a:t> </a:t>
            </a: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は、</a:t>
            </a:r>
            <a:r>
              <a:rPr kumimoji="0" lang="ja-JP" altLang="en-US" sz="2400" b="1" i="0" u="none" strike="noStrike" kern="0" cap="none" spc="0" normalizeH="0" baseline="0" noProof="0" dirty="0">
                <a:ln>
                  <a:noFill/>
                </a:ln>
                <a:solidFill>
                  <a:prstClr val="black"/>
                </a:solidFill>
                <a:effectLst/>
                <a:uLnTx/>
                <a:uFillTx/>
                <a:latin typeface="Yu Gothic"/>
                <a:ea typeface="+mn-ea"/>
              </a:rPr>
              <a:t>テストケースに分割と</a:t>
            </a:r>
            <a:r>
              <a:rPr kumimoji="0" lang="ja-JP" altLang="en-US" sz="2400" b="1" i="0" u="none" strike="noStrike" kern="0" cap="none" spc="-165" normalizeH="0" baseline="0" noProof="0" dirty="0">
                <a:ln>
                  <a:noFill/>
                </a:ln>
                <a:solidFill>
                  <a:prstClr val="black"/>
                </a:solidFill>
                <a:effectLst/>
                <a:uLnTx/>
                <a:uFillTx/>
                <a:latin typeface="Yu Gothic"/>
                <a:ea typeface="+mn-ea"/>
              </a:rPr>
              <a:t> </a:t>
            </a:r>
            <a:r>
              <a:rPr kumimoji="0" lang="en-US" altLang="ja-JP" sz="2400" b="1" i="0" u="none" strike="noStrike" kern="0" cap="none" spc="-5" normalizeH="0" baseline="0" noProof="0" dirty="0">
                <a:ln>
                  <a:noFill/>
                </a:ln>
                <a:solidFill>
                  <a:prstClr val="black"/>
                </a:solidFill>
                <a:effectLst/>
                <a:uLnTx/>
                <a:uFillTx/>
                <a:latin typeface="Calibri"/>
                <a:ea typeface="+mn-ea"/>
                <a:cs typeface="Calibri"/>
              </a:rPr>
              <a:t>CI</a:t>
            </a:r>
            <a:r>
              <a:rPr kumimoji="0" lang="ja-JP" altLang="en-US" sz="2400" b="1" i="0" u="none" strike="noStrike" kern="0" cap="none" spc="-30" normalizeH="0" baseline="0" noProof="0" dirty="0">
                <a:ln>
                  <a:noFill/>
                </a:ln>
                <a:solidFill>
                  <a:prstClr val="black"/>
                </a:solidFill>
                <a:effectLst/>
                <a:uLnTx/>
                <a:uFillTx/>
                <a:latin typeface="Calibri"/>
                <a:ea typeface="+mn-ea"/>
                <a:cs typeface="Calibri"/>
              </a:rPr>
              <a:t> </a:t>
            </a:r>
            <a:r>
              <a:rPr kumimoji="0" lang="ja-JP" altLang="en-US" sz="2400" b="1" i="0" u="none" strike="noStrike" kern="0" cap="none" spc="0" normalizeH="0" baseline="0" noProof="0" dirty="0">
                <a:ln>
                  <a:noFill/>
                </a:ln>
                <a:solidFill>
                  <a:prstClr val="black"/>
                </a:solidFill>
                <a:effectLst/>
                <a:uLnTx/>
                <a:uFillTx/>
                <a:latin typeface="Yu Gothic"/>
                <a:ea typeface="+mn-ea"/>
              </a:rPr>
              <a:t>時間の間に存在するト </a:t>
            </a:r>
            <a:r>
              <a:rPr kumimoji="0" lang="ja-JP" altLang="en-US" sz="2400" b="1" i="0" u="none" strike="noStrike" kern="0" cap="none" spc="-5" normalizeH="0" baseline="0" noProof="0" dirty="0">
                <a:ln>
                  <a:noFill/>
                </a:ln>
                <a:solidFill>
                  <a:prstClr val="black"/>
                </a:solidFill>
                <a:effectLst/>
                <a:uLnTx/>
                <a:uFillTx/>
                <a:latin typeface="Yu Gothic"/>
                <a:ea typeface="+mn-ea"/>
              </a:rPr>
              <a:t>レードオフにおける最適</a:t>
            </a:r>
            <a:r>
              <a:rPr kumimoji="0" lang="ja-JP" altLang="en-US" sz="2400" b="1" i="0" u="none" strike="noStrike" kern="0" cap="none" spc="0" normalizeH="0" baseline="0" noProof="0" dirty="0">
                <a:ln>
                  <a:noFill/>
                </a:ln>
                <a:solidFill>
                  <a:prstClr val="black"/>
                </a:solidFill>
                <a:effectLst/>
                <a:uLnTx/>
                <a:uFillTx/>
                <a:latin typeface="Yu Gothic"/>
                <a:ea typeface="+mn-ea"/>
              </a:rPr>
              <a:t>解</a:t>
            </a:r>
            <a:r>
              <a:rPr kumimoji="0" lang="ja-JP" altLang="en-US" sz="2400" b="0" i="0" u="none" strike="noStrike" kern="0" cap="none" spc="-5" normalizeH="0" baseline="0" noProof="0" dirty="0">
                <a:ln>
                  <a:noFill/>
                </a:ln>
                <a:solidFill>
                  <a:prstClr val="black"/>
                </a:solidFill>
                <a:effectLst/>
                <a:uLnTx/>
                <a:uFillTx/>
                <a:latin typeface="Yu Gothic"/>
                <a:ea typeface="+mn-ea"/>
                <a:cs typeface="Yu Gothic"/>
              </a:rPr>
              <a:t>を議論している。</a:t>
            </a:r>
          </a:p>
          <a:p>
            <a:pPr marL="42545" marR="309880" lvl="0" indent="0" defTabSz="914400" eaLnBrk="1" fontAlgn="auto" latinLnBrk="0" hangingPunct="1">
              <a:lnSpc>
                <a:spcPts val="2590"/>
              </a:lnSpc>
              <a:spcBef>
                <a:spcPts val="1005"/>
              </a:spcBef>
              <a:spcAft>
                <a:spcPts val="0"/>
              </a:spcAft>
              <a:buClrTx/>
              <a:buSzTx/>
              <a:buFontTx/>
              <a:buNone/>
              <a:tabLst/>
              <a:defRPr/>
            </a:pP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この文脈においてはどちらの意見がより最適解であるかを根拠を持って議 論しているだけであり</a:t>
            </a:r>
            <a:r>
              <a:rPr kumimoji="0" lang="ja-JP" altLang="en-US" sz="2400" b="0" i="0" u="none" strike="noStrike" kern="0" cap="none" spc="5" normalizeH="0" baseline="0" noProof="0" dirty="0">
                <a:ln>
                  <a:noFill/>
                </a:ln>
                <a:solidFill>
                  <a:prstClr val="black"/>
                </a:solidFill>
                <a:effectLst/>
                <a:uLnTx/>
                <a:uFillTx/>
                <a:latin typeface="Yu Gothic"/>
                <a:ea typeface="+mn-ea"/>
                <a:cs typeface="Yu Gothic"/>
              </a:rPr>
              <a:t>、</a:t>
            </a:r>
            <a:r>
              <a:rPr kumimoji="0" lang="ja-JP" altLang="en-US" sz="2400" b="1" i="0" u="none" strike="noStrike" kern="0" cap="none" spc="0" normalizeH="0" baseline="0" noProof="0" dirty="0">
                <a:ln>
                  <a:noFill/>
                </a:ln>
                <a:solidFill>
                  <a:prstClr val="black"/>
                </a:solidFill>
                <a:effectLst/>
                <a:uLnTx/>
                <a:uFillTx/>
                <a:latin typeface="Yu Gothic"/>
                <a:ea typeface="+mn-ea"/>
              </a:rPr>
              <a:t>お互いの人間性には一切触れていな</a:t>
            </a:r>
            <a:r>
              <a:rPr kumimoji="0" lang="ja-JP" altLang="en-US" sz="2400" b="1" i="0" u="none" strike="noStrike" kern="0" cap="none" spc="5" normalizeH="0" baseline="0" noProof="0" dirty="0">
                <a:ln>
                  <a:noFill/>
                </a:ln>
                <a:solidFill>
                  <a:prstClr val="black"/>
                </a:solidFill>
                <a:effectLst/>
                <a:uLnTx/>
                <a:uFillTx/>
                <a:latin typeface="Yu Gothic"/>
                <a:ea typeface="+mn-ea"/>
              </a:rPr>
              <a:t>い</a:t>
            </a: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a:t>
            </a:r>
          </a:p>
          <a:p>
            <a:pPr marL="42545" marR="0" lvl="0" indent="0" defTabSz="914400" eaLnBrk="1" fontAlgn="auto" latinLnBrk="0" hangingPunct="1">
              <a:lnSpc>
                <a:spcPts val="2735"/>
              </a:lnSpc>
              <a:spcBef>
                <a:spcPts val="685"/>
              </a:spcBef>
              <a:spcAft>
                <a:spcPts val="0"/>
              </a:spcAft>
              <a:buClrTx/>
              <a:buSzTx/>
              <a:buFontTx/>
              <a:buNone/>
              <a:tabLst/>
              <a:defRPr/>
            </a:pPr>
            <a:r>
              <a:rPr kumimoji="0" lang="ja-JP" altLang="en-US" sz="2400" b="0" i="0" u="none" strike="noStrike" kern="0" cap="none" spc="-5" normalizeH="0" baseline="0" noProof="0" dirty="0">
                <a:ln>
                  <a:noFill/>
                </a:ln>
                <a:solidFill>
                  <a:prstClr val="black"/>
                </a:solidFill>
                <a:effectLst/>
                <a:uLnTx/>
                <a:uFillTx/>
                <a:latin typeface="Yu Gothic"/>
                <a:ea typeface="+mn-ea"/>
                <a:cs typeface="Yu Gothic"/>
              </a:rPr>
              <a:t>ここでもし、登場人</a:t>
            </a: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物</a:t>
            </a:r>
            <a:r>
              <a:rPr kumimoji="0" lang="ja-JP" altLang="en-US" sz="2400" b="0" i="0" u="none" strike="noStrike" kern="0" cap="none" spc="-155" normalizeH="0" baseline="0" noProof="0" dirty="0">
                <a:ln>
                  <a:noFill/>
                </a:ln>
                <a:solidFill>
                  <a:prstClr val="black"/>
                </a:solidFill>
                <a:effectLst/>
                <a:uLnTx/>
                <a:uFillTx/>
                <a:latin typeface="Yu Gothic"/>
                <a:ea typeface="+mn-ea"/>
                <a:cs typeface="Yu Gothic"/>
              </a:rPr>
              <a:t> </a:t>
            </a:r>
            <a:r>
              <a:rPr kumimoji="0" lang="en-US" altLang="ja-JP" sz="2400" b="0" i="0" u="none" strike="noStrike" kern="0" cap="none" spc="0" normalizeH="0" baseline="0" noProof="0" dirty="0">
                <a:ln>
                  <a:noFill/>
                </a:ln>
                <a:solidFill>
                  <a:prstClr val="black"/>
                </a:solidFill>
                <a:effectLst/>
                <a:uLnTx/>
                <a:uFillTx/>
                <a:latin typeface="Calibri"/>
                <a:ea typeface="+mn-ea"/>
                <a:cs typeface="Calibri"/>
              </a:rPr>
              <a:t>A</a:t>
            </a:r>
            <a:r>
              <a:rPr kumimoji="0" lang="ja-JP" altLang="en-US" sz="2400" b="0" i="0" u="none" strike="noStrike" kern="0" cap="none" spc="-20" normalizeH="0" baseline="0" noProof="0" dirty="0">
                <a:ln>
                  <a:noFill/>
                </a:ln>
                <a:solidFill>
                  <a:prstClr val="black"/>
                </a:solidFill>
                <a:effectLst/>
                <a:uLnTx/>
                <a:uFillTx/>
                <a:latin typeface="Calibri"/>
                <a:ea typeface="+mn-ea"/>
                <a:cs typeface="Calibri"/>
              </a:rPr>
              <a:t> </a:t>
            </a:r>
            <a:r>
              <a:rPr kumimoji="0" lang="ja-JP" altLang="en-US" sz="2400" b="0" i="0" u="none" strike="noStrike" kern="0" cap="none" spc="-5" normalizeH="0" baseline="0" noProof="0" dirty="0">
                <a:ln>
                  <a:noFill/>
                </a:ln>
                <a:solidFill>
                  <a:prstClr val="black"/>
                </a:solidFill>
                <a:effectLst/>
                <a:uLnTx/>
                <a:uFillTx/>
                <a:latin typeface="Yu Gothic"/>
                <a:ea typeface="+mn-ea"/>
                <a:cs typeface="Yu Gothic"/>
              </a:rPr>
              <a:t>が「</a:t>
            </a:r>
            <a:r>
              <a:rPr kumimoji="0" lang="en-US" altLang="ja-JP" sz="2400" b="0" i="0" u="none" strike="noStrike" kern="0" cap="none" spc="0" normalizeH="0" baseline="0" noProof="0" dirty="0">
                <a:ln>
                  <a:noFill/>
                </a:ln>
                <a:solidFill>
                  <a:prstClr val="black"/>
                </a:solidFill>
                <a:effectLst/>
                <a:uLnTx/>
                <a:uFillTx/>
                <a:latin typeface="Calibri"/>
                <a:ea typeface="+mn-ea"/>
                <a:cs typeface="Calibri"/>
              </a:rPr>
              <a:t>B</a:t>
            </a:r>
            <a:r>
              <a:rPr kumimoji="0" lang="ja-JP" altLang="en-US" sz="2400" b="0" i="0" u="none" strike="noStrike" kern="0" cap="none" spc="-20" normalizeH="0" baseline="0" noProof="0" dirty="0">
                <a:ln>
                  <a:noFill/>
                </a:ln>
                <a:solidFill>
                  <a:prstClr val="black"/>
                </a:solidFill>
                <a:effectLst/>
                <a:uLnTx/>
                <a:uFillTx/>
                <a:latin typeface="Calibri"/>
                <a:ea typeface="+mn-ea"/>
                <a:cs typeface="Calibri"/>
              </a:rPr>
              <a:t> </a:t>
            </a:r>
            <a:r>
              <a:rPr kumimoji="0" lang="ja-JP" altLang="en-US" sz="2400" b="0" i="0" u="none" strike="noStrike" kern="0" cap="none" spc="-5" normalizeH="0" baseline="0" noProof="0" dirty="0">
                <a:ln>
                  <a:noFill/>
                </a:ln>
                <a:solidFill>
                  <a:prstClr val="black"/>
                </a:solidFill>
                <a:effectLst/>
                <a:uLnTx/>
                <a:uFillTx/>
                <a:latin typeface="Yu Gothic"/>
                <a:ea typeface="+mn-ea"/>
                <a:cs typeface="Yu Gothic"/>
              </a:rPr>
              <a:t>は自分の異なる意見を持っている</a:t>
            </a: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a:t>
            </a:r>
            <a:r>
              <a:rPr kumimoji="0" lang="en-US" altLang="ja-JP" sz="2400" b="0" i="0" u="none" strike="noStrike" kern="0" cap="none" spc="0" normalizeH="0" baseline="0" noProof="0" dirty="0">
                <a:ln>
                  <a:noFill/>
                </a:ln>
                <a:solidFill>
                  <a:prstClr val="black"/>
                </a:solidFill>
                <a:effectLst/>
                <a:uLnTx/>
                <a:uFillTx/>
                <a:latin typeface="Calibri"/>
                <a:ea typeface="+mn-ea"/>
                <a:cs typeface="Calibri"/>
              </a:rPr>
              <a:t>B</a:t>
            </a:r>
            <a:r>
              <a:rPr kumimoji="0" lang="ja-JP" altLang="en-US" sz="2400" b="0" i="0" u="none" strike="noStrike" kern="0" cap="none" spc="-20" normalizeH="0" baseline="0" noProof="0" dirty="0">
                <a:ln>
                  <a:noFill/>
                </a:ln>
                <a:solidFill>
                  <a:prstClr val="black"/>
                </a:solidFill>
                <a:effectLst/>
                <a:uLnTx/>
                <a:uFillTx/>
                <a:latin typeface="Calibri"/>
                <a:ea typeface="+mn-ea"/>
                <a:cs typeface="Calibri"/>
              </a:rPr>
              <a:t> </a:t>
            </a:r>
            <a:r>
              <a:rPr kumimoji="0" lang="ja-JP" altLang="en-US" sz="2400" b="0" i="0" u="none" strike="noStrike" kern="0" cap="none" spc="-5" normalizeH="0" baseline="0" noProof="0" dirty="0">
                <a:ln>
                  <a:noFill/>
                </a:ln>
                <a:solidFill>
                  <a:prstClr val="black"/>
                </a:solidFill>
                <a:effectLst/>
                <a:uLnTx/>
                <a:uFillTx/>
                <a:latin typeface="Yu Gothic"/>
                <a:ea typeface="+mn-ea"/>
                <a:cs typeface="Yu Gothic"/>
              </a:rPr>
              <a:t>は人間</a:t>
            </a:r>
          </a:p>
          <a:p>
            <a:pPr marL="42545" marR="0" lvl="0" indent="0" defTabSz="914400" eaLnBrk="1" fontAlgn="auto" latinLnBrk="0" hangingPunct="1">
              <a:lnSpc>
                <a:spcPts val="2735"/>
              </a:lnSpc>
              <a:spcBef>
                <a:spcPts val="0"/>
              </a:spcBef>
              <a:spcAft>
                <a:spcPts val="0"/>
              </a:spcAft>
              <a:buClrTx/>
              <a:buSzTx/>
              <a:buFontTx/>
              <a:buNone/>
              <a:tabLst/>
              <a:defRPr/>
            </a:pP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として嫌悪感を覚える、受け入れられない。」と考えたらどうなるだろう。</a:t>
            </a:r>
          </a:p>
          <a:p>
            <a:pPr marL="42545" marR="191135" lvl="0" indent="0" defTabSz="914400" eaLnBrk="1" fontAlgn="auto" latinLnBrk="0" hangingPunct="1">
              <a:lnSpc>
                <a:spcPts val="2590"/>
              </a:lnSpc>
              <a:spcBef>
                <a:spcPts val="1035"/>
              </a:spcBef>
              <a:spcAft>
                <a:spcPts val="0"/>
              </a:spcAft>
              <a:buClrTx/>
              <a:buSzTx/>
              <a:buFontTx/>
              <a:buNone/>
              <a:tabLst/>
              <a:defRPr/>
            </a:pP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意見が同じであろうとなかろうと、根拠を持って正し</a:t>
            </a:r>
            <a:r>
              <a:rPr kumimoji="0" lang="ja-JP" altLang="en-US" sz="2400" b="0" i="0" u="none" strike="noStrike" kern="0" cap="none" spc="5" normalizeH="0" baseline="0" noProof="0" dirty="0">
                <a:ln>
                  <a:noFill/>
                </a:ln>
                <a:solidFill>
                  <a:prstClr val="black"/>
                </a:solidFill>
                <a:effectLst/>
                <a:uLnTx/>
                <a:uFillTx/>
                <a:latin typeface="Yu Gothic"/>
                <a:ea typeface="+mn-ea"/>
                <a:cs typeface="Yu Gothic"/>
              </a:rPr>
              <a:t>い</a:t>
            </a:r>
            <a:r>
              <a:rPr kumimoji="0" lang="en-US" altLang="ja-JP" sz="2400" b="0" i="0" u="none" strike="noStrike" kern="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正しくないを腹を 割って議論したいのに</a:t>
            </a:r>
            <a:r>
              <a:rPr kumimoji="0" lang="ja-JP" altLang="en-US" sz="2400" b="0" i="0" u="none" strike="noStrike" kern="0" cap="none" spc="5" normalizeH="0" baseline="0" noProof="0" dirty="0">
                <a:ln>
                  <a:noFill/>
                </a:ln>
                <a:solidFill>
                  <a:prstClr val="black"/>
                </a:solidFill>
                <a:effectLst/>
                <a:uLnTx/>
                <a:uFillTx/>
                <a:latin typeface="Yu Gothic"/>
                <a:ea typeface="+mn-ea"/>
                <a:cs typeface="Yu Gothic"/>
              </a:rPr>
              <a:t>、</a:t>
            </a:r>
            <a:r>
              <a:rPr kumimoji="0" lang="ja-JP" altLang="en-US" sz="2400" b="1" i="0" u="none" strike="noStrike" kern="0" cap="none" spc="0" normalizeH="0" baseline="0" noProof="0" dirty="0">
                <a:ln>
                  <a:noFill/>
                </a:ln>
                <a:solidFill>
                  <a:prstClr val="black"/>
                </a:solidFill>
                <a:effectLst/>
                <a:uLnTx/>
                <a:uFillTx/>
                <a:latin typeface="Yu Gothic"/>
                <a:ea typeface="+mn-ea"/>
              </a:rPr>
              <a:t>議論の結果と人間性が結び付けられると分かった </a:t>
            </a:r>
            <a:r>
              <a:rPr kumimoji="0" lang="ja-JP" altLang="en-US" sz="2400" b="1" i="0" u="none" strike="noStrike" kern="0" cap="none" spc="-5" normalizeH="0" baseline="0" noProof="0" dirty="0">
                <a:ln>
                  <a:noFill/>
                </a:ln>
                <a:solidFill>
                  <a:prstClr val="black"/>
                </a:solidFill>
                <a:effectLst/>
                <a:uLnTx/>
                <a:uFillTx/>
                <a:latin typeface="Yu Gothic"/>
                <a:ea typeface="+mn-ea"/>
              </a:rPr>
              <a:t>瞬間にお互いに牽制して意見が言えなくなってしま</a:t>
            </a:r>
            <a:r>
              <a:rPr kumimoji="0" lang="ja-JP" altLang="en-US" sz="2400" b="1" i="0" u="none" strike="noStrike" kern="0" cap="none" spc="0" normalizeH="0" baseline="0" noProof="0" dirty="0">
                <a:ln>
                  <a:noFill/>
                </a:ln>
                <a:solidFill>
                  <a:prstClr val="black"/>
                </a:solidFill>
                <a:effectLst/>
                <a:uLnTx/>
                <a:uFillTx/>
                <a:latin typeface="Yu Gothic"/>
                <a:ea typeface="+mn-ea"/>
              </a:rPr>
              <a:t>う</a:t>
            </a: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a:t>
            </a:r>
          </a:p>
          <a:p>
            <a:pPr marL="42545" marR="309880" lvl="0" indent="0" defTabSz="914400" eaLnBrk="1" fontAlgn="auto" latinLnBrk="0" hangingPunct="1">
              <a:lnSpc>
                <a:spcPts val="2590"/>
              </a:lnSpc>
              <a:spcBef>
                <a:spcPts val="1005"/>
              </a:spcBef>
              <a:spcAft>
                <a:spcPts val="0"/>
              </a:spcAft>
              <a:buClrTx/>
              <a:buSzTx/>
              <a:buFontTx/>
              <a:buNone/>
              <a:tabLst/>
              <a:defRPr/>
            </a:pP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それでは革新的なアイディアなど到底出てくることはなく、自分の身と心 の安全を守ることを第一に優先する保守的な組織が完成するだろう。</a:t>
            </a:r>
          </a:p>
        </p:txBody>
      </p:sp>
    </p:spTree>
    <p:extLst>
      <p:ext uri="{BB962C8B-B14F-4D97-AF65-F5344CB8AC3E}">
        <p14:creationId xmlns:p14="http://schemas.microsoft.com/office/powerpoint/2010/main" val="1408071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3. </a:t>
            </a:r>
            <a:r>
              <a:rPr lang="ja-JP" altLang="en-US" b="1" dirty="0">
                <a:latin typeface="Calibri (Headings)"/>
              </a:rPr>
              <a:t>職場における「心理的安全性」</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ts val="2735"/>
              </a:lnSpc>
              <a:spcBef>
                <a:spcPts val="10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繰り返しになるが、「心理的安全性」が担保されるために</a:t>
            </a:r>
            <a:r>
              <a:rPr kumimoji="0" lang="ja-JP" altLang="en-US" sz="2400" b="0" i="0" u="none" strike="noStrike" kern="1200" cap="none" spc="10" normalizeH="0" baseline="0" noProof="0" dirty="0">
                <a:ln>
                  <a:noFill/>
                </a:ln>
                <a:solidFill>
                  <a:prstClr val="black"/>
                </a:solidFill>
                <a:effectLst/>
                <a:uLnTx/>
                <a:uFillTx/>
                <a:latin typeface="Yu Gothic"/>
                <a:ea typeface="+mn-ea"/>
                <a:cs typeface="Yu Gothic"/>
              </a:rPr>
              <a:t>は</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物事の正しい</a:t>
            </a:r>
            <a:r>
              <a:rPr kumimoji="0" lang="en-US" altLang="ja-JP" sz="2400" b="1" i="0" u="none" strike="noStrike" kern="1200" cap="none" spc="0" normalizeH="0" baseline="0" noProof="0" dirty="0">
                <a:ln>
                  <a:noFill/>
                </a:ln>
                <a:solidFill>
                  <a:prstClr val="black"/>
                </a:solidFill>
                <a:effectLst/>
                <a:uLnTx/>
                <a:uFillTx/>
                <a:latin typeface="Calibri"/>
                <a:ea typeface="+mn-ea"/>
                <a:cs typeface="Calibri"/>
              </a:rPr>
              <a:t>/</a:t>
            </a:r>
            <a:endParaRPr kumimoji="0" lang="ja-JP" altLang="en-US" sz="2400" b="0" i="0" u="none" strike="noStrike" kern="1200" cap="none" spc="0" normalizeH="0" baseline="0" noProof="0" dirty="0">
              <a:ln>
                <a:noFill/>
              </a:ln>
              <a:solidFill>
                <a:prstClr val="black"/>
              </a:solidFill>
              <a:effectLst/>
              <a:uLnTx/>
              <a:uFillTx/>
              <a:latin typeface="Calibri"/>
              <a:ea typeface="+mn-ea"/>
              <a:cs typeface="Calibri"/>
            </a:endParaRPr>
          </a:p>
          <a:p>
            <a:pPr marL="12700" marR="0" lvl="0" indent="0" algn="l" defTabSz="914400" rtl="0" eaLnBrk="1" fontAlgn="auto" latinLnBrk="0" hangingPunct="1">
              <a:lnSpc>
                <a:spcPts val="2735"/>
              </a:lnSpc>
              <a:spcBef>
                <a:spcPts val="0"/>
              </a:spcBef>
              <a:spcAft>
                <a:spcPts val="0"/>
              </a:spcAft>
              <a:buClrTx/>
              <a:buSzTx/>
              <a:buFontTx/>
              <a:buNone/>
              <a:tabLst/>
              <a:defRPr/>
            </a:pP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正しくないの議論と人間性を結びつけな</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い</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ことが絶対条件である。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136525" lvl="0" indent="0" algn="l" defTabSz="914400" rtl="0" eaLnBrk="1" fontAlgn="auto" latinLnBrk="0" hangingPunct="1">
              <a:lnSpc>
                <a:spcPts val="2590"/>
              </a:lnSpc>
              <a:spcBef>
                <a:spcPts val="1040"/>
              </a:spcBef>
              <a:spcAft>
                <a:spcPts val="0"/>
              </a:spcAft>
              <a:buClrTx/>
              <a:buSzTx/>
              <a:buFontTx/>
              <a:buNone/>
              <a:tabLst/>
              <a:defRPr/>
            </a:pP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スクラム開発</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を採用している組織は、「こんなことは当たり前」と思って いて</a:t>
            </a:r>
            <a:r>
              <a:rPr kumimoji="0" lang="ja-JP" altLang="en-US" sz="2400" b="0" i="0" u="none" strike="noStrike" kern="1200" cap="none" spc="540" normalizeH="0" baseline="0" noProof="0" dirty="0">
                <a:ln>
                  <a:noFill/>
                </a:ln>
                <a:solidFill>
                  <a:prstClr val="black"/>
                </a:solidFill>
                <a:effectLst/>
                <a:uLnTx/>
                <a:uFillTx/>
                <a:latin typeface="Yu Gothic"/>
                <a:ea typeface="+mn-ea"/>
                <a:cs typeface="Yu Gothic"/>
              </a:rPr>
              <a:t>も</a:t>
            </a:r>
            <a:r>
              <a:rPr kumimoji="0" lang="en-US" altLang="ja-JP" sz="2400" b="0" i="0" u="heavy" strike="noStrike" kern="1200" cap="none" spc="-20" normalizeH="0" baseline="0" noProof="0" dirty="0">
                <a:ln>
                  <a:noFill/>
                </a:ln>
                <a:solidFill>
                  <a:srgbClr val="0462C1"/>
                </a:solidFill>
                <a:effectLst/>
                <a:uLnTx/>
                <a:uFill>
                  <a:solidFill>
                    <a:srgbClr val="0462C1"/>
                  </a:solidFill>
                </a:uFill>
                <a:latin typeface="Calibri"/>
                <a:ea typeface="+mn-ea"/>
                <a:cs typeface="Calibri"/>
                <a:hlinkClick r:id="rId4"/>
              </a:rPr>
              <a:t>Working</a:t>
            </a:r>
            <a:r>
              <a:rPr kumimoji="0" lang="ja-JP" altLang="en-US" sz="2400" b="0" i="0" u="heavy" strike="noStrike" kern="1200" cap="none" spc="-65" normalizeH="0" baseline="0" noProof="0" dirty="0">
                <a:ln>
                  <a:noFill/>
                </a:ln>
                <a:solidFill>
                  <a:srgbClr val="0462C1"/>
                </a:solidFill>
                <a:effectLst/>
                <a:uLnTx/>
                <a:uFill>
                  <a:solidFill>
                    <a:srgbClr val="0462C1"/>
                  </a:solidFill>
                </a:uFill>
                <a:latin typeface="Calibri"/>
                <a:ea typeface="+mn-ea"/>
                <a:cs typeface="Calibri"/>
                <a:hlinkClick r:id="rId4"/>
              </a:rPr>
              <a:t> </a:t>
            </a:r>
            <a:r>
              <a:rPr kumimoji="0" lang="en-US" altLang="ja-JP" sz="2400" b="0" i="0"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4"/>
              </a:rPr>
              <a:t>Agreements</a:t>
            </a:r>
            <a:r>
              <a:rPr kumimoji="0" lang="ja-JP" altLang="en-US" sz="2400" b="0" i="0" u="none" strike="noStrike" kern="1200" cap="none" spc="-45" normalizeH="0" baseline="0" noProof="0" dirty="0">
                <a:ln>
                  <a:noFill/>
                </a:ln>
                <a:solidFill>
                  <a:srgbClr val="0462C1"/>
                </a:solidFill>
                <a:effectLst/>
                <a:uLnTx/>
                <a:uFillTx/>
                <a:latin typeface="Calibri"/>
                <a:ea typeface="+mn-ea"/>
                <a:cs typeface="Calibri"/>
                <a:hlinkClick r:id="rId4"/>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に盛り込んで明文化しておくのが賢明だろう。</a:t>
            </a:r>
          </a:p>
        </p:txBody>
      </p:sp>
    </p:spTree>
    <p:extLst>
      <p:ext uri="{BB962C8B-B14F-4D97-AF65-F5344CB8AC3E}">
        <p14:creationId xmlns:p14="http://schemas.microsoft.com/office/powerpoint/2010/main" val="41708165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kumimoji="0" lang="en-GB" altLang="ja-JP" sz="40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4. </a:t>
            </a:r>
            <a:r>
              <a:rPr kumimoji="0" lang="ja-JP" altLang="en-US" sz="40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「心理的安全性」の</a:t>
            </a:r>
            <a:r>
              <a:rPr kumimoji="0" lang="en-US" altLang="ja-JP" sz="40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a:t>
            </a:r>
            <a:r>
              <a:rPr kumimoji="0" lang="ja-JP" altLang="en-US" sz="40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大前提条件</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6303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kumimoji="0" lang="en-GB" altLang="ja-JP" sz="40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4. </a:t>
            </a:r>
            <a:r>
              <a:rPr kumimoji="0" lang="ja-JP" altLang="en-US" sz="40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「心理的安全性」の</a:t>
            </a:r>
            <a:r>
              <a:rPr kumimoji="0" lang="en-US" altLang="ja-JP" sz="40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a:t>
            </a:r>
            <a:r>
              <a:rPr kumimoji="0" lang="ja-JP" altLang="en-US" sz="40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大前提条件</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D49EE58D-D452-4512-F877-040E586E9B61}"/>
              </a:ext>
            </a:extLst>
          </p:cNvPr>
          <p:cNvSpPr>
            <a:spLocks noGrp="1"/>
          </p:cNvSpPr>
          <p:nvPr>
            <p:ph idx="1"/>
          </p:nvPr>
        </p:nvSpPr>
        <p:spPr>
          <a:xfrm>
            <a:off x="838200" y="1825625"/>
            <a:ext cx="10515600" cy="4351338"/>
          </a:xfrm>
        </p:spPr>
        <p:txBody>
          <a:bodyPr>
            <a:normAutofit/>
          </a:bodyPr>
          <a:lstStyle/>
          <a:p>
            <a:pPr marL="12700" marR="5080" lvl="0" indent="0" algn="l" defTabSz="914400" rtl="0" eaLnBrk="1" fontAlgn="auto" latinLnBrk="0" hangingPunct="1">
              <a:lnSpc>
                <a:spcPts val="2590"/>
              </a:lnSpc>
              <a:spcBef>
                <a:spcPts val="42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引用した定義と</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前章</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の内容を整理すると、以下の</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3</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つの条件が満たされて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いると「心理的安全性」があると言える。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0" marR="0" lvl="0" indent="0" algn="l" defTabSz="914400" rtl="0" eaLnBrk="1" fontAlgn="auto" latinLnBrk="0" hangingPunct="1">
              <a:lnSpc>
                <a:spcPct val="100000"/>
              </a:lnSpc>
              <a:spcBef>
                <a:spcPts val="20"/>
              </a:spcBef>
              <a:spcAft>
                <a:spcPts val="0"/>
              </a:spcAft>
              <a:buClrTx/>
              <a:buSzTx/>
              <a:buFontTx/>
              <a:buNone/>
              <a:tabLst/>
              <a:defRPr/>
            </a:pPr>
            <a:endParaRPr kumimoji="0" lang="ja-JP" altLang="en-US" sz="2250" b="0" i="0" u="none" strike="noStrike" kern="1200" cap="none" spc="0" normalizeH="0" baseline="0" noProof="0" dirty="0">
              <a:ln>
                <a:noFill/>
              </a:ln>
              <a:solidFill>
                <a:prstClr val="black"/>
              </a:solidFill>
              <a:effectLst/>
              <a:uLnTx/>
              <a:uFillTx/>
              <a:latin typeface="Yu Gothic"/>
              <a:ea typeface="+mn-ea"/>
              <a:cs typeface="Yu Gothic"/>
            </a:endParaRPr>
          </a:p>
          <a:p>
            <a:pPr marL="374015" marR="0" lvl="0" indent="-361950" algn="l" defTabSz="914400" rtl="0" eaLnBrk="1" fontAlgn="auto" latinLnBrk="0" hangingPunct="1">
              <a:lnSpc>
                <a:spcPct val="100000"/>
              </a:lnSpc>
              <a:spcBef>
                <a:spcPts val="0"/>
              </a:spcBef>
              <a:spcAft>
                <a:spcPts val="0"/>
              </a:spcAft>
              <a:buClrTx/>
              <a:buSzTx/>
              <a:buFont typeface="Calibri"/>
              <a:buAutoNum type="arabicPeriod"/>
              <a:tabLst>
                <a:tab pos="374015" algn="l"/>
                <a:tab pos="37465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「自分はこの組織にいて良いのだ」と思えること。</a:t>
            </a:r>
          </a:p>
          <a:p>
            <a:pPr marL="728980" marR="0" lvl="1" indent="-259715" algn="l" defTabSz="914400" rtl="0" eaLnBrk="1" fontAlgn="auto" latinLnBrk="0" hangingPunct="1">
              <a:lnSpc>
                <a:spcPct val="100000"/>
              </a:lnSpc>
              <a:spcBef>
                <a:spcPts val="280"/>
              </a:spcBef>
              <a:spcAft>
                <a:spcPts val="0"/>
              </a:spcAft>
              <a:buClrTx/>
              <a:buSzTx/>
              <a:buFont typeface="Arial MT"/>
              <a:buChar char="•"/>
              <a:tabLst>
                <a:tab pos="728980" algn="l"/>
                <a:tab pos="72961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自分は組織を必要とし</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組織</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も</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自分</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を</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必要</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と</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して</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い</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ると</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実</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感出</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来</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てい</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る</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状態</a:t>
            </a:r>
          </a:p>
          <a:p>
            <a:pPr marL="374015" marR="0" lvl="0" indent="-361950" algn="l" defTabSz="914400" rtl="0" eaLnBrk="1" fontAlgn="auto" latinLnBrk="0" hangingPunct="1">
              <a:lnSpc>
                <a:spcPct val="100000"/>
              </a:lnSpc>
              <a:spcBef>
                <a:spcPts val="695"/>
              </a:spcBef>
              <a:spcAft>
                <a:spcPts val="0"/>
              </a:spcAft>
              <a:buClrTx/>
              <a:buSzTx/>
              <a:buFont typeface="Calibri"/>
              <a:buAutoNum type="arabicPeriod"/>
              <a:tabLst>
                <a:tab pos="374015" algn="l"/>
                <a:tab pos="37465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自らの意見や感情を</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誰にでも素直</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に表現・共有できること。</a:t>
            </a:r>
          </a:p>
          <a:p>
            <a:pPr marL="728980" marR="0" lvl="1" indent="-259715" algn="l" defTabSz="914400" rtl="0" eaLnBrk="1" fontAlgn="auto" latinLnBrk="0" hangingPunct="1">
              <a:lnSpc>
                <a:spcPct val="100000"/>
              </a:lnSpc>
              <a:spcBef>
                <a:spcPts val="280"/>
              </a:spcBef>
              <a:spcAft>
                <a:spcPts val="0"/>
              </a:spcAft>
              <a:buClrTx/>
              <a:buSzTx/>
              <a:buFont typeface="Arial MT"/>
              <a:buChar char="•"/>
              <a:tabLst>
                <a:tab pos="728980" algn="l"/>
                <a:tab pos="72961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お互いの性別・国籍・</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職</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階・</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職</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種に</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よ</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って</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牽</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制し</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合</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わな</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い</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状態</a:t>
            </a:r>
          </a:p>
          <a:p>
            <a:pPr marL="374015" marR="0" lvl="0" indent="-361950" algn="l" defTabSz="914400" rtl="0" eaLnBrk="1" fontAlgn="auto" latinLnBrk="0" hangingPunct="1">
              <a:lnSpc>
                <a:spcPct val="100000"/>
              </a:lnSpc>
              <a:spcBef>
                <a:spcPts val="690"/>
              </a:spcBef>
              <a:spcAft>
                <a:spcPts val="0"/>
              </a:spcAft>
              <a:buClrTx/>
              <a:buSzTx/>
              <a:buFontTx/>
              <a:buAutoNum type="arabicPeriod"/>
              <a:tabLst>
                <a:tab pos="374015" algn="l"/>
                <a:tab pos="374650" algn="l"/>
              </a:tabLst>
              <a:defRPr/>
            </a:pP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2</a:t>
            </a:r>
            <a:r>
              <a:rPr kumimoji="0" lang="ja-JP" altLang="en-US" sz="2400" b="0" i="0" u="none" strike="noStrike" kern="1200" cap="none" spc="-50"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によって自分を</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否定されな</a:t>
            </a:r>
            <a:r>
              <a:rPr kumimoji="0" lang="ja-JP" altLang="en-US" sz="2400" b="1" i="0" u="none" strike="noStrike" kern="1200" cap="none" spc="-10" normalizeH="0" baseline="0" noProof="0" dirty="0">
                <a:ln>
                  <a:noFill/>
                </a:ln>
                <a:solidFill>
                  <a:prstClr val="black"/>
                </a:solidFill>
                <a:effectLst/>
                <a:uLnTx/>
                <a:uFillTx/>
                <a:latin typeface="Yu Gothic"/>
                <a:ea typeface="+mn-ea"/>
                <a:cs typeface="Yu Gothic"/>
              </a:rPr>
              <a:t>い</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こと。</a:t>
            </a:r>
          </a:p>
          <a:p>
            <a:pPr marL="728980" marR="98425" lvl="1" indent="-259079" algn="l" defTabSz="914400" rtl="0" eaLnBrk="1" fontAlgn="auto" latinLnBrk="0" hangingPunct="1">
              <a:lnSpc>
                <a:spcPts val="2160"/>
              </a:lnSpc>
              <a:spcBef>
                <a:spcPts val="555"/>
              </a:spcBef>
              <a:spcAft>
                <a:spcPts val="0"/>
              </a:spcAft>
              <a:buClrTx/>
              <a:buSzTx/>
              <a:buFont typeface="Arial MT"/>
              <a:buChar char="•"/>
              <a:tabLst>
                <a:tab pos="728980" algn="l"/>
                <a:tab pos="72961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意見・感情の素直な表</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現</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・共</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有</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と人</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間</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性の</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評</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価は</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別</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次元</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で</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ある</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と</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いう</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合</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意形</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成</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がさ れた状態</a:t>
            </a:r>
          </a:p>
          <a:p>
            <a:pPr marL="1177290" marR="0" lvl="2" indent="-250190" algn="l" defTabSz="914400" rtl="0" eaLnBrk="1" fontAlgn="auto" latinLnBrk="0" hangingPunct="1">
              <a:lnSpc>
                <a:spcPct val="100000"/>
              </a:lnSpc>
              <a:spcBef>
                <a:spcPts val="310"/>
              </a:spcBef>
              <a:spcAft>
                <a:spcPts val="0"/>
              </a:spcAft>
              <a:buClrTx/>
              <a:buSzTx/>
              <a:buFont typeface="Arial MT"/>
              <a:buChar char="•"/>
              <a:tabLst>
                <a:tab pos="1176655" algn="l"/>
                <a:tab pos="1177290" algn="l"/>
              </a:tabLst>
              <a:defRPr/>
            </a:pPr>
            <a:r>
              <a:rPr kumimoji="0" lang="ja-JP" altLang="en-US" sz="1600" b="1" i="0" u="none" strike="noStrike" kern="1200" cap="none" spc="-5" normalizeH="0" baseline="0" noProof="0" dirty="0">
                <a:ln>
                  <a:noFill/>
                </a:ln>
                <a:solidFill>
                  <a:prstClr val="black"/>
                </a:solidFill>
                <a:effectLst/>
                <a:uLnTx/>
                <a:uFillTx/>
                <a:latin typeface="Yu Gothic"/>
                <a:ea typeface="+mn-ea"/>
                <a:cs typeface="Yu Gothic"/>
              </a:rPr>
              <a:t>意見や感情が異なるからといって</a:t>
            </a:r>
            <a:r>
              <a:rPr kumimoji="0" lang="ja-JP" altLang="en-US" sz="1600" b="1" i="0" u="none" strike="noStrike" kern="1200" cap="none" spc="5" normalizeH="0" baseline="0" noProof="0" dirty="0">
                <a:ln>
                  <a:noFill/>
                </a:ln>
                <a:solidFill>
                  <a:prstClr val="black"/>
                </a:solidFill>
                <a:effectLst/>
                <a:uLnTx/>
                <a:uFillTx/>
                <a:latin typeface="Yu Gothic"/>
                <a:ea typeface="+mn-ea"/>
                <a:cs typeface="Yu Gothic"/>
              </a:rPr>
              <a:t>人</a:t>
            </a:r>
            <a:r>
              <a:rPr kumimoji="0" lang="ja-JP" altLang="en-US" sz="1600" b="1" i="0" u="none" strike="noStrike" kern="1200" cap="none" spc="-5" normalizeH="0" baseline="0" noProof="0" dirty="0">
                <a:ln>
                  <a:noFill/>
                </a:ln>
                <a:solidFill>
                  <a:prstClr val="black"/>
                </a:solidFill>
                <a:effectLst/>
                <a:uLnTx/>
                <a:uFillTx/>
                <a:latin typeface="Yu Gothic"/>
                <a:ea typeface="+mn-ea"/>
                <a:cs typeface="Yu Gothic"/>
              </a:rPr>
              <a:t>間性</a:t>
            </a:r>
            <a:r>
              <a:rPr kumimoji="0" lang="ja-JP" altLang="en-US" sz="1600" b="1" i="0" u="none" strike="noStrike" kern="1200" cap="none" spc="5" normalizeH="0" baseline="0" noProof="0" dirty="0">
                <a:ln>
                  <a:noFill/>
                </a:ln>
                <a:solidFill>
                  <a:prstClr val="black"/>
                </a:solidFill>
                <a:effectLst/>
                <a:uLnTx/>
                <a:uFillTx/>
                <a:latin typeface="Yu Gothic"/>
                <a:ea typeface="+mn-ea"/>
                <a:cs typeface="Yu Gothic"/>
              </a:rPr>
              <a:t>を</a:t>
            </a:r>
            <a:r>
              <a:rPr kumimoji="0" lang="ja-JP" altLang="en-US" sz="1600" b="1" i="0" u="none" strike="noStrike" kern="1200" cap="none" spc="-5" normalizeH="0" baseline="0" noProof="0" dirty="0">
                <a:ln>
                  <a:noFill/>
                </a:ln>
                <a:solidFill>
                  <a:prstClr val="black"/>
                </a:solidFill>
                <a:effectLst/>
                <a:uLnTx/>
                <a:uFillTx/>
                <a:latin typeface="Yu Gothic"/>
                <a:ea typeface="+mn-ea"/>
                <a:cs typeface="Yu Gothic"/>
              </a:rPr>
              <a:t>攻撃</a:t>
            </a:r>
            <a:r>
              <a:rPr kumimoji="0" lang="ja-JP" altLang="en-US" sz="1600" b="1" i="0" u="none" strike="noStrike" kern="1200" cap="none" spc="5" normalizeH="0" baseline="0" noProof="0" dirty="0">
                <a:ln>
                  <a:noFill/>
                </a:ln>
                <a:solidFill>
                  <a:prstClr val="black"/>
                </a:solidFill>
                <a:effectLst/>
                <a:uLnTx/>
                <a:uFillTx/>
                <a:latin typeface="Yu Gothic"/>
                <a:ea typeface="+mn-ea"/>
                <a:cs typeface="Yu Gothic"/>
              </a:rPr>
              <a:t>し</a:t>
            </a:r>
            <a:r>
              <a:rPr kumimoji="0" lang="ja-JP" altLang="en-US" sz="1600" b="1" i="0" u="none" strike="noStrike" kern="1200" cap="none" spc="-5" normalizeH="0" baseline="0" noProof="0" dirty="0">
                <a:ln>
                  <a:noFill/>
                </a:ln>
                <a:solidFill>
                  <a:prstClr val="black"/>
                </a:solidFill>
                <a:effectLst/>
                <a:uLnTx/>
                <a:uFillTx/>
                <a:latin typeface="Yu Gothic"/>
                <a:ea typeface="+mn-ea"/>
                <a:cs typeface="Yu Gothic"/>
              </a:rPr>
              <a:t>ない！</a:t>
            </a:r>
            <a:endParaRPr kumimoji="0" lang="ja-JP" altLang="en-US" sz="1600" b="0" i="0" u="none" strike="noStrike" kern="1200" cap="none" spc="0" normalizeH="0" baseline="0" noProof="0" dirty="0">
              <a:ln>
                <a:noFill/>
              </a:ln>
              <a:solidFill>
                <a:prstClr val="black"/>
              </a:solidFill>
              <a:effectLst/>
              <a:uLnTx/>
              <a:uFillTx/>
              <a:latin typeface="Yu Gothic"/>
              <a:ea typeface="+mn-ea"/>
              <a:cs typeface="Yu Gothic"/>
            </a:endParaRPr>
          </a:p>
        </p:txBody>
      </p:sp>
    </p:spTree>
    <p:extLst>
      <p:ext uri="{BB962C8B-B14F-4D97-AF65-F5344CB8AC3E}">
        <p14:creationId xmlns:p14="http://schemas.microsoft.com/office/powerpoint/2010/main" val="3698040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5. </a:t>
            </a:r>
            <a:r>
              <a:rPr lang="ja-JP" altLang="en-US" b="1" dirty="0">
                <a:latin typeface="Calibri (Headings)"/>
              </a:rPr>
              <a:t>「心理的安全性」を醸成する方法</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51649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5. </a:t>
            </a:r>
            <a:r>
              <a:rPr lang="ja-JP" altLang="en-US" b="1" dirty="0">
                <a:latin typeface="Calibri (Headings)"/>
              </a:rPr>
              <a:t>「心理的安全性」を醸成する方法</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581FCEBD-6E62-A03A-71ED-E222D7C97D04}"/>
              </a:ext>
            </a:extLst>
          </p:cNvPr>
          <p:cNvSpPr>
            <a:spLocks noGrp="1"/>
          </p:cNvSpPr>
          <p:nvPr>
            <p:ph idx="1"/>
          </p:nvPr>
        </p:nvSpPr>
        <p:spPr>
          <a:xfrm>
            <a:off x="838200" y="1825625"/>
            <a:ext cx="10515600" cy="4351338"/>
          </a:xfrm>
        </p:spPr>
        <p:txBody>
          <a:bodyPr>
            <a:normAutofit/>
          </a:bodyPr>
          <a:lstStyle/>
          <a:p>
            <a:pPr marL="12700" marR="5080" lvl="0" indent="0" algn="l" defTabSz="914400" rtl="0" eaLnBrk="1" fontAlgn="auto" latinLnBrk="0" hangingPunct="1">
              <a:lnSpc>
                <a:spcPts val="2590"/>
              </a:lnSpc>
              <a:spcBef>
                <a:spcPts val="42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とは言え、相手が何者かをある程度知っていないと</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前章の</a:t>
            </a:r>
            <a:r>
              <a:rPr kumimoji="0" lang="en-US" altLang="ja-JP"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3</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大前提条件</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を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守った上で思い切った議論が出来ないのもまた事実だ。</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160020" lvl="0" indent="0" algn="l" defTabSz="914400" rtl="0" eaLnBrk="1" fontAlgn="auto" latinLnBrk="0" hangingPunct="1">
              <a:lnSpc>
                <a:spcPts val="2590"/>
              </a:lnSpc>
              <a:spcBef>
                <a:spcPts val="100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人となりを知るために会食をしたり、雑談をしたり、趣味が合えば一緒に 遊びに出かけるのも「心理的安全性」を醸成する手段となるだろう。</a:t>
            </a:r>
          </a:p>
          <a:p>
            <a:pPr marL="12700" marR="0" lvl="0" indent="0" algn="l" defTabSz="914400" rtl="0" eaLnBrk="1" fontAlgn="auto" latinLnBrk="0" hangingPunct="1">
              <a:lnSpc>
                <a:spcPts val="2735"/>
              </a:lnSpc>
              <a:spcBef>
                <a:spcPts val="685"/>
              </a:spcBef>
              <a:spcAft>
                <a:spcPts val="0"/>
              </a:spcAft>
              <a:buClrTx/>
              <a:buSzTx/>
              <a:buFontTx/>
              <a:buNone/>
              <a:tabLst/>
              <a:defRPr/>
            </a:pP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いずれにしろ、話題が何であ</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れ</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相手が何者であるかの理解はコミュニケー</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735"/>
              </a:lnSpc>
              <a:spcBef>
                <a:spcPts val="0"/>
              </a:spcBef>
              <a:spcAft>
                <a:spcPts val="0"/>
              </a:spcAft>
              <a:buClrTx/>
              <a:buSzTx/>
              <a:buFontTx/>
              <a:buNone/>
              <a:tabLst/>
              <a:defRPr/>
            </a:pP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ションの量とある程度正比例す</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る</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ものだと考える。</a:t>
            </a:r>
          </a:p>
          <a:p>
            <a:pPr marL="12700" marR="160655" lvl="0" indent="0" algn="l" defTabSz="914400" rtl="0" eaLnBrk="1" fontAlgn="auto" latinLnBrk="0" hangingPunct="1">
              <a:lnSpc>
                <a:spcPts val="2590"/>
              </a:lnSpc>
              <a:spcBef>
                <a:spcPts val="103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換言すれば、</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コミュニケーション量を最大化させるためにいかに共通の話 題を見つけるかが重</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要</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である。</a:t>
            </a:r>
          </a:p>
          <a:p>
            <a:pPr marL="12700" marR="151130" lvl="0" indent="0" algn="just" defTabSz="914400" rtl="0" eaLnBrk="1" fontAlgn="auto" latinLnBrk="0" hangingPunct="1">
              <a:lnSpc>
                <a:spcPts val="2590"/>
              </a:lnSpc>
              <a:spcBef>
                <a:spcPts val="1005"/>
              </a:spcBef>
              <a:spcAft>
                <a:spcPts val="0"/>
              </a:spcAft>
              <a:buClrTx/>
              <a:buSzTx/>
              <a:buFontTx/>
              <a:buNone/>
              <a:tabLst/>
              <a:defRPr/>
            </a:pP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1</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対</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1</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であればそこまで苦労はないが、</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チームやプロジェクトなど関わる人 間が多くなるほど関心の共通項はそれに反比例して減</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る</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のが組織という文 脈では大きなジレンマとなる。</a:t>
            </a:r>
          </a:p>
        </p:txBody>
      </p:sp>
    </p:spTree>
    <p:extLst>
      <p:ext uri="{BB962C8B-B14F-4D97-AF65-F5344CB8AC3E}">
        <p14:creationId xmlns:p14="http://schemas.microsoft.com/office/powerpoint/2010/main" val="3787677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5. </a:t>
            </a:r>
            <a:r>
              <a:rPr lang="ja-JP" altLang="en-US" b="1" dirty="0">
                <a:latin typeface="Calibri (Headings)"/>
              </a:rPr>
              <a:t>「心理的安全性」を醸成する方法</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581FCEBD-6E62-A03A-71ED-E222D7C97D04}"/>
              </a:ext>
            </a:extLst>
          </p:cNvPr>
          <p:cNvSpPr>
            <a:spLocks noGrp="1"/>
          </p:cNvSpPr>
          <p:nvPr>
            <p:ph idx="1"/>
          </p:nvPr>
        </p:nvSpPr>
        <p:spPr>
          <a:xfrm>
            <a:off x="838200" y="1825625"/>
            <a:ext cx="10515600" cy="4351338"/>
          </a:xfrm>
        </p:spPr>
        <p:txBody>
          <a:bodyPr>
            <a:normAutofit/>
          </a:bodyPr>
          <a:lstStyle/>
          <a:p>
            <a:pPr marL="12700" marR="5715" lvl="0" indent="0" algn="l" defTabSz="914400" rtl="0" eaLnBrk="1" fontAlgn="auto" latinLnBrk="0" hangingPunct="1">
              <a:lnSpc>
                <a:spcPts val="2300"/>
              </a:lnSpc>
              <a:spcBef>
                <a:spcPts val="66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職場とは、</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生まれも育ちも全く異なるバックグラウンドを持つ人間が、例 </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 </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えば以下のような共通の業務的関心事をもとに集っ</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た</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コミュニティである。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0" marR="0" lvl="0" indent="0" algn="l" defTabSz="914400" rtl="0" eaLnBrk="1" fontAlgn="auto" latinLnBrk="0" hangingPunct="1">
              <a:lnSpc>
                <a:spcPct val="100000"/>
              </a:lnSpc>
              <a:spcBef>
                <a:spcPts val="70"/>
              </a:spcBef>
              <a:spcAft>
                <a:spcPts val="0"/>
              </a:spcAft>
              <a:buClrTx/>
              <a:buSzTx/>
              <a:buFontTx/>
              <a:buNone/>
              <a:tabLst/>
              <a:defRPr/>
            </a:pPr>
            <a:endParaRPr kumimoji="0" lang="ja-JP" altLang="en-US" sz="195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ct val="100000"/>
              </a:lnSpc>
              <a:spcBef>
                <a:spcPts val="0"/>
              </a:spcBef>
              <a:spcAft>
                <a:spcPts val="0"/>
              </a:spcAft>
              <a:buClrTx/>
              <a:buSzTx/>
              <a:buFont typeface="Arial MT"/>
              <a:buChar char="•"/>
              <a:tabLst>
                <a:tab pos="282575" algn="l"/>
                <a:tab pos="28321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特定のプログラミング言語で開発をしたい</a:t>
            </a:r>
          </a:p>
          <a:p>
            <a:pPr marL="282575" marR="0" lvl="0" indent="-270510" algn="l" defTabSz="914400" rtl="0" eaLnBrk="1" fontAlgn="auto" latinLnBrk="0" hangingPunct="1">
              <a:lnSpc>
                <a:spcPct val="100000"/>
              </a:lnSpc>
              <a:spcBef>
                <a:spcPts val="420"/>
              </a:spcBef>
              <a:spcAft>
                <a:spcPts val="0"/>
              </a:spcAft>
              <a:buClrTx/>
              <a:buSzTx/>
              <a:buFont typeface="Arial MT"/>
              <a:buChar char="•"/>
              <a:tabLst>
                <a:tab pos="282575" algn="l"/>
                <a:tab pos="283210" algn="l"/>
              </a:tabLst>
              <a:defRPr/>
            </a:pP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特定のサービスに携わりたい</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282575" marR="41275" lvl="0" indent="-270510" algn="l" defTabSz="914400" rtl="0" eaLnBrk="1" fontAlgn="auto" latinLnBrk="0" hangingPunct="1">
              <a:lnSpc>
                <a:spcPts val="2300"/>
              </a:lnSpc>
              <a:spcBef>
                <a:spcPts val="980"/>
              </a:spcBef>
              <a:spcAft>
                <a:spcPts val="0"/>
              </a:spcAft>
              <a:buClrTx/>
              <a:buSzTx/>
              <a:buFont typeface="Arial MT"/>
              <a:buChar char="•"/>
              <a:tabLst>
                <a:tab pos="282575" algn="l"/>
                <a:tab pos="28321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内製開発の要件定義から設計・実装・リリース・運用保守まで一気通貫に 携わりたい</a:t>
            </a:r>
          </a:p>
          <a:p>
            <a:pPr marL="0" marR="0" lvl="0" indent="0" algn="l" defTabSz="914400" rtl="0" eaLnBrk="1" fontAlgn="auto" latinLnBrk="0" hangingPunct="1">
              <a:lnSpc>
                <a:spcPct val="100000"/>
              </a:lnSpc>
              <a:spcBef>
                <a:spcPts val="65"/>
              </a:spcBef>
              <a:spcAft>
                <a:spcPts val="0"/>
              </a:spcAft>
              <a:buClrTx/>
              <a:buSzTx/>
              <a:buFontTx/>
              <a:buNone/>
              <a:tabLst/>
              <a:defRPr/>
            </a:pPr>
            <a:endParaRPr kumimoji="0" lang="ja-JP" altLang="en-US" sz="195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ct val="100000"/>
              </a:lnSpc>
              <a:spcBef>
                <a:spcPts val="5"/>
              </a:spcBef>
              <a:spcAft>
                <a:spcPts val="0"/>
              </a:spcAft>
              <a:buClrTx/>
              <a:buSzTx/>
              <a:buFontTx/>
              <a:buNone/>
              <a:tabLst/>
              <a:defRPr/>
            </a:pP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そう考えると、</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共通の話題はむしろ仕事の話の中にこそある可能性が高</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い</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a:t>
            </a:r>
          </a:p>
          <a:p>
            <a:pPr marL="12700" marR="311150" lvl="0" indent="0" algn="l" defTabSz="914400" rtl="0" eaLnBrk="1" fontAlgn="auto" latinLnBrk="0" hangingPunct="1">
              <a:lnSpc>
                <a:spcPts val="2300"/>
              </a:lnSpc>
              <a:spcBef>
                <a:spcPts val="98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基本的に趣味の観点で波長が合うことは稀で、もし合う人がいたら超ラッ キーくらいのスタンスが丁度良い。</a:t>
            </a:r>
          </a:p>
        </p:txBody>
      </p:sp>
    </p:spTree>
    <p:extLst>
      <p:ext uri="{BB962C8B-B14F-4D97-AF65-F5344CB8AC3E}">
        <p14:creationId xmlns:p14="http://schemas.microsoft.com/office/powerpoint/2010/main" val="1204090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6. </a:t>
            </a:r>
            <a:r>
              <a:rPr lang="ja-JP" altLang="en-US" b="1" dirty="0">
                <a:latin typeface="Calibri (Headings)"/>
              </a:rPr>
              <a:t>「雑談会」開催の妥当性</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82446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6. </a:t>
            </a:r>
            <a:r>
              <a:rPr lang="ja-JP" altLang="en-US" b="1" dirty="0">
                <a:latin typeface="Calibri (Headings)"/>
              </a:rPr>
              <a:t>「雑談会」開催の妥当性</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581FCEBD-6E62-A03A-71ED-E222D7C97D04}"/>
              </a:ext>
            </a:extLst>
          </p:cNvPr>
          <p:cNvSpPr>
            <a:spLocks noGrp="1"/>
          </p:cNvSpPr>
          <p:nvPr>
            <p:ph idx="1"/>
          </p:nvPr>
        </p:nvSpPr>
        <p:spPr>
          <a:xfrm>
            <a:off x="838200" y="1825625"/>
            <a:ext cx="10515600" cy="4351338"/>
          </a:xfrm>
        </p:spPr>
        <p:txBody>
          <a:bodyPr>
            <a:normAutofit/>
          </a:bodyPr>
          <a:lstStyle/>
          <a:p>
            <a:pPr marL="12700" marR="60960" lvl="0" indent="0" algn="l" defTabSz="914400" rtl="0" eaLnBrk="1" fontAlgn="auto" latinLnBrk="0" hangingPunct="1">
              <a:lnSpc>
                <a:spcPts val="2300"/>
              </a:lnSpc>
              <a:spcBef>
                <a:spcPts val="660"/>
              </a:spcBef>
              <a:spcAft>
                <a:spcPts val="0"/>
              </a:spcAft>
              <a:buClrTx/>
              <a:buSzTx/>
              <a:buFontTx/>
              <a:buNone/>
              <a:tabLst/>
              <a:defRPr/>
            </a:pP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冒頭で軽く触れた「雑談会」に対して抱いていた疑念やストレ</a:t>
            </a:r>
            <a:r>
              <a:rPr kumimoji="0" lang="ja-JP" altLang="en-US" sz="2400" b="0" i="0" u="heavy" strike="noStrike" kern="1200" cap="none" spc="10" normalizeH="0" baseline="0" noProof="0" dirty="0">
                <a:ln>
                  <a:noFill/>
                </a:ln>
                <a:solidFill>
                  <a:srgbClr val="0462C1"/>
                </a:solidFill>
                <a:effectLst/>
                <a:uLnTx/>
                <a:uFill>
                  <a:solidFill>
                    <a:srgbClr val="0462C1"/>
                  </a:solidFill>
                </a:uFill>
                <a:latin typeface="Yu Gothic"/>
                <a:ea typeface="+mn-ea"/>
                <a:cs typeface="Yu Gothic"/>
                <a:hlinkClick r:id="rId3"/>
              </a:rPr>
              <a:t>ス</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を分析す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ると、以下の</a:t>
            </a:r>
            <a:r>
              <a:rPr kumimoji="0" lang="en-US" altLang="ja-JP" sz="2400" b="0" i="0" u="none" strike="noStrike" kern="1200" cap="none" spc="-10" normalizeH="0" baseline="0" noProof="0" dirty="0">
                <a:ln>
                  <a:noFill/>
                </a:ln>
                <a:solidFill>
                  <a:prstClr val="black"/>
                </a:solidFill>
                <a:effectLst/>
                <a:uLnTx/>
                <a:uFillTx/>
                <a:latin typeface="Calibri"/>
                <a:ea typeface="+mn-ea"/>
                <a:cs typeface="Calibri"/>
              </a:rPr>
              <a:t>3</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つの理由があった。</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0" marR="0" lvl="0" indent="0" algn="l" defTabSz="914400" rtl="0" eaLnBrk="1" fontAlgn="auto" latinLnBrk="0" hangingPunct="1">
              <a:lnSpc>
                <a:spcPct val="100000"/>
              </a:lnSpc>
              <a:spcBef>
                <a:spcPts val="75"/>
              </a:spcBef>
              <a:spcAft>
                <a:spcPts val="0"/>
              </a:spcAft>
              <a:buClrTx/>
              <a:buSzTx/>
              <a:buFontTx/>
              <a:buNone/>
              <a:tabLst/>
              <a:defRPr/>
            </a:pPr>
            <a:endParaRPr kumimoji="0" lang="ja-JP" altLang="en-US" sz="2250" b="0" i="0" u="none" strike="noStrike" kern="1200" cap="none" spc="0" normalizeH="0" baseline="0" noProof="0" dirty="0">
              <a:ln>
                <a:noFill/>
              </a:ln>
              <a:solidFill>
                <a:prstClr val="black"/>
              </a:solidFill>
              <a:effectLst/>
              <a:uLnTx/>
              <a:uFillTx/>
              <a:latin typeface="Yu Gothic"/>
              <a:ea typeface="+mn-ea"/>
              <a:cs typeface="Yu Gothic"/>
            </a:endParaRPr>
          </a:p>
          <a:p>
            <a:pPr marL="374015" marR="5080" lvl="0" indent="-361950" algn="just" defTabSz="914400" rtl="0" eaLnBrk="1" fontAlgn="auto" latinLnBrk="0" hangingPunct="1">
              <a:lnSpc>
                <a:spcPct val="80000"/>
              </a:lnSpc>
              <a:spcBef>
                <a:spcPts val="0"/>
              </a:spcBef>
              <a:spcAft>
                <a:spcPts val="0"/>
              </a:spcAft>
              <a:buClrTx/>
              <a:buSzTx/>
              <a:buFont typeface="Calibri"/>
              <a:buAutoNum type="arabicPeriod"/>
              <a:tabLst>
                <a:tab pos="37465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「雑談会」なのだから話題は業務関係の話でも何でも良いはずなのに、 業務外の話を話すことに意識が傾きすぎ</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て</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小さな共通項の話題が俎上に </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上がりがち</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であった。</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374015" marR="5715" lvl="0" indent="-361950" algn="just" defTabSz="914400" rtl="0" eaLnBrk="1" fontAlgn="auto" latinLnBrk="0" hangingPunct="1">
              <a:lnSpc>
                <a:spcPts val="2300"/>
              </a:lnSpc>
              <a:spcBef>
                <a:spcPts val="985"/>
              </a:spcBef>
              <a:spcAft>
                <a:spcPts val="0"/>
              </a:spcAft>
              <a:buClrTx/>
              <a:buSzTx/>
              <a:buFont typeface="Calibri"/>
              <a:buAutoNum type="arabicPeriod"/>
              <a:tabLst>
                <a:tab pos="37465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その小さな共通項の話題に関心を持てるメンバーとそうでないメンバー の間に、</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発言機会の分配に偏りが生じてい</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た</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a:t>
            </a:r>
          </a:p>
          <a:p>
            <a:pPr marL="374015" marR="5080" lvl="0" indent="-361950" algn="just" defTabSz="914400" rtl="0" eaLnBrk="1" fontAlgn="auto" latinLnBrk="0" hangingPunct="1">
              <a:lnSpc>
                <a:spcPct val="80000"/>
              </a:lnSpc>
              <a:spcBef>
                <a:spcPts val="1019"/>
              </a:spcBef>
              <a:spcAft>
                <a:spcPts val="0"/>
              </a:spcAft>
              <a:buClrTx/>
              <a:buSzTx/>
              <a:buFont typeface="Calibri"/>
              <a:buAutoNum type="arabicPeriod"/>
              <a:tabLst>
                <a:tab pos="37465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結果、</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コミュニケーション量が最大化されないことでアイスブレーキン グに繋がらず、むしろ沈黙による重い空気が流れることにストレスを感 じ、本来の目的であるはずのチームビルディングとは逆行してい</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る</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よう に感じていた。</a:t>
            </a:r>
          </a:p>
        </p:txBody>
      </p:sp>
    </p:spTree>
    <p:extLst>
      <p:ext uri="{BB962C8B-B14F-4D97-AF65-F5344CB8AC3E}">
        <p14:creationId xmlns:p14="http://schemas.microsoft.com/office/powerpoint/2010/main" val="19071971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6. </a:t>
            </a:r>
            <a:r>
              <a:rPr lang="ja-JP" altLang="en-US" b="1" dirty="0">
                <a:latin typeface="Calibri (Headings)"/>
              </a:rPr>
              <a:t>「雑談会」開催の妥当性</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581FCEBD-6E62-A03A-71ED-E222D7C97D04}"/>
              </a:ext>
            </a:extLst>
          </p:cNvPr>
          <p:cNvSpPr>
            <a:spLocks noGrp="1"/>
          </p:cNvSpPr>
          <p:nvPr>
            <p:ph idx="1"/>
          </p:nvPr>
        </p:nvSpPr>
        <p:spPr>
          <a:xfrm>
            <a:off x="838200" y="1825625"/>
            <a:ext cx="10515600" cy="4351338"/>
          </a:xfrm>
        </p:spPr>
        <p:txBody>
          <a:bodyPr>
            <a:normAutofit/>
          </a:bodyPr>
          <a:lstStyle/>
          <a:p>
            <a:pPr marL="12700" marR="5080" lvl="0" indent="0" algn="l" defTabSz="914400" rtl="0" eaLnBrk="1" fontAlgn="auto" latinLnBrk="0" hangingPunct="1">
              <a:lnSpc>
                <a:spcPct val="70000"/>
              </a:lnSpc>
              <a:spcBef>
                <a:spcPts val="715"/>
              </a:spcBef>
              <a:spcAft>
                <a:spcPts val="0"/>
              </a:spcAft>
              <a:buClrTx/>
              <a:buSzTx/>
              <a:buFontTx/>
              <a:buNone/>
              <a:tabLst/>
              <a:defRPr/>
            </a:pP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雑談会の話題はその名</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の</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如く</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話</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題は</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何</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でも</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良</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く、</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重</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要な</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の</a:t>
            </a:r>
            <a:r>
              <a:rPr kumimoji="0" lang="ja-JP" altLang="en-US" sz="1700" b="0" i="0" u="none" strike="noStrike" kern="1200" cap="none" spc="5" normalizeH="0" baseline="0" noProof="0" dirty="0">
                <a:ln>
                  <a:noFill/>
                </a:ln>
                <a:solidFill>
                  <a:prstClr val="black"/>
                </a:solidFill>
                <a:effectLst/>
                <a:uLnTx/>
                <a:uFillTx/>
                <a:latin typeface="Yu Gothic"/>
                <a:ea typeface="+mn-ea"/>
                <a:cs typeface="Yu Gothic"/>
              </a:rPr>
              <a:t>は</a:t>
            </a:r>
            <a:r>
              <a:rPr kumimoji="0" lang="ja-JP" altLang="en-US" sz="1700" b="1" i="0" u="none" strike="noStrike" kern="1200" cap="none" spc="0" normalizeH="0" baseline="0" noProof="0" dirty="0">
                <a:ln>
                  <a:noFill/>
                </a:ln>
                <a:solidFill>
                  <a:prstClr val="black"/>
                </a:solidFill>
                <a:effectLst/>
                <a:uLnTx/>
                <a:uFillTx/>
                <a:latin typeface="Yu Gothic"/>
                <a:ea typeface="+mn-ea"/>
                <a:cs typeface="Yu Gothic"/>
              </a:rPr>
              <a:t>関</a:t>
            </a:r>
            <a:r>
              <a:rPr kumimoji="0" lang="ja-JP" altLang="en-US" sz="1700" b="1" i="0" u="none" strike="noStrike" kern="1200" cap="none" spc="-15" normalizeH="0" baseline="0" noProof="0" dirty="0">
                <a:ln>
                  <a:noFill/>
                </a:ln>
                <a:solidFill>
                  <a:prstClr val="black"/>
                </a:solidFill>
                <a:effectLst/>
                <a:uLnTx/>
                <a:uFillTx/>
                <a:latin typeface="Yu Gothic"/>
                <a:ea typeface="+mn-ea"/>
                <a:cs typeface="Yu Gothic"/>
              </a:rPr>
              <a:t>心</a:t>
            </a:r>
            <a:r>
              <a:rPr kumimoji="0" lang="ja-JP" altLang="en-US" sz="1700" b="1" i="0" u="none" strike="noStrike" kern="1200" cap="none" spc="0" normalizeH="0" baseline="0" noProof="0" dirty="0">
                <a:ln>
                  <a:noFill/>
                </a:ln>
                <a:solidFill>
                  <a:prstClr val="black"/>
                </a:solidFill>
                <a:effectLst/>
                <a:uLnTx/>
                <a:uFillTx/>
                <a:latin typeface="Yu Gothic"/>
                <a:ea typeface="+mn-ea"/>
                <a:cs typeface="Yu Gothic"/>
              </a:rPr>
              <a:t>の共</a:t>
            </a:r>
            <a:r>
              <a:rPr kumimoji="0" lang="ja-JP" altLang="en-US" sz="1700" b="1" i="0" u="none" strike="noStrike" kern="1200" cap="none" spc="-15" normalizeH="0" baseline="0" noProof="0" dirty="0">
                <a:ln>
                  <a:noFill/>
                </a:ln>
                <a:solidFill>
                  <a:prstClr val="black"/>
                </a:solidFill>
                <a:effectLst/>
                <a:uLnTx/>
                <a:uFillTx/>
                <a:latin typeface="Yu Gothic"/>
                <a:ea typeface="+mn-ea"/>
                <a:cs typeface="Yu Gothic"/>
              </a:rPr>
              <a:t>通</a:t>
            </a:r>
            <a:r>
              <a:rPr kumimoji="0" lang="ja-JP" altLang="en-US" sz="1700" b="1" i="0" u="none" strike="noStrike" kern="1200" cap="none" spc="0" normalizeH="0" baseline="0" noProof="0" dirty="0">
                <a:ln>
                  <a:noFill/>
                </a:ln>
                <a:solidFill>
                  <a:prstClr val="black"/>
                </a:solidFill>
                <a:effectLst/>
                <a:uLnTx/>
                <a:uFillTx/>
                <a:latin typeface="Yu Gothic"/>
                <a:ea typeface="+mn-ea"/>
                <a:cs typeface="Yu Gothic"/>
              </a:rPr>
              <a:t>項が</a:t>
            </a:r>
            <a:r>
              <a:rPr kumimoji="0" lang="ja-JP" altLang="en-US" sz="1700" b="1" i="0" u="none" strike="noStrike" kern="1200" cap="none" spc="-15" normalizeH="0" baseline="0" noProof="0" dirty="0">
                <a:ln>
                  <a:noFill/>
                </a:ln>
                <a:solidFill>
                  <a:prstClr val="black"/>
                </a:solidFill>
                <a:effectLst/>
                <a:uLnTx/>
                <a:uFillTx/>
                <a:latin typeface="Yu Gothic"/>
                <a:ea typeface="+mn-ea"/>
                <a:cs typeface="Yu Gothic"/>
              </a:rPr>
              <a:t>最</a:t>
            </a:r>
            <a:r>
              <a:rPr kumimoji="0" lang="ja-JP" altLang="en-US" sz="1700" b="1" i="0" u="none" strike="noStrike" kern="1200" cap="none" spc="0" normalizeH="0" baseline="0" noProof="0" dirty="0">
                <a:ln>
                  <a:noFill/>
                </a:ln>
                <a:solidFill>
                  <a:prstClr val="black"/>
                </a:solidFill>
                <a:effectLst/>
                <a:uLnTx/>
                <a:uFillTx/>
                <a:latin typeface="Yu Gothic"/>
                <a:ea typeface="+mn-ea"/>
                <a:cs typeface="Yu Gothic"/>
              </a:rPr>
              <a:t>大化</a:t>
            </a:r>
            <a:r>
              <a:rPr kumimoji="0" lang="ja-JP" altLang="en-US" sz="1700" b="1" i="0" u="none" strike="noStrike" kern="1200" cap="none" spc="-15" normalizeH="0" baseline="0" noProof="0" dirty="0">
                <a:ln>
                  <a:noFill/>
                </a:ln>
                <a:solidFill>
                  <a:prstClr val="black"/>
                </a:solidFill>
                <a:effectLst/>
                <a:uLnTx/>
                <a:uFillTx/>
                <a:latin typeface="Yu Gothic"/>
                <a:ea typeface="+mn-ea"/>
                <a:cs typeface="Yu Gothic"/>
              </a:rPr>
              <a:t>す</a:t>
            </a:r>
            <a:r>
              <a:rPr kumimoji="0" lang="ja-JP" altLang="en-US" sz="1700" b="1" i="0" u="none" strike="noStrike" kern="1200" cap="none" spc="0" normalizeH="0" baseline="0" noProof="0" dirty="0">
                <a:ln>
                  <a:noFill/>
                </a:ln>
                <a:solidFill>
                  <a:prstClr val="black"/>
                </a:solidFill>
                <a:effectLst/>
                <a:uLnTx/>
                <a:uFillTx/>
                <a:latin typeface="Yu Gothic"/>
                <a:ea typeface="+mn-ea"/>
                <a:cs typeface="Yu Gothic"/>
              </a:rPr>
              <a:t>る話</a:t>
            </a:r>
            <a:r>
              <a:rPr kumimoji="0" lang="ja-JP" altLang="en-US" sz="1700" b="1" i="0" u="none" strike="noStrike" kern="1200" cap="none" spc="-15" normalizeH="0" baseline="0" noProof="0" dirty="0">
                <a:ln>
                  <a:noFill/>
                </a:ln>
                <a:solidFill>
                  <a:prstClr val="black"/>
                </a:solidFill>
                <a:effectLst/>
                <a:uLnTx/>
                <a:uFillTx/>
                <a:latin typeface="Yu Gothic"/>
                <a:ea typeface="+mn-ea"/>
                <a:cs typeface="Yu Gothic"/>
              </a:rPr>
              <a:t>題</a:t>
            </a:r>
            <a:r>
              <a:rPr kumimoji="0" lang="ja-JP" altLang="en-US" sz="1700" b="1" i="0" u="none" strike="noStrike" kern="1200" cap="none" spc="0" normalizeH="0" baseline="0" noProof="0" dirty="0">
                <a:ln>
                  <a:noFill/>
                </a:ln>
                <a:solidFill>
                  <a:prstClr val="black"/>
                </a:solidFill>
                <a:effectLst/>
                <a:uLnTx/>
                <a:uFillTx/>
                <a:latin typeface="Yu Gothic"/>
                <a:ea typeface="+mn-ea"/>
                <a:cs typeface="Yu Gothic"/>
              </a:rPr>
              <a:t>を設</a:t>
            </a:r>
            <a:r>
              <a:rPr kumimoji="0" lang="ja-JP" altLang="en-US" sz="1700" b="1" i="0" u="none" strike="noStrike" kern="1200" cap="none" spc="-15" normalizeH="0" baseline="0" noProof="0" dirty="0">
                <a:ln>
                  <a:noFill/>
                </a:ln>
                <a:solidFill>
                  <a:prstClr val="black"/>
                </a:solidFill>
                <a:effectLst/>
                <a:uLnTx/>
                <a:uFillTx/>
                <a:latin typeface="Yu Gothic"/>
                <a:ea typeface="+mn-ea"/>
                <a:cs typeface="Yu Gothic"/>
              </a:rPr>
              <a:t>定</a:t>
            </a:r>
            <a:r>
              <a:rPr kumimoji="0" lang="ja-JP" altLang="en-US" sz="1700" b="1" i="0" u="none" strike="noStrike" kern="1200" cap="none" spc="0" normalizeH="0" baseline="0" noProof="0" dirty="0">
                <a:ln>
                  <a:noFill/>
                </a:ln>
                <a:solidFill>
                  <a:prstClr val="black"/>
                </a:solidFill>
                <a:effectLst/>
                <a:uLnTx/>
                <a:uFillTx/>
                <a:latin typeface="Yu Gothic"/>
                <a:ea typeface="+mn-ea"/>
                <a:cs typeface="Yu Gothic"/>
              </a:rPr>
              <a:t>するこ と</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である。</a:t>
            </a:r>
          </a:p>
          <a:p>
            <a:pPr marL="12700" marR="0" lvl="0" indent="0" algn="l" defTabSz="914400" rtl="0" eaLnBrk="1" fontAlgn="auto" latinLnBrk="0" hangingPunct="1">
              <a:lnSpc>
                <a:spcPts val="1735"/>
              </a:lnSpc>
              <a:spcBef>
                <a:spcPts val="395"/>
              </a:spcBef>
              <a:spcAft>
                <a:spcPts val="0"/>
              </a:spcAft>
              <a:buClrTx/>
              <a:buSzTx/>
              <a:buFontTx/>
              <a:buNone/>
              <a:tabLst/>
              <a:defRPr/>
            </a:pP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雑談が得意なチームは</a:t>
            </a:r>
            <a:r>
              <a:rPr kumimoji="0" lang="ja-JP" altLang="en-US" sz="1700" b="0" i="0" u="none" strike="noStrike" kern="1200" cap="none" spc="-10" normalizeH="0" baseline="0" noProof="0" dirty="0">
                <a:ln>
                  <a:noFill/>
                </a:ln>
                <a:solidFill>
                  <a:prstClr val="black"/>
                </a:solidFill>
                <a:effectLst/>
                <a:uLnTx/>
                <a:uFillTx/>
                <a:latin typeface="Yu Gothic"/>
                <a:ea typeface="+mn-ea"/>
                <a:cs typeface="Yu Gothic"/>
              </a:rPr>
              <a:t>業</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務外</a:t>
            </a:r>
            <a:r>
              <a:rPr kumimoji="0" lang="ja-JP" altLang="en-US" sz="1700" b="0" i="0" u="none" strike="noStrike" kern="1200" cap="none" spc="-10" normalizeH="0" baseline="0" noProof="0" dirty="0">
                <a:ln>
                  <a:noFill/>
                </a:ln>
                <a:solidFill>
                  <a:prstClr val="black"/>
                </a:solidFill>
                <a:effectLst/>
                <a:uLnTx/>
                <a:uFillTx/>
                <a:latin typeface="Yu Gothic"/>
                <a:ea typeface="+mn-ea"/>
                <a:cs typeface="Yu Gothic"/>
              </a:rPr>
              <a:t>の</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話を</a:t>
            </a:r>
            <a:r>
              <a:rPr kumimoji="0" lang="ja-JP" altLang="en-US" sz="1700" b="0" i="0" u="none" strike="noStrike" kern="1200" cap="none" spc="-10" normalizeH="0" baseline="0" noProof="0" dirty="0">
                <a:ln>
                  <a:noFill/>
                </a:ln>
                <a:solidFill>
                  <a:prstClr val="black"/>
                </a:solidFill>
                <a:effectLst/>
                <a:uLnTx/>
                <a:uFillTx/>
                <a:latin typeface="Yu Gothic"/>
                <a:ea typeface="+mn-ea"/>
                <a:cs typeface="Yu Gothic"/>
              </a:rPr>
              <a:t>思</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う存</a:t>
            </a:r>
            <a:r>
              <a:rPr kumimoji="0" lang="ja-JP" altLang="en-US" sz="1700" b="0" i="0" u="none" strike="noStrike" kern="1200" cap="none" spc="-10" normalizeH="0" baseline="0" noProof="0" dirty="0">
                <a:ln>
                  <a:noFill/>
                </a:ln>
                <a:solidFill>
                  <a:prstClr val="black"/>
                </a:solidFill>
                <a:effectLst/>
                <a:uLnTx/>
                <a:uFillTx/>
                <a:latin typeface="Yu Gothic"/>
                <a:ea typeface="+mn-ea"/>
                <a:cs typeface="Yu Gothic"/>
              </a:rPr>
              <a:t>分</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すれ</a:t>
            </a:r>
            <a:r>
              <a:rPr kumimoji="0" lang="ja-JP" altLang="en-US" sz="1700" b="0" i="0" u="none" strike="noStrike" kern="1200" cap="none" spc="-10" normalizeH="0" baseline="0" noProof="0" dirty="0">
                <a:ln>
                  <a:noFill/>
                </a:ln>
                <a:solidFill>
                  <a:prstClr val="black"/>
                </a:solidFill>
                <a:effectLst/>
                <a:uLnTx/>
                <a:uFillTx/>
                <a:latin typeface="Yu Gothic"/>
                <a:ea typeface="+mn-ea"/>
                <a:cs typeface="Yu Gothic"/>
              </a:rPr>
              <a:t>ば</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良い</a:t>
            </a:r>
            <a:r>
              <a:rPr kumimoji="0" lang="ja-JP" altLang="en-US" sz="1700" b="0" i="0" u="none" strike="noStrike" kern="1200" cap="none" spc="-10" normalizeH="0" baseline="0" noProof="0" dirty="0">
                <a:ln>
                  <a:noFill/>
                </a:ln>
                <a:solidFill>
                  <a:prstClr val="black"/>
                </a:solidFill>
                <a:effectLst/>
                <a:uLnTx/>
                <a:uFillTx/>
                <a:latin typeface="Yu Gothic"/>
                <a:ea typeface="+mn-ea"/>
                <a:cs typeface="Yu Gothic"/>
              </a:rPr>
              <a:t>し</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、そ</a:t>
            </a:r>
            <a:r>
              <a:rPr kumimoji="0" lang="ja-JP" altLang="en-US" sz="1700" b="0" i="0" u="none" strike="noStrike" kern="1200" cap="none" spc="-10" normalizeH="0" baseline="0" noProof="0" dirty="0">
                <a:ln>
                  <a:noFill/>
                </a:ln>
                <a:solidFill>
                  <a:prstClr val="black"/>
                </a:solidFill>
                <a:effectLst/>
                <a:uLnTx/>
                <a:uFillTx/>
                <a:latin typeface="Yu Gothic"/>
                <a:ea typeface="+mn-ea"/>
                <a:cs typeface="Yu Gothic"/>
              </a:rPr>
              <a:t>う</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でな</a:t>
            </a:r>
            <a:r>
              <a:rPr kumimoji="0" lang="ja-JP" altLang="en-US" sz="1700" b="0" i="0" u="none" strike="noStrike" kern="1200" cap="none" spc="-10" normalizeH="0" baseline="0" noProof="0" dirty="0">
                <a:ln>
                  <a:noFill/>
                </a:ln>
                <a:solidFill>
                  <a:prstClr val="black"/>
                </a:solidFill>
                <a:effectLst/>
                <a:uLnTx/>
                <a:uFillTx/>
                <a:latin typeface="Yu Gothic"/>
                <a:ea typeface="+mn-ea"/>
                <a:cs typeface="Yu Gothic"/>
              </a:rPr>
              <a:t>い</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チー</a:t>
            </a:r>
            <a:r>
              <a:rPr kumimoji="0" lang="ja-JP" altLang="en-US" sz="1700" b="0" i="0" u="none" strike="noStrike" kern="1200" cap="none" spc="-10" normalizeH="0" baseline="0" noProof="0" dirty="0">
                <a:ln>
                  <a:noFill/>
                </a:ln>
                <a:solidFill>
                  <a:prstClr val="black"/>
                </a:solidFill>
                <a:effectLst/>
                <a:uLnTx/>
                <a:uFillTx/>
                <a:latin typeface="Yu Gothic"/>
                <a:ea typeface="+mn-ea"/>
                <a:cs typeface="Yu Gothic"/>
              </a:rPr>
              <a:t>ム</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は以</a:t>
            </a:r>
            <a:r>
              <a:rPr kumimoji="0" lang="ja-JP" altLang="en-US" sz="1700" b="0" i="0" u="none" strike="noStrike" kern="1200" cap="none" spc="-10" normalizeH="0" baseline="0" noProof="0" dirty="0">
                <a:ln>
                  <a:noFill/>
                </a:ln>
                <a:solidFill>
                  <a:prstClr val="black"/>
                </a:solidFill>
                <a:effectLst/>
                <a:uLnTx/>
                <a:uFillTx/>
                <a:latin typeface="Yu Gothic"/>
                <a:ea typeface="+mn-ea"/>
                <a:cs typeface="Yu Gothic"/>
              </a:rPr>
              <a:t>下</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のよ</a:t>
            </a:r>
            <a:r>
              <a:rPr kumimoji="0" lang="ja-JP" altLang="en-US" sz="1700" b="0" i="0" u="none" strike="noStrike" kern="1200" cap="none" spc="-10" normalizeH="0" baseline="0" noProof="0" dirty="0">
                <a:ln>
                  <a:noFill/>
                </a:ln>
                <a:solidFill>
                  <a:prstClr val="black"/>
                </a:solidFill>
                <a:effectLst/>
                <a:uLnTx/>
                <a:uFillTx/>
                <a:latin typeface="Yu Gothic"/>
                <a:ea typeface="+mn-ea"/>
                <a:cs typeface="Yu Gothic"/>
              </a:rPr>
              <a:t>う</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な業</a:t>
            </a:r>
            <a:r>
              <a:rPr kumimoji="0" lang="ja-JP" altLang="en-US" sz="1700" b="0" i="0" u="none" strike="noStrike" kern="1200" cap="none" spc="-10" normalizeH="0" baseline="0" noProof="0" dirty="0">
                <a:ln>
                  <a:noFill/>
                </a:ln>
                <a:solidFill>
                  <a:prstClr val="black"/>
                </a:solidFill>
                <a:effectLst/>
                <a:uLnTx/>
                <a:uFillTx/>
                <a:latin typeface="Yu Gothic"/>
                <a:ea typeface="+mn-ea"/>
                <a:cs typeface="Yu Gothic"/>
              </a:rPr>
              <a:t>務</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に関連</a:t>
            </a:r>
          </a:p>
          <a:p>
            <a:pPr marL="12700" marR="0" lvl="0" indent="0" algn="l" defTabSz="914400" rtl="0" eaLnBrk="1" fontAlgn="auto" latinLnBrk="0" hangingPunct="1">
              <a:lnSpc>
                <a:spcPts val="1735"/>
              </a:lnSpc>
              <a:spcBef>
                <a:spcPts val="0"/>
              </a:spcBef>
              <a:spcAft>
                <a:spcPts val="0"/>
              </a:spcAft>
              <a:buClrTx/>
              <a:buSzTx/>
              <a:buFontTx/>
              <a:buNone/>
              <a:tabLst/>
              <a:defRPr/>
            </a:pP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した話をしても良い。</a:t>
            </a:r>
          </a:p>
          <a:p>
            <a:pPr marL="0" marR="0" lvl="0" indent="0" algn="l" defTabSz="914400" rtl="0" eaLnBrk="1" fontAlgn="auto" latinLnBrk="0" hangingPunct="1">
              <a:lnSpc>
                <a:spcPct val="100000"/>
              </a:lnSpc>
              <a:spcBef>
                <a:spcPts val="65"/>
              </a:spcBef>
              <a:spcAft>
                <a:spcPts val="0"/>
              </a:spcAft>
              <a:buClrTx/>
              <a:buSzTx/>
              <a:buFontTx/>
              <a:buNone/>
              <a:tabLst/>
              <a:defRPr/>
            </a:pPr>
            <a:endParaRPr kumimoji="0" lang="ja-JP" altLang="en-US" sz="1450" b="0" i="0" u="none" strike="noStrike" kern="1200" cap="none" spc="0" normalizeH="0" baseline="0" noProof="0" dirty="0">
              <a:ln>
                <a:noFill/>
              </a:ln>
              <a:solidFill>
                <a:prstClr val="black"/>
              </a:solidFill>
              <a:effectLst/>
              <a:uLnTx/>
              <a:uFillTx/>
              <a:latin typeface="Yu Gothic"/>
              <a:ea typeface="+mn-ea"/>
              <a:cs typeface="Yu Gothic"/>
            </a:endParaRPr>
          </a:p>
          <a:p>
            <a:pPr marL="190500" marR="0" lvl="0" indent="-178435" algn="l" defTabSz="914400" rtl="0" eaLnBrk="1" fontAlgn="auto" latinLnBrk="0" hangingPunct="1">
              <a:lnSpc>
                <a:spcPct val="100000"/>
              </a:lnSpc>
              <a:spcBef>
                <a:spcPts val="0"/>
              </a:spcBef>
              <a:spcAft>
                <a:spcPts val="0"/>
              </a:spcAft>
              <a:buClrTx/>
              <a:buSzTx/>
              <a:buFont typeface="Arial MT"/>
              <a:buChar char="•"/>
              <a:tabLst>
                <a:tab pos="191135" algn="l"/>
              </a:tabLst>
              <a:defRPr/>
            </a:pP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業務</a:t>
            </a:r>
            <a:r>
              <a:rPr kumimoji="0" lang="ja-JP" altLang="en-US" sz="1700" b="0" i="0" u="none" strike="noStrike" kern="1200" cap="none" spc="-105" normalizeH="0" baseline="0" noProof="0" dirty="0">
                <a:ln>
                  <a:noFill/>
                </a:ln>
                <a:solidFill>
                  <a:prstClr val="black"/>
                </a:solidFill>
                <a:effectLst/>
                <a:uLnTx/>
                <a:uFillTx/>
                <a:latin typeface="Yu Gothic"/>
                <a:ea typeface="+mn-ea"/>
                <a:cs typeface="Yu Gothic"/>
              </a:rPr>
              <a:t> </a:t>
            </a:r>
            <a:r>
              <a:rPr kumimoji="0" lang="en-US" altLang="ja-JP" sz="1700" b="0" i="0" u="none" strike="noStrike" kern="1200" cap="none" spc="-5" normalizeH="0" baseline="0" noProof="0" dirty="0">
                <a:ln>
                  <a:noFill/>
                </a:ln>
                <a:solidFill>
                  <a:prstClr val="black"/>
                </a:solidFill>
                <a:effectLst/>
                <a:uLnTx/>
                <a:uFillTx/>
                <a:latin typeface="Calibri"/>
                <a:ea typeface="+mn-ea"/>
                <a:cs typeface="Calibri"/>
              </a:rPr>
              <a:t>Tips</a:t>
            </a:r>
            <a:endParaRPr kumimoji="0" lang="ja-JP" altLang="en-US" sz="1700" b="0" i="0" u="none" strike="noStrike" kern="1200" cap="none" spc="0" normalizeH="0" baseline="0" noProof="0" dirty="0">
              <a:ln>
                <a:noFill/>
              </a:ln>
              <a:solidFill>
                <a:prstClr val="black"/>
              </a:solidFill>
              <a:effectLst/>
              <a:uLnTx/>
              <a:uFillTx/>
              <a:latin typeface="Calibri"/>
              <a:ea typeface="+mn-ea"/>
              <a:cs typeface="Calibri"/>
            </a:endParaRPr>
          </a:p>
          <a:p>
            <a:pPr marL="637540" marR="0" lvl="1" indent="-168275" algn="l" defTabSz="914400" rtl="0" eaLnBrk="1" fontAlgn="auto" latinLnBrk="0" hangingPunct="1">
              <a:lnSpc>
                <a:spcPct val="100000"/>
              </a:lnSpc>
              <a:spcBef>
                <a:spcPts val="0"/>
              </a:spcBef>
              <a:spcAft>
                <a:spcPts val="0"/>
              </a:spcAft>
              <a:buClrTx/>
              <a:buSzTx/>
              <a:buFont typeface="Arial MT"/>
              <a:buChar char="•"/>
              <a:tabLst>
                <a:tab pos="638175" algn="l"/>
              </a:tabLst>
              <a:defRPr/>
            </a:pP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仕事を進める上でして</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い</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る工</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夫</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や業</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務</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効率</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化</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ツー</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ル</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の共</a:t>
            </a:r>
            <a:r>
              <a:rPr kumimoji="0" lang="ja-JP" altLang="en-US" sz="1400" b="0" i="0" u="none" strike="noStrike" kern="1200" cap="none" spc="270" normalizeH="0" baseline="0" noProof="0" dirty="0">
                <a:ln>
                  <a:noFill/>
                </a:ln>
                <a:solidFill>
                  <a:prstClr val="black"/>
                </a:solidFill>
                <a:effectLst/>
                <a:uLnTx/>
                <a:uFillTx/>
                <a:latin typeface="Yu Gothic"/>
                <a:ea typeface="+mn-ea"/>
                <a:cs typeface="Yu Gothic"/>
              </a:rPr>
              <a:t>有</a:t>
            </a:r>
            <a:r>
              <a:rPr kumimoji="0" lang="en-US" altLang="ja-JP" sz="1400" b="0" i="0" u="none" strike="noStrike" kern="1200" cap="none" spc="-10" normalizeH="0" baseline="0" noProof="0" dirty="0">
                <a:ln>
                  <a:noFill/>
                </a:ln>
                <a:solidFill>
                  <a:prstClr val="black"/>
                </a:solidFill>
                <a:effectLst/>
                <a:uLnTx/>
                <a:uFillTx/>
                <a:latin typeface="Calibri"/>
                <a:ea typeface="+mn-ea"/>
                <a:cs typeface="Calibri"/>
              </a:rPr>
              <a:t>etc.</a:t>
            </a:r>
            <a:endParaRPr kumimoji="0" lang="ja-JP" altLang="en-US" sz="1400" b="0" i="0" u="none" strike="noStrike" kern="1200" cap="none" spc="0" normalizeH="0" baseline="0" noProof="0" dirty="0">
              <a:ln>
                <a:noFill/>
              </a:ln>
              <a:solidFill>
                <a:prstClr val="black"/>
              </a:solidFill>
              <a:effectLst/>
              <a:uLnTx/>
              <a:uFillTx/>
              <a:latin typeface="Calibri"/>
              <a:ea typeface="+mn-ea"/>
              <a:cs typeface="Calibri"/>
            </a:endParaRPr>
          </a:p>
          <a:p>
            <a:pPr marL="190500" marR="0" lvl="0" indent="-178435" algn="l" defTabSz="914400" rtl="0" eaLnBrk="1" fontAlgn="auto" latinLnBrk="0" hangingPunct="1">
              <a:lnSpc>
                <a:spcPct val="100000"/>
              </a:lnSpc>
              <a:spcBef>
                <a:spcPts val="385"/>
              </a:spcBef>
              <a:spcAft>
                <a:spcPts val="0"/>
              </a:spcAft>
              <a:buClrTx/>
              <a:buSzTx/>
              <a:buFont typeface="Arial MT"/>
              <a:buChar char="•"/>
              <a:tabLst>
                <a:tab pos="191135" algn="l"/>
              </a:tabLst>
              <a:defRPr/>
            </a:pPr>
            <a:r>
              <a:rPr kumimoji="0" lang="ja-JP" altLang="en-US" sz="1700" b="0" i="0" u="none" strike="noStrike" kern="1200" cap="none" spc="5" normalizeH="0" baseline="0" noProof="0" dirty="0">
                <a:ln>
                  <a:noFill/>
                </a:ln>
                <a:solidFill>
                  <a:prstClr val="black"/>
                </a:solidFill>
                <a:effectLst/>
                <a:uLnTx/>
                <a:uFillTx/>
                <a:latin typeface="Yu Gothic"/>
                <a:ea typeface="+mn-ea"/>
                <a:cs typeface="Yu Gothic"/>
              </a:rPr>
              <a:t>近々</a:t>
            </a:r>
            <a:r>
              <a:rPr kumimoji="0" lang="ja-JP" altLang="en-US" sz="1700" b="0" i="0" u="none" strike="noStrike" kern="1200" cap="none" spc="370" normalizeH="0" baseline="0" noProof="0" dirty="0">
                <a:ln>
                  <a:noFill/>
                </a:ln>
                <a:solidFill>
                  <a:prstClr val="black"/>
                </a:solidFill>
                <a:effectLst/>
                <a:uLnTx/>
                <a:uFillTx/>
                <a:latin typeface="Yu Gothic"/>
                <a:ea typeface="+mn-ea"/>
                <a:cs typeface="Yu Gothic"/>
              </a:rPr>
              <a:t>の</a:t>
            </a:r>
            <a:r>
              <a:rPr kumimoji="0" lang="en-US" altLang="ja-JP" sz="1700" b="0" i="0" u="none" strike="noStrike" kern="1200" cap="none" spc="-5" normalizeH="0" baseline="0" noProof="0" dirty="0">
                <a:ln>
                  <a:noFill/>
                </a:ln>
                <a:solidFill>
                  <a:prstClr val="black"/>
                </a:solidFill>
                <a:effectLst/>
                <a:uLnTx/>
                <a:uFillTx/>
                <a:latin typeface="Calibri"/>
                <a:ea typeface="+mn-ea"/>
                <a:cs typeface="Calibri"/>
              </a:rPr>
              <a:t>PBI</a:t>
            </a:r>
            <a:r>
              <a:rPr kumimoji="0" lang="ja-JP" altLang="en-US" sz="1700" b="0" i="0" u="none" strike="noStrike" kern="1200" cap="none" spc="-85" normalizeH="0" baseline="0" noProof="0" dirty="0">
                <a:ln>
                  <a:noFill/>
                </a:ln>
                <a:solidFill>
                  <a:prstClr val="black"/>
                </a:solidFill>
                <a:effectLst/>
                <a:uLnTx/>
                <a:uFillTx/>
                <a:latin typeface="Calibri"/>
                <a:ea typeface="+mn-ea"/>
                <a:cs typeface="Calibri"/>
              </a:rPr>
              <a:t> </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の頭出し</a:t>
            </a:r>
          </a:p>
          <a:p>
            <a:pPr marL="637540" marR="0" lvl="1" indent="-168275" algn="l" defTabSz="914400" rtl="0" eaLnBrk="1" fontAlgn="auto" latinLnBrk="0" hangingPunct="1">
              <a:lnSpc>
                <a:spcPct val="100000"/>
              </a:lnSpc>
              <a:spcBef>
                <a:spcPts val="0"/>
              </a:spcBef>
              <a:spcAft>
                <a:spcPts val="0"/>
              </a:spcAft>
              <a:buClrTx/>
              <a:buSzTx/>
              <a:buFont typeface="Arial MT"/>
              <a:buChar char="•"/>
              <a:tabLst>
                <a:tab pos="638175" algn="l"/>
              </a:tabLst>
              <a:defRPr/>
            </a:pP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今スプリント取り組ま</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な</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いも</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の</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を中</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心</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に</a:t>
            </a:r>
            <a:r>
              <a:rPr kumimoji="0" lang="ja-JP" altLang="en-US" sz="1400" b="1" i="0" u="none" strike="noStrike" kern="1200" cap="none" spc="0" normalizeH="0" baseline="0" noProof="0" dirty="0">
                <a:ln>
                  <a:noFill/>
                </a:ln>
                <a:solidFill>
                  <a:prstClr val="black"/>
                </a:solidFill>
                <a:effectLst/>
                <a:uLnTx/>
                <a:uFillTx/>
                <a:latin typeface="Yu Gothic"/>
                <a:ea typeface="+mn-ea"/>
                <a:cs typeface="Yu Gothic"/>
              </a:rPr>
              <a:t>カ</a:t>
            </a:r>
            <a:r>
              <a:rPr kumimoji="0" lang="ja-JP" altLang="en-US" sz="1400" b="1" i="0" u="none" strike="noStrike" kern="1200" cap="none" spc="-15" normalizeH="0" baseline="0" noProof="0" dirty="0">
                <a:ln>
                  <a:noFill/>
                </a:ln>
                <a:solidFill>
                  <a:prstClr val="black"/>
                </a:solidFill>
                <a:effectLst/>
                <a:uLnTx/>
                <a:uFillTx/>
                <a:latin typeface="Yu Gothic"/>
                <a:ea typeface="+mn-ea"/>
                <a:cs typeface="Yu Gothic"/>
              </a:rPr>
              <a:t>ジ</a:t>
            </a:r>
            <a:r>
              <a:rPr kumimoji="0" lang="ja-JP" altLang="en-US" sz="1400" b="1" i="0" u="none" strike="noStrike" kern="1200" cap="none" spc="0" normalizeH="0" baseline="0" noProof="0" dirty="0">
                <a:ln>
                  <a:noFill/>
                </a:ln>
                <a:solidFill>
                  <a:prstClr val="black"/>
                </a:solidFill>
                <a:effectLst/>
                <a:uLnTx/>
                <a:uFillTx/>
                <a:latin typeface="Yu Gothic"/>
                <a:ea typeface="+mn-ea"/>
                <a:cs typeface="Yu Gothic"/>
              </a:rPr>
              <a:t>ュア</a:t>
            </a:r>
            <a:r>
              <a:rPr kumimoji="0" lang="ja-JP" altLang="en-US" sz="1400" b="1" i="0" u="none" strike="noStrike" kern="1200" cap="none" spc="-15" normalizeH="0" baseline="0" noProof="0" dirty="0">
                <a:ln>
                  <a:noFill/>
                </a:ln>
                <a:solidFill>
                  <a:prstClr val="black"/>
                </a:solidFill>
                <a:effectLst/>
                <a:uLnTx/>
                <a:uFillTx/>
                <a:latin typeface="Yu Gothic"/>
                <a:ea typeface="+mn-ea"/>
                <a:cs typeface="Yu Gothic"/>
              </a:rPr>
              <a:t>ル</a:t>
            </a:r>
            <a:r>
              <a:rPr kumimoji="0" lang="ja-JP" altLang="en-US" sz="1400" b="1" i="0" u="none" strike="noStrike" kern="1200" cap="none" spc="0" normalizeH="0" baseline="0" noProof="0" dirty="0">
                <a:ln>
                  <a:noFill/>
                </a:ln>
                <a:solidFill>
                  <a:prstClr val="black"/>
                </a:solidFill>
                <a:effectLst/>
                <a:uLnTx/>
                <a:uFillTx/>
                <a:latin typeface="Yu Gothic"/>
                <a:ea typeface="+mn-ea"/>
                <a:cs typeface="Yu Gothic"/>
              </a:rPr>
              <a:t>に</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話す</a:t>
            </a:r>
          </a:p>
          <a:p>
            <a:pPr marL="637540" marR="0" lvl="1" indent="-168275" algn="l" defTabSz="914400" rtl="0" eaLnBrk="1" fontAlgn="auto" latinLnBrk="0" hangingPunct="1">
              <a:lnSpc>
                <a:spcPct val="100000"/>
              </a:lnSpc>
              <a:spcBef>
                <a:spcPts val="0"/>
              </a:spcBef>
              <a:spcAft>
                <a:spcPts val="0"/>
              </a:spcAft>
              <a:buClrTx/>
              <a:buSzTx/>
              <a:buFont typeface="Arial MT"/>
              <a:buChar char="•"/>
              <a:tabLst>
                <a:tab pos="638175" algn="l"/>
              </a:tabLst>
              <a:defRPr/>
            </a:pP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雑談会だからこそ柔ら</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か</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い頭</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で</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議論</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出</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来て</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良</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い発</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想</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が出</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て</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くる</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こ</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とも</a:t>
            </a:r>
          </a:p>
          <a:p>
            <a:pPr marL="190500" marR="0" lvl="0" indent="-178435" algn="l" defTabSz="914400" rtl="0" eaLnBrk="1" fontAlgn="auto" latinLnBrk="0" hangingPunct="1">
              <a:lnSpc>
                <a:spcPct val="100000"/>
              </a:lnSpc>
              <a:spcBef>
                <a:spcPts val="385"/>
              </a:spcBef>
              <a:spcAft>
                <a:spcPts val="0"/>
              </a:spcAft>
              <a:buClrTx/>
              <a:buSzTx/>
              <a:buFont typeface="Arial MT"/>
              <a:buChar char="•"/>
              <a:tabLst>
                <a:tab pos="191135" algn="l"/>
              </a:tabLst>
              <a:defRPr/>
            </a:pP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技術的なニュース</a:t>
            </a:r>
          </a:p>
          <a:p>
            <a:pPr marL="637540" marR="0" lvl="1" indent="-168275" algn="l" defTabSz="914400" rtl="0" eaLnBrk="1" fontAlgn="auto" latinLnBrk="0" hangingPunct="1">
              <a:lnSpc>
                <a:spcPct val="100000"/>
              </a:lnSpc>
              <a:spcBef>
                <a:spcPts val="0"/>
              </a:spcBef>
              <a:spcAft>
                <a:spcPts val="0"/>
              </a:spcAft>
              <a:buClrTx/>
              <a:buSzTx/>
              <a:buFont typeface="Arial MT"/>
              <a:buChar char="•"/>
              <a:tabLst>
                <a:tab pos="638175" algn="l"/>
              </a:tabLst>
              <a:defRPr/>
            </a:pP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使用しているプログラ</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ミ</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ング</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言</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語や</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フ</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レー</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ム</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ワー</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ク</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の新</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着</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情報</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交</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換</a:t>
            </a:r>
          </a:p>
          <a:p>
            <a:pPr marL="190500" marR="0" lvl="0" indent="-178435" algn="l" defTabSz="914400" rtl="0" eaLnBrk="1" fontAlgn="auto" latinLnBrk="0" hangingPunct="1">
              <a:lnSpc>
                <a:spcPct val="100000"/>
              </a:lnSpc>
              <a:spcBef>
                <a:spcPts val="385"/>
              </a:spcBef>
              <a:spcAft>
                <a:spcPts val="0"/>
              </a:spcAft>
              <a:buClrTx/>
              <a:buSzTx/>
              <a:buFont typeface="Arial MT"/>
              <a:buChar char="•"/>
              <a:tabLst>
                <a:tab pos="191135" algn="l"/>
              </a:tabLst>
              <a:defRPr/>
            </a:pPr>
            <a:r>
              <a:rPr kumimoji="0" lang="ja-JP" altLang="en-US" sz="1700" b="0" i="0" u="none" strike="noStrike" kern="1200" cap="none" spc="5" normalizeH="0" baseline="0" noProof="0" dirty="0">
                <a:ln>
                  <a:noFill/>
                </a:ln>
                <a:solidFill>
                  <a:prstClr val="black"/>
                </a:solidFill>
                <a:effectLst/>
                <a:uLnTx/>
                <a:uFillTx/>
                <a:latin typeface="Yu Gothic"/>
                <a:ea typeface="+mn-ea"/>
                <a:cs typeface="Yu Gothic"/>
              </a:rPr>
              <a:t>知見インプットソース</a:t>
            </a:r>
            <a:r>
              <a:rPr kumimoji="0" lang="ja-JP" altLang="en-US" sz="1700" b="0" i="0" u="none" strike="noStrike" kern="1200" cap="none" spc="-10" normalizeH="0" baseline="0" noProof="0" dirty="0">
                <a:ln>
                  <a:noFill/>
                </a:ln>
                <a:solidFill>
                  <a:prstClr val="black"/>
                </a:solidFill>
                <a:effectLst/>
                <a:uLnTx/>
                <a:uFillTx/>
                <a:latin typeface="Yu Gothic"/>
                <a:ea typeface="+mn-ea"/>
                <a:cs typeface="Yu Gothic"/>
              </a:rPr>
              <a:t>の</a:t>
            </a:r>
            <a:r>
              <a:rPr kumimoji="0" lang="ja-JP" altLang="en-US" sz="1700" b="0" i="0" u="none" strike="noStrike" kern="1200" cap="none" spc="5" normalizeH="0" baseline="0" noProof="0" dirty="0">
                <a:ln>
                  <a:noFill/>
                </a:ln>
                <a:solidFill>
                  <a:prstClr val="black"/>
                </a:solidFill>
                <a:effectLst/>
                <a:uLnTx/>
                <a:uFillTx/>
                <a:latin typeface="Yu Gothic"/>
                <a:ea typeface="+mn-ea"/>
                <a:cs typeface="Yu Gothic"/>
              </a:rPr>
              <a:t>共有</a:t>
            </a: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a:p>
            <a:pPr marL="637540" marR="0" lvl="1" indent="-168275" algn="l" defTabSz="914400" rtl="0" eaLnBrk="1" fontAlgn="auto" latinLnBrk="0" hangingPunct="1">
              <a:lnSpc>
                <a:spcPct val="100000"/>
              </a:lnSpc>
              <a:spcBef>
                <a:spcPts val="5"/>
              </a:spcBef>
              <a:spcAft>
                <a:spcPts val="0"/>
              </a:spcAft>
              <a:buClrTx/>
              <a:buSzTx/>
              <a:buFont typeface="Arial MT"/>
              <a:buChar char="•"/>
              <a:tabLst>
                <a:tab pos="638175" algn="l"/>
              </a:tabLst>
              <a:defRPr/>
            </a:pP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日頃見ている技術ブロ</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グ</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や勉</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強</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会な</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ど</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の情</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報</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情報</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交</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換</a:t>
            </a:r>
          </a:p>
          <a:p>
            <a:pPr marL="190500" marR="0" lvl="0" indent="-178435" algn="l" defTabSz="914400" rtl="0" eaLnBrk="1" fontAlgn="auto" latinLnBrk="0" hangingPunct="1">
              <a:lnSpc>
                <a:spcPct val="100000"/>
              </a:lnSpc>
              <a:spcBef>
                <a:spcPts val="380"/>
              </a:spcBef>
              <a:spcAft>
                <a:spcPts val="0"/>
              </a:spcAft>
              <a:buClr>
                <a:srgbClr val="000000"/>
              </a:buClr>
              <a:buSzTx/>
              <a:buFont typeface="Arial MT"/>
              <a:buChar char="•"/>
              <a:tabLst>
                <a:tab pos="191135" algn="l"/>
              </a:tabLst>
              <a:defRPr/>
            </a:pP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スクラム開</a:t>
            </a:r>
            <a:r>
              <a:rPr kumimoji="0" lang="ja-JP" altLang="en-US" sz="1700" b="0" i="0" u="sng" strike="noStrike" kern="1200" cap="none" spc="-10" normalizeH="0" baseline="0" noProof="0" dirty="0">
                <a:ln>
                  <a:noFill/>
                </a:ln>
                <a:solidFill>
                  <a:srgbClr val="0462C1"/>
                </a:solidFill>
                <a:effectLst/>
                <a:uLnTx/>
                <a:uFill>
                  <a:solidFill>
                    <a:srgbClr val="0462C1"/>
                  </a:solidFill>
                </a:uFill>
                <a:latin typeface="Yu Gothic"/>
                <a:ea typeface="+mn-ea"/>
                <a:cs typeface="Yu Gothic"/>
                <a:hlinkClick r:id="rId3"/>
              </a:rPr>
              <a:t>発</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について</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の</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意見</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出</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し</a:t>
            </a:r>
          </a:p>
          <a:p>
            <a:pPr marL="637540" marR="0" lvl="1" indent="-168275" algn="l" defTabSz="914400" rtl="0" eaLnBrk="1" fontAlgn="auto" latinLnBrk="0" hangingPunct="1">
              <a:lnSpc>
                <a:spcPct val="100000"/>
              </a:lnSpc>
              <a:spcBef>
                <a:spcPts val="0"/>
              </a:spcBef>
              <a:spcAft>
                <a:spcPts val="0"/>
              </a:spcAft>
              <a:buClrTx/>
              <a:buSzTx/>
              <a:buFont typeface="Arial MT"/>
              <a:buChar char="•"/>
              <a:tabLst>
                <a:tab pos="638175" algn="l"/>
              </a:tabLst>
              <a:defRPr/>
            </a:pP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スクラムマスター以外</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の</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メン</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バ</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ーの</a:t>
            </a:r>
            <a:r>
              <a:rPr kumimoji="0" lang="ja-JP" altLang="en-US" sz="1400" b="0" i="0" u="none" strike="noStrike" kern="1200" cap="none" spc="-15" normalizeH="0" baseline="0" noProof="0" dirty="0">
                <a:ln>
                  <a:noFill/>
                </a:ln>
                <a:solidFill>
                  <a:prstClr val="black"/>
                </a:solidFill>
                <a:effectLst/>
                <a:uLnTx/>
                <a:uFillTx/>
                <a:latin typeface="Yu Gothic"/>
                <a:ea typeface="+mn-ea"/>
                <a:cs typeface="Yu Gothic"/>
              </a:rPr>
              <a:t>意</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見も</a:t>
            </a:r>
            <a:r>
              <a:rPr kumimoji="0" lang="ja-JP" altLang="en-US" sz="14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3"/>
              </a:rPr>
              <a:t>ス</a:t>
            </a:r>
            <a:r>
              <a:rPr kumimoji="0" lang="ja-JP" altLang="en-US" sz="14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クラ</a:t>
            </a:r>
            <a:r>
              <a:rPr kumimoji="0" lang="ja-JP" altLang="en-US" sz="14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3"/>
              </a:rPr>
              <a:t>ム</a:t>
            </a:r>
            <a:r>
              <a:rPr kumimoji="0" lang="ja-JP" altLang="en-US" sz="14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開発</a:t>
            </a:r>
            <a:r>
              <a:rPr kumimoji="0" lang="ja-JP" altLang="en-US" sz="1400" b="0" i="0" u="none" strike="noStrike" kern="1200" cap="none" spc="-10" normalizeH="0" baseline="0" noProof="0" dirty="0">
                <a:ln>
                  <a:noFill/>
                </a:ln>
                <a:solidFill>
                  <a:prstClr val="black"/>
                </a:solidFill>
                <a:effectLst/>
                <a:uLnTx/>
                <a:uFillTx/>
                <a:latin typeface="Yu Gothic"/>
                <a:ea typeface="+mn-ea"/>
                <a:cs typeface="Yu Gothic"/>
              </a:rPr>
              <a:t>に</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とっ</a:t>
            </a:r>
            <a:r>
              <a:rPr kumimoji="0" lang="ja-JP" altLang="en-US" sz="1400" b="0" i="0" u="none" strike="noStrike" kern="1200" cap="none" spc="-10" normalizeH="0" baseline="0" noProof="0" dirty="0">
                <a:ln>
                  <a:noFill/>
                </a:ln>
                <a:solidFill>
                  <a:prstClr val="black"/>
                </a:solidFill>
                <a:effectLst/>
                <a:uLnTx/>
                <a:uFillTx/>
                <a:latin typeface="Yu Gothic"/>
                <a:ea typeface="+mn-ea"/>
                <a:cs typeface="Yu Gothic"/>
              </a:rPr>
              <a:t>て</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重要</a:t>
            </a:r>
            <a:r>
              <a:rPr kumimoji="0" lang="ja-JP" altLang="en-US" sz="1400" b="0" i="0" u="none" strike="noStrike" kern="1200" cap="none" spc="-10" normalizeH="0" baseline="0" noProof="0" dirty="0">
                <a:ln>
                  <a:noFill/>
                </a:ln>
                <a:solidFill>
                  <a:prstClr val="black"/>
                </a:solidFill>
                <a:effectLst/>
                <a:uLnTx/>
                <a:uFillTx/>
                <a:latin typeface="Yu Gothic"/>
                <a:ea typeface="+mn-ea"/>
                <a:cs typeface="Yu Gothic"/>
              </a:rPr>
              <a:t>で</a:t>
            </a:r>
            <a:r>
              <a:rPr kumimoji="0" lang="ja-JP" altLang="en-US" sz="1400" b="0" i="0" u="none" strike="noStrike" kern="1200" cap="none" spc="0" normalizeH="0" baseline="0" noProof="0" dirty="0">
                <a:ln>
                  <a:noFill/>
                </a:ln>
                <a:solidFill>
                  <a:prstClr val="black"/>
                </a:solidFill>
                <a:effectLst/>
                <a:uLnTx/>
                <a:uFillTx/>
                <a:latin typeface="Yu Gothic"/>
                <a:ea typeface="+mn-ea"/>
                <a:cs typeface="Yu Gothic"/>
              </a:rPr>
              <a:t>ある</a:t>
            </a:r>
          </a:p>
        </p:txBody>
      </p:sp>
    </p:spTree>
    <p:extLst>
      <p:ext uri="{BB962C8B-B14F-4D97-AF65-F5344CB8AC3E}">
        <p14:creationId xmlns:p14="http://schemas.microsoft.com/office/powerpoint/2010/main" val="17220154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6. </a:t>
            </a:r>
            <a:r>
              <a:rPr lang="ja-JP" altLang="en-US" b="1" dirty="0">
                <a:latin typeface="Calibri (Headings)"/>
              </a:rPr>
              <a:t>「雑談会」開催の妥当性</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581FCEBD-6E62-A03A-71ED-E222D7C97D04}"/>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私の所属するチームは以下の特徴を持っていると考えている。</a:t>
            </a:r>
          </a:p>
          <a:p>
            <a:pPr marL="0" marR="0" lvl="0" indent="0" algn="l" defTabSz="914400" rtl="0" eaLnBrk="1" fontAlgn="auto" latinLnBrk="0" hangingPunct="1">
              <a:lnSpc>
                <a:spcPct val="100000"/>
              </a:lnSpc>
              <a:spcBef>
                <a:spcPts val="40"/>
              </a:spcBef>
              <a:spcAft>
                <a:spcPts val="0"/>
              </a:spcAft>
              <a:buClrTx/>
              <a:buSzTx/>
              <a:buFontTx/>
              <a:buNone/>
              <a:tabLst/>
              <a:defRPr/>
            </a:pPr>
            <a:endParaRPr kumimoji="0" lang="ja-JP" altLang="en-US" sz="175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ct val="100000"/>
              </a:lnSpc>
              <a:spcBef>
                <a:spcPts val="0"/>
              </a:spcBef>
              <a:spcAft>
                <a:spcPts val="0"/>
              </a:spcAft>
              <a:buClrTx/>
              <a:buSzTx/>
              <a:buFont typeface="Arial MT"/>
              <a:buChar char="•"/>
              <a:tabLst>
                <a:tab pos="282575" algn="l"/>
                <a:tab pos="28321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真面目なメンバーが多い</a:t>
            </a:r>
          </a:p>
          <a:p>
            <a:pPr marL="282575" marR="0" lvl="0" indent="-270510" algn="l" defTabSz="914400" rtl="0" eaLnBrk="1" fontAlgn="auto" latinLnBrk="0" hangingPunct="1">
              <a:lnSpc>
                <a:spcPct val="100000"/>
              </a:lnSpc>
              <a:spcBef>
                <a:spcPts val="420"/>
              </a:spcBef>
              <a:spcAft>
                <a:spcPts val="0"/>
              </a:spcAft>
              <a:buClrTx/>
              <a:buSzTx/>
              <a:buFont typeface="Arial MT"/>
              <a:buChar char="•"/>
              <a:tabLst>
                <a:tab pos="282575" algn="l"/>
                <a:tab pos="28321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チーム全体としては長時間の雑談が得意ではない</a:t>
            </a:r>
          </a:p>
          <a:p>
            <a:pPr marL="728980" marR="0" lvl="1" indent="-259715" algn="l" defTabSz="914400" rtl="0" eaLnBrk="1" fontAlgn="auto" latinLnBrk="0" hangingPunct="1">
              <a:lnSpc>
                <a:spcPct val="100000"/>
              </a:lnSpc>
              <a:spcBef>
                <a:spcPts val="40"/>
              </a:spcBef>
              <a:spcAft>
                <a:spcPts val="0"/>
              </a:spcAft>
              <a:buClrTx/>
              <a:buSzTx/>
              <a:buFont typeface="Arial MT"/>
              <a:buChar char="•"/>
              <a:tabLst>
                <a:tab pos="728980" algn="l"/>
                <a:tab pos="72961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個人間の雑談は未知数</a:t>
            </a:r>
          </a:p>
          <a:p>
            <a:pPr marL="282575" marR="0" lvl="0" indent="-270510" algn="l" defTabSz="914400" rtl="0" eaLnBrk="1" fontAlgn="auto" latinLnBrk="0" hangingPunct="1">
              <a:lnSpc>
                <a:spcPct val="100000"/>
              </a:lnSpc>
              <a:spcBef>
                <a:spcPts val="405"/>
              </a:spcBef>
              <a:spcAft>
                <a:spcPts val="0"/>
              </a:spcAft>
              <a:buClrTx/>
              <a:buSzTx/>
              <a:buFont typeface="Arial MT"/>
              <a:buChar char="•"/>
              <a:tabLst>
                <a:tab pos="282575" algn="l"/>
                <a:tab pos="28321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抽象度の高い概念や技術的な議論は白熱する</a:t>
            </a:r>
          </a:p>
          <a:p>
            <a:pPr marL="728980" marR="0" lvl="1" indent="-259715" algn="l" defTabSz="914400" rtl="0" eaLnBrk="1" fontAlgn="auto" latinLnBrk="0" hangingPunct="1">
              <a:lnSpc>
                <a:spcPct val="100000"/>
              </a:lnSpc>
              <a:spcBef>
                <a:spcPts val="40"/>
              </a:spcBef>
              <a:spcAft>
                <a:spcPts val="0"/>
              </a:spcAft>
              <a:buClrTx/>
              <a:buSzTx/>
              <a:buFont typeface="Arial MT"/>
              <a:buChar char="•"/>
              <a:tabLst>
                <a:tab pos="728980" algn="l"/>
                <a:tab pos="72961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不明点を放置せず、認</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識</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の軌</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が</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一に</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な</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るま</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で</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議論</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す</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るこ</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と</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を厭</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わ</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ない</a:t>
            </a:r>
          </a:p>
          <a:p>
            <a:pPr marL="728980" marR="5080" lvl="1" indent="-259079" algn="l" defTabSz="914400" rtl="0" eaLnBrk="1" fontAlgn="auto" latinLnBrk="0" hangingPunct="1">
              <a:lnSpc>
                <a:spcPct val="80000"/>
              </a:lnSpc>
              <a:spcBef>
                <a:spcPts val="490"/>
              </a:spcBef>
              <a:spcAft>
                <a:spcPts val="0"/>
              </a:spcAft>
              <a:buClrTx/>
              <a:buSzTx/>
              <a:buFont typeface="Arial MT"/>
              <a:buChar char="•"/>
              <a:tabLst>
                <a:tab pos="728980" algn="l"/>
                <a:tab pos="72961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物事の正しい</a:t>
            </a:r>
            <a:r>
              <a:rPr kumimoji="0" lang="en-US" altLang="ja-JP" sz="2000" b="0"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正しく</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な</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いの</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議</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論や</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手段</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の</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トレ</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ー</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ドオ</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フ</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にお</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け</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る最</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適</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解を</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見</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つける ことに対して熱心である</a:t>
            </a:r>
          </a:p>
          <a:p>
            <a:pPr marL="0" marR="0" lvl="0" indent="0" algn="l" defTabSz="914400" rtl="0" eaLnBrk="1" fontAlgn="auto" latinLnBrk="0" hangingPunct="1">
              <a:lnSpc>
                <a:spcPct val="100000"/>
              </a:lnSpc>
              <a:spcBef>
                <a:spcPts val="25"/>
              </a:spcBef>
              <a:spcAft>
                <a:spcPts val="0"/>
              </a:spcAft>
              <a:buClrTx/>
              <a:buSzTx/>
              <a:buFontTx/>
              <a:buNone/>
              <a:tabLst/>
              <a:defRPr/>
            </a:pPr>
            <a:endParaRPr kumimoji="0" lang="ja-JP" altLang="en-US" sz="2250" b="0" i="0" u="none" strike="noStrike" kern="1200" cap="none" spc="0" normalizeH="0" baseline="0" noProof="0" dirty="0">
              <a:ln>
                <a:noFill/>
              </a:ln>
              <a:solidFill>
                <a:prstClr val="black"/>
              </a:solidFill>
              <a:effectLst/>
              <a:uLnTx/>
              <a:uFillTx/>
              <a:latin typeface="Yu Gothic"/>
              <a:ea typeface="+mn-ea"/>
              <a:cs typeface="Yu Gothic"/>
            </a:endParaRPr>
          </a:p>
          <a:p>
            <a:pPr marL="12700" marR="165100" lvl="0" indent="0" algn="l" defTabSz="914400" rtl="0" eaLnBrk="1" fontAlgn="auto" latinLnBrk="0" hangingPunct="1">
              <a:lnSpc>
                <a:spcPts val="2300"/>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上記の特徴があるため、私は業務に関連した話をするのはどうか？という 提案をチームメンバーに対しある日の「雑談会」で行った。</a:t>
            </a:r>
          </a:p>
        </p:txBody>
      </p:sp>
    </p:spTree>
    <p:extLst>
      <p:ext uri="{BB962C8B-B14F-4D97-AF65-F5344CB8AC3E}">
        <p14:creationId xmlns:p14="http://schemas.microsoft.com/office/powerpoint/2010/main" val="16841473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7. </a:t>
            </a:r>
            <a:r>
              <a:rPr lang="ja-JP" altLang="en-US" b="1" dirty="0">
                <a:latin typeface="Calibri (Headings)"/>
              </a:rPr>
              <a:t>チームメンバーからのフィードバック</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94604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7. </a:t>
            </a:r>
            <a:r>
              <a:rPr lang="ja-JP" altLang="en-US" b="1" dirty="0">
                <a:latin typeface="Calibri (Headings)"/>
              </a:rPr>
              <a:t>チームメンバーからのフィードバック</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581FCEBD-6E62-A03A-71ED-E222D7C97D04}"/>
              </a:ext>
            </a:extLst>
          </p:cNvPr>
          <p:cNvSpPr>
            <a:spLocks noGrp="1"/>
          </p:cNvSpPr>
          <p:nvPr>
            <p:ph idx="1"/>
          </p:nvPr>
        </p:nvSpPr>
        <p:spPr>
          <a:xfrm>
            <a:off x="838200" y="1825625"/>
            <a:ext cx="10515600" cy="4351338"/>
          </a:xfrm>
        </p:spPr>
        <p:txBody>
          <a:bodyPr>
            <a:normAutofit/>
          </a:bodyPr>
          <a:lstStyle/>
          <a:p>
            <a:pPr marL="282575" marR="260350" lvl="0" indent="-270510" algn="l" defTabSz="914400" rtl="0" eaLnBrk="1" fontAlgn="auto" latinLnBrk="0" hangingPunct="1">
              <a:lnSpc>
                <a:spcPct val="70000"/>
              </a:lnSpc>
              <a:spcBef>
                <a:spcPts val="885"/>
              </a:spcBef>
              <a:spcAft>
                <a:spcPts val="0"/>
              </a:spcAft>
              <a:buClrTx/>
              <a:buSzTx/>
              <a:buFont typeface="Arial MT"/>
              <a:buChar char="•"/>
              <a:tabLst>
                <a:tab pos="282575" algn="l"/>
                <a:tab pos="283210" algn="l"/>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メンバ</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ー</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A:</a:t>
            </a:r>
            <a:r>
              <a:rPr kumimoji="0" lang="ja-JP" altLang="en-US" sz="2200" b="0" i="0" u="none" strike="noStrike" kern="1200" cap="none" spc="-40"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発言機会を平等に分配する最適</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な</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方法</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が</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難し</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く</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、個</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々</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人が</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話</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好きか どうかや俎上に上がる話題にも依</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存</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する</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282575" marR="29209" lvl="0" indent="-270510" algn="l" defTabSz="914400" rtl="0" eaLnBrk="1" fontAlgn="auto" latinLnBrk="0" hangingPunct="1">
              <a:lnSpc>
                <a:spcPct val="70000"/>
              </a:lnSpc>
              <a:spcBef>
                <a:spcPts val="1000"/>
              </a:spcBef>
              <a:spcAft>
                <a:spcPts val="0"/>
              </a:spcAft>
              <a:buClrTx/>
              <a:buSzTx/>
              <a:buFont typeface="Arial MT"/>
              <a:buChar char="•"/>
              <a:tabLst>
                <a:tab pos="282575" algn="l"/>
                <a:tab pos="283210" algn="l"/>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メンバ</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ー</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B:</a:t>
            </a:r>
            <a:r>
              <a:rPr kumimoji="0" lang="ja-JP" altLang="en-US" sz="2200" b="0" i="0" u="none" strike="noStrike" kern="1200" cap="none" spc="0"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リモートワークにおいては</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 </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non-verbal</a:t>
            </a:r>
            <a:r>
              <a:rPr kumimoji="0" lang="ja-JP" altLang="en-US" sz="2200" b="0" i="0" u="none" strike="noStrike" kern="1200" cap="none" spc="-40"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な要素が伝わりづらく、口に出 さないと明確な意思表示が出来ない</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2100"/>
              </a:lnSpc>
              <a:spcBef>
                <a:spcPts val="0"/>
              </a:spcBef>
              <a:spcAft>
                <a:spcPts val="0"/>
              </a:spcAft>
              <a:buClrTx/>
              <a:buSzTx/>
              <a:buFont typeface="Arial MT"/>
              <a:buChar char="•"/>
              <a:tabLst>
                <a:tab pos="728980" algn="l"/>
                <a:tab pos="729615" algn="l"/>
              </a:tabLst>
              <a:defRPr/>
            </a:pP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発信は仕事においても必要なスキ</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ル</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なの</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で</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、そ</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の</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練習</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の</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場と</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し</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て捉</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え</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ても</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良</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い</a:t>
            </a:r>
            <a:endParaRPr kumimoji="0" lang="ja-JP" altLang="en-US" sz="190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ts val="2245"/>
              </a:lnSpc>
              <a:spcBef>
                <a:spcPts val="204"/>
              </a:spcBef>
              <a:spcAft>
                <a:spcPts val="0"/>
              </a:spcAft>
              <a:buClrTx/>
              <a:buSzTx/>
              <a:buFont typeface="Arial MT"/>
              <a:buChar char="•"/>
              <a:tabLst>
                <a:tab pos="282575" algn="l"/>
                <a:tab pos="283210" algn="l"/>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メンバ</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ー</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C:</a:t>
            </a:r>
            <a:r>
              <a:rPr kumimoji="0" lang="ja-JP" altLang="en-US" sz="2200" b="0" i="0" u="none" strike="noStrike" kern="1200" cap="none" spc="-40"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雑談会は息抜きの時間なので、業</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務</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外の</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話</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をし</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て</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バッ</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ク</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グラ</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ウ</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ンド</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0" marR="4749800" lvl="0" indent="0" algn="r" defTabSz="914400" rtl="0" eaLnBrk="1" fontAlgn="auto" latinLnBrk="0" hangingPunct="1">
              <a:lnSpc>
                <a:spcPts val="2155"/>
              </a:lnSpc>
              <a:spcBef>
                <a:spcPts val="0"/>
              </a:spcBef>
              <a:spcAft>
                <a:spcPts val="0"/>
              </a:spcAft>
              <a:buClrTx/>
              <a:buSzTx/>
              <a:buFontTx/>
              <a:buNone/>
              <a:tabLst/>
              <a:defRPr/>
            </a:pP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を共有する場として活用するつも</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り</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だった</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258445" marR="4785360" lvl="1" indent="-258445" algn="r" defTabSz="914400" rtl="0" eaLnBrk="1" fontAlgn="auto" latinLnBrk="0" hangingPunct="1">
              <a:lnSpc>
                <a:spcPts val="2190"/>
              </a:lnSpc>
              <a:spcBef>
                <a:spcPts val="0"/>
              </a:spcBef>
              <a:spcAft>
                <a:spcPts val="0"/>
              </a:spcAft>
              <a:buClrTx/>
              <a:buSzTx/>
              <a:buFont typeface="Arial MT"/>
              <a:buChar char="•"/>
              <a:tabLst>
                <a:tab pos="258445" algn="l"/>
                <a:tab pos="259079" algn="l"/>
              </a:tabLst>
              <a:defRPr/>
            </a:pP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基本的に話題の間口を絞ることは</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し</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たく</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な</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い</a:t>
            </a:r>
            <a:endParaRPr kumimoji="0" lang="ja-JP" altLang="en-US" sz="190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ts val="2550"/>
              </a:lnSpc>
              <a:spcBef>
                <a:spcPts val="204"/>
              </a:spcBef>
              <a:spcAft>
                <a:spcPts val="0"/>
              </a:spcAft>
              <a:buClrTx/>
              <a:buSzTx/>
              <a:buFont typeface="Arial MT"/>
              <a:buChar char="•"/>
              <a:tabLst>
                <a:tab pos="282575" algn="l"/>
                <a:tab pos="283210" algn="l"/>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メンバ</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ー</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D:</a:t>
            </a:r>
            <a:r>
              <a:rPr kumimoji="0" lang="ja-JP" altLang="en-US" sz="2200" b="0" i="0" u="none" strike="noStrike" kern="1200" cap="none" spc="-15"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現状維持で、作業用</a:t>
            </a: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 </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BGM</a:t>
            </a:r>
            <a:r>
              <a:rPr kumimoji="0" lang="ja-JP" altLang="en-US" sz="2200" b="0" i="0" u="none" strike="noStrike" kern="1200" cap="none" spc="-10"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としての活用もあり</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2190"/>
              </a:lnSpc>
              <a:spcBef>
                <a:spcPts val="0"/>
              </a:spcBef>
              <a:spcAft>
                <a:spcPts val="0"/>
              </a:spcAft>
              <a:buClrTx/>
              <a:buSzTx/>
              <a:buFont typeface="Arial MT"/>
              <a:buChar char="•"/>
              <a:tabLst>
                <a:tab pos="728980" algn="l"/>
                <a:tab pos="729615" algn="l"/>
              </a:tabLst>
              <a:defRPr/>
            </a:pP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黙っていても別にネガティヴな意</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思</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表示</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を</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して</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い</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るわ</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け</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では</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な</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い</a:t>
            </a:r>
            <a:endParaRPr kumimoji="0" lang="ja-JP" altLang="en-US" sz="190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ts val="2245"/>
              </a:lnSpc>
              <a:spcBef>
                <a:spcPts val="204"/>
              </a:spcBef>
              <a:spcAft>
                <a:spcPts val="0"/>
              </a:spcAft>
              <a:buClrTx/>
              <a:buSzTx/>
              <a:buFont typeface="Arial MT"/>
              <a:buChar char="•"/>
              <a:tabLst>
                <a:tab pos="282575" algn="l"/>
                <a:tab pos="283210" algn="l"/>
              </a:tabLst>
              <a:defRPr/>
            </a:pPr>
            <a:r>
              <a:rPr kumimoji="0" lang="en-US" altLang="ja-JP" sz="2200" b="0" i="0" u="none" strike="noStrike" kern="1200" cap="none" spc="-15" normalizeH="0" baseline="0" noProof="0" dirty="0">
                <a:ln>
                  <a:noFill/>
                </a:ln>
                <a:solidFill>
                  <a:prstClr val="black"/>
                </a:solidFill>
                <a:effectLst/>
                <a:uLnTx/>
                <a:uFillTx/>
                <a:latin typeface="Calibri"/>
                <a:ea typeface="+mn-ea"/>
                <a:cs typeface="Calibri"/>
              </a:rPr>
              <a:t>GM(Group</a:t>
            </a:r>
            <a:r>
              <a:rPr kumimoji="0" lang="ja-JP" altLang="en-US" sz="2200" b="0" i="0" u="none" strike="noStrike" kern="1200" cap="none" spc="20" normalizeH="0" baseline="0" noProof="0" dirty="0">
                <a:ln>
                  <a:noFill/>
                </a:ln>
                <a:solidFill>
                  <a:prstClr val="black"/>
                </a:solidFill>
                <a:effectLst/>
                <a:uLnTx/>
                <a:uFillTx/>
                <a:latin typeface="Calibri"/>
                <a:ea typeface="+mn-ea"/>
                <a:cs typeface="Calibri"/>
              </a:rPr>
              <a:t> </a:t>
            </a:r>
            <a:r>
              <a:rPr kumimoji="0" lang="en-US" altLang="ja-JP" sz="2200" b="0" i="0" u="none" strike="noStrike" kern="1200" cap="none" spc="-10" normalizeH="0" baseline="0" noProof="0" dirty="0">
                <a:ln>
                  <a:noFill/>
                </a:ln>
                <a:solidFill>
                  <a:prstClr val="black"/>
                </a:solidFill>
                <a:effectLst/>
                <a:uLnTx/>
                <a:uFillTx/>
                <a:latin typeface="Calibri"/>
                <a:ea typeface="+mn-ea"/>
                <a:cs typeface="Calibri"/>
              </a:rPr>
              <a:t>Manager):</a:t>
            </a:r>
            <a:r>
              <a:rPr kumimoji="0" lang="ja-JP" altLang="en-US" sz="2200" b="0" i="0" u="none" strike="noStrike" kern="1200" cap="none" spc="45"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話が一段落、もしくは制限時間が来</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た</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らサ</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イ</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コロ</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を</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振り</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発</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0" algn="l" defTabSz="914400" rtl="0" eaLnBrk="1" fontAlgn="auto" latinLnBrk="0" hangingPunct="1">
              <a:lnSpc>
                <a:spcPts val="2155"/>
              </a:lnSpc>
              <a:spcBef>
                <a:spcPts val="0"/>
              </a:spcBef>
              <a:spcAft>
                <a:spcPts val="0"/>
              </a:spcAft>
              <a:buClrTx/>
              <a:buSzTx/>
              <a:buFontTx/>
              <a:buNone/>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言者や話題をスイッチする</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2095"/>
              </a:lnSpc>
              <a:spcBef>
                <a:spcPts val="0"/>
              </a:spcBef>
              <a:spcAft>
                <a:spcPts val="0"/>
              </a:spcAft>
              <a:buClrTx/>
              <a:buSzTx/>
              <a:buFont typeface="Arial MT"/>
              <a:buChar char="•"/>
              <a:tabLst>
                <a:tab pos="728980" algn="l"/>
                <a:tab pos="729615" algn="l"/>
              </a:tabLst>
              <a:defRPr/>
            </a:pP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話すことに義務感を持つと参加へ</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の</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ハー</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ド</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ルが</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上</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がる</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か</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もし</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れ</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ない</a:t>
            </a:r>
            <a:endParaRPr kumimoji="0" lang="ja-JP" altLang="en-US" sz="19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2185"/>
              </a:lnSpc>
              <a:spcBef>
                <a:spcPts val="0"/>
              </a:spcBef>
              <a:spcAft>
                <a:spcPts val="0"/>
              </a:spcAft>
              <a:buClrTx/>
              <a:buSzTx/>
              <a:buFont typeface="Arial MT"/>
              <a:buChar char="•"/>
              <a:tabLst>
                <a:tab pos="728980" algn="l"/>
                <a:tab pos="729615" algn="l"/>
              </a:tabLst>
              <a:defRPr/>
            </a:pP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一方で自己開示が心理的安全性確</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保</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の契</a:t>
            </a:r>
            <a:r>
              <a:rPr kumimoji="0" lang="ja-JP" altLang="en-US" sz="1900" b="0" i="0" u="none" strike="noStrike" kern="1200" cap="none" spc="0" normalizeH="0" baseline="0" noProof="0" dirty="0">
                <a:ln>
                  <a:noFill/>
                </a:ln>
                <a:solidFill>
                  <a:prstClr val="black"/>
                </a:solidFill>
                <a:effectLst/>
                <a:uLnTx/>
                <a:uFillTx/>
                <a:latin typeface="Yu Gothic"/>
                <a:ea typeface="+mn-ea"/>
                <a:cs typeface="Yu Gothic"/>
              </a:rPr>
              <a:t>機</a:t>
            </a:r>
            <a:r>
              <a:rPr kumimoji="0" lang="ja-JP" altLang="en-US" sz="1900" b="0" i="0" u="none" strike="noStrike" kern="1200" cap="none" spc="-5" normalizeH="0" baseline="0" noProof="0" dirty="0">
                <a:ln>
                  <a:noFill/>
                </a:ln>
                <a:solidFill>
                  <a:prstClr val="black"/>
                </a:solidFill>
                <a:effectLst/>
                <a:uLnTx/>
                <a:uFillTx/>
                <a:latin typeface="Yu Gothic"/>
                <a:ea typeface="+mn-ea"/>
                <a:cs typeface="Yu Gothic"/>
              </a:rPr>
              <a:t>となる</a:t>
            </a:r>
            <a:endParaRPr kumimoji="0" lang="ja-JP" altLang="en-US" sz="1900" b="0" i="0" u="none" strike="noStrike" kern="1200" cap="none" spc="0" normalizeH="0" baseline="0" noProof="0" dirty="0">
              <a:ln>
                <a:noFill/>
              </a:ln>
              <a:solidFill>
                <a:prstClr val="black"/>
              </a:solidFill>
              <a:effectLst/>
              <a:uLnTx/>
              <a:uFillTx/>
              <a:latin typeface="Yu Gothic"/>
              <a:ea typeface="+mn-ea"/>
              <a:cs typeface="Yu Gothic"/>
            </a:endParaRPr>
          </a:p>
        </p:txBody>
      </p:sp>
    </p:spTree>
    <p:extLst>
      <p:ext uri="{BB962C8B-B14F-4D97-AF65-F5344CB8AC3E}">
        <p14:creationId xmlns:p14="http://schemas.microsoft.com/office/powerpoint/2010/main" val="1871172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7. </a:t>
            </a:r>
            <a:r>
              <a:rPr lang="ja-JP" altLang="en-US" b="1" dirty="0">
                <a:latin typeface="Calibri (Headings)"/>
              </a:rPr>
              <a:t>チームメンバーからのフィードバック</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581FCEBD-6E62-A03A-71ED-E222D7C97D04}"/>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610"/>
              </a:spcBef>
              <a:spcAft>
                <a:spcPts val="0"/>
              </a:spcAft>
              <a:buClrTx/>
              <a:buSzTx/>
              <a:buFontTx/>
              <a:buNone/>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チームメンバー間で</a:t>
            </a:r>
            <a:r>
              <a:rPr kumimoji="0" lang="en-US" altLang="ja-JP" sz="2000" b="0" i="0" u="none" strike="noStrike" kern="1200" cap="none" spc="-10" normalizeH="0" baseline="0" noProof="0" dirty="0">
                <a:ln>
                  <a:noFill/>
                </a:ln>
                <a:solidFill>
                  <a:prstClr val="black"/>
                </a:solidFill>
                <a:effectLst/>
                <a:uLnTx/>
                <a:uFillTx/>
                <a:latin typeface="Calibri"/>
                <a:ea typeface="+mn-ea"/>
                <a:cs typeface="Calibri"/>
              </a:rPr>
              <a:t>2</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つの</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観</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点で</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認</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識の</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齟</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齬が</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生</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じて</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い</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た。</a:t>
            </a:r>
          </a:p>
          <a:p>
            <a:pPr marL="12700" marR="0" lvl="0" indent="0" algn="l" defTabSz="914400" rtl="0" eaLnBrk="1" fontAlgn="auto" latinLnBrk="0" hangingPunct="1">
              <a:lnSpc>
                <a:spcPct val="100000"/>
              </a:lnSpc>
              <a:spcBef>
                <a:spcPts val="515"/>
              </a:spcBef>
              <a:spcAft>
                <a:spcPts val="0"/>
              </a:spcAft>
              <a:buClrTx/>
              <a:buSzTx/>
              <a:buFontTx/>
              <a:buNone/>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それに関する私の見解</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は</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以下</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の</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通り</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で</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ある。</a:t>
            </a:r>
          </a:p>
          <a:p>
            <a:pPr marL="0" marR="0" lvl="0" indent="0" algn="l" defTabSz="914400" rtl="0" eaLnBrk="1" fontAlgn="auto" latinLnBrk="0" hangingPunct="1">
              <a:lnSpc>
                <a:spcPct val="100000"/>
              </a:lnSpc>
              <a:spcBef>
                <a:spcPts val="45"/>
              </a:spcBef>
              <a:spcAft>
                <a:spcPts val="0"/>
              </a:spcAft>
              <a:buClrTx/>
              <a:buSzTx/>
              <a:buFontTx/>
              <a:buNone/>
              <a:tabLst/>
              <a:defRPr/>
            </a:pPr>
            <a:endParaRPr kumimoji="0" lang="ja-JP" altLang="en-US" sz="180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ct val="100000"/>
              </a:lnSpc>
              <a:spcBef>
                <a:spcPts val="0"/>
              </a:spcBef>
              <a:spcAft>
                <a:spcPts val="0"/>
              </a:spcAft>
              <a:buClrTx/>
              <a:buSzTx/>
              <a:buFont typeface="Arial MT"/>
              <a:buChar char="•"/>
              <a:tabLst>
                <a:tab pos="282575" algn="l"/>
                <a:tab pos="283210"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「雑談会」はチームビ</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ル</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ディ</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ン</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グか</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息</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抜きか</a:t>
            </a:r>
          </a:p>
          <a:p>
            <a:pPr marL="739775" marR="5080" lvl="1" indent="-269875" algn="l" defTabSz="914400" rtl="0" eaLnBrk="1" fontAlgn="auto" latinLnBrk="0" hangingPunct="1">
              <a:lnSpc>
                <a:spcPts val="1630"/>
              </a:lnSpc>
              <a:spcBef>
                <a:spcPts val="505"/>
              </a:spcBef>
              <a:spcAft>
                <a:spcPts val="0"/>
              </a:spcAft>
              <a:buClrTx/>
              <a:buSzTx/>
              <a:buFont typeface="Arial MT"/>
              <a:buChar char="•"/>
              <a:tabLst>
                <a:tab pos="739775" algn="l"/>
                <a:tab pos="740410" algn="l"/>
              </a:tabLst>
              <a:defRPr/>
            </a:pP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少なくとも業務時間の</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一</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部を</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枠</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とし</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て</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確保</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し</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てい</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る</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ので</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チー</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ム</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ビル</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デ</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ィン</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グ</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とし</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て</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活用</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す</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るべき であり、話題に制約を</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設</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ける</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こ</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とは</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む</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しろ</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必</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要な</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こ</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とで</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あ</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る</a:t>
            </a:r>
          </a:p>
          <a:p>
            <a:pPr marL="739775" marR="0" lvl="1" indent="-270510" algn="l" defTabSz="914400" rtl="0" eaLnBrk="1" fontAlgn="auto" latinLnBrk="0" hangingPunct="1">
              <a:lnSpc>
                <a:spcPct val="100000"/>
              </a:lnSpc>
              <a:spcBef>
                <a:spcPts val="100"/>
              </a:spcBef>
              <a:spcAft>
                <a:spcPts val="0"/>
              </a:spcAft>
              <a:buClrTx/>
              <a:buSzTx/>
              <a:buFont typeface="Arial MT"/>
              <a:buChar char="•"/>
              <a:tabLst>
                <a:tab pos="739775" algn="l"/>
                <a:tab pos="740410" algn="l"/>
              </a:tabLst>
              <a:defRPr/>
            </a:pP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単なる息抜きであるな</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ら</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ば、</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チ</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ーム</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全</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員を</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集</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める</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必</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要は</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な</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いし</a:t>
            </a:r>
            <a:r>
              <a:rPr kumimoji="0" lang="ja-JP" altLang="en-US" sz="1700" b="0" i="0" u="none" strike="noStrike" kern="1200" cap="none" spc="-10" normalizeH="0" baseline="0" noProof="0" dirty="0">
                <a:ln>
                  <a:noFill/>
                </a:ln>
                <a:solidFill>
                  <a:prstClr val="black"/>
                </a:solidFill>
                <a:effectLst/>
                <a:uLnTx/>
                <a:uFillTx/>
                <a:latin typeface="Yu Gothic"/>
                <a:ea typeface="+mn-ea"/>
                <a:cs typeface="Yu Gothic"/>
              </a:rPr>
              <a:t>、</a:t>
            </a:r>
            <a:r>
              <a:rPr kumimoji="0" lang="en-US" altLang="ja-JP" sz="1700" b="0" i="0" u="none" strike="noStrike" kern="1200" cap="none" spc="0" normalizeH="0" baseline="0" noProof="0" dirty="0">
                <a:ln>
                  <a:noFill/>
                </a:ln>
                <a:solidFill>
                  <a:prstClr val="black"/>
                </a:solidFill>
                <a:effectLst/>
                <a:uLnTx/>
                <a:uFillTx/>
                <a:latin typeface="Calibri"/>
                <a:ea typeface="+mn-ea"/>
                <a:cs typeface="Calibri"/>
              </a:rPr>
              <a:t>1</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時間</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は</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業務</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時</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間と</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し</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て使</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い</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過ぎ</a:t>
            </a:r>
          </a:p>
          <a:p>
            <a:pPr marL="282575" marR="0" lvl="0" indent="-270510" algn="l" defTabSz="914400" rtl="0" eaLnBrk="1" fontAlgn="auto" latinLnBrk="0" hangingPunct="1">
              <a:lnSpc>
                <a:spcPct val="100000"/>
              </a:lnSpc>
              <a:spcBef>
                <a:spcPts val="515"/>
              </a:spcBef>
              <a:spcAft>
                <a:spcPts val="0"/>
              </a:spcAft>
              <a:buClrTx/>
              <a:buSzTx/>
              <a:buFont typeface="Arial MT"/>
              <a:buChar char="•"/>
              <a:tabLst>
                <a:tab pos="282575" algn="l"/>
                <a:tab pos="283210"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そもそも「心理的安全</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性</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」に</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課</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題を</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感</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じて</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い</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るか</a:t>
            </a:r>
          </a:p>
          <a:p>
            <a:pPr marL="739775" marR="5080" lvl="1" indent="-269875" algn="l" defTabSz="914400" rtl="0" eaLnBrk="1" fontAlgn="auto" latinLnBrk="0" hangingPunct="1">
              <a:lnSpc>
                <a:spcPts val="1630"/>
              </a:lnSpc>
              <a:spcBef>
                <a:spcPts val="495"/>
              </a:spcBef>
              <a:spcAft>
                <a:spcPts val="0"/>
              </a:spcAft>
              <a:buClrTx/>
              <a:buSzTx/>
              <a:buFont typeface="Arial MT"/>
              <a:buChar char="•"/>
              <a:tabLst>
                <a:tab pos="739775" algn="l"/>
                <a:tab pos="740410" algn="l"/>
              </a:tabLst>
              <a:defRPr/>
            </a:pP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チームビルディングは</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ア</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イス</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ブ</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レー</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キ</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ング</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を</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通じ</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て</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相互</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理</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解を</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高</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め「</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心</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理的</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安</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全性</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を確</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保</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するの が目的なので、そこに</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課</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題が</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な</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いの</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で</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あれ</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ば</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そも</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そ</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も「</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雑</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談会</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は不要</a:t>
            </a:r>
          </a:p>
          <a:p>
            <a:pPr marL="739775" marR="92075" lvl="1" indent="-269875" algn="l" defTabSz="914400" rtl="0" eaLnBrk="1" fontAlgn="auto" latinLnBrk="0" hangingPunct="1">
              <a:lnSpc>
                <a:spcPts val="1630"/>
              </a:lnSpc>
              <a:spcBef>
                <a:spcPts val="505"/>
              </a:spcBef>
              <a:spcAft>
                <a:spcPts val="0"/>
              </a:spcAft>
              <a:buClrTx/>
              <a:buSzTx/>
              <a:buFont typeface="Arial MT"/>
              <a:buChar char="•"/>
              <a:tabLst>
                <a:tab pos="739775" algn="l"/>
                <a:tab pos="740410" algn="l"/>
              </a:tabLst>
              <a:defRPr/>
            </a:pPr>
            <a:r>
              <a:rPr kumimoji="0" lang="en-US" altLang="ja-JP" sz="1700" b="0" i="0" u="none" strike="noStrike" kern="1200" cap="none" spc="-5" normalizeH="0" baseline="0" noProof="0" dirty="0">
                <a:ln>
                  <a:noFill/>
                </a:ln>
                <a:solidFill>
                  <a:prstClr val="black"/>
                </a:solidFill>
                <a:effectLst/>
                <a:uLnTx/>
                <a:uFillTx/>
                <a:latin typeface="Calibri"/>
                <a:ea typeface="+mn-ea"/>
                <a:cs typeface="Calibri"/>
              </a:rPr>
              <a:t>DS</a:t>
            </a:r>
            <a:r>
              <a:rPr kumimoji="0" lang="ja-JP" altLang="en-US" sz="1700" b="0" i="0" u="none" strike="noStrike" kern="1200" cap="none" spc="25" normalizeH="0" baseline="0" noProof="0" dirty="0">
                <a:ln>
                  <a:noFill/>
                </a:ln>
                <a:solidFill>
                  <a:prstClr val="black"/>
                </a:solidFill>
                <a:effectLst/>
                <a:uLnTx/>
                <a:uFillTx/>
                <a:latin typeface="Calibri"/>
                <a:ea typeface="+mn-ea"/>
                <a:cs typeface="Calibri"/>
              </a:rPr>
              <a:t> </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の「今日の一言」のフォ</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ー</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ルバ</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ッ</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ク先</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と</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して</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雑談</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会</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」を</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開</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催す</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る</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のな</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ら</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ば</a:t>
            </a:r>
            <a:r>
              <a:rPr kumimoji="0" lang="ja-JP" altLang="en-US" sz="1700" b="0" i="0" u="none" strike="noStrike" kern="1200" cap="none" spc="5" normalizeH="0" baseline="0" noProof="0" dirty="0">
                <a:ln>
                  <a:noFill/>
                </a:ln>
                <a:solidFill>
                  <a:prstClr val="black"/>
                </a:solidFill>
                <a:effectLst/>
                <a:uLnTx/>
                <a:uFillTx/>
                <a:latin typeface="Yu Gothic"/>
                <a:ea typeface="+mn-ea"/>
                <a:cs typeface="Yu Gothic"/>
              </a:rPr>
              <a:t>、</a:t>
            </a:r>
            <a:r>
              <a:rPr kumimoji="0" lang="en-US" altLang="ja-JP" sz="1700" b="0" i="0" u="none" strike="noStrike" kern="1200" cap="none" spc="-5" normalizeH="0" baseline="0" noProof="0" dirty="0">
                <a:ln>
                  <a:noFill/>
                </a:ln>
                <a:solidFill>
                  <a:prstClr val="black"/>
                </a:solidFill>
                <a:effectLst/>
                <a:uLnTx/>
                <a:uFillTx/>
                <a:latin typeface="Calibri"/>
                <a:ea typeface="+mn-ea"/>
                <a:cs typeface="Calibri"/>
              </a:rPr>
              <a:t>DS </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のタイムマネ ジメントを適切に行う</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の</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が本</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質</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的な</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ア</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プロ</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ー</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チで</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あ</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る</a:t>
            </a:r>
          </a:p>
          <a:p>
            <a:pPr marL="0" marR="0" lvl="0" indent="0" algn="l" defTabSz="914400" rtl="0" eaLnBrk="1" fontAlgn="auto" latinLnBrk="0" hangingPunct="1">
              <a:lnSpc>
                <a:spcPct val="100000"/>
              </a:lnSpc>
              <a:spcBef>
                <a:spcPts val="60"/>
              </a:spcBef>
              <a:spcAft>
                <a:spcPts val="0"/>
              </a:spcAft>
              <a:buClrTx/>
              <a:buSzTx/>
              <a:buFontTx/>
              <a:buNone/>
              <a:tabLst/>
              <a:defRPr/>
            </a:pPr>
            <a:endParaRPr kumimoji="0" lang="ja-JP" altLang="en-US" sz="1100" b="0" i="0" u="none" strike="noStrike" kern="1200" cap="none" spc="0" normalizeH="0" baseline="0" noProof="0" dirty="0">
              <a:ln>
                <a:noFill/>
              </a:ln>
              <a:solidFill>
                <a:prstClr val="black"/>
              </a:solidFill>
              <a:effectLst/>
              <a:uLnTx/>
              <a:uFillTx/>
              <a:latin typeface="Yu Gothic"/>
              <a:ea typeface="+mn-ea"/>
              <a:cs typeface="Yu Gothic"/>
            </a:endParaRPr>
          </a:p>
          <a:p>
            <a:pPr marL="12700" marR="732155" lvl="0" indent="0" algn="l" defTabSz="914400" rtl="0" eaLnBrk="1" fontAlgn="auto" latinLnBrk="0" hangingPunct="1">
              <a:lnSpc>
                <a:spcPct val="104700"/>
              </a:lnSpc>
              <a:spcBef>
                <a:spcPts val="5"/>
              </a:spcBef>
              <a:spcAft>
                <a:spcPts val="0"/>
              </a:spcAft>
              <a:buClrTx/>
              <a:buSzTx/>
              <a:buFontTx/>
              <a:buNone/>
              <a:tabLst/>
              <a:defRPr/>
            </a:pP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暗黙の了解を明文化し</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て</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意見</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交</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換を</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行</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った</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こ</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とで</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次回</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以</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降何</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か</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しら</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の</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変化</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が</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ある</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か</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もし</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れ</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ない。 向こう数回は運用に改</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善</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の兆</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し</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があ</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る</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かを</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観</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察し</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もし</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な</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けれ</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ば</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また</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意</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見を</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出</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そう</a:t>
            </a:r>
            <a:r>
              <a:rPr kumimoji="0" lang="ja-JP" altLang="en-US" sz="1700" b="0" i="0" u="none" strike="noStrike" kern="1200" cap="none" spc="-15" normalizeH="0" baseline="0" noProof="0" dirty="0">
                <a:ln>
                  <a:noFill/>
                </a:ln>
                <a:solidFill>
                  <a:prstClr val="black"/>
                </a:solidFill>
                <a:effectLst/>
                <a:uLnTx/>
                <a:uFillTx/>
                <a:latin typeface="Yu Gothic"/>
                <a:ea typeface="+mn-ea"/>
                <a:cs typeface="Yu Gothic"/>
              </a:rPr>
              <a:t>と</a:t>
            </a:r>
            <a:r>
              <a:rPr kumimoji="0" lang="ja-JP" altLang="en-US" sz="1700" b="0" i="0" u="none" strike="noStrike" kern="1200" cap="none" spc="0" normalizeH="0" baseline="0" noProof="0" dirty="0">
                <a:ln>
                  <a:noFill/>
                </a:ln>
                <a:solidFill>
                  <a:prstClr val="black"/>
                </a:solidFill>
                <a:effectLst/>
                <a:uLnTx/>
                <a:uFillTx/>
                <a:latin typeface="Yu Gothic"/>
                <a:ea typeface="+mn-ea"/>
                <a:cs typeface="Yu Gothic"/>
              </a:rPr>
              <a:t>思う。</a:t>
            </a:r>
          </a:p>
        </p:txBody>
      </p:sp>
    </p:spTree>
    <p:extLst>
      <p:ext uri="{BB962C8B-B14F-4D97-AF65-F5344CB8AC3E}">
        <p14:creationId xmlns:p14="http://schemas.microsoft.com/office/powerpoint/2010/main" val="32486510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US" altLang="ja-JP" b="1" dirty="0">
                <a:latin typeface="Calibri (Headings)"/>
              </a:rPr>
              <a:t>8.</a:t>
            </a:r>
            <a:r>
              <a:rPr lang="en-GB" altLang="ja-JP" b="1" dirty="0">
                <a:latin typeface="Calibri (Headings)"/>
              </a:rPr>
              <a:t> </a:t>
            </a:r>
            <a:r>
              <a:rPr lang="ja-JP" altLang="en-US" b="1" dirty="0">
                <a:latin typeface="Calibri (Headings)"/>
                <a:sym typeface="Arial"/>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87880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8.</a:t>
            </a:r>
            <a:r>
              <a:rPr lang="en-GB" altLang="ja-JP" b="1" dirty="0">
                <a:latin typeface="Calibri (Headings)"/>
              </a:rPr>
              <a:t> </a:t>
            </a:r>
            <a:r>
              <a:rPr lang="ja-JP" altLang="en-US" b="1" dirty="0">
                <a:latin typeface="Calibri (Headings)"/>
                <a:sym typeface="Arial"/>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a:bodyPr>
          <a:lstStyle/>
          <a:p>
            <a:pPr marL="374015" marR="5080" lvl="0" indent="-361950" algn="l" defTabSz="914400" rtl="0" eaLnBrk="1" fontAlgn="auto" latinLnBrk="0" hangingPunct="1">
              <a:lnSpc>
                <a:spcPct val="90100"/>
              </a:lnSpc>
              <a:spcBef>
                <a:spcPts val="385"/>
              </a:spcBef>
              <a:spcAft>
                <a:spcPts val="0"/>
              </a:spcAft>
              <a:buClrTx/>
              <a:buSzTx/>
              <a:buFont typeface="Calibri"/>
              <a:buAutoNum type="arabicPeriod"/>
              <a:tabLst>
                <a:tab pos="374015" algn="l"/>
                <a:tab pos="37465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「雑談会」はチームビルディングの手段として、アイスブレーキングを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通して相互理解を高め、「心理的安全性」を確保する手段</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の</a:t>
            </a:r>
            <a:r>
              <a:rPr kumimoji="0" lang="en-US" altLang="ja-JP" sz="2400" b="0" i="0" u="none" strike="noStrike" kern="1200" cap="none" spc="-10" normalizeH="0" baseline="0" noProof="0" dirty="0">
                <a:ln>
                  <a:noFill/>
                </a:ln>
                <a:solidFill>
                  <a:prstClr val="black"/>
                </a:solidFill>
                <a:effectLst/>
                <a:uLnTx/>
                <a:uFillTx/>
                <a:latin typeface="Calibri"/>
                <a:ea typeface="+mn-ea"/>
                <a:cs typeface="Calibri"/>
              </a:rPr>
              <a:t>1</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つに過ぎな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い。</a:t>
            </a:r>
          </a:p>
          <a:p>
            <a:pPr marL="728980" marR="0" lvl="1" indent="-259715" algn="l" defTabSz="914400" rtl="0" eaLnBrk="1" fontAlgn="auto" latinLnBrk="0" hangingPunct="1">
              <a:lnSpc>
                <a:spcPct val="100000"/>
              </a:lnSpc>
              <a:spcBef>
                <a:spcPts val="290"/>
              </a:spcBef>
              <a:spcAft>
                <a:spcPts val="0"/>
              </a:spcAft>
              <a:buClrTx/>
              <a:buSzTx/>
              <a:buFont typeface="Arial MT"/>
              <a:buChar char="•"/>
              <a:tabLst>
                <a:tab pos="728980" algn="l"/>
                <a:tab pos="729615" algn="l"/>
              </a:tabLst>
              <a:defRPr/>
            </a:pP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チームの体質に合う話</a:t>
            </a:r>
            <a:r>
              <a:rPr kumimoji="0" lang="ja-JP" altLang="en-US" sz="2000" b="1" i="0" u="none" strike="noStrike" kern="1200" cap="none" spc="-15" normalizeH="0" baseline="0" noProof="0" dirty="0">
                <a:ln>
                  <a:noFill/>
                </a:ln>
                <a:solidFill>
                  <a:prstClr val="black"/>
                </a:solidFill>
                <a:effectLst/>
                <a:uLnTx/>
                <a:uFillTx/>
                <a:latin typeface="Yu Gothic"/>
                <a:ea typeface="+mn-ea"/>
                <a:cs typeface="Yu Gothic"/>
              </a:rPr>
              <a:t>題</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を吟</a:t>
            </a:r>
            <a:r>
              <a:rPr kumimoji="0" lang="ja-JP" altLang="en-US" sz="2000" b="1" i="0" u="none" strike="noStrike" kern="1200" cap="none" spc="-15" normalizeH="0" baseline="0" noProof="0" dirty="0">
                <a:ln>
                  <a:noFill/>
                </a:ln>
                <a:solidFill>
                  <a:prstClr val="black"/>
                </a:solidFill>
                <a:effectLst/>
                <a:uLnTx/>
                <a:uFillTx/>
                <a:latin typeface="Yu Gothic"/>
                <a:ea typeface="+mn-ea"/>
                <a:cs typeface="Yu Gothic"/>
              </a:rPr>
              <a:t>味</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して</a:t>
            </a:r>
            <a:r>
              <a:rPr kumimoji="0" lang="ja-JP" altLang="en-US" sz="2000" b="1" i="0" u="none" strike="noStrike" kern="1200" cap="none" spc="-15" normalizeH="0" baseline="0" noProof="0" dirty="0">
                <a:ln>
                  <a:noFill/>
                </a:ln>
                <a:solidFill>
                  <a:prstClr val="black"/>
                </a:solidFill>
                <a:effectLst/>
                <a:uLnTx/>
                <a:uFillTx/>
                <a:latin typeface="Yu Gothic"/>
                <a:ea typeface="+mn-ea"/>
                <a:cs typeface="Yu Gothic"/>
              </a:rPr>
              <a:t>、</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関心</a:t>
            </a:r>
            <a:r>
              <a:rPr kumimoji="0" lang="ja-JP" altLang="en-US" sz="2000" b="1" i="0" u="none" strike="noStrike" kern="1200" cap="none" spc="-15" normalizeH="0" baseline="0" noProof="0" dirty="0">
                <a:ln>
                  <a:noFill/>
                </a:ln>
                <a:solidFill>
                  <a:prstClr val="black"/>
                </a:solidFill>
                <a:effectLst/>
                <a:uLnTx/>
                <a:uFillTx/>
                <a:latin typeface="Yu Gothic"/>
                <a:ea typeface="+mn-ea"/>
                <a:cs typeface="Yu Gothic"/>
              </a:rPr>
              <a:t>の</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共通</a:t>
            </a:r>
            <a:r>
              <a:rPr kumimoji="0" lang="ja-JP" altLang="en-US" sz="2000" b="1" i="0" u="none" strike="noStrike" kern="1200" cap="none" spc="-15" normalizeH="0" baseline="0" noProof="0" dirty="0">
                <a:ln>
                  <a:noFill/>
                </a:ln>
                <a:solidFill>
                  <a:prstClr val="black"/>
                </a:solidFill>
                <a:effectLst/>
                <a:uLnTx/>
                <a:uFillTx/>
                <a:latin typeface="Yu Gothic"/>
                <a:ea typeface="+mn-ea"/>
                <a:cs typeface="Yu Gothic"/>
              </a:rPr>
              <a:t>項</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を最</a:t>
            </a:r>
            <a:r>
              <a:rPr kumimoji="0" lang="ja-JP" altLang="en-US" sz="2000" b="1" i="0" u="none" strike="noStrike" kern="1200" cap="none" spc="-15" normalizeH="0" baseline="0" noProof="0" dirty="0">
                <a:ln>
                  <a:noFill/>
                </a:ln>
                <a:solidFill>
                  <a:prstClr val="black"/>
                </a:solidFill>
                <a:effectLst/>
                <a:uLnTx/>
                <a:uFillTx/>
                <a:latin typeface="Yu Gothic"/>
                <a:ea typeface="+mn-ea"/>
                <a:cs typeface="Yu Gothic"/>
              </a:rPr>
              <a:t>大</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化す</a:t>
            </a:r>
            <a:r>
              <a:rPr kumimoji="0" lang="ja-JP" altLang="en-US" sz="2000" b="1" i="0" u="none" strike="noStrike" kern="1200" cap="none" spc="-5" normalizeH="0" baseline="0" noProof="0" dirty="0">
                <a:ln>
                  <a:noFill/>
                </a:ln>
                <a:solidFill>
                  <a:prstClr val="black"/>
                </a:solidFill>
                <a:effectLst/>
                <a:uLnTx/>
                <a:uFillTx/>
                <a:latin typeface="Yu Gothic"/>
                <a:ea typeface="+mn-ea"/>
                <a:cs typeface="Yu Gothic"/>
              </a:rPr>
              <a:t>る</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こと</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が</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肝要</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で</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ある</a:t>
            </a:r>
          </a:p>
          <a:p>
            <a:pPr marL="728980" marR="0" lvl="1" indent="-259715" algn="l" defTabSz="914400" rtl="0" eaLnBrk="1" fontAlgn="auto" latinLnBrk="0" hangingPunct="1">
              <a:lnSpc>
                <a:spcPct val="100000"/>
              </a:lnSpc>
              <a:spcBef>
                <a:spcPts val="254"/>
              </a:spcBef>
              <a:spcAft>
                <a:spcPts val="0"/>
              </a:spcAft>
              <a:buClrTx/>
              <a:buSzTx/>
              <a:buFont typeface="Arial MT"/>
              <a:buChar char="•"/>
              <a:tabLst>
                <a:tab pos="728980" algn="l"/>
                <a:tab pos="72961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誰も「心理的安全性」</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に</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課題</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を</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感じ</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て</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いな</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け</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れば</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無</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理に</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開</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催す</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る</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必要</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は</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ない</a:t>
            </a:r>
          </a:p>
          <a:p>
            <a:pPr marL="374015" marR="0" lvl="0" indent="-361950" algn="l" defTabSz="914400" rtl="0" eaLnBrk="1" fontAlgn="auto" latinLnBrk="0" hangingPunct="1">
              <a:lnSpc>
                <a:spcPct val="100000"/>
              </a:lnSpc>
              <a:spcBef>
                <a:spcPts val="690"/>
              </a:spcBef>
              <a:spcAft>
                <a:spcPts val="0"/>
              </a:spcAft>
              <a:buClrTx/>
              <a:buSzTx/>
              <a:buFont typeface="Calibri"/>
              <a:buAutoNum type="arabicPeriod"/>
              <a:tabLst>
                <a:tab pos="374015" algn="l"/>
                <a:tab pos="37465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「心理的安全性」の確保には、以下</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の</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3</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つを満たすのが前提条件である。</a:t>
            </a:r>
          </a:p>
          <a:p>
            <a:pPr marL="717550" indent="-249238">
              <a:lnSpc>
                <a:spcPct val="100000"/>
              </a:lnSpc>
              <a:spcBef>
                <a:spcPts val="280"/>
              </a:spcBef>
              <a:tabLst>
                <a:tab pos="831215" algn="l"/>
                <a:tab pos="831850"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「自分はこの組織にい</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て</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良い</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の</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だ」</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と</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思え</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る</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こと</a:t>
            </a:r>
          </a:p>
          <a:p>
            <a:pPr marL="717550" indent="-249238">
              <a:lnSpc>
                <a:spcPct val="100000"/>
              </a:lnSpc>
              <a:spcBef>
                <a:spcPts val="265"/>
              </a:spcBef>
              <a:tabLst>
                <a:tab pos="831215" algn="l"/>
                <a:tab pos="831850"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自らの意見や感情を</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誰</a:t>
            </a:r>
            <a:r>
              <a:rPr kumimoji="0" lang="ja-JP" altLang="en-US" sz="2000" b="1" i="0" u="none" strike="noStrike" kern="1200" cap="none" spc="-15" normalizeH="0" baseline="0" noProof="0" dirty="0">
                <a:ln>
                  <a:noFill/>
                </a:ln>
                <a:solidFill>
                  <a:prstClr val="black"/>
                </a:solidFill>
                <a:effectLst/>
                <a:uLnTx/>
                <a:uFillTx/>
                <a:latin typeface="Yu Gothic"/>
                <a:ea typeface="+mn-ea"/>
                <a:cs typeface="Yu Gothic"/>
              </a:rPr>
              <a:t>に</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でも</a:t>
            </a:r>
            <a:r>
              <a:rPr kumimoji="0" lang="ja-JP" altLang="en-US" sz="2000" b="1" i="0" u="none" strike="noStrike" kern="1200" cap="none" spc="-15" normalizeH="0" baseline="0" noProof="0" dirty="0">
                <a:ln>
                  <a:noFill/>
                </a:ln>
                <a:solidFill>
                  <a:prstClr val="black"/>
                </a:solidFill>
                <a:effectLst/>
                <a:uLnTx/>
                <a:uFillTx/>
                <a:latin typeface="Yu Gothic"/>
                <a:ea typeface="+mn-ea"/>
                <a:cs typeface="Yu Gothic"/>
              </a:rPr>
              <a:t>素</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直</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に</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表</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現・</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共</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有で</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き</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ること</a:t>
            </a:r>
          </a:p>
          <a:p>
            <a:pPr marL="717550" indent="-249238">
              <a:lnSpc>
                <a:spcPct val="100000"/>
              </a:lnSpc>
              <a:spcBef>
                <a:spcPts val="265"/>
              </a:spcBef>
              <a:tabLst>
                <a:tab pos="831215" algn="l"/>
                <a:tab pos="831850"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上記によって自分を</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否</a:t>
            </a:r>
            <a:r>
              <a:rPr kumimoji="0" lang="ja-JP" altLang="en-US" sz="2000" b="1" i="0" u="none" strike="noStrike" kern="1200" cap="none" spc="-10" normalizeH="0" baseline="0" noProof="0" dirty="0">
                <a:ln>
                  <a:noFill/>
                </a:ln>
                <a:solidFill>
                  <a:prstClr val="black"/>
                </a:solidFill>
                <a:effectLst/>
                <a:uLnTx/>
                <a:uFillTx/>
                <a:latin typeface="Yu Gothic"/>
                <a:ea typeface="+mn-ea"/>
                <a:cs typeface="Yu Gothic"/>
              </a:rPr>
              <a:t>定</a:t>
            </a:r>
            <a:r>
              <a:rPr kumimoji="0" lang="ja-JP" altLang="en-US" sz="2000" b="1" i="0" u="none" strike="noStrike" kern="1200" cap="none" spc="0" normalizeH="0" baseline="0" noProof="0" dirty="0">
                <a:ln>
                  <a:noFill/>
                </a:ln>
                <a:solidFill>
                  <a:prstClr val="black"/>
                </a:solidFill>
                <a:effectLst/>
                <a:uLnTx/>
                <a:uFillTx/>
                <a:latin typeface="Yu Gothic"/>
                <a:ea typeface="+mn-ea"/>
                <a:cs typeface="Yu Gothic"/>
              </a:rPr>
              <a:t>されな</a:t>
            </a:r>
            <a:r>
              <a:rPr kumimoji="0" lang="ja-JP" altLang="en-US" sz="2000" b="1" i="0" u="none" strike="noStrike" kern="1200" cap="none" spc="-15" normalizeH="0" baseline="0" noProof="0" dirty="0">
                <a:ln>
                  <a:noFill/>
                </a:ln>
                <a:solidFill>
                  <a:prstClr val="black"/>
                </a:solidFill>
                <a:effectLst/>
                <a:uLnTx/>
                <a:uFillTx/>
                <a:latin typeface="Yu Gothic"/>
                <a:ea typeface="+mn-ea"/>
                <a:cs typeface="Yu Gothic"/>
              </a:rPr>
              <a:t>い</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こと</a:t>
            </a:r>
          </a:p>
          <a:p>
            <a:pPr marL="374015" marR="28575" lvl="0" indent="-361950" algn="l" defTabSz="914400" rtl="0" eaLnBrk="1" fontAlgn="auto" latinLnBrk="0" hangingPunct="1">
              <a:lnSpc>
                <a:spcPts val="2590"/>
              </a:lnSpc>
              <a:spcBef>
                <a:spcPts val="1010"/>
              </a:spcBef>
              <a:spcAft>
                <a:spcPts val="0"/>
              </a:spcAft>
              <a:buClrTx/>
              <a:buSzTx/>
              <a:buFontTx/>
              <a:buNone/>
              <a:tabLst/>
              <a:defRPr/>
            </a:pPr>
            <a:r>
              <a:rPr kumimoji="0" lang="en-US" altLang="ja-JP" sz="2400" b="1" i="0" u="none" strike="noStrike" kern="1200" cap="none" spc="-5" normalizeH="0" baseline="0" noProof="0" dirty="0">
                <a:ln>
                  <a:noFill/>
                </a:ln>
                <a:solidFill>
                  <a:prstClr val="black"/>
                </a:solidFill>
                <a:effectLst/>
                <a:uLnTx/>
                <a:uFillTx/>
                <a:latin typeface="Calibri"/>
                <a:ea typeface="+mn-ea"/>
                <a:cs typeface="Calibri"/>
              </a:rPr>
              <a:t>3.</a:t>
            </a:r>
            <a:r>
              <a:rPr kumimoji="0" lang="ja-JP" altLang="en-US" sz="2400" b="1" i="0" u="none" strike="noStrike" kern="1200" cap="none" spc="350" normalizeH="0" baseline="0" noProof="0" dirty="0">
                <a:ln>
                  <a:noFill/>
                </a:ln>
                <a:solidFill>
                  <a:prstClr val="black"/>
                </a:solidFill>
                <a:effectLst/>
                <a:uLnTx/>
                <a:uFillTx/>
                <a:latin typeface="Calibri"/>
                <a:ea typeface="+mn-ea"/>
                <a:cs typeface="Calibri"/>
              </a:rPr>
              <a:t> </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物事の正しい</a:t>
            </a:r>
            <a:r>
              <a:rPr kumimoji="0" lang="en-US" altLang="ja-JP" sz="2400" b="1"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正しくないの議論と人間性を結びつけな</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い</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ことは、組織が 合意形成すべき絶対条件である。</a:t>
            </a:r>
          </a:p>
        </p:txBody>
      </p:sp>
    </p:spTree>
    <p:extLst>
      <p:ext uri="{BB962C8B-B14F-4D97-AF65-F5344CB8AC3E}">
        <p14:creationId xmlns:p14="http://schemas.microsoft.com/office/powerpoint/2010/main" val="35154773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9.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89575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9.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E96154D-0AC4-47C9-B8EE-32ED60A2B6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6">
            <a:extLst>
              <a:ext uri="{FF2B5EF4-FFF2-40B4-BE49-F238E27FC236}">
                <a16:creationId xmlns:a16="http://schemas.microsoft.com/office/drawing/2014/main" id="{0A3A8506-B2C4-48D9-8B66-4EF42A11727B}"/>
              </a:ext>
            </a:extLst>
          </p:cNvPr>
          <p:cNvSpPr>
            <a:spLocks noGrp="1"/>
          </p:cNvSpPr>
          <p:nvPr>
            <p:ph idx="1"/>
          </p:nvPr>
        </p:nvSpPr>
        <p:spPr/>
        <p:txBody>
          <a:bodyPr>
            <a:normAutofit/>
          </a:bodyPr>
          <a:lstStyle/>
          <a:p>
            <a:pPr marL="282575" marR="0" lvl="0" indent="-270510" algn="l" defTabSz="914400" rtl="0" eaLnBrk="1" fontAlgn="auto" latinLnBrk="0" hangingPunct="1">
              <a:lnSpc>
                <a:spcPts val="2770"/>
              </a:lnSpc>
              <a:spcBef>
                <a:spcPts val="100"/>
              </a:spcBef>
              <a:spcAft>
                <a:spcPts val="0"/>
              </a:spcAft>
              <a:buClr>
                <a:srgbClr val="000000"/>
              </a:buClr>
              <a:buSzPct val="116666"/>
              <a:buFont typeface="Arial MT"/>
              <a:buChar char="•"/>
              <a:tabLst>
                <a:tab pos="283210" algn="l"/>
              </a:tabLst>
              <a:defRPr/>
            </a:pPr>
            <a:r>
              <a:rPr kumimoji="0" lang="en-US" altLang="ja-JP" sz="2400" b="0" i="0"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3"/>
              </a:rPr>
              <a:t>What </a:t>
            </a:r>
            <a:r>
              <a:rPr kumimoji="0" lang="en-US" altLang="ja-JP" sz="2400" b="0" i="0" u="heavy" strike="noStrike" kern="1200" cap="none" spc="0" normalizeH="0" baseline="0" noProof="0" dirty="0">
                <a:ln>
                  <a:noFill/>
                </a:ln>
                <a:solidFill>
                  <a:srgbClr val="0462C1"/>
                </a:solidFill>
                <a:effectLst/>
                <a:uLnTx/>
                <a:uFill>
                  <a:solidFill>
                    <a:srgbClr val="0462C1"/>
                  </a:solidFill>
                </a:uFill>
                <a:latin typeface="Calibri"/>
                <a:ea typeface="+mn-ea"/>
                <a:cs typeface="Calibri"/>
                <a:hlinkClick r:id="rId3"/>
              </a:rPr>
              <a:t>is</a:t>
            </a:r>
            <a:r>
              <a:rPr kumimoji="0" lang="ja-JP" altLang="en-US" sz="2400" b="0" i="0" u="heavy" strike="noStrike" kern="1200" cap="none" spc="-30" normalizeH="0" baseline="0" noProof="0" dirty="0">
                <a:ln>
                  <a:noFill/>
                </a:ln>
                <a:solidFill>
                  <a:srgbClr val="0462C1"/>
                </a:solidFill>
                <a:effectLst/>
                <a:uLnTx/>
                <a:uFill>
                  <a:solidFill>
                    <a:srgbClr val="0462C1"/>
                  </a:solidFill>
                </a:uFill>
                <a:latin typeface="Calibri"/>
                <a:ea typeface="+mn-ea"/>
                <a:cs typeface="Calibri"/>
                <a:hlinkClick r:id="rId3"/>
              </a:rPr>
              <a:t> </a:t>
            </a:r>
            <a:r>
              <a:rPr kumimoji="0" lang="en-US" altLang="ja-JP" sz="2400" b="0" i="0"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3"/>
              </a:rPr>
              <a:t>Scrum?</a:t>
            </a:r>
            <a:r>
              <a:rPr kumimoji="0" lang="ja-JP" altLang="en-US" sz="2400" b="0" i="0" u="heavy" strike="noStrike" kern="1200" cap="none" spc="-35" normalizeH="0" baseline="0" noProof="0" dirty="0">
                <a:ln>
                  <a:noFill/>
                </a:ln>
                <a:solidFill>
                  <a:srgbClr val="0462C1"/>
                </a:solidFill>
                <a:effectLst/>
                <a:uLnTx/>
                <a:uFill>
                  <a:solidFill>
                    <a:srgbClr val="0462C1"/>
                  </a:solidFill>
                </a:uFill>
                <a:latin typeface="Calibri"/>
                <a:ea typeface="+mn-ea"/>
                <a:cs typeface="Calibri"/>
                <a:hlinkClick r:id="rId3"/>
              </a:rPr>
              <a:t> </a:t>
            </a:r>
            <a:r>
              <a:rPr kumimoji="0" lang="en-US" altLang="ja-JP" sz="2400" b="0" i="0" u="heavy" strike="noStrike" kern="1200" cap="none" spc="0" normalizeH="0" baseline="0" noProof="0" dirty="0">
                <a:ln>
                  <a:noFill/>
                </a:ln>
                <a:solidFill>
                  <a:srgbClr val="0462C1"/>
                </a:solidFill>
                <a:effectLst/>
                <a:uLnTx/>
                <a:uFill>
                  <a:solidFill>
                    <a:srgbClr val="0462C1"/>
                  </a:solidFill>
                </a:uFill>
                <a:latin typeface="Calibri"/>
                <a:ea typeface="+mn-ea"/>
                <a:cs typeface="Calibri"/>
                <a:hlinkClick r:id="rId3"/>
              </a:rPr>
              <a:t>-</a:t>
            </a:r>
            <a:r>
              <a:rPr kumimoji="0" lang="ja-JP" altLang="en-US" sz="2400" b="0" i="0"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3"/>
              </a:rPr>
              <a:t> </a:t>
            </a:r>
            <a:r>
              <a:rPr kumimoji="0" lang="en-US" altLang="ja-JP" sz="2400" b="0" i="0" u="heavy" strike="noStrike" kern="1200" cap="none" spc="-40" normalizeH="0" baseline="0" noProof="0" dirty="0">
                <a:ln>
                  <a:noFill/>
                </a:ln>
                <a:solidFill>
                  <a:srgbClr val="0462C1"/>
                </a:solidFill>
                <a:effectLst/>
                <a:uLnTx/>
                <a:uFill>
                  <a:solidFill>
                    <a:srgbClr val="0462C1"/>
                  </a:solidFill>
                </a:uFill>
                <a:latin typeface="Calibri"/>
                <a:ea typeface="+mn-ea"/>
                <a:cs typeface="Calibri"/>
                <a:hlinkClick r:id="rId3"/>
              </a:rPr>
              <a:t>AWS</a:t>
            </a:r>
            <a:endParaRPr kumimoji="0" lang="ja-JP" altLang="en-US" sz="2400" b="0" i="0" u="none" strike="noStrike" kern="1200" cap="none" spc="0" normalizeH="0" baseline="0" noProof="0" dirty="0">
              <a:ln>
                <a:noFill/>
              </a:ln>
              <a:solidFill>
                <a:prstClr val="black"/>
              </a:solidFill>
              <a:effectLst/>
              <a:uLnTx/>
              <a:uFillTx/>
              <a:latin typeface="Calibri"/>
              <a:ea typeface="+mn-ea"/>
              <a:cs typeface="Calibri"/>
            </a:endParaRPr>
          </a:p>
          <a:p>
            <a:pPr marL="739775" marR="0" lvl="1" indent="-270510" algn="l" defTabSz="914400" rtl="0" eaLnBrk="1" fontAlgn="auto" latinLnBrk="0" hangingPunct="1">
              <a:lnSpc>
                <a:spcPts val="2130"/>
              </a:lnSpc>
              <a:spcBef>
                <a:spcPts val="0"/>
              </a:spcBef>
              <a:spcAft>
                <a:spcPts val="0"/>
              </a:spcAft>
              <a:buClrTx/>
              <a:buSzPct val="140000"/>
              <a:buFont typeface="Arial MT"/>
              <a:buChar char="•"/>
              <a:tabLst>
                <a:tab pos="740410"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最終アクセス日</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85" normalizeH="0" baseline="0" noProof="0" dirty="0">
                <a:ln>
                  <a:noFill/>
                </a:ln>
                <a:solidFill>
                  <a:prstClr val="black"/>
                </a:solidFill>
                <a:effectLst/>
                <a:uLnTx/>
                <a:uFillTx/>
                <a:latin typeface="Calibri"/>
                <a:ea typeface="+mn-ea"/>
                <a:cs typeface="Calibri"/>
              </a:rPr>
              <a:t> </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2024</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年</a:t>
            </a:r>
            <a:r>
              <a:rPr kumimoji="0" lang="en-US" altLang="ja-JP" sz="2000" b="0" i="0" u="none" strike="noStrike" kern="1200" cap="none" spc="-5" normalizeH="0" baseline="0" noProof="0" dirty="0">
                <a:ln>
                  <a:noFill/>
                </a:ln>
                <a:solidFill>
                  <a:prstClr val="black"/>
                </a:solidFill>
                <a:effectLst/>
                <a:uLnTx/>
                <a:uFillTx/>
                <a:latin typeface="Calibri"/>
                <a:ea typeface="+mn-ea"/>
                <a:cs typeface="Calibri"/>
              </a:rPr>
              <a:t>02</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月</a:t>
            </a:r>
            <a:r>
              <a:rPr kumimoji="0" lang="en-US" altLang="ja-JP" sz="2000" b="0" i="0" u="none" strike="noStrike" kern="1200" cap="none" spc="-10" normalizeH="0" baseline="0" noProof="0" dirty="0">
                <a:ln>
                  <a:noFill/>
                </a:ln>
                <a:solidFill>
                  <a:prstClr val="black"/>
                </a:solidFill>
                <a:effectLst/>
                <a:uLnTx/>
                <a:uFillTx/>
                <a:latin typeface="Calibri"/>
                <a:ea typeface="+mn-ea"/>
                <a:cs typeface="Calibri"/>
              </a:rPr>
              <a:t>17</a:t>
            </a:r>
            <a:r>
              <a:rPr kumimoji="0" lang="ja-JP" altLang="en-US" sz="2000" b="0" i="0" u="none" strike="noStrike" kern="1200" cap="none" spc="5" normalizeH="0" baseline="0" noProof="0" dirty="0">
                <a:ln>
                  <a:noFill/>
                </a:ln>
                <a:solidFill>
                  <a:prstClr val="black"/>
                </a:solidFill>
                <a:effectLst/>
                <a:uLnTx/>
                <a:uFillTx/>
                <a:latin typeface="Yu Gothic"/>
                <a:ea typeface="+mn-ea"/>
                <a:cs typeface="Yu Gothic"/>
              </a:rPr>
              <a:t>日</a:t>
            </a:r>
            <a:endParaRPr kumimoji="0" lang="ja-JP" altLang="en-US" sz="200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ts val="2615"/>
              </a:lnSpc>
              <a:spcBef>
                <a:spcPts val="0"/>
              </a:spcBef>
              <a:spcAft>
                <a:spcPts val="0"/>
              </a:spcAft>
              <a:buClr>
                <a:srgbClr val="000000"/>
              </a:buClr>
              <a:buSzPct val="116666"/>
              <a:buFont typeface="Arial MT"/>
              <a:buChar char="•"/>
              <a:tabLst>
                <a:tab pos="283210" algn="l"/>
              </a:tabLst>
              <a:defRPr/>
            </a:pP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4"/>
              </a:rPr>
              <a:t>心理的安全性と</a:t>
            </a:r>
            <a:r>
              <a:rPr kumimoji="0" lang="ja-JP" altLang="en-US" sz="2400" b="0" i="0" u="heavy" strike="noStrike" kern="1200" cap="none" spc="540" normalizeH="0" baseline="0" noProof="0" dirty="0">
                <a:ln>
                  <a:noFill/>
                </a:ln>
                <a:solidFill>
                  <a:srgbClr val="0462C1"/>
                </a:solidFill>
                <a:effectLst/>
                <a:uLnTx/>
                <a:uFill>
                  <a:solidFill>
                    <a:srgbClr val="0462C1"/>
                  </a:solidFill>
                </a:uFill>
                <a:latin typeface="Yu Gothic"/>
                <a:ea typeface="+mn-ea"/>
                <a:cs typeface="Yu Gothic"/>
                <a:hlinkClick r:id="rId4"/>
              </a:rPr>
              <a:t>は</a:t>
            </a:r>
            <a:r>
              <a:rPr kumimoji="0" lang="en-US" altLang="ja-JP" sz="2400" b="0" i="0"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4"/>
              </a:rPr>
              <a:t>-</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4"/>
              </a:rPr>
              <a:t>リクルートマネジメントソリューションズ</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2140"/>
              </a:lnSpc>
              <a:spcBef>
                <a:spcPts val="0"/>
              </a:spcBef>
              <a:spcAft>
                <a:spcPts val="0"/>
              </a:spcAft>
              <a:buClrTx/>
              <a:buSzPct val="140000"/>
              <a:buFont typeface="Arial MT"/>
              <a:buChar char="•"/>
              <a:tabLst>
                <a:tab pos="72961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最終アクセス日</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65" normalizeH="0" baseline="0" noProof="0" dirty="0">
                <a:ln>
                  <a:noFill/>
                </a:ln>
                <a:solidFill>
                  <a:prstClr val="black"/>
                </a:solidFill>
                <a:effectLst/>
                <a:uLnTx/>
                <a:uFillTx/>
                <a:latin typeface="Calibri"/>
                <a:ea typeface="+mn-ea"/>
                <a:cs typeface="Calibri"/>
              </a:rPr>
              <a:t> </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2023</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年</a:t>
            </a:r>
            <a:r>
              <a:rPr kumimoji="0" lang="en-US" altLang="ja-JP" sz="2000" b="0" i="0" u="none" strike="noStrike" kern="1200" cap="none" spc="-5" normalizeH="0" baseline="0" noProof="0" dirty="0">
                <a:ln>
                  <a:noFill/>
                </a:ln>
                <a:solidFill>
                  <a:prstClr val="black"/>
                </a:solidFill>
                <a:effectLst/>
                <a:uLnTx/>
                <a:uFillTx/>
                <a:latin typeface="Calibri"/>
                <a:ea typeface="+mn-ea"/>
                <a:cs typeface="Calibri"/>
              </a:rPr>
              <a:t>11</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月</a:t>
            </a:r>
            <a:r>
              <a:rPr kumimoji="0" lang="en-US" altLang="ja-JP" sz="2000" b="0" i="0" u="none" strike="noStrike" kern="1200" cap="none" spc="-10" normalizeH="0" baseline="0" noProof="0" dirty="0">
                <a:ln>
                  <a:noFill/>
                </a:ln>
                <a:solidFill>
                  <a:prstClr val="black"/>
                </a:solidFill>
                <a:effectLst/>
                <a:uLnTx/>
                <a:uFillTx/>
                <a:latin typeface="Calibri"/>
                <a:ea typeface="+mn-ea"/>
                <a:cs typeface="Calibri"/>
              </a:rPr>
              <a:t>12</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日</a:t>
            </a:r>
          </a:p>
          <a:p>
            <a:pPr marL="282575" marR="0" lvl="0" indent="-270510" algn="l" defTabSz="914400" rtl="0" eaLnBrk="1" fontAlgn="auto" latinLnBrk="0" hangingPunct="1">
              <a:lnSpc>
                <a:spcPts val="2615"/>
              </a:lnSpc>
              <a:spcBef>
                <a:spcPts val="0"/>
              </a:spcBef>
              <a:spcAft>
                <a:spcPts val="0"/>
              </a:spcAft>
              <a:buClr>
                <a:srgbClr val="000000"/>
              </a:buClr>
              <a:buSzPct val="116666"/>
              <a:buFont typeface="Arial MT"/>
              <a:buChar char="•"/>
              <a:tabLst>
                <a:tab pos="283210" algn="l"/>
              </a:tabLst>
              <a:defRPr/>
            </a:pPr>
            <a:r>
              <a:rPr kumimoji="0" lang="en-US" altLang="ja-JP" sz="2400" b="0" i="0" u="heavy" strike="noStrike" kern="1200" cap="none" spc="-20" normalizeH="0" baseline="0" noProof="0" dirty="0">
                <a:ln>
                  <a:noFill/>
                </a:ln>
                <a:solidFill>
                  <a:srgbClr val="0462C1"/>
                </a:solidFill>
                <a:effectLst/>
                <a:uLnTx/>
                <a:uFill>
                  <a:solidFill>
                    <a:srgbClr val="0462C1"/>
                  </a:solidFill>
                </a:uFill>
                <a:latin typeface="Calibri"/>
                <a:ea typeface="+mn-ea"/>
                <a:cs typeface="Calibri"/>
                <a:hlinkClick r:id="rId4"/>
              </a:rPr>
              <a:t>Working</a:t>
            </a:r>
            <a:r>
              <a:rPr kumimoji="0" lang="ja-JP" altLang="en-US" sz="2400" b="0" i="0" u="heavy" strike="noStrike" kern="1200" cap="none" spc="-35" normalizeH="0" baseline="0" noProof="0" dirty="0">
                <a:ln>
                  <a:noFill/>
                </a:ln>
                <a:solidFill>
                  <a:srgbClr val="0462C1"/>
                </a:solidFill>
                <a:effectLst/>
                <a:uLnTx/>
                <a:uFill>
                  <a:solidFill>
                    <a:srgbClr val="0462C1"/>
                  </a:solidFill>
                </a:uFill>
                <a:latin typeface="Calibri"/>
                <a:ea typeface="+mn-ea"/>
                <a:cs typeface="Calibri"/>
                <a:hlinkClick r:id="rId4"/>
              </a:rPr>
              <a:t> </a:t>
            </a:r>
            <a:r>
              <a:rPr kumimoji="0" lang="en-US" altLang="ja-JP" sz="2400" b="0" i="0"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4"/>
              </a:rPr>
              <a:t>agreements</a:t>
            </a:r>
            <a:r>
              <a:rPr kumimoji="0" lang="ja-JP" altLang="en-US" sz="2400" b="0" i="0"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4"/>
              </a:rPr>
              <a:t> </a:t>
            </a:r>
            <a:r>
              <a:rPr kumimoji="0" lang="en-US" altLang="ja-JP" sz="2400" b="0" i="0" u="heavy" strike="noStrike" kern="1200" cap="none" spc="0" normalizeH="0" baseline="0" noProof="0" dirty="0">
                <a:ln>
                  <a:noFill/>
                </a:ln>
                <a:solidFill>
                  <a:srgbClr val="0462C1"/>
                </a:solidFill>
                <a:effectLst/>
                <a:uLnTx/>
                <a:uFill>
                  <a:solidFill>
                    <a:srgbClr val="0462C1"/>
                  </a:solidFill>
                </a:uFill>
                <a:latin typeface="Calibri"/>
                <a:ea typeface="+mn-ea"/>
                <a:cs typeface="Calibri"/>
                <a:hlinkClick r:id="rId4"/>
              </a:rPr>
              <a:t>-</a:t>
            </a:r>
            <a:r>
              <a:rPr kumimoji="0" lang="ja-JP" altLang="en-US" sz="2400" b="0" i="0" u="heavy" strike="noStrike" kern="1200" cap="none" spc="-20" normalizeH="0" baseline="0" noProof="0" dirty="0">
                <a:ln>
                  <a:noFill/>
                </a:ln>
                <a:solidFill>
                  <a:srgbClr val="0462C1"/>
                </a:solidFill>
                <a:effectLst/>
                <a:uLnTx/>
                <a:uFill>
                  <a:solidFill>
                    <a:srgbClr val="0462C1"/>
                  </a:solidFill>
                </a:uFill>
                <a:latin typeface="Calibri"/>
                <a:ea typeface="+mn-ea"/>
                <a:cs typeface="Calibri"/>
                <a:hlinkClick r:id="rId4"/>
              </a:rPr>
              <a:t> </a:t>
            </a:r>
            <a:r>
              <a:rPr kumimoji="0" lang="en-US" altLang="ja-JP" sz="2400" b="0" i="0" u="heavy" strike="noStrike" kern="1200" cap="none" spc="-30" normalizeH="0" baseline="0" noProof="0" dirty="0">
                <a:ln>
                  <a:noFill/>
                </a:ln>
                <a:solidFill>
                  <a:srgbClr val="0462C1"/>
                </a:solidFill>
                <a:effectLst/>
                <a:uLnTx/>
                <a:uFill>
                  <a:solidFill>
                    <a:srgbClr val="0462C1"/>
                  </a:solidFill>
                </a:uFill>
                <a:latin typeface="Calibri"/>
                <a:ea typeface="+mn-ea"/>
                <a:cs typeface="Calibri"/>
                <a:hlinkClick r:id="rId4"/>
              </a:rPr>
              <a:t>ATLASSIAN</a:t>
            </a:r>
            <a:endParaRPr kumimoji="0" lang="ja-JP" altLang="en-US" sz="2400" b="0" i="0" u="none" strike="noStrike" kern="1200" cap="none" spc="0" normalizeH="0" baseline="0" noProof="0" dirty="0">
              <a:ln>
                <a:noFill/>
              </a:ln>
              <a:solidFill>
                <a:prstClr val="black"/>
              </a:solidFill>
              <a:effectLst/>
              <a:uLnTx/>
              <a:uFillTx/>
              <a:latin typeface="Calibri"/>
              <a:ea typeface="+mn-ea"/>
              <a:cs typeface="Calibri"/>
            </a:endParaRPr>
          </a:p>
          <a:p>
            <a:pPr marL="728980" marR="0" lvl="1" indent="-259715" algn="l" defTabSz="914400" rtl="0" eaLnBrk="1" fontAlgn="auto" latinLnBrk="0" hangingPunct="1">
              <a:lnSpc>
                <a:spcPts val="2290"/>
              </a:lnSpc>
              <a:spcBef>
                <a:spcPts val="0"/>
              </a:spcBef>
              <a:spcAft>
                <a:spcPts val="0"/>
              </a:spcAft>
              <a:buClrTx/>
              <a:buSzPct val="140000"/>
              <a:buFont typeface="Arial MT"/>
              <a:buChar char="•"/>
              <a:tabLst>
                <a:tab pos="72961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最終アクセス日</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65" normalizeH="0" baseline="0" noProof="0" dirty="0">
                <a:ln>
                  <a:noFill/>
                </a:ln>
                <a:solidFill>
                  <a:prstClr val="black"/>
                </a:solidFill>
                <a:effectLst/>
                <a:uLnTx/>
                <a:uFillTx/>
                <a:latin typeface="Calibri"/>
                <a:ea typeface="+mn-ea"/>
                <a:cs typeface="Calibri"/>
              </a:rPr>
              <a:t> </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2023</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年</a:t>
            </a:r>
            <a:r>
              <a:rPr kumimoji="0" lang="en-US" altLang="ja-JP" sz="2000" b="0" i="0" u="none" strike="noStrike" kern="1200" cap="none" spc="-5" normalizeH="0" baseline="0" noProof="0" dirty="0">
                <a:ln>
                  <a:noFill/>
                </a:ln>
                <a:solidFill>
                  <a:prstClr val="black"/>
                </a:solidFill>
                <a:effectLst/>
                <a:uLnTx/>
                <a:uFillTx/>
                <a:latin typeface="Calibri"/>
                <a:ea typeface="+mn-ea"/>
                <a:cs typeface="Calibri"/>
              </a:rPr>
              <a:t>11</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月</a:t>
            </a:r>
            <a:r>
              <a:rPr kumimoji="0" lang="en-US" altLang="ja-JP" sz="2000" b="0" i="0" u="none" strike="noStrike" kern="1200" cap="none" spc="-10" normalizeH="0" baseline="0" noProof="0" dirty="0">
                <a:ln>
                  <a:noFill/>
                </a:ln>
                <a:solidFill>
                  <a:prstClr val="black"/>
                </a:solidFill>
                <a:effectLst/>
                <a:uLnTx/>
                <a:uFillTx/>
                <a:latin typeface="Calibri"/>
                <a:ea typeface="+mn-ea"/>
                <a:cs typeface="Calibri"/>
              </a:rPr>
              <a:t>13</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日</a:t>
            </a:r>
          </a:p>
        </p:txBody>
      </p:sp>
    </p:spTree>
    <p:extLst>
      <p:ext uri="{BB962C8B-B14F-4D97-AF65-F5344CB8AC3E}">
        <p14:creationId xmlns:p14="http://schemas.microsoft.com/office/powerpoint/2010/main" val="30412465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8000" b="-8000"/>
          </a:stretch>
        </a:blipFill>
        <a:effectLst/>
      </p:bgPr>
    </p:bg>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E6BD63-86C0-4411-B65D-4080E9A95274}"/>
              </a:ext>
            </a:extLst>
          </p:cNvPr>
          <p:cNvSpPr>
            <a:spLocks noGrp="1"/>
          </p:cNvSpPr>
          <p:nvPr>
            <p:ph idx="1"/>
          </p:nvPr>
        </p:nvSpPr>
        <p:spPr/>
        <p:txBody>
          <a:bodyPr>
            <a:normAutofit/>
          </a:bodyPr>
          <a:lstStyle/>
          <a:p>
            <a:pPr marL="0" indent="0" algn="ctr">
              <a:buNone/>
            </a:pPr>
            <a:endParaRPr lang="en-GB" sz="5400" b="1" dirty="0"/>
          </a:p>
          <a:p>
            <a:pPr marL="0" indent="0" algn="ctr">
              <a:buNone/>
            </a:pPr>
            <a:r>
              <a:rPr lang="en-GB" sz="5400" b="1" dirty="0"/>
              <a:t>EOD</a:t>
            </a:r>
          </a:p>
        </p:txBody>
      </p:sp>
      <p:sp>
        <p:nvSpPr>
          <p:cNvPr id="4" name="スライド番号プレースホルダー 3">
            <a:extLst>
              <a:ext uri="{FF2B5EF4-FFF2-40B4-BE49-F238E27FC236}">
                <a16:creationId xmlns:a16="http://schemas.microsoft.com/office/drawing/2014/main" id="{B2458194-12B8-434A-8D6D-E01520C89A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13576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6162</Words>
  <Application>Microsoft Office PowerPoint</Application>
  <PresentationFormat>Widescreen</PresentationFormat>
  <Paragraphs>332</Paragraphs>
  <Slides>36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-apple-system</vt:lpstr>
      <vt:lpstr>Arial MT</vt:lpstr>
      <vt:lpstr>Calibri (Headings)</vt:lpstr>
      <vt:lpstr>Yu Gothic</vt:lpstr>
      <vt:lpstr>Arial</vt:lpstr>
      <vt:lpstr>Calibri</vt:lpstr>
      <vt:lpstr>Calibri Light</vt:lpstr>
      <vt:lpstr>Office テーマ</vt:lpstr>
      <vt:lpstr>チームビルディングと雑談会</vt:lpstr>
      <vt:lpstr>自己紹介</vt:lpstr>
      <vt:lpstr>免許 / 資格</vt:lpstr>
      <vt:lpstr>スキルスタック</vt:lpstr>
      <vt:lpstr>職歴</vt:lpstr>
      <vt:lpstr>職歴</vt:lpstr>
      <vt:lpstr>国際交流活動</vt:lpstr>
      <vt:lpstr>目次</vt:lpstr>
      <vt:lpstr>1. はじめに</vt:lpstr>
      <vt:lpstr>1. はじめに</vt:lpstr>
      <vt:lpstr>1. はじめに</vt:lpstr>
      <vt:lpstr>1. はじめに</vt:lpstr>
      <vt:lpstr>2. そもそも「心理的安全性」とは？</vt:lpstr>
      <vt:lpstr>2. そもそも「心理的安全性」とは？</vt:lpstr>
      <vt:lpstr>3. 職場における「心理的安全性」</vt:lpstr>
      <vt:lpstr>3. 職場における「心理的安全性」</vt:lpstr>
      <vt:lpstr>3. 職場における「心理的安全性」</vt:lpstr>
      <vt:lpstr>3. 職場における「心理的安全性」</vt:lpstr>
      <vt:lpstr>3. 職場における「心理的安全性」</vt:lpstr>
      <vt:lpstr>4. 「心理的安全性」の3大前提条件</vt:lpstr>
      <vt:lpstr>4. 「心理的安全性」の3大前提条件</vt:lpstr>
      <vt:lpstr>5. 「心理的安全性」を醸成する方法</vt:lpstr>
      <vt:lpstr>5. 「心理的安全性」を醸成する方法</vt:lpstr>
      <vt:lpstr>5. 「心理的安全性」を醸成する方法</vt:lpstr>
      <vt:lpstr>6. 「雑談会」開催の妥当性</vt:lpstr>
      <vt:lpstr>6. 「雑談会」開催の妥当性</vt:lpstr>
      <vt:lpstr>6. 「雑談会」開催の妥当性</vt:lpstr>
      <vt:lpstr>6. 「雑談会」開催の妥当性</vt:lpstr>
      <vt:lpstr>7. チームメンバーからのフィードバック</vt:lpstr>
      <vt:lpstr>7. チームメンバーからのフィードバック</vt:lpstr>
      <vt:lpstr>7. チームメンバーからのフィードバック</vt:lpstr>
      <vt:lpstr>8. まとめ</vt:lpstr>
      <vt:lpstr>8. まとめ</vt:lpstr>
      <vt:lpstr>9. 参考文献</vt:lpstr>
      <vt:lpstr>9. 参考文献</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Hayato Ishida</dc:creator>
  <cp:lastModifiedBy>Hayato Ishida</cp:lastModifiedBy>
  <cp:revision>33</cp:revision>
  <dcterms:modified xsi:type="dcterms:W3CDTF">2025-09-01T03:38:02Z</dcterms:modified>
</cp:coreProperties>
</file>