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87" r:id="rId3"/>
    <p:sldId id="388" r:id="rId4"/>
    <p:sldId id="410" r:id="rId5"/>
    <p:sldId id="413" r:id="rId6"/>
    <p:sldId id="412" r:id="rId7"/>
    <p:sldId id="280" r:id="rId8"/>
    <p:sldId id="311" r:id="rId9"/>
    <p:sldId id="259" r:id="rId10"/>
    <p:sldId id="330" r:id="rId11"/>
    <p:sldId id="393" r:id="rId12"/>
    <p:sldId id="325" r:id="rId13"/>
    <p:sldId id="354" r:id="rId14"/>
    <p:sldId id="394" r:id="rId15"/>
    <p:sldId id="391" r:id="rId16"/>
    <p:sldId id="392" r:id="rId17"/>
    <p:sldId id="395" r:id="rId18"/>
    <p:sldId id="396" r:id="rId19"/>
    <p:sldId id="326" r:id="rId20"/>
    <p:sldId id="336" r:id="rId21"/>
    <p:sldId id="397" r:id="rId22"/>
    <p:sldId id="398" r:id="rId23"/>
    <p:sldId id="399" r:id="rId24"/>
    <p:sldId id="403" r:id="rId25"/>
    <p:sldId id="400" r:id="rId26"/>
    <p:sldId id="401" r:id="rId27"/>
    <p:sldId id="404" r:id="rId28"/>
    <p:sldId id="405" r:id="rId29"/>
    <p:sldId id="406" r:id="rId30"/>
    <p:sldId id="407" r:id="rId31"/>
    <p:sldId id="389" r:id="rId32"/>
    <p:sldId id="390" r:id="rId33"/>
    <p:sldId id="408" r:id="rId34"/>
    <p:sldId id="409" r:id="rId35"/>
    <p:sldId id="385" r:id="rId36"/>
    <p:sldId id="386" r:id="rId37"/>
    <p:sldId id="328" r:id="rId38"/>
    <p:sldId id="295" r:id="rId39"/>
    <p:sldId id="285"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石田 隼人" initials="石田" lastIdx="1" clrIdx="0">
    <p:extLst>
      <p:ext uri="{19B8F6BF-5375-455C-9EA6-DF929625EA0E}">
        <p15:presenceInfo xmlns:p15="http://schemas.microsoft.com/office/powerpoint/2012/main" userId="石田 隼人"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p:cViewPr varScale="1">
        <p:scale>
          <a:sx n="152" d="100"/>
          <a:sy n="152" d="100"/>
        </p:scale>
        <p:origin x="42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ato Ishida" userId="585fa0fa6384767c" providerId="LiveId" clId="{28B5ADBA-DDE6-4776-93D7-690289D1D54C}"/>
    <pc:docChg chg="custSel modSld">
      <pc:chgData name="Hayato Ishida" userId="585fa0fa6384767c" providerId="LiveId" clId="{28B5ADBA-DDE6-4776-93D7-690289D1D54C}" dt="2025-05-03T11:28:57.430" v="8"/>
      <pc:docMkLst>
        <pc:docMk/>
      </pc:docMkLst>
      <pc:sldChg chg="addSp delSp modSp mod">
        <pc:chgData name="Hayato Ishida" userId="585fa0fa6384767c" providerId="LiveId" clId="{28B5ADBA-DDE6-4776-93D7-690289D1D54C}" dt="2025-05-03T11:28:57.430" v="8"/>
        <pc:sldMkLst>
          <pc:docMk/>
          <pc:sldMk cId="2567433019" sldId="280"/>
        </pc:sldMkLst>
      </pc:sldChg>
      <pc:sldChg chg="addSp delSp modSp mod">
        <pc:chgData name="Hayato Ishida" userId="585fa0fa6384767c" providerId="LiveId" clId="{28B5ADBA-DDE6-4776-93D7-690289D1D54C}" dt="2025-05-03T11:28:51.678" v="7"/>
        <pc:sldMkLst>
          <pc:docMk/>
          <pc:sldMk cId="155858466" sldId="286"/>
        </pc:sldMkLst>
      </pc:sldChg>
      <pc:sldChg chg="addSp delSp modSp mod">
        <pc:chgData name="Hayato Ishida" userId="585fa0fa6384767c" providerId="LiveId" clId="{28B5ADBA-DDE6-4776-93D7-690289D1D54C}" dt="2025-05-03T11:28:45.380" v="6"/>
        <pc:sldMkLst>
          <pc:docMk/>
          <pc:sldMk cId="654251065" sldId="287"/>
        </pc:sldMkLst>
      </pc:sldChg>
    </pc:docChg>
  </pc:docChgLst>
  <pc:docChgLst>
    <pc:chgData name="Hayato Ishida" userId="585fa0fa6384767c" providerId="LiveId" clId="{3F80A8E5-1E43-4AFE-A76E-22ADECB0FA72}"/>
    <pc:docChg chg="custSel addSld delSld modSld sldOrd">
      <pc:chgData name="Hayato Ishida" userId="585fa0fa6384767c" providerId="LiveId" clId="{3F80A8E5-1E43-4AFE-A76E-22ADECB0FA72}" dt="2025-09-01T03:36:43.385" v="15"/>
      <pc:docMkLst>
        <pc:docMk/>
      </pc:docMkLst>
      <pc:sldChg chg="del">
        <pc:chgData name="Hayato Ishida" userId="585fa0fa6384767c" providerId="LiveId" clId="{3F80A8E5-1E43-4AFE-A76E-22ADECB0FA72}" dt="2025-08-31T18:01:45.285" v="6" actId="47"/>
        <pc:sldMkLst>
          <pc:docMk/>
          <pc:sldMk cId="155858466" sldId="286"/>
        </pc:sldMkLst>
      </pc:sldChg>
      <pc:sldChg chg="addSp delSp modSp mod">
        <pc:chgData name="Hayato Ishida" userId="585fa0fa6384767c" providerId="LiveId" clId="{3F80A8E5-1E43-4AFE-A76E-22ADECB0FA72}" dt="2025-08-31T18:03:46.875" v="11"/>
        <pc:sldMkLst>
          <pc:docMk/>
          <pc:sldMk cId="654251065" sldId="287"/>
        </pc:sldMkLst>
        <pc:spChg chg="add del mod">
          <ac:chgData name="Hayato Ishida" userId="585fa0fa6384767c" providerId="LiveId" clId="{3F80A8E5-1E43-4AFE-A76E-22ADECB0FA72}" dt="2025-08-31T18:01:38.242" v="1" actId="478"/>
          <ac:spMkLst>
            <pc:docMk/>
            <pc:sldMk cId="654251065" sldId="287"/>
            <ac:spMk id="3" creationId="{26BBFC7C-C307-E4A0-4042-A70AE327EE3E}"/>
          </ac:spMkLst>
        </pc:spChg>
        <pc:spChg chg="add del mod">
          <ac:chgData name="Hayato Ishida" userId="585fa0fa6384767c" providerId="LiveId" clId="{3F80A8E5-1E43-4AFE-A76E-22ADECB0FA72}" dt="2025-08-31T18:01:38.242" v="1" actId="478"/>
          <ac:spMkLst>
            <pc:docMk/>
            <pc:sldMk cId="654251065" sldId="287"/>
            <ac:spMk id="5" creationId="{3507E1EE-16F1-2D3D-310A-7E2370488EF4}"/>
          </ac:spMkLst>
        </pc:spChg>
        <pc:spChg chg="del">
          <ac:chgData name="Hayato Ishida" userId="585fa0fa6384767c" providerId="LiveId" clId="{3F80A8E5-1E43-4AFE-A76E-22ADECB0FA72}" dt="2025-08-31T18:01:36.954" v="0" actId="478"/>
          <ac:spMkLst>
            <pc:docMk/>
            <pc:sldMk cId="654251065" sldId="287"/>
            <ac:spMk id="6" creationId="{8C7FC459-8BCC-8F4A-6A00-BCFFB2DE742D}"/>
          </ac:spMkLst>
        </pc:spChg>
        <pc:spChg chg="del">
          <ac:chgData name="Hayato Ishida" userId="585fa0fa6384767c" providerId="LiveId" clId="{3F80A8E5-1E43-4AFE-A76E-22ADECB0FA72}" dt="2025-08-31T18:01:36.954" v="0" actId="478"/>
          <ac:spMkLst>
            <pc:docMk/>
            <pc:sldMk cId="654251065" sldId="287"/>
            <ac:spMk id="7" creationId="{1D569396-2242-85F3-8142-4BEB6B850B33}"/>
          </ac:spMkLst>
        </pc:spChg>
        <pc:spChg chg="del">
          <ac:chgData name="Hayato Ishida" userId="585fa0fa6384767c" providerId="LiveId" clId="{3F80A8E5-1E43-4AFE-A76E-22ADECB0FA72}" dt="2025-08-31T18:01:36.954" v="0" actId="478"/>
          <ac:spMkLst>
            <pc:docMk/>
            <pc:sldMk cId="654251065" sldId="287"/>
            <ac:spMk id="8" creationId="{0D71D676-C8A1-9CAB-03DE-24FB199B52F4}"/>
          </ac:spMkLst>
        </pc:spChg>
        <pc:spChg chg="add mod">
          <ac:chgData name="Hayato Ishida" userId="585fa0fa6384767c" providerId="LiveId" clId="{3F80A8E5-1E43-4AFE-A76E-22ADECB0FA72}" dt="2025-08-31T18:03:46.875" v="11"/>
          <ac:spMkLst>
            <pc:docMk/>
            <pc:sldMk cId="654251065" sldId="287"/>
            <ac:spMk id="9" creationId="{008591F0-0580-8490-E53A-5A6983E49CE6}"/>
          </ac:spMkLst>
        </pc:spChg>
        <pc:spChg chg="add mod">
          <ac:chgData name="Hayato Ishida" userId="585fa0fa6384767c" providerId="LiveId" clId="{3F80A8E5-1E43-4AFE-A76E-22ADECB0FA72}" dt="2025-08-31T18:03:46.875" v="11"/>
          <ac:spMkLst>
            <pc:docMk/>
            <pc:sldMk cId="654251065" sldId="287"/>
            <ac:spMk id="10" creationId="{115422D4-3365-2386-8AE5-D308069FDF0C}"/>
          </ac:spMkLst>
        </pc:spChg>
        <pc:spChg chg="add mod">
          <ac:chgData name="Hayato Ishida" userId="585fa0fa6384767c" providerId="LiveId" clId="{3F80A8E5-1E43-4AFE-A76E-22ADECB0FA72}" dt="2025-08-31T18:03:46.875" v="11"/>
          <ac:spMkLst>
            <pc:docMk/>
            <pc:sldMk cId="654251065" sldId="287"/>
            <ac:spMk id="11" creationId="{2C39CA46-4F63-2985-1E5B-06EE8A403235}"/>
          </ac:spMkLst>
        </pc:spChg>
        <pc:picChg chg="del">
          <ac:chgData name="Hayato Ishida" userId="585fa0fa6384767c" providerId="LiveId" clId="{3F80A8E5-1E43-4AFE-A76E-22ADECB0FA72}" dt="2025-08-31T18:01:36.954" v="0" actId="478"/>
          <ac:picMkLst>
            <pc:docMk/>
            <pc:sldMk cId="654251065" sldId="287"/>
            <ac:picMk id="12" creationId="{DFFABD3C-AB3A-25F7-0643-C5950936A47D}"/>
          </ac:picMkLst>
        </pc:picChg>
        <pc:picChg chg="add mod">
          <ac:chgData name="Hayato Ishida" userId="585fa0fa6384767c" providerId="LiveId" clId="{3F80A8E5-1E43-4AFE-A76E-22ADECB0FA72}" dt="2025-08-31T18:03:46.875" v="11"/>
          <ac:picMkLst>
            <pc:docMk/>
            <pc:sldMk cId="654251065" sldId="287"/>
            <ac:picMk id="13" creationId="{77D77198-8ECF-AF9C-466D-8D8590EFB71E}"/>
          </ac:picMkLst>
        </pc:picChg>
      </pc:sldChg>
      <pc:sldChg chg="del">
        <pc:chgData name="Hayato Ishida" userId="585fa0fa6384767c" providerId="LiveId" clId="{3F80A8E5-1E43-4AFE-A76E-22ADECB0FA72}" dt="2025-08-31T18:01:44.292" v="5" actId="47"/>
        <pc:sldMkLst>
          <pc:docMk/>
          <pc:sldMk cId="3064566856" sldId="387"/>
        </pc:sldMkLst>
      </pc:sldChg>
      <pc:sldChg chg="addSp modSp add ord">
        <pc:chgData name="Hayato Ishida" userId="585fa0fa6384767c" providerId="LiveId" clId="{3F80A8E5-1E43-4AFE-A76E-22ADECB0FA72}" dt="2025-08-31T18:05:48.763" v="12"/>
        <pc:sldMkLst>
          <pc:docMk/>
          <pc:sldMk cId="2296156226" sldId="410"/>
        </pc:sldMkLst>
        <pc:spChg chg="add mod">
          <ac:chgData name="Hayato Ishida" userId="585fa0fa6384767c" providerId="LiveId" clId="{3F80A8E5-1E43-4AFE-A76E-22ADECB0FA72}" dt="2025-08-31T18:05:48.763" v="12"/>
          <ac:spMkLst>
            <pc:docMk/>
            <pc:sldMk cId="2296156226" sldId="410"/>
            <ac:spMk id="2" creationId="{87B68D4A-424D-984D-3A0E-742F418718FF}"/>
          </ac:spMkLst>
        </pc:spChg>
        <pc:spChg chg="add mod">
          <ac:chgData name="Hayato Ishida" userId="585fa0fa6384767c" providerId="LiveId" clId="{3F80A8E5-1E43-4AFE-A76E-22ADECB0FA72}" dt="2025-08-31T18:05:48.763" v="12"/>
          <ac:spMkLst>
            <pc:docMk/>
            <pc:sldMk cId="2296156226" sldId="410"/>
            <ac:spMk id="3" creationId="{AECDE4D1-1023-2BEF-162B-AA32249D2CBE}"/>
          </ac:spMkLst>
        </pc:spChg>
        <pc:spChg chg="add mod">
          <ac:chgData name="Hayato Ishida" userId="585fa0fa6384767c" providerId="LiveId" clId="{3F80A8E5-1E43-4AFE-A76E-22ADECB0FA72}" dt="2025-08-31T18:05:48.763" v="12"/>
          <ac:spMkLst>
            <pc:docMk/>
            <pc:sldMk cId="2296156226" sldId="410"/>
            <ac:spMk id="4" creationId="{B2E7EDFE-6AEC-34BC-7358-3C52863825B0}"/>
          </ac:spMkLst>
        </pc:spChg>
      </pc:sldChg>
      <pc:sldChg chg="add del">
        <pc:chgData name="Hayato Ishida" userId="585fa0fa6384767c" providerId="LiveId" clId="{3F80A8E5-1E43-4AFE-A76E-22ADECB0FA72}" dt="2025-08-31T18:01:55.196" v="10" actId="47"/>
        <pc:sldMkLst>
          <pc:docMk/>
          <pc:sldMk cId="3317686038" sldId="411"/>
        </pc:sldMkLst>
      </pc:sldChg>
      <pc:sldChg chg="addSp modSp add">
        <pc:chgData name="Hayato Ishida" userId="585fa0fa6384767c" providerId="LiveId" clId="{3F80A8E5-1E43-4AFE-A76E-22ADECB0FA72}" dt="2025-09-01T03:36:43.385" v="15"/>
        <pc:sldMkLst>
          <pc:docMk/>
          <pc:sldMk cId="1588533442" sldId="412"/>
        </pc:sldMkLst>
        <pc:spChg chg="add mod">
          <ac:chgData name="Hayato Ishida" userId="585fa0fa6384767c" providerId="LiveId" clId="{3F80A8E5-1E43-4AFE-A76E-22ADECB0FA72}" dt="2025-08-31T18:08:58.002" v="14"/>
          <ac:spMkLst>
            <pc:docMk/>
            <pc:sldMk cId="1588533442" sldId="412"/>
            <ac:spMk id="2" creationId="{5BD95E13-1FA8-5AD4-3212-4402B808A0FD}"/>
          </ac:spMkLst>
        </pc:spChg>
        <pc:spChg chg="add mod">
          <ac:chgData name="Hayato Ishida" userId="585fa0fa6384767c" providerId="LiveId" clId="{3F80A8E5-1E43-4AFE-A76E-22ADECB0FA72}" dt="2025-08-31T18:08:58.002" v="14"/>
          <ac:spMkLst>
            <pc:docMk/>
            <pc:sldMk cId="1588533442" sldId="412"/>
            <ac:spMk id="3" creationId="{8877EBE6-4FCD-81BF-6FE3-FB71EA0BB24F}"/>
          </ac:spMkLst>
        </pc:spChg>
        <pc:graphicFrameChg chg="add mod">
          <ac:chgData name="Hayato Ishida" userId="585fa0fa6384767c" providerId="LiveId" clId="{3F80A8E5-1E43-4AFE-A76E-22ADECB0FA72}" dt="2025-09-01T03:36:43.385" v="15"/>
          <ac:graphicFrameMkLst>
            <pc:docMk/>
            <pc:sldMk cId="1588533442" sldId="412"/>
            <ac:graphicFrameMk id="4" creationId="{C4506200-9440-5A11-7F4A-28C81D1EF3D0}"/>
          </ac:graphicFrameMkLst>
        </pc:graphicFrameChg>
      </pc:sldChg>
      <pc:sldChg chg="addSp modSp add">
        <pc:chgData name="Hayato Ishida" userId="585fa0fa6384767c" providerId="LiveId" clId="{3F80A8E5-1E43-4AFE-A76E-22ADECB0FA72}" dt="2025-09-01T03:36:43.385" v="15"/>
        <pc:sldMkLst>
          <pc:docMk/>
          <pc:sldMk cId="2833841892" sldId="413"/>
        </pc:sldMkLst>
        <pc:spChg chg="add mod">
          <ac:chgData name="Hayato Ishida" userId="585fa0fa6384767c" providerId="LiveId" clId="{3F80A8E5-1E43-4AFE-A76E-22ADECB0FA72}" dt="2025-08-31T18:08:26.715" v="13"/>
          <ac:spMkLst>
            <pc:docMk/>
            <pc:sldMk cId="2833841892" sldId="413"/>
            <ac:spMk id="2" creationId="{15A9BFE1-6B5B-1A6C-4E9F-A2FBAF9A2549}"/>
          </ac:spMkLst>
        </pc:spChg>
        <pc:spChg chg="add mod">
          <ac:chgData name="Hayato Ishida" userId="585fa0fa6384767c" providerId="LiveId" clId="{3F80A8E5-1E43-4AFE-A76E-22ADECB0FA72}" dt="2025-08-31T18:08:26.715" v="13"/>
          <ac:spMkLst>
            <pc:docMk/>
            <pc:sldMk cId="2833841892" sldId="413"/>
            <ac:spMk id="3" creationId="{8CD6C71E-C1B1-2B46-2A3B-4AD57937C695}"/>
          </ac:spMkLst>
        </pc:spChg>
        <pc:graphicFrameChg chg="add mod">
          <ac:chgData name="Hayato Ishida" userId="585fa0fa6384767c" providerId="LiveId" clId="{3F80A8E5-1E43-4AFE-A76E-22ADECB0FA72}" dt="2025-09-01T03:36:43.385" v="15"/>
          <ac:graphicFrameMkLst>
            <pc:docMk/>
            <pc:sldMk cId="2833841892" sldId="413"/>
            <ac:graphicFrameMk id="4" creationId="{31767C96-FA92-DF8E-4811-A6FE97180AA0}"/>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44A6FF-6CD0-4509-9AC2-DC76F4CB715A}" type="doc">
      <dgm:prSet loTypeId="urn:microsoft.com/office/officeart/2005/8/layout/venn3" loCatId="relationship" qsTypeId="urn:microsoft.com/office/officeart/2005/8/quickstyle/simple1" qsCatId="simple" csTypeId="urn:microsoft.com/office/officeart/2005/8/colors/accent1_2" csCatId="accent1" phldr="1"/>
      <dgm:spPr/>
      <dgm:t>
        <a:bodyPr/>
        <a:lstStyle/>
        <a:p>
          <a:endParaRPr lang="en-GB"/>
        </a:p>
      </dgm:t>
    </dgm:pt>
    <dgm:pt modelId="{0BCBF355-3B73-45DD-9FB5-B9CB140C1E69}">
      <dgm:prSet phldrT="[Text]" custT="1"/>
      <dgm:spPr>
        <a:solidFill>
          <a:schemeClr val="accent1">
            <a:alpha val="50000"/>
          </a:schemeClr>
        </a:solidFill>
      </dgm:spPr>
      <dgm:t>
        <a:bodyPr/>
        <a:lstStyle/>
        <a:p>
          <a:r>
            <a:rPr lang="ja-JP" altLang="en-US" sz="2400" b="1" dirty="0"/>
            <a:t>山登り型</a:t>
          </a:r>
          <a:endParaRPr lang="en-GB" sz="2400" b="1" dirty="0"/>
        </a:p>
      </dgm:t>
    </dgm:pt>
    <dgm:pt modelId="{F3B7436A-2236-4EF5-9F5E-49BEA21D2F8B}" type="parTrans" cxnId="{E95153B7-D010-4214-A25B-3472D0A279C0}">
      <dgm:prSet/>
      <dgm:spPr/>
      <dgm:t>
        <a:bodyPr/>
        <a:lstStyle/>
        <a:p>
          <a:endParaRPr lang="en-GB"/>
        </a:p>
      </dgm:t>
    </dgm:pt>
    <dgm:pt modelId="{250538C2-CAAC-4735-8664-89454101D08A}" type="sibTrans" cxnId="{E95153B7-D010-4214-A25B-3472D0A279C0}">
      <dgm:prSet/>
      <dgm:spPr/>
      <dgm:t>
        <a:bodyPr/>
        <a:lstStyle/>
        <a:p>
          <a:endParaRPr lang="en-GB"/>
        </a:p>
      </dgm:t>
    </dgm:pt>
    <dgm:pt modelId="{488AF57A-C1E0-49BC-88A1-9FDE0C573D57}">
      <dgm:prSet phldrT="[Text]" custT="1"/>
      <dgm:spPr>
        <a:solidFill>
          <a:schemeClr val="accent2">
            <a:alpha val="50000"/>
          </a:schemeClr>
        </a:solidFill>
      </dgm:spPr>
      <dgm:t>
        <a:bodyPr/>
        <a:lstStyle/>
        <a:p>
          <a:r>
            <a:rPr lang="ja-JP" altLang="en-US" sz="2400" b="1" dirty="0"/>
            <a:t>川下り型</a:t>
          </a:r>
          <a:endParaRPr lang="en-GB" sz="2400" b="1" dirty="0"/>
        </a:p>
      </dgm:t>
    </dgm:pt>
    <dgm:pt modelId="{E3296C82-985F-4EED-A556-2D1BB1EEEFBB}" type="parTrans" cxnId="{0CB8A08D-4C5A-4E46-AB48-3ACD73E3ACA7}">
      <dgm:prSet/>
      <dgm:spPr/>
      <dgm:t>
        <a:bodyPr/>
        <a:lstStyle/>
        <a:p>
          <a:endParaRPr lang="en-GB"/>
        </a:p>
      </dgm:t>
    </dgm:pt>
    <dgm:pt modelId="{6E691DD8-1BEA-478C-8301-70F8A676E8B5}" type="sibTrans" cxnId="{0CB8A08D-4C5A-4E46-AB48-3ACD73E3ACA7}">
      <dgm:prSet/>
      <dgm:spPr/>
      <dgm:t>
        <a:bodyPr/>
        <a:lstStyle/>
        <a:p>
          <a:endParaRPr lang="en-GB"/>
        </a:p>
      </dgm:t>
    </dgm:pt>
    <dgm:pt modelId="{6F647C73-D99A-4C7B-AA82-68DF5BB1B4B2}" type="pres">
      <dgm:prSet presAssocID="{EA44A6FF-6CD0-4509-9AC2-DC76F4CB715A}" presName="Name0" presStyleCnt="0">
        <dgm:presLayoutVars>
          <dgm:dir/>
          <dgm:resizeHandles val="exact"/>
        </dgm:presLayoutVars>
      </dgm:prSet>
      <dgm:spPr/>
    </dgm:pt>
    <dgm:pt modelId="{956FCD88-FAEE-47A1-99E2-0AFA54B5EBA6}" type="pres">
      <dgm:prSet presAssocID="{0BCBF355-3B73-45DD-9FB5-B9CB140C1E69}" presName="Name5" presStyleLbl="vennNode1" presStyleIdx="0" presStyleCnt="2">
        <dgm:presLayoutVars>
          <dgm:bulletEnabled val="1"/>
        </dgm:presLayoutVars>
      </dgm:prSet>
      <dgm:spPr/>
    </dgm:pt>
    <dgm:pt modelId="{C45BDBE7-71D5-456A-B20C-40A17401FCEE}" type="pres">
      <dgm:prSet presAssocID="{250538C2-CAAC-4735-8664-89454101D08A}" presName="space" presStyleCnt="0"/>
      <dgm:spPr/>
    </dgm:pt>
    <dgm:pt modelId="{4CFCC12C-0257-432F-8E20-81E1611850CD}" type="pres">
      <dgm:prSet presAssocID="{488AF57A-C1E0-49BC-88A1-9FDE0C573D57}" presName="Name5" presStyleLbl="vennNode1" presStyleIdx="1" presStyleCnt="2">
        <dgm:presLayoutVars>
          <dgm:bulletEnabled val="1"/>
        </dgm:presLayoutVars>
      </dgm:prSet>
      <dgm:spPr/>
    </dgm:pt>
  </dgm:ptLst>
  <dgm:cxnLst>
    <dgm:cxn modelId="{53AF4C1B-A8C6-4FA3-98DF-047EF8DC557F}" type="presOf" srcId="{0BCBF355-3B73-45DD-9FB5-B9CB140C1E69}" destId="{956FCD88-FAEE-47A1-99E2-0AFA54B5EBA6}" srcOrd="0" destOrd="0" presId="urn:microsoft.com/office/officeart/2005/8/layout/venn3"/>
    <dgm:cxn modelId="{1D6C1C7E-D22A-49BE-9A56-2C803F10A3A6}" type="presOf" srcId="{488AF57A-C1E0-49BC-88A1-9FDE0C573D57}" destId="{4CFCC12C-0257-432F-8E20-81E1611850CD}" srcOrd="0" destOrd="0" presId="urn:microsoft.com/office/officeart/2005/8/layout/venn3"/>
    <dgm:cxn modelId="{0CB8A08D-4C5A-4E46-AB48-3ACD73E3ACA7}" srcId="{EA44A6FF-6CD0-4509-9AC2-DC76F4CB715A}" destId="{488AF57A-C1E0-49BC-88A1-9FDE0C573D57}" srcOrd="1" destOrd="0" parTransId="{E3296C82-985F-4EED-A556-2D1BB1EEEFBB}" sibTransId="{6E691DD8-1BEA-478C-8301-70F8A676E8B5}"/>
    <dgm:cxn modelId="{E95153B7-D010-4214-A25B-3472D0A279C0}" srcId="{EA44A6FF-6CD0-4509-9AC2-DC76F4CB715A}" destId="{0BCBF355-3B73-45DD-9FB5-B9CB140C1E69}" srcOrd="0" destOrd="0" parTransId="{F3B7436A-2236-4EF5-9F5E-49BEA21D2F8B}" sibTransId="{250538C2-CAAC-4735-8664-89454101D08A}"/>
    <dgm:cxn modelId="{FF2802D0-8CBD-4C3C-9057-E6EAE3C5CC32}" type="presOf" srcId="{EA44A6FF-6CD0-4509-9AC2-DC76F4CB715A}" destId="{6F647C73-D99A-4C7B-AA82-68DF5BB1B4B2}" srcOrd="0" destOrd="0" presId="urn:microsoft.com/office/officeart/2005/8/layout/venn3"/>
    <dgm:cxn modelId="{44B056B7-F946-4864-AEF3-35AA3BF101C2}" type="presParOf" srcId="{6F647C73-D99A-4C7B-AA82-68DF5BB1B4B2}" destId="{956FCD88-FAEE-47A1-99E2-0AFA54B5EBA6}" srcOrd="0" destOrd="0" presId="urn:microsoft.com/office/officeart/2005/8/layout/venn3"/>
    <dgm:cxn modelId="{878C41C2-84CD-44D3-A6E3-41C77244DE4B}" type="presParOf" srcId="{6F647C73-D99A-4C7B-AA82-68DF5BB1B4B2}" destId="{C45BDBE7-71D5-456A-B20C-40A17401FCEE}" srcOrd="1" destOrd="0" presId="urn:microsoft.com/office/officeart/2005/8/layout/venn3"/>
    <dgm:cxn modelId="{C24BF76A-506D-44B7-9638-EEF5BD446509}" type="presParOf" srcId="{6F647C73-D99A-4C7B-AA82-68DF5BB1B4B2}" destId="{4CFCC12C-0257-432F-8E20-81E1611850CD}" srcOrd="2" destOrd="0" presId="urn:microsoft.com/office/officeart/2005/8/layout/ven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A44A6FF-6CD0-4509-9AC2-DC76F4CB715A}" type="doc">
      <dgm:prSet loTypeId="urn:microsoft.com/office/officeart/2005/8/layout/venn3" loCatId="relationship" qsTypeId="urn:microsoft.com/office/officeart/2005/8/quickstyle/simple1" qsCatId="simple" csTypeId="urn:microsoft.com/office/officeart/2005/8/colors/accent1_2" csCatId="accent1" phldr="1"/>
      <dgm:spPr/>
      <dgm:t>
        <a:bodyPr/>
        <a:lstStyle/>
        <a:p>
          <a:endParaRPr lang="en-GB"/>
        </a:p>
      </dgm:t>
    </dgm:pt>
    <dgm:pt modelId="{0BCBF355-3B73-45DD-9FB5-B9CB140C1E69}">
      <dgm:prSet phldrT="[Text]" custT="1"/>
      <dgm:spPr>
        <a:solidFill>
          <a:schemeClr val="accent1">
            <a:alpha val="50000"/>
          </a:schemeClr>
        </a:solidFill>
      </dgm:spPr>
      <dgm:t>
        <a:bodyPr/>
        <a:lstStyle/>
        <a:p>
          <a:r>
            <a:rPr lang="ja-JP" altLang="en-US" sz="2400" b="1" dirty="0"/>
            <a:t>山登り型</a:t>
          </a:r>
          <a:endParaRPr lang="en-GB" sz="2400" b="1" dirty="0"/>
        </a:p>
      </dgm:t>
    </dgm:pt>
    <dgm:pt modelId="{F3B7436A-2236-4EF5-9F5E-49BEA21D2F8B}" type="parTrans" cxnId="{E95153B7-D010-4214-A25B-3472D0A279C0}">
      <dgm:prSet/>
      <dgm:spPr/>
      <dgm:t>
        <a:bodyPr/>
        <a:lstStyle/>
        <a:p>
          <a:endParaRPr lang="en-GB"/>
        </a:p>
      </dgm:t>
    </dgm:pt>
    <dgm:pt modelId="{250538C2-CAAC-4735-8664-89454101D08A}" type="sibTrans" cxnId="{E95153B7-D010-4214-A25B-3472D0A279C0}">
      <dgm:prSet/>
      <dgm:spPr/>
      <dgm:t>
        <a:bodyPr/>
        <a:lstStyle/>
        <a:p>
          <a:endParaRPr lang="en-GB"/>
        </a:p>
      </dgm:t>
    </dgm:pt>
    <dgm:pt modelId="{488AF57A-C1E0-49BC-88A1-9FDE0C573D57}">
      <dgm:prSet phldrT="[Text]" custT="1"/>
      <dgm:spPr>
        <a:solidFill>
          <a:schemeClr val="accent2">
            <a:alpha val="50000"/>
          </a:schemeClr>
        </a:solidFill>
      </dgm:spPr>
      <dgm:t>
        <a:bodyPr/>
        <a:lstStyle/>
        <a:p>
          <a:r>
            <a:rPr lang="ja-JP" altLang="en-US" sz="2400" b="1" dirty="0"/>
            <a:t>川下り型</a:t>
          </a:r>
          <a:endParaRPr lang="en-GB" sz="2400" b="1" dirty="0"/>
        </a:p>
      </dgm:t>
    </dgm:pt>
    <dgm:pt modelId="{E3296C82-985F-4EED-A556-2D1BB1EEEFBB}" type="parTrans" cxnId="{0CB8A08D-4C5A-4E46-AB48-3ACD73E3ACA7}">
      <dgm:prSet/>
      <dgm:spPr/>
      <dgm:t>
        <a:bodyPr/>
        <a:lstStyle/>
        <a:p>
          <a:endParaRPr lang="en-GB"/>
        </a:p>
      </dgm:t>
    </dgm:pt>
    <dgm:pt modelId="{6E691DD8-1BEA-478C-8301-70F8A676E8B5}" type="sibTrans" cxnId="{0CB8A08D-4C5A-4E46-AB48-3ACD73E3ACA7}">
      <dgm:prSet/>
      <dgm:spPr/>
      <dgm:t>
        <a:bodyPr/>
        <a:lstStyle/>
        <a:p>
          <a:endParaRPr lang="en-GB"/>
        </a:p>
      </dgm:t>
    </dgm:pt>
    <dgm:pt modelId="{6F647C73-D99A-4C7B-AA82-68DF5BB1B4B2}" type="pres">
      <dgm:prSet presAssocID="{EA44A6FF-6CD0-4509-9AC2-DC76F4CB715A}" presName="Name0" presStyleCnt="0">
        <dgm:presLayoutVars>
          <dgm:dir/>
          <dgm:resizeHandles val="exact"/>
        </dgm:presLayoutVars>
      </dgm:prSet>
      <dgm:spPr/>
    </dgm:pt>
    <dgm:pt modelId="{956FCD88-FAEE-47A1-99E2-0AFA54B5EBA6}" type="pres">
      <dgm:prSet presAssocID="{0BCBF355-3B73-45DD-9FB5-B9CB140C1E69}" presName="Name5" presStyleLbl="vennNode1" presStyleIdx="0" presStyleCnt="2">
        <dgm:presLayoutVars>
          <dgm:bulletEnabled val="1"/>
        </dgm:presLayoutVars>
      </dgm:prSet>
      <dgm:spPr/>
    </dgm:pt>
    <dgm:pt modelId="{C45BDBE7-71D5-456A-B20C-40A17401FCEE}" type="pres">
      <dgm:prSet presAssocID="{250538C2-CAAC-4735-8664-89454101D08A}" presName="space" presStyleCnt="0"/>
      <dgm:spPr/>
    </dgm:pt>
    <dgm:pt modelId="{4CFCC12C-0257-432F-8E20-81E1611850CD}" type="pres">
      <dgm:prSet presAssocID="{488AF57A-C1E0-49BC-88A1-9FDE0C573D57}" presName="Name5" presStyleLbl="vennNode1" presStyleIdx="1" presStyleCnt="2">
        <dgm:presLayoutVars>
          <dgm:bulletEnabled val="1"/>
        </dgm:presLayoutVars>
      </dgm:prSet>
      <dgm:spPr/>
    </dgm:pt>
  </dgm:ptLst>
  <dgm:cxnLst>
    <dgm:cxn modelId="{53AF4C1B-A8C6-4FA3-98DF-047EF8DC557F}" type="presOf" srcId="{0BCBF355-3B73-45DD-9FB5-B9CB140C1E69}" destId="{956FCD88-FAEE-47A1-99E2-0AFA54B5EBA6}" srcOrd="0" destOrd="0" presId="urn:microsoft.com/office/officeart/2005/8/layout/venn3"/>
    <dgm:cxn modelId="{1D6C1C7E-D22A-49BE-9A56-2C803F10A3A6}" type="presOf" srcId="{488AF57A-C1E0-49BC-88A1-9FDE0C573D57}" destId="{4CFCC12C-0257-432F-8E20-81E1611850CD}" srcOrd="0" destOrd="0" presId="urn:microsoft.com/office/officeart/2005/8/layout/venn3"/>
    <dgm:cxn modelId="{0CB8A08D-4C5A-4E46-AB48-3ACD73E3ACA7}" srcId="{EA44A6FF-6CD0-4509-9AC2-DC76F4CB715A}" destId="{488AF57A-C1E0-49BC-88A1-9FDE0C573D57}" srcOrd="1" destOrd="0" parTransId="{E3296C82-985F-4EED-A556-2D1BB1EEEFBB}" sibTransId="{6E691DD8-1BEA-478C-8301-70F8A676E8B5}"/>
    <dgm:cxn modelId="{E95153B7-D010-4214-A25B-3472D0A279C0}" srcId="{EA44A6FF-6CD0-4509-9AC2-DC76F4CB715A}" destId="{0BCBF355-3B73-45DD-9FB5-B9CB140C1E69}" srcOrd="0" destOrd="0" parTransId="{F3B7436A-2236-4EF5-9F5E-49BEA21D2F8B}" sibTransId="{250538C2-CAAC-4735-8664-89454101D08A}"/>
    <dgm:cxn modelId="{FF2802D0-8CBD-4C3C-9057-E6EAE3C5CC32}" type="presOf" srcId="{EA44A6FF-6CD0-4509-9AC2-DC76F4CB715A}" destId="{6F647C73-D99A-4C7B-AA82-68DF5BB1B4B2}" srcOrd="0" destOrd="0" presId="urn:microsoft.com/office/officeart/2005/8/layout/venn3"/>
    <dgm:cxn modelId="{44B056B7-F946-4864-AEF3-35AA3BF101C2}" type="presParOf" srcId="{6F647C73-D99A-4C7B-AA82-68DF5BB1B4B2}" destId="{956FCD88-FAEE-47A1-99E2-0AFA54B5EBA6}" srcOrd="0" destOrd="0" presId="urn:microsoft.com/office/officeart/2005/8/layout/venn3"/>
    <dgm:cxn modelId="{878C41C2-84CD-44D3-A6E3-41C77244DE4B}" type="presParOf" srcId="{6F647C73-D99A-4C7B-AA82-68DF5BB1B4B2}" destId="{C45BDBE7-71D5-456A-B20C-40A17401FCEE}" srcOrd="1" destOrd="0" presId="urn:microsoft.com/office/officeart/2005/8/layout/venn3"/>
    <dgm:cxn modelId="{C24BF76A-506D-44B7-9638-EEF5BD446509}" type="presParOf" srcId="{6F647C73-D99A-4C7B-AA82-68DF5BB1B4B2}" destId="{4CFCC12C-0257-432F-8E20-81E1611850CD}" srcOrd="2" destOrd="0" presId="urn:microsoft.com/office/officeart/2005/8/layout/ven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6FCD88-FAEE-47A1-99E2-0AFA54B5EBA6}">
      <dsp:nvSpPr>
        <dsp:cNvPr id="0" name=""/>
        <dsp:cNvSpPr/>
      </dsp:nvSpPr>
      <dsp:spPr>
        <a:xfrm>
          <a:off x="3286" y="61169"/>
          <a:ext cx="2333226" cy="2333226"/>
        </a:xfrm>
        <a:prstGeom prst="ellipse">
          <a:avLst/>
        </a:prstGeom>
        <a:solidFill>
          <a:schemeClr val="accent1">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28405" tIns="30480" rIns="128405" bIns="30480" numCol="1" spcCol="1270" anchor="ctr" anchorCtr="0">
          <a:noAutofit/>
        </a:bodyPr>
        <a:lstStyle/>
        <a:p>
          <a:pPr marL="0" lvl="0" indent="0" algn="ctr" defTabSz="1066800">
            <a:lnSpc>
              <a:spcPct val="90000"/>
            </a:lnSpc>
            <a:spcBef>
              <a:spcPct val="0"/>
            </a:spcBef>
            <a:spcAft>
              <a:spcPct val="35000"/>
            </a:spcAft>
            <a:buNone/>
          </a:pPr>
          <a:r>
            <a:rPr lang="ja-JP" altLang="en-US" sz="2400" b="1" kern="1200" dirty="0"/>
            <a:t>山登り型</a:t>
          </a:r>
          <a:endParaRPr lang="en-GB" sz="2400" b="1" kern="1200" dirty="0"/>
        </a:p>
      </dsp:txBody>
      <dsp:txXfrm>
        <a:off x="344979" y="402862"/>
        <a:ext cx="1649840" cy="1649840"/>
      </dsp:txXfrm>
    </dsp:sp>
    <dsp:sp modelId="{4CFCC12C-0257-432F-8E20-81E1611850CD}">
      <dsp:nvSpPr>
        <dsp:cNvPr id="0" name=""/>
        <dsp:cNvSpPr/>
      </dsp:nvSpPr>
      <dsp:spPr>
        <a:xfrm>
          <a:off x="1869867" y="61169"/>
          <a:ext cx="2333226" cy="2333226"/>
        </a:xfrm>
        <a:prstGeom prst="ellipse">
          <a:avLst/>
        </a:prstGeom>
        <a:solidFill>
          <a:schemeClr val="accent2">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28405" tIns="30480" rIns="128405" bIns="30480" numCol="1" spcCol="1270" anchor="ctr" anchorCtr="0">
          <a:noAutofit/>
        </a:bodyPr>
        <a:lstStyle/>
        <a:p>
          <a:pPr marL="0" lvl="0" indent="0" algn="ctr" defTabSz="1066800">
            <a:lnSpc>
              <a:spcPct val="90000"/>
            </a:lnSpc>
            <a:spcBef>
              <a:spcPct val="0"/>
            </a:spcBef>
            <a:spcAft>
              <a:spcPct val="35000"/>
            </a:spcAft>
            <a:buNone/>
          </a:pPr>
          <a:r>
            <a:rPr lang="ja-JP" altLang="en-US" sz="2400" b="1" kern="1200" dirty="0"/>
            <a:t>川下り型</a:t>
          </a:r>
          <a:endParaRPr lang="en-GB" sz="2400" b="1" kern="1200" dirty="0"/>
        </a:p>
      </dsp:txBody>
      <dsp:txXfrm>
        <a:off x="2211560" y="402862"/>
        <a:ext cx="1649840" cy="16498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6FCD88-FAEE-47A1-99E2-0AFA54B5EBA6}">
      <dsp:nvSpPr>
        <dsp:cNvPr id="0" name=""/>
        <dsp:cNvSpPr/>
      </dsp:nvSpPr>
      <dsp:spPr>
        <a:xfrm>
          <a:off x="3286" y="61169"/>
          <a:ext cx="2333226" cy="2333226"/>
        </a:xfrm>
        <a:prstGeom prst="ellipse">
          <a:avLst/>
        </a:prstGeom>
        <a:solidFill>
          <a:schemeClr val="accent1">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28405" tIns="30480" rIns="128405" bIns="30480" numCol="1" spcCol="1270" anchor="ctr" anchorCtr="0">
          <a:noAutofit/>
        </a:bodyPr>
        <a:lstStyle/>
        <a:p>
          <a:pPr marL="0" lvl="0" indent="0" algn="ctr" defTabSz="1066800">
            <a:lnSpc>
              <a:spcPct val="90000"/>
            </a:lnSpc>
            <a:spcBef>
              <a:spcPct val="0"/>
            </a:spcBef>
            <a:spcAft>
              <a:spcPct val="35000"/>
            </a:spcAft>
            <a:buNone/>
          </a:pPr>
          <a:r>
            <a:rPr lang="ja-JP" altLang="en-US" sz="2400" b="1" kern="1200" dirty="0"/>
            <a:t>山登り型</a:t>
          </a:r>
          <a:endParaRPr lang="en-GB" sz="2400" b="1" kern="1200" dirty="0"/>
        </a:p>
      </dsp:txBody>
      <dsp:txXfrm>
        <a:off x="344979" y="402862"/>
        <a:ext cx="1649840" cy="1649840"/>
      </dsp:txXfrm>
    </dsp:sp>
    <dsp:sp modelId="{4CFCC12C-0257-432F-8E20-81E1611850CD}">
      <dsp:nvSpPr>
        <dsp:cNvPr id="0" name=""/>
        <dsp:cNvSpPr/>
      </dsp:nvSpPr>
      <dsp:spPr>
        <a:xfrm>
          <a:off x="1869867" y="61169"/>
          <a:ext cx="2333226" cy="2333226"/>
        </a:xfrm>
        <a:prstGeom prst="ellipse">
          <a:avLst/>
        </a:prstGeom>
        <a:solidFill>
          <a:schemeClr val="accent2">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28405" tIns="30480" rIns="128405" bIns="30480" numCol="1" spcCol="1270" anchor="ctr" anchorCtr="0">
          <a:noAutofit/>
        </a:bodyPr>
        <a:lstStyle/>
        <a:p>
          <a:pPr marL="0" lvl="0" indent="0" algn="ctr" defTabSz="1066800">
            <a:lnSpc>
              <a:spcPct val="90000"/>
            </a:lnSpc>
            <a:spcBef>
              <a:spcPct val="0"/>
            </a:spcBef>
            <a:spcAft>
              <a:spcPct val="35000"/>
            </a:spcAft>
            <a:buNone/>
          </a:pPr>
          <a:r>
            <a:rPr lang="ja-JP" altLang="en-US" sz="2400" b="1" kern="1200" dirty="0"/>
            <a:t>川下り型</a:t>
          </a:r>
          <a:endParaRPr lang="en-GB" sz="2400" b="1" kern="1200" dirty="0"/>
        </a:p>
      </dsp:txBody>
      <dsp:txXfrm>
        <a:off x="2211560" y="402862"/>
        <a:ext cx="1649840" cy="1649840"/>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77555-114C-4D13-A8E9-982D3FBDE682}" type="datetimeFigureOut">
              <a:rPr lang="en-GB" smtClean="0"/>
              <a:t>01/09/2025</a:t>
            </a:fld>
            <a:endParaRPr lang="en-GB"/>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87483F-3F00-45CA-B9CE-71766AA0FCEC}" type="slidenum">
              <a:rPr lang="en-GB" smtClean="0"/>
              <a:t>‹#›</a:t>
            </a:fld>
            <a:endParaRPr lang="en-GB"/>
          </a:p>
        </p:txBody>
      </p:sp>
    </p:spTree>
    <p:extLst>
      <p:ext uri="{BB962C8B-B14F-4D97-AF65-F5344CB8AC3E}">
        <p14:creationId xmlns:p14="http://schemas.microsoft.com/office/powerpoint/2010/main" val="3440713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3A420-A6C3-4DFD-BC9B-A28C54480400}"/>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27785ED6-1F11-4995-8802-E7A92ED6F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67A83ED-D7FC-4E75-93FA-7CA4EB139197}"/>
              </a:ext>
            </a:extLst>
          </p:cNvPr>
          <p:cNvSpPr>
            <a:spLocks noGrp="1"/>
          </p:cNvSpPr>
          <p:nvPr>
            <p:ph type="dt" sz="half" idx="10"/>
          </p:nvPr>
        </p:nvSpPr>
        <p:spPr/>
        <p:txBody>
          <a:bodyPr/>
          <a:lstStyle/>
          <a:p>
            <a:fld id="{AF5D98A5-C926-421E-8D16-8672B57BCFF1}" type="datetime1">
              <a:rPr lang="en-GB" smtClean="0"/>
              <a:t>01/09/2025</a:t>
            </a:fld>
            <a:endParaRPr lang="en-GB"/>
          </a:p>
        </p:txBody>
      </p:sp>
      <p:sp>
        <p:nvSpPr>
          <p:cNvPr id="5" name="フッター プレースホルダー 4">
            <a:extLst>
              <a:ext uri="{FF2B5EF4-FFF2-40B4-BE49-F238E27FC236}">
                <a16:creationId xmlns:a16="http://schemas.microsoft.com/office/drawing/2014/main" id="{1D536A7D-2F90-40CC-80C9-D5DFA5931BE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2F47EE9-ABD2-45F2-8DDF-94F9AFE52B5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43811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62872-9097-4551-92E5-A9EFABF75DFB}"/>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D276671E-317F-404E-8053-6A0A955B7C1C}"/>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9917538-7854-4E06-A143-495AC9D08204}"/>
              </a:ext>
            </a:extLst>
          </p:cNvPr>
          <p:cNvSpPr>
            <a:spLocks noGrp="1"/>
          </p:cNvSpPr>
          <p:nvPr>
            <p:ph type="dt" sz="half" idx="10"/>
          </p:nvPr>
        </p:nvSpPr>
        <p:spPr/>
        <p:txBody>
          <a:bodyPr/>
          <a:lstStyle/>
          <a:p>
            <a:fld id="{5A2F9E5C-BB41-4DEE-A1EA-DBAEA4256446}" type="datetime1">
              <a:rPr lang="en-GB" smtClean="0"/>
              <a:t>01/09/2025</a:t>
            </a:fld>
            <a:endParaRPr lang="en-GB"/>
          </a:p>
        </p:txBody>
      </p:sp>
      <p:sp>
        <p:nvSpPr>
          <p:cNvPr id="5" name="フッター プレースホルダー 4">
            <a:extLst>
              <a:ext uri="{FF2B5EF4-FFF2-40B4-BE49-F238E27FC236}">
                <a16:creationId xmlns:a16="http://schemas.microsoft.com/office/drawing/2014/main" id="{7A4511E7-C4EE-48B3-832D-D6EE6A960143}"/>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7D71E43-553D-4A66-92CB-9785522DCEB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11880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78576-E3DC-4F83-AFE3-90CF203F3C2A}"/>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B476DC57-139C-48BA-B542-00433365DC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41BA6EC9-A18D-44DC-AC03-EDA535FC4C3D}"/>
              </a:ext>
            </a:extLst>
          </p:cNvPr>
          <p:cNvSpPr>
            <a:spLocks noGrp="1"/>
          </p:cNvSpPr>
          <p:nvPr>
            <p:ph type="dt" sz="half" idx="10"/>
          </p:nvPr>
        </p:nvSpPr>
        <p:spPr/>
        <p:txBody>
          <a:bodyPr/>
          <a:lstStyle/>
          <a:p>
            <a:fld id="{A7E24A89-DB0D-48E1-8471-1D24BDCF8ED1}" type="datetime1">
              <a:rPr lang="en-GB" smtClean="0"/>
              <a:t>01/09/2025</a:t>
            </a:fld>
            <a:endParaRPr lang="en-GB"/>
          </a:p>
        </p:txBody>
      </p:sp>
      <p:sp>
        <p:nvSpPr>
          <p:cNvPr id="5" name="フッター プレースホルダー 4">
            <a:extLst>
              <a:ext uri="{FF2B5EF4-FFF2-40B4-BE49-F238E27FC236}">
                <a16:creationId xmlns:a16="http://schemas.microsoft.com/office/drawing/2014/main" id="{B3649445-1B62-4CF3-8E24-C4237F94565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5C343D9-1467-4169-8338-FE5AEB88B05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817010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CB7BA-528D-4232-B694-570FC36B96A2}"/>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BAFC298-407B-4183-A4C6-ECFBF7BE4B5D}"/>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13819996-4F41-4E1B-A7D2-68A930127528}"/>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D87AA123-3779-4C89-A120-D8C36EFF2EEB}"/>
              </a:ext>
            </a:extLst>
          </p:cNvPr>
          <p:cNvSpPr>
            <a:spLocks noGrp="1"/>
          </p:cNvSpPr>
          <p:nvPr>
            <p:ph type="dt" sz="half" idx="10"/>
          </p:nvPr>
        </p:nvSpPr>
        <p:spPr/>
        <p:txBody>
          <a:bodyPr/>
          <a:lstStyle/>
          <a:p>
            <a:fld id="{F64D5387-62D3-481B-BBE0-5C3C88B297B2}" type="datetime1">
              <a:rPr lang="en-GB" smtClean="0"/>
              <a:t>01/09/2025</a:t>
            </a:fld>
            <a:endParaRPr lang="en-GB"/>
          </a:p>
        </p:txBody>
      </p:sp>
      <p:sp>
        <p:nvSpPr>
          <p:cNvPr id="6" name="フッター プレースホルダー 5">
            <a:extLst>
              <a:ext uri="{FF2B5EF4-FFF2-40B4-BE49-F238E27FC236}">
                <a16:creationId xmlns:a16="http://schemas.microsoft.com/office/drawing/2014/main" id="{7BC9968F-4821-42DF-A0AE-DE8C2DAAC784}"/>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4E5EBA0-D3D5-4A64-B7F9-5BDAC45C478E}"/>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842740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E56CA-F2EB-44BB-AF5E-63BAB6F11795}"/>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DBC6BB7A-29D5-421E-A385-A3E3EB46B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9AFA027A-6FEA-404B-A426-5714EEEEF59E}"/>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E893EF15-B619-40ED-B8BE-2BF881506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1F3F2AE8-4F41-4737-8697-4FF74A0A6C39}"/>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2D695459-80F1-47BE-B12B-B91FB7221C80}"/>
              </a:ext>
            </a:extLst>
          </p:cNvPr>
          <p:cNvSpPr>
            <a:spLocks noGrp="1"/>
          </p:cNvSpPr>
          <p:nvPr>
            <p:ph type="dt" sz="half" idx="10"/>
          </p:nvPr>
        </p:nvSpPr>
        <p:spPr/>
        <p:txBody>
          <a:bodyPr/>
          <a:lstStyle/>
          <a:p>
            <a:fld id="{43CF17D8-7CE6-4CF7-8FAB-60185E786EB9}" type="datetime1">
              <a:rPr lang="en-GB" smtClean="0"/>
              <a:t>01/09/2025</a:t>
            </a:fld>
            <a:endParaRPr lang="en-GB"/>
          </a:p>
        </p:txBody>
      </p:sp>
      <p:sp>
        <p:nvSpPr>
          <p:cNvPr id="8" name="フッター プレースホルダー 7">
            <a:extLst>
              <a:ext uri="{FF2B5EF4-FFF2-40B4-BE49-F238E27FC236}">
                <a16:creationId xmlns:a16="http://schemas.microsoft.com/office/drawing/2014/main" id="{F522F667-D14E-47A7-8AF2-CA42934D6812}"/>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B40F02E5-6D55-4748-8E9E-996F4576B4B9}"/>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681466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9F8DAA-4277-4BAC-B679-1957A2C7AAA9}"/>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4B19C73D-345B-49EF-9EE4-390986E8FA04}"/>
              </a:ext>
            </a:extLst>
          </p:cNvPr>
          <p:cNvSpPr>
            <a:spLocks noGrp="1"/>
          </p:cNvSpPr>
          <p:nvPr>
            <p:ph type="dt" sz="half" idx="10"/>
          </p:nvPr>
        </p:nvSpPr>
        <p:spPr/>
        <p:txBody>
          <a:bodyPr/>
          <a:lstStyle/>
          <a:p>
            <a:fld id="{43C7B8A6-723D-47BA-A0C2-370A8E40CF5A}" type="datetime1">
              <a:rPr lang="en-GB" smtClean="0"/>
              <a:t>01/09/2025</a:t>
            </a:fld>
            <a:endParaRPr lang="en-GB"/>
          </a:p>
        </p:txBody>
      </p:sp>
      <p:sp>
        <p:nvSpPr>
          <p:cNvPr id="4" name="フッター プレースホルダー 3">
            <a:extLst>
              <a:ext uri="{FF2B5EF4-FFF2-40B4-BE49-F238E27FC236}">
                <a16:creationId xmlns:a16="http://schemas.microsoft.com/office/drawing/2014/main" id="{787A8E7A-3F8E-4FC5-BB3F-FD7FCEFA65A2}"/>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5C3D0E4C-C376-468C-A780-75B4305757BA}"/>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5561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5D00E3-6A1E-40BC-AA99-CAF238224846}"/>
              </a:ext>
            </a:extLst>
          </p:cNvPr>
          <p:cNvSpPr>
            <a:spLocks noGrp="1"/>
          </p:cNvSpPr>
          <p:nvPr>
            <p:ph type="dt" sz="half" idx="10"/>
          </p:nvPr>
        </p:nvSpPr>
        <p:spPr/>
        <p:txBody>
          <a:bodyPr/>
          <a:lstStyle/>
          <a:p>
            <a:fld id="{FB3FA632-D8E5-4DA3-B4CD-9FEBF68DCEB0}" type="datetime1">
              <a:rPr lang="en-GB" smtClean="0"/>
              <a:t>01/09/2025</a:t>
            </a:fld>
            <a:endParaRPr lang="en-GB"/>
          </a:p>
        </p:txBody>
      </p:sp>
      <p:sp>
        <p:nvSpPr>
          <p:cNvPr id="3" name="フッター プレースホルダー 2">
            <a:extLst>
              <a:ext uri="{FF2B5EF4-FFF2-40B4-BE49-F238E27FC236}">
                <a16:creationId xmlns:a16="http://schemas.microsoft.com/office/drawing/2014/main" id="{45AEBF75-6C76-481B-9AAC-C70F3C28C99E}"/>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9CEB2586-BFD5-4D03-9AFF-B3681D6009F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19247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1D1B4-D81C-46C1-A422-8FE83A5AA20B}"/>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1E1E09BE-13F6-4301-AB16-2FB109C5F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16B65445-0016-4746-A03B-F99F35DC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12A4359-9369-4B46-B534-E689E6C82224}"/>
              </a:ext>
            </a:extLst>
          </p:cNvPr>
          <p:cNvSpPr>
            <a:spLocks noGrp="1"/>
          </p:cNvSpPr>
          <p:nvPr>
            <p:ph type="dt" sz="half" idx="10"/>
          </p:nvPr>
        </p:nvSpPr>
        <p:spPr/>
        <p:txBody>
          <a:bodyPr/>
          <a:lstStyle/>
          <a:p>
            <a:fld id="{1A7EE16D-35BE-4BE7-8AC7-B36F6CD3E5EC}" type="datetime1">
              <a:rPr lang="en-GB" smtClean="0"/>
              <a:t>01/09/2025</a:t>
            </a:fld>
            <a:endParaRPr lang="en-GB"/>
          </a:p>
        </p:txBody>
      </p:sp>
      <p:sp>
        <p:nvSpPr>
          <p:cNvPr id="6" name="フッター プレースホルダー 5">
            <a:extLst>
              <a:ext uri="{FF2B5EF4-FFF2-40B4-BE49-F238E27FC236}">
                <a16:creationId xmlns:a16="http://schemas.microsoft.com/office/drawing/2014/main" id="{624D53E0-DB50-4B50-B03D-8BE605AB130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9C70555-581F-4360-BAC1-A48E44C00A7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55405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6E174-3B05-4E93-8F98-F5A96D0E2499}"/>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85CB358A-32CB-4FF7-A5B9-C9D674144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959E880C-6797-422C-88D2-B2770328C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6792A9D5-AA4C-470B-8443-CDF698845A59}"/>
              </a:ext>
            </a:extLst>
          </p:cNvPr>
          <p:cNvSpPr>
            <a:spLocks noGrp="1"/>
          </p:cNvSpPr>
          <p:nvPr>
            <p:ph type="dt" sz="half" idx="10"/>
          </p:nvPr>
        </p:nvSpPr>
        <p:spPr/>
        <p:txBody>
          <a:bodyPr/>
          <a:lstStyle/>
          <a:p>
            <a:fld id="{92CD8CDB-487D-4044-B328-87D0F47F3BCF}" type="datetime1">
              <a:rPr lang="en-GB" smtClean="0"/>
              <a:t>01/09/2025</a:t>
            </a:fld>
            <a:endParaRPr lang="en-GB"/>
          </a:p>
        </p:txBody>
      </p:sp>
      <p:sp>
        <p:nvSpPr>
          <p:cNvPr id="6" name="フッター プレースホルダー 5">
            <a:extLst>
              <a:ext uri="{FF2B5EF4-FFF2-40B4-BE49-F238E27FC236}">
                <a16:creationId xmlns:a16="http://schemas.microsoft.com/office/drawing/2014/main" id="{CEB74E2E-D53B-4179-9D35-961BC87E14F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323E2AE7-E634-4EAE-8F14-FFAD0839CD7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740673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2EB38-BF66-471E-BD00-D145D524BCA6}"/>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B19676F2-6EB3-4837-8B9B-5101E00BEAC1}"/>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37AF1E77-D5D4-4EAA-A9ED-CBFF4D522A27}"/>
              </a:ext>
            </a:extLst>
          </p:cNvPr>
          <p:cNvSpPr>
            <a:spLocks noGrp="1"/>
          </p:cNvSpPr>
          <p:nvPr>
            <p:ph type="dt" sz="half" idx="10"/>
          </p:nvPr>
        </p:nvSpPr>
        <p:spPr/>
        <p:txBody>
          <a:bodyPr/>
          <a:lstStyle/>
          <a:p>
            <a:fld id="{2966C4E5-BC84-4427-9D05-A5F29CCAC796}" type="datetime1">
              <a:rPr lang="en-GB" smtClean="0"/>
              <a:t>01/09/2025</a:t>
            </a:fld>
            <a:endParaRPr lang="en-GB"/>
          </a:p>
        </p:txBody>
      </p:sp>
      <p:sp>
        <p:nvSpPr>
          <p:cNvPr id="5" name="フッター プレースホルダー 4">
            <a:extLst>
              <a:ext uri="{FF2B5EF4-FFF2-40B4-BE49-F238E27FC236}">
                <a16:creationId xmlns:a16="http://schemas.microsoft.com/office/drawing/2014/main" id="{8FDD2C66-E530-425A-B11C-F0A1B6D3A392}"/>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178EB1D0-A34F-44ED-9BDE-254AAD35999C}"/>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25409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D4C475-A351-4F11-BDB2-9B6FC662D4D0}"/>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C5C7FA4F-2A7F-4DD4-9719-303500EF7C46}"/>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E06604C8-FEBE-4C1F-A49E-F399EBF3DC2C}"/>
              </a:ext>
            </a:extLst>
          </p:cNvPr>
          <p:cNvSpPr>
            <a:spLocks noGrp="1"/>
          </p:cNvSpPr>
          <p:nvPr>
            <p:ph type="dt" sz="half" idx="10"/>
          </p:nvPr>
        </p:nvSpPr>
        <p:spPr/>
        <p:txBody>
          <a:bodyPr/>
          <a:lstStyle/>
          <a:p>
            <a:fld id="{7F1E0025-920B-4CEF-B7FD-D6EA5B89461B}" type="datetime1">
              <a:rPr lang="en-GB" smtClean="0"/>
              <a:t>01/09/2025</a:t>
            </a:fld>
            <a:endParaRPr lang="en-GB"/>
          </a:p>
        </p:txBody>
      </p:sp>
      <p:sp>
        <p:nvSpPr>
          <p:cNvPr id="5" name="フッター プレースホルダー 4">
            <a:extLst>
              <a:ext uri="{FF2B5EF4-FFF2-40B4-BE49-F238E27FC236}">
                <a16:creationId xmlns:a16="http://schemas.microsoft.com/office/drawing/2014/main" id="{0D405AEA-A514-4285-A292-E1F817D0FB27}"/>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F40B7D56-ED17-445E-BFE4-675A762E88CF}"/>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3788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63F3B0D-4141-4D30-8082-577CD4167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027EF37-390B-4D5F-B2F6-103F90B81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D639B55-8065-43F8-BF39-9B908098DB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92097A-6903-4692-A2D1-BE7A41A75E71}" type="datetime1">
              <a:rPr lang="en-GB" smtClean="0"/>
              <a:t>01/09/2025</a:t>
            </a:fld>
            <a:endParaRPr lang="en-GB"/>
          </a:p>
        </p:txBody>
      </p:sp>
      <p:sp>
        <p:nvSpPr>
          <p:cNvPr id="5" name="フッター プレースホルダー 4">
            <a:extLst>
              <a:ext uri="{FF2B5EF4-FFF2-40B4-BE49-F238E27FC236}">
                <a16:creationId xmlns:a16="http://schemas.microsoft.com/office/drawing/2014/main" id="{D16F0227-74FF-42A7-8C7D-0BD2B1E11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3B34893C-F66E-48FA-BA80-CC18FCF0A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B731A-DCF7-4273-BA1A-21517ACBB5E5}" type="slidenum">
              <a:rPr lang="en-GB" smtClean="0"/>
              <a:t>‹#›</a:t>
            </a:fld>
            <a:endParaRPr lang="en-GB"/>
          </a:p>
        </p:txBody>
      </p:sp>
    </p:spTree>
    <p:extLst>
      <p:ext uri="{BB962C8B-B14F-4D97-AF65-F5344CB8AC3E}">
        <p14:creationId xmlns:p14="http://schemas.microsoft.com/office/powerpoint/2010/main" val="1019568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peakerdeck.com/hayat01sh1da/philosophy-of-career-planning-type-active-vs-type-passive"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hyperlink" Target="https://github.com/hayat01sh1da" TargetMode="External"/><Relationship Id="rId7" Type="http://schemas.openxmlformats.org/officeDocument/2006/relationships/hyperlink" Target="https://www.docswell.com/user/hayat01sh1da"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speakerdeck.com/hayat01sh1da" TargetMode="External"/><Relationship Id="rId5" Type="http://schemas.openxmlformats.org/officeDocument/2006/relationships/hyperlink" Target="https://www.linkedin.com/in/hayat01sh1da/" TargetMode="External"/><Relationship Id="rId4" Type="http://schemas.openxmlformats.org/officeDocument/2006/relationships/hyperlink" Target="https://hackmd.io/@hayat01sh1da"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vitaljapan.com/" TargetMode="External"/><Relationship Id="rId3" Type="http://schemas.openxmlformats.org/officeDocument/2006/relationships/hyperlink" Target="http://www.centerye.org/" TargetMode="External"/><Relationship Id="rId7" Type="http://schemas.openxmlformats.org/officeDocument/2006/relationships/hyperlink" Target="https://sunrisetmc.toastmastersclubs.org/"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idiy.biz/teachers-profile/?id=4976" TargetMode="External"/><Relationship Id="rId5" Type="http://schemas.openxmlformats.org/officeDocument/2006/relationships/hyperlink" Target="https://stives-h.schools.nsw.gov.au/" TargetMode="External"/><Relationship Id="rId4" Type="http://schemas.openxmlformats.org/officeDocument/2006/relationships/hyperlink" Target="https://www.hamiltonisland.com.au/" TargetMode="External"/></Relationships>
</file>

<file path=ppt/slides/_rels/slide8.xml.rels><?xml version="1.0" encoding="UTF-8" standalone="yes"?>
<Relationships xmlns="http://schemas.openxmlformats.org/package/2006/relationships"><Relationship Id="rId8" Type="http://schemas.openxmlformats.org/officeDocument/2006/relationships/slide" Target="slide37.xml"/><Relationship Id="rId3" Type="http://schemas.openxmlformats.org/officeDocument/2006/relationships/hyperlink" Target="https://www.docswell.com/s/hayat01sh1da/KP28GQ-science-of-career-planning-type-proactive-vs-type-passive#p8" TargetMode="External"/><Relationship Id="rId7" Type="http://schemas.openxmlformats.org/officeDocument/2006/relationships/hyperlink" Target="https://www.docswell.com/s/hayat01sh1da/KP28GQ-science-of-career-planning-type-proactive-vs-type-passive#p34"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docswell.com/s/hayat01sh1da/KP28GQ-science-of-career-planning-type-proactive-vs-type-passive#p30" TargetMode="External"/><Relationship Id="rId5" Type="http://schemas.openxmlformats.org/officeDocument/2006/relationships/hyperlink" Target="https://www.docswell.com/s/hayat01sh1da/KP28GQ-science-of-career-planning-type-proactive-vs-type-passive#p18" TargetMode="External"/><Relationship Id="rId4" Type="http://schemas.openxmlformats.org/officeDocument/2006/relationships/hyperlink" Target="https://www.docswell.com/s/hayat01sh1da/KP28GQ-science-of-career-planning-type-proactive-vs-type-passive#p11"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recruit.co.jp/blog/culture/20220418_3234.html"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docswell.com/s/hayat01sh1da/KP28GQ-science-of-career-planning-type-proactive-vs-type-passive#p21"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docswell.com/s/hayat01sh1da/KP28GQ-science-of-career-planning-type-proactive-vs-type-passive#p25" TargetMode="External"/><Relationship Id="rId5" Type="http://schemas.openxmlformats.org/officeDocument/2006/relationships/hyperlink" Target="https://www.docswell.com/s/hayat01sh1da/KP28GQ-science-of-career-planning-type-proactive-vs-type-passive#p24" TargetMode="External"/><Relationship Id="rId4" Type="http://schemas.openxmlformats.org/officeDocument/2006/relationships/hyperlink" Target="https://www.docswell.com/s/hayat01sh1da/KP28GQ-science-of-career-planning-type-proactive-vs-type-passive#p22"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docswell.com/s/hayat01sh1da/KP28GQ-science-of-career-planning-type-proactive-vs-type-passive#p9"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recruit.co.jp/blog/culture/20220418_3234.html"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838FDBDF-AA97-A755-5929-CA04991594C5}"/>
              </a:ext>
            </a:extLst>
          </p:cNvPr>
          <p:cNvSpPr>
            <a:spLocks noGrp="1"/>
          </p:cNvSpPr>
          <p:nvPr>
            <p:ph type="ctrTitle"/>
          </p:nvPr>
        </p:nvSpPr>
        <p:spPr>
          <a:xfrm>
            <a:off x="1470870" y="1824605"/>
            <a:ext cx="9144000" cy="1689552"/>
          </a:xfrm>
          <a:ln>
            <a:noFill/>
          </a:ln>
        </p:spPr>
        <p:txBody>
          <a:bodyPr>
            <a:normAutofit/>
          </a:bodyPr>
          <a:lstStyle/>
          <a:p>
            <a:r>
              <a:rPr lang="ja-JP" altLang="en-US" sz="5400" b="1" dirty="0">
                <a:effectLst>
                  <a:outerShdw blurRad="38100" dist="38100" dir="2700000" algn="tl">
                    <a:srgbClr val="000000">
                      <a:alpha val="43137"/>
                    </a:srgbClr>
                  </a:outerShdw>
                </a:effectLst>
                <a:latin typeface="+mn-lt"/>
              </a:rPr>
              <a:t>キャリアプランニングを</a:t>
            </a:r>
            <a:br>
              <a:rPr lang="en-GB" altLang="ja-JP" sz="5400" b="1" dirty="0">
                <a:effectLst>
                  <a:outerShdw blurRad="38100" dist="38100" dir="2700000" algn="tl">
                    <a:srgbClr val="000000">
                      <a:alpha val="43137"/>
                    </a:srgbClr>
                  </a:outerShdw>
                </a:effectLst>
                <a:latin typeface="+mn-lt"/>
              </a:rPr>
            </a:br>
            <a:r>
              <a:rPr lang="ja-JP" altLang="en-US" sz="5400" b="1" dirty="0">
                <a:effectLst>
                  <a:outerShdw blurRad="38100" dist="38100" dir="2700000" algn="tl">
                    <a:srgbClr val="000000">
                      <a:alpha val="43137"/>
                    </a:srgbClr>
                  </a:outerShdw>
                </a:effectLst>
                <a:latin typeface="+mn-lt"/>
              </a:rPr>
              <a:t>哲学する</a:t>
            </a:r>
            <a:endParaRPr lang="en-GB" sz="5400" b="1" dirty="0">
              <a:effectLst>
                <a:outerShdw blurRad="38100" dist="38100" dir="2700000" algn="tl">
                  <a:srgbClr val="000000">
                    <a:alpha val="43137"/>
                  </a:srgbClr>
                </a:outerShdw>
              </a:effectLst>
              <a:latin typeface="+mn-lt"/>
            </a:endParaRPr>
          </a:p>
        </p:txBody>
      </p:sp>
      <p:sp>
        <p:nvSpPr>
          <p:cNvPr id="11" name="字幕 2">
            <a:extLst>
              <a:ext uri="{FF2B5EF4-FFF2-40B4-BE49-F238E27FC236}">
                <a16:creationId xmlns:a16="http://schemas.microsoft.com/office/drawing/2014/main" id="{9F3859FD-9718-0C81-33B3-44F030588BCF}"/>
              </a:ext>
            </a:extLst>
          </p:cNvPr>
          <p:cNvSpPr>
            <a:spLocks noGrp="1"/>
          </p:cNvSpPr>
          <p:nvPr>
            <p:ph type="subTitle" idx="1"/>
          </p:nvPr>
        </p:nvSpPr>
        <p:spPr>
          <a:xfrm>
            <a:off x="5931017" y="4706224"/>
            <a:ext cx="4683854" cy="496465"/>
          </a:xfrm>
          <a:ln>
            <a:noFill/>
          </a:ln>
        </p:spPr>
        <p:txBody>
          <a:bodyPr>
            <a:normAutofit fontScale="92500" lnSpcReduction="10000"/>
          </a:bodyPr>
          <a:lstStyle/>
          <a:p>
            <a:pPr algn="r"/>
            <a:r>
              <a:rPr lang="ja-JP" altLang="en-US" sz="3200" b="1" dirty="0">
                <a:latin typeface="+mn-ea"/>
              </a:rPr>
              <a:t>作成者</a:t>
            </a:r>
            <a:r>
              <a:rPr lang="en-US" sz="3200" b="1" dirty="0">
                <a:latin typeface="+mn-ea"/>
              </a:rPr>
              <a:t>: </a:t>
            </a:r>
            <a:r>
              <a:rPr lang="ja-JP" altLang="en-US" sz="3200" b="1" dirty="0">
                <a:latin typeface="+mn-ea"/>
              </a:rPr>
              <a:t>石田</a:t>
            </a:r>
            <a:r>
              <a:rPr lang="en-US" sz="3200" b="1" dirty="0">
                <a:latin typeface="+mn-ea"/>
              </a:rPr>
              <a:t> </a:t>
            </a:r>
            <a:r>
              <a:rPr lang="ja-JP" altLang="en-US" sz="3200" b="1" dirty="0">
                <a:latin typeface="+mn-ea"/>
              </a:rPr>
              <a:t>隼人</a:t>
            </a:r>
            <a:endParaRPr lang="en-GB" sz="3200" b="1" dirty="0">
              <a:latin typeface="+mn-ea"/>
            </a:endParaRPr>
          </a:p>
        </p:txBody>
      </p:sp>
      <p:sp>
        <p:nvSpPr>
          <p:cNvPr id="12" name="スライド番号プレースホルダー 3">
            <a:extLst>
              <a:ext uri="{FF2B5EF4-FFF2-40B4-BE49-F238E27FC236}">
                <a16:creationId xmlns:a16="http://schemas.microsoft.com/office/drawing/2014/main" id="{37DCA1F6-8A6F-EFA2-32E0-4107C174B296}"/>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3" name="字幕 2">
            <a:extLst>
              <a:ext uri="{FF2B5EF4-FFF2-40B4-BE49-F238E27FC236}">
                <a16:creationId xmlns:a16="http://schemas.microsoft.com/office/drawing/2014/main" id="{7EC127B2-8036-0DBB-686D-9BBD027D4A12}"/>
              </a:ext>
            </a:extLst>
          </p:cNvPr>
          <p:cNvSpPr txBox="1">
            <a:spLocks/>
          </p:cNvSpPr>
          <p:nvPr/>
        </p:nvSpPr>
        <p:spPr>
          <a:xfrm>
            <a:off x="7147420" y="5445970"/>
            <a:ext cx="3467450"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ja-JP" altLang="en-US" sz="2000" b="1" i="0" u="none" strike="noStrike" kern="1200" cap="none" spc="0" normalizeH="0" baseline="0" noProof="0" dirty="0">
                <a:ln>
                  <a:noFill/>
                </a:ln>
                <a:solidFill>
                  <a:prstClr val="black"/>
                </a:solidFill>
                <a:effectLst/>
                <a:uLnTx/>
                <a:uFillTx/>
                <a:latin typeface="+mn-ea"/>
                <a:cs typeface="+mn-cs"/>
              </a:rPr>
              <a:t>最終更新日</a:t>
            </a:r>
            <a:r>
              <a:rPr kumimoji="0" lang="en-GB" altLang="ja-JP" sz="2000" b="1" i="0" u="none" strike="noStrike" kern="1200" cap="none" spc="0" normalizeH="0" baseline="0" noProof="0" dirty="0">
                <a:ln>
                  <a:noFill/>
                </a:ln>
                <a:solidFill>
                  <a:prstClr val="black"/>
                </a:solidFill>
                <a:effectLst/>
                <a:uLnTx/>
                <a:uFillTx/>
                <a:latin typeface="+mn-ea"/>
                <a:cs typeface="+mn-cs"/>
              </a:rPr>
              <a:t>: </a:t>
            </a:r>
            <a:r>
              <a:rPr kumimoji="0" lang="en-GB" altLang="ja-JP" sz="2000" b="1" i="0" u="none" strike="noStrike" kern="1200" cap="none" spc="0" normalizeH="0" baseline="0" noProof="0" dirty="0">
                <a:ln>
                  <a:noFill/>
                </a:ln>
                <a:solidFill>
                  <a:prstClr val="black"/>
                </a:solidFill>
                <a:effectLst/>
                <a:uLnTx/>
                <a:uFillTx/>
                <a:cs typeface="+mn-cs"/>
              </a:rPr>
              <a:t>20</a:t>
            </a:r>
            <a:r>
              <a:rPr lang="en-GB" altLang="ja-JP" sz="2000" b="1" dirty="0">
                <a:solidFill>
                  <a:prstClr val="black"/>
                </a:solidFill>
              </a:rPr>
              <a:t>24</a:t>
            </a:r>
            <a:r>
              <a:rPr kumimoji="0" lang="ja-JP" altLang="en-US" sz="2000" b="1" i="0" u="none" strike="noStrike" kern="1200" cap="none" spc="0" normalizeH="0" baseline="0" noProof="0" dirty="0">
                <a:ln>
                  <a:noFill/>
                </a:ln>
                <a:solidFill>
                  <a:prstClr val="black"/>
                </a:solidFill>
                <a:effectLst/>
                <a:uLnTx/>
                <a:uFillTx/>
                <a:latin typeface="+mn-ea"/>
                <a:cs typeface="+mn-cs"/>
              </a:rPr>
              <a:t>年</a:t>
            </a:r>
            <a:r>
              <a:rPr kumimoji="0" lang="en-GB" altLang="ja-JP" sz="2000" b="1" i="0" u="none" strike="noStrike" kern="1200" cap="none" spc="0" normalizeH="0" baseline="0" noProof="0" dirty="0">
                <a:ln>
                  <a:noFill/>
                </a:ln>
                <a:solidFill>
                  <a:prstClr val="black"/>
                </a:solidFill>
                <a:effectLst/>
                <a:uLnTx/>
                <a:uFillTx/>
                <a:cs typeface="+mn-cs"/>
              </a:rPr>
              <a:t>07</a:t>
            </a:r>
            <a:r>
              <a:rPr kumimoji="0" lang="ja-JP" altLang="en-US" sz="2000" b="1" i="0" u="none" strike="noStrike" kern="1200" cap="none" spc="0" normalizeH="0" baseline="0" noProof="0" dirty="0">
                <a:ln>
                  <a:noFill/>
                </a:ln>
                <a:solidFill>
                  <a:prstClr val="black"/>
                </a:solidFill>
                <a:effectLst/>
                <a:uLnTx/>
                <a:uFillTx/>
                <a:latin typeface="+mn-ea"/>
                <a:cs typeface="+mn-cs"/>
              </a:rPr>
              <a:t>月</a:t>
            </a:r>
            <a:r>
              <a:rPr kumimoji="0" lang="en-GB" altLang="ja-JP" sz="2000" b="1" i="0" u="none" strike="noStrike" kern="1200" cap="none" spc="0" normalizeH="0" baseline="0" noProof="0" dirty="0">
                <a:ln>
                  <a:noFill/>
                </a:ln>
                <a:solidFill>
                  <a:prstClr val="black"/>
                </a:solidFill>
                <a:effectLst/>
                <a:uLnTx/>
                <a:uFillTx/>
                <a:cs typeface="+mn-cs"/>
              </a:rPr>
              <a:t>23</a:t>
            </a:r>
            <a:r>
              <a:rPr kumimoji="0" lang="ja-JP" altLang="en-US" sz="2000" b="1" i="0" u="none" strike="noStrike" kern="1200" cap="none" spc="0" normalizeH="0" baseline="0" noProof="0" dirty="0">
                <a:ln>
                  <a:noFill/>
                </a:ln>
                <a:solidFill>
                  <a:prstClr val="black"/>
                </a:solidFill>
                <a:effectLst/>
                <a:uLnTx/>
                <a:uFillTx/>
                <a:latin typeface="+mn-ea"/>
                <a:cs typeface="+mn-cs"/>
              </a:rPr>
              <a:t>日</a:t>
            </a:r>
            <a:endParaRPr kumimoji="0" lang="en-GB" sz="2000" b="1" i="0" u="none" strike="noStrike" kern="1200" cap="none" spc="0" normalizeH="0" baseline="0" noProof="0" dirty="0">
              <a:ln>
                <a:noFill/>
              </a:ln>
              <a:solidFill>
                <a:prstClr val="black"/>
              </a:solidFill>
              <a:effectLst/>
              <a:uLnTx/>
              <a:uFillTx/>
              <a:latin typeface="+mn-ea"/>
              <a:cs typeface="+mn-cs"/>
            </a:endParaRPr>
          </a:p>
        </p:txBody>
      </p:sp>
      <p:sp>
        <p:nvSpPr>
          <p:cNvPr id="14" name="タイトル 1">
            <a:extLst>
              <a:ext uri="{FF2B5EF4-FFF2-40B4-BE49-F238E27FC236}">
                <a16:creationId xmlns:a16="http://schemas.microsoft.com/office/drawing/2014/main" id="{9384CEEA-9ED1-6887-AFE8-7BA71E626EBF}"/>
              </a:ext>
            </a:extLst>
          </p:cNvPr>
          <p:cNvSpPr txBox="1">
            <a:spLocks/>
          </p:cNvSpPr>
          <p:nvPr/>
        </p:nvSpPr>
        <p:spPr>
          <a:xfrm>
            <a:off x="1470870" y="3514157"/>
            <a:ext cx="9144000" cy="555772"/>
          </a:xfrm>
          <a:prstGeom prst="rect">
            <a:avLst/>
          </a:prstGeom>
          <a:ln>
            <a:noFill/>
          </a:ln>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j-ea"/>
                <a:cs typeface="+mj-cs"/>
              </a:rPr>
              <a:t>-</a:t>
            </a:r>
            <a:r>
              <a:rPr kumimoji="0" lang="ja-JP"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j-ea"/>
                <a:cs typeface="+mj-cs"/>
              </a:rPr>
              <a:t>山登り型</a:t>
            </a:r>
            <a:r>
              <a:rPr kumimoji="0" lang="en-GB" altLang="ja-JP"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j-ea"/>
                <a:cs typeface="+mj-cs"/>
              </a:rPr>
              <a:t> vs. </a:t>
            </a:r>
            <a:r>
              <a:rPr kumimoji="0" lang="ja-JP" altLang="en-US"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j-ea"/>
                <a:cs typeface="+mj-cs"/>
              </a:rPr>
              <a:t>川下り型</a:t>
            </a:r>
            <a:r>
              <a:rPr kumimoji="0" lang="en-GB"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j-ea"/>
                <a:cs typeface="+mj-cs"/>
              </a:rPr>
              <a:t>-</a:t>
            </a:r>
          </a:p>
        </p:txBody>
      </p:sp>
      <p:sp>
        <p:nvSpPr>
          <p:cNvPr id="2" name="字幕 2">
            <a:extLst>
              <a:ext uri="{FF2B5EF4-FFF2-40B4-BE49-F238E27FC236}">
                <a16:creationId xmlns:a16="http://schemas.microsoft.com/office/drawing/2014/main" id="{9105717C-FCFA-427A-0249-8F2D02825EE3}"/>
              </a:ext>
            </a:extLst>
          </p:cNvPr>
          <p:cNvSpPr txBox="1">
            <a:spLocks/>
          </p:cNvSpPr>
          <p:nvPr/>
        </p:nvSpPr>
        <p:spPr>
          <a:xfrm>
            <a:off x="1470871" y="5440495"/>
            <a:ext cx="196861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ja-JP" altLang="en-US" sz="2000" dirty="0"/>
              <a:t>英語版は</a:t>
            </a:r>
            <a:r>
              <a:rPr lang="ja-JP" altLang="en-US" sz="2000" dirty="0">
                <a:hlinkClick r:id="rId3"/>
              </a:rPr>
              <a:t>こちら</a:t>
            </a:r>
            <a:endParaRPr lang="en-GB" sz="2000" dirty="0"/>
          </a:p>
        </p:txBody>
      </p:sp>
    </p:spTree>
    <p:extLst>
      <p:ext uri="{BB962C8B-B14F-4D97-AF65-F5344CB8AC3E}">
        <p14:creationId xmlns:p14="http://schemas.microsoft.com/office/powerpoint/2010/main" val="3878715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008591F0-0580-8490-E53A-5A6983E49CE6}"/>
              </a:ext>
            </a:extLst>
          </p:cNvPr>
          <p:cNvSpPr>
            <a:spLocks noGrp="1"/>
          </p:cNvSpPr>
          <p:nvPr>
            <p:ph type="title"/>
          </p:nvPr>
        </p:nvSpPr>
        <p:spPr>
          <a:xfrm>
            <a:off x="838200" y="365125"/>
            <a:ext cx="10515600" cy="1325563"/>
          </a:xfrm>
        </p:spPr>
        <p:txBody>
          <a:bodyPr/>
          <a:lstStyle/>
          <a:p>
            <a:pPr algn="ctr"/>
            <a:r>
              <a:rPr lang="ja-JP" altLang="en-US" b="1" dirty="0"/>
              <a:t>自己紹介</a:t>
            </a:r>
            <a:endParaRPr lang="en-GB" b="1" dirty="0"/>
          </a:p>
        </p:txBody>
      </p:sp>
      <p:sp>
        <p:nvSpPr>
          <p:cNvPr id="10" name="コンテンツ プレースホルダー 2">
            <a:extLst>
              <a:ext uri="{FF2B5EF4-FFF2-40B4-BE49-F238E27FC236}">
                <a16:creationId xmlns:a16="http://schemas.microsoft.com/office/drawing/2014/main" id="{115422D4-3365-2386-8AE5-D308069FDF0C}"/>
              </a:ext>
            </a:extLst>
          </p:cNvPr>
          <p:cNvSpPr>
            <a:spLocks noGrp="1"/>
          </p:cNvSpPr>
          <p:nvPr>
            <p:ph idx="1"/>
          </p:nvPr>
        </p:nvSpPr>
        <p:spPr>
          <a:xfrm>
            <a:off x="838200" y="1825625"/>
            <a:ext cx="10515600" cy="4351338"/>
          </a:xfrm>
        </p:spPr>
        <p:txBody>
          <a:bodyPr>
            <a:normAutofit lnSpcReduction="10000"/>
          </a:bodyPr>
          <a:lstStyle/>
          <a:p>
            <a:pPr marL="268288" indent="-268288"/>
            <a:r>
              <a:rPr lang="ja-JP" altLang="en-US" sz="2400" dirty="0"/>
              <a:t>各種アカウント</a:t>
            </a:r>
            <a:endParaRPr lang="en-GB" altLang="ja-JP" sz="2400" dirty="0"/>
          </a:p>
          <a:p>
            <a:pPr marL="725488" lvl="1" indent="-268288"/>
            <a:r>
              <a:rPr lang="en-US" altLang="ja-JP" sz="2000" dirty="0"/>
              <a:t>GitHub: </a:t>
            </a:r>
            <a:r>
              <a:rPr lang="en-US" altLang="ja-JP" sz="2000" dirty="0">
                <a:hlinkClick r:id="rId3"/>
              </a:rPr>
              <a:t>@hayat01sh1da</a:t>
            </a:r>
            <a:endParaRPr lang="en-US" altLang="ja-JP" sz="2000" dirty="0"/>
          </a:p>
          <a:p>
            <a:pPr marL="725488" lvl="1" indent="-268288"/>
            <a:r>
              <a:rPr lang="en-US" altLang="ja-JP" sz="2000" dirty="0"/>
              <a:t>X: </a:t>
            </a:r>
            <a:r>
              <a:rPr lang="en-US" altLang="ja-JP" sz="2000" dirty="0">
                <a:hlinkClick r:id="rId4"/>
              </a:rPr>
              <a:t>@hayat01sh1da</a:t>
            </a:r>
            <a:endParaRPr lang="en-GB" altLang="ja-JP" sz="2000" dirty="0"/>
          </a:p>
          <a:p>
            <a:pPr marL="725488" lvl="1" indent="-268288"/>
            <a:r>
              <a:rPr lang="en-GB" altLang="ja-JP" sz="2000" dirty="0"/>
              <a:t>LinkedIn: </a:t>
            </a:r>
            <a:r>
              <a:rPr lang="en-US" altLang="ja-JP" sz="2000" dirty="0">
                <a:hlinkClick r:id="rId5"/>
              </a:rPr>
              <a:t>@hayat01sh1da</a:t>
            </a:r>
            <a:endParaRPr lang="en-US" altLang="ja-JP" sz="2000" dirty="0"/>
          </a:p>
          <a:p>
            <a:pPr marL="725488" lvl="1" indent="-268288"/>
            <a:r>
              <a:rPr lang="en-US" altLang="ja-JP" sz="2000" dirty="0"/>
              <a:t>Speaker Deck: </a:t>
            </a:r>
            <a:r>
              <a:rPr lang="en-US" altLang="ja-JP" sz="2000" dirty="0">
                <a:hlinkClick r:id="rId6"/>
              </a:rPr>
              <a:t>@hayat01sh1da</a:t>
            </a:r>
            <a:endParaRPr lang="en-US" altLang="ja-JP" sz="2000" dirty="0"/>
          </a:p>
          <a:p>
            <a:pPr marL="725488" lvl="1" indent="-268288"/>
            <a:r>
              <a:rPr lang="en-US" altLang="ja-JP" sz="2000" dirty="0"/>
              <a:t>Docswell: </a:t>
            </a:r>
            <a:r>
              <a:rPr lang="en-US" altLang="ja-JP" sz="2000" dirty="0">
                <a:hlinkClick r:id="rId7"/>
              </a:rPr>
              <a:t>@hayat01sh1da</a:t>
            </a:r>
            <a:endParaRPr lang="en-US" altLang="ja-JP" sz="2000" dirty="0"/>
          </a:p>
          <a:p>
            <a:pPr marL="268288" indent="-268288"/>
            <a:r>
              <a:rPr lang="ja-JP" altLang="en-US" sz="2400" dirty="0"/>
              <a:t>職業</a:t>
            </a:r>
            <a:r>
              <a:rPr lang="en-GB" altLang="ja-JP" sz="2400" dirty="0"/>
              <a:t>: </a:t>
            </a:r>
            <a:r>
              <a:rPr lang="ja-JP" altLang="en-US" sz="2400" dirty="0"/>
              <a:t>ソフトウェアエンジニア</a:t>
            </a:r>
            <a:endParaRPr lang="en-GB" altLang="ja-JP" sz="2400" dirty="0"/>
          </a:p>
          <a:p>
            <a:pPr marL="268288" indent="-268288"/>
            <a:r>
              <a:rPr lang="ja-JP" altLang="en-US" sz="2400" dirty="0"/>
              <a:t>趣味</a:t>
            </a:r>
            <a:endParaRPr lang="en-GB" altLang="ja-JP" sz="2400" dirty="0"/>
          </a:p>
          <a:p>
            <a:pPr marL="725488" lvl="1" indent="-268288"/>
            <a:r>
              <a:rPr lang="ja-JP" altLang="en-US" sz="2000" dirty="0"/>
              <a:t>言語学</a:t>
            </a:r>
            <a:endParaRPr lang="en-GB" altLang="ja-JP" sz="2000" dirty="0"/>
          </a:p>
          <a:p>
            <a:pPr marL="725488" lvl="1" indent="-268288"/>
            <a:r>
              <a:rPr lang="ja-JP" altLang="en-US" sz="2000" dirty="0"/>
              <a:t>カラオケ</a:t>
            </a:r>
            <a:endParaRPr lang="en-GB" altLang="ja-JP" sz="2000" dirty="0"/>
          </a:p>
          <a:p>
            <a:pPr marL="725488" lvl="1" indent="-268288"/>
            <a:r>
              <a:rPr lang="ja-JP" altLang="en-US" sz="2000" dirty="0"/>
              <a:t>音楽鑑賞</a:t>
            </a:r>
            <a:endParaRPr lang="en-GB" altLang="ja-JP" sz="2000" dirty="0"/>
          </a:p>
          <a:p>
            <a:pPr marL="725488" lvl="1" indent="-268288"/>
            <a:r>
              <a:rPr lang="ja-JP" altLang="en-US" sz="2000" dirty="0"/>
              <a:t>映画鑑賞</a:t>
            </a:r>
            <a:endParaRPr lang="en-GB" altLang="ja-JP" sz="2000" dirty="0"/>
          </a:p>
          <a:p>
            <a:pPr marL="725488" lvl="1" indent="-268288"/>
            <a:r>
              <a:rPr lang="ja-JP" altLang="en-US" sz="2000" dirty="0"/>
              <a:t>猫飼育</a:t>
            </a:r>
            <a:endParaRPr lang="en-GB" altLang="ja-JP" sz="2000" dirty="0"/>
          </a:p>
        </p:txBody>
      </p:sp>
      <p:sp>
        <p:nvSpPr>
          <p:cNvPr id="11" name="スライド番号プレースホルダー 3">
            <a:extLst>
              <a:ext uri="{FF2B5EF4-FFF2-40B4-BE49-F238E27FC236}">
                <a16:creationId xmlns:a16="http://schemas.microsoft.com/office/drawing/2014/main" id="{2C39CA46-4F63-2985-1E5B-06EE8A40323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77D77198-8ECF-AF9C-466D-8D8590EFB71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49316" y="1824399"/>
            <a:ext cx="5804483" cy="4352564"/>
          </a:xfrm>
          <a:prstGeom prst="rect">
            <a:avLst/>
          </a:prstGeom>
        </p:spPr>
      </p:pic>
    </p:spTree>
    <p:extLst>
      <p:ext uri="{BB962C8B-B14F-4D97-AF65-F5344CB8AC3E}">
        <p14:creationId xmlns:p14="http://schemas.microsoft.com/office/powerpoint/2010/main" val="65425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55B8D0-FBD0-9B5F-A935-2990E9245FDB}"/>
              </a:ext>
            </a:extLst>
          </p:cNvPr>
          <p:cNvSpPr>
            <a:spLocks noGrp="1"/>
          </p:cNvSpPr>
          <p:nvPr>
            <p:ph type="title"/>
          </p:nvPr>
        </p:nvSpPr>
        <p:spPr>
          <a:xfrm>
            <a:off x="838200" y="365125"/>
            <a:ext cx="10515600" cy="1325563"/>
          </a:xfrm>
        </p:spPr>
        <p:txBody>
          <a:bodyPr/>
          <a:lstStyle/>
          <a:p>
            <a:pPr algn="ctr"/>
            <a:r>
              <a:rPr lang="ja-JP" altLang="en-US" b="1" dirty="0">
                <a:latin typeface="+mj-ea"/>
              </a:rPr>
              <a:t>免許</a:t>
            </a:r>
            <a:r>
              <a:rPr lang="en-GB" altLang="ja-JP" b="1" dirty="0">
                <a:latin typeface="+mj-ea"/>
              </a:rPr>
              <a:t> / </a:t>
            </a:r>
            <a:r>
              <a:rPr lang="ja-JP" altLang="en-US" b="1" dirty="0">
                <a:latin typeface="+mj-ea"/>
              </a:rPr>
              <a:t>資格</a:t>
            </a:r>
            <a:endParaRPr lang="en-GB" b="1" dirty="0">
              <a:latin typeface="+mj-ea"/>
            </a:endParaRPr>
          </a:p>
        </p:txBody>
      </p:sp>
      <p:sp>
        <p:nvSpPr>
          <p:cNvPr id="3" name="コンテンツ プレースホルダー 2">
            <a:extLst>
              <a:ext uri="{FF2B5EF4-FFF2-40B4-BE49-F238E27FC236}">
                <a16:creationId xmlns:a16="http://schemas.microsoft.com/office/drawing/2014/main" id="{8A56D017-33E9-546F-B8B3-A9515D8FACD7}"/>
              </a:ext>
            </a:extLst>
          </p:cNvPr>
          <p:cNvSpPr>
            <a:spLocks noGrp="1"/>
          </p:cNvSpPr>
          <p:nvPr>
            <p:ph idx="1"/>
          </p:nvPr>
        </p:nvSpPr>
        <p:spPr>
          <a:xfrm>
            <a:off x="838200" y="1825625"/>
            <a:ext cx="10515600" cy="4351338"/>
          </a:xfrm>
        </p:spPr>
        <p:txBody>
          <a:bodyPr>
            <a:normAutofit/>
          </a:bodyPr>
          <a:lstStyle/>
          <a:p>
            <a:pPr marL="268288" lvl="1" indent="-268288"/>
            <a:r>
              <a:rPr lang="ja-JP" altLang="en-US" dirty="0"/>
              <a:t>英語</a:t>
            </a:r>
            <a:endParaRPr lang="en-US" altLang="ja-JP" dirty="0"/>
          </a:p>
          <a:p>
            <a:pPr marL="725488" lvl="2" indent="-268288"/>
            <a:r>
              <a:rPr lang="en-US" altLang="ja-JP" dirty="0"/>
              <a:t>TOEIC® Listening &amp; Reading 915</a:t>
            </a:r>
            <a:r>
              <a:rPr lang="ja-JP" altLang="en-US" dirty="0"/>
              <a:t>点</a:t>
            </a:r>
            <a:r>
              <a:rPr lang="en-GB" altLang="ja-JP" dirty="0"/>
              <a:t>: 2019</a:t>
            </a:r>
            <a:r>
              <a:rPr lang="ja-JP" altLang="en-US" dirty="0"/>
              <a:t>年</a:t>
            </a:r>
            <a:r>
              <a:rPr lang="en-US" altLang="ja-JP" dirty="0"/>
              <a:t>12</a:t>
            </a:r>
            <a:r>
              <a:rPr lang="ja-JP" altLang="en-US" dirty="0"/>
              <a:t>月</a:t>
            </a:r>
            <a:r>
              <a:rPr lang="en-GB" altLang="ja-JP" dirty="0"/>
              <a:t> </a:t>
            </a:r>
            <a:r>
              <a:rPr lang="ja-JP" altLang="en-US" dirty="0"/>
              <a:t>取得</a:t>
            </a:r>
          </a:p>
          <a:p>
            <a:pPr marL="268288" lvl="1" indent="-268288"/>
            <a:r>
              <a:rPr lang="ja-JP" altLang="en-US" dirty="0"/>
              <a:t>エンジニアリング</a:t>
            </a:r>
            <a:endParaRPr lang="en-GB" altLang="ja-JP" dirty="0"/>
          </a:p>
          <a:p>
            <a:pPr marL="725488" lvl="2" indent="-268288"/>
            <a:r>
              <a:rPr lang="ja-JP" altLang="en-US" dirty="0"/>
              <a:t>情報セキュリティマネジメント</a:t>
            </a:r>
            <a:r>
              <a:rPr lang="en-GB" altLang="ja-JP" dirty="0"/>
              <a:t>: 2017</a:t>
            </a:r>
            <a:r>
              <a:rPr lang="ja-JP" altLang="en-US" dirty="0"/>
              <a:t>年</a:t>
            </a:r>
            <a:r>
              <a:rPr lang="en-US" altLang="ja-JP" dirty="0"/>
              <a:t>11</a:t>
            </a:r>
            <a:r>
              <a:rPr lang="ja-JP" altLang="en-US" dirty="0"/>
              <a:t>月</a:t>
            </a:r>
            <a:r>
              <a:rPr lang="en-GB" altLang="ja-JP" dirty="0"/>
              <a:t> </a:t>
            </a:r>
            <a:r>
              <a:rPr lang="ja-JP" altLang="en-US" dirty="0"/>
              <a:t>取得</a:t>
            </a:r>
            <a:endParaRPr lang="en-GB" altLang="ja-JP" dirty="0"/>
          </a:p>
          <a:p>
            <a:pPr marL="725488" lvl="2" indent="-268288"/>
            <a:r>
              <a:rPr lang="ja-JP" altLang="en-US" dirty="0"/>
              <a:t>応用情報技術者</a:t>
            </a:r>
            <a:r>
              <a:rPr lang="en-GB" altLang="ja-JP" dirty="0"/>
              <a:t>: 2017</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t>基本情報技術者</a:t>
            </a:r>
            <a:r>
              <a:rPr lang="en-GB" altLang="ja-JP" dirty="0"/>
              <a:t>: 2016</a:t>
            </a:r>
            <a:r>
              <a:rPr lang="ja-JP" altLang="en-US" dirty="0"/>
              <a:t>年</a:t>
            </a:r>
            <a:r>
              <a:rPr lang="en-US" altLang="ja-JP" dirty="0"/>
              <a:t>11</a:t>
            </a:r>
            <a:r>
              <a:rPr lang="ja-JP" altLang="en-US" dirty="0"/>
              <a:t>月</a:t>
            </a:r>
            <a:r>
              <a:rPr lang="en-GB" altLang="ja-JP" dirty="0"/>
              <a:t> </a:t>
            </a:r>
            <a:r>
              <a:rPr lang="ja-JP" altLang="en-US" dirty="0"/>
              <a:t>取得</a:t>
            </a:r>
          </a:p>
          <a:p>
            <a:pPr marL="725488" lvl="2" indent="-268288"/>
            <a:r>
              <a:rPr lang="en-US" altLang="ja-JP" dirty="0"/>
              <a:t>IT </a:t>
            </a:r>
            <a:r>
              <a:rPr lang="ja-JP" altLang="en-US" dirty="0"/>
              <a:t>パスポート</a:t>
            </a:r>
            <a:r>
              <a:rPr lang="en-GB" altLang="ja-JP" dirty="0"/>
              <a:t>: 2016</a:t>
            </a:r>
            <a:r>
              <a:rPr lang="ja-JP" altLang="en-US" dirty="0"/>
              <a:t>年</a:t>
            </a:r>
            <a:r>
              <a:rPr lang="en-US" altLang="ja-JP" dirty="0"/>
              <a:t>04</a:t>
            </a:r>
            <a:r>
              <a:rPr lang="ja-JP" altLang="en-US" dirty="0"/>
              <a:t>月</a:t>
            </a:r>
            <a:r>
              <a:rPr lang="en-GB" altLang="ja-JP" dirty="0"/>
              <a:t> </a:t>
            </a:r>
            <a:r>
              <a:rPr lang="ja-JP" altLang="en-US" dirty="0"/>
              <a:t>取得</a:t>
            </a:r>
            <a:endParaRPr lang="en-GB" altLang="ja-JP" b="0" i="0" dirty="0">
              <a:solidFill>
                <a:srgbClr val="333333"/>
              </a:solidFill>
              <a:effectLst/>
              <a:latin typeface="-apple-system"/>
            </a:endParaRPr>
          </a:p>
          <a:p>
            <a:pPr marL="268288" lvl="1" indent="-268288"/>
            <a:r>
              <a:rPr lang="ja-JP" altLang="en-US" dirty="0">
                <a:solidFill>
                  <a:srgbClr val="333333"/>
                </a:solidFill>
                <a:latin typeface="-apple-system"/>
              </a:rPr>
              <a:t>その他</a:t>
            </a:r>
            <a:endParaRPr lang="en-GB" altLang="ja-JP" dirty="0">
              <a:solidFill>
                <a:srgbClr val="333333"/>
              </a:solidFill>
              <a:latin typeface="-apple-system"/>
            </a:endParaRPr>
          </a:p>
          <a:p>
            <a:pPr marL="725488" lvl="2" indent="-268288"/>
            <a:r>
              <a:rPr lang="ja-JP" altLang="en-US" dirty="0">
                <a:solidFill>
                  <a:srgbClr val="333333"/>
                </a:solidFill>
                <a:latin typeface="-apple-system"/>
              </a:rPr>
              <a:t>珠算</a:t>
            </a:r>
            <a:r>
              <a:rPr lang="en-GB" altLang="ja-JP" dirty="0">
                <a:solidFill>
                  <a:srgbClr val="333333"/>
                </a:solidFill>
                <a:latin typeface="-apple-system"/>
              </a:rPr>
              <a:t>2</a:t>
            </a:r>
            <a:r>
              <a:rPr lang="ja-JP" altLang="en-US" dirty="0">
                <a:solidFill>
                  <a:srgbClr val="333333"/>
                </a:solidFill>
                <a:latin typeface="-apple-system"/>
              </a:rPr>
              <a:t>級</a:t>
            </a:r>
            <a:r>
              <a:rPr lang="en-GB" altLang="ja-JP" dirty="0">
                <a:solidFill>
                  <a:srgbClr val="333333"/>
                </a:solidFill>
                <a:latin typeface="-apple-system"/>
              </a:rPr>
              <a:t>: </a:t>
            </a:r>
            <a:r>
              <a:rPr lang="en-GB" altLang="ja-JP" dirty="0"/>
              <a:t>2002</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solidFill>
                  <a:srgbClr val="333333"/>
                </a:solidFill>
                <a:latin typeface="-apple-system"/>
              </a:rPr>
              <a:t>暗算</a:t>
            </a:r>
            <a:r>
              <a:rPr lang="en-US" altLang="ja-JP" dirty="0">
                <a:solidFill>
                  <a:srgbClr val="333333"/>
                </a:solidFill>
                <a:latin typeface="-apple-system"/>
              </a:rPr>
              <a:t>3</a:t>
            </a:r>
            <a:r>
              <a:rPr lang="ja-JP" altLang="en-US" dirty="0">
                <a:solidFill>
                  <a:srgbClr val="333333"/>
                </a:solidFill>
                <a:latin typeface="-apple-system"/>
              </a:rPr>
              <a:t>級</a:t>
            </a:r>
            <a:r>
              <a:rPr lang="en-GB" altLang="ja-JP" b="0" i="0" dirty="0">
                <a:solidFill>
                  <a:srgbClr val="333333"/>
                </a:solidFill>
                <a:effectLst/>
                <a:latin typeface="-apple-system"/>
              </a:rPr>
              <a:t>: </a:t>
            </a:r>
            <a:r>
              <a:rPr lang="en-GB" altLang="ja-JP" dirty="0"/>
              <a:t>2001</a:t>
            </a:r>
            <a:r>
              <a:rPr lang="ja-JP" altLang="en-US" dirty="0"/>
              <a:t>年</a:t>
            </a:r>
            <a:r>
              <a:rPr lang="en-US" altLang="ja-JP" dirty="0"/>
              <a:t>02</a:t>
            </a:r>
            <a:r>
              <a:rPr lang="ja-JP" altLang="en-US" dirty="0"/>
              <a:t>月</a:t>
            </a:r>
            <a:r>
              <a:rPr lang="en-GB" altLang="ja-JP" dirty="0"/>
              <a:t> </a:t>
            </a:r>
            <a:r>
              <a:rPr lang="ja-JP" altLang="en-US" dirty="0"/>
              <a:t>取得</a:t>
            </a:r>
            <a:endParaRPr lang="en-GB" altLang="ja-JP" dirty="0"/>
          </a:p>
        </p:txBody>
      </p:sp>
      <p:sp>
        <p:nvSpPr>
          <p:cNvPr id="4" name="スライド番号プレースホルダー 3">
            <a:extLst>
              <a:ext uri="{FF2B5EF4-FFF2-40B4-BE49-F238E27FC236}">
                <a16:creationId xmlns:a16="http://schemas.microsoft.com/office/drawing/2014/main" id="{CF305983-0249-A6CE-AD02-933B3C88710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267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a:extLst>
            <a:ext uri="{FF2B5EF4-FFF2-40B4-BE49-F238E27FC236}">
              <a16:creationId xmlns:a16="http://schemas.microsoft.com/office/drawing/2014/main" id="{C8988D97-290F-C9B1-D116-21F020D8383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7B68D4A-424D-984D-3A0E-742F418718FF}"/>
              </a:ext>
            </a:extLst>
          </p:cNvPr>
          <p:cNvSpPr>
            <a:spLocks noGrp="1"/>
          </p:cNvSpPr>
          <p:nvPr>
            <p:ph type="title"/>
          </p:nvPr>
        </p:nvSpPr>
        <p:spPr>
          <a:xfrm>
            <a:off x="838200" y="365125"/>
            <a:ext cx="10515600" cy="1325563"/>
          </a:xfrm>
        </p:spPr>
        <p:txBody>
          <a:bodyPr/>
          <a:lstStyle/>
          <a:p>
            <a:pPr algn="ctr"/>
            <a:r>
              <a:rPr kumimoji="1" lang="ja-JP" altLang="en-US" b="1" dirty="0">
                <a:latin typeface="+mn-lt"/>
              </a:rPr>
              <a:t>スキルスタック</a:t>
            </a:r>
            <a:endParaRPr lang="en-GB" b="1" dirty="0"/>
          </a:p>
        </p:txBody>
      </p:sp>
      <p:sp>
        <p:nvSpPr>
          <p:cNvPr id="3" name="コンテンツ プレースホルダー 2">
            <a:extLst>
              <a:ext uri="{FF2B5EF4-FFF2-40B4-BE49-F238E27FC236}">
                <a16:creationId xmlns:a16="http://schemas.microsoft.com/office/drawing/2014/main" id="{AECDE4D1-1023-2BEF-162B-AA32249D2CBE}"/>
              </a:ext>
            </a:extLst>
          </p:cNvPr>
          <p:cNvSpPr>
            <a:spLocks noGrp="1"/>
          </p:cNvSpPr>
          <p:nvPr>
            <p:ph idx="1"/>
          </p:nvPr>
        </p:nvSpPr>
        <p:spPr>
          <a:xfrm>
            <a:off x="838200" y="1825625"/>
            <a:ext cx="10515600" cy="4351338"/>
          </a:xfrm>
          <a:ln>
            <a:noFill/>
          </a:ln>
        </p:spPr>
        <p:txBody>
          <a:bodyPr>
            <a:normAutofit/>
          </a:bodyPr>
          <a:lstStyle/>
          <a:p>
            <a:pPr marL="268288" indent="-268288"/>
            <a:r>
              <a:rPr lang="ja-JP" altLang="en-US" sz="2400" dirty="0"/>
              <a:t>自然言語</a:t>
            </a:r>
          </a:p>
          <a:p>
            <a:pPr marL="717550" lvl="1" indent="-260350"/>
            <a:r>
              <a:rPr lang="ja-JP" altLang="en-US" sz="2000" dirty="0"/>
              <a:t>日本語</a:t>
            </a:r>
            <a:r>
              <a:rPr lang="en-GB" altLang="ja-JP" sz="2000" dirty="0"/>
              <a:t>: </a:t>
            </a:r>
            <a:r>
              <a:rPr lang="ja-JP" altLang="en-US" sz="2000" dirty="0"/>
              <a:t>母語</a:t>
            </a:r>
            <a:endParaRPr lang="en-GB" altLang="ja-JP" sz="2000" dirty="0"/>
          </a:p>
          <a:p>
            <a:pPr marL="717550" lvl="1" indent="-260350"/>
            <a:r>
              <a:rPr lang="ja-JP" altLang="en-US" sz="2000" dirty="0"/>
              <a:t>英語</a:t>
            </a:r>
            <a:r>
              <a:rPr lang="en-GB" altLang="ja-JP" sz="2000" dirty="0"/>
              <a:t>: </a:t>
            </a:r>
            <a:r>
              <a:rPr lang="ja-JP" altLang="en-US" sz="2000" dirty="0"/>
              <a:t>ビジネスレベル</a:t>
            </a:r>
            <a:endParaRPr lang="en-GB" altLang="ja-JP" sz="2000" dirty="0"/>
          </a:p>
          <a:p>
            <a:pPr marL="268288" indent="-268288"/>
            <a:r>
              <a:rPr lang="ja-JP" altLang="en-US" sz="2400" dirty="0"/>
              <a:t>開発</a:t>
            </a:r>
            <a:endParaRPr lang="en-GB" altLang="ja-JP" sz="2400" dirty="0"/>
          </a:p>
          <a:p>
            <a:pPr marL="717550" lvl="1" indent="-260350"/>
            <a:r>
              <a:rPr lang="ja-JP" altLang="en-US" sz="2000" b="1" dirty="0"/>
              <a:t>バックエンド</a:t>
            </a:r>
            <a:r>
              <a:rPr lang="en-GB" altLang="ja-JP" sz="2000" b="1" dirty="0"/>
              <a:t>: Ruby(Ruby on Rails)</a:t>
            </a:r>
            <a:r>
              <a:rPr lang="en-GB" altLang="ja-JP" sz="2000" dirty="0"/>
              <a:t>, Python</a:t>
            </a:r>
          </a:p>
          <a:p>
            <a:pPr marL="717550" lvl="1" indent="-260350"/>
            <a:r>
              <a:rPr lang="ja-JP" altLang="en-US" sz="2000" dirty="0"/>
              <a:t>フロントエンド</a:t>
            </a:r>
            <a:r>
              <a:rPr lang="en-GB" altLang="ja-JP" sz="2000" dirty="0"/>
              <a:t>: TypeScript + React.js, TypeScript +Vue.js</a:t>
            </a:r>
          </a:p>
          <a:p>
            <a:pPr marL="717550" lvl="1" indent="-260350"/>
            <a:r>
              <a:rPr lang="ja-JP" altLang="en-US" sz="2000" b="1" dirty="0"/>
              <a:t>データベース</a:t>
            </a:r>
            <a:r>
              <a:rPr lang="en-GB" altLang="ja-JP" sz="2000" b="1" dirty="0"/>
              <a:t>: MySQL</a:t>
            </a:r>
            <a:r>
              <a:rPr lang="en-GB" altLang="ja-JP" sz="2000" dirty="0"/>
              <a:t>, PostgreSQL, MongoDB</a:t>
            </a:r>
          </a:p>
          <a:p>
            <a:pPr marL="717550" lvl="1" indent="-260350"/>
            <a:r>
              <a:rPr lang="ja-JP" altLang="en-US" sz="2000" b="1" dirty="0"/>
              <a:t>アーキテクチャー</a:t>
            </a:r>
            <a:r>
              <a:rPr lang="en-GB" altLang="ja-JP" sz="2000" b="1" dirty="0"/>
              <a:t>: </a:t>
            </a:r>
            <a:r>
              <a:rPr lang="ja-JP" altLang="en-US" sz="2000" b="1" dirty="0"/>
              <a:t>モノリス</a:t>
            </a:r>
            <a:r>
              <a:rPr lang="en-GB" altLang="ja-JP" sz="2000" b="1" dirty="0"/>
              <a:t>, </a:t>
            </a:r>
            <a:r>
              <a:rPr lang="ja-JP" altLang="en-US" sz="2000" b="1" dirty="0"/>
              <a:t>モジューラーモノリス</a:t>
            </a:r>
            <a:endParaRPr lang="en-GB" altLang="ja-JP" sz="2000" b="1" dirty="0"/>
          </a:p>
          <a:p>
            <a:pPr marL="717550" lvl="1" indent="-260350"/>
            <a:r>
              <a:rPr lang="ja-JP" altLang="en-US" sz="2000" dirty="0"/>
              <a:t>ホスティング</a:t>
            </a:r>
            <a:r>
              <a:rPr lang="en-GB" altLang="ja-JP" sz="2000" dirty="0"/>
              <a:t>: AWS ESK</a:t>
            </a:r>
          </a:p>
          <a:p>
            <a:pPr marL="717550" lvl="1" indent="-260350"/>
            <a:r>
              <a:rPr lang="ja-JP" altLang="en-US" sz="2000" dirty="0"/>
              <a:t>バージョン管理</a:t>
            </a:r>
            <a:r>
              <a:rPr lang="en-GB" altLang="ja-JP" sz="2000" dirty="0"/>
              <a:t>: Git, GitHub</a:t>
            </a:r>
          </a:p>
          <a:p>
            <a:pPr marL="717550" lvl="1" indent="-260350"/>
            <a:r>
              <a:rPr lang="en-GB" altLang="ja-JP" sz="2000" b="1" dirty="0"/>
              <a:t>CI/CD: GitHub Actions</a:t>
            </a:r>
            <a:r>
              <a:rPr lang="en-GB" altLang="ja-JP" sz="2000" dirty="0"/>
              <a:t>, ArgoCD</a:t>
            </a:r>
          </a:p>
          <a:p>
            <a:pPr marL="717550" lvl="1" indent="-260350"/>
            <a:r>
              <a:rPr lang="ja-JP" altLang="en-US" sz="2000" dirty="0"/>
              <a:t>監視</a:t>
            </a:r>
            <a:r>
              <a:rPr lang="en-GB" altLang="ja-JP" sz="2000" dirty="0"/>
              <a:t>: Datadog, Sentry</a:t>
            </a:r>
            <a:endParaRPr lang="en-GB" altLang="ja-JP" dirty="0"/>
          </a:p>
        </p:txBody>
      </p:sp>
      <p:sp>
        <p:nvSpPr>
          <p:cNvPr id="4" name="スライド番号プレースホルダー 3">
            <a:extLst>
              <a:ext uri="{FF2B5EF4-FFF2-40B4-BE49-F238E27FC236}">
                <a16:creationId xmlns:a16="http://schemas.microsoft.com/office/drawing/2014/main" id="{B2E7EDFE-6AEC-34BC-7358-3C52863825B0}"/>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6156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a:extLst>
            <a:ext uri="{FF2B5EF4-FFF2-40B4-BE49-F238E27FC236}">
              <a16:creationId xmlns:a16="http://schemas.microsoft.com/office/drawing/2014/main" id="{FD3D740B-7200-6949-398B-263DDF9B2B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5A9BFE1-6B5B-1A6C-4E9F-A2FBAF9A2549}"/>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8CD6C71E-C1B1-2B46-2A3B-4AD57937C695}"/>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31767C96-FA92-DF8E-4811-A6FE97180AA0}"/>
              </a:ext>
            </a:extLst>
          </p:cNvPr>
          <p:cNvGraphicFramePr>
            <a:graphicFrameLocks noGrp="1"/>
          </p:cNvGraphicFramePr>
          <p:nvPr>
            <p:extLst>
              <p:ext uri="{D42A27DB-BD31-4B8C-83A1-F6EECF244321}">
                <p14:modId xmlns:p14="http://schemas.microsoft.com/office/powerpoint/2010/main" val="812265345"/>
              </p:ext>
            </p:extLst>
          </p:nvPr>
        </p:nvGraphicFramePr>
        <p:xfrm>
          <a:off x="836798" y="1822829"/>
          <a:ext cx="10515600" cy="411988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2021</a:t>
                      </a:r>
                      <a:r>
                        <a:rPr lang="ja-JP" altLang="en-US" dirty="0"/>
                        <a:t>年</a:t>
                      </a:r>
                      <a:r>
                        <a:rPr lang="en-GB" altLang="ja-JP" dirty="0"/>
                        <a:t>08</a:t>
                      </a:r>
                      <a:r>
                        <a:rPr lang="ja-JP" altLang="en-US" dirty="0"/>
                        <a:t>月</a:t>
                      </a:r>
                      <a:r>
                        <a:rPr lang="en-GB" altLang="ja-JP" dirty="0"/>
                        <a:t>-</a:t>
                      </a:r>
                    </a:p>
                    <a:p>
                      <a:r>
                        <a:rPr lang="en-GB" dirty="0"/>
                        <a:t>Present</a:t>
                      </a:r>
                    </a:p>
                  </a:txBody>
                  <a:tcPr/>
                </a:tc>
                <a:tc>
                  <a:txBody>
                    <a:bodyPr/>
                    <a:lstStyle/>
                    <a:p>
                      <a:r>
                        <a:rPr lang="en-GB" dirty="0"/>
                        <a:t>EdTech SaaS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ソフトウェア</a:t>
                      </a:r>
                      <a:endParaRPr lang="en-GB"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en-GB" dirty="0"/>
                        <a:t>CI/CD </a:t>
                      </a:r>
                      <a:r>
                        <a:rPr lang="ja-JP" altLang="en-US" dirty="0"/>
                        <a:t>運用・保守</a:t>
                      </a:r>
                      <a:endParaRPr lang="en-GB" dirty="0"/>
                    </a:p>
                    <a:p>
                      <a:pPr marL="180975" indent="-180975">
                        <a:buFont typeface="Arial" panose="020B0604020202020204" pitchFamily="34" charset="0"/>
                        <a:buChar char="•"/>
                      </a:pPr>
                      <a:r>
                        <a:rPr lang="ja-JP" altLang="en-US" dirty="0"/>
                        <a:t>週次リリースマネージャー</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altLang="ja-JP" dirty="0"/>
                    </a:p>
                    <a:p>
                      <a:pPr marL="180975" indent="-180975">
                        <a:buFont typeface="Arial" panose="020B0604020202020204" pitchFamily="34" charset="0"/>
                        <a:buChar char="•"/>
                      </a:pPr>
                      <a:r>
                        <a:rPr lang="ja-JP" altLang="en-US" dirty="0"/>
                        <a:t>技術ブログ記事執筆</a:t>
                      </a:r>
                      <a:endParaRPr lang="en-GB" dirty="0"/>
                    </a:p>
                    <a:p>
                      <a:pPr marL="180975" indent="-180975">
                        <a:buFont typeface="Arial" panose="020B0604020202020204" pitchFamily="34" charset="0"/>
                        <a:buChar char="•"/>
                      </a:pPr>
                      <a:r>
                        <a:rPr lang="en-GB" dirty="0"/>
                        <a:t>LT </a:t>
                      </a:r>
                      <a:r>
                        <a:rPr lang="ja-JP" altLang="en-US" dirty="0"/>
                        <a:t>登壇</a:t>
                      </a:r>
                      <a:endParaRPr lang="en-GB" dirty="0"/>
                    </a:p>
                  </a:txBody>
                  <a:tcPr/>
                </a:tc>
                <a:extLst>
                  <a:ext uri="{0D108BD9-81ED-4DB2-BD59-A6C34878D82A}">
                    <a16:rowId xmlns:a16="http://schemas.microsoft.com/office/drawing/2014/main" val="1529764250"/>
                  </a:ext>
                </a:extLst>
              </a:tr>
              <a:tr h="370840">
                <a:tc>
                  <a:txBody>
                    <a:bodyPr/>
                    <a:lstStyle/>
                    <a:p>
                      <a:r>
                        <a:rPr lang="en-GB" dirty="0"/>
                        <a:t>2020</a:t>
                      </a:r>
                      <a:r>
                        <a:rPr lang="ja-JP" altLang="en-US" dirty="0"/>
                        <a:t>年</a:t>
                      </a:r>
                      <a:r>
                        <a:rPr lang="en-GB" altLang="ja-JP" dirty="0"/>
                        <a:t>02</a:t>
                      </a:r>
                      <a:r>
                        <a:rPr lang="ja-JP" altLang="en-US" dirty="0"/>
                        <a:t>月</a:t>
                      </a:r>
                      <a:r>
                        <a:rPr lang="en-GB" dirty="0"/>
                        <a:t>-</a:t>
                      </a:r>
                    </a:p>
                    <a:p>
                      <a:r>
                        <a:rPr lang="en-GB" dirty="0"/>
                        <a:t>2020</a:t>
                      </a:r>
                      <a:r>
                        <a:rPr lang="ja-JP" altLang="en-US" dirty="0"/>
                        <a:t>年</a:t>
                      </a:r>
                      <a:r>
                        <a:rPr lang="en-GB" altLang="ja-JP" dirty="0"/>
                        <a:t>12</a:t>
                      </a:r>
                      <a:r>
                        <a:rPr lang="ja-JP" altLang="en-US" dirty="0"/>
                        <a:t>月</a:t>
                      </a:r>
                      <a:endParaRPr lang="en-GB" dirty="0"/>
                    </a:p>
                  </a:txBody>
                  <a:tcPr/>
                </a:tc>
                <a:tc>
                  <a:txBody>
                    <a:bodyPr/>
                    <a:lstStyle/>
                    <a:p>
                      <a:r>
                        <a:rPr lang="ja-JP" altLang="en-US" dirty="0"/>
                        <a:t>チャットボット系</a:t>
                      </a:r>
                      <a:r>
                        <a:rPr lang="en-GB" altLang="ja-JP" dirty="0"/>
                        <a:t> </a:t>
                      </a:r>
                      <a:r>
                        <a:rPr lang="en-GB" dirty="0"/>
                        <a:t>SaaS</a:t>
                      </a:r>
                    </a:p>
                  </a:txBody>
                  <a:tcPr/>
                </a:tc>
                <a:tc>
                  <a:txBody>
                    <a:bodyPr/>
                    <a:lstStyle/>
                    <a:p>
                      <a:r>
                        <a:rPr lang="ja-JP" altLang="en-US" dirty="0"/>
                        <a:t>バックエンド</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dirty="0"/>
                    </a:p>
                    <a:p>
                      <a:pPr marL="180975" indent="-180975">
                        <a:buFont typeface="Arial" panose="020B0604020202020204" pitchFamily="34" charset="0"/>
                        <a:buChar char="•"/>
                      </a:pPr>
                      <a:r>
                        <a:rPr lang="ja-JP" altLang="en-US" dirty="0"/>
                        <a:t>代替</a:t>
                      </a:r>
                      <a:r>
                        <a:rPr lang="en-GB" dirty="0"/>
                        <a:t> API </a:t>
                      </a:r>
                      <a:r>
                        <a:rPr lang="ja-JP" altLang="en-US" dirty="0"/>
                        <a:t>検証</a:t>
                      </a:r>
                      <a:endParaRPr lang="en-GB" dirty="0"/>
                    </a:p>
                  </a:txBody>
                  <a:tcPr/>
                </a:tc>
                <a:extLst>
                  <a:ext uri="{0D108BD9-81ED-4DB2-BD59-A6C34878D82A}">
                    <a16:rowId xmlns:a16="http://schemas.microsoft.com/office/drawing/2014/main" val="2157449828"/>
                  </a:ext>
                </a:extLst>
              </a:tr>
            </a:tbl>
          </a:graphicData>
        </a:graphic>
      </p:graphicFrame>
    </p:spTree>
    <p:extLst>
      <p:ext uri="{BB962C8B-B14F-4D97-AF65-F5344CB8AC3E}">
        <p14:creationId xmlns:p14="http://schemas.microsoft.com/office/powerpoint/2010/main" val="2833841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a:extLst>
            <a:ext uri="{FF2B5EF4-FFF2-40B4-BE49-F238E27FC236}">
              <a16:creationId xmlns:a16="http://schemas.microsoft.com/office/drawing/2014/main" id="{AF835F44-BAF4-8098-6D59-75188FD5096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BD95E13-1FA8-5AD4-3212-4402B808A0FD}"/>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8877EBE6-4FCD-81BF-6FE3-FB71EA0BB24F}"/>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C4506200-9440-5A11-7F4A-28C81D1EF3D0}"/>
              </a:ext>
            </a:extLst>
          </p:cNvPr>
          <p:cNvGraphicFramePr>
            <a:graphicFrameLocks noGrp="1"/>
          </p:cNvGraphicFramePr>
          <p:nvPr>
            <p:extLst>
              <p:ext uri="{D42A27DB-BD31-4B8C-83A1-F6EECF244321}">
                <p14:modId xmlns:p14="http://schemas.microsoft.com/office/powerpoint/2010/main" val="1788297845"/>
              </p:ext>
            </p:extLst>
          </p:nvPr>
        </p:nvGraphicFramePr>
        <p:xfrm>
          <a:off x="836798" y="1822829"/>
          <a:ext cx="10515600" cy="302260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2018</a:t>
                      </a:r>
                      <a:r>
                        <a:rPr lang="ja-JP" altLang="en-US" dirty="0"/>
                        <a:t>年</a:t>
                      </a:r>
                      <a:r>
                        <a:rPr lang="en-US" altLang="ja-JP" dirty="0"/>
                        <a:t>06</a:t>
                      </a:r>
                      <a:r>
                        <a:rPr lang="ja-JP" altLang="en-US" dirty="0"/>
                        <a:t>月</a:t>
                      </a:r>
                      <a:r>
                        <a:rPr lang="en-GB" dirty="0"/>
                        <a:t> -</a:t>
                      </a:r>
                    </a:p>
                    <a:p>
                      <a:r>
                        <a:rPr lang="en-GB" dirty="0"/>
                        <a:t>2020</a:t>
                      </a:r>
                      <a:r>
                        <a:rPr lang="ja-JP" altLang="en-US" dirty="0"/>
                        <a:t>年</a:t>
                      </a:r>
                      <a:r>
                        <a:rPr lang="en-US" altLang="ja-JP" dirty="0"/>
                        <a:t>01</a:t>
                      </a:r>
                      <a:r>
                        <a:rPr lang="ja-JP" altLang="en-US" dirty="0"/>
                        <a:t>月</a:t>
                      </a:r>
                      <a:endParaRPr lang="en-GB" dirty="0"/>
                    </a:p>
                  </a:txBody>
                  <a:tcPr/>
                </a:tc>
                <a:tc>
                  <a:txBody>
                    <a:bodyPr/>
                    <a:lstStyle/>
                    <a:p>
                      <a:r>
                        <a:rPr lang="ja-JP" altLang="en-US" dirty="0"/>
                        <a:t>受託開発</a:t>
                      </a:r>
                      <a:endParaRPr lang="en-GB" dirty="0"/>
                    </a:p>
                  </a:txBody>
                  <a:tcPr/>
                </a:tc>
                <a:tc>
                  <a:txBody>
                    <a:bodyPr/>
                    <a:lstStyle/>
                    <a:p>
                      <a:r>
                        <a:rPr lang="ja-JP" altLang="en-US" dirty="0"/>
                        <a:t>ソフトウェア</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en-GB" dirty="0"/>
                        <a:t>QA</a:t>
                      </a:r>
                    </a:p>
                    <a:p>
                      <a:pPr marL="180975" indent="-180975">
                        <a:buFont typeface="Arial" panose="020B0604020202020204" pitchFamily="34" charset="0"/>
                        <a:buChar char="•"/>
                      </a:pPr>
                      <a:r>
                        <a:rPr lang="ja-JP" altLang="en-US" dirty="0"/>
                        <a:t>技術ブログ記事執筆</a:t>
                      </a:r>
                      <a:endParaRPr lang="en-GB" dirty="0"/>
                    </a:p>
                  </a:txBody>
                  <a:tcPr/>
                </a:tc>
                <a:extLst>
                  <a:ext uri="{0D108BD9-81ED-4DB2-BD59-A6C34878D82A}">
                    <a16:rowId xmlns:a16="http://schemas.microsoft.com/office/drawing/2014/main" val="2130531394"/>
                  </a:ext>
                </a:extLst>
              </a:tr>
              <a:tr h="370840">
                <a:tc>
                  <a:txBody>
                    <a:bodyPr/>
                    <a:lstStyle/>
                    <a:p>
                      <a:r>
                        <a:rPr lang="en-GB" dirty="0"/>
                        <a:t>2016</a:t>
                      </a:r>
                      <a:r>
                        <a:rPr lang="ja-JP" altLang="en-US" dirty="0"/>
                        <a:t>年</a:t>
                      </a:r>
                      <a:r>
                        <a:rPr lang="en-US" altLang="ja-JP" dirty="0"/>
                        <a:t>04</a:t>
                      </a:r>
                      <a:r>
                        <a:rPr lang="ja-JP" altLang="en-US" dirty="0"/>
                        <a:t>月</a:t>
                      </a:r>
                      <a:r>
                        <a:rPr lang="en-GB" dirty="0"/>
                        <a:t> -</a:t>
                      </a:r>
                    </a:p>
                    <a:p>
                      <a:r>
                        <a:rPr lang="en-GB" dirty="0"/>
                        <a:t>2018</a:t>
                      </a:r>
                      <a:r>
                        <a:rPr lang="ja-JP" altLang="en-US" dirty="0"/>
                        <a:t>年</a:t>
                      </a:r>
                      <a:r>
                        <a:rPr lang="en-US" altLang="ja-JP" dirty="0"/>
                        <a:t>01</a:t>
                      </a:r>
                      <a:r>
                        <a:rPr lang="ja-JP" altLang="en-US" dirty="0"/>
                        <a:t>月</a:t>
                      </a:r>
                      <a:endParaRPr lang="en-GB" dirty="0"/>
                    </a:p>
                  </a:txBody>
                  <a:tcPr/>
                </a:tc>
                <a:tc>
                  <a:txBody>
                    <a:bodyPr/>
                    <a:lstStyle/>
                    <a:p>
                      <a:r>
                        <a:rPr lang="en-GB" altLang="ja-JP" dirty="0"/>
                        <a:t>SES</a:t>
                      </a:r>
                      <a:endParaRPr lang="en-GB" dirty="0"/>
                    </a:p>
                  </a:txBody>
                  <a:tcPr/>
                </a:tc>
                <a:tc>
                  <a:txBody>
                    <a:bodyPr/>
                    <a:lstStyle/>
                    <a:p>
                      <a:r>
                        <a:rPr lang="ja-JP" altLang="en-US" dirty="0"/>
                        <a:t>システムエンジニア</a:t>
                      </a:r>
                      <a:endParaRPr lang="en-GB" dirty="0"/>
                    </a:p>
                  </a:txBody>
                  <a:tcPr/>
                </a:tc>
                <a:tc>
                  <a:txBody>
                    <a:bodyPr/>
                    <a:lstStyle/>
                    <a:p>
                      <a:pPr marL="180975" indent="-180975">
                        <a:buFont typeface="Arial" panose="020B0604020202020204" pitchFamily="34" charset="0"/>
                        <a:buChar char="•"/>
                      </a:pPr>
                      <a:r>
                        <a:rPr lang="ja-JP" altLang="en-US" dirty="0"/>
                        <a:t>全社アカウント管理者</a:t>
                      </a:r>
                      <a:endParaRPr lang="en-GB" dirty="0"/>
                    </a:p>
                    <a:p>
                      <a:pPr marL="180975" indent="-180975">
                        <a:buFont typeface="Arial" panose="020B0604020202020204" pitchFamily="34" charset="0"/>
                        <a:buChar char="•"/>
                      </a:pPr>
                      <a:r>
                        <a:rPr lang="en-GB" dirty="0"/>
                        <a:t>Windows Server </a:t>
                      </a:r>
                      <a:r>
                        <a:rPr lang="ja-JP" altLang="en-US" dirty="0"/>
                        <a:t>運用・保守</a:t>
                      </a:r>
                      <a:endParaRPr lang="en-GB" dirty="0"/>
                    </a:p>
                    <a:p>
                      <a:pPr marL="180975" indent="-180975">
                        <a:buFont typeface="Arial" panose="020B0604020202020204" pitchFamily="34" charset="0"/>
                        <a:buChar char="•"/>
                      </a:pPr>
                      <a:r>
                        <a:rPr lang="ja-JP" altLang="en-US" dirty="0"/>
                        <a:t>セキュリティ管理者助手</a:t>
                      </a:r>
                      <a:endParaRPr lang="en-GB" dirty="0"/>
                    </a:p>
                    <a:p>
                      <a:pPr marL="180975" indent="-180975">
                        <a:buFont typeface="Arial" panose="020B0604020202020204" pitchFamily="34" charset="0"/>
                        <a:buChar char="•"/>
                      </a:pPr>
                      <a:r>
                        <a:rPr lang="ja-JP" altLang="en-US" dirty="0"/>
                        <a:t>翻訳・通訳</a:t>
                      </a:r>
                      <a:endParaRPr lang="en-GB" dirty="0"/>
                    </a:p>
                  </a:txBody>
                  <a:tcPr/>
                </a:tc>
                <a:extLst>
                  <a:ext uri="{0D108BD9-81ED-4DB2-BD59-A6C34878D82A}">
                    <a16:rowId xmlns:a16="http://schemas.microsoft.com/office/drawing/2014/main" val="2598994669"/>
                  </a:ext>
                </a:extLst>
              </a:tr>
            </a:tbl>
          </a:graphicData>
        </a:graphic>
      </p:graphicFrame>
    </p:spTree>
    <p:extLst>
      <p:ext uri="{BB962C8B-B14F-4D97-AF65-F5344CB8AC3E}">
        <p14:creationId xmlns:p14="http://schemas.microsoft.com/office/powerpoint/2010/main" val="1588533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9EAC44AE-00FA-2154-AFDF-968063465A20}"/>
              </a:ext>
            </a:extLst>
          </p:cNvPr>
          <p:cNvSpPr>
            <a:spLocks noGrp="1"/>
          </p:cNvSpPr>
          <p:nvPr>
            <p:ph type="title"/>
          </p:nvPr>
        </p:nvSpPr>
        <p:spPr>
          <a:xfrm>
            <a:off x="838200" y="365125"/>
            <a:ext cx="10515600" cy="1325563"/>
          </a:xfrm>
        </p:spPr>
        <p:txBody>
          <a:bodyPr/>
          <a:lstStyle/>
          <a:p>
            <a:pPr algn="ctr"/>
            <a:r>
              <a:rPr lang="ja-JP" altLang="en-US" b="1" dirty="0"/>
              <a:t>国際交流活動</a:t>
            </a:r>
            <a:endParaRPr lang="en-GB" b="1" dirty="0"/>
          </a:p>
        </p:txBody>
      </p:sp>
      <p:sp>
        <p:nvSpPr>
          <p:cNvPr id="7" name="スライド番号プレースホルダー 3">
            <a:extLst>
              <a:ext uri="{FF2B5EF4-FFF2-40B4-BE49-F238E27FC236}">
                <a16:creationId xmlns:a16="http://schemas.microsoft.com/office/drawing/2014/main" id="{BB8235B6-2662-E93B-5073-7812EB045472}"/>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コンテンツ プレースホルダー 2">
            <a:extLst>
              <a:ext uri="{FF2B5EF4-FFF2-40B4-BE49-F238E27FC236}">
                <a16:creationId xmlns:a16="http://schemas.microsoft.com/office/drawing/2014/main" id="{7EE89FB4-5CE1-79BE-5697-30158120CA66}"/>
              </a:ext>
            </a:extLst>
          </p:cNvPr>
          <p:cNvSpPr>
            <a:spLocks noGrp="1"/>
          </p:cNvSpPr>
          <p:nvPr>
            <p:ph idx="1"/>
          </p:nvPr>
        </p:nvSpPr>
        <p:spPr>
          <a:xfrm>
            <a:off x="838200" y="1830270"/>
            <a:ext cx="10515600" cy="4343898"/>
          </a:xfrm>
          <a:ln>
            <a:noFill/>
          </a:ln>
        </p:spPr>
        <p:txBody>
          <a:bodyPr>
            <a:normAutofit/>
          </a:bodyPr>
          <a:lstStyle/>
          <a:p>
            <a:pPr marL="268288" indent="-268288"/>
            <a:r>
              <a:rPr lang="ja-JP" altLang="en-US" sz="1600" dirty="0"/>
              <a:t>大学時代</a:t>
            </a:r>
          </a:p>
          <a:p>
            <a:pPr marL="536575" lvl="1" indent="-268288"/>
            <a:r>
              <a:rPr lang="ja-JP" altLang="en-US" sz="1400" dirty="0"/>
              <a:t>英語学ゼミ</a:t>
            </a:r>
            <a:r>
              <a:rPr lang="en-US" altLang="ja-JP" sz="1400" dirty="0"/>
              <a:t>(</a:t>
            </a:r>
            <a:r>
              <a:rPr lang="ja-JP" altLang="en-US" sz="1400" dirty="0"/>
              <a:t>マスメディア英語</a:t>
            </a:r>
            <a:r>
              <a:rPr lang="en-US" altLang="ja-JP" sz="1400" dirty="0"/>
              <a:t>)</a:t>
            </a:r>
          </a:p>
          <a:p>
            <a:pPr marL="536575" lvl="1" indent="-268288"/>
            <a:r>
              <a:rPr lang="ja-JP" altLang="en-US" sz="1400" dirty="0"/>
              <a:t>国際交流サークル兼部</a:t>
            </a:r>
            <a:r>
              <a:rPr lang="en-US" altLang="ja-JP" sz="1400" dirty="0"/>
              <a:t>(2</a:t>
            </a:r>
            <a:r>
              <a:rPr lang="ja-JP" altLang="en-US" sz="1400" dirty="0"/>
              <a:t>年次</a:t>
            </a:r>
            <a:r>
              <a:rPr lang="en-US" altLang="ja-JP" sz="1400" dirty="0"/>
              <a:t>)</a:t>
            </a:r>
          </a:p>
          <a:p>
            <a:pPr marL="536575" lvl="1" indent="-268288"/>
            <a:r>
              <a:rPr lang="ja-JP" altLang="en-US" sz="1400" dirty="0">
                <a:hlinkClick r:id="rId3"/>
              </a:rPr>
              <a:t>内閣府主催国際交流プログラム</a:t>
            </a:r>
            <a:r>
              <a:rPr lang="en-US" altLang="ja-JP" sz="1400" dirty="0"/>
              <a:t>(2013</a:t>
            </a:r>
            <a:r>
              <a:rPr lang="ja-JP" altLang="en-US" sz="1400" dirty="0"/>
              <a:t>年 </a:t>
            </a:r>
            <a:r>
              <a:rPr lang="en-GB" altLang="ja-JP" sz="1400" dirty="0"/>
              <a:t>-</a:t>
            </a:r>
            <a:r>
              <a:rPr lang="en-US" altLang="ja-JP" sz="1400" dirty="0"/>
              <a:t> 2016</a:t>
            </a:r>
            <a:r>
              <a:rPr lang="ja-JP" altLang="en-US" sz="1400" dirty="0"/>
              <a:t>年</a:t>
            </a:r>
            <a:r>
              <a:rPr lang="en-US" altLang="ja-JP" sz="1400" dirty="0"/>
              <a:t>)</a:t>
            </a:r>
          </a:p>
          <a:p>
            <a:pPr marL="536575" lvl="1" indent="-268288"/>
            <a:r>
              <a:rPr lang="ja-JP" altLang="en-US" sz="1400" dirty="0"/>
              <a:t>日本語学の授業の</a:t>
            </a:r>
            <a:r>
              <a:rPr lang="en-GB" altLang="ja-JP" sz="1400" dirty="0"/>
              <a:t> S </a:t>
            </a:r>
            <a:r>
              <a:rPr lang="ja-JP" altLang="en-US" sz="1400" dirty="0"/>
              <a:t>単位取得</a:t>
            </a:r>
            <a:r>
              <a:rPr lang="en-GB" altLang="ja-JP" sz="1400" dirty="0"/>
              <a:t>(</a:t>
            </a:r>
            <a:r>
              <a:rPr lang="ja-JP" altLang="en-US" sz="1400" dirty="0"/>
              <a:t>最終年次</a:t>
            </a:r>
            <a:r>
              <a:rPr lang="en-GB" altLang="ja-JP" sz="1400" dirty="0"/>
              <a:t>)</a:t>
            </a:r>
            <a:endParaRPr lang="en-US" altLang="ja-JP" sz="1400" dirty="0"/>
          </a:p>
          <a:p>
            <a:pPr marL="268288" indent="-268288"/>
            <a:r>
              <a:rPr lang="ja-JP" altLang="en-US" sz="1600" dirty="0"/>
              <a:t>海外生活</a:t>
            </a:r>
          </a:p>
          <a:p>
            <a:pPr marL="536575" lvl="1" indent="-268288"/>
            <a:r>
              <a:rPr lang="ja-JP" altLang="en-US" sz="1400" dirty="0"/>
              <a:t>オーストラリアでのワーキングホリデー</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en-GB" altLang="ja-JP" sz="1400" dirty="0"/>
              <a:t>2015</a:t>
            </a:r>
            <a:r>
              <a:rPr lang="ja-JP" altLang="en-US" sz="1400" dirty="0"/>
              <a:t>年</a:t>
            </a:r>
            <a:r>
              <a:rPr lang="en-US" altLang="ja-JP" sz="1400" dirty="0"/>
              <a:t>03</a:t>
            </a:r>
            <a:r>
              <a:rPr lang="ja-JP" altLang="en-US" sz="1400" dirty="0"/>
              <a:t>月</a:t>
            </a:r>
            <a:r>
              <a:rPr lang="en-US" altLang="ja-JP" sz="1400" dirty="0"/>
              <a:t>)</a:t>
            </a:r>
          </a:p>
          <a:p>
            <a:pPr marL="728662" lvl="2" indent="-285750"/>
            <a:r>
              <a:rPr lang="en-GB" altLang="ja-JP" sz="1200" dirty="0"/>
              <a:t>2</a:t>
            </a:r>
            <a:r>
              <a:rPr lang="ja-JP" altLang="en-US" sz="1200" dirty="0"/>
              <a:t>ヶ月間のシドニーの語学学校通学</a:t>
            </a:r>
            <a:endParaRPr lang="en-GB" altLang="ja-JP" sz="1200" dirty="0"/>
          </a:p>
          <a:p>
            <a:pPr marL="728662" lvl="2" indent="-285750"/>
            <a:r>
              <a:rPr lang="en-US" altLang="ja-JP" sz="1200" dirty="0"/>
              <a:t>6</a:t>
            </a:r>
            <a:r>
              <a:rPr lang="ja-JP" altLang="en-US" sz="1200" dirty="0"/>
              <a:t>ヶ月間の</a:t>
            </a:r>
            <a:r>
              <a:rPr lang="en-GB" altLang="ja-JP" sz="1200" dirty="0"/>
              <a:t> </a:t>
            </a:r>
            <a:r>
              <a:rPr lang="en-GB" altLang="ja-JP" sz="1200" dirty="0">
                <a:hlinkClick r:id="rId4"/>
              </a:rPr>
              <a:t>Hamilton Island Resort</a:t>
            </a:r>
            <a:r>
              <a:rPr lang="en-GB" altLang="ja-JP" sz="1200" dirty="0"/>
              <a:t> </a:t>
            </a:r>
            <a:r>
              <a:rPr lang="ja-JP" altLang="en-US" sz="1200" dirty="0"/>
              <a:t>での就労</a:t>
            </a:r>
            <a:endParaRPr lang="en-GB" altLang="ja-JP" sz="1200" dirty="0"/>
          </a:p>
          <a:p>
            <a:pPr marL="728662" lvl="2" indent="-285750"/>
            <a:r>
              <a:rPr lang="en-US" altLang="ja-JP" sz="1200" dirty="0"/>
              <a:t>1</a:t>
            </a:r>
            <a:r>
              <a:rPr lang="ja-JP" altLang="en-US" sz="1200" dirty="0"/>
              <a:t>ヶ月間の </a:t>
            </a:r>
            <a:r>
              <a:rPr lang="en-GB" altLang="ja-JP" sz="1200" dirty="0"/>
              <a:t>NSW </a:t>
            </a:r>
            <a:r>
              <a:rPr lang="ja-JP" altLang="en-US" sz="1200" dirty="0"/>
              <a:t>州の </a:t>
            </a:r>
            <a:r>
              <a:rPr lang="en-GB" altLang="ja-JP" sz="1200" dirty="0">
                <a:hlinkClick r:id="rId5"/>
              </a:rPr>
              <a:t>St Ives High School</a:t>
            </a:r>
            <a:r>
              <a:rPr lang="ja-JP" altLang="en-US" sz="1200" dirty="0"/>
              <a:t> での日本語教師アシスタントボランティア活動</a:t>
            </a:r>
            <a:endParaRPr lang="en-US" altLang="ja-JP" sz="1200" dirty="0"/>
          </a:p>
          <a:p>
            <a:pPr marL="268288" indent="-268288"/>
            <a:r>
              <a:rPr lang="ja-JP" altLang="en-US" sz="1600" dirty="0"/>
              <a:t>その他活動</a:t>
            </a:r>
            <a:endParaRPr lang="ja-JP" altLang="en-US" sz="900" dirty="0"/>
          </a:p>
          <a:p>
            <a:pPr marL="536575" lvl="1" indent="-268288"/>
            <a:r>
              <a:rPr lang="ja-JP" altLang="en-US" sz="1400" dirty="0"/>
              <a:t>英語での日々の日記</a:t>
            </a:r>
            <a:r>
              <a:rPr lang="en-GB" altLang="ja-JP" sz="1400" dirty="0"/>
              <a:t>(</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ja-JP" altLang="en-US" sz="1400" dirty="0"/>
              <a:t>現在</a:t>
            </a:r>
            <a:r>
              <a:rPr lang="en-GB" altLang="ja-JP" sz="1400" dirty="0"/>
              <a:t>)</a:t>
            </a:r>
            <a:endParaRPr lang="en-US" altLang="ja-JP" sz="1400" dirty="0">
              <a:hlinkClick r:id="rId6"/>
            </a:endParaRPr>
          </a:p>
          <a:p>
            <a:pPr marL="536575" lvl="1" indent="-268288"/>
            <a:r>
              <a:rPr lang="en-US" altLang="ja-JP" sz="1400" dirty="0">
                <a:hlinkClick r:id="rId7"/>
              </a:rPr>
              <a:t>Sunrise Toastmasters Club</a:t>
            </a:r>
            <a:r>
              <a:rPr lang="en-GB" altLang="ja-JP" sz="1400" dirty="0"/>
              <a:t> </a:t>
            </a:r>
            <a:r>
              <a:rPr lang="ja-JP" altLang="en-US" sz="1400" dirty="0"/>
              <a:t>参加</a:t>
            </a:r>
            <a:r>
              <a:rPr lang="en-US" altLang="ja-JP" sz="1400" dirty="0"/>
              <a:t>(2017</a:t>
            </a:r>
            <a:r>
              <a:rPr lang="ja-JP" altLang="en-US" sz="1400" dirty="0"/>
              <a:t>年</a:t>
            </a:r>
            <a:r>
              <a:rPr lang="en-US" altLang="ja-JP" sz="1400" dirty="0"/>
              <a:t>02</a:t>
            </a:r>
            <a:r>
              <a:rPr lang="ja-JP" altLang="en-US" sz="1400" dirty="0"/>
              <a:t>月 </a:t>
            </a:r>
            <a:r>
              <a:rPr lang="en-US" altLang="ja-JP" sz="1400" dirty="0"/>
              <a:t>- 2018</a:t>
            </a:r>
            <a:r>
              <a:rPr lang="ja-JP" altLang="en-US" sz="1400" dirty="0"/>
              <a:t>年</a:t>
            </a:r>
            <a:r>
              <a:rPr lang="en-US" altLang="ja-JP" sz="1400" dirty="0"/>
              <a:t>03</a:t>
            </a:r>
            <a:r>
              <a:rPr lang="ja-JP" altLang="en-US" sz="1400" dirty="0"/>
              <a:t>月</a:t>
            </a:r>
            <a:r>
              <a:rPr lang="en-US" altLang="ja-JP" sz="1400" dirty="0"/>
              <a:t>)</a:t>
            </a:r>
          </a:p>
          <a:p>
            <a:pPr marL="536575" lvl="1" indent="-268288"/>
            <a:r>
              <a:rPr lang="en-US" altLang="ja-JP" sz="1400" dirty="0">
                <a:hlinkClick r:id="rId8"/>
              </a:rPr>
              <a:t>Vital Japan</a:t>
            </a:r>
            <a:r>
              <a:rPr lang="en-US" altLang="ja-JP" sz="1400" dirty="0"/>
              <a:t> </a:t>
            </a:r>
            <a:r>
              <a:rPr lang="ja-JP" altLang="en-US" sz="1400" dirty="0"/>
              <a:t>参加</a:t>
            </a:r>
            <a:r>
              <a:rPr lang="en-US" altLang="ja-JP" sz="1400" dirty="0"/>
              <a:t>(2018</a:t>
            </a:r>
            <a:r>
              <a:rPr lang="ja-JP" altLang="en-US" sz="1400" dirty="0"/>
              <a:t>年</a:t>
            </a:r>
            <a:r>
              <a:rPr lang="en-US" altLang="ja-JP" sz="1400" dirty="0"/>
              <a:t>0</a:t>
            </a:r>
            <a:r>
              <a:rPr lang="en-GB" altLang="ja-JP" sz="1400" dirty="0"/>
              <a:t>1</a:t>
            </a:r>
            <a:r>
              <a:rPr lang="ja-JP" altLang="en-US" sz="1400" dirty="0"/>
              <a:t>月 </a:t>
            </a:r>
            <a:r>
              <a:rPr lang="en-US" altLang="ja-JP" sz="1400" dirty="0"/>
              <a:t>- 2019</a:t>
            </a:r>
            <a:r>
              <a:rPr lang="ja-JP" altLang="en-US" sz="1400" dirty="0"/>
              <a:t>年</a:t>
            </a:r>
            <a:r>
              <a:rPr lang="en-US" altLang="ja-JP" sz="1400" dirty="0"/>
              <a:t>0</a:t>
            </a:r>
            <a:r>
              <a:rPr lang="en-GB" altLang="ja-JP" sz="1400" dirty="0"/>
              <a:t>7</a:t>
            </a:r>
            <a:r>
              <a:rPr lang="ja-JP" altLang="en-US" sz="1400" dirty="0"/>
              <a:t>月、</a:t>
            </a:r>
            <a:r>
              <a:rPr lang="en-US" altLang="ja-JP" sz="1400" dirty="0"/>
              <a:t>2022</a:t>
            </a:r>
            <a:r>
              <a:rPr lang="ja-JP" altLang="en-US" sz="1400" dirty="0"/>
              <a:t>年</a:t>
            </a:r>
            <a:r>
              <a:rPr lang="en-US" altLang="ja-JP" sz="1400" dirty="0"/>
              <a:t>10</a:t>
            </a:r>
            <a:r>
              <a:rPr lang="ja-JP" altLang="en-US" sz="1400" dirty="0"/>
              <a:t>月 </a:t>
            </a:r>
            <a:r>
              <a:rPr lang="en-US" altLang="ja-JP" sz="1400" dirty="0"/>
              <a:t>- 2023</a:t>
            </a:r>
            <a:r>
              <a:rPr lang="ja-JP" altLang="en-US" sz="1400" dirty="0"/>
              <a:t>年</a:t>
            </a:r>
            <a:r>
              <a:rPr lang="en-US" altLang="ja-JP" sz="1400" dirty="0"/>
              <a:t>0</a:t>
            </a:r>
            <a:r>
              <a:rPr lang="en-GB" altLang="ja-JP" sz="1400" dirty="0"/>
              <a:t>2</a:t>
            </a:r>
            <a:r>
              <a:rPr lang="ja-JP" altLang="en-US" sz="1400" dirty="0"/>
              <a:t>月</a:t>
            </a:r>
            <a:r>
              <a:rPr lang="en-US" altLang="ja-JP" sz="1400" dirty="0"/>
              <a:t>) </a:t>
            </a:r>
          </a:p>
          <a:p>
            <a:pPr marL="536575" lvl="1" indent="-268288"/>
            <a:r>
              <a:rPr lang="ja-JP" altLang="en-US" sz="1400" dirty="0"/>
              <a:t>英語自己学習</a:t>
            </a:r>
            <a:endParaRPr lang="en-GB" altLang="ja-JP" sz="1400" dirty="0"/>
          </a:p>
          <a:p>
            <a:pPr marL="536575" lvl="1" indent="-268288"/>
            <a:r>
              <a:rPr lang="en-GB" altLang="ja-JP" sz="1400" dirty="0"/>
              <a:t>Ruby </a:t>
            </a:r>
            <a:r>
              <a:rPr lang="ja-JP" altLang="en-US" sz="1400" dirty="0"/>
              <a:t>関連カンファレンス参加</a:t>
            </a:r>
            <a:endParaRPr lang="en-GB" altLang="ja-JP" sz="1400" dirty="0"/>
          </a:p>
        </p:txBody>
      </p:sp>
    </p:spTree>
    <p:extLst>
      <p:ext uri="{BB962C8B-B14F-4D97-AF65-F5344CB8AC3E}">
        <p14:creationId xmlns:p14="http://schemas.microsoft.com/office/powerpoint/2010/main" val="256743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B69D39-AAC7-42C5-8747-4B518371074C}"/>
              </a:ext>
            </a:extLst>
          </p:cNvPr>
          <p:cNvSpPr>
            <a:spLocks noGrp="1"/>
          </p:cNvSpPr>
          <p:nvPr>
            <p:ph type="title"/>
          </p:nvPr>
        </p:nvSpPr>
        <p:spPr/>
        <p:txBody>
          <a:bodyPr/>
          <a:lstStyle/>
          <a:p>
            <a:pPr algn="ctr"/>
            <a:r>
              <a:rPr lang="ja-JP" altLang="en-US" b="1" dirty="0"/>
              <a:t>コンテンツ</a:t>
            </a:r>
            <a:endParaRPr lang="en-GB" b="1" dirty="0"/>
          </a:p>
        </p:txBody>
      </p:sp>
      <p:sp>
        <p:nvSpPr>
          <p:cNvPr id="3" name="コンテンツ プレースホルダー 2">
            <a:extLst>
              <a:ext uri="{FF2B5EF4-FFF2-40B4-BE49-F238E27FC236}">
                <a16:creationId xmlns:a16="http://schemas.microsoft.com/office/drawing/2014/main" id="{6865C527-BB5B-4296-B5C9-8645D3BC7D77}"/>
              </a:ext>
            </a:extLst>
          </p:cNvPr>
          <p:cNvSpPr>
            <a:spLocks noGrp="1"/>
          </p:cNvSpPr>
          <p:nvPr>
            <p:ph idx="1"/>
          </p:nvPr>
        </p:nvSpPr>
        <p:spPr/>
        <p:txBody>
          <a:bodyPr>
            <a:normAutofit/>
          </a:bodyPr>
          <a:lstStyle/>
          <a:p>
            <a:pPr marL="360363" indent="-360363">
              <a:buClr>
                <a:schemeClr val="dk1"/>
              </a:buClr>
              <a:buSzPts val="2800"/>
              <a:buAutoNum type="arabicPeriod"/>
            </a:pPr>
            <a:r>
              <a:rPr lang="ja-JP" altLang="en-US" sz="2400" dirty="0">
                <a:sym typeface="Arial"/>
                <a:hlinkClick r:id="rId3"/>
              </a:rPr>
              <a:t>プロローグ</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4"/>
              </a:rPr>
              <a:t>山登り型 </a:t>
            </a:r>
            <a:r>
              <a:rPr lang="en-US" altLang="ja-JP" sz="2400" dirty="0">
                <a:sym typeface="Arial"/>
                <a:hlinkClick r:id="rId4"/>
              </a:rPr>
              <a:t>vs. </a:t>
            </a:r>
            <a:r>
              <a:rPr lang="ja-JP" altLang="en-US" sz="2400" dirty="0">
                <a:sym typeface="Arial"/>
                <a:hlinkClick r:id="rId4"/>
              </a:rPr>
              <a:t>川下り型</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5"/>
              </a:rPr>
              <a:t>能動的川下り型のキャリアプランニング</a:t>
            </a:r>
            <a:endParaRPr lang="en-GB" altLang="ja-JP" sz="2400" dirty="0">
              <a:sym typeface="Arial"/>
            </a:endParaRPr>
          </a:p>
          <a:p>
            <a:pPr marL="360363" indent="-360363">
              <a:buClr>
                <a:schemeClr val="dk1"/>
              </a:buClr>
              <a:buSzPts val="2800"/>
              <a:buFont typeface="Arial" panose="020B0604020202020204" pitchFamily="34" charset="0"/>
              <a:buAutoNum type="arabicPeriod"/>
            </a:pPr>
            <a:r>
              <a:rPr lang="ja-JP" altLang="en-US" sz="2400" dirty="0">
                <a:sym typeface="Arial"/>
                <a:hlinkClick r:id="rId6"/>
              </a:rPr>
              <a:t>「お前はどうしたいの？」</a:t>
            </a:r>
            <a:endParaRPr lang="en-GB" altLang="ja-JP" sz="2400" dirty="0">
              <a:sym typeface="Arial"/>
            </a:endParaRPr>
          </a:p>
          <a:p>
            <a:pPr marL="360363" indent="-360363">
              <a:buClr>
                <a:schemeClr val="dk1"/>
              </a:buClr>
              <a:buSzPts val="2800"/>
              <a:buFont typeface="Arial" panose="020B0604020202020204" pitchFamily="34" charset="0"/>
              <a:buAutoNum type="arabicPeriod"/>
            </a:pPr>
            <a:r>
              <a:rPr lang="ja-JP" altLang="en-US" sz="2400" dirty="0">
                <a:sym typeface="Arial"/>
                <a:hlinkClick r:id="rId7"/>
              </a:rPr>
              <a:t>まとめ</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8" action="ppaction://hlinksldjump"/>
              </a:rPr>
              <a:t>参考文献</a:t>
            </a:r>
            <a:endParaRPr lang="en-GB" altLang="ja-JP" sz="2400" dirty="0">
              <a:sym typeface="Arial"/>
            </a:endParaRPr>
          </a:p>
        </p:txBody>
      </p:sp>
      <p:sp>
        <p:nvSpPr>
          <p:cNvPr id="4" name="スライド番号プレースホルダー 3">
            <a:extLst>
              <a:ext uri="{FF2B5EF4-FFF2-40B4-BE49-F238E27FC236}">
                <a16:creationId xmlns:a16="http://schemas.microsoft.com/office/drawing/2014/main" id="{36D8F513-A7B1-4711-A8CD-4E8A5B622D2A}"/>
              </a:ext>
            </a:extLst>
          </p:cNvPr>
          <p:cNvSpPr>
            <a:spLocks noGrp="1"/>
          </p:cNvSpPr>
          <p:nvPr>
            <p:ph type="sldNum" sz="quarter" idx="12"/>
          </p:nvPr>
        </p:nvSpPr>
        <p:spPr/>
        <p:txBody>
          <a:bodyPr/>
          <a:lstStyle/>
          <a:p>
            <a:fld id="{CC8B731A-DCF7-4273-BA1A-21517ACBB5E5}" type="slidenum">
              <a:rPr lang="en-GB" smtClean="0"/>
              <a:t>8</a:t>
            </a:fld>
            <a:endParaRPr lang="en-GB"/>
          </a:p>
        </p:txBody>
      </p:sp>
    </p:spTree>
    <p:extLst>
      <p:ext uri="{BB962C8B-B14F-4D97-AF65-F5344CB8AC3E}">
        <p14:creationId xmlns:p14="http://schemas.microsoft.com/office/powerpoint/2010/main" val="210825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t>1</a:t>
            </a:r>
            <a:r>
              <a:rPr lang="en-US" altLang="ja-JP" b="1" dirty="0"/>
              <a:t>. </a:t>
            </a:r>
            <a:r>
              <a:rPr lang="ja-JP" altLang="en-US" b="1" dirty="0">
                <a:sym typeface="Arial"/>
              </a:rPr>
              <a:t>プロローグ</a:t>
            </a:r>
            <a:endParaRPr lang="en-GB" b="1" dirty="0">
              <a:latin typeface="+mn-lt"/>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fld id="{CC8B731A-DCF7-4273-BA1A-21517ACBB5E5}" type="slidenum">
              <a:rPr lang="en-GB" smtClean="0"/>
              <a:t>9</a:t>
            </a:fld>
            <a:endParaRPr lang="en-GB" dirty="0"/>
          </a:p>
        </p:txBody>
      </p:sp>
    </p:spTree>
    <p:extLst>
      <p:ext uri="{BB962C8B-B14F-4D97-AF65-F5344CB8AC3E}">
        <p14:creationId xmlns:p14="http://schemas.microsoft.com/office/powerpoint/2010/main" val="1023418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t>1</a:t>
            </a:r>
            <a:r>
              <a:rPr lang="en-US" altLang="ja-JP" b="1" dirty="0"/>
              <a:t>. </a:t>
            </a:r>
            <a:r>
              <a:rPr lang="ja-JP" altLang="en-US" b="1" dirty="0">
                <a:sym typeface="Arial"/>
              </a:rPr>
              <a:t>プロローグ</a:t>
            </a:r>
            <a:endParaRPr lang="en-GB" b="1" dirty="0">
              <a:latin typeface="+mn-lt"/>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fld id="{CC8B731A-DCF7-4273-BA1A-21517ACBB5E5}" type="slidenum">
              <a:rPr lang="en-GB" smtClean="0"/>
              <a:t>10</a:t>
            </a:fld>
            <a:endParaRPr lang="en-GB" dirty="0"/>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0" lvl="1" indent="0">
              <a:buNone/>
            </a:pPr>
            <a:r>
              <a:rPr lang="en-GB" altLang="ja-JP" dirty="0"/>
              <a:t>2024</a:t>
            </a:r>
            <a:r>
              <a:rPr lang="ja-JP" altLang="en-US" dirty="0"/>
              <a:t>年</a:t>
            </a:r>
            <a:r>
              <a:rPr lang="en-GB" altLang="ja-JP" dirty="0"/>
              <a:t>05</a:t>
            </a:r>
            <a:r>
              <a:rPr lang="ja-JP" altLang="en-US" dirty="0"/>
              <a:t>月中旬頃、母校のキャリアセンター経由で卒業生訪問の依頼を受け、</a:t>
            </a:r>
            <a:r>
              <a:rPr lang="en-US" altLang="ja-JP" dirty="0"/>
              <a:t>3</a:t>
            </a:r>
            <a:r>
              <a:rPr lang="ja-JP" altLang="en-US" dirty="0"/>
              <a:t>回ほど面談対応させて頂いた。</a:t>
            </a:r>
            <a:endParaRPr lang="en-GB" altLang="ja-JP" dirty="0"/>
          </a:p>
          <a:p>
            <a:pPr marL="0" lvl="1" indent="0">
              <a:buNone/>
            </a:pPr>
            <a:endParaRPr lang="en-GB" altLang="ja-JP" dirty="0"/>
          </a:p>
          <a:p>
            <a:pPr marL="0" lvl="1" indent="0">
              <a:buNone/>
            </a:pPr>
            <a:r>
              <a:rPr lang="ja-JP" altLang="en-US" dirty="0"/>
              <a:t>面談に臨むにあたり事前にメールでやり取りを行い、事前に質問事項・悩み・不安をご共有頂いた。</a:t>
            </a:r>
            <a:endParaRPr lang="en-GB" altLang="ja-JP" dirty="0"/>
          </a:p>
          <a:p>
            <a:pPr marL="0" lvl="1" indent="0">
              <a:buNone/>
            </a:pPr>
            <a:r>
              <a:rPr lang="ja-JP" altLang="en-US" dirty="0"/>
              <a:t>その中で、ご訪問者様がいわゆる「川下り型」でキャリアプランを描く中で漠然とした不安を抱いていらっしゃることが分かった。</a:t>
            </a:r>
            <a:endParaRPr lang="en-GB" altLang="ja-JP" dirty="0"/>
          </a:p>
          <a:p>
            <a:pPr marL="0" lvl="1" indent="0">
              <a:buNone/>
            </a:pPr>
            <a:endParaRPr lang="en-GB" altLang="ja-JP" dirty="0"/>
          </a:p>
          <a:p>
            <a:pPr marL="0" lvl="1" indent="0">
              <a:buNone/>
            </a:pPr>
            <a:r>
              <a:rPr lang="ja-JP" altLang="en-US" dirty="0"/>
              <a:t>壁打ちを通じてキャリアプランの解像度を上げることでご本人の中で</a:t>
            </a:r>
            <a:r>
              <a:rPr lang="en-GB" altLang="ja-JP" dirty="0"/>
              <a:t> NEXT ACTIONS </a:t>
            </a:r>
            <a:r>
              <a:rPr lang="ja-JP" altLang="en-US" dirty="0"/>
              <a:t>が見え、不安レベルが</a:t>
            </a:r>
            <a:r>
              <a:rPr lang="en-GB" altLang="ja-JP" dirty="0"/>
              <a:t>10 </a:t>
            </a:r>
            <a:r>
              <a:rPr lang="ja-JP" altLang="en-US" dirty="0"/>
              <a:t>→</a:t>
            </a:r>
            <a:r>
              <a:rPr lang="en-GB" altLang="ja-JP" dirty="0"/>
              <a:t> 1 - 2</a:t>
            </a:r>
            <a:r>
              <a:rPr lang="ja-JP" altLang="en-US" dirty="0"/>
              <a:t>まで低減させることが出来た。</a:t>
            </a:r>
            <a:endParaRPr lang="en-GB" altLang="ja-JP" dirty="0"/>
          </a:p>
        </p:txBody>
      </p:sp>
    </p:spTree>
    <p:extLst>
      <p:ext uri="{BB962C8B-B14F-4D97-AF65-F5344CB8AC3E}">
        <p14:creationId xmlns:p14="http://schemas.microsoft.com/office/powerpoint/2010/main" val="3715280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t>1</a:t>
            </a:r>
            <a:r>
              <a:rPr lang="en-US" altLang="ja-JP" b="1" dirty="0"/>
              <a:t>. </a:t>
            </a:r>
            <a:r>
              <a:rPr lang="ja-JP" altLang="en-US" b="1" dirty="0">
                <a:sym typeface="Arial"/>
              </a:rPr>
              <a:t>プロローグ</a:t>
            </a:r>
            <a:endParaRPr lang="en-GB" b="1" dirty="0">
              <a:latin typeface="+mn-lt"/>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fld id="{CC8B731A-DCF7-4273-BA1A-21517ACBB5E5}" type="slidenum">
              <a:rPr lang="en-GB" smtClean="0"/>
              <a:t>11</a:t>
            </a:fld>
            <a:endParaRPr lang="en-GB" dirty="0"/>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0" lvl="1" indent="0">
              <a:buNone/>
            </a:pPr>
            <a:r>
              <a:rPr lang="ja-JP" altLang="en-US" dirty="0"/>
              <a:t>お互いの貴重な時間の中で成果</a:t>
            </a:r>
            <a:r>
              <a:rPr lang="en-US" altLang="ja-JP" dirty="0"/>
              <a:t>(</a:t>
            </a:r>
            <a:r>
              <a:rPr lang="en-GB" altLang="ja-JP" dirty="0"/>
              <a:t>= </a:t>
            </a:r>
            <a:r>
              <a:rPr lang="ja-JP" altLang="en-US" dirty="0"/>
              <a:t>疑問・悩み・不安を解消し</a:t>
            </a:r>
            <a:r>
              <a:rPr lang="en-GB" altLang="ja-JP" dirty="0"/>
              <a:t> NEXT ACTIONS </a:t>
            </a:r>
            <a:r>
              <a:rPr lang="ja-JP" altLang="en-US" dirty="0"/>
              <a:t>に繋げること</a:t>
            </a:r>
            <a:r>
              <a:rPr lang="en-US" altLang="ja-JP" dirty="0"/>
              <a:t>)</a:t>
            </a:r>
            <a:r>
              <a:rPr lang="ja-JP" altLang="en-US" dirty="0"/>
              <a:t>を最大化するため、私自身も色々と勉強や周囲のメンバーにヒアリングをさせて頂き、以下の知見をインプットした。</a:t>
            </a:r>
            <a:endParaRPr lang="en-GB" altLang="ja-JP" dirty="0"/>
          </a:p>
          <a:p>
            <a:pPr marL="0" lvl="1" indent="0">
              <a:buNone/>
            </a:pPr>
            <a:endParaRPr lang="en-GB" altLang="ja-JP" dirty="0"/>
          </a:p>
          <a:p>
            <a:pPr marL="360363" lvl="1" indent="-360363">
              <a:buFont typeface="+mj-lt"/>
              <a:buAutoNum type="arabicPeriod"/>
            </a:pPr>
            <a:r>
              <a:rPr lang="ja-JP" altLang="en-US" dirty="0"/>
              <a:t>「</a:t>
            </a:r>
            <a:r>
              <a:rPr lang="ja-JP" altLang="en-US" b="1" dirty="0"/>
              <a:t>山登り型 </a:t>
            </a:r>
            <a:r>
              <a:rPr lang="en-US" altLang="ja-JP" b="1" dirty="0"/>
              <a:t>vs. </a:t>
            </a:r>
            <a:r>
              <a:rPr lang="ja-JP" altLang="en-US" b="1" dirty="0"/>
              <a:t>川下り型</a:t>
            </a:r>
            <a:r>
              <a:rPr lang="ja-JP" altLang="en-US" dirty="0"/>
              <a:t>」の具体的な定義と対比構造とは何か？</a:t>
            </a:r>
            <a:endParaRPr lang="en-GB" altLang="ja-JP" dirty="0"/>
          </a:p>
          <a:p>
            <a:pPr marL="360363" lvl="1" indent="-360363">
              <a:buFont typeface="+mj-lt"/>
              <a:buAutoNum type="arabicPeriod"/>
            </a:pPr>
            <a:r>
              <a:rPr lang="ja-JP" altLang="en-US" dirty="0"/>
              <a:t>周囲のメンバーのキャリアプランはどちらが多いか？</a:t>
            </a:r>
            <a:endParaRPr lang="en-GB" altLang="ja-JP" dirty="0"/>
          </a:p>
          <a:p>
            <a:pPr marL="360363" lvl="1" indent="-360363">
              <a:buFont typeface="+mj-lt"/>
              <a:buAutoNum type="arabicPeriod"/>
            </a:pPr>
            <a:r>
              <a:rPr lang="ja-JP" altLang="en-US" dirty="0"/>
              <a:t>川下り型のメンバーはどんなキャリアプランを描いているか？</a:t>
            </a:r>
            <a:endParaRPr lang="en-GB" altLang="ja-JP" dirty="0"/>
          </a:p>
          <a:p>
            <a:pPr marL="0" lvl="1" indent="0">
              <a:buNone/>
            </a:pPr>
            <a:endParaRPr lang="en-GB" altLang="ja-JP" dirty="0"/>
          </a:p>
          <a:p>
            <a:pPr marL="0" lvl="1" indent="0">
              <a:buNone/>
            </a:pPr>
            <a:r>
              <a:rPr lang="ja-JP" altLang="en-US" dirty="0"/>
              <a:t>上記の準備やご訪問者様との面談を通じて得た学びを共有させて頂く。</a:t>
            </a:r>
            <a:endParaRPr lang="en-GB" altLang="ja-JP" dirty="0"/>
          </a:p>
          <a:p>
            <a:pPr marL="0" lvl="1" indent="0">
              <a:buNone/>
            </a:pPr>
            <a:r>
              <a:rPr lang="ja-JP" altLang="en-US" dirty="0"/>
              <a:t>なお、事前にお断りするが、今回の発表は主に「</a:t>
            </a:r>
            <a:r>
              <a:rPr lang="ja-JP" altLang="en-US" b="1" dirty="0"/>
              <a:t>川下り型</a:t>
            </a:r>
            <a:r>
              <a:rPr lang="ja-JP" altLang="en-US" dirty="0"/>
              <a:t>」に焦点を当てており、「</a:t>
            </a:r>
            <a:r>
              <a:rPr lang="ja-JP" altLang="en-US" b="1" dirty="0"/>
              <a:t>山登り型</a:t>
            </a:r>
            <a:r>
              <a:rPr lang="ja-JP" altLang="en-US" dirty="0"/>
              <a:t>」は対比対象程度しか登場しない。</a:t>
            </a:r>
            <a:endParaRPr lang="en-GB" altLang="ja-JP" dirty="0"/>
          </a:p>
        </p:txBody>
      </p:sp>
    </p:spTree>
    <p:extLst>
      <p:ext uri="{BB962C8B-B14F-4D97-AF65-F5344CB8AC3E}">
        <p14:creationId xmlns:p14="http://schemas.microsoft.com/office/powerpoint/2010/main" val="1915461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US" altLang="ja-JP" b="1" dirty="0"/>
              <a:t>2. </a:t>
            </a:r>
            <a:r>
              <a:rPr lang="ja-JP" altLang="en-US" b="1" dirty="0">
                <a:sym typeface="Arial"/>
              </a:rPr>
              <a:t>山登り型 </a:t>
            </a:r>
            <a:r>
              <a:rPr lang="en-US" altLang="ja-JP" b="1" dirty="0">
                <a:sym typeface="Arial"/>
              </a:rPr>
              <a:t>vs. </a:t>
            </a:r>
            <a:r>
              <a:rPr lang="ja-JP" altLang="en-US" b="1" dirty="0">
                <a:sym typeface="Arial"/>
              </a:rPr>
              <a:t>川下り型</a:t>
            </a:r>
            <a:endParaRPr lang="en-GB" b="1" dirty="0">
              <a:latin typeface="+mn-lt"/>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fld id="{CC8B731A-DCF7-4273-BA1A-21517ACBB5E5}" type="slidenum">
              <a:rPr lang="en-GB" smtClean="0"/>
              <a:t>12</a:t>
            </a:fld>
            <a:endParaRPr lang="en-GB" dirty="0"/>
          </a:p>
        </p:txBody>
      </p:sp>
    </p:spTree>
    <p:extLst>
      <p:ext uri="{BB962C8B-B14F-4D97-AF65-F5344CB8AC3E}">
        <p14:creationId xmlns:p14="http://schemas.microsoft.com/office/powerpoint/2010/main" val="1611154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t>2. </a:t>
            </a:r>
            <a:r>
              <a:rPr lang="ja-JP" altLang="en-US" b="1" dirty="0">
                <a:sym typeface="Arial"/>
              </a:rPr>
              <a:t>山登り型 </a:t>
            </a:r>
            <a:r>
              <a:rPr lang="en-US" altLang="ja-JP" b="1" dirty="0">
                <a:sym typeface="Arial"/>
              </a:rPr>
              <a:t>vs. </a:t>
            </a:r>
            <a:r>
              <a:rPr lang="ja-JP" altLang="en-US" b="1" dirty="0">
                <a:sym typeface="Arial"/>
              </a:rPr>
              <a:t>川下り型</a:t>
            </a:r>
            <a:endParaRPr lang="en-GB" b="1" dirty="0">
              <a:latin typeface="+mn-lt"/>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fld id="{CC8B731A-DCF7-4273-BA1A-21517ACBB5E5}" type="slidenum">
              <a:rPr lang="en-GB" smtClean="0"/>
              <a:t>13</a:t>
            </a:fld>
            <a:endParaRPr lang="en-GB" dirty="0"/>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0" lvl="1" indent="0">
              <a:buNone/>
            </a:pPr>
            <a:r>
              <a:rPr lang="ja-JP" altLang="en-US" dirty="0"/>
              <a:t>そもそも、「</a:t>
            </a:r>
            <a:r>
              <a:rPr lang="ja-JP" altLang="en-US" b="1" dirty="0"/>
              <a:t>山登り型</a:t>
            </a:r>
            <a:r>
              <a:rPr lang="ja-JP" altLang="en-US" dirty="0"/>
              <a:t>」とは、「</a:t>
            </a:r>
            <a:r>
              <a:rPr lang="ja-JP" altLang="en-US" b="1" dirty="0"/>
              <a:t>川下り型</a:t>
            </a:r>
            <a:r>
              <a:rPr lang="ja-JP" altLang="en-US" dirty="0"/>
              <a:t>」とは何か？</a:t>
            </a:r>
            <a:endParaRPr lang="en-GB" altLang="ja-JP" dirty="0"/>
          </a:p>
          <a:p>
            <a:pPr marL="0" lvl="1" indent="0">
              <a:buNone/>
            </a:pPr>
            <a:r>
              <a:rPr lang="ja-JP" altLang="en-US" dirty="0"/>
              <a:t>「</a:t>
            </a:r>
            <a:r>
              <a:rPr lang="ja-JP" altLang="en-US" dirty="0">
                <a:hlinkClick r:id="rId3"/>
              </a:rPr>
              <a:t>リクルートの事業トップが考える</a:t>
            </a:r>
            <a:r>
              <a:rPr lang="en-GB" altLang="ja-JP" dirty="0">
                <a:hlinkClick r:id="rId3"/>
              </a:rPr>
              <a:t>"</a:t>
            </a:r>
            <a:r>
              <a:rPr lang="ja-JP" altLang="en-US" dirty="0">
                <a:hlinkClick r:id="rId3"/>
              </a:rPr>
              <a:t>キャリア形成</a:t>
            </a:r>
            <a:r>
              <a:rPr lang="en-GB" altLang="ja-JP" dirty="0">
                <a:hlinkClick r:id="rId3"/>
              </a:rPr>
              <a:t>"</a:t>
            </a:r>
            <a:r>
              <a:rPr lang="ja-JP" altLang="en-US" dirty="0">
                <a:hlinkClick r:id="rId3"/>
              </a:rPr>
              <a:t>とは？今の仕事を「辞める／辞めない」の分岐で見えたもの</a:t>
            </a:r>
            <a:r>
              <a:rPr lang="ja-JP" altLang="en-US" dirty="0"/>
              <a:t>」の内容を対比的に言い換えると以下の通りにそれぞれ定義出来る。</a:t>
            </a:r>
            <a:endParaRPr lang="en-GB" altLang="ja-JP" dirty="0"/>
          </a:p>
          <a:p>
            <a:pPr marL="0" lvl="1" indent="0">
              <a:buNone/>
            </a:pPr>
            <a:endParaRPr lang="en-GB" altLang="ja-JP" dirty="0"/>
          </a:p>
          <a:p>
            <a:pPr marL="268288" lvl="1" indent="-268288"/>
            <a:r>
              <a:rPr lang="ja-JP" altLang="en-US" b="1" dirty="0"/>
              <a:t>山登り型</a:t>
            </a:r>
            <a:r>
              <a:rPr lang="en-GB" altLang="ja-JP" dirty="0"/>
              <a:t>: </a:t>
            </a:r>
            <a:r>
              <a:rPr lang="ja-JP" altLang="en-US" dirty="0"/>
              <a:t>明確な目標に向かって努力を重ねて理想に</a:t>
            </a:r>
            <a:r>
              <a:rPr lang="ja-JP" altLang="en-US" u="sng" dirty="0"/>
              <a:t>近づいていく</a:t>
            </a:r>
            <a:r>
              <a:rPr lang="ja-JP" altLang="en-US" dirty="0"/>
              <a:t>タイプ</a:t>
            </a:r>
            <a:endParaRPr lang="en-GB" altLang="ja-JP" dirty="0"/>
          </a:p>
          <a:p>
            <a:pPr marL="725488" lvl="2" indent="-268288"/>
            <a:r>
              <a:rPr lang="en-GB" altLang="ja-JP" dirty="0"/>
              <a:t>= </a:t>
            </a:r>
            <a:r>
              <a:rPr lang="ja-JP" altLang="en-US" dirty="0"/>
              <a:t>最初から明確な理想像があってそれに向かって邁進する</a:t>
            </a:r>
            <a:r>
              <a:rPr lang="ja-JP" altLang="en-US" u="sng" dirty="0"/>
              <a:t>能動型</a:t>
            </a:r>
            <a:endParaRPr lang="en-GB" altLang="ja-JP" u="sng" dirty="0"/>
          </a:p>
          <a:p>
            <a:pPr marL="268288" lvl="1" indent="-268288"/>
            <a:r>
              <a:rPr lang="ja-JP" altLang="en-US" b="1" dirty="0"/>
              <a:t>川下り型</a:t>
            </a:r>
            <a:r>
              <a:rPr lang="en-GB" altLang="ja-JP" dirty="0"/>
              <a:t>: </a:t>
            </a:r>
            <a:r>
              <a:rPr lang="ja-JP" altLang="en-US" dirty="0"/>
              <a:t>眼前の仕事で成果を出していく中で理想に</a:t>
            </a:r>
            <a:r>
              <a:rPr lang="ja-JP" altLang="en-US" u="sng" dirty="0"/>
              <a:t>近づいている</a:t>
            </a:r>
            <a:r>
              <a:rPr lang="ja-JP" altLang="en-US" dirty="0"/>
              <a:t>タイプ</a:t>
            </a:r>
            <a:endParaRPr lang="en-GB" altLang="ja-JP" dirty="0"/>
          </a:p>
          <a:p>
            <a:pPr marL="725488" lvl="2" indent="-268288"/>
            <a:r>
              <a:rPr lang="en-GB" altLang="ja-JP" dirty="0"/>
              <a:t>= </a:t>
            </a:r>
            <a:r>
              <a:rPr lang="ja-JP" altLang="en-US" dirty="0"/>
              <a:t>明確な理想はないが成長の過程でそれを探る</a:t>
            </a:r>
            <a:r>
              <a:rPr lang="en-GB" altLang="ja-JP" dirty="0"/>
              <a:t>(</a:t>
            </a:r>
            <a:r>
              <a:rPr lang="ja-JP" altLang="en-US" dirty="0"/>
              <a:t>比較的</a:t>
            </a:r>
            <a:r>
              <a:rPr lang="en-GB" altLang="ja-JP" dirty="0"/>
              <a:t>)</a:t>
            </a:r>
            <a:r>
              <a:rPr lang="ja-JP" altLang="en-US" u="sng" dirty="0"/>
              <a:t>受動型</a:t>
            </a:r>
            <a:endParaRPr lang="en-GB" altLang="ja-JP" u="sng" dirty="0"/>
          </a:p>
        </p:txBody>
      </p:sp>
    </p:spTree>
    <p:extLst>
      <p:ext uri="{BB962C8B-B14F-4D97-AF65-F5344CB8AC3E}">
        <p14:creationId xmlns:p14="http://schemas.microsoft.com/office/powerpoint/2010/main" val="1235012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t>2. </a:t>
            </a:r>
            <a:r>
              <a:rPr lang="ja-JP" altLang="en-US" b="1" dirty="0">
                <a:sym typeface="Arial"/>
              </a:rPr>
              <a:t>山登り型 </a:t>
            </a:r>
            <a:r>
              <a:rPr lang="en-US" altLang="ja-JP" b="1" dirty="0">
                <a:sym typeface="Arial"/>
              </a:rPr>
              <a:t>vs. </a:t>
            </a:r>
            <a:r>
              <a:rPr lang="ja-JP" altLang="en-US" b="1" dirty="0">
                <a:sym typeface="Arial"/>
              </a:rPr>
              <a:t>川下り型</a:t>
            </a:r>
            <a:endParaRPr lang="en-GB" b="1" dirty="0">
              <a:latin typeface="+mn-lt"/>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fld id="{CC8B731A-DCF7-4273-BA1A-21517ACBB5E5}" type="slidenum">
              <a:rPr lang="en-GB" smtClean="0"/>
              <a:t>14</a:t>
            </a:fld>
            <a:endParaRPr lang="en-GB" dirty="0"/>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0" lvl="1" indent="0">
              <a:buNone/>
            </a:pPr>
            <a:r>
              <a:rPr lang="ja-JP" altLang="en-US" dirty="0"/>
              <a:t>前頁の定義をインプットし、「一般論」は理解した。</a:t>
            </a:r>
            <a:endParaRPr lang="en-GB" altLang="ja-JP" dirty="0"/>
          </a:p>
          <a:p>
            <a:pPr marL="0" lvl="1" indent="0">
              <a:buNone/>
            </a:pPr>
            <a:r>
              <a:rPr lang="ja-JP" altLang="en-US" dirty="0"/>
              <a:t>しかし、その理解に木に竹を接ぐような辻褄が合わない所感を持った。</a:t>
            </a:r>
            <a:endParaRPr lang="en-GB" altLang="ja-JP" dirty="0"/>
          </a:p>
          <a:p>
            <a:pPr marL="0" lvl="1" indent="0">
              <a:buNone/>
            </a:pPr>
            <a:endParaRPr lang="en-GB" altLang="ja-JP" dirty="0"/>
          </a:p>
          <a:p>
            <a:pPr marL="268288" lvl="1" indent="-268288">
              <a:tabLst>
                <a:tab pos="268288" algn="l"/>
              </a:tabLst>
            </a:pPr>
            <a:r>
              <a:rPr lang="ja-JP" altLang="en-US" dirty="0"/>
              <a:t>山登り型であっても目の前の仕事で成果を出し信頼・信用を勝ち取らなければ理想像に近づくことは出来ないのでは？</a:t>
            </a:r>
            <a:endParaRPr lang="en-GB" altLang="ja-JP" dirty="0"/>
          </a:p>
          <a:p>
            <a:pPr marL="268288" lvl="1" indent="-268288">
              <a:tabLst>
                <a:tab pos="268288" algn="l"/>
              </a:tabLst>
            </a:pPr>
            <a:r>
              <a:rPr lang="ja-JP" altLang="en-US" dirty="0"/>
              <a:t>川下り型であっても目の前の仕事をこなす上で身に付けるべき知見やスキルは嫌でも意識するので、少なくとも短・中期的なキャリアプランは設計するのでは？</a:t>
            </a:r>
            <a:endParaRPr lang="en-GB" altLang="ja-JP" dirty="0"/>
          </a:p>
          <a:p>
            <a:pPr marL="0" lvl="1" indent="0">
              <a:buNone/>
              <a:tabLst>
                <a:tab pos="268288" algn="l"/>
              </a:tabLst>
            </a:pPr>
            <a:endParaRPr lang="en-GB" altLang="ja-JP" dirty="0"/>
          </a:p>
          <a:p>
            <a:pPr marL="0" lvl="1" indent="0">
              <a:buNone/>
              <a:tabLst>
                <a:tab pos="268288" algn="l"/>
              </a:tabLst>
            </a:pPr>
            <a:r>
              <a:rPr lang="ja-JP" altLang="en-US" dirty="0"/>
              <a:t>上記のモヤモヤとした疑問を哲学するうちに、</a:t>
            </a:r>
            <a:r>
              <a:rPr lang="ja-JP" altLang="en-GB" dirty="0"/>
              <a:t>ある</a:t>
            </a:r>
            <a:r>
              <a:rPr lang="en-GB" altLang="ja-JP" dirty="0"/>
              <a:t>1</a:t>
            </a:r>
            <a:r>
              <a:rPr lang="ja-JP" altLang="en-US" dirty="0"/>
              <a:t>つの仮説に行き着いた。</a:t>
            </a:r>
            <a:endParaRPr lang="en-GB" altLang="ja-JP" dirty="0"/>
          </a:p>
        </p:txBody>
      </p:sp>
    </p:spTree>
    <p:extLst>
      <p:ext uri="{BB962C8B-B14F-4D97-AF65-F5344CB8AC3E}">
        <p14:creationId xmlns:p14="http://schemas.microsoft.com/office/powerpoint/2010/main" val="673478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t>2. </a:t>
            </a:r>
            <a:r>
              <a:rPr lang="ja-JP" altLang="en-US" b="1" dirty="0">
                <a:sym typeface="Arial"/>
              </a:rPr>
              <a:t>山登り型 </a:t>
            </a:r>
            <a:r>
              <a:rPr lang="en-US" altLang="ja-JP" b="1" dirty="0">
                <a:sym typeface="Arial"/>
              </a:rPr>
              <a:t>vs. </a:t>
            </a:r>
            <a:r>
              <a:rPr lang="ja-JP" altLang="en-US" b="1" dirty="0">
                <a:sym typeface="Arial"/>
              </a:rPr>
              <a:t>川下り型</a:t>
            </a:r>
            <a:endParaRPr lang="en-GB" b="1" dirty="0">
              <a:latin typeface="+mn-lt"/>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0" lvl="1" indent="0">
              <a:buNone/>
            </a:pPr>
            <a:endParaRPr lang="en-GB" altLang="ja-JP" sz="3200" b="1" dirty="0"/>
          </a:p>
          <a:p>
            <a:pPr marL="0" lvl="1" indent="0">
              <a:buNone/>
            </a:pPr>
            <a:endParaRPr lang="en-GB" altLang="ja-JP" sz="3200" b="1" dirty="0"/>
          </a:p>
          <a:p>
            <a:pPr marL="0" lvl="1" indent="0">
              <a:buNone/>
            </a:pPr>
            <a:endParaRPr lang="en-GB" altLang="ja-JP" sz="3200" b="1" dirty="0"/>
          </a:p>
          <a:p>
            <a:pPr marL="0" lvl="1" indent="0">
              <a:buNone/>
            </a:pPr>
            <a:r>
              <a:rPr lang="ja-JP" altLang="en-US" sz="3200" b="1" dirty="0"/>
              <a:t>「山登り型</a:t>
            </a:r>
            <a:r>
              <a:rPr lang="ja-JP" altLang="en-US" sz="3200" dirty="0"/>
              <a:t>と</a:t>
            </a:r>
            <a:r>
              <a:rPr lang="ja-JP" altLang="en-US" sz="3200" b="1" dirty="0"/>
              <a:t>川下り型</a:t>
            </a:r>
            <a:r>
              <a:rPr lang="ja-JP" altLang="en-US" sz="3200" dirty="0"/>
              <a:t>は対比構造にあるのではなく、</a:t>
            </a:r>
            <a:endParaRPr lang="en-GB" altLang="ja-JP" sz="3200" dirty="0"/>
          </a:p>
          <a:p>
            <a:pPr marL="0" lvl="1" indent="0">
              <a:buNone/>
            </a:pPr>
            <a:r>
              <a:rPr lang="ja-JP" altLang="en-US" sz="3200" u="sng" dirty="0"/>
              <a:t>それぞれの間にはグラデーションが存在する</a:t>
            </a:r>
            <a:r>
              <a:rPr lang="ja-JP" altLang="en-US" sz="3200" dirty="0"/>
              <a:t>のでは？」</a:t>
            </a:r>
            <a:endParaRPr lang="en-GB" altLang="ja-JP" sz="3200" dirty="0"/>
          </a:p>
        </p:txBody>
      </p:sp>
    </p:spTree>
    <p:extLst>
      <p:ext uri="{BB962C8B-B14F-4D97-AF65-F5344CB8AC3E}">
        <p14:creationId xmlns:p14="http://schemas.microsoft.com/office/powerpoint/2010/main" val="3348344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t>2. </a:t>
            </a:r>
            <a:r>
              <a:rPr lang="ja-JP" altLang="en-US" b="1" dirty="0">
                <a:sym typeface="Arial"/>
              </a:rPr>
              <a:t>山登り型 </a:t>
            </a:r>
            <a:r>
              <a:rPr lang="en-US" altLang="ja-JP" b="1" dirty="0">
                <a:sym typeface="Arial"/>
              </a:rPr>
              <a:t>vs. </a:t>
            </a:r>
            <a:r>
              <a:rPr lang="ja-JP" altLang="en-US" b="1" dirty="0">
                <a:sym typeface="Arial"/>
              </a:rPr>
              <a:t>川下り型</a:t>
            </a:r>
            <a:endParaRPr lang="en-GB" b="1" dirty="0">
              <a:latin typeface="+mn-lt"/>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a:ln>
            <a:noFill/>
          </a:ln>
        </p:spPr>
        <p:txBody>
          <a:bodyPr>
            <a:normAutofit/>
          </a:bodyPr>
          <a:lstStyle/>
          <a:p>
            <a:pPr marL="0" lvl="1" indent="0">
              <a:buNone/>
            </a:pPr>
            <a:r>
              <a:rPr lang="ja-JP" altLang="en-US" dirty="0"/>
              <a:t>つまり</a:t>
            </a:r>
            <a:r>
              <a:rPr lang="en-GB" altLang="ja-JP" dirty="0"/>
              <a:t>…</a:t>
            </a:r>
          </a:p>
          <a:p>
            <a:pPr marL="0" lvl="1" indent="0">
              <a:buNone/>
            </a:pPr>
            <a:endParaRPr lang="en-GB" altLang="ja-JP" dirty="0"/>
          </a:p>
          <a:p>
            <a:pPr marL="0" lvl="1" indent="0">
              <a:buNone/>
            </a:pPr>
            <a:endParaRPr lang="en-GB" altLang="ja-JP" dirty="0"/>
          </a:p>
          <a:p>
            <a:pPr marL="0" lvl="1" indent="0">
              <a:buNone/>
            </a:pPr>
            <a:endParaRPr lang="en-GB" altLang="ja-JP" dirty="0"/>
          </a:p>
          <a:p>
            <a:pPr marL="0" lvl="1" indent="0">
              <a:buNone/>
            </a:pPr>
            <a:endParaRPr lang="en-GB" altLang="ja-JP" dirty="0"/>
          </a:p>
          <a:p>
            <a:pPr marL="0" lvl="1" indent="0">
              <a:buNone/>
            </a:pPr>
            <a:r>
              <a:rPr lang="ja-JP" altLang="en-US" dirty="0"/>
              <a:t>　　　　　　　　　　　　　　　　ではなく</a:t>
            </a:r>
            <a:endParaRPr lang="en-GB" altLang="ja-JP" dirty="0"/>
          </a:p>
        </p:txBody>
      </p:sp>
      <p:graphicFrame>
        <p:nvGraphicFramePr>
          <p:cNvPr id="5" name="Diagram 4">
            <a:extLst>
              <a:ext uri="{FF2B5EF4-FFF2-40B4-BE49-F238E27FC236}">
                <a16:creationId xmlns:a16="http://schemas.microsoft.com/office/drawing/2014/main" id="{583E0FC4-0275-A385-1247-4F66B0DF764D}"/>
              </a:ext>
            </a:extLst>
          </p:cNvPr>
          <p:cNvGraphicFramePr/>
          <p:nvPr>
            <p:extLst>
              <p:ext uri="{D42A27DB-BD31-4B8C-83A1-F6EECF244321}">
                <p14:modId xmlns:p14="http://schemas.microsoft.com/office/powerpoint/2010/main" val="2816504008"/>
              </p:ext>
            </p:extLst>
          </p:nvPr>
        </p:nvGraphicFramePr>
        <p:xfrm>
          <a:off x="7147420" y="2705450"/>
          <a:ext cx="4206380" cy="24555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Rectangle 10">
            <a:extLst>
              <a:ext uri="{FF2B5EF4-FFF2-40B4-BE49-F238E27FC236}">
                <a16:creationId xmlns:a16="http://schemas.microsoft.com/office/drawing/2014/main" id="{04AC336B-84F0-F937-7F7B-C4629C52BE32}"/>
              </a:ext>
            </a:extLst>
          </p:cNvPr>
          <p:cNvSpPr/>
          <p:nvPr/>
        </p:nvSpPr>
        <p:spPr>
          <a:xfrm>
            <a:off x="849383" y="2940343"/>
            <a:ext cx="2058798" cy="2013357"/>
          </a:xfrm>
          <a:prstGeom prst="rect">
            <a:avLst/>
          </a:pr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山登り型</a:t>
            </a:r>
            <a:endParaRPr lang="en-GB" b="1" dirty="0">
              <a:solidFill>
                <a:schemeClr val="tx1"/>
              </a:solidFill>
            </a:endParaRPr>
          </a:p>
        </p:txBody>
      </p:sp>
      <p:sp>
        <p:nvSpPr>
          <p:cNvPr id="13" name="Rectangle 12">
            <a:extLst>
              <a:ext uri="{FF2B5EF4-FFF2-40B4-BE49-F238E27FC236}">
                <a16:creationId xmlns:a16="http://schemas.microsoft.com/office/drawing/2014/main" id="{660855CD-9005-7A51-ABCC-AC28D2371033}"/>
              </a:ext>
            </a:extLst>
          </p:cNvPr>
          <p:cNvSpPr/>
          <p:nvPr/>
        </p:nvSpPr>
        <p:spPr>
          <a:xfrm>
            <a:off x="3510091" y="2940343"/>
            <a:ext cx="2058798" cy="2013357"/>
          </a:xfrm>
          <a:prstGeom prst="rect">
            <a:avLst/>
          </a:prstGeom>
          <a:solidFill>
            <a:schemeClr val="accent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川下り型</a:t>
            </a:r>
            <a:endParaRPr lang="en-GB" b="1" dirty="0">
              <a:solidFill>
                <a:schemeClr val="tx1"/>
              </a:solidFill>
            </a:endParaRPr>
          </a:p>
        </p:txBody>
      </p:sp>
      <p:cxnSp>
        <p:nvCxnSpPr>
          <p:cNvPr id="15" name="Straight Arrow Connector 14">
            <a:extLst>
              <a:ext uri="{FF2B5EF4-FFF2-40B4-BE49-F238E27FC236}">
                <a16:creationId xmlns:a16="http://schemas.microsoft.com/office/drawing/2014/main" id="{F3A4BCEA-326B-AA8D-6DDD-5CBCE4470B96}"/>
              </a:ext>
            </a:extLst>
          </p:cNvPr>
          <p:cNvCxnSpPr>
            <a:stCxn id="11" idx="3"/>
            <a:endCxn id="13" idx="1"/>
          </p:cNvCxnSpPr>
          <p:nvPr/>
        </p:nvCxnSpPr>
        <p:spPr>
          <a:xfrm>
            <a:off x="2908181" y="3947022"/>
            <a:ext cx="601910" cy="0"/>
          </a:xfrm>
          <a:prstGeom prst="straightConnector1">
            <a:avLst/>
          </a:prstGeom>
          <a:ln w="762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679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t>2. </a:t>
            </a:r>
            <a:r>
              <a:rPr lang="ja-JP" altLang="en-US" b="1" dirty="0">
                <a:sym typeface="Arial"/>
              </a:rPr>
              <a:t>山登り型 </a:t>
            </a:r>
            <a:r>
              <a:rPr lang="en-US" altLang="ja-JP" b="1" dirty="0">
                <a:sym typeface="Arial"/>
              </a:rPr>
              <a:t>vs. </a:t>
            </a:r>
            <a:r>
              <a:rPr lang="ja-JP" altLang="en-US" b="1" dirty="0">
                <a:sym typeface="Arial"/>
              </a:rPr>
              <a:t>川下り型</a:t>
            </a:r>
            <a:endParaRPr lang="en-GB" b="1" dirty="0">
              <a:latin typeface="+mn-lt"/>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a:ln>
            <a:noFill/>
          </a:ln>
        </p:spPr>
        <p:txBody>
          <a:bodyPr>
            <a:normAutofit/>
          </a:bodyPr>
          <a:lstStyle/>
          <a:p>
            <a:pPr marL="0" lvl="1" indent="0">
              <a:buNone/>
            </a:pPr>
            <a:r>
              <a:rPr lang="ja-JP" altLang="en-US" dirty="0"/>
              <a:t>つまり、「山登り型キャリアプランニングにも川下り型要素はあるし、その逆もまた真なり」という解釈だ。</a:t>
            </a:r>
            <a:endParaRPr lang="en-GB" altLang="ja-JP" dirty="0"/>
          </a:p>
          <a:p>
            <a:pPr marL="0" lvl="1" indent="0">
              <a:buNone/>
            </a:pPr>
            <a:endParaRPr lang="en-GB" altLang="ja-JP" dirty="0"/>
          </a:p>
          <a:p>
            <a:pPr marL="0" lvl="1" indent="0">
              <a:buNone/>
            </a:pPr>
            <a:r>
              <a:rPr lang="ja-JP" altLang="en-US" dirty="0"/>
              <a:t>この仮説の解像度を上げるため、同じチームのメンバーにキャリアプランのヒアリングを行った。</a:t>
            </a:r>
            <a:endParaRPr lang="en-GB" altLang="ja-JP" dirty="0"/>
          </a:p>
          <a:p>
            <a:pPr marL="0" lvl="1" indent="0">
              <a:buNone/>
            </a:pPr>
            <a:r>
              <a:rPr lang="ja-JP" altLang="en-US" dirty="0"/>
              <a:t>彼は自分自身を「自分は下る川を自分で選ぶタイプの川下り型」であると表現していた。</a:t>
            </a:r>
            <a:endParaRPr lang="en-GB" altLang="ja-JP" dirty="0"/>
          </a:p>
          <a:p>
            <a:pPr marL="0" lvl="1" indent="0">
              <a:buNone/>
            </a:pPr>
            <a:endParaRPr lang="en-GB" altLang="ja-JP" dirty="0"/>
          </a:p>
          <a:p>
            <a:pPr marL="0" lvl="1" indent="0">
              <a:buNone/>
            </a:pPr>
            <a:r>
              <a:rPr lang="ja-JP" altLang="en-US" dirty="0"/>
              <a:t>その意見を聞き、「</a:t>
            </a:r>
            <a:r>
              <a:rPr lang="ja-JP" altLang="en-US" b="1" dirty="0"/>
              <a:t>山登り型 </a:t>
            </a:r>
            <a:r>
              <a:rPr lang="en-US" altLang="ja-JP" b="1" dirty="0"/>
              <a:t>vs. </a:t>
            </a:r>
            <a:r>
              <a:rPr lang="ja-JP" altLang="en-US" b="1" dirty="0"/>
              <a:t>川下り型</a:t>
            </a:r>
            <a:r>
              <a:rPr lang="ja-JP" altLang="en-US" dirty="0"/>
              <a:t>」の正体は次ページのような概念であるという結論に達した。</a:t>
            </a:r>
            <a:endParaRPr lang="en-GB" altLang="ja-JP" dirty="0"/>
          </a:p>
        </p:txBody>
      </p:sp>
    </p:spTree>
    <p:extLst>
      <p:ext uri="{BB962C8B-B14F-4D97-AF65-F5344CB8AC3E}">
        <p14:creationId xmlns:p14="http://schemas.microsoft.com/office/powerpoint/2010/main" val="16832292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EC7FA57-8A0D-DA01-7FA4-3BF3E314DA04}"/>
              </a:ext>
            </a:extLst>
          </p:cNvPr>
          <p:cNvSpPr/>
          <p:nvPr/>
        </p:nvSpPr>
        <p:spPr>
          <a:xfrm>
            <a:off x="5110544" y="3367498"/>
            <a:ext cx="1891718" cy="349023"/>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t>2. </a:t>
            </a:r>
            <a:r>
              <a:rPr lang="ja-JP" altLang="en-US" b="1" dirty="0">
                <a:sym typeface="Arial"/>
              </a:rPr>
              <a:t>山登り型 </a:t>
            </a:r>
            <a:r>
              <a:rPr lang="en-US" altLang="ja-JP" b="1" dirty="0">
                <a:sym typeface="Arial"/>
              </a:rPr>
              <a:t>vs. </a:t>
            </a:r>
            <a:r>
              <a:rPr lang="ja-JP" altLang="en-US" b="1" dirty="0">
                <a:sym typeface="Arial"/>
              </a:rPr>
              <a:t>川下り型</a:t>
            </a:r>
            <a:endParaRPr lang="en-GB" b="1" dirty="0">
              <a:latin typeface="+mn-lt"/>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a:ln>
            <a:noFill/>
          </a:ln>
        </p:spPr>
        <p:txBody>
          <a:bodyPr>
            <a:normAutofit/>
          </a:bodyPr>
          <a:lstStyle/>
          <a:p>
            <a:pPr marL="268288" lvl="1" indent="-268288"/>
            <a:r>
              <a:rPr lang="ja-JP" altLang="en-US" b="1" dirty="0"/>
              <a:t>山登り型</a:t>
            </a:r>
            <a:r>
              <a:rPr lang="en-GB" altLang="ja-JP" dirty="0"/>
              <a:t>: </a:t>
            </a:r>
            <a:r>
              <a:rPr lang="ja-JP" altLang="en-US" dirty="0"/>
              <a:t>明確な目標に向かって努力を重ねて理想に</a:t>
            </a:r>
            <a:r>
              <a:rPr lang="ja-JP" altLang="en-US" u="sng" dirty="0"/>
              <a:t>近づいていく</a:t>
            </a:r>
            <a:r>
              <a:rPr lang="ja-JP" altLang="en-US" dirty="0"/>
              <a:t>タイプ</a:t>
            </a:r>
            <a:endParaRPr lang="en-GB" altLang="ja-JP" u="sng" dirty="0"/>
          </a:p>
          <a:p>
            <a:pPr marL="268288" lvl="1" indent="-268288"/>
            <a:r>
              <a:rPr lang="ja-JP" altLang="en-US" b="1" dirty="0"/>
              <a:t>川下り型</a:t>
            </a:r>
            <a:r>
              <a:rPr lang="en-GB" altLang="ja-JP" dirty="0"/>
              <a:t>: </a:t>
            </a:r>
            <a:r>
              <a:rPr lang="ja-JP" altLang="en-US" dirty="0"/>
              <a:t>眼前の仕事で成果を出していく中で理想に</a:t>
            </a:r>
            <a:r>
              <a:rPr lang="ja-JP" altLang="en-US" u="sng" dirty="0"/>
              <a:t>近づいている</a:t>
            </a:r>
            <a:r>
              <a:rPr lang="ja-JP" altLang="en-US" dirty="0"/>
              <a:t>タイプ</a:t>
            </a:r>
            <a:endParaRPr lang="en-GB" altLang="ja-JP" dirty="0"/>
          </a:p>
          <a:p>
            <a:pPr marL="725488" lvl="2" indent="-268288"/>
            <a:r>
              <a:rPr lang="ja-JP" altLang="en-US" b="1" dirty="0"/>
              <a:t>能動的川下り型</a:t>
            </a:r>
            <a:r>
              <a:rPr lang="en-GB" altLang="ja-JP" dirty="0"/>
              <a:t>: </a:t>
            </a:r>
            <a:r>
              <a:rPr lang="ja-JP" altLang="en-US" dirty="0"/>
              <a:t>理想像と成長過程の間でフィードバックサイクルを回すスタイル</a:t>
            </a:r>
            <a:endParaRPr lang="en-GB" altLang="ja-JP" dirty="0"/>
          </a:p>
          <a:p>
            <a:pPr marL="725488" lvl="2" indent="-268288"/>
            <a:r>
              <a:rPr lang="ja-JP" altLang="en-US" b="1" dirty="0"/>
              <a:t>受動的川下り型</a:t>
            </a:r>
            <a:r>
              <a:rPr lang="en-GB" altLang="ja-JP" dirty="0"/>
              <a:t>: </a:t>
            </a:r>
            <a:r>
              <a:rPr lang="ja-JP" altLang="en-US" dirty="0"/>
              <a:t>理造像は持たずとにかく眼前の仕事に全力を注ぐスタイル</a:t>
            </a:r>
            <a:endParaRPr lang="en-GB" altLang="ja-JP" dirty="0"/>
          </a:p>
        </p:txBody>
      </p:sp>
      <p:graphicFrame>
        <p:nvGraphicFramePr>
          <p:cNvPr id="3" name="Diagram 2">
            <a:extLst>
              <a:ext uri="{FF2B5EF4-FFF2-40B4-BE49-F238E27FC236}">
                <a16:creationId xmlns:a16="http://schemas.microsoft.com/office/drawing/2014/main" id="{2AFF33C3-DAD7-0EF1-5B9E-2E896826D9D0}"/>
              </a:ext>
            </a:extLst>
          </p:cNvPr>
          <p:cNvGraphicFramePr/>
          <p:nvPr>
            <p:extLst>
              <p:ext uri="{D42A27DB-BD31-4B8C-83A1-F6EECF244321}">
                <p14:modId xmlns:p14="http://schemas.microsoft.com/office/powerpoint/2010/main" val="2711488022"/>
              </p:ext>
            </p:extLst>
          </p:nvPr>
        </p:nvGraphicFramePr>
        <p:xfrm>
          <a:off x="3992810" y="3721397"/>
          <a:ext cx="4206380" cy="24555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a:extLst>
              <a:ext uri="{FF2B5EF4-FFF2-40B4-BE49-F238E27FC236}">
                <a16:creationId xmlns:a16="http://schemas.microsoft.com/office/drawing/2014/main" id="{663E9D7F-E0FF-5514-71DF-477A24AEF788}"/>
              </a:ext>
            </a:extLst>
          </p:cNvPr>
          <p:cNvSpPr/>
          <p:nvPr/>
        </p:nvSpPr>
        <p:spPr>
          <a:xfrm>
            <a:off x="5108896" y="3367892"/>
            <a:ext cx="1891718" cy="349023"/>
          </a:xfrm>
          <a:prstGeom prst="rect">
            <a:avLst/>
          </a:prstGeom>
          <a:solidFill>
            <a:schemeClr val="accent2">
              <a:lumMod val="40000"/>
              <a:lumOff val="6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tx1"/>
                </a:solidFill>
              </a:rPr>
              <a:t>能動的川下り型</a:t>
            </a:r>
            <a:endParaRPr lang="en-GB" dirty="0">
              <a:solidFill>
                <a:schemeClr val="tx1"/>
              </a:solidFill>
            </a:endParaRPr>
          </a:p>
        </p:txBody>
      </p:sp>
      <p:cxnSp>
        <p:nvCxnSpPr>
          <p:cNvPr id="7" name="Straight Arrow Connector 6">
            <a:extLst>
              <a:ext uri="{FF2B5EF4-FFF2-40B4-BE49-F238E27FC236}">
                <a16:creationId xmlns:a16="http://schemas.microsoft.com/office/drawing/2014/main" id="{C55E5BC8-6157-98F1-BAE7-382847A69FC9}"/>
              </a:ext>
            </a:extLst>
          </p:cNvPr>
          <p:cNvCxnSpPr>
            <a:stCxn id="5" idx="2"/>
          </p:cNvCxnSpPr>
          <p:nvPr/>
        </p:nvCxnSpPr>
        <p:spPr>
          <a:xfrm>
            <a:off x="6054755" y="3716915"/>
            <a:ext cx="2096" cy="1227783"/>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6414520D-1DE1-83DD-6E72-30E1EE88951A}"/>
              </a:ext>
            </a:extLst>
          </p:cNvPr>
          <p:cNvSpPr/>
          <p:nvPr/>
        </p:nvSpPr>
        <p:spPr>
          <a:xfrm>
            <a:off x="7253331" y="3363502"/>
            <a:ext cx="1891718" cy="349023"/>
          </a:xfrm>
          <a:prstGeom prst="rect">
            <a:avLst/>
          </a:prstGeom>
          <a:solidFill>
            <a:schemeClr val="accent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受動的川下り型</a:t>
            </a:r>
            <a:endParaRPr lang="en-GB" dirty="0">
              <a:solidFill>
                <a:schemeClr val="tx1"/>
              </a:solidFill>
            </a:endParaRPr>
          </a:p>
        </p:txBody>
      </p:sp>
      <p:cxnSp>
        <p:nvCxnSpPr>
          <p:cNvPr id="10" name="Straight Arrow Connector 9">
            <a:extLst>
              <a:ext uri="{FF2B5EF4-FFF2-40B4-BE49-F238E27FC236}">
                <a16:creationId xmlns:a16="http://schemas.microsoft.com/office/drawing/2014/main" id="{4F72480A-35E2-01B9-DB09-A3B9A80BB705}"/>
              </a:ext>
            </a:extLst>
          </p:cNvPr>
          <p:cNvCxnSpPr>
            <a:cxnSpLocks/>
          </p:cNvCxnSpPr>
          <p:nvPr/>
        </p:nvCxnSpPr>
        <p:spPr>
          <a:xfrm flipH="1">
            <a:off x="7134837" y="3695975"/>
            <a:ext cx="1065177" cy="951526"/>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3352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US" altLang="ja-JP" sz="4300" b="1" dirty="0"/>
              <a:t>3.</a:t>
            </a:r>
            <a:r>
              <a:rPr lang="en-GB" altLang="ja-JP" sz="4300" b="1" dirty="0"/>
              <a:t> </a:t>
            </a:r>
            <a:r>
              <a:rPr lang="ja-JP" altLang="en-US" sz="4300" b="1" dirty="0">
                <a:sym typeface="Arial"/>
              </a:rPr>
              <a:t>能動的川下り型のキャリアプランニング</a:t>
            </a:r>
            <a:endParaRPr lang="en-GB" sz="4300" b="1" dirty="0">
              <a:latin typeface="+mn-lt"/>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fld id="{CC8B731A-DCF7-4273-BA1A-21517ACBB5E5}" type="slidenum">
              <a:rPr lang="en-GB" smtClean="0"/>
              <a:t>19</a:t>
            </a:fld>
            <a:endParaRPr lang="en-GB" dirty="0"/>
          </a:p>
        </p:txBody>
      </p:sp>
    </p:spTree>
    <p:extLst>
      <p:ext uri="{BB962C8B-B14F-4D97-AF65-F5344CB8AC3E}">
        <p14:creationId xmlns:p14="http://schemas.microsoft.com/office/powerpoint/2010/main" val="4021934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US"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3.</a:t>
            </a:r>
            <a:r>
              <a:rPr kumimoji="0" lang="en-GB"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 </a:t>
            </a:r>
            <a:r>
              <a:rPr kumimoji="0" lang="ja-JP" altLang="en-US"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sym typeface="Arial"/>
              </a:rPr>
              <a:t>能動的川下り型のキャリアプランニング</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fld id="{CC8B731A-DCF7-4273-BA1A-21517ACBB5E5}" type="slidenum">
              <a:rPr lang="en-GB" smtClean="0"/>
              <a:t>20</a:t>
            </a:fld>
            <a:endParaRPr lang="en-GB"/>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0" lvl="1" indent="0">
              <a:buNone/>
            </a:pPr>
            <a:r>
              <a:rPr lang="ja-JP" altLang="en-US" dirty="0"/>
              <a:t>本章では「</a:t>
            </a:r>
            <a:r>
              <a:rPr lang="ja-JP" altLang="en-US" b="1" dirty="0"/>
              <a:t>川下り型</a:t>
            </a:r>
            <a:r>
              <a:rPr lang="ja-JP" altLang="en-US" dirty="0"/>
              <a:t>」のうち、とりわけ「</a:t>
            </a:r>
            <a:r>
              <a:rPr lang="ja-JP" altLang="en-US" b="1" dirty="0"/>
              <a:t>能動的川下り型</a:t>
            </a:r>
            <a:r>
              <a:rPr lang="ja-JP" altLang="en-US" dirty="0"/>
              <a:t>」のキャリアプランニングについて掘り下げる。</a:t>
            </a:r>
            <a:endParaRPr lang="en-GB" altLang="ja-JP" dirty="0"/>
          </a:p>
          <a:p>
            <a:pPr marL="0" lvl="1" indent="0">
              <a:buNone/>
            </a:pPr>
            <a:r>
              <a:rPr lang="ja-JP" altLang="en-US" dirty="0"/>
              <a:t>「</a:t>
            </a:r>
            <a:r>
              <a:rPr lang="ja-JP" altLang="en-US" b="1" dirty="0"/>
              <a:t>山登り型</a:t>
            </a:r>
            <a:r>
              <a:rPr lang="ja-JP" altLang="en-US" dirty="0"/>
              <a:t>」と「</a:t>
            </a:r>
            <a:r>
              <a:rPr lang="ja-JP" altLang="en-US" b="1" dirty="0"/>
              <a:t>受動的川下り型</a:t>
            </a:r>
            <a:r>
              <a:rPr lang="ja-JP" altLang="en-US" dirty="0"/>
              <a:t>」に言及しない理由は以下の</a:t>
            </a:r>
            <a:r>
              <a:rPr lang="en-US" altLang="ja-JP" dirty="0"/>
              <a:t>3</a:t>
            </a:r>
            <a:r>
              <a:rPr lang="ja-JP" altLang="en-US" dirty="0"/>
              <a:t>つである。</a:t>
            </a:r>
            <a:endParaRPr lang="en-GB" altLang="ja-JP" dirty="0"/>
          </a:p>
          <a:p>
            <a:pPr marL="0" lvl="1" indent="0">
              <a:buNone/>
            </a:pPr>
            <a:endParaRPr lang="en-GB" altLang="ja-JP" dirty="0"/>
          </a:p>
          <a:p>
            <a:pPr marL="360363" lvl="1" indent="-360363">
              <a:buFont typeface="+mj-lt"/>
              <a:buAutoNum type="arabicPeriod"/>
            </a:pPr>
            <a:r>
              <a:rPr lang="ja-JP" altLang="en-US" dirty="0"/>
              <a:t>すでに世の中にロールモデルが沢山いて想像しやすいので、私がわざわざ説明するないと判断したため</a:t>
            </a:r>
            <a:endParaRPr lang="en-GB" altLang="ja-JP" dirty="0"/>
          </a:p>
          <a:p>
            <a:pPr marL="360363" lvl="1" indent="-360363">
              <a:buFont typeface="+mj-lt"/>
              <a:buAutoNum type="arabicPeriod"/>
            </a:pPr>
            <a:r>
              <a:rPr lang="ja-JP" altLang="en-US" dirty="0"/>
              <a:t>卒業生訪問の対応者である私、そしてご訪問者様、ヒアリングした同じチームメンバーが「</a:t>
            </a:r>
            <a:r>
              <a:rPr lang="ja-JP" altLang="en-US" b="1" dirty="0"/>
              <a:t>能動的川下り型</a:t>
            </a:r>
            <a:r>
              <a:rPr lang="ja-JP" altLang="en-US" dirty="0"/>
              <a:t>」であったため、筆者として関心が高いため。</a:t>
            </a:r>
            <a:endParaRPr lang="en-GB" altLang="ja-JP" dirty="0"/>
          </a:p>
          <a:p>
            <a:pPr marL="360363" lvl="1" indent="-360363">
              <a:buFont typeface="+mj-lt"/>
              <a:buAutoNum type="arabicPeriod"/>
            </a:pPr>
            <a:r>
              <a:rPr lang="ja-JP" altLang="en-US" dirty="0"/>
              <a:t>「</a:t>
            </a:r>
            <a:r>
              <a:rPr lang="ja-JP" altLang="en-US" b="1" dirty="0"/>
              <a:t>能動的川下り型</a:t>
            </a:r>
            <a:r>
              <a:rPr lang="ja-JP" altLang="en-US" dirty="0"/>
              <a:t>」が私個人の観測範囲で多数派だが、そのキャリアプランニングのビジョンは浸透していないと考えたため。</a:t>
            </a:r>
            <a:endParaRPr lang="en-US" altLang="ja-JP" dirty="0"/>
          </a:p>
        </p:txBody>
      </p:sp>
    </p:spTree>
    <p:extLst>
      <p:ext uri="{BB962C8B-B14F-4D97-AF65-F5344CB8AC3E}">
        <p14:creationId xmlns:p14="http://schemas.microsoft.com/office/powerpoint/2010/main" val="2302870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US"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3.</a:t>
            </a:r>
            <a:r>
              <a:rPr kumimoji="0" lang="en-GB"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 </a:t>
            </a:r>
            <a:r>
              <a:rPr kumimoji="0" lang="ja-JP" altLang="en-US"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sym typeface="Arial"/>
              </a:rPr>
              <a:t>能動的川下り型のキャリアプランニング</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fld id="{CC8B731A-DCF7-4273-BA1A-21517ACBB5E5}" type="slidenum">
              <a:rPr lang="en-GB" smtClean="0"/>
              <a:t>21</a:t>
            </a:fld>
            <a:endParaRPr lang="en-GB"/>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0" lvl="1" indent="0">
              <a:buNone/>
            </a:pPr>
            <a:r>
              <a:rPr lang="ja-JP" altLang="en-US" dirty="0"/>
              <a:t>前頁の前提を踏まえ、本章では以下の内容を詳述させて頂く。</a:t>
            </a:r>
            <a:endParaRPr lang="en-GB" altLang="ja-JP" dirty="0"/>
          </a:p>
          <a:p>
            <a:pPr marL="0" lvl="1" indent="0">
              <a:buNone/>
            </a:pPr>
            <a:endParaRPr lang="en-GB" altLang="ja-JP" dirty="0"/>
          </a:p>
          <a:p>
            <a:pPr marL="360363" lvl="1" indent="-360363">
              <a:buFont typeface="+mj-lt"/>
              <a:buAutoNum type="arabicPeriod"/>
            </a:pPr>
            <a:r>
              <a:rPr lang="ja-JP" altLang="en-US" dirty="0">
                <a:hlinkClick r:id="rId3"/>
              </a:rPr>
              <a:t>能動的川下り型キャリアプランを描くことの是非</a:t>
            </a:r>
            <a:endParaRPr lang="en-GB" altLang="ja-JP" dirty="0"/>
          </a:p>
          <a:p>
            <a:pPr marL="360363" lvl="1" indent="-360363">
              <a:buFont typeface="+mj-lt"/>
              <a:buAutoNum type="arabicPeriod"/>
            </a:pPr>
            <a:r>
              <a:rPr lang="ja-JP" altLang="en-US" dirty="0">
                <a:hlinkClick r:id="rId4"/>
              </a:rPr>
              <a:t>能動的川下り型の仕事のスタンス</a:t>
            </a:r>
            <a:endParaRPr lang="en-GB" altLang="ja-JP" dirty="0"/>
          </a:p>
          <a:p>
            <a:pPr marL="360363" lvl="1" indent="-360363">
              <a:buFont typeface="+mj-lt"/>
              <a:buAutoNum type="arabicPeriod"/>
            </a:pPr>
            <a:r>
              <a:rPr lang="ja-JP" altLang="en-US" dirty="0">
                <a:hlinkClick r:id="rId5"/>
              </a:rPr>
              <a:t>能動的川下り型と「自分の強み」・「自分の志向」</a:t>
            </a:r>
            <a:endParaRPr lang="en-GB" altLang="ja-JP" dirty="0"/>
          </a:p>
          <a:p>
            <a:pPr marL="360363" lvl="1" indent="-360363">
              <a:buFont typeface="+mj-lt"/>
              <a:buAutoNum type="arabicPeriod"/>
            </a:pPr>
            <a:r>
              <a:rPr lang="ja-JP" altLang="en-US" dirty="0">
                <a:hlinkClick r:id="rId6"/>
              </a:rPr>
              <a:t>新卒就活と能動的川下り型キャリアプラン</a:t>
            </a:r>
            <a:endParaRPr lang="en-US" altLang="ja-JP" dirty="0"/>
          </a:p>
        </p:txBody>
      </p:sp>
    </p:spTree>
    <p:extLst>
      <p:ext uri="{BB962C8B-B14F-4D97-AF65-F5344CB8AC3E}">
        <p14:creationId xmlns:p14="http://schemas.microsoft.com/office/powerpoint/2010/main" val="38658666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US"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3.</a:t>
            </a:r>
            <a:r>
              <a:rPr kumimoji="0" lang="en-GB"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 </a:t>
            </a:r>
            <a:r>
              <a:rPr kumimoji="0" lang="ja-JP" altLang="en-US"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sym typeface="Arial"/>
              </a:rPr>
              <a:t>能動的川下り型のキャリアプランニング</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fld id="{CC8B731A-DCF7-4273-BA1A-21517ACBB5E5}" type="slidenum">
              <a:rPr lang="en-GB" smtClean="0"/>
              <a:t>22</a:t>
            </a:fld>
            <a:endParaRPr lang="en-GB"/>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0" lvl="1" indent="0">
              <a:buNone/>
            </a:pPr>
            <a:r>
              <a:rPr lang="ja-JP" altLang="en-US" sz="2800" b="1" dirty="0"/>
              <a:t>①</a:t>
            </a:r>
            <a:r>
              <a:rPr lang="en-GB" altLang="ja-JP" sz="2800" b="1" dirty="0"/>
              <a:t> </a:t>
            </a:r>
            <a:r>
              <a:rPr lang="ja-JP" altLang="en-US" sz="2800" b="1" dirty="0"/>
              <a:t>能動的川下り型キャリアプランを描くことの是非</a:t>
            </a:r>
            <a:endParaRPr lang="en-GB" altLang="ja-JP" sz="2800" b="1" dirty="0"/>
          </a:p>
          <a:p>
            <a:pPr marL="0" lvl="1" indent="0">
              <a:buNone/>
            </a:pPr>
            <a:r>
              <a:rPr lang="ja-JP" altLang="en-US" dirty="0"/>
              <a:t>個人的には以下の</a:t>
            </a:r>
            <a:r>
              <a:rPr lang="en-US" altLang="ja-JP" dirty="0"/>
              <a:t>2</a:t>
            </a:r>
            <a:r>
              <a:rPr lang="ja-JP" altLang="en-US" dirty="0"/>
              <a:t>つの理由で肯定派である。</a:t>
            </a:r>
            <a:endParaRPr lang="en-GB" altLang="ja-JP" dirty="0"/>
          </a:p>
          <a:p>
            <a:pPr marL="0" lvl="1" indent="0">
              <a:buNone/>
            </a:pPr>
            <a:endParaRPr lang="en-GB" altLang="ja-JP" dirty="0"/>
          </a:p>
          <a:p>
            <a:pPr marL="360363" lvl="1" indent="-360363">
              <a:buFont typeface="+mj-lt"/>
              <a:buAutoNum type="arabicPeriod"/>
            </a:pPr>
            <a:r>
              <a:rPr lang="ja-JP" altLang="en-US" dirty="0"/>
              <a:t>まずは日々の仕事の中で「当たり前のことを当たり前に」こなして成果を出すことに注力することは、信用貯金を積み上げていく観点で現実的なため。</a:t>
            </a:r>
            <a:endParaRPr lang="en-GB" altLang="ja-JP" dirty="0"/>
          </a:p>
          <a:p>
            <a:pPr marL="717550" lvl="2" indent="-260350"/>
            <a:r>
              <a:rPr lang="ja-JP" altLang="en-US" dirty="0"/>
              <a:t>天気予報同様、遠い未来ほど不確実性を孕んでいるため予定通りに事は運びにくい</a:t>
            </a:r>
            <a:endParaRPr lang="en-GB" altLang="ja-JP" dirty="0"/>
          </a:p>
          <a:p>
            <a:pPr marL="360363" lvl="1" indent="-360363">
              <a:buFont typeface="+mj-lt"/>
              <a:buAutoNum type="arabicPeriod"/>
            </a:pPr>
            <a:r>
              <a:rPr lang="en-GB" altLang="ja-JP" dirty="0"/>
              <a:t>1</a:t>
            </a:r>
            <a:r>
              <a:rPr lang="ja-JP" altLang="en-US" dirty="0"/>
              <a:t>年後・</a:t>
            </a:r>
            <a:r>
              <a:rPr lang="en-US" altLang="ja-JP" dirty="0"/>
              <a:t>3</a:t>
            </a:r>
            <a:r>
              <a:rPr lang="ja-JP" altLang="en-US" dirty="0"/>
              <a:t>年後・</a:t>
            </a:r>
            <a:r>
              <a:rPr lang="en-GB" altLang="ja-JP" dirty="0"/>
              <a:t>(</a:t>
            </a:r>
            <a:r>
              <a:rPr lang="ja-JP" altLang="en-US" dirty="0"/>
              <a:t>出来ればぼんやりとでも</a:t>
            </a:r>
            <a:r>
              <a:rPr lang="en-GB" altLang="ja-JP" dirty="0"/>
              <a:t>)</a:t>
            </a:r>
            <a:r>
              <a:rPr lang="en-US" altLang="ja-JP" dirty="0"/>
              <a:t>5</a:t>
            </a:r>
            <a:r>
              <a:rPr lang="ja-JP" altLang="en-US" dirty="0"/>
              <a:t>年後の理想像を描いておくことを意識するため、キャリアの迷子になりにくいため。</a:t>
            </a:r>
            <a:endParaRPr lang="en-GB" altLang="ja-JP" dirty="0"/>
          </a:p>
          <a:p>
            <a:pPr marL="717550" lvl="2" indent="-273050"/>
            <a:r>
              <a:rPr lang="ja-JP" altLang="en-US" dirty="0"/>
              <a:t>ただし。理想像と現状とのギャップを埋めるために必要な</a:t>
            </a:r>
            <a:r>
              <a:rPr lang="en-GB" altLang="ja-JP" dirty="0"/>
              <a:t> ACTIONS </a:t>
            </a:r>
            <a:r>
              <a:rPr lang="ja-JP" altLang="en-US" dirty="0"/>
              <a:t>の棚卸しと方向性のずれの修正は定期的に行う必要があるのでメンテナンスコストはかかる</a:t>
            </a:r>
            <a:endParaRPr lang="en-US" altLang="ja-JP" dirty="0"/>
          </a:p>
        </p:txBody>
      </p:sp>
    </p:spTree>
    <p:extLst>
      <p:ext uri="{BB962C8B-B14F-4D97-AF65-F5344CB8AC3E}">
        <p14:creationId xmlns:p14="http://schemas.microsoft.com/office/powerpoint/2010/main" val="27072791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US"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3.</a:t>
            </a:r>
            <a:r>
              <a:rPr kumimoji="0" lang="en-GB"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 </a:t>
            </a:r>
            <a:r>
              <a:rPr kumimoji="0" lang="ja-JP" altLang="en-US"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sym typeface="Arial"/>
              </a:rPr>
              <a:t>能動的川下り型のキャリアプランニング</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fld id="{CC8B731A-DCF7-4273-BA1A-21517ACBB5E5}" type="slidenum">
              <a:rPr lang="en-GB" smtClean="0"/>
              <a:t>23</a:t>
            </a:fld>
            <a:endParaRPr lang="en-GB"/>
          </a:p>
        </p:txBody>
      </p:sp>
      <p:sp>
        <p:nvSpPr>
          <p:cNvPr id="9" name="コンテンツ プレースホルダー 2">
            <a:extLst>
              <a:ext uri="{FF2B5EF4-FFF2-40B4-BE49-F238E27FC236}">
                <a16:creationId xmlns:a16="http://schemas.microsoft.com/office/drawing/2014/main" id="{A1BACAA0-B3CB-BF26-9353-A33CBA6E036B}"/>
              </a:ext>
            </a:extLst>
          </p:cNvPr>
          <p:cNvSpPr txBox="1">
            <a:spLocks/>
          </p:cNvSpPr>
          <p:nvPr/>
        </p:nvSpPr>
        <p:spPr>
          <a:xfrm>
            <a:off x="831210" y="1894131"/>
            <a:ext cx="10515600"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Font typeface="Arial" panose="020B0604020202020204" pitchFamily="34" charset="0"/>
              <a:buNone/>
            </a:pPr>
            <a:r>
              <a:rPr lang="ja-JP" altLang="en-US" sz="3000" b="1" dirty="0"/>
              <a:t>② 能動的川下り型の仕事のスタンス</a:t>
            </a:r>
            <a:endParaRPr lang="en-GB" altLang="ja-JP" sz="2600" dirty="0"/>
          </a:p>
          <a:p>
            <a:pPr marL="0" lvl="1" indent="0">
              <a:buFont typeface="Arial" panose="020B0604020202020204" pitchFamily="34" charset="0"/>
              <a:buNone/>
            </a:pPr>
            <a:r>
              <a:rPr lang="ja-JP" altLang="en-US" sz="2600" dirty="0"/>
              <a:t>前頁の「当たり前のことを当たり前に」は以下の</a:t>
            </a:r>
            <a:r>
              <a:rPr lang="en-US" altLang="ja-JP" sz="2600" dirty="0"/>
              <a:t>3</a:t>
            </a:r>
            <a:r>
              <a:rPr lang="ja-JP" altLang="en-US" sz="2600" dirty="0"/>
              <a:t>段階に細分化される。</a:t>
            </a:r>
            <a:endParaRPr lang="en-GB" altLang="ja-JP" sz="2600" dirty="0"/>
          </a:p>
          <a:p>
            <a:pPr marL="0" lvl="1" indent="0">
              <a:buFont typeface="Arial" panose="020B0604020202020204" pitchFamily="34" charset="0"/>
              <a:buNone/>
            </a:pPr>
            <a:endParaRPr lang="en-GB" altLang="ja-JP" sz="2600" dirty="0"/>
          </a:p>
          <a:p>
            <a:pPr marL="268288" lvl="1" indent="-268288"/>
            <a:r>
              <a:rPr lang="ja-JP" altLang="en-US" sz="2600" b="1" dirty="0"/>
              <a:t>フェーズ①</a:t>
            </a:r>
            <a:r>
              <a:rPr lang="en-US" altLang="ja-JP" sz="2600" b="1" dirty="0"/>
              <a:t>: </a:t>
            </a:r>
            <a:r>
              <a:rPr lang="ja-JP" altLang="en-US" sz="2600" b="1" dirty="0"/>
              <a:t>相手のニーズを理解し、期待値通りの成果を出す</a:t>
            </a:r>
          </a:p>
          <a:p>
            <a:pPr marL="725488" lvl="2" indent="-268288"/>
            <a:r>
              <a:rPr lang="ja-JP" altLang="en-US" sz="2200" dirty="0"/>
              <a:t>まずはここが大事な関門！</a:t>
            </a:r>
            <a:endParaRPr lang="en-GB" altLang="ja-JP" sz="2200" dirty="0"/>
          </a:p>
          <a:p>
            <a:pPr marL="725488" lvl="2" indent="-268288"/>
            <a:r>
              <a:rPr lang="ja-JP" altLang="en-US" sz="2200" dirty="0"/>
              <a:t>「当たり前に出来ること」を増やし、同時に自分ならではの</a:t>
            </a:r>
            <a:r>
              <a:rPr lang="en-GB" altLang="ja-JP" sz="2200" dirty="0"/>
              <a:t> Can </a:t>
            </a:r>
            <a:r>
              <a:rPr lang="ja-JP" altLang="en-US" sz="2200" dirty="0"/>
              <a:t>を探す</a:t>
            </a:r>
          </a:p>
          <a:p>
            <a:pPr marL="725488" lvl="2" indent="-268288"/>
            <a:r>
              <a:rPr lang="ja-JP" altLang="en-US" sz="2200" dirty="0"/>
              <a:t>期待値調整</a:t>
            </a:r>
            <a:r>
              <a:rPr lang="en-US" altLang="ja-JP" sz="2200" dirty="0"/>
              <a:t>(</a:t>
            </a:r>
            <a:r>
              <a:rPr lang="ja-JP" altLang="en-US" sz="2200" dirty="0"/>
              <a:t>求められている成果物の認識すり合わせ</a:t>
            </a:r>
            <a:r>
              <a:rPr lang="en-US" altLang="ja-JP" sz="2200" dirty="0"/>
              <a:t>)</a:t>
            </a:r>
            <a:r>
              <a:rPr lang="ja-JP" altLang="en-US" sz="2200" dirty="0"/>
              <a:t>を丁寧に行う</a:t>
            </a:r>
          </a:p>
          <a:p>
            <a:pPr marL="725488" lvl="2" indent="-268288"/>
            <a:r>
              <a:rPr lang="ja-JP" altLang="en-US" sz="2200" dirty="0"/>
              <a:t>最初のうちは方針が立たないので、分からないことは全面的に質問し、不明事項をクリアにする</a:t>
            </a:r>
          </a:p>
          <a:p>
            <a:pPr marL="268288" lvl="1" indent="-268288"/>
            <a:r>
              <a:rPr lang="ja-JP" altLang="en-US" sz="2600" b="1" dirty="0"/>
              <a:t>フェーズ②</a:t>
            </a:r>
            <a:r>
              <a:rPr lang="en-US" altLang="ja-JP" sz="2600" b="1" dirty="0"/>
              <a:t>: </a:t>
            </a:r>
            <a:r>
              <a:rPr lang="ja-JP" altLang="en-US" sz="2600" b="1" dirty="0"/>
              <a:t>相手のニーズをより理解し、期待値 </a:t>
            </a:r>
            <a:r>
              <a:rPr lang="en-US" altLang="ja-JP" sz="2600" b="1" dirty="0"/>
              <a:t>+α </a:t>
            </a:r>
            <a:r>
              <a:rPr lang="ja-JP" altLang="en-US" sz="2600" b="1" dirty="0"/>
              <a:t>の成果を出す</a:t>
            </a:r>
          </a:p>
          <a:p>
            <a:pPr marL="725488" lvl="2" indent="-268288"/>
            <a:r>
              <a:rPr lang="ja-JP" altLang="en-US" sz="2200" dirty="0"/>
              <a:t>期待値に応えるのが大前提で、</a:t>
            </a:r>
            <a:r>
              <a:rPr lang="en-US" altLang="ja-JP" sz="2200" dirty="0"/>
              <a:t>+α </a:t>
            </a:r>
            <a:r>
              <a:rPr lang="ja-JP" altLang="en-US" sz="2200" dirty="0"/>
              <a:t>だけに注力しても評価されない点に注意</a:t>
            </a:r>
          </a:p>
          <a:p>
            <a:pPr marL="268288" lvl="1" indent="-268288"/>
            <a:r>
              <a:rPr lang="ja-JP" altLang="en-US" sz="2600" b="1" dirty="0"/>
              <a:t>フェーズ③</a:t>
            </a:r>
            <a:r>
              <a:rPr lang="en-US" altLang="ja-JP" sz="2600" b="1" dirty="0"/>
              <a:t>: </a:t>
            </a:r>
            <a:r>
              <a:rPr lang="ja-JP" altLang="en-US" sz="2600" b="1" dirty="0"/>
              <a:t>相手のニーズを先読みし、求められるより先に成果を出す</a:t>
            </a:r>
          </a:p>
          <a:p>
            <a:pPr marL="725488" lvl="2" indent="-268288"/>
            <a:r>
              <a:rPr lang="ja-JP" altLang="en-US" sz="2200" dirty="0"/>
              <a:t>期待値 </a:t>
            </a:r>
            <a:r>
              <a:rPr lang="en-US" altLang="ja-JP" sz="2200" dirty="0"/>
              <a:t>+α </a:t>
            </a:r>
            <a:r>
              <a:rPr lang="ja-JP" altLang="en-US" sz="2200" dirty="0"/>
              <a:t>の成果を出すことが大前提で、ニーズとズレた成果を出しても徒労に終わるどころか評価されず、最悪の場合評価が下がることもあり得る点に注意</a:t>
            </a:r>
            <a:endParaRPr lang="en-GB" altLang="ja-JP" sz="2200" dirty="0"/>
          </a:p>
        </p:txBody>
      </p:sp>
    </p:spTree>
    <p:extLst>
      <p:ext uri="{BB962C8B-B14F-4D97-AF65-F5344CB8AC3E}">
        <p14:creationId xmlns:p14="http://schemas.microsoft.com/office/powerpoint/2010/main" val="19592009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US"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3.</a:t>
            </a:r>
            <a:r>
              <a:rPr kumimoji="0" lang="en-GB"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 </a:t>
            </a:r>
            <a:r>
              <a:rPr kumimoji="0" lang="ja-JP" altLang="en-US"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sym typeface="Arial"/>
              </a:rPr>
              <a:t>能動的川下り型のキャリアプランニング</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fld id="{CC8B731A-DCF7-4273-BA1A-21517ACBB5E5}" type="slidenum">
              <a:rPr lang="en-GB" smtClean="0"/>
              <a:t>24</a:t>
            </a:fld>
            <a:endParaRPr lang="en-GB"/>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lnSpcReduction="10000"/>
          </a:bodyPr>
          <a:lstStyle/>
          <a:p>
            <a:pPr marL="0" lvl="1" indent="0">
              <a:buNone/>
            </a:pPr>
            <a:r>
              <a:rPr lang="ja-JP" altLang="en-US" sz="2800" b="1" dirty="0"/>
              <a:t>② 能動的川下り型の仕事のスタンス</a:t>
            </a:r>
            <a:endParaRPr lang="en-GB" altLang="ja-JP" sz="2800" dirty="0"/>
          </a:p>
          <a:p>
            <a:pPr marL="0" lvl="1" indent="0">
              <a:buNone/>
            </a:pPr>
            <a:r>
              <a:rPr lang="ja-JP" altLang="en-US" dirty="0"/>
              <a:t>次</a:t>
            </a:r>
            <a:r>
              <a:rPr lang="ja-JP" altLang="en-US" sz="2400" dirty="0"/>
              <a:t>に、「</a:t>
            </a:r>
            <a:r>
              <a:rPr lang="ja-JP" altLang="en-US" sz="2400" b="1" dirty="0"/>
              <a:t>山登り型</a:t>
            </a:r>
            <a:r>
              <a:rPr lang="ja-JP" altLang="en-US" sz="2400" dirty="0"/>
              <a:t>」であろうと「</a:t>
            </a:r>
            <a:r>
              <a:rPr lang="ja-JP" altLang="en-US" sz="2400" b="1" dirty="0"/>
              <a:t>川下り型</a:t>
            </a:r>
            <a:r>
              <a:rPr lang="ja-JP" altLang="en-US" sz="2400" dirty="0"/>
              <a:t>」であろうと蔑ろに出来ない日々の仕事について掘り下げる</a:t>
            </a:r>
            <a:r>
              <a:rPr lang="ja-JP" altLang="en-US" dirty="0"/>
              <a:t>。</a:t>
            </a:r>
            <a:endParaRPr lang="en-GB" altLang="ja-JP" dirty="0"/>
          </a:p>
          <a:p>
            <a:pPr marL="0" lvl="1" indent="0">
              <a:buNone/>
            </a:pPr>
            <a:r>
              <a:rPr lang="ja-JP" altLang="en-US" dirty="0"/>
              <a:t>仕事は細分化すると、以下の</a:t>
            </a:r>
            <a:r>
              <a:rPr lang="en-US" altLang="ja-JP" dirty="0"/>
              <a:t>2</a:t>
            </a:r>
            <a:r>
              <a:rPr lang="ja-JP" altLang="en-US" dirty="0"/>
              <a:t>つに分類出来る。</a:t>
            </a:r>
            <a:endParaRPr lang="en-GB" altLang="ja-JP" dirty="0"/>
          </a:p>
          <a:p>
            <a:pPr marL="0" lvl="1" indent="0">
              <a:buNone/>
            </a:pPr>
            <a:r>
              <a:rPr lang="ja-JP" altLang="en-US" dirty="0"/>
              <a:t>いずれも以下のような能動的な姿勢を持って取り組むことが重要である。</a:t>
            </a:r>
            <a:endParaRPr lang="en-GB" altLang="ja-JP" dirty="0"/>
          </a:p>
          <a:p>
            <a:pPr marL="0" lvl="1" indent="0">
              <a:buNone/>
            </a:pPr>
            <a:endParaRPr lang="en-GB" altLang="ja-JP" dirty="0"/>
          </a:p>
          <a:p>
            <a:pPr marL="268288" lvl="1" indent="-268288"/>
            <a:r>
              <a:rPr lang="ja-JP" altLang="en-US" b="1" dirty="0"/>
              <a:t>与えられる仕事</a:t>
            </a:r>
            <a:r>
              <a:rPr lang="en-US" altLang="ja-JP" dirty="0"/>
              <a:t>:</a:t>
            </a:r>
            <a:r>
              <a:rPr lang="en-GB" altLang="ja-JP" dirty="0"/>
              <a:t> </a:t>
            </a:r>
            <a:r>
              <a:rPr lang="ja-JP" altLang="en-US" b="1" dirty="0"/>
              <a:t>相手の依頼に対して成果を出す</a:t>
            </a:r>
            <a:r>
              <a:rPr lang="ja-JP" altLang="en-US" dirty="0"/>
              <a:t>もの。要求を満たすのは前提で、良い意味で現状に不満を持ち常にカイゼンの芽を探し、見つけたらチームに提案・展開しつつ着手し進捗させる</a:t>
            </a:r>
          </a:p>
          <a:p>
            <a:pPr marL="268288" lvl="1" indent="-268288"/>
            <a:r>
              <a:rPr lang="ja-JP" altLang="en-US" b="1" dirty="0"/>
              <a:t>自分で掘り出す仕事</a:t>
            </a:r>
            <a:r>
              <a:rPr lang="en-US" altLang="ja-JP" dirty="0"/>
              <a:t>: </a:t>
            </a:r>
            <a:r>
              <a:rPr lang="ja-JP" altLang="en-US" b="1" dirty="0"/>
              <a:t>自分の </a:t>
            </a:r>
            <a:r>
              <a:rPr lang="en-GB" altLang="ja-JP" b="1" dirty="0"/>
              <a:t>Can </a:t>
            </a:r>
            <a:r>
              <a:rPr lang="ja-JP" altLang="en-US" b="1" dirty="0"/>
              <a:t>を活かして成果を出す</a:t>
            </a:r>
            <a:r>
              <a:rPr lang="ja-JP" altLang="en-US" dirty="0"/>
              <a:t>もの。例えばエンジニアはドキュメンテーション</a:t>
            </a:r>
            <a:r>
              <a:rPr lang="en-US" altLang="ja-JP" dirty="0"/>
              <a:t>(</a:t>
            </a:r>
            <a:r>
              <a:rPr lang="ja-JP" altLang="en-US" dirty="0"/>
              <a:t>文書化</a:t>
            </a:r>
            <a:r>
              <a:rPr lang="en-US" altLang="ja-JP" dirty="0"/>
              <a:t>)</a:t>
            </a:r>
            <a:r>
              <a:rPr lang="ja-JP" altLang="en-US" dirty="0"/>
              <a:t>が苦手な人が多く、自分は得意だったのでその領域で成果を出し、ノウハウを共有し、再現可能な知見を組織に浸透させる働きかけを行った</a:t>
            </a:r>
            <a:endParaRPr lang="en-GB" altLang="ja-JP" dirty="0"/>
          </a:p>
        </p:txBody>
      </p:sp>
    </p:spTree>
    <p:extLst>
      <p:ext uri="{BB962C8B-B14F-4D97-AF65-F5344CB8AC3E}">
        <p14:creationId xmlns:p14="http://schemas.microsoft.com/office/powerpoint/2010/main" val="18440701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US"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3.</a:t>
            </a:r>
            <a:r>
              <a:rPr kumimoji="0" lang="en-GB"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 </a:t>
            </a:r>
            <a:r>
              <a:rPr kumimoji="0" lang="ja-JP" altLang="en-US"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sym typeface="Arial"/>
              </a:rPr>
              <a:t>能動的川下り型のキャリアプランニング</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fld id="{CC8B731A-DCF7-4273-BA1A-21517ACBB5E5}" type="slidenum">
              <a:rPr lang="en-GB" smtClean="0"/>
              <a:t>25</a:t>
            </a:fld>
            <a:endParaRPr lang="en-GB"/>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0" lvl="1" indent="0">
              <a:buNone/>
            </a:pPr>
            <a:r>
              <a:rPr lang="ja-JP" altLang="en-US" sz="2800" b="1" dirty="0"/>
              <a:t>③ 能動的川下り型と「自分の強み」・「自分の志向」</a:t>
            </a:r>
            <a:endParaRPr lang="en-GB" altLang="ja-JP" sz="2800" b="1" dirty="0"/>
          </a:p>
          <a:p>
            <a:pPr marL="0" lvl="1" indent="0">
              <a:buNone/>
            </a:pPr>
            <a:r>
              <a:rPr lang="ja-JP" altLang="en-US" sz="2400" dirty="0"/>
              <a:t>「</a:t>
            </a:r>
            <a:r>
              <a:rPr lang="ja-JP" altLang="en-US" sz="2400" b="1" dirty="0"/>
              <a:t>山登り型</a:t>
            </a:r>
            <a:r>
              <a:rPr lang="ja-JP" altLang="en-US" sz="2400" dirty="0"/>
              <a:t>」の方々は自身の強みや希望を十二分に理解した上でキャリアプランニングを行う一方、「</a:t>
            </a:r>
            <a:r>
              <a:rPr lang="ja-JP" altLang="en-US" sz="2400" b="1" dirty="0"/>
              <a:t>能動的川下り型</a:t>
            </a:r>
            <a:r>
              <a:rPr lang="ja-JP" altLang="en-US" sz="2400" dirty="0"/>
              <a:t>」は「</a:t>
            </a:r>
            <a:r>
              <a:rPr lang="ja-JP" altLang="en-US" sz="2400" b="1" dirty="0"/>
              <a:t>川下り型</a:t>
            </a:r>
            <a:r>
              <a:rPr lang="ja-JP" altLang="en-US" sz="2400" dirty="0"/>
              <a:t>」である以上受動的な性質を持っているため、日々の仕事に忙殺され、当初描いていた理想像が記憶の彼方に埋没する可能性が高い。</a:t>
            </a:r>
            <a:endParaRPr lang="en-GB" altLang="ja-JP" sz="2400" dirty="0"/>
          </a:p>
          <a:p>
            <a:pPr marL="0" lvl="1" indent="0">
              <a:buNone/>
            </a:pPr>
            <a:r>
              <a:rPr lang="ja-JP" altLang="en-US" dirty="0"/>
              <a:t>故に、意識的に「自分にしか出来ないことは何か？</a:t>
            </a:r>
            <a:r>
              <a:rPr lang="en-GB" altLang="ja-JP" dirty="0"/>
              <a:t> </a:t>
            </a:r>
            <a:r>
              <a:rPr lang="ja-JP" altLang="en-US" dirty="0"/>
              <a:t>」「自分が興味・関心が湧くのはどんな仕事か？」を意識して自身の強みや志向を見つける行動を起こすことはとても重要である。</a:t>
            </a:r>
            <a:endParaRPr lang="en-GB" altLang="ja-JP" dirty="0"/>
          </a:p>
          <a:p>
            <a:pPr marL="0" lvl="1" indent="0">
              <a:buNone/>
            </a:pPr>
            <a:r>
              <a:rPr lang="ja-JP" altLang="en-US" dirty="0"/>
              <a:t>仕事の依頼者が誰に頼むかの判断基準として、「その仕事を頼むと色が付いたアウトプットをしてくれる」</a:t>
            </a:r>
            <a:r>
              <a:rPr lang="en-GB" altLang="ja-JP" dirty="0"/>
              <a:t>Can </a:t>
            </a:r>
            <a:r>
              <a:rPr lang="ja-JP" altLang="en-US" dirty="0"/>
              <a:t>を持つ人か、「その仕事をやりたい強い意志を持っており中長期的にコミットしてくれる」</a:t>
            </a:r>
            <a:r>
              <a:rPr lang="en-GB" altLang="ja-JP" dirty="0"/>
              <a:t>Will </a:t>
            </a:r>
            <a:r>
              <a:rPr lang="ja-JP" altLang="en-US" dirty="0"/>
              <a:t>を持つ人を選ぶからである</a:t>
            </a:r>
            <a:r>
              <a:rPr lang="en-US" altLang="ja-JP" dirty="0"/>
              <a:t>(</a:t>
            </a:r>
            <a:r>
              <a:rPr lang="en-GB" altLang="ja-JP" dirty="0"/>
              <a:t>Will </a:t>
            </a:r>
            <a:r>
              <a:rPr lang="ja-JP" altLang="en-US" dirty="0"/>
              <a:t>は</a:t>
            </a:r>
            <a:r>
              <a:rPr lang="en-GB" altLang="ja-JP" dirty="0"/>
              <a:t> Can </a:t>
            </a:r>
            <a:r>
              <a:rPr lang="ja-JP" altLang="en-US" dirty="0"/>
              <a:t>に勝ることもある</a:t>
            </a:r>
            <a:r>
              <a:rPr lang="en-GB" altLang="ja-JP" dirty="0"/>
              <a:t> - </a:t>
            </a:r>
            <a:r>
              <a:rPr lang="ja-JP" altLang="en-US" dirty="0"/>
              <a:t>上長談</a:t>
            </a:r>
            <a:r>
              <a:rPr lang="en-US" altLang="ja-JP" dirty="0"/>
              <a:t>)</a:t>
            </a:r>
            <a:r>
              <a:rPr lang="ja-JP" altLang="en-US" dirty="0"/>
              <a:t>。</a:t>
            </a:r>
            <a:endParaRPr lang="en-GB" altLang="ja-JP" dirty="0"/>
          </a:p>
        </p:txBody>
      </p:sp>
    </p:spTree>
    <p:extLst>
      <p:ext uri="{BB962C8B-B14F-4D97-AF65-F5344CB8AC3E}">
        <p14:creationId xmlns:p14="http://schemas.microsoft.com/office/powerpoint/2010/main" val="7503458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US"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3.</a:t>
            </a:r>
            <a:r>
              <a:rPr kumimoji="0" lang="en-GB"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 </a:t>
            </a:r>
            <a:r>
              <a:rPr kumimoji="0" lang="ja-JP" altLang="en-US"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sym typeface="Arial"/>
              </a:rPr>
              <a:t>能動的川下り型のキャリアプランニング</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fld id="{CC8B731A-DCF7-4273-BA1A-21517ACBB5E5}" type="slidenum">
              <a:rPr lang="en-GB" smtClean="0"/>
              <a:t>26</a:t>
            </a:fld>
            <a:endParaRPr lang="en-GB"/>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0" lvl="1" indent="0">
              <a:buNone/>
            </a:pPr>
            <a:r>
              <a:rPr lang="ja-JP" altLang="en-US" sz="2800" b="1" dirty="0"/>
              <a:t>④</a:t>
            </a:r>
            <a:r>
              <a:rPr lang="en-GB" altLang="ja-JP" sz="2800" b="1" dirty="0"/>
              <a:t> </a:t>
            </a:r>
            <a:r>
              <a:rPr lang="ja-JP" altLang="en-US" sz="2800" b="1" dirty="0"/>
              <a:t>新卒就活と能動的川下り型キャリアプラン</a:t>
            </a:r>
            <a:endParaRPr lang="en-GB" altLang="ja-JP" sz="2400" b="1" dirty="0"/>
          </a:p>
          <a:p>
            <a:pPr marL="0" lvl="1" indent="0">
              <a:buNone/>
            </a:pPr>
            <a:r>
              <a:rPr lang="ja-JP" altLang="en-US" sz="2400" dirty="0"/>
              <a:t>卒業生訪問対応をさせて頂いたご訪問者様は、「</a:t>
            </a:r>
            <a:r>
              <a:rPr lang="en-US" altLang="ja-JP" sz="2400" dirty="0">
                <a:hlinkClick r:id="rId3"/>
              </a:rPr>
              <a:t>1.</a:t>
            </a:r>
            <a:r>
              <a:rPr lang="en-GB" altLang="ja-JP" dirty="0">
                <a:hlinkClick r:id="rId3"/>
              </a:rPr>
              <a:t> </a:t>
            </a:r>
            <a:r>
              <a:rPr lang="ja-JP" altLang="en-US" dirty="0">
                <a:hlinkClick r:id="rId3"/>
              </a:rPr>
              <a:t>プロローグ</a:t>
            </a:r>
            <a:r>
              <a:rPr lang="ja-JP" altLang="en-US" sz="2400" dirty="0"/>
              <a:t>」で頭出ししたように、「</a:t>
            </a:r>
            <a:r>
              <a:rPr lang="ja-JP" altLang="en-US" sz="2400" b="1" dirty="0"/>
              <a:t>川下り型</a:t>
            </a:r>
            <a:r>
              <a:rPr lang="ja-JP" altLang="en-US" sz="2400" dirty="0"/>
              <a:t>」でキャリアプランニングを行うことに不安を抱いていらっしゃった。</a:t>
            </a:r>
            <a:endParaRPr lang="en-GB" altLang="ja-JP" sz="2400" dirty="0"/>
          </a:p>
          <a:p>
            <a:pPr marL="0" lvl="1" indent="0">
              <a:buNone/>
            </a:pPr>
            <a:r>
              <a:rPr lang="ja-JP" altLang="en-US" dirty="0"/>
              <a:t>単純な疑問で「新卒のうちは理想を追いかける</a:t>
            </a:r>
            <a:r>
              <a:rPr lang="ja-JP" altLang="en-US" b="1" dirty="0"/>
              <a:t>山登り型</a:t>
            </a:r>
            <a:r>
              <a:rPr lang="ja-JP" altLang="en-US" dirty="0"/>
              <a:t>でキャリアプランを描くことが多い中で、何故敢えて</a:t>
            </a:r>
            <a:r>
              <a:rPr lang="ja-JP" altLang="en-US" b="1" dirty="0"/>
              <a:t>川下り型</a:t>
            </a:r>
            <a:r>
              <a:rPr lang="ja-JP" altLang="en-US" dirty="0"/>
              <a:t>でそれを描こうとされているのか？」をお伺いしたところ、</a:t>
            </a:r>
            <a:r>
              <a:rPr lang="ja-JP" altLang="en-US" sz="2400" dirty="0"/>
              <a:t>「まだ働いていないうちから将来像を具体化することに限界があり、実際に働く中で理想像を追求したいから」という回答を頂いた。</a:t>
            </a:r>
            <a:endParaRPr lang="en-GB" altLang="ja-JP" sz="2400" dirty="0"/>
          </a:p>
          <a:p>
            <a:pPr marL="0" lvl="1" indent="0">
              <a:buNone/>
            </a:pPr>
            <a:r>
              <a:rPr lang="ja-JP" altLang="en-US" dirty="0"/>
              <a:t>至極まともで現実がよく見えており、だからこそ新卒就活で大きな悩みと不安を抱えていらっしゃるのだとお見受けした。</a:t>
            </a:r>
            <a:endParaRPr lang="en-US" altLang="ja-JP" sz="2400" dirty="0"/>
          </a:p>
        </p:txBody>
      </p:sp>
    </p:spTree>
    <p:extLst>
      <p:ext uri="{BB962C8B-B14F-4D97-AF65-F5344CB8AC3E}">
        <p14:creationId xmlns:p14="http://schemas.microsoft.com/office/powerpoint/2010/main" val="34372766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US"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3.</a:t>
            </a:r>
            <a:r>
              <a:rPr kumimoji="0" lang="en-GB"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 </a:t>
            </a:r>
            <a:r>
              <a:rPr kumimoji="0" lang="ja-JP" altLang="en-US"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sym typeface="Arial"/>
              </a:rPr>
              <a:t>能動的川下り型のキャリアプランニング</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fld id="{CC8B731A-DCF7-4273-BA1A-21517ACBB5E5}" type="slidenum">
              <a:rPr lang="en-GB" smtClean="0"/>
              <a:t>27</a:t>
            </a:fld>
            <a:endParaRPr lang="en-GB"/>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0" lvl="1" indent="0">
              <a:buNone/>
            </a:pPr>
            <a:r>
              <a:rPr lang="ja-JP" altLang="en-US" sz="2800" b="1" dirty="0"/>
              <a:t>④</a:t>
            </a:r>
            <a:r>
              <a:rPr lang="en-GB" altLang="ja-JP" sz="2800" b="1" dirty="0"/>
              <a:t> </a:t>
            </a:r>
            <a:r>
              <a:rPr lang="ja-JP" altLang="en-US" sz="2800" b="1" dirty="0"/>
              <a:t>新卒就活と能動的川下り型キャリアプラン</a:t>
            </a:r>
            <a:endParaRPr lang="en-GB" altLang="ja-JP" sz="2400" b="1" dirty="0"/>
          </a:p>
          <a:p>
            <a:pPr marL="0" lvl="1" indent="0">
              <a:buNone/>
            </a:pPr>
            <a:r>
              <a:rPr lang="ja-JP" altLang="en-US" sz="2400" dirty="0"/>
              <a:t>転職活動であれば、過去に「実際に」携わった業務内容や、それを通じて獲得したソフト・ハードスキルをどのように志望企業で活かして貢献するかなど、</a:t>
            </a:r>
            <a:r>
              <a:rPr lang="ja-JP" altLang="en-US" sz="2400" b="1" dirty="0"/>
              <a:t>主に</a:t>
            </a:r>
            <a:r>
              <a:rPr lang="en-GB" altLang="ja-JP" sz="2400" b="1" dirty="0"/>
              <a:t> Can </a:t>
            </a:r>
            <a:r>
              <a:rPr lang="ja-JP" altLang="en-US" sz="2400" b="1" dirty="0"/>
              <a:t>ベースの質問が多い</a:t>
            </a:r>
            <a:r>
              <a:rPr lang="ja-JP" altLang="en-US" sz="2400" dirty="0"/>
              <a:t>。</a:t>
            </a:r>
            <a:endParaRPr lang="en-GB" altLang="ja-JP" sz="2400" dirty="0"/>
          </a:p>
          <a:p>
            <a:pPr marL="0" lvl="1" indent="0">
              <a:buNone/>
            </a:pPr>
            <a:endParaRPr lang="en-GB" altLang="ja-JP" sz="2400" dirty="0"/>
          </a:p>
          <a:p>
            <a:pPr marL="0" lvl="1" indent="0">
              <a:buNone/>
            </a:pPr>
            <a:r>
              <a:rPr lang="ja-JP" altLang="en-US" sz="2400" dirty="0"/>
              <a:t>実務経験に基づき回答を組み立てられるので、「</a:t>
            </a:r>
            <a:r>
              <a:rPr lang="ja-JP" altLang="en-US" sz="2400" b="1" dirty="0"/>
              <a:t>山登り型</a:t>
            </a:r>
            <a:r>
              <a:rPr lang="ja-JP" altLang="en-US" sz="2400" dirty="0"/>
              <a:t>」「</a:t>
            </a:r>
            <a:r>
              <a:rPr lang="ja-JP" altLang="en-US" sz="2400" b="1" dirty="0"/>
              <a:t>川下り型</a:t>
            </a:r>
            <a:r>
              <a:rPr lang="ja-JP" altLang="en-US" sz="2400" dirty="0"/>
              <a:t>」のどちらのタイプにとってもそこまで難易度は高くない。</a:t>
            </a:r>
            <a:endParaRPr lang="en-GB" altLang="ja-JP" sz="2400" dirty="0"/>
          </a:p>
          <a:p>
            <a:pPr marL="0" lvl="1" indent="0">
              <a:buNone/>
            </a:pPr>
            <a:endParaRPr lang="en-GB" altLang="ja-JP" dirty="0"/>
          </a:p>
          <a:p>
            <a:pPr marL="0" lvl="1" indent="0">
              <a:buNone/>
            </a:pPr>
            <a:r>
              <a:rPr lang="en-US" altLang="ja-JP" dirty="0"/>
              <a:t>※</a:t>
            </a:r>
            <a:r>
              <a:rPr lang="en-GB" altLang="ja-JP" dirty="0"/>
              <a:t> </a:t>
            </a:r>
            <a:r>
              <a:rPr lang="ja-JP" altLang="en-US" sz="2400" dirty="0"/>
              <a:t>筆者経験談として実務経験を通じて獲得したスキルが皆無</a:t>
            </a:r>
            <a:r>
              <a:rPr lang="ja-JP" altLang="en-US" dirty="0"/>
              <a:t>の場合は相当苦労するか詰む。</a:t>
            </a:r>
            <a:endParaRPr lang="en-GB" altLang="ja-JP" sz="2400" dirty="0"/>
          </a:p>
        </p:txBody>
      </p:sp>
    </p:spTree>
    <p:extLst>
      <p:ext uri="{BB962C8B-B14F-4D97-AF65-F5344CB8AC3E}">
        <p14:creationId xmlns:p14="http://schemas.microsoft.com/office/powerpoint/2010/main" val="10009413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US"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3.</a:t>
            </a:r>
            <a:r>
              <a:rPr kumimoji="0" lang="en-GB"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 </a:t>
            </a:r>
            <a:r>
              <a:rPr kumimoji="0" lang="ja-JP" altLang="en-US"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sym typeface="Arial"/>
              </a:rPr>
              <a:t>能動的川下り型のキャリアプランニング</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fld id="{CC8B731A-DCF7-4273-BA1A-21517ACBB5E5}" type="slidenum">
              <a:rPr lang="en-GB" smtClean="0"/>
              <a:t>28</a:t>
            </a:fld>
            <a:endParaRPr lang="en-GB"/>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0" lvl="1" indent="0">
              <a:buNone/>
            </a:pPr>
            <a:r>
              <a:rPr lang="ja-JP" altLang="en-US" sz="2800" b="1" dirty="0"/>
              <a:t>④</a:t>
            </a:r>
            <a:r>
              <a:rPr lang="en-GB" altLang="ja-JP" sz="2800" b="1" dirty="0"/>
              <a:t> </a:t>
            </a:r>
            <a:r>
              <a:rPr lang="ja-JP" altLang="en-US" sz="2800" b="1" dirty="0"/>
              <a:t>新卒就活と能動的川下り型キャリアプラン</a:t>
            </a:r>
            <a:endParaRPr lang="en-GB" altLang="ja-JP" sz="2400" b="1" dirty="0"/>
          </a:p>
          <a:p>
            <a:pPr marL="0" lvl="1" indent="0">
              <a:buNone/>
            </a:pPr>
            <a:r>
              <a:rPr lang="ja-JP" altLang="en-US" sz="2400" dirty="0"/>
              <a:t>一方、新卒就活では大学時代の経験を通じて、何の仕事をしたいかとその業種・業界でならない理由を問われるなど、</a:t>
            </a:r>
            <a:r>
              <a:rPr lang="ja-JP" altLang="en-US" sz="2400" b="1" dirty="0"/>
              <a:t>主に</a:t>
            </a:r>
            <a:r>
              <a:rPr lang="en-GB" altLang="ja-JP" sz="2400" b="1" dirty="0"/>
              <a:t> Will </a:t>
            </a:r>
            <a:r>
              <a:rPr lang="ja-JP" altLang="en-US" sz="2400" b="1" dirty="0"/>
              <a:t>ベースの質問が多い</a:t>
            </a:r>
            <a:r>
              <a:rPr lang="ja-JP" altLang="en-US" sz="2400" dirty="0"/>
              <a:t>。</a:t>
            </a:r>
            <a:endParaRPr lang="en-GB" altLang="ja-JP" sz="2400" dirty="0"/>
          </a:p>
          <a:p>
            <a:pPr marL="0" lvl="1" indent="0">
              <a:buNone/>
            </a:pPr>
            <a:r>
              <a:rPr lang="ja-JP" altLang="en-US" sz="2400" dirty="0"/>
              <a:t>厄介なのは、その</a:t>
            </a:r>
            <a:r>
              <a:rPr lang="en-GB" altLang="ja-JP" sz="2400" dirty="0"/>
              <a:t> Will </a:t>
            </a:r>
            <a:r>
              <a:rPr lang="ja-JP" altLang="en-US" sz="2400" dirty="0"/>
              <a:t>の裏付けとして</a:t>
            </a:r>
            <a:r>
              <a:rPr lang="en-GB" altLang="ja-JP" sz="2400" dirty="0"/>
              <a:t> Can </a:t>
            </a:r>
            <a:r>
              <a:rPr lang="ja-JP" altLang="en-US" sz="2400" dirty="0"/>
              <a:t>が問われることである。</a:t>
            </a:r>
            <a:endParaRPr lang="en-GB" altLang="ja-JP" sz="2400" dirty="0"/>
          </a:p>
          <a:p>
            <a:pPr marL="0" lvl="1" indent="0">
              <a:buNone/>
            </a:pPr>
            <a:endParaRPr lang="en-GB" altLang="ja-JP" sz="2400" dirty="0"/>
          </a:p>
          <a:p>
            <a:pPr marL="0" lvl="1" indent="0">
              <a:buNone/>
            </a:pPr>
            <a:r>
              <a:rPr lang="ja-JP" altLang="en-US" sz="2400" dirty="0"/>
              <a:t>よほど専門的な知見や技術を研究室もしくは独力で習得したか、大学時代から就業経験があるか、長期インターンシップで実務経験を積んでいたかのいずれかでない限り</a:t>
            </a:r>
            <a:r>
              <a:rPr lang="ja-JP" altLang="en-US" dirty="0"/>
              <a:t>明確に</a:t>
            </a:r>
            <a:r>
              <a:rPr lang="en-GB" altLang="ja-JP" dirty="0"/>
              <a:t> Can </a:t>
            </a:r>
            <a:r>
              <a:rPr lang="ja-JP" altLang="en-US" dirty="0"/>
              <a:t>を回答するのは難易度が高い。</a:t>
            </a:r>
            <a:endParaRPr lang="en-GB" altLang="ja-JP" sz="2400" dirty="0"/>
          </a:p>
        </p:txBody>
      </p:sp>
    </p:spTree>
    <p:extLst>
      <p:ext uri="{BB962C8B-B14F-4D97-AF65-F5344CB8AC3E}">
        <p14:creationId xmlns:p14="http://schemas.microsoft.com/office/powerpoint/2010/main" val="2350921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US"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3.</a:t>
            </a:r>
            <a:r>
              <a:rPr kumimoji="0" lang="en-GB"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 </a:t>
            </a:r>
            <a:r>
              <a:rPr kumimoji="0" lang="ja-JP" altLang="en-US"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sym typeface="Arial"/>
              </a:rPr>
              <a:t>能動的川下り型のキャリアプランニング</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fld id="{CC8B731A-DCF7-4273-BA1A-21517ACBB5E5}" type="slidenum">
              <a:rPr lang="en-GB" smtClean="0"/>
              <a:t>29</a:t>
            </a:fld>
            <a:endParaRPr lang="en-GB"/>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0" lvl="1" indent="0">
              <a:buNone/>
            </a:pPr>
            <a:r>
              <a:rPr lang="ja-JP" altLang="en-US" sz="2800" b="1" dirty="0"/>
              <a:t>④</a:t>
            </a:r>
            <a:r>
              <a:rPr lang="en-GB" altLang="ja-JP" sz="2800" b="1" dirty="0"/>
              <a:t> </a:t>
            </a:r>
            <a:r>
              <a:rPr lang="ja-JP" altLang="en-US" sz="2800" b="1" dirty="0"/>
              <a:t>新卒就活と能動的川下り型キャリアプラン</a:t>
            </a:r>
            <a:endParaRPr lang="en-GB" altLang="ja-JP" sz="2400" b="1" dirty="0"/>
          </a:p>
          <a:p>
            <a:pPr marL="0" lvl="1" indent="0">
              <a:buNone/>
            </a:pPr>
            <a:r>
              <a:rPr lang="ja-JP" altLang="en-US" sz="2400" dirty="0"/>
              <a:t>「</a:t>
            </a:r>
            <a:r>
              <a:rPr lang="ja-JP" altLang="en-US" sz="2400" b="1" dirty="0"/>
              <a:t>山登り型</a:t>
            </a:r>
            <a:r>
              <a:rPr lang="ja-JP" altLang="en-US" sz="2400" dirty="0"/>
              <a:t>」であれば、明確な目標とそれに対する強い</a:t>
            </a:r>
            <a:r>
              <a:rPr lang="en-GB" altLang="ja-JP" sz="2400" dirty="0"/>
              <a:t> Will</a:t>
            </a:r>
            <a:r>
              <a:rPr lang="ja-JP" altLang="en-US" sz="2400" dirty="0"/>
              <a:t>、裏付けとなる培った</a:t>
            </a:r>
            <a:r>
              <a:rPr lang="en-GB" altLang="ja-JP" sz="2400" dirty="0"/>
              <a:t> Can </a:t>
            </a:r>
            <a:r>
              <a:rPr lang="ja-JP" altLang="en-US" sz="2400" dirty="0"/>
              <a:t>があるので、回答に説得力を持たせることが</a:t>
            </a:r>
            <a:r>
              <a:rPr lang="ja-JP" altLang="en-US" dirty="0"/>
              <a:t>出来る</a:t>
            </a:r>
            <a:r>
              <a:rPr lang="ja-JP" altLang="en-US" sz="2400" dirty="0"/>
              <a:t>。</a:t>
            </a:r>
            <a:endParaRPr lang="en-GB" altLang="ja-JP" sz="2400" dirty="0"/>
          </a:p>
          <a:p>
            <a:pPr marL="0" lvl="1" indent="0">
              <a:buNone/>
            </a:pPr>
            <a:endParaRPr lang="en-GB" altLang="ja-JP" dirty="0"/>
          </a:p>
          <a:p>
            <a:pPr marL="0" lvl="1" indent="0">
              <a:buNone/>
            </a:pPr>
            <a:r>
              <a:rPr lang="ja-JP" altLang="en-US" sz="2400" dirty="0"/>
              <a:t>一方、「</a:t>
            </a:r>
            <a:r>
              <a:rPr lang="ja-JP" altLang="en-US" sz="2400" b="1" dirty="0"/>
              <a:t>川下り型</a:t>
            </a:r>
            <a:r>
              <a:rPr lang="ja-JP" altLang="en-US" sz="2400" dirty="0"/>
              <a:t>」にとっては、</a:t>
            </a:r>
            <a:r>
              <a:rPr lang="ja-JP" altLang="en-US" dirty="0"/>
              <a:t>まだ</a:t>
            </a:r>
            <a:r>
              <a:rPr lang="ja-JP" altLang="en-US" sz="2400" dirty="0"/>
              <a:t>実務経験がないにも関わらず</a:t>
            </a:r>
            <a:r>
              <a:rPr lang="en-GB" altLang="ja-JP" sz="2400" dirty="0"/>
              <a:t> </a:t>
            </a:r>
            <a:r>
              <a:rPr lang="ja-JP" altLang="en-US" dirty="0"/>
              <a:t>、大学時代に獲得した</a:t>
            </a:r>
            <a:r>
              <a:rPr lang="ja-JP" altLang="en-US" sz="2400" dirty="0"/>
              <a:t>ソフト・ハードスキルをどのように志望企業で活かして貢献するかが問われるので、</a:t>
            </a:r>
            <a:r>
              <a:rPr lang="en-GB" altLang="ja-JP" sz="2400" dirty="0"/>
              <a:t>Can </a:t>
            </a:r>
            <a:r>
              <a:rPr lang="ja-JP" altLang="en-US" sz="2400" dirty="0"/>
              <a:t>の解像度が低く、</a:t>
            </a:r>
            <a:r>
              <a:rPr lang="en-GB" altLang="ja-JP" sz="2400" dirty="0"/>
              <a:t>Will </a:t>
            </a:r>
            <a:r>
              <a:rPr lang="ja-JP" altLang="en-US" sz="2400" dirty="0"/>
              <a:t>の裏付けも弱くなってしまう。</a:t>
            </a:r>
            <a:endParaRPr lang="en-GB" altLang="ja-JP" sz="2400" dirty="0"/>
          </a:p>
          <a:p>
            <a:pPr marL="0" lvl="1" indent="0">
              <a:buNone/>
            </a:pPr>
            <a:endParaRPr lang="en-GB" altLang="ja-JP" dirty="0"/>
          </a:p>
          <a:p>
            <a:pPr marL="0" lvl="1" indent="0">
              <a:buNone/>
            </a:pPr>
            <a:r>
              <a:rPr lang="ja-JP" altLang="en-US" dirty="0"/>
              <a:t>おしなべて、新卒就活では「</a:t>
            </a:r>
            <a:r>
              <a:rPr lang="ja-JP" altLang="en-US" b="1" dirty="0"/>
              <a:t>山登り型</a:t>
            </a:r>
            <a:r>
              <a:rPr lang="ja-JP" altLang="en-US" dirty="0"/>
              <a:t>」的な質問が多く、「</a:t>
            </a:r>
            <a:r>
              <a:rPr lang="ja-JP" altLang="en-US" b="1" dirty="0"/>
              <a:t>川下り型</a:t>
            </a:r>
            <a:r>
              <a:rPr lang="ja-JP" altLang="en-US" dirty="0"/>
              <a:t>」の就活生は苦労する傾向にあるようだ。</a:t>
            </a:r>
            <a:endParaRPr lang="en-GB" altLang="ja-JP" sz="2400" dirty="0"/>
          </a:p>
        </p:txBody>
      </p:sp>
    </p:spTree>
    <p:extLst>
      <p:ext uri="{BB962C8B-B14F-4D97-AF65-F5344CB8AC3E}">
        <p14:creationId xmlns:p14="http://schemas.microsoft.com/office/powerpoint/2010/main" val="1636781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US"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3.</a:t>
            </a:r>
            <a:r>
              <a:rPr kumimoji="0" lang="en-GB" altLang="ja-JP"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rPr>
              <a:t> </a:t>
            </a:r>
            <a:r>
              <a:rPr kumimoji="0" lang="ja-JP" altLang="en-US" sz="4300" b="1" i="0" u="none" strike="noStrike" kern="1200" cap="none" spc="0" normalizeH="0" baseline="0" noProof="0" dirty="0">
                <a:ln>
                  <a:noFill/>
                </a:ln>
                <a:solidFill>
                  <a:prstClr val="black"/>
                </a:solidFill>
                <a:effectLst/>
                <a:uLnTx/>
                <a:uFillTx/>
                <a:latin typeface="Calibri Light" panose="020F0302020204030204"/>
                <a:ea typeface="游ゴシック Light" panose="020B0300000000000000" pitchFamily="50" charset="-128"/>
                <a:cs typeface="+mj-cs"/>
                <a:sym typeface="Arial"/>
              </a:rPr>
              <a:t>能動的川下り型のキャリアプランニング</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fld id="{CC8B731A-DCF7-4273-BA1A-21517ACBB5E5}" type="slidenum">
              <a:rPr lang="en-GB" smtClean="0"/>
              <a:t>30</a:t>
            </a:fld>
            <a:endParaRPr lang="en-GB"/>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fontScale="77500" lnSpcReduction="20000"/>
          </a:bodyPr>
          <a:lstStyle/>
          <a:p>
            <a:pPr marL="0" lvl="1" indent="0">
              <a:buNone/>
            </a:pPr>
            <a:r>
              <a:rPr lang="ja-JP" altLang="en-US" sz="2800" b="1" dirty="0"/>
              <a:t>④</a:t>
            </a:r>
            <a:r>
              <a:rPr lang="en-GB" altLang="ja-JP" sz="2800" b="1" dirty="0"/>
              <a:t> </a:t>
            </a:r>
            <a:r>
              <a:rPr lang="ja-JP" altLang="en-US" sz="2800" b="1" dirty="0"/>
              <a:t>新卒就活と能動的川下り型キャリアプラン</a:t>
            </a:r>
          </a:p>
          <a:p>
            <a:pPr marL="0" lvl="1" indent="0">
              <a:buNone/>
            </a:pPr>
            <a:r>
              <a:rPr lang="ja-JP" altLang="en-US" sz="2400" dirty="0"/>
              <a:t>前頁で述べた世知辛さを踏まえ、以下の</a:t>
            </a:r>
            <a:r>
              <a:rPr lang="en-US" altLang="ja-JP" dirty="0"/>
              <a:t>4</a:t>
            </a:r>
            <a:r>
              <a:rPr lang="ja-JP" altLang="en-US" dirty="0"/>
              <a:t>つの手順を踏みご訪問者の悩みと不安を解消していった。</a:t>
            </a:r>
            <a:endParaRPr lang="en-GB" altLang="ja-JP" dirty="0"/>
          </a:p>
          <a:p>
            <a:pPr marL="0" lvl="1" indent="0">
              <a:buNone/>
            </a:pPr>
            <a:endParaRPr lang="en-GB" altLang="ja-JP" dirty="0"/>
          </a:p>
          <a:p>
            <a:pPr marL="360363" lvl="1" indent="-360363">
              <a:buFont typeface="+mj-lt"/>
              <a:buAutoNum type="arabicPeriod"/>
            </a:pPr>
            <a:r>
              <a:rPr lang="ja-JP" altLang="en-US" dirty="0"/>
              <a:t>漠然としたイメージのみで具体性がないことから感じる不安の解消</a:t>
            </a:r>
            <a:endParaRPr lang="en-GB" altLang="ja-JP" dirty="0"/>
          </a:p>
          <a:p>
            <a:pPr marL="625475" lvl="2" indent="-168275"/>
            <a:r>
              <a:rPr lang="ja-JP" altLang="en-US" dirty="0"/>
              <a:t>実務経験を積むまでは具体的なキャリアプランを描くのは不可能というのが大前提</a:t>
            </a:r>
            <a:endParaRPr lang="en-GB" altLang="ja-JP" dirty="0"/>
          </a:p>
          <a:p>
            <a:pPr marL="625475" lvl="2" indent="-168275"/>
            <a:r>
              <a:rPr lang="ja-JP" altLang="en-US" dirty="0"/>
              <a:t>不安は解消するのでなく受け入れるスタンスを持つことが大事！</a:t>
            </a:r>
          </a:p>
          <a:p>
            <a:pPr marL="360363" lvl="1" indent="-360363">
              <a:buFont typeface="+mj-lt"/>
              <a:buAutoNum type="arabicPeriod"/>
            </a:pPr>
            <a:r>
              <a:rPr lang="ja-JP" altLang="en-US" dirty="0"/>
              <a:t>ご自身の性格・習慣からくる自信喪失の解消</a:t>
            </a:r>
            <a:endParaRPr lang="en-GB" altLang="ja-JP" dirty="0"/>
          </a:p>
          <a:p>
            <a:pPr marL="625475" lvl="2" indent="-168275"/>
            <a:r>
              <a:rPr lang="ja-JP" altLang="en-US" dirty="0"/>
              <a:t>マイナス思考故他人に頼ってしまうことを悩まれていた</a:t>
            </a:r>
            <a:endParaRPr lang="en-GB" altLang="ja-JP" dirty="0"/>
          </a:p>
          <a:p>
            <a:pPr marL="625475" lvl="2" indent="-168275"/>
            <a:r>
              <a:rPr lang="ja-JP" altLang="en-US" dirty="0"/>
              <a:t>しかし、ただ頼るだけでなくご自身でも行動を起こされていたのでそれは「人任せ」とは違う</a:t>
            </a:r>
            <a:endParaRPr lang="en-GB" altLang="ja-JP" dirty="0"/>
          </a:p>
          <a:p>
            <a:pPr marL="625475" lvl="2" indent="-168275"/>
            <a:r>
              <a:rPr lang="ja-JP" altLang="en-US" dirty="0"/>
              <a:t>上記を踏まえ、人を頼ることは「人を信じる力がある」ことの証拠なので自信を持つべき！</a:t>
            </a:r>
          </a:p>
          <a:p>
            <a:pPr marL="360363" lvl="1" indent="-360363">
              <a:buFont typeface="+mj-lt"/>
              <a:buAutoNum type="arabicPeriod"/>
            </a:pPr>
            <a:r>
              <a:rPr lang="ja-JP" altLang="en-US" dirty="0"/>
              <a:t>学問と就職活動のギャップからくる自信喪失の解消</a:t>
            </a:r>
            <a:endParaRPr lang="en-GB" altLang="ja-JP" dirty="0"/>
          </a:p>
          <a:p>
            <a:pPr marL="625475" lvl="2" indent="-168275"/>
            <a:r>
              <a:rPr lang="ja-JP" altLang="en-US" dirty="0"/>
              <a:t>学問の成果と就活の成果は生み出し方の勝手が違うことのギャップに苦しまれていた</a:t>
            </a:r>
            <a:endParaRPr lang="en-GB" altLang="ja-JP" dirty="0"/>
          </a:p>
          <a:p>
            <a:pPr marL="625475" lvl="2" indent="-168275"/>
            <a:r>
              <a:rPr lang="ja-JP" altLang="en-US" dirty="0"/>
              <a:t>根気よく壁打ちする中で、就活で十分アピール材料になるソフトスキルをお持ちなので自信を持つべき！</a:t>
            </a:r>
          </a:p>
          <a:p>
            <a:pPr marL="360363" lvl="1" indent="-360363">
              <a:buFont typeface="+mj-lt"/>
              <a:buAutoNum type="arabicPeriod"/>
            </a:pPr>
            <a:r>
              <a:rPr lang="ja-JP" altLang="en-US" b="1" dirty="0"/>
              <a:t>川下り型のキャリアプラン</a:t>
            </a:r>
            <a:r>
              <a:rPr lang="ja-JP" altLang="en-US" dirty="0"/>
              <a:t>の解像度の低さからくる自信喪失の解消</a:t>
            </a:r>
            <a:endParaRPr lang="en-GB" altLang="ja-JP" dirty="0"/>
          </a:p>
          <a:p>
            <a:pPr marL="625475" lvl="2" indent="-168275"/>
            <a:r>
              <a:rPr lang="en-GB" altLang="ja-JP" dirty="0"/>
              <a:t>1 -3 </a:t>
            </a:r>
            <a:r>
              <a:rPr lang="ja-JP" altLang="en-US" dirty="0"/>
              <a:t>で洗い出した </a:t>
            </a:r>
            <a:r>
              <a:rPr lang="en-GB" altLang="ja-JP" dirty="0"/>
              <a:t>Will/Can </a:t>
            </a:r>
            <a:r>
              <a:rPr lang="ja-JP" altLang="en-US" dirty="0"/>
              <a:t>と志望職種の親和性をすり合わせた</a:t>
            </a:r>
            <a:endParaRPr lang="en-GB" altLang="ja-JP" dirty="0"/>
          </a:p>
          <a:p>
            <a:pPr marL="625475" lvl="2" indent="-168275"/>
            <a:r>
              <a:rPr lang="ja-JP" altLang="en-US" dirty="0"/>
              <a:t>ここまで解像度を高めれば志望業界と企業は自力で選別出来るのでご訪問者様の宿題にした</a:t>
            </a:r>
            <a:endParaRPr lang="en-GB" altLang="ja-JP" dirty="0"/>
          </a:p>
        </p:txBody>
      </p:sp>
    </p:spTree>
    <p:extLst>
      <p:ext uri="{BB962C8B-B14F-4D97-AF65-F5344CB8AC3E}">
        <p14:creationId xmlns:p14="http://schemas.microsoft.com/office/powerpoint/2010/main" val="23650775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US" altLang="ja-JP" b="1" dirty="0"/>
              <a:t>4.</a:t>
            </a:r>
            <a:r>
              <a:rPr lang="en-GB" altLang="ja-JP" b="1" dirty="0"/>
              <a:t> </a:t>
            </a:r>
            <a:r>
              <a:rPr lang="ja-JP" altLang="en-US" b="1" dirty="0">
                <a:sym typeface="Arial"/>
              </a:rPr>
              <a:t>「お前はどうしたいの？」</a:t>
            </a:r>
            <a:endParaRPr lang="en-GB" dirty="0"/>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fld id="{CC8B731A-DCF7-4273-BA1A-21517ACBB5E5}" type="slidenum">
              <a:rPr lang="en-GB" smtClean="0"/>
              <a:t>31</a:t>
            </a:fld>
            <a:endParaRPr lang="en-GB" dirty="0"/>
          </a:p>
        </p:txBody>
      </p:sp>
    </p:spTree>
    <p:extLst>
      <p:ext uri="{BB962C8B-B14F-4D97-AF65-F5344CB8AC3E}">
        <p14:creationId xmlns:p14="http://schemas.microsoft.com/office/powerpoint/2010/main" val="37505213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t>4.</a:t>
            </a:r>
            <a:r>
              <a:rPr lang="en-GB" altLang="ja-JP" b="1" dirty="0"/>
              <a:t> </a:t>
            </a:r>
            <a:r>
              <a:rPr lang="ja-JP" altLang="en-US" b="1" dirty="0">
                <a:sym typeface="Arial"/>
              </a:rPr>
              <a:t>「お前はどうしたいの？」</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fld id="{CC8B731A-DCF7-4273-BA1A-21517ACBB5E5}" type="slidenum">
              <a:rPr lang="en-GB" smtClean="0"/>
              <a:t>32</a:t>
            </a:fld>
            <a:endParaRPr lang="en-GB"/>
          </a:p>
        </p:txBody>
      </p:sp>
      <p:sp>
        <p:nvSpPr>
          <p:cNvPr id="7" name="コンテンツ プレースホルダー 2">
            <a:extLst>
              <a:ext uri="{FF2B5EF4-FFF2-40B4-BE49-F238E27FC236}">
                <a16:creationId xmlns:a16="http://schemas.microsoft.com/office/drawing/2014/main" id="{92490B7A-6E18-A5F8-262B-EABFCBE9F2CD}"/>
              </a:ext>
            </a:extLst>
          </p:cNvPr>
          <p:cNvSpPr>
            <a:spLocks noGrp="1"/>
          </p:cNvSpPr>
          <p:nvPr>
            <p:ph idx="1"/>
          </p:nvPr>
        </p:nvSpPr>
        <p:spPr>
          <a:xfrm>
            <a:off x="838200" y="1825625"/>
            <a:ext cx="10515600" cy="4351338"/>
          </a:xfrm>
        </p:spPr>
        <p:txBody>
          <a:bodyPr>
            <a:normAutofit/>
          </a:bodyPr>
          <a:lstStyle/>
          <a:p>
            <a:pPr marL="0" lvl="1" indent="0">
              <a:buNone/>
            </a:pPr>
            <a:r>
              <a:rPr lang="ja-JP" altLang="en-US" dirty="0"/>
              <a:t>おなじみ、リクルートの圧倒的当事者意識を表す文句「お前はどうしたいの？」である。</a:t>
            </a:r>
            <a:endParaRPr lang="en-GB" altLang="ja-JP" dirty="0"/>
          </a:p>
          <a:p>
            <a:pPr marL="0" lvl="1" indent="0">
              <a:buNone/>
            </a:pPr>
            <a:r>
              <a:rPr lang="ja-JP" altLang="en-US" dirty="0"/>
              <a:t>個人的に「お前」呼ばわりとタメ口に嫌悪感を覚えるので、「あなたは具体的にどのようなアプローチが効果的だとお考えですか？」くらいに表現をアップデートして頂きたい。</a:t>
            </a:r>
            <a:endParaRPr lang="en-GB" altLang="ja-JP" dirty="0"/>
          </a:p>
          <a:p>
            <a:pPr marL="0" lvl="1" indent="0">
              <a:buNone/>
            </a:pPr>
            <a:endParaRPr lang="en-GB" altLang="ja-JP" dirty="0"/>
          </a:p>
          <a:p>
            <a:pPr marL="0" lvl="1" indent="0">
              <a:buNone/>
            </a:pPr>
            <a:r>
              <a:rPr lang="ja-JP" altLang="en-US" dirty="0"/>
              <a:t>閑話休題、上記問いかけは私なりの解釈で咀嚼すると、</a:t>
            </a:r>
            <a:r>
              <a:rPr lang="en-US" altLang="ja-JP" dirty="0"/>
              <a:t> (</a:t>
            </a:r>
            <a:r>
              <a:rPr lang="ja-JP" altLang="en-US" dirty="0"/>
              <a:t>曲解かもしれないが</a:t>
            </a:r>
            <a:r>
              <a:rPr lang="en-US" altLang="ja-JP" dirty="0"/>
              <a:t>)</a:t>
            </a:r>
            <a:r>
              <a:rPr lang="ja-JP" altLang="en-US" dirty="0"/>
              <a:t>キャリアプランニングをする上でとても重要な</a:t>
            </a:r>
            <a:r>
              <a:rPr lang="en-GB" altLang="ja-JP" dirty="0"/>
              <a:t> 5W1H </a:t>
            </a:r>
            <a:r>
              <a:rPr lang="ja-JP" altLang="en-US" dirty="0"/>
              <a:t>を一言にまとめたものであると理解した。</a:t>
            </a:r>
            <a:endParaRPr lang="en-US" altLang="ja-JP" dirty="0"/>
          </a:p>
        </p:txBody>
      </p:sp>
    </p:spTree>
    <p:extLst>
      <p:ext uri="{BB962C8B-B14F-4D97-AF65-F5344CB8AC3E}">
        <p14:creationId xmlns:p14="http://schemas.microsoft.com/office/powerpoint/2010/main" val="575440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t>4.</a:t>
            </a:r>
            <a:r>
              <a:rPr lang="en-GB" altLang="ja-JP" b="1" dirty="0"/>
              <a:t> </a:t>
            </a:r>
            <a:r>
              <a:rPr lang="ja-JP" altLang="en-US" b="1" dirty="0">
                <a:sym typeface="Arial"/>
              </a:rPr>
              <a:t>「お前はどうしたいの？」</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fld id="{CC8B731A-DCF7-4273-BA1A-21517ACBB5E5}" type="slidenum">
              <a:rPr lang="en-GB" smtClean="0"/>
              <a:t>33</a:t>
            </a:fld>
            <a:endParaRPr lang="en-GB"/>
          </a:p>
        </p:txBody>
      </p:sp>
      <p:sp>
        <p:nvSpPr>
          <p:cNvPr id="7" name="コンテンツ プレースホルダー 2">
            <a:extLst>
              <a:ext uri="{FF2B5EF4-FFF2-40B4-BE49-F238E27FC236}">
                <a16:creationId xmlns:a16="http://schemas.microsoft.com/office/drawing/2014/main" id="{92490B7A-6E18-A5F8-262B-EABFCBE9F2CD}"/>
              </a:ext>
            </a:extLst>
          </p:cNvPr>
          <p:cNvSpPr>
            <a:spLocks noGrp="1"/>
          </p:cNvSpPr>
          <p:nvPr>
            <p:ph idx="1"/>
          </p:nvPr>
        </p:nvSpPr>
        <p:spPr>
          <a:xfrm>
            <a:off x="838200" y="1825625"/>
            <a:ext cx="10515600" cy="4351338"/>
          </a:xfrm>
        </p:spPr>
        <p:txBody>
          <a:bodyPr>
            <a:normAutofit/>
          </a:bodyPr>
          <a:lstStyle/>
          <a:p>
            <a:pPr marL="268288" lvl="1" indent="-268288"/>
            <a:r>
              <a:rPr lang="en-US" altLang="ja-JP" b="1" dirty="0"/>
              <a:t>What: </a:t>
            </a:r>
            <a:r>
              <a:rPr lang="ja-JP" altLang="en-US" b="1" dirty="0"/>
              <a:t>仕事で何を実現したいか？</a:t>
            </a:r>
          </a:p>
          <a:p>
            <a:pPr marL="725488" lvl="2" indent="-268288"/>
            <a:r>
              <a:rPr lang="ja-JP" altLang="en-US" dirty="0"/>
              <a:t>仕事内容</a:t>
            </a:r>
            <a:r>
              <a:rPr lang="en-US" altLang="ja-JP" dirty="0"/>
              <a:t>: </a:t>
            </a:r>
            <a:r>
              <a:rPr lang="ja-JP" altLang="en-US" dirty="0"/>
              <a:t>エンドユーザのペルソナを意識した上で、具体的にどんな価値を提供したいか？</a:t>
            </a:r>
            <a:endParaRPr lang="en-GB" altLang="ja-JP" dirty="0"/>
          </a:p>
          <a:p>
            <a:pPr marL="725488" lvl="2" indent="-268288"/>
            <a:r>
              <a:rPr lang="ja-JP" altLang="en-US" dirty="0"/>
              <a:t>また、一緒に働く仲間・チームにどのような影響を与えたいか？</a:t>
            </a:r>
            <a:endParaRPr lang="en-GB" altLang="ja-JP" dirty="0"/>
          </a:p>
          <a:p>
            <a:pPr marL="268288" lvl="1" indent="-268288"/>
            <a:r>
              <a:rPr lang="en-US" altLang="ja-JP" b="1" dirty="0"/>
              <a:t>How: </a:t>
            </a:r>
            <a:r>
              <a:rPr lang="ja-JP" altLang="en-US" b="1" dirty="0"/>
              <a:t>その仕事でしたいことを実現するためにどのような手法を採るか？</a:t>
            </a:r>
          </a:p>
          <a:p>
            <a:pPr marL="725488" lvl="2" indent="-268288"/>
            <a:r>
              <a:rPr lang="ja-JP" altLang="en-US" dirty="0"/>
              <a:t>プロセス</a:t>
            </a:r>
            <a:r>
              <a:rPr lang="en-US" altLang="ja-JP" dirty="0"/>
              <a:t>: Can </a:t>
            </a:r>
            <a:r>
              <a:rPr lang="ja-JP" altLang="en-US" dirty="0"/>
              <a:t>に基づく強みを活かし、価値提供のためにどう仕事を進めるか？</a:t>
            </a:r>
          </a:p>
          <a:p>
            <a:pPr marL="268288" lvl="1" indent="-268288"/>
            <a:r>
              <a:rPr lang="en-US" altLang="ja-JP" b="1" dirty="0"/>
              <a:t>Where: </a:t>
            </a:r>
            <a:r>
              <a:rPr lang="ja-JP" altLang="en-US" b="1" dirty="0"/>
              <a:t>その仕事でしたいことを実現するためにはどの職種・業界・企業で働きたいか？</a:t>
            </a:r>
          </a:p>
          <a:p>
            <a:pPr marL="725488" lvl="2" indent="-268288"/>
            <a:r>
              <a:rPr lang="ja-JP" altLang="en-US" dirty="0"/>
              <a:t>職業選択</a:t>
            </a:r>
            <a:r>
              <a:rPr lang="en-US" altLang="ja-JP" dirty="0"/>
              <a:t>: </a:t>
            </a:r>
            <a:r>
              <a:rPr lang="ja-JP" altLang="en-US" dirty="0"/>
              <a:t>どのような環境であれば上記 </a:t>
            </a:r>
            <a:r>
              <a:rPr lang="en-GB" altLang="ja-JP" dirty="0"/>
              <a:t>1</a:t>
            </a:r>
            <a:r>
              <a:rPr lang="en-US" altLang="ja-JP" dirty="0"/>
              <a:t>W1H </a:t>
            </a:r>
            <a:r>
              <a:rPr lang="ja-JP" altLang="en-US" dirty="0"/>
              <a:t>を最も実現出来るか？</a:t>
            </a:r>
          </a:p>
        </p:txBody>
      </p:sp>
    </p:spTree>
    <p:extLst>
      <p:ext uri="{BB962C8B-B14F-4D97-AF65-F5344CB8AC3E}">
        <p14:creationId xmlns:p14="http://schemas.microsoft.com/office/powerpoint/2010/main" val="33525991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t>4.</a:t>
            </a:r>
            <a:r>
              <a:rPr lang="en-GB" altLang="ja-JP" b="1" dirty="0"/>
              <a:t> </a:t>
            </a:r>
            <a:r>
              <a:rPr lang="ja-JP" altLang="en-US" b="1" dirty="0">
                <a:sym typeface="Arial"/>
              </a:rPr>
              <a:t>「お前はどうしたいの？」</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fld id="{CC8B731A-DCF7-4273-BA1A-21517ACBB5E5}" type="slidenum">
              <a:rPr lang="en-GB" smtClean="0"/>
              <a:t>34</a:t>
            </a:fld>
            <a:endParaRPr lang="en-GB"/>
          </a:p>
        </p:txBody>
      </p:sp>
      <p:sp>
        <p:nvSpPr>
          <p:cNvPr id="7" name="コンテンツ プレースホルダー 2">
            <a:extLst>
              <a:ext uri="{FF2B5EF4-FFF2-40B4-BE49-F238E27FC236}">
                <a16:creationId xmlns:a16="http://schemas.microsoft.com/office/drawing/2014/main" id="{92490B7A-6E18-A5F8-262B-EABFCBE9F2CD}"/>
              </a:ext>
            </a:extLst>
          </p:cNvPr>
          <p:cNvSpPr>
            <a:spLocks noGrp="1"/>
          </p:cNvSpPr>
          <p:nvPr>
            <p:ph idx="1"/>
          </p:nvPr>
        </p:nvSpPr>
        <p:spPr>
          <a:xfrm>
            <a:off x="838200" y="1825625"/>
            <a:ext cx="10515600" cy="4351338"/>
          </a:xfrm>
        </p:spPr>
        <p:txBody>
          <a:bodyPr>
            <a:normAutofit lnSpcReduction="10000"/>
          </a:bodyPr>
          <a:lstStyle/>
          <a:p>
            <a:pPr marL="268288" lvl="1" indent="-268288"/>
            <a:r>
              <a:rPr lang="en-US" altLang="ja-JP" b="1" dirty="0"/>
              <a:t>Why: </a:t>
            </a:r>
            <a:r>
              <a:rPr lang="ja-JP" altLang="en-US" b="1" dirty="0"/>
              <a:t>何故その仕事</a:t>
            </a:r>
            <a:r>
              <a:rPr lang="en-US" altLang="ja-JP" b="1" dirty="0"/>
              <a:t>(</a:t>
            </a:r>
            <a:r>
              <a:rPr lang="ja-JP" altLang="en-US" b="1" dirty="0"/>
              <a:t>職種・業界・企業</a:t>
            </a:r>
            <a:r>
              <a:rPr lang="en-US" altLang="ja-JP" b="1" dirty="0"/>
              <a:t>)</a:t>
            </a:r>
            <a:r>
              <a:rPr lang="ja-JP" altLang="en-US" b="1" dirty="0"/>
              <a:t>を志望するか？</a:t>
            </a:r>
          </a:p>
          <a:p>
            <a:pPr marL="725488" lvl="2" indent="-268288"/>
            <a:r>
              <a:rPr lang="ja-JP" altLang="en-US" dirty="0"/>
              <a:t>志望理由</a:t>
            </a:r>
            <a:r>
              <a:rPr lang="en-US" altLang="ja-JP" dirty="0"/>
              <a:t>: </a:t>
            </a:r>
            <a:r>
              <a:rPr lang="ja-JP" altLang="en-US" dirty="0"/>
              <a:t>前頁 </a:t>
            </a:r>
            <a:r>
              <a:rPr lang="en-US" altLang="ja-JP" dirty="0"/>
              <a:t>2W1H </a:t>
            </a:r>
            <a:r>
              <a:rPr lang="ja-JP" altLang="en-US" dirty="0"/>
              <a:t>が明確になれば自ずとこの項目の答えは出る</a:t>
            </a:r>
          </a:p>
          <a:p>
            <a:pPr marL="725488" lvl="2" indent="-268288"/>
            <a:r>
              <a:rPr lang="ja-JP" altLang="en-US" dirty="0"/>
              <a:t>「何故その仕事</a:t>
            </a:r>
            <a:r>
              <a:rPr lang="en-US" altLang="ja-JP" dirty="0"/>
              <a:t>(</a:t>
            </a:r>
            <a:r>
              <a:rPr lang="ja-JP" altLang="en-US" dirty="0"/>
              <a:t>職種・業界・企業</a:t>
            </a:r>
            <a:r>
              <a:rPr lang="en-US" altLang="ja-JP" dirty="0"/>
              <a:t>)</a:t>
            </a:r>
            <a:r>
              <a:rPr lang="ja-JP" altLang="en-US" dirty="0"/>
              <a:t>でなければならないのか？」と同義</a:t>
            </a:r>
          </a:p>
          <a:p>
            <a:pPr marL="268288" lvl="1" indent="-268288"/>
            <a:r>
              <a:rPr lang="en-US" altLang="ja-JP" b="1" dirty="0"/>
              <a:t>Who: </a:t>
            </a:r>
            <a:r>
              <a:rPr lang="ja-JP" altLang="en-US" b="1" dirty="0"/>
              <a:t>あなたはどのような人物か？</a:t>
            </a:r>
          </a:p>
          <a:p>
            <a:pPr marL="725488" lvl="2" indent="-268288"/>
            <a:r>
              <a:rPr lang="ja-JP" altLang="en-US" dirty="0"/>
              <a:t>強み</a:t>
            </a:r>
            <a:r>
              <a:rPr lang="en-US" altLang="ja-JP" dirty="0"/>
              <a:t>: </a:t>
            </a:r>
            <a:r>
              <a:rPr lang="ja-JP" altLang="en-US" dirty="0"/>
              <a:t>あなたの強みは仕事をする上でどのように活かすか？</a:t>
            </a:r>
            <a:endParaRPr lang="en-GB" altLang="ja-JP" dirty="0"/>
          </a:p>
          <a:p>
            <a:pPr marL="1077913" lvl="3" indent="-179388"/>
            <a:r>
              <a:rPr lang="ja-JP" altLang="en-US" dirty="0"/>
              <a:t>それを強みとお考えになる理由は何か？</a:t>
            </a:r>
            <a:endParaRPr lang="en-GB" altLang="ja-JP" dirty="0"/>
          </a:p>
          <a:p>
            <a:pPr marL="725488" lvl="2" indent="-268288"/>
            <a:r>
              <a:rPr lang="ja-JP" altLang="en-US" dirty="0"/>
              <a:t>弱み・改善点</a:t>
            </a:r>
            <a:r>
              <a:rPr lang="en-US" altLang="ja-JP" dirty="0"/>
              <a:t>: </a:t>
            </a:r>
            <a:r>
              <a:rPr lang="ja-JP" altLang="en-US" dirty="0"/>
              <a:t>ご自身の弱みは何だと思うか？</a:t>
            </a:r>
            <a:endParaRPr lang="en-GB" altLang="ja-JP" dirty="0"/>
          </a:p>
          <a:p>
            <a:pPr marL="1182688" lvl="3" indent="-268288"/>
            <a:r>
              <a:rPr lang="ja-JP" altLang="en-US" dirty="0"/>
              <a:t>それを克服するためにどのような行動を取っているか？</a:t>
            </a:r>
          </a:p>
          <a:p>
            <a:pPr marL="268288" lvl="1" indent="-268288"/>
            <a:r>
              <a:rPr lang="en-US" altLang="ja-JP" b="1" dirty="0"/>
              <a:t>When: </a:t>
            </a:r>
            <a:r>
              <a:rPr lang="ja-JP" altLang="en-US" b="1" dirty="0"/>
              <a:t>いつまでにその仕事でしたいことを実現したいか？</a:t>
            </a:r>
          </a:p>
          <a:p>
            <a:pPr marL="725488" lvl="2" indent="-268288"/>
            <a:r>
              <a:rPr lang="ja-JP" altLang="en-US" dirty="0"/>
              <a:t>期限付き目標</a:t>
            </a:r>
            <a:r>
              <a:rPr lang="en-US" altLang="ja-JP" dirty="0"/>
              <a:t>: </a:t>
            </a:r>
            <a:r>
              <a:rPr lang="ja-JP" altLang="en-US" dirty="0"/>
              <a:t>設定したゴールから逆算して</a:t>
            </a:r>
            <a:r>
              <a:rPr lang="en-US" altLang="ja-JP" dirty="0"/>
              <a:t>5</a:t>
            </a:r>
            <a:r>
              <a:rPr lang="ja-JP" altLang="en-US" dirty="0"/>
              <a:t>年後・</a:t>
            </a:r>
            <a:r>
              <a:rPr lang="en-US" altLang="ja-JP" dirty="0"/>
              <a:t>3</a:t>
            </a:r>
            <a:r>
              <a:rPr lang="ja-JP" altLang="en-US" dirty="0"/>
              <a:t>年後・</a:t>
            </a:r>
            <a:r>
              <a:rPr lang="en-US" altLang="ja-JP" dirty="0"/>
              <a:t>1</a:t>
            </a:r>
            <a:r>
              <a:rPr lang="ja-JP" altLang="en-US" dirty="0"/>
              <a:t>年後にはどんな知見やスキルを持っていて、そのためには月次・週次・日次レベルで何をしなければならないか？</a:t>
            </a:r>
            <a:endParaRPr lang="en-GB" altLang="ja-JP" dirty="0"/>
          </a:p>
          <a:p>
            <a:pPr marL="725488" lvl="2" indent="-268288"/>
            <a:r>
              <a:rPr lang="ja-JP" altLang="en-US" dirty="0"/>
              <a:t>リクルートの </a:t>
            </a:r>
            <a:r>
              <a:rPr lang="en-US" altLang="ja-JP" dirty="0"/>
              <a:t>WCM </a:t>
            </a:r>
            <a:r>
              <a:rPr lang="ja-JP" altLang="en-US" dirty="0"/>
              <a:t>の人事評価制度がまさにこのフォーマット</a:t>
            </a:r>
          </a:p>
        </p:txBody>
      </p:sp>
    </p:spTree>
    <p:extLst>
      <p:ext uri="{BB962C8B-B14F-4D97-AF65-F5344CB8AC3E}">
        <p14:creationId xmlns:p14="http://schemas.microsoft.com/office/powerpoint/2010/main" val="31717409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t>5</a:t>
            </a:r>
            <a:r>
              <a:rPr lang="en-US" altLang="ja-JP" b="1" dirty="0"/>
              <a:t>.</a:t>
            </a:r>
            <a:r>
              <a:rPr lang="en-GB" altLang="ja-JP" b="1" dirty="0"/>
              <a:t> </a:t>
            </a:r>
            <a:r>
              <a:rPr lang="ja-JP" altLang="en-US" b="1" dirty="0">
                <a:sym typeface="Arial"/>
              </a:rPr>
              <a:t>まとめ</a:t>
            </a:r>
            <a:endParaRPr lang="en-GB" b="1" dirty="0"/>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fld id="{CC8B731A-DCF7-4273-BA1A-21517ACBB5E5}" type="slidenum">
              <a:rPr lang="en-GB" smtClean="0"/>
              <a:t>35</a:t>
            </a:fld>
            <a:endParaRPr lang="en-GB" dirty="0"/>
          </a:p>
        </p:txBody>
      </p:sp>
    </p:spTree>
    <p:extLst>
      <p:ext uri="{BB962C8B-B14F-4D97-AF65-F5344CB8AC3E}">
        <p14:creationId xmlns:p14="http://schemas.microsoft.com/office/powerpoint/2010/main" val="21787880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t>5</a:t>
            </a:r>
            <a:r>
              <a:rPr lang="en-US" altLang="ja-JP" b="1" dirty="0"/>
              <a:t>.</a:t>
            </a:r>
            <a:r>
              <a:rPr lang="en-GB" altLang="ja-JP" b="1" dirty="0"/>
              <a:t> </a:t>
            </a:r>
            <a:r>
              <a:rPr lang="ja-JP" altLang="en-US" b="1" dirty="0">
                <a:sym typeface="Arial"/>
              </a:rPr>
              <a:t>まとめ</a:t>
            </a:r>
            <a:endParaRPr lang="en-GB" b="1" dirty="0"/>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fld id="{CC8B731A-DCF7-4273-BA1A-21517ACBB5E5}" type="slidenum">
              <a:rPr lang="en-GB" smtClean="0"/>
              <a:t>36</a:t>
            </a:fld>
            <a:endParaRPr lang="en-GB"/>
          </a:p>
        </p:txBody>
      </p:sp>
      <p:sp>
        <p:nvSpPr>
          <p:cNvPr id="7" name="コンテンツ プレースホルダー 2">
            <a:extLst>
              <a:ext uri="{FF2B5EF4-FFF2-40B4-BE49-F238E27FC236}">
                <a16:creationId xmlns:a16="http://schemas.microsoft.com/office/drawing/2014/main" id="{92490B7A-6E18-A5F8-262B-EABFCBE9F2CD}"/>
              </a:ext>
            </a:extLst>
          </p:cNvPr>
          <p:cNvSpPr>
            <a:spLocks noGrp="1"/>
          </p:cNvSpPr>
          <p:nvPr>
            <p:ph idx="1"/>
          </p:nvPr>
        </p:nvSpPr>
        <p:spPr>
          <a:xfrm>
            <a:off x="838200" y="1825625"/>
            <a:ext cx="10515600" cy="4351338"/>
          </a:xfrm>
        </p:spPr>
        <p:txBody>
          <a:bodyPr>
            <a:normAutofit fontScale="92500" lnSpcReduction="10000"/>
          </a:bodyPr>
          <a:lstStyle/>
          <a:p>
            <a:pPr marL="360363" lvl="1" indent="-360363">
              <a:buFont typeface="+mj-lt"/>
              <a:buAutoNum type="arabicPeriod"/>
            </a:pPr>
            <a:r>
              <a:rPr lang="ja-JP" altLang="en-US" dirty="0"/>
              <a:t>キャリアプランニングにおけるタイプは大別すると</a:t>
            </a:r>
            <a:r>
              <a:rPr lang="en-US" altLang="ja-JP" dirty="0"/>
              <a:t>2</a:t>
            </a:r>
            <a:r>
              <a:rPr lang="ja-JP" altLang="en-US" dirty="0"/>
              <a:t>つに分類される。</a:t>
            </a:r>
            <a:endParaRPr lang="en-GB" altLang="ja-JP" dirty="0"/>
          </a:p>
          <a:p>
            <a:pPr marL="717550" lvl="2" indent="-260350"/>
            <a:r>
              <a:rPr lang="ja-JP" altLang="en-US" b="1" dirty="0"/>
              <a:t>山登り型</a:t>
            </a:r>
            <a:endParaRPr lang="en-GB" altLang="ja-JP" b="1" dirty="0"/>
          </a:p>
          <a:p>
            <a:pPr marL="717550" lvl="2" indent="-260350"/>
            <a:r>
              <a:rPr lang="ja-JP" altLang="en-US" b="1" dirty="0"/>
              <a:t>川下り型</a:t>
            </a:r>
            <a:endParaRPr lang="en-GB" altLang="ja-JP" b="1" dirty="0"/>
          </a:p>
          <a:p>
            <a:pPr marL="360363" lvl="1" indent="-360363">
              <a:buFont typeface="+mj-lt"/>
              <a:buAutoNum type="arabicPeriod"/>
            </a:pPr>
            <a:r>
              <a:rPr lang="ja-JP" altLang="en-US" dirty="0"/>
              <a:t>「</a:t>
            </a:r>
            <a:r>
              <a:rPr lang="ja-JP" altLang="en-US" b="1" dirty="0"/>
              <a:t>川下り型</a:t>
            </a:r>
            <a:r>
              <a:rPr lang="ja-JP" altLang="en-US" dirty="0"/>
              <a:t>」を細分化するとさらに</a:t>
            </a:r>
            <a:r>
              <a:rPr lang="en-US" altLang="ja-JP" dirty="0"/>
              <a:t>2</a:t>
            </a:r>
            <a:r>
              <a:rPr lang="ja-JP" altLang="en-US" dirty="0"/>
              <a:t>つに分類される。</a:t>
            </a:r>
            <a:endParaRPr lang="en-GB" altLang="ja-JP" dirty="0"/>
          </a:p>
          <a:p>
            <a:pPr marL="717550" lvl="2" indent="-260350"/>
            <a:r>
              <a:rPr lang="ja-JP" altLang="en-US" b="1" dirty="0"/>
              <a:t>能動的川下り型</a:t>
            </a:r>
            <a:endParaRPr lang="en-GB" altLang="ja-JP" b="1" dirty="0"/>
          </a:p>
          <a:p>
            <a:pPr marL="717550" lvl="2" indent="-260350"/>
            <a:r>
              <a:rPr lang="ja-JP" altLang="en-US" b="1" dirty="0"/>
              <a:t>受動的川下り型</a:t>
            </a:r>
            <a:endParaRPr lang="en-GB" altLang="ja-JP" b="1" dirty="0"/>
          </a:p>
          <a:p>
            <a:pPr marL="360363" lvl="1" indent="-360363">
              <a:buFont typeface="+mj-lt"/>
              <a:buAutoNum type="arabicPeriod"/>
            </a:pPr>
            <a:r>
              <a:rPr lang="ja-JP" altLang="en-US" dirty="0"/>
              <a:t>「</a:t>
            </a:r>
            <a:r>
              <a:rPr lang="ja-JP" altLang="en-US" b="1" dirty="0"/>
              <a:t>能動型川下り型</a:t>
            </a:r>
            <a:r>
              <a:rPr lang="ja-JP" altLang="en-US" dirty="0"/>
              <a:t>」は以下の</a:t>
            </a:r>
            <a:r>
              <a:rPr lang="en-US" altLang="ja-JP" dirty="0"/>
              <a:t>3</a:t>
            </a:r>
            <a:r>
              <a:rPr lang="ja-JP" altLang="en-US" dirty="0"/>
              <a:t>つを強く意識して行動する必要がある。</a:t>
            </a:r>
            <a:endParaRPr lang="en-GB" altLang="ja-JP" dirty="0"/>
          </a:p>
          <a:p>
            <a:pPr marL="717550" lvl="2" indent="-260350"/>
            <a:r>
              <a:rPr lang="ja-JP" altLang="en-US" dirty="0"/>
              <a:t>理想像と現状のギャップの棚卸しと方向性の修正の定期的な実施</a:t>
            </a:r>
            <a:endParaRPr lang="en-GB" altLang="ja-JP" dirty="0"/>
          </a:p>
          <a:p>
            <a:pPr marL="717550" lvl="2" indent="-260350"/>
            <a:r>
              <a:rPr lang="ja-JP" altLang="en-US" dirty="0"/>
              <a:t>能動的な仕事のスタンスの意識と行動</a:t>
            </a:r>
            <a:endParaRPr lang="en-GB" altLang="ja-JP" dirty="0"/>
          </a:p>
          <a:p>
            <a:pPr marL="717550" lvl="2" indent="-260350"/>
            <a:r>
              <a:rPr lang="ja-JP" altLang="en-US" dirty="0"/>
              <a:t>自分ならではの</a:t>
            </a:r>
            <a:r>
              <a:rPr lang="en-GB" altLang="ja-JP" dirty="0"/>
              <a:t> Will </a:t>
            </a:r>
            <a:r>
              <a:rPr lang="ja-JP" altLang="en-US" dirty="0"/>
              <a:t>と</a:t>
            </a:r>
            <a:r>
              <a:rPr lang="en-GB" altLang="ja-JP" dirty="0"/>
              <a:t> Can </a:t>
            </a:r>
            <a:r>
              <a:rPr lang="ja-JP" altLang="en-US" dirty="0"/>
              <a:t>の模索の意識と行動</a:t>
            </a:r>
            <a:endParaRPr lang="en-GB" altLang="ja-JP" dirty="0"/>
          </a:p>
          <a:p>
            <a:pPr marL="360363" lvl="1" indent="-360363">
              <a:buFont typeface="+mj-lt"/>
              <a:buAutoNum type="arabicPeriod"/>
            </a:pPr>
            <a:r>
              <a:rPr lang="ja-JP" altLang="en-US" dirty="0"/>
              <a:t>「</a:t>
            </a:r>
            <a:r>
              <a:rPr lang="ja-JP" altLang="en-US" b="1" dirty="0"/>
              <a:t>川下り型</a:t>
            </a:r>
            <a:r>
              <a:rPr lang="ja-JP" altLang="en-US" dirty="0"/>
              <a:t>」キャリアプランにおける新卒就活は、適切な相談相手と壁打ちして自己分析・適性理解・職種研究を行うと良い。</a:t>
            </a:r>
            <a:endParaRPr lang="en-GB" altLang="ja-JP" dirty="0"/>
          </a:p>
          <a:p>
            <a:pPr marL="360363" lvl="1" indent="-360363">
              <a:buFont typeface="+mj-lt"/>
              <a:buAutoNum type="arabicPeriod"/>
            </a:pPr>
            <a:r>
              <a:rPr lang="ja-JP" altLang="en-US" dirty="0"/>
              <a:t>「お前はどうしたいの？」にはキャリアプランニングの金科玉条となる</a:t>
            </a:r>
            <a:r>
              <a:rPr lang="en-GB" altLang="ja-JP" dirty="0"/>
              <a:t> 5W1H </a:t>
            </a:r>
            <a:r>
              <a:rPr lang="ja-JP" altLang="en-US" dirty="0"/>
              <a:t>が含まれている</a:t>
            </a:r>
            <a:r>
              <a:rPr lang="en-US" altLang="ja-JP" dirty="0"/>
              <a:t>(</a:t>
            </a:r>
            <a:r>
              <a:rPr lang="ja-JP" altLang="en-US" dirty="0"/>
              <a:t>個人的解釈</a:t>
            </a:r>
            <a:r>
              <a:rPr lang="en-US" altLang="ja-JP" dirty="0"/>
              <a:t>)</a:t>
            </a:r>
            <a:endParaRPr lang="en-GB" altLang="ja-JP" dirty="0"/>
          </a:p>
        </p:txBody>
      </p:sp>
    </p:spTree>
    <p:extLst>
      <p:ext uri="{BB962C8B-B14F-4D97-AF65-F5344CB8AC3E}">
        <p14:creationId xmlns:p14="http://schemas.microsoft.com/office/powerpoint/2010/main" val="35154773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t>6. </a:t>
            </a:r>
            <a:r>
              <a:rPr lang="ja-JP" altLang="en-US" b="1" dirty="0">
                <a:latin typeface="+mn-lt"/>
              </a:rPr>
              <a:t>参考文献</a:t>
            </a:r>
            <a:endParaRPr lang="en-GB" b="1" dirty="0">
              <a:latin typeface="+mn-lt"/>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fld id="{CC8B731A-DCF7-4273-BA1A-21517ACBB5E5}" type="slidenum">
              <a:rPr lang="en-GB" smtClean="0"/>
              <a:t>37</a:t>
            </a:fld>
            <a:endParaRPr lang="en-GB" dirty="0"/>
          </a:p>
        </p:txBody>
      </p:sp>
    </p:spTree>
    <p:extLst>
      <p:ext uri="{BB962C8B-B14F-4D97-AF65-F5344CB8AC3E}">
        <p14:creationId xmlns:p14="http://schemas.microsoft.com/office/powerpoint/2010/main" val="30289575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t>6. </a:t>
            </a:r>
            <a:r>
              <a:rPr lang="ja-JP" altLang="en-US" b="1" dirty="0">
                <a:latin typeface="+mn-lt"/>
              </a:rPr>
              <a:t>参考文献</a:t>
            </a:r>
            <a:endParaRPr lang="en-GB" b="1" dirty="0">
              <a:latin typeface="+mn-lt"/>
            </a:endParaRPr>
          </a:p>
        </p:txBody>
      </p:sp>
      <p:sp>
        <p:nvSpPr>
          <p:cNvPr id="4" name="スライド番号プレースホルダー 3">
            <a:extLst>
              <a:ext uri="{FF2B5EF4-FFF2-40B4-BE49-F238E27FC236}">
                <a16:creationId xmlns:a16="http://schemas.microsoft.com/office/drawing/2014/main" id="{1E96154D-0AC4-47C9-B8EE-32ED60A2B6D3}"/>
              </a:ext>
            </a:extLst>
          </p:cNvPr>
          <p:cNvSpPr>
            <a:spLocks noGrp="1"/>
          </p:cNvSpPr>
          <p:nvPr>
            <p:ph type="sldNum" sz="quarter" idx="12"/>
          </p:nvPr>
        </p:nvSpPr>
        <p:spPr/>
        <p:txBody>
          <a:bodyPr/>
          <a:lstStyle/>
          <a:p>
            <a:fld id="{CC8B731A-DCF7-4273-BA1A-21517ACBB5E5}" type="slidenum">
              <a:rPr lang="en-GB" smtClean="0"/>
              <a:t>38</a:t>
            </a:fld>
            <a:endParaRPr lang="en-GB"/>
          </a:p>
        </p:txBody>
      </p:sp>
      <p:sp>
        <p:nvSpPr>
          <p:cNvPr id="7" name="コンテンツ プレースホルダー 6">
            <a:extLst>
              <a:ext uri="{FF2B5EF4-FFF2-40B4-BE49-F238E27FC236}">
                <a16:creationId xmlns:a16="http://schemas.microsoft.com/office/drawing/2014/main" id="{0A3A8506-B2C4-48D9-8B66-4EF42A11727B}"/>
              </a:ext>
            </a:extLst>
          </p:cNvPr>
          <p:cNvSpPr>
            <a:spLocks noGrp="1"/>
          </p:cNvSpPr>
          <p:nvPr>
            <p:ph idx="1"/>
          </p:nvPr>
        </p:nvSpPr>
        <p:spPr/>
        <p:txBody>
          <a:bodyPr>
            <a:normAutofit/>
          </a:bodyPr>
          <a:lstStyle/>
          <a:p>
            <a:pPr marL="268288" lvl="1" indent="-268288">
              <a:spcBef>
                <a:spcPts val="0"/>
              </a:spcBef>
              <a:buClr>
                <a:schemeClr val="dk1"/>
              </a:buClr>
              <a:buSzPts val="2800"/>
            </a:pPr>
            <a:r>
              <a:rPr lang="ja-JP" altLang="en-US" dirty="0">
                <a:hlinkClick r:id="rId3"/>
              </a:rPr>
              <a:t>リクルートの事業トップが考える</a:t>
            </a:r>
            <a:r>
              <a:rPr lang="en-GB" altLang="ja-JP" dirty="0">
                <a:hlinkClick r:id="rId3"/>
              </a:rPr>
              <a:t>"</a:t>
            </a:r>
            <a:r>
              <a:rPr lang="ja-JP" altLang="en-US" dirty="0">
                <a:hlinkClick r:id="rId3"/>
              </a:rPr>
              <a:t>キャリア形成</a:t>
            </a:r>
            <a:r>
              <a:rPr lang="en-GB" altLang="ja-JP" dirty="0">
                <a:hlinkClick r:id="rId3"/>
              </a:rPr>
              <a:t>"</a:t>
            </a:r>
            <a:r>
              <a:rPr lang="ja-JP" altLang="en-US" dirty="0">
                <a:hlinkClick r:id="rId3"/>
              </a:rPr>
              <a:t>とは？今の仕事を「辞める／辞めない」の分岐で見えたもの</a:t>
            </a:r>
            <a:endParaRPr lang="en-GB" altLang="ja-JP" dirty="0"/>
          </a:p>
          <a:p>
            <a:pPr marL="725488" lvl="2" indent="-268288">
              <a:spcBef>
                <a:spcPts val="0"/>
              </a:spcBef>
              <a:buClr>
                <a:schemeClr val="dk1"/>
              </a:buClr>
              <a:buSzPts val="2800"/>
            </a:pPr>
            <a:r>
              <a:rPr lang="ja-JP" altLang="en-US" dirty="0"/>
              <a:t>最終アクセス日</a:t>
            </a:r>
            <a:r>
              <a:rPr lang="en-GB" altLang="ja-JP" dirty="0"/>
              <a:t>: 2024</a:t>
            </a:r>
            <a:r>
              <a:rPr lang="ja-JP" altLang="en-US" dirty="0"/>
              <a:t>年</a:t>
            </a:r>
            <a:r>
              <a:rPr lang="en-GB" altLang="ja-JP" dirty="0"/>
              <a:t>07</a:t>
            </a:r>
            <a:r>
              <a:rPr lang="ja-JP" altLang="en-US" dirty="0"/>
              <a:t>月</a:t>
            </a:r>
            <a:r>
              <a:rPr lang="en-GB" altLang="ja-JP" dirty="0"/>
              <a:t>18</a:t>
            </a:r>
            <a:r>
              <a:rPr lang="ja-JP" altLang="en-US" dirty="0"/>
              <a:t>日</a:t>
            </a:r>
            <a:endParaRPr lang="en-GB" altLang="ja-JP" dirty="0"/>
          </a:p>
        </p:txBody>
      </p:sp>
    </p:spTree>
    <p:extLst>
      <p:ext uri="{BB962C8B-B14F-4D97-AF65-F5344CB8AC3E}">
        <p14:creationId xmlns:p14="http://schemas.microsoft.com/office/powerpoint/2010/main" val="30412465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BE6BD63-86C0-4411-B65D-4080E9A95274}"/>
              </a:ext>
            </a:extLst>
          </p:cNvPr>
          <p:cNvSpPr>
            <a:spLocks noGrp="1"/>
          </p:cNvSpPr>
          <p:nvPr>
            <p:ph idx="1"/>
          </p:nvPr>
        </p:nvSpPr>
        <p:spPr/>
        <p:txBody>
          <a:bodyPr>
            <a:normAutofit/>
          </a:bodyPr>
          <a:lstStyle/>
          <a:p>
            <a:pPr marL="0" indent="0" algn="ctr">
              <a:buNone/>
            </a:pPr>
            <a:endParaRPr lang="en-GB" sz="5400" b="1" dirty="0"/>
          </a:p>
          <a:p>
            <a:pPr marL="0" indent="0" algn="ctr">
              <a:buNone/>
            </a:pPr>
            <a:r>
              <a:rPr lang="en-GB" sz="5400" b="1" dirty="0"/>
              <a:t>EOD</a:t>
            </a:r>
          </a:p>
        </p:txBody>
      </p:sp>
      <p:sp>
        <p:nvSpPr>
          <p:cNvPr id="4" name="スライド番号プレースホルダー 3">
            <a:extLst>
              <a:ext uri="{FF2B5EF4-FFF2-40B4-BE49-F238E27FC236}">
                <a16:creationId xmlns:a16="http://schemas.microsoft.com/office/drawing/2014/main" id="{B2458194-12B8-434A-8D6D-E01520C89AF4}"/>
              </a:ext>
            </a:extLst>
          </p:cNvPr>
          <p:cNvSpPr>
            <a:spLocks noGrp="1"/>
          </p:cNvSpPr>
          <p:nvPr>
            <p:ph type="sldNum" sz="quarter" idx="12"/>
          </p:nvPr>
        </p:nvSpPr>
        <p:spPr/>
        <p:txBody>
          <a:bodyPr/>
          <a:lstStyle/>
          <a:p>
            <a:fld id="{CC8B731A-DCF7-4273-BA1A-21517ACBB5E5}" type="slidenum">
              <a:rPr lang="en-GB" smtClean="0"/>
              <a:t>39</a:t>
            </a:fld>
            <a:endParaRPr lang="en-GB"/>
          </a:p>
        </p:txBody>
      </p:sp>
    </p:spTree>
    <p:extLst>
      <p:ext uri="{BB962C8B-B14F-4D97-AF65-F5344CB8AC3E}">
        <p14:creationId xmlns:p14="http://schemas.microsoft.com/office/powerpoint/2010/main" val="38313576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604</TotalTime>
  <Words>6945</Words>
  <Application>Microsoft Office PowerPoint</Application>
  <PresentationFormat>Widescreen</PresentationFormat>
  <Paragraphs>361</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-apple-system</vt:lpstr>
      <vt:lpstr>Arial</vt:lpstr>
      <vt:lpstr>Calibri</vt:lpstr>
      <vt:lpstr>Calibri Light</vt:lpstr>
      <vt:lpstr>Office テーマ</vt:lpstr>
      <vt:lpstr>キャリアプランニングを 哲学する</vt:lpstr>
      <vt:lpstr>自己紹介</vt:lpstr>
      <vt:lpstr>免許 / 資格</vt:lpstr>
      <vt:lpstr>スキルスタック</vt:lpstr>
      <vt:lpstr>職歴</vt:lpstr>
      <vt:lpstr>職歴</vt:lpstr>
      <vt:lpstr>国際交流活動</vt:lpstr>
      <vt:lpstr>コンテンツ</vt:lpstr>
      <vt:lpstr>1. プロローグ</vt:lpstr>
      <vt:lpstr>1. プロローグ</vt:lpstr>
      <vt:lpstr>1. プロローグ</vt:lpstr>
      <vt:lpstr>2. 山登り型 vs. 川下り型</vt:lpstr>
      <vt:lpstr>2. 山登り型 vs. 川下り型</vt:lpstr>
      <vt:lpstr>2. 山登り型 vs. 川下り型</vt:lpstr>
      <vt:lpstr>2. 山登り型 vs. 川下り型</vt:lpstr>
      <vt:lpstr>2. 山登り型 vs. 川下り型</vt:lpstr>
      <vt:lpstr>2. 山登り型 vs. 川下り型</vt:lpstr>
      <vt:lpstr>2. 山登り型 vs. 川下り型</vt:lpstr>
      <vt:lpstr>3. 能動的川下り型のキャリアプランニング</vt:lpstr>
      <vt:lpstr>3. 能動的川下り型のキャリアプランニング</vt:lpstr>
      <vt:lpstr>3. 能動的川下り型のキャリアプランニング</vt:lpstr>
      <vt:lpstr>3. 能動的川下り型のキャリアプランニング</vt:lpstr>
      <vt:lpstr>3. 能動的川下り型のキャリアプランニング</vt:lpstr>
      <vt:lpstr>3. 能動的川下り型のキャリアプランニング</vt:lpstr>
      <vt:lpstr>3. 能動的川下り型のキャリアプランニング</vt:lpstr>
      <vt:lpstr>3. 能動的川下り型のキャリアプランニング</vt:lpstr>
      <vt:lpstr>3. 能動的川下り型のキャリアプランニング</vt:lpstr>
      <vt:lpstr>3. 能動的川下り型のキャリアプランニング</vt:lpstr>
      <vt:lpstr>3. 能動的川下り型のキャリアプランニング</vt:lpstr>
      <vt:lpstr>3. 能動的川下り型のキャリアプランニング</vt:lpstr>
      <vt:lpstr>4. 「お前はどうしたいの？」</vt:lpstr>
      <vt:lpstr>4. 「お前はどうしたいの？」</vt:lpstr>
      <vt:lpstr>4. 「お前はどうしたいの？」</vt:lpstr>
      <vt:lpstr>4. 「お前はどうしたいの？」</vt:lpstr>
      <vt:lpstr>5. まとめ</vt:lpstr>
      <vt:lpstr>5. まとめ</vt:lpstr>
      <vt:lpstr>6. 参考文献</vt:lpstr>
      <vt:lpstr>6. 参考文献</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Hayato Ishida</dc:creator>
  <cp:lastModifiedBy>Hayato Ishida</cp:lastModifiedBy>
  <cp:revision>246</cp:revision>
  <dcterms:modified xsi:type="dcterms:W3CDTF">2025-09-01T03:36:50Z</dcterms:modified>
</cp:coreProperties>
</file>