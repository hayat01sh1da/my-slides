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87" r:id="rId3"/>
    <p:sldId id="388" r:id="rId4"/>
    <p:sldId id="426" r:id="rId5"/>
    <p:sldId id="428" r:id="rId6"/>
    <p:sldId id="427" r:id="rId7"/>
    <p:sldId id="280" r:id="rId8"/>
    <p:sldId id="311" r:id="rId9"/>
    <p:sldId id="259" r:id="rId10"/>
    <p:sldId id="330" r:id="rId11"/>
    <p:sldId id="410" r:id="rId12"/>
    <p:sldId id="325" r:id="rId13"/>
    <p:sldId id="354" r:id="rId14"/>
    <p:sldId id="326" r:id="rId15"/>
    <p:sldId id="336" r:id="rId16"/>
    <p:sldId id="411" r:id="rId17"/>
    <p:sldId id="412" r:id="rId18"/>
    <p:sldId id="413" r:id="rId19"/>
    <p:sldId id="414" r:id="rId20"/>
    <p:sldId id="415" r:id="rId21"/>
    <p:sldId id="416" r:id="rId22"/>
    <p:sldId id="357" r:id="rId23"/>
    <p:sldId id="358" r:id="rId24"/>
    <p:sldId id="417" r:id="rId25"/>
    <p:sldId id="418" r:id="rId26"/>
    <p:sldId id="419" r:id="rId27"/>
    <p:sldId id="420" r:id="rId28"/>
    <p:sldId id="421" r:id="rId29"/>
    <p:sldId id="359" r:id="rId30"/>
    <p:sldId id="360" r:id="rId31"/>
    <p:sldId id="422" r:id="rId32"/>
    <p:sldId id="423" r:id="rId33"/>
    <p:sldId id="424" r:id="rId34"/>
    <p:sldId id="425" r:id="rId35"/>
    <p:sldId id="408" r:id="rId36"/>
    <p:sldId id="409" r:id="rId37"/>
    <p:sldId id="385" r:id="rId38"/>
    <p:sldId id="386" r:id="rId39"/>
    <p:sldId id="328" r:id="rId40"/>
    <p:sldId id="295" r:id="rId41"/>
    <p:sldId id="28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0F5E3D9D-C3A9-4181-9B61-EE91E3EE1276}"/>
    <pc:docChg chg="custSel modSld">
      <pc:chgData name="Hayato Ishida" userId="585fa0fa6384767c" providerId="LiveId" clId="{0F5E3D9D-C3A9-4181-9B61-EE91E3EE1276}" dt="2025-05-03T11:27:49.679" v="9"/>
      <pc:docMkLst>
        <pc:docMk/>
      </pc:docMkLst>
      <pc:sldChg chg="addSp delSp modSp mod">
        <pc:chgData name="Hayato Ishida" userId="585fa0fa6384767c" providerId="LiveId" clId="{0F5E3D9D-C3A9-4181-9B61-EE91E3EE1276}" dt="2025-05-03T11:27:49.679" v="9"/>
        <pc:sldMkLst>
          <pc:docMk/>
          <pc:sldMk cId="2567433019" sldId="280"/>
        </pc:sldMkLst>
      </pc:sldChg>
      <pc:sldChg chg="addSp delSp modSp mod">
        <pc:chgData name="Hayato Ishida" userId="585fa0fa6384767c" providerId="LiveId" clId="{0F5E3D9D-C3A9-4181-9B61-EE91E3EE1276}" dt="2025-05-03T11:27:15.993" v="8"/>
        <pc:sldMkLst>
          <pc:docMk/>
          <pc:sldMk cId="155858466" sldId="286"/>
        </pc:sldMkLst>
      </pc:sldChg>
      <pc:sldChg chg="addSp delSp modSp mod">
        <pc:chgData name="Hayato Ishida" userId="585fa0fa6384767c" providerId="LiveId" clId="{0F5E3D9D-C3A9-4181-9B61-EE91E3EE1276}" dt="2025-05-03T11:26:58.462" v="7"/>
        <pc:sldMkLst>
          <pc:docMk/>
          <pc:sldMk cId="654251065" sldId="287"/>
        </pc:sldMkLst>
      </pc:sldChg>
    </pc:docChg>
  </pc:docChgLst>
  <pc:docChgLst>
    <pc:chgData name="Hayato Ishida" userId="585fa0fa6384767c" providerId="LiveId" clId="{2961D8C2-7E05-4306-919D-D21D12D605FD}"/>
    <pc:docChg chg="custSel addSld delSld modSld sldOrd">
      <pc:chgData name="Hayato Ishida" userId="585fa0fa6384767c" providerId="LiveId" clId="{2961D8C2-7E05-4306-919D-D21D12D605FD}" dt="2025-09-01T03:37:35.764" v="12"/>
      <pc:docMkLst>
        <pc:docMk/>
      </pc:docMkLst>
      <pc:sldChg chg="del">
        <pc:chgData name="Hayato Ishida" userId="585fa0fa6384767c" providerId="LiveId" clId="{2961D8C2-7E05-4306-919D-D21D12D605FD}" dt="2025-08-31T18:01:05.552" v="2" actId="47"/>
        <pc:sldMkLst>
          <pc:docMk/>
          <pc:sldMk cId="155858466" sldId="286"/>
        </pc:sldMkLst>
      </pc:sldChg>
      <pc:sldChg chg="addSp delSp modSp mod">
        <pc:chgData name="Hayato Ishida" userId="585fa0fa6384767c" providerId="LiveId" clId="{2961D8C2-7E05-4306-919D-D21D12D605FD}" dt="2025-08-31T18:03:39.757" v="8"/>
        <pc:sldMkLst>
          <pc:docMk/>
          <pc:sldMk cId="654251065" sldId="287"/>
        </pc:sldMkLst>
        <pc:spChg chg="add del mod">
          <ac:chgData name="Hayato Ishida" userId="585fa0fa6384767c" providerId="LiveId" clId="{2961D8C2-7E05-4306-919D-D21D12D605FD}" dt="2025-08-31T18:01:02.646" v="1" actId="478"/>
          <ac:spMkLst>
            <pc:docMk/>
            <pc:sldMk cId="654251065" sldId="287"/>
            <ac:spMk id="3" creationId="{3AD6ADFC-6A1D-1859-4F39-A04F6DAE13C5}"/>
          </ac:spMkLst>
        </pc:spChg>
        <pc:spChg chg="add del mod">
          <ac:chgData name="Hayato Ishida" userId="585fa0fa6384767c" providerId="LiveId" clId="{2961D8C2-7E05-4306-919D-D21D12D605FD}" dt="2025-08-31T18:01:02.646" v="1" actId="478"/>
          <ac:spMkLst>
            <pc:docMk/>
            <pc:sldMk cId="654251065" sldId="287"/>
            <ac:spMk id="5" creationId="{DE6B3BBB-1B53-327C-CBF6-D5DED5F30B71}"/>
          </ac:spMkLst>
        </pc:spChg>
        <pc:spChg chg="del">
          <ac:chgData name="Hayato Ishida" userId="585fa0fa6384767c" providerId="LiveId" clId="{2961D8C2-7E05-4306-919D-D21D12D605FD}" dt="2025-08-31T18:01:02.189" v="0" actId="478"/>
          <ac:spMkLst>
            <pc:docMk/>
            <pc:sldMk cId="654251065" sldId="287"/>
            <ac:spMk id="6" creationId="{AB1379A7-235C-F62D-8F39-B21580DAAA26}"/>
          </ac:spMkLst>
        </pc:spChg>
        <pc:spChg chg="del">
          <ac:chgData name="Hayato Ishida" userId="585fa0fa6384767c" providerId="LiveId" clId="{2961D8C2-7E05-4306-919D-D21D12D605FD}" dt="2025-08-31T18:01:02.189" v="0" actId="478"/>
          <ac:spMkLst>
            <pc:docMk/>
            <pc:sldMk cId="654251065" sldId="287"/>
            <ac:spMk id="7" creationId="{639C420A-ECEB-6F58-AEF0-7368D1858DF5}"/>
          </ac:spMkLst>
        </pc:spChg>
        <pc:spChg chg="del">
          <ac:chgData name="Hayato Ishida" userId="585fa0fa6384767c" providerId="LiveId" clId="{2961D8C2-7E05-4306-919D-D21D12D605FD}" dt="2025-08-31T18:01:02.189" v="0" actId="478"/>
          <ac:spMkLst>
            <pc:docMk/>
            <pc:sldMk cId="654251065" sldId="287"/>
            <ac:spMk id="8" creationId="{EDD4AE62-8079-094C-5181-0FC3289695B2}"/>
          </ac:spMkLst>
        </pc:spChg>
        <pc:spChg chg="add mod">
          <ac:chgData name="Hayato Ishida" userId="585fa0fa6384767c" providerId="LiveId" clId="{2961D8C2-7E05-4306-919D-D21D12D605FD}" dt="2025-08-31T18:03:39.757" v="8"/>
          <ac:spMkLst>
            <pc:docMk/>
            <pc:sldMk cId="654251065" sldId="287"/>
            <ac:spMk id="9" creationId="{1C3A6F97-064C-82E3-DFE8-3D5E463D75DA}"/>
          </ac:spMkLst>
        </pc:spChg>
        <pc:spChg chg="add mod">
          <ac:chgData name="Hayato Ishida" userId="585fa0fa6384767c" providerId="LiveId" clId="{2961D8C2-7E05-4306-919D-D21D12D605FD}" dt="2025-08-31T18:03:39.757" v="8"/>
          <ac:spMkLst>
            <pc:docMk/>
            <pc:sldMk cId="654251065" sldId="287"/>
            <ac:spMk id="10" creationId="{8976B286-6825-12C5-1793-A9B5D0137A9D}"/>
          </ac:spMkLst>
        </pc:spChg>
        <pc:spChg chg="add mod">
          <ac:chgData name="Hayato Ishida" userId="585fa0fa6384767c" providerId="LiveId" clId="{2961D8C2-7E05-4306-919D-D21D12D605FD}" dt="2025-08-31T18:03:39.757" v="8"/>
          <ac:spMkLst>
            <pc:docMk/>
            <pc:sldMk cId="654251065" sldId="287"/>
            <ac:spMk id="11" creationId="{5F20DFE4-1B52-51FB-09F2-FA7AD838B9CA}"/>
          </ac:spMkLst>
        </pc:spChg>
        <pc:picChg chg="del">
          <ac:chgData name="Hayato Ishida" userId="585fa0fa6384767c" providerId="LiveId" clId="{2961D8C2-7E05-4306-919D-D21D12D605FD}" dt="2025-08-31T18:01:02.189" v="0" actId="478"/>
          <ac:picMkLst>
            <pc:docMk/>
            <pc:sldMk cId="654251065" sldId="287"/>
            <ac:picMk id="12" creationId="{2C45BE66-4F5E-EBFF-74FD-E8D4307F75C3}"/>
          </ac:picMkLst>
        </pc:picChg>
        <pc:picChg chg="add mod">
          <ac:chgData name="Hayato Ishida" userId="585fa0fa6384767c" providerId="LiveId" clId="{2961D8C2-7E05-4306-919D-D21D12D605FD}" dt="2025-08-31T18:03:39.757" v="8"/>
          <ac:picMkLst>
            <pc:docMk/>
            <pc:sldMk cId="654251065" sldId="287"/>
            <ac:picMk id="13" creationId="{1778280F-B59B-882A-A44D-E1445535C004}"/>
          </ac:picMkLst>
        </pc:picChg>
      </pc:sldChg>
      <pc:sldChg chg="del">
        <pc:chgData name="Hayato Ishida" userId="585fa0fa6384767c" providerId="LiveId" clId="{2961D8C2-7E05-4306-919D-D21D12D605FD}" dt="2025-08-31T18:01:05.552" v="2" actId="47"/>
        <pc:sldMkLst>
          <pc:docMk/>
          <pc:sldMk cId="3064566856" sldId="387"/>
        </pc:sldMkLst>
      </pc:sldChg>
      <pc:sldChg chg="addSp modSp add ord">
        <pc:chgData name="Hayato Ishida" userId="585fa0fa6384767c" providerId="LiveId" clId="{2961D8C2-7E05-4306-919D-D21D12D605FD}" dt="2025-08-31T18:05:39.830" v="9"/>
        <pc:sldMkLst>
          <pc:docMk/>
          <pc:sldMk cId="4104847500" sldId="426"/>
        </pc:sldMkLst>
        <pc:spChg chg="add mod">
          <ac:chgData name="Hayato Ishida" userId="585fa0fa6384767c" providerId="LiveId" clId="{2961D8C2-7E05-4306-919D-D21D12D605FD}" dt="2025-08-31T18:05:39.830" v="9"/>
          <ac:spMkLst>
            <pc:docMk/>
            <pc:sldMk cId="4104847500" sldId="426"/>
            <ac:spMk id="2" creationId="{15367EE6-508C-D928-9C84-30493DAFA195}"/>
          </ac:spMkLst>
        </pc:spChg>
        <pc:spChg chg="add mod">
          <ac:chgData name="Hayato Ishida" userId="585fa0fa6384767c" providerId="LiveId" clId="{2961D8C2-7E05-4306-919D-D21D12D605FD}" dt="2025-08-31T18:05:39.830" v="9"/>
          <ac:spMkLst>
            <pc:docMk/>
            <pc:sldMk cId="4104847500" sldId="426"/>
            <ac:spMk id="3" creationId="{F60BF229-F7F2-220C-0E88-8AD53C8367D0}"/>
          </ac:spMkLst>
        </pc:spChg>
        <pc:spChg chg="add mod">
          <ac:chgData name="Hayato Ishida" userId="585fa0fa6384767c" providerId="LiveId" clId="{2961D8C2-7E05-4306-919D-D21D12D605FD}" dt="2025-08-31T18:05:39.830" v="9"/>
          <ac:spMkLst>
            <pc:docMk/>
            <pc:sldMk cId="4104847500" sldId="426"/>
            <ac:spMk id="4" creationId="{ACFF7FAF-87A0-7592-8FA1-24A21EEBE9BD}"/>
          </ac:spMkLst>
        </pc:spChg>
      </pc:sldChg>
      <pc:sldChg chg="addSp modSp add">
        <pc:chgData name="Hayato Ishida" userId="585fa0fa6384767c" providerId="LiveId" clId="{2961D8C2-7E05-4306-919D-D21D12D605FD}" dt="2025-09-01T03:37:35.764" v="12"/>
        <pc:sldMkLst>
          <pc:docMk/>
          <pc:sldMk cId="342855549" sldId="427"/>
        </pc:sldMkLst>
        <pc:spChg chg="add mod">
          <ac:chgData name="Hayato Ishida" userId="585fa0fa6384767c" providerId="LiveId" clId="{2961D8C2-7E05-4306-919D-D21D12D605FD}" dt="2025-08-31T18:09:10.973" v="11"/>
          <ac:spMkLst>
            <pc:docMk/>
            <pc:sldMk cId="342855549" sldId="427"/>
            <ac:spMk id="2" creationId="{373C12B9-69A4-5E1E-48E1-C1E53F13964D}"/>
          </ac:spMkLst>
        </pc:spChg>
        <pc:spChg chg="add mod">
          <ac:chgData name="Hayato Ishida" userId="585fa0fa6384767c" providerId="LiveId" clId="{2961D8C2-7E05-4306-919D-D21D12D605FD}" dt="2025-08-31T18:09:10.973" v="11"/>
          <ac:spMkLst>
            <pc:docMk/>
            <pc:sldMk cId="342855549" sldId="427"/>
            <ac:spMk id="3" creationId="{61123038-1680-C733-A9F2-8D074BE06BE9}"/>
          </ac:spMkLst>
        </pc:spChg>
        <pc:graphicFrameChg chg="add mod">
          <ac:chgData name="Hayato Ishida" userId="585fa0fa6384767c" providerId="LiveId" clId="{2961D8C2-7E05-4306-919D-D21D12D605FD}" dt="2025-09-01T03:37:35.764" v="12"/>
          <ac:graphicFrameMkLst>
            <pc:docMk/>
            <pc:sldMk cId="342855549" sldId="427"/>
            <ac:graphicFrameMk id="4" creationId="{A596E4D4-61A8-A645-8CDA-6BE3F1EE79A7}"/>
          </ac:graphicFrameMkLst>
        </pc:graphicFrameChg>
      </pc:sldChg>
      <pc:sldChg chg="addSp modSp add">
        <pc:chgData name="Hayato Ishida" userId="585fa0fa6384767c" providerId="LiveId" clId="{2961D8C2-7E05-4306-919D-D21D12D605FD}" dt="2025-09-01T03:37:35.764" v="12"/>
        <pc:sldMkLst>
          <pc:docMk/>
          <pc:sldMk cId="4225951674" sldId="428"/>
        </pc:sldMkLst>
        <pc:spChg chg="add mod">
          <ac:chgData name="Hayato Ishida" userId="585fa0fa6384767c" providerId="LiveId" clId="{2961D8C2-7E05-4306-919D-D21D12D605FD}" dt="2025-08-31T18:08:16.296" v="10"/>
          <ac:spMkLst>
            <pc:docMk/>
            <pc:sldMk cId="4225951674" sldId="428"/>
            <ac:spMk id="2" creationId="{ACFE2230-BAEC-EFB2-6444-EDCA607E1D33}"/>
          </ac:spMkLst>
        </pc:spChg>
        <pc:spChg chg="add mod">
          <ac:chgData name="Hayato Ishida" userId="585fa0fa6384767c" providerId="LiveId" clId="{2961D8C2-7E05-4306-919D-D21D12D605FD}" dt="2025-08-31T18:08:16.296" v="10"/>
          <ac:spMkLst>
            <pc:docMk/>
            <pc:sldMk cId="4225951674" sldId="428"/>
            <ac:spMk id="3" creationId="{F5011140-9EC1-151D-53DE-B8407B36CAAF}"/>
          </ac:spMkLst>
        </pc:spChg>
        <pc:graphicFrameChg chg="add mod">
          <ac:chgData name="Hayato Ishida" userId="585fa0fa6384767c" providerId="LiveId" clId="{2961D8C2-7E05-4306-919D-D21D12D605FD}" dt="2025-09-01T03:37:35.764" v="12"/>
          <ac:graphicFrameMkLst>
            <pc:docMk/>
            <pc:sldMk cId="4225951674" sldId="428"/>
            <ac:graphicFrameMk id="4" creationId="{DE191EC1-499B-6FB2-74E0-E6C2FC89B71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science-of-corporate-technical-documentation-for-software-engineers-theorie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 Target="slide9.xml"/><Relationship Id="rId7" Type="http://schemas.openxmlformats.org/officeDocument/2006/relationships/slide" Target="slide29.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14.xml"/><Relationship Id="rId10" Type="http://schemas.openxmlformats.org/officeDocument/2006/relationships/slide" Target="slide39.xml"/><Relationship Id="rId4" Type="http://schemas.openxmlformats.org/officeDocument/2006/relationships/slide" Target="slide12.xml"/><Relationship Id="rId9" Type="http://schemas.openxmlformats.org/officeDocument/2006/relationships/slide" Target="slide3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edium.com/datasheetest-by-tdsmaker/basics-of-technical-documentation-for-engineers-36deab8d1220"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medium.com/datasheetest-by-tdsmaker?source=post_page-----36deab8d1220--------------------------------"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www.docswell.com/s/hayat01sh1da/5M12VG-science-of-corporate-technical-documentation-for-software-engineers-theories#p20" TargetMode="External"/><Relationship Id="rId3" Type="http://schemas.openxmlformats.org/officeDocument/2006/relationships/hyperlink" Target="https://www.docswell.com/s/hayat01sh1da/5M12VG-science-of-corporate-technical-documentation-for-software-engineers-theories#p15" TargetMode="External"/><Relationship Id="rId7" Type="http://schemas.openxmlformats.org/officeDocument/2006/relationships/hyperlink" Target="https://www.docswell.com/s/hayat01sh1da/5M12VG-science-of-corporate-technical-documentation-for-software-engineers-theories#p19"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5M12VG-science-of-corporate-technical-documentation-for-software-engineers-theories#p18" TargetMode="External"/><Relationship Id="rId5" Type="http://schemas.openxmlformats.org/officeDocument/2006/relationships/hyperlink" Target="https://www.docswell.com/s/hayat01sh1da/5M12VG-science-of-corporate-technical-documentation-for-software-engineers-theories#p17" TargetMode="External"/><Relationship Id="rId4" Type="http://schemas.openxmlformats.org/officeDocument/2006/relationships/hyperlink" Target="https://www.docswell.com/s/hayat01sh1da/5M12VG-science-of-corporate-technical-documentation-for-software-engineers-theories#p16"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5"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5"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docswell.com/s/hayat01sh1da/5M12VG-science-of-corporate-technical-documentation-for-software-engineers-theories#p16"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23" TargetMode="External"/><Relationship Id="rId7" Type="http://schemas.openxmlformats.org/officeDocument/2006/relationships/hyperlink" Target="https://www.docswell.com/s/hayat01sh1da/5M12VG-science-of-corporate-technical-documentation-for-software-engineers-theories#p27"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5M12VG-science-of-corporate-technical-documentation-for-software-engineers-theories#p26" TargetMode="External"/><Relationship Id="rId5" Type="http://schemas.openxmlformats.org/officeDocument/2006/relationships/hyperlink" Target="https://www.docswell.com/s/hayat01sh1da/5M12VG-science-of-corporate-technical-documentation-for-software-engineers-theories#p25" TargetMode="External"/><Relationship Id="rId4" Type="http://schemas.openxmlformats.org/officeDocument/2006/relationships/hyperlink" Target="https://www.docswell.com/s/hayat01sh1da/5M12VG-science-of-corporate-technical-documentation-for-software-engineers-theories#p24"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5"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ww.docswell.com/s/hayat01sh1da/5M12VG-science-of-corporate-technical-documentation-for-software-engineers-theories#p17" TargetMode="External"/><Relationship Id="rId4" Type="http://schemas.openxmlformats.org/officeDocument/2006/relationships/hyperlink" Target="https://www.docswell.com/s/hayat01sh1da/5M12VG-science-of-corporate-technical-documentation-for-software-engineers-theories#p16"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9"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9"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4"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30"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ww.docswell.com/s/hayat01sh1da/5M12VG-science-of-corporate-technical-documentation-for-software-engineers-theories#p33" TargetMode="External"/><Relationship Id="rId4" Type="http://schemas.openxmlformats.org/officeDocument/2006/relationships/hyperlink" Target="https://www.docswell.com/s/hayat01sh1da/5M12VG-science-of-corporate-technical-documentation-for-software-engineers-theories#p32"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5"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ww.docswell.com/s/hayat01sh1da/5M12VG-science-of-corporate-technical-documentation-for-software-engineers-theories#p17" TargetMode="External"/><Relationship Id="rId4" Type="http://schemas.openxmlformats.org/officeDocument/2006/relationships/hyperlink" Target="https://www.docswell.com/s/hayat01sh1da/5M12VG-science-of-corporate-technical-documentation-for-software-engineers-theories#p16"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www.docswell.com/s/hayat01sh1da/KRXJ9J-science-of-corporate-technical-documentation-for-software-engineers-practices" TargetMode="External"/><Relationship Id="rId3" Type="http://schemas.openxmlformats.org/officeDocument/2006/relationships/hyperlink" Target="https://www.docswell.com/s/hayat01sh1da/KRXJ9J-science-of-corporate-technical-documentation-for-software-engineers-practices#p13" TargetMode="External"/><Relationship Id="rId7" Type="http://schemas.openxmlformats.org/officeDocument/2006/relationships/hyperlink" Target="https://www.docswell.com/s/hayat01sh1da/KRXJ9J-science-of-corporate-technical-documentation-for-software-engineers-practices#p21"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KRXJ9J-science-of-corporate-technical-documentation-for-software-engineers-practices#p19" TargetMode="External"/><Relationship Id="rId5" Type="http://schemas.openxmlformats.org/officeDocument/2006/relationships/hyperlink" Target="https://www.docswell.com/s/hayat01sh1da/KRXJ9J-science-of-corporate-technical-documentation-for-software-engineers-practices#p17" TargetMode="External"/><Relationship Id="rId4" Type="http://schemas.openxmlformats.org/officeDocument/2006/relationships/hyperlink" Target="https://www.docswell.com/s/hayat01sh1da/KRXJ9J-science-of-corporate-technical-documentation-for-software-engineers-practices#p15"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hyperlink" Target="https://www.docswell.com/s/hayat01sh1da/5M12VG-science-of-corporate-technical-documentation-for-software-engineers-theories#p19" TargetMode="External"/><Relationship Id="rId13" Type="http://schemas.openxmlformats.org/officeDocument/2006/relationships/hyperlink" Target="https://www.docswell.com/s/hayat01sh1da/5M12VG-science-of-corporate-technical-documentation-for-software-engineers-theories#p25" TargetMode="External"/><Relationship Id="rId18" Type="http://schemas.openxmlformats.org/officeDocument/2006/relationships/hyperlink" Target="https://www.docswell.com/s/hayat01sh1da/5M12VG-science-of-corporate-technical-documentation-for-software-engineers-theories#p32" TargetMode="External"/><Relationship Id="rId3" Type="http://schemas.openxmlformats.org/officeDocument/2006/relationships/hyperlink" Target="https://www.docswell.com/s/hayat01sh1da/5M12VG-science-of-corporate-technical-documentation-for-software-engineers-theories#p14" TargetMode="External"/><Relationship Id="rId7" Type="http://schemas.openxmlformats.org/officeDocument/2006/relationships/hyperlink" Target="https://www.docswell.com/s/hayat01sh1da/5M12VG-science-of-corporate-technical-documentation-for-software-engineers-theories#p18" TargetMode="External"/><Relationship Id="rId12" Type="http://schemas.openxmlformats.org/officeDocument/2006/relationships/hyperlink" Target="https://www.docswell.com/s/hayat01sh1da/5M12VG-science-of-corporate-technical-documentation-for-software-engineers-theories#p24" TargetMode="External"/><Relationship Id="rId17" Type="http://schemas.openxmlformats.org/officeDocument/2006/relationships/hyperlink" Target="https://www.docswell.com/s/hayat01sh1da/5M12VG-science-of-corporate-technical-documentation-for-software-engineers-theories#p30" TargetMode="External"/><Relationship Id="rId2" Type="http://schemas.openxmlformats.org/officeDocument/2006/relationships/image" Target="../media/image1.jpg"/><Relationship Id="rId16" Type="http://schemas.openxmlformats.org/officeDocument/2006/relationships/hyperlink" Target="https://www.docswell.com/s/hayat01sh1da/5M12VG-science-of-corporate-technical-documentation-for-software-engineers-theories#p29" TargetMode="External"/><Relationship Id="rId1" Type="http://schemas.openxmlformats.org/officeDocument/2006/relationships/slideLayout" Target="../slideLayouts/slideLayout2.xml"/><Relationship Id="rId6" Type="http://schemas.openxmlformats.org/officeDocument/2006/relationships/hyperlink" Target="https://www.docswell.com/s/hayat01sh1da/5M12VG-science-of-corporate-technical-documentation-for-software-engineers-theories#p17" TargetMode="External"/><Relationship Id="rId11" Type="http://schemas.openxmlformats.org/officeDocument/2006/relationships/hyperlink" Target="https://www.docswell.com/s/hayat01sh1da/5M12VG-science-of-corporate-technical-documentation-for-software-engineers-theories#p23" TargetMode="External"/><Relationship Id="rId5" Type="http://schemas.openxmlformats.org/officeDocument/2006/relationships/hyperlink" Target="https://www.docswell.com/s/hayat01sh1da/5M12VG-science-of-corporate-technical-documentation-for-software-engineers-theories#p16" TargetMode="External"/><Relationship Id="rId15" Type="http://schemas.openxmlformats.org/officeDocument/2006/relationships/hyperlink" Target="https://www.docswell.com/s/hayat01sh1da/5M12VG-science-of-corporate-technical-documentation-for-software-engineers-theories#p27" TargetMode="External"/><Relationship Id="rId10" Type="http://schemas.openxmlformats.org/officeDocument/2006/relationships/hyperlink" Target="https://www.docswell.com/s/hayat01sh1da/5M12VG-science-of-corporate-technical-documentation-for-software-engineers-theories#p22" TargetMode="External"/><Relationship Id="rId19" Type="http://schemas.openxmlformats.org/officeDocument/2006/relationships/hyperlink" Target="https://www.docswell.com/s/hayat01sh1da/5M12VG-science-of-corporate-technical-documentation-for-software-engineers-theories#p33" TargetMode="External"/><Relationship Id="rId4" Type="http://schemas.openxmlformats.org/officeDocument/2006/relationships/hyperlink" Target="https://www.docswell.com/s/hayat01sh1da/5M12VG-science-of-corporate-technical-documentation-for-software-engineers-theories#p15" TargetMode="External"/><Relationship Id="rId9" Type="http://schemas.openxmlformats.org/officeDocument/2006/relationships/hyperlink" Target="https://www.docswell.com/s/hayat01sh1da/5M12VG-science-of-corporate-technical-documentation-for-software-engineers-theories#p20" TargetMode="External"/><Relationship Id="rId14" Type="http://schemas.openxmlformats.org/officeDocument/2006/relationships/hyperlink" Target="https://www.docswell.com/s/hayat01sh1da/5M12VG-science-of-corporate-technical-documentation-for-software-engineers-theories#p26"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medium.com/datasheetest-by-tdsmaker/basics-of-technical-documentation-for-engineers-36deab8d1220"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eowf.alc.co.jp/" TargetMode="External"/><Relationship Id="rId4" Type="http://schemas.openxmlformats.org/officeDocument/2006/relationships/hyperlink" Target="https://www.dictionary.com/" TargetMode="Externa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Autofit/>
          </a:bodyPr>
          <a:lstStyle/>
          <a:p>
            <a:r>
              <a:rPr lang="ja-JP" altLang="en-US" sz="4400" b="1" dirty="0">
                <a:effectLst>
                  <a:outerShdw blurRad="38100" dist="38100" dir="2700000" algn="tl">
                    <a:srgbClr val="000000">
                      <a:alpha val="43137"/>
                    </a:srgbClr>
                  </a:outerShdw>
                </a:effectLst>
                <a:latin typeface="+mn-lt"/>
              </a:rPr>
              <a:t>ソフトウェアエンジニアの</a:t>
            </a:r>
            <a:br>
              <a:rPr lang="en-GB" altLang="ja-JP" sz="4400" b="1" dirty="0">
                <a:effectLst>
                  <a:outerShdw blurRad="38100" dist="38100" dir="2700000" algn="tl">
                    <a:srgbClr val="000000">
                      <a:alpha val="43137"/>
                    </a:srgbClr>
                  </a:outerShdw>
                </a:effectLst>
                <a:latin typeface="+mn-lt"/>
              </a:rPr>
            </a:br>
            <a:r>
              <a:rPr lang="ja-JP" altLang="en-US" sz="4400" b="1" dirty="0">
                <a:effectLst>
                  <a:outerShdw blurRad="38100" dist="38100" dir="2700000" algn="tl">
                    <a:srgbClr val="000000">
                      <a:alpha val="43137"/>
                    </a:srgbClr>
                  </a:outerShdw>
                </a:effectLst>
                <a:latin typeface="+mn-lt"/>
              </a:rPr>
              <a:t>社内技術ドキュメンテーションへの</a:t>
            </a:r>
            <a:br>
              <a:rPr lang="en-GB" altLang="ja-JP" sz="4400" b="1" dirty="0">
                <a:effectLst>
                  <a:outerShdw blurRad="38100" dist="38100" dir="2700000" algn="tl">
                    <a:srgbClr val="000000">
                      <a:alpha val="43137"/>
                    </a:srgbClr>
                  </a:outerShdw>
                </a:effectLst>
                <a:latin typeface="+mn-lt"/>
              </a:rPr>
            </a:br>
            <a:r>
              <a:rPr lang="ja-JP" altLang="en-US" sz="4400" b="1" dirty="0">
                <a:effectLst>
                  <a:outerShdw blurRad="38100" dist="38100" dir="2700000" algn="tl">
                    <a:srgbClr val="000000">
                      <a:alpha val="43137"/>
                    </a:srgbClr>
                  </a:outerShdw>
                </a:effectLst>
                <a:latin typeface="+mn-lt"/>
              </a:rPr>
              <a:t>向き合い方</a:t>
            </a:r>
            <a:endParaRPr lang="en-GB" sz="4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一般論編</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1C3A6F97-064C-82E3-DFE8-3D5E463D75DA}"/>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8976B286-6825-12C5-1793-A9B5D0137A9D}"/>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5F20DFE4-1B52-51FB-09F2-FA7AD838B9C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1778280F-B59B-882A-A44D-E1445535C00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a:extLst>
            <a:ext uri="{FF2B5EF4-FFF2-40B4-BE49-F238E27FC236}">
              <a16:creationId xmlns:a16="http://schemas.microsoft.com/office/drawing/2014/main" id="{FBFB2664-519B-3D68-D4BB-C0CAA6D4BA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367EE6-508C-D928-9C84-30493DAFA195}"/>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F60BF229-F7F2-220C-0E88-8AD53C8367D0}"/>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ACFF7FAF-87A0-7592-8FA1-24A21EEBE9B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4847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a:extLst>
            <a:ext uri="{FF2B5EF4-FFF2-40B4-BE49-F238E27FC236}">
              <a16:creationId xmlns:a16="http://schemas.microsoft.com/office/drawing/2014/main" id="{8216B281-E86F-84E9-FD22-5F90EE0C3B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FE2230-BAEC-EFB2-6444-EDCA607E1D33}"/>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F5011140-9EC1-151D-53DE-B8407B36CAAF}"/>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DE191EC1-499B-6FB2-74E0-E6C2FC89B71B}"/>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4225951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a:extLst>
            <a:ext uri="{FF2B5EF4-FFF2-40B4-BE49-F238E27FC236}">
              <a16:creationId xmlns:a16="http://schemas.microsoft.com/office/drawing/2014/main" id="{35799495-0F33-A831-0096-61C5407E67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3C12B9-69A4-5E1E-48E1-C1E53F13964D}"/>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61123038-1680-C733-A9F2-8D074BE06BE9}"/>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A596E4D4-61A8-A645-8CDA-6BE3F1EE79A7}"/>
              </a:ext>
            </a:extLst>
          </p:cNvPr>
          <p:cNvGraphicFramePr>
            <a:graphicFrameLocks noGrp="1"/>
          </p:cNvGraphicFramePr>
          <p:nvPr>
            <p:extLst>
              <p:ext uri="{D42A27DB-BD31-4B8C-83A1-F6EECF244321}">
                <p14:modId xmlns:p14="http://schemas.microsoft.com/office/powerpoint/2010/main" val="17882978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342855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id="{BD9B848D-701C-A31A-AF43-62DB1034B27C}"/>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4" name="スライド番号プレースホルダー 3">
            <a:extLst>
              <a:ext uri="{FF2B5EF4-FFF2-40B4-BE49-F238E27FC236}">
                <a16:creationId xmlns:a16="http://schemas.microsoft.com/office/drawing/2014/main" id="{E64FA361-EF24-E15B-DA86-2ABB0AC21CB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5" name="コンテンツ プレースホルダー 2">
            <a:extLst>
              <a:ext uri="{FF2B5EF4-FFF2-40B4-BE49-F238E27FC236}">
                <a16:creationId xmlns:a16="http://schemas.microsoft.com/office/drawing/2014/main" id="{A46BBB1E-D32E-B05F-55C9-D67A05339D1D}"/>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はじめに</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ドキュメンテーションとは？</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社内技術ドキュメンテーションに必須の</a:t>
            </a:r>
            <a:r>
              <a:rPr lang="en-US" altLang="ja-JP" sz="2400" dirty="0">
                <a:sym typeface="Arial"/>
                <a:hlinkClick r:id="rId5" action="ppaction://hlinksldjump"/>
              </a:rPr>
              <a:t>6</a:t>
            </a:r>
            <a:r>
              <a:rPr lang="ja-JP" altLang="en-US" sz="2400" dirty="0">
                <a:sym typeface="Arial"/>
                <a:hlinkClick r:id="rId5" action="ppaction://hlinksldjump"/>
              </a:rPr>
              <a:t>大要素</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社内技術ドキュメンテーション執筆に必須の</a:t>
            </a:r>
            <a:r>
              <a:rPr lang="en-US" altLang="ja-JP" sz="2400" dirty="0">
                <a:sym typeface="Arial"/>
                <a:hlinkClick r:id="rId6" action="ppaction://hlinksldjump"/>
              </a:rPr>
              <a:t>5</a:t>
            </a:r>
            <a:r>
              <a:rPr lang="ja-JP" altLang="en-US" sz="2400" dirty="0">
                <a:sym typeface="Arial"/>
                <a:hlinkClick r:id="rId6" action="ppaction://hlinksldjump"/>
              </a:rPr>
              <a:t>大スキル</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体系的社内技術ドキュメンテーションの</a:t>
            </a:r>
            <a:r>
              <a:rPr lang="en-US" altLang="ja-JP" sz="2400" dirty="0">
                <a:sym typeface="Arial"/>
                <a:hlinkClick r:id="rId7" action="ppaction://hlinksldjump"/>
              </a:rPr>
              <a:t>3</a:t>
            </a:r>
            <a:r>
              <a:rPr lang="ja-JP" altLang="en-US" sz="2400" dirty="0">
                <a:sym typeface="Arial"/>
                <a:hlinkClick r:id="rId7" action="ppaction://hlinksldjump"/>
              </a:rPr>
              <a:t>大恩恵</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8" action="ppaction://hlinksldjump"/>
              </a:rPr>
              <a:t>回避不可能な</a:t>
            </a:r>
            <a:r>
              <a:rPr lang="en-US" altLang="ja-JP" sz="2400" dirty="0">
                <a:sym typeface="Arial"/>
                <a:hlinkClick r:id="rId8" action="ppaction://hlinksldjump"/>
              </a:rPr>
              <a:t>5</a:t>
            </a:r>
            <a:r>
              <a:rPr lang="ja-JP" altLang="en-US" sz="2400" dirty="0">
                <a:sym typeface="Arial"/>
                <a:hlinkClick r:id="rId8" action="ppaction://hlinksldjump"/>
              </a:rPr>
              <a:t>大トレードオフ</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9"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10"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42545" marR="309880"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社内技術ドキュメンテーションは内製・受託・客先常駐など形態に関わら</a:t>
            </a:r>
            <a:r>
              <a:rPr kumimoji="0" lang="ja-JP" altLang="en-US" sz="2400" b="0" i="0" u="none" strike="noStrike" kern="0" cap="none" spc="-15" normalizeH="0" baseline="0" noProof="0" dirty="0">
                <a:ln>
                  <a:noFill/>
                </a:ln>
                <a:solidFill>
                  <a:prstClr val="black"/>
                </a:solidFill>
                <a:effectLst/>
                <a:uLnTx/>
                <a:uFillTx/>
                <a:latin typeface="Yu Gothic"/>
                <a:ea typeface="+mn-ea"/>
              </a:rPr>
              <a:t>ず、開発や仕様把握を円滑に行うために不可欠な文書である。</a:t>
            </a:r>
          </a:p>
          <a:p>
            <a:pPr marL="42545" marR="5080" lvl="0" indent="0" defTabSz="914400" eaLnBrk="1" fontAlgn="auto" latinLnBrk="0" hangingPunct="1">
              <a:lnSpc>
                <a:spcPts val="2590"/>
              </a:lnSpc>
              <a:spcBef>
                <a:spcPts val="3595"/>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私自身、これまでソフトウェアエンジニアとしてプロジェクト運営に必要</a:t>
            </a:r>
            <a:r>
              <a:rPr kumimoji="0" lang="ja-JP" altLang="en-US" sz="2400" b="0" i="0" u="none" strike="noStrike" kern="0" cap="none" spc="-50" normalizeH="0" baseline="0" noProof="0" dirty="0">
                <a:ln>
                  <a:noFill/>
                </a:ln>
                <a:solidFill>
                  <a:prstClr val="black"/>
                </a:solidFill>
                <a:effectLst/>
                <a:uLnTx/>
                <a:uFillTx/>
                <a:latin typeface="Yu Gothic"/>
                <a:ea typeface="+mn-ea"/>
              </a:rPr>
              <a:t> </a:t>
            </a:r>
            <a:r>
              <a:rPr kumimoji="0" lang="ja-JP" altLang="en-US" sz="2400" b="0" i="0" u="none" strike="noStrike" kern="0" cap="none" spc="-5" normalizeH="0" baseline="0" noProof="0" dirty="0">
                <a:ln>
                  <a:noFill/>
                </a:ln>
                <a:solidFill>
                  <a:prstClr val="black"/>
                </a:solidFill>
                <a:effectLst/>
                <a:uLnTx/>
                <a:uFillTx/>
                <a:latin typeface="Yu Gothic"/>
                <a:ea typeface="+mn-ea"/>
              </a:rPr>
              <a:t>なドキュメントの設計・執筆・公開や、チーム開発に必要なドメイン知識の</a:t>
            </a:r>
            <a:r>
              <a:rPr kumimoji="0" lang="ja-JP" altLang="en-US" sz="2400" b="0" i="0" u="none" strike="noStrike" kern="0" cap="none" spc="-15" normalizeH="0" baseline="0" noProof="0" dirty="0">
                <a:ln>
                  <a:noFill/>
                </a:ln>
                <a:solidFill>
                  <a:prstClr val="black"/>
                </a:solidFill>
                <a:effectLst/>
                <a:uLnTx/>
                <a:uFillTx/>
                <a:latin typeface="Yu Gothic"/>
                <a:ea typeface="+mn-ea"/>
              </a:rPr>
              <a:t>明文化のリード、広域なステークホルダー向けの文書作成を行ってきた。</a:t>
            </a:r>
          </a:p>
          <a:p>
            <a:pPr marL="42545" marR="309880" lvl="0" indent="0" defTabSz="914400" eaLnBrk="1" fontAlgn="auto" latinLnBrk="0" hangingPunct="1">
              <a:lnSpc>
                <a:spcPts val="2590"/>
              </a:lnSpc>
              <a:spcBef>
                <a:spcPts val="3609"/>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それらの経験を通して自身の中に社内技術ドキュメンテーションの知見が</a:t>
            </a:r>
            <a:r>
              <a:rPr kumimoji="0" lang="ja-JP" altLang="en-US" sz="2400" b="0" i="0" u="none" strike="noStrike" kern="0" cap="none" spc="-15" normalizeH="0" baseline="0" noProof="0" dirty="0">
                <a:ln>
                  <a:noFill/>
                </a:ln>
                <a:solidFill>
                  <a:prstClr val="black"/>
                </a:solidFill>
                <a:effectLst/>
                <a:uLnTx/>
                <a:uFillTx/>
                <a:latin typeface="Yu Gothic"/>
                <a:ea typeface="+mn-ea"/>
              </a:rPr>
              <a:t>一定以上蓄積されたので、その知見を整理・体系化し共有したい。</a:t>
            </a: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114300"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ただし、自身の限られた経験で得た管見では主観的・恣意的な知見の共有</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になってしまう。</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114300" lvl="0" indent="0" defTabSz="914400" eaLnBrk="1" fontAlgn="auto" latinLnBrk="0" hangingPunct="1">
              <a:lnSpc>
                <a:spcPts val="2590"/>
              </a:lnSpc>
              <a:spcBef>
                <a:spcPts val="50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そこで、この機会に改めて一般論をインプットする意図で以下の記事の解</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釈・考察を行った。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922655" lvl="0" indent="0" defTabSz="914400" eaLnBrk="1" fontAlgn="auto" latinLnBrk="0" hangingPunct="1">
              <a:lnSpc>
                <a:spcPts val="2590"/>
              </a:lnSpc>
              <a:spcBef>
                <a:spcPts val="3604"/>
              </a:spcBef>
              <a:spcAft>
                <a:spcPts val="0"/>
              </a:spcAft>
              <a:buClrTx/>
              <a:buSzTx/>
              <a:buFontTx/>
              <a:buNone/>
              <a:tabLst/>
              <a:defRPr/>
            </a:pPr>
            <a:r>
              <a:rPr kumimoji="0" lang="en-US" altLang="ja-JP"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Basics</a:t>
            </a:r>
            <a:r>
              <a:rPr kumimoji="0" lang="ja-JP" altLang="en-US" sz="2400" b="0" i="1" u="sng" strike="noStrike" kern="0" cap="none" spc="-75" normalizeH="0" baseline="0" noProof="0" dirty="0">
                <a:ln>
                  <a:noFill/>
                </a:ln>
                <a:solidFill>
                  <a:srgbClr val="0462C1"/>
                </a:solidFill>
                <a:effectLst/>
                <a:uLnTx/>
                <a:uFill>
                  <a:solidFill>
                    <a:srgbClr val="0462C1"/>
                  </a:solidFill>
                </a:uFill>
                <a:latin typeface="Calibri"/>
                <a:cs typeface="Calibri"/>
                <a:hlinkClick r:id="rId3"/>
              </a:rPr>
              <a:t> </a:t>
            </a:r>
            <a:r>
              <a:rPr kumimoji="0" lang="en-US" altLang="ja-JP"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Of</a:t>
            </a:r>
            <a:r>
              <a:rPr kumimoji="0" lang="ja-JP" altLang="en-US" sz="2400" b="0" i="1" u="sng" strike="noStrike" kern="0" cap="none" spc="-75" normalizeH="0" baseline="0" noProof="0" dirty="0">
                <a:ln>
                  <a:noFill/>
                </a:ln>
                <a:solidFill>
                  <a:srgbClr val="0462C1"/>
                </a:solidFill>
                <a:effectLst/>
                <a:uLnTx/>
                <a:uFill>
                  <a:solidFill>
                    <a:srgbClr val="0462C1"/>
                  </a:solidFill>
                </a:uFill>
                <a:latin typeface="Calibri"/>
                <a:cs typeface="Calibri"/>
                <a:hlinkClick r:id="rId3"/>
              </a:rPr>
              <a:t> </a:t>
            </a:r>
            <a:r>
              <a:rPr kumimoji="0" lang="en-US" altLang="ja-JP" sz="2400" b="0" i="1" u="sng" strike="noStrike" kern="0" cap="none" spc="-30" normalizeH="0" baseline="0" noProof="0" dirty="0">
                <a:ln>
                  <a:noFill/>
                </a:ln>
                <a:solidFill>
                  <a:srgbClr val="0462C1"/>
                </a:solidFill>
                <a:effectLst/>
                <a:uLnTx/>
                <a:uFill>
                  <a:solidFill>
                    <a:srgbClr val="0462C1"/>
                  </a:solidFill>
                </a:uFill>
                <a:latin typeface="Calibri"/>
                <a:cs typeface="Calibri"/>
                <a:hlinkClick r:id="rId3"/>
              </a:rPr>
              <a:t>Technical</a:t>
            </a:r>
            <a:r>
              <a:rPr kumimoji="0" lang="ja-JP" altLang="en-US" sz="2400" b="0" i="1" u="sng" strike="noStrike" kern="0" cap="none" spc="-65" normalizeH="0" baseline="0" noProof="0" dirty="0">
                <a:ln>
                  <a:noFill/>
                </a:ln>
                <a:solidFill>
                  <a:srgbClr val="0462C1"/>
                </a:solidFill>
                <a:effectLst/>
                <a:uLnTx/>
                <a:uFill>
                  <a:solidFill>
                    <a:srgbClr val="0462C1"/>
                  </a:solidFill>
                </a:uFill>
                <a:latin typeface="Calibri"/>
                <a:cs typeface="Calibri"/>
                <a:hlinkClick r:id="rId3"/>
              </a:rPr>
              <a:t> </a:t>
            </a:r>
            <a:r>
              <a:rPr kumimoji="0" lang="en-US" altLang="ja-JP" sz="2400" b="0" i="1" u="sng" strike="noStrike" kern="0" cap="none" spc="-10" normalizeH="0" baseline="0" noProof="0" dirty="0">
                <a:ln>
                  <a:noFill/>
                </a:ln>
                <a:solidFill>
                  <a:srgbClr val="0462C1"/>
                </a:solidFill>
                <a:effectLst/>
                <a:uLnTx/>
                <a:uFill>
                  <a:solidFill>
                    <a:srgbClr val="0462C1"/>
                  </a:solidFill>
                </a:uFill>
                <a:latin typeface="Calibri"/>
                <a:cs typeface="Calibri"/>
                <a:hlinkClick r:id="rId3"/>
              </a:rPr>
              <a:t>Documentation</a:t>
            </a:r>
            <a:r>
              <a:rPr kumimoji="0" lang="ja-JP" altLang="en-US" sz="2400" b="0" i="1" u="sng" strike="noStrike" kern="0" cap="none" spc="-65" normalizeH="0" baseline="0" noProof="0" dirty="0">
                <a:ln>
                  <a:noFill/>
                </a:ln>
                <a:solidFill>
                  <a:srgbClr val="0462C1"/>
                </a:solidFill>
                <a:effectLst/>
                <a:uLnTx/>
                <a:uFill>
                  <a:solidFill>
                    <a:srgbClr val="0462C1"/>
                  </a:solidFill>
                </a:uFill>
                <a:latin typeface="Calibri"/>
                <a:cs typeface="Calibri"/>
                <a:hlinkClick r:id="rId3"/>
              </a:rPr>
              <a:t> </a:t>
            </a:r>
            <a:r>
              <a:rPr kumimoji="0" lang="en-US" altLang="ja-JP"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For</a:t>
            </a:r>
            <a:r>
              <a:rPr kumimoji="0" lang="ja-JP" altLang="en-US" sz="2400" b="0" i="1" u="sng" strike="noStrike" kern="0" cap="none" spc="-80" normalizeH="0" baseline="0" noProof="0" dirty="0">
                <a:ln>
                  <a:noFill/>
                </a:ln>
                <a:solidFill>
                  <a:srgbClr val="0462C1"/>
                </a:solidFill>
                <a:effectLst/>
                <a:uLnTx/>
                <a:uFill>
                  <a:solidFill>
                    <a:srgbClr val="0462C1"/>
                  </a:solidFill>
                </a:uFill>
                <a:latin typeface="Calibri"/>
                <a:cs typeface="Calibri"/>
                <a:hlinkClick r:id="rId3"/>
              </a:rPr>
              <a:t> </a:t>
            </a:r>
            <a:r>
              <a:rPr kumimoji="0" lang="en-US" altLang="ja-JP"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3"/>
              </a:rPr>
              <a:t>Engineers</a:t>
            </a: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1" u="none" strike="noStrike" kern="0" cap="none" spc="-75" normalizeH="0" baseline="0" noProof="0" dirty="0">
                <a:ln>
                  <a:noFill/>
                </a:ln>
                <a:solidFill>
                  <a:sysClr val="windowText" lastClr="000000"/>
                </a:solidFill>
                <a:effectLst/>
                <a:uLnTx/>
                <a:uFillTx/>
                <a:latin typeface="Calibri"/>
                <a:cs typeface="Calibri"/>
              </a:rPr>
              <a:t> </a:t>
            </a:r>
            <a:r>
              <a:rPr kumimoji="0" lang="en-US" altLang="ja-JP" sz="2400" b="0" i="1" u="none" strike="noStrike" kern="0" cap="none" spc="-10" normalizeH="0" baseline="0" noProof="0" dirty="0" err="1">
                <a:ln>
                  <a:noFill/>
                </a:ln>
                <a:solidFill>
                  <a:sysClr val="windowText" lastClr="000000"/>
                </a:solidFill>
                <a:effectLst/>
                <a:uLnTx/>
                <a:uFillTx/>
                <a:latin typeface="Calibri"/>
                <a:cs typeface="Calibri"/>
              </a:rPr>
              <a:t>Ayca</a:t>
            </a:r>
            <a:r>
              <a:rPr kumimoji="0" lang="ja-JP" altLang="en-US" sz="2400" b="0" i="1" u="none" strike="noStrike" kern="0" cap="none" spc="-75" normalizeH="0" baseline="0" noProof="0" dirty="0">
                <a:ln>
                  <a:noFill/>
                </a:ln>
                <a:solidFill>
                  <a:sysClr val="windowText" lastClr="000000"/>
                </a:solidFill>
                <a:effectLst/>
                <a:uLnTx/>
                <a:uFillTx/>
                <a:latin typeface="Calibri"/>
                <a:cs typeface="Calibri"/>
              </a:rPr>
              <a:t> </a:t>
            </a: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LITTLE,</a:t>
            </a:r>
            <a:r>
              <a:rPr kumimoji="0" lang="ja-JP" altLang="en-US" sz="2400" b="0" i="1" u="none" strike="noStrike" kern="0" cap="none" spc="-55" normalizeH="0" baseline="0" noProof="0" dirty="0">
                <a:ln>
                  <a:noFill/>
                </a:ln>
                <a:solidFill>
                  <a:sysClr val="windowText" lastClr="000000"/>
                </a:solidFill>
                <a:effectLst/>
                <a:uLnTx/>
                <a:uFillTx/>
                <a:latin typeface="Calibri"/>
                <a:cs typeface="Calibri"/>
              </a:rPr>
              <a:t> </a:t>
            </a: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Published</a:t>
            </a:r>
            <a:r>
              <a:rPr kumimoji="0" lang="ja-JP" altLang="en-US" sz="2400" b="0" i="1" u="none" strike="noStrike" kern="0" cap="none" spc="-75" normalizeH="0" baseline="0" noProof="0" dirty="0">
                <a:ln>
                  <a:noFill/>
                </a:ln>
                <a:solidFill>
                  <a:sysClr val="windowText" lastClr="000000"/>
                </a:solidFill>
                <a:effectLst/>
                <a:uLnTx/>
                <a:uFillTx/>
                <a:latin typeface="Calibri"/>
                <a:cs typeface="Calibri"/>
              </a:rPr>
              <a:t> </a:t>
            </a:r>
            <a:r>
              <a:rPr kumimoji="0" lang="en-US" altLang="ja-JP" sz="2400" b="0" i="1" u="none" strike="noStrike" kern="0" cap="none" spc="-25" normalizeH="0" baseline="0" noProof="0" dirty="0">
                <a:ln>
                  <a:noFill/>
                </a:ln>
                <a:solidFill>
                  <a:sysClr val="windowText" lastClr="000000"/>
                </a:solidFill>
                <a:effectLst/>
                <a:uLnTx/>
                <a:uFillTx/>
                <a:latin typeface="Calibri"/>
                <a:cs typeface="Calibri"/>
              </a:rPr>
              <a:t>in </a:t>
            </a:r>
            <a:r>
              <a:rPr kumimoji="0" lang="en-US" altLang="ja-JP" sz="2400" b="0" i="1" u="sng" strike="noStrike" kern="0" cap="none" spc="-10" normalizeH="0" baseline="0" noProof="0" dirty="0" err="1">
                <a:ln>
                  <a:noFill/>
                </a:ln>
                <a:solidFill>
                  <a:srgbClr val="0462C1"/>
                </a:solidFill>
                <a:effectLst/>
                <a:uLnTx/>
                <a:uFill>
                  <a:solidFill>
                    <a:srgbClr val="0462C1"/>
                  </a:solidFill>
                </a:uFill>
                <a:latin typeface="Calibri"/>
                <a:cs typeface="Calibri"/>
                <a:hlinkClick r:id="rId4"/>
              </a:rPr>
              <a:t>DatasheetEST</a:t>
            </a:r>
            <a:r>
              <a:rPr kumimoji="0" lang="ja-JP" altLang="en-US" sz="2400" b="0" i="1" u="sng" strike="noStrike" kern="0" cap="none" spc="-50" normalizeH="0" baseline="0" noProof="0" dirty="0">
                <a:ln>
                  <a:noFill/>
                </a:ln>
                <a:solidFill>
                  <a:srgbClr val="0462C1"/>
                </a:solidFill>
                <a:effectLst/>
                <a:uLnTx/>
                <a:uFill>
                  <a:solidFill>
                    <a:srgbClr val="0462C1"/>
                  </a:solidFill>
                </a:uFill>
                <a:latin typeface="Calibri"/>
                <a:cs typeface="Calibri"/>
                <a:hlinkClick r:id="rId4"/>
              </a:rPr>
              <a:t> </a:t>
            </a:r>
            <a:r>
              <a:rPr kumimoji="0" lang="en-US" altLang="ja-JP" sz="2400" b="0" i="1" u="sng" strike="noStrike" kern="0" cap="none" spc="0" normalizeH="0" baseline="0" noProof="0" dirty="0">
                <a:ln>
                  <a:noFill/>
                </a:ln>
                <a:solidFill>
                  <a:srgbClr val="0462C1"/>
                </a:solidFill>
                <a:effectLst/>
                <a:uLnTx/>
                <a:uFill>
                  <a:solidFill>
                    <a:srgbClr val="0462C1"/>
                  </a:solidFill>
                </a:uFill>
                <a:latin typeface="Calibri"/>
                <a:cs typeface="Calibri"/>
                <a:hlinkClick r:id="rId4"/>
              </a:rPr>
              <a:t>by</a:t>
            </a:r>
            <a:r>
              <a:rPr kumimoji="0" lang="ja-JP" altLang="en-US" sz="2400" b="0" i="1" u="sng" strike="noStrike" kern="0" cap="none" spc="-55" normalizeH="0" baseline="0" noProof="0" dirty="0">
                <a:ln>
                  <a:noFill/>
                </a:ln>
                <a:solidFill>
                  <a:srgbClr val="0462C1"/>
                </a:solidFill>
                <a:effectLst/>
                <a:uLnTx/>
                <a:uFill>
                  <a:solidFill>
                    <a:srgbClr val="0462C1"/>
                  </a:solidFill>
                </a:uFill>
                <a:latin typeface="Calibri"/>
                <a:cs typeface="Calibri"/>
                <a:hlinkClick r:id="rId4"/>
              </a:rPr>
              <a:t> </a:t>
            </a:r>
            <a:r>
              <a:rPr kumimoji="0" lang="en-US" altLang="ja-JP" sz="2400" b="0" i="1" u="sng" strike="noStrike" kern="0" cap="none" spc="-30" normalizeH="0" baseline="0" noProof="0" dirty="0" err="1">
                <a:ln>
                  <a:noFill/>
                </a:ln>
                <a:solidFill>
                  <a:srgbClr val="0462C1"/>
                </a:solidFill>
                <a:effectLst/>
                <a:uLnTx/>
                <a:uFill>
                  <a:solidFill>
                    <a:srgbClr val="0462C1"/>
                  </a:solidFill>
                </a:uFill>
                <a:latin typeface="Calibri"/>
                <a:cs typeface="Calibri"/>
                <a:hlinkClick r:id="rId4"/>
              </a:rPr>
              <a:t>TDSmaker</a:t>
            </a:r>
            <a:r>
              <a:rPr kumimoji="0" lang="en-US" altLang="ja-JP" sz="2400" b="0" i="1" u="none" strike="noStrike" kern="0" cap="none" spc="-30" normalizeH="0" baseline="0" noProof="0" dirty="0">
                <a:ln>
                  <a:noFill/>
                </a:ln>
                <a:solidFill>
                  <a:sysClr val="windowText" lastClr="000000"/>
                </a:solidFill>
                <a:effectLst/>
                <a:uLnTx/>
                <a:uFillTx/>
                <a:latin typeface="Calibri"/>
                <a:cs typeface="Calibri"/>
              </a:rPr>
              <a:t>,</a:t>
            </a:r>
            <a:r>
              <a:rPr kumimoji="0" lang="ja-JP" altLang="en-US" sz="2400" b="0" i="1" u="none" strike="noStrike" kern="0" cap="none" spc="-40" normalizeH="0" baseline="0" noProof="0" dirty="0">
                <a:ln>
                  <a:noFill/>
                </a:ln>
                <a:solidFill>
                  <a:sysClr val="windowText" lastClr="000000"/>
                </a:solidFill>
                <a:effectLst/>
                <a:uLnTx/>
                <a:uFillTx/>
                <a:latin typeface="Calibri"/>
                <a:cs typeface="Calibri"/>
              </a:rPr>
              <a:t> </a:t>
            </a: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25</a:t>
            </a:r>
            <a:r>
              <a:rPr kumimoji="0" lang="ja-JP" altLang="en-US" sz="2400" b="0" i="1" u="none" strike="noStrike" kern="0" cap="none" spc="-50" normalizeH="0" baseline="0" noProof="0" dirty="0">
                <a:ln>
                  <a:noFill/>
                </a:ln>
                <a:solidFill>
                  <a:sysClr val="windowText" lastClr="000000"/>
                </a:solidFill>
                <a:effectLst/>
                <a:uLnTx/>
                <a:uFillTx/>
                <a:latin typeface="Calibri"/>
                <a:cs typeface="Calibri"/>
              </a:rPr>
              <a:t> </a:t>
            </a: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April</a:t>
            </a:r>
            <a:r>
              <a:rPr kumimoji="0" lang="ja-JP" altLang="en-US" sz="2400" b="0" i="1" u="none" strike="noStrike" kern="0" cap="none" spc="-55" normalizeH="0" baseline="0" noProof="0" dirty="0">
                <a:ln>
                  <a:noFill/>
                </a:ln>
                <a:solidFill>
                  <a:sysClr val="windowText" lastClr="000000"/>
                </a:solidFill>
                <a:effectLst/>
                <a:uLnTx/>
                <a:uFillTx/>
                <a:latin typeface="Calibri"/>
                <a:cs typeface="Calibri"/>
              </a:rPr>
              <a:t> </a:t>
            </a:r>
            <a:r>
              <a:rPr kumimoji="0" lang="en-US" altLang="ja-JP" sz="2400" b="0" i="1" u="none" strike="noStrike" kern="0" cap="none" spc="-20" normalizeH="0" baseline="0" noProof="0" dirty="0">
                <a:ln>
                  <a:noFill/>
                </a:ln>
                <a:solidFill>
                  <a:sysClr val="windowText" lastClr="000000"/>
                </a:solidFill>
                <a:effectLst/>
                <a:uLnTx/>
                <a:uFillTx/>
                <a:latin typeface="Calibri"/>
                <a:cs typeface="Calibri"/>
              </a:rPr>
              <a:t>2018</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0" marR="0" lvl="0" indent="0" defTabSz="914400" eaLnBrk="1" fontAlgn="auto" latinLnBrk="0" hangingPunct="1">
              <a:lnSpc>
                <a:spcPct val="100000"/>
              </a:lnSpc>
              <a:spcBef>
                <a:spcPts val="610"/>
              </a:spcBef>
              <a:spcAft>
                <a:spcPts val="0"/>
              </a:spcAft>
              <a:buClrTx/>
              <a:buSzTx/>
              <a:buFontTx/>
              <a:buNone/>
              <a:tabLst/>
              <a:defRPr/>
            </a:pP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12700" marR="5080" lvl="0" indent="0" defTabSz="914400" eaLnBrk="1" fontAlgn="auto" latinLnBrk="0" hangingPunct="1">
              <a:lnSpc>
                <a:spcPct val="90000"/>
              </a:lnSpc>
              <a:spcBef>
                <a:spcPts val="5"/>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基本的にマーケティング観点で書かれた記事ではあるが、「顧客 </a:t>
            </a:r>
            <a:r>
              <a:rPr kumimoji="0" lang="ja-JP" altLang="en-US" sz="24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25" normalizeH="0" baseline="0" noProof="0" dirty="0">
                <a:ln>
                  <a:noFill/>
                </a:ln>
                <a:solidFill>
                  <a:sysClr val="windowText" lastClr="000000"/>
                </a:solidFill>
                <a:effectLst/>
                <a:uLnTx/>
                <a:uFillTx/>
                <a:latin typeface="Yu Gothic"/>
                <a:cs typeface="Yu Gothic"/>
              </a:rPr>
              <a:t>組織内</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のステークホルダー」という具合に視点を切り替えると、十分社内技術ドキュメンテーションの一般論として通用するので文献として採用した。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202356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2. </a:t>
            </a:r>
            <a:r>
              <a:rPr lang="ja-JP" altLang="en-US" b="1" dirty="0">
                <a:latin typeface="Calibri (Headings)"/>
                <a:sym typeface="Arial"/>
              </a:rPr>
              <a:t>ドキュメンテーションとは？</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ドキュメンテーションとは？</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464184"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ドキュメンテーションとは、</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文書という媒体を通じて情報を読み手に伝え</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る行為や執筆された文書そのもの</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を意味する。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75"/>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換言すると、ドキュメンテーションは</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コミュニケーション手段の</a:t>
            </a:r>
            <a:r>
              <a:rPr kumimoji="0" lang="en-US" altLang="ja-JP" sz="2400" b="1" i="0" u="none" strike="noStrike" kern="0" cap="none" spc="-10" normalizeH="0" baseline="0" noProof="0" dirty="0">
                <a:ln>
                  <a:noFill/>
                </a:ln>
                <a:solidFill>
                  <a:sysClr val="windowText" lastClr="000000"/>
                </a:solidFill>
                <a:effectLst/>
                <a:uLnTx/>
                <a:uFillTx/>
                <a:latin typeface="Calibri"/>
                <a:cs typeface="Calibri"/>
              </a:rPr>
              <a:t>1</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つ</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355600" lvl="0" indent="0" defTabSz="914400" eaLnBrk="1" fontAlgn="auto" latinLnBrk="0" hangingPunct="1">
              <a:lnSpc>
                <a:spcPts val="2590"/>
              </a:lnSpc>
              <a:spcBef>
                <a:spcPts val="1050"/>
              </a:spcBef>
              <a:spcAft>
                <a:spcPts val="0"/>
              </a:spcAft>
              <a:buClrTx/>
              <a:buSzTx/>
              <a:buFontTx/>
              <a:buNone/>
              <a:tabLst/>
              <a:defRPr/>
            </a:pPr>
            <a:r>
              <a:rPr kumimoji="0" lang="ja-JP" altLang="en-US" sz="2400" b="0" i="0" u="none" strike="noStrike" kern="0" cap="none" spc="75" normalizeH="0" baseline="0" noProof="0" dirty="0">
                <a:ln>
                  <a:noFill/>
                </a:ln>
                <a:solidFill>
                  <a:sysClr val="windowText" lastClr="000000"/>
                </a:solidFill>
                <a:effectLst/>
                <a:uLnTx/>
                <a:uFillTx/>
                <a:latin typeface="Yu Gothic"/>
                <a:cs typeface="Yu Gothic"/>
              </a:rPr>
              <a:t>基本的に書き手</a:t>
            </a:r>
            <a:r>
              <a:rPr kumimoji="0" lang="ja-JP" altLang="en-US" sz="2400" b="0" i="0" u="none" strike="noStrike" kern="0" cap="none" spc="-6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読み手の一方通行のコミュニケーションなので、</a:t>
            </a:r>
            <a:r>
              <a:rPr kumimoji="0" lang="ja-JP" altLang="en-US" sz="2400" b="1" i="0" u="none" strike="noStrike" kern="0" cap="none" spc="-20" normalizeH="0" baseline="0" noProof="0" dirty="0">
                <a:ln>
                  <a:noFill/>
                </a:ln>
                <a:solidFill>
                  <a:sysClr val="windowText" lastClr="000000"/>
                </a:solidFill>
                <a:effectLst/>
                <a:uLnTx/>
                <a:uFillTx/>
                <a:latin typeface="Yu Gothic"/>
                <a:cs typeface="Yu Gothic"/>
              </a:rPr>
              <a:t>書き手</a:t>
            </a:r>
            <a:r>
              <a:rPr kumimoji="0" lang="ja-JP" altLang="en-US" sz="2400" b="1" i="0" u="none" strike="noStrike" kern="0" cap="none" spc="-25" normalizeH="0" baseline="0" noProof="0" dirty="0">
                <a:ln>
                  <a:noFill/>
                </a:ln>
                <a:solidFill>
                  <a:sysClr val="windowText" lastClr="000000"/>
                </a:solidFill>
                <a:effectLst/>
                <a:uLnTx/>
                <a:uFillTx/>
                <a:latin typeface="Yu Gothic"/>
                <a:cs typeface="Yu Gothic"/>
              </a:rPr>
              <a:t>は文書の内容に </a:t>
            </a:r>
            <a:r>
              <a:rPr kumimoji="0" lang="en-US" altLang="ja-JP" sz="2400" b="1" i="0" u="none" strike="noStrike" kern="0" cap="none" spc="0" normalizeH="0" baseline="0" noProof="0" dirty="0">
                <a:ln>
                  <a:noFill/>
                </a:ln>
                <a:solidFill>
                  <a:sysClr val="windowText" lastClr="000000"/>
                </a:solidFill>
                <a:effectLst/>
                <a:uLnTx/>
                <a:uFillTx/>
                <a:latin typeface="Calibri"/>
                <a:cs typeface="Calibri"/>
              </a:rPr>
              <a:t>100%</a:t>
            </a:r>
            <a:r>
              <a:rPr kumimoji="0" lang="ja-JP" altLang="en-US" sz="2400" b="1" i="0" u="none" strike="noStrike" kern="0" cap="none" spc="20" normalizeH="0" baseline="0" noProof="0" dirty="0">
                <a:ln>
                  <a:noFill/>
                </a:ln>
                <a:solidFill>
                  <a:sysClr val="windowText" lastClr="000000"/>
                </a:solidFill>
                <a:effectLst/>
                <a:uLnTx/>
                <a:uFillTx/>
                <a:latin typeface="Calibri"/>
                <a:cs typeface="Calibri"/>
              </a:rPr>
              <a:t> </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の責任を負う</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277495" lvl="0" indent="0" defTabSz="914400" eaLnBrk="1" fontAlgn="auto" latinLnBrk="0" hangingPunct="1">
              <a:lnSpc>
                <a:spcPts val="2590"/>
              </a:lnSpc>
              <a:spcBef>
                <a:spcPts val="100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社内技術ドキュメンテーションにおいては、読み手はチームやプロジェク</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トなど、社内組織の参画者などを含めた利害関係者</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ステークホルダー</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25" normalizeH="0" baseline="0" noProof="0" dirty="0">
                <a:ln>
                  <a:noFill/>
                </a:ln>
                <a:solidFill>
                  <a:sysClr val="windowText" lastClr="000000"/>
                </a:solidFill>
                <a:effectLst/>
                <a:uLnTx/>
                <a:uFillTx/>
                <a:latin typeface="Yu Gothic"/>
                <a:cs typeface="Yu Gothic"/>
              </a:rPr>
              <a:t>を指す。</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464820" lvl="0" indent="0" algn="just" defTabSz="914400" eaLnBrk="1" fontAlgn="auto" latinLnBrk="0" hangingPunct="1">
              <a:lnSpc>
                <a:spcPts val="2590"/>
              </a:lnSpc>
              <a:spcBef>
                <a:spcPts val="100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文書はステークホルダーが書き手の伝えたい情報を得るための最重要インターフェースであり、この品質と組織内のステークホルダーのコミット度</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合</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高い生産性や意欲の維持</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の間には高い相関関係がある。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23501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社内技術ドキュメンテーションに必須の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6</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大要素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社内技術ドキュメンテーションに必須の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6</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大要素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42545" marR="5080"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書き手と読み手のインターフェースとなる文書の品質を担保するためには、</a:t>
            </a:r>
            <a:r>
              <a:rPr kumimoji="0" lang="ja-JP" altLang="en-US" sz="2400" b="0" i="0" u="none" strike="noStrike" kern="0" cap="none" spc="-10" normalizeH="0" baseline="0" noProof="0" dirty="0">
                <a:ln>
                  <a:noFill/>
                </a:ln>
                <a:solidFill>
                  <a:prstClr val="black"/>
                </a:solidFill>
                <a:effectLst/>
                <a:uLnTx/>
                <a:uFillTx/>
                <a:latin typeface="Yu Gothic"/>
                <a:ea typeface="+mn-ea"/>
              </a:rPr>
              <a:t>以下の</a:t>
            </a:r>
            <a:r>
              <a:rPr kumimoji="0" lang="en-US" altLang="ja-JP" sz="2400" b="0" i="0" u="none" strike="noStrike" kern="0" cap="none" spc="-10" normalizeH="0" baseline="0" noProof="0" dirty="0">
                <a:ln>
                  <a:noFill/>
                </a:ln>
                <a:solidFill>
                  <a:prstClr val="black"/>
                </a:solidFill>
                <a:effectLst/>
                <a:uLnTx/>
                <a:uFillTx/>
                <a:latin typeface="Calibri"/>
                <a:ea typeface="+mn-ea"/>
                <a:cs typeface="Calibri"/>
              </a:rPr>
              <a:t>6</a:t>
            </a:r>
            <a:r>
              <a:rPr kumimoji="0" lang="ja-JP" altLang="en-US" sz="2400" b="0" i="0" u="none" strike="noStrike" kern="0" cap="none" spc="-15" normalizeH="0" baseline="0" noProof="0" dirty="0">
                <a:ln>
                  <a:noFill/>
                </a:ln>
                <a:solidFill>
                  <a:prstClr val="black"/>
                </a:solidFill>
                <a:effectLst/>
                <a:uLnTx/>
                <a:uFillTx/>
                <a:latin typeface="Yu Gothic"/>
                <a:ea typeface="+mn-ea"/>
              </a:rPr>
              <a:t>つの要素が必要不可欠である。</a:t>
            </a:r>
          </a:p>
          <a:p>
            <a:pPr marL="401955" marR="0" lvl="0" indent="-359410" defTabSz="914400" eaLnBrk="1" fontAlgn="auto" latinLnBrk="0" hangingPunct="1">
              <a:lnSpc>
                <a:spcPct val="100000"/>
              </a:lnSpc>
              <a:spcBef>
                <a:spcPts val="4275"/>
              </a:spcBef>
              <a:spcAft>
                <a:spcPts val="0"/>
              </a:spcAft>
              <a:buClr>
                <a:srgbClr val="000000"/>
              </a:buClr>
              <a:buSzTx/>
              <a:buFont typeface="Calibri"/>
              <a:buAutoNum type="arabicPeriod"/>
              <a:tabLst>
                <a:tab pos="402590" algn="l"/>
              </a:tabLst>
              <a:defRPr/>
            </a:pPr>
            <a:r>
              <a:rPr kumimoji="0" lang="ja-JP" altLang="en-US" sz="2400" b="1" i="0" u="sng" strike="noStrike" kern="0" cap="none" spc="-10" normalizeH="0" baseline="0" noProof="0" dirty="0">
                <a:ln>
                  <a:noFill/>
                </a:ln>
                <a:solidFill>
                  <a:srgbClr val="0462C1"/>
                </a:solidFill>
                <a:effectLst/>
                <a:uLnTx/>
                <a:uFill>
                  <a:solidFill>
                    <a:srgbClr val="0462C1"/>
                  </a:solidFill>
                </a:uFill>
                <a:latin typeface="Yu Gothic"/>
                <a:ea typeface="+mn-ea"/>
                <a:cs typeface="Yu Gothic"/>
                <a:hlinkClick r:id="rId3"/>
              </a:rPr>
              <a:t>科学的であること</a:t>
            </a:r>
          </a:p>
          <a:p>
            <a:pPr marL="401320" marR="0" lvl="0" indent="-358775" defTabSz="914400" eaLnBrk="1" fontAlgn="auto" latinLnBrk="0" hangingPunct="1">
              <a:lnSpc>
                <a:spcPct val="100000"/>
              </a:lnSpc>
              <a:spcBef>
                <a:spcPts val="710"/>
              </a:spcBef>
              <a:spcAft>
                <a:spcPts val="0"/>
              </a:spcAft>
              <a:buClr>
                <a:srgbClr val="000000"/>
              </a:buClr>
              <a:buSzTx/>
              <a:buFont typeface="Calibri"/>
              <a:buAutoNum type="arabicPeriod"/>
              <a:tabLst>
                <a:tab pos="401955" algn="l"/>
              </a:tabLst>
              <a:defRPr/>
            </a:pPr>
            <a:r>
              <a:rPr kumimoji="0" lang="ja-JP" altLang="en-US" sz="2400" b="1" i="0" u="sng" strike="noStrike" kern="0" cap="none" spc="-20" normalizeH="0" baseline="0" noProof="0" dirty="0">
                <a:ln>
                  <a:noFill/>
                </a:ln>
                <a:solidFill>
                  <a:srgbClr val="0462C1"/>
                </a:solidFill>
                <a:effectLst/>
                <a:uLnTx/>
                <a:uFill>
                  <a:solidFill>
                    <a:srgbClr val="0462C1"/>
                  </a:solidFill>
                </a:uFill>
                <a:latin typeface="Yu Gothic"/>
                <a:ea typeface="+mn-ea"/>
                <a:cs typeface="Yu Gothic"/>
                <a:hlinkClick r:id="rId4"/>
              </a:rPr>
              <a:t>効率的であること</a:t>
            </a:r>
          </a:p>
          <a:p>
            <a:pPr marL="401955" marR="0" lvl="0" indent="-359410" defTabSz="914400" eaLnBrk="1" fontAlgn="auto" latinLnBrk="0" hangingPunct="1">
              <a:lnSpc>
                <a:spcPct val="100000"/>
              </a:lnSpc>
              <a:spcBef>
                <a:spcPts val="710"/>
              </a:spcBef>
              <a:spcAft>
                <a:spcPts val="0"/>
              </a:spcAft>
              <a:buClr>
                <a:srgbClr val="000000"/>
              </a:buClr>
              <a:buSzTx/>
              <a:buFont typeface="Calibri"/>
              <a:buAutoNum type="arabicPeriod"/>
              <a:tabLst>
                <a:tab pos="402590" algn="l"/>
              </a:tabLst>
              <a:defRPr/>
            </a:pPr>
            <a:r>
              <a:rPr kumimoji="0" lang="ja-JP" altLang="en-US" sz="2400" b="1" i="0" u="sng" strike="noStrike" kern="0" cap="none" spc="-10" normalizeH="0" baseline="0" noProof="0" dirty="0">
                <a:ln>
                  <a:noFill/>
                </a:ln>
                <a:solidFill>
                  <a:srgbClr val="0462C1"/>
                </a:solidFill>
                <a:effectLst/>
                <a:uLnTx/>
                <a:uFill>
                  <a:solidFill>
                    <a:srgbClr val="0462C1"/>
                  </a:solidFill>
                </a:uFill>
                <a:latin typeface="Yu Gothic"/>
                <a:ea typeface="+mn-ea"/>
                <a:cs typeface="Yu Gothic"/>
                <a:hlinkClick r:id="rId5"/>
              </a:rPr>
              <a:t>印象的であること</a:t>
            </a:r>
          </a:p>
          <a:p>
            <a:pPr marL="401955" marR="0" lvl="0" indent="-359410" defTabSz="914400" eaLnBrk="1" fontAlgn="auto" latinLnBrk="0" hangingPunct="1">
              <a:lnSpc>
                <a:spcPct val="100000"/>
              </a:lnSpc>
              <a:spcBef>
                <a:spcPts val="720"/>
              </a:spcBef>
              <a:spcAft>
                <a:spcPts val="0"/>
              </a:spcAft>
              <a:buClr>
                <a:srgbClr val="000000"/>
              </a:buClr>
              <a:buSzTx/>
              <a:buFont typeface="Calibri"/>
              <a:buAutoNum type="arabicPeriod"/>
              <a:tabLst>
                <a:tab pos="402590" algn="l"/>
              </a:tabLst>
              <a:defRPr/>
            </a:pPr>
            <a:r>
              <a:rPr kumimoji="0" lang="ja-JP" altLang="en-US" sz="2400" b="1" i="0" u="sng" strike="noStrike" kern="0" cap="none" spc="-5" normalizeH="0" baseline="0" noProof="0" dirty="0">
                <a:ln>
                  <a:noFill/>
                </a:ln>
                <a:solidFill>
                  <a:srgbClr val="0462C1"/>
                </a:solidFill>
                <a:effectLst/>
                <a:uLnTx/>
                <a:uFill>
                  <a:solidFill>
                    <a:srgbClr val="0462C1"/>
                  </a:solidFill>
                </a:uFill>
                <a:latin typeface="Yu Gothic"/>
                <a:ea typeface="+mn-ea"/>
                <a:cs typeface="Yu Gothic"/>
                <a:hlinkClick r:id="rId6"/>
              </a:rPr>
              <a:t>想定読者層が明確であること</a:t>
            </a:r>
          </a:p>
          <a:p>
            <a:pPr marL="401320" marR="0" lvl="0" indent="-358775" defTabSz="914400" eaLnBrk="1" fontAlgn="auto" latinLnBrk="0" hangingPunct="1">
              <a:lnSpc>
                <a:spcPct val="100000"/>
              </a:lnSpc>
              <a:spcBef>
                <a:spcPts val="705"/>
              </a:spcBef>
              <a:spcAft>
                <a:spcPts val="0"/>
              </a:spcAft>
              <a:buClr>
                <a:srgbClr val="000000"/>
              </a:buClr>
              <a:buSzTx/>
              <a:buFont typeface="Calibri"/>
              <a:buAutoNum type="arabicPeriod"/>
              <a:tabLst>
                <a:tab pos="401955" algn="l"/>
              </a:tabLst>
              <a:defRPr/>
            </a:pPr>
            <a:r>
              <a:rPr kumimoji="0" lang="ja-JP" altLang="en-US" sz="2400" b="1" i="0" u="sng" strike="noStrike" kern="0" cap="none" spc="-15" normalizeH="0" baseline="0" noProof="0" dirty="0">
                <a:ln>
                  <a:noFill/>
                </a:ln>
                <a:solidFill>
                  <a:srgbClr val="0462C1"/>
                </a:solidFill>
                <a:effectLst/>
                <a:uLnTx/>
                <a:uFill>
                  <a:solidFill>
                    <a:srgbClr val="0462C1"/>
                  </a:solidFill>
                </a:uFill>
                <a:latin typeface="Yu Gothic"/>
                <a:ea typeface="+mn-ea"/>
                <a:cs typeface="Yu Gothic"/>
                <a:hlinkClick r:id="rId7"/>
              </a:rPr>
              <a:t>技術者と非技術者間のコミュニケーション</a:t>
            </a:r>
          </a:p>
          <a:p>
            <a:pPr marL="401955" marR="0" lvl="0" indent="-359410" defTabSz="914400" eaLnBrk="1" fontAlgn="auto" latinLnBrk="0" hangingPunct="1">
              <a:lnSpc>
                <a:spcPct val="100000"/>
              </a:lnSpc>
              <a:spcBef>
                <a:spcPts val="715"/>
              </a:spcBef>
              <a:spcAft>
                <a:spcPts val="0"/>
              </a:spcAft>
              <a:buClr>
                <a:srgbClr val="000000"/>
              </a:buClr>
              <a:buSzTx/>
              <a:buFont typeface="Calibri"/>
              <a:buAutoNum type="arabicPeriod"/>
              <a:tabLst>
                <a:tab pos="402590" algn="l"/>
              </a:tabLst>
              <a:defRPr/>
            </a:pPr>
            <a:r>
              <a:rPr kumimoji="0" lang="ja-JP" altLang="en-US" sz="2400" b="1" i="0" u="sng" strike="noStrike" kern="0" cap="none" spc="-5" normalizeH="0" baseline="0" noProof="0" dirty="0">
                <a:ln>
                  <a:noFill/>
                </a:ln>
                <a:solidFill>
                  <a:srgbClr val="0462C1"/>
                </a:solidFill>
                <a:effectLst/>
                <a:uLnTx/>
                <a:uFill>
                  <a:solidFill>
                    <a:srgbClr val="0462C1"/>
                  </a:solidFill>
                </a:uFill>
                <a:latin typeface="Yu Gothic"/>
                <a:ea typeface="+mn-ea"/>
                <a:cs typeface="Yu Gothic"/>
                <a:hlinkClick r:id="rId8"/>
              </a:rPr>
              <a:t>適切なワークフロー設計</a:t>
            </a:r>
          </a:p>
        </p:txBody>
      </p:sp>
    </p:spTree>
    <p:extLst>
      <p:ext uri="{BB962C8B-B14F-4D97-AF65-F5344CB8AC3E}">
        <p14:creationId xmlns:p14="http://schemas.microsoft.com/office/powerpoint/2010/main" val="2302870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社内技術ドキュメンテーションに必須の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6</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大要素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675"/>
              </a:spcBef>
              <a:spcAft>
                <a:spcPts val="0"/>
              </a:spcAft>
              <a:buClrTx/>
              <a:buSzTx/>
              <a:buFontTx/>
              <a:buNone/>
              <a:tabLst/>
              <a:defRPr/>
            </a:pPr>
            <a:r>
              <a:rPr kumimoji="0" lang="ja-JP" altLang="en-US" sz="2600" b="1" i="0" u="none" strike="noStrike" kern="0" cap="none" spc="-35" normalizeH="0" baseline="0" noProof="0" dirty="0">
                <a:ln>
                  <a:noFill/>
                </a:ln>
                <a:solidFill>
                  <a:sysClr val="windowText" lastClr="000000"/>
                </a:solidFill>
                <a:effectLst/>
                <a:uLnTx/>
                <a:uFillTx/>
                <a:latin typeface="Yu Gothic"/>
                <a:cs typeface="Yu Gothic"/>
              </a:rPr>
              <a:t>① 科学的であること</a:t>
            </a:r>
            <a:endParaRPr kumimoji="0" lang="ja-JP" altLang="en-US" sz="26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84"/>
              </a:spcBef>
              <a:spcAft>
                <a:spcPts val="0"/>
              </a:spcAft>
              <a:buClrTx/>
              <a:buSzTx/>
              <a:buFontTx/>
              <a:buNone/>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文書が科学的であるために必須の要素は以下の</a:t>
            </a:r>
            <a:r>
              <a:rPr kumimoji="0" lang="en-US" altLang="ja-JP" sz="2200" b="0" i="0" u="none" strike="noStrike" kern="0" cap="none" spc="0" normalizeH="0" baseline="0" noProof="0" dirty="0">
                <a:ln>
                  <a:noFill/>
                </a:ln>
                <a:solidFill>
                  <a:sysClr val="windowText" lastClr="000000"/>
                </a:solidFill>
                <a:effectLst/>
                <a:uLnTx/>
                <a:uFillTx/>
                <a:latin typeface="Calibri"/>
                <a:cs typeface="Calibri"/>
              </a:rPr>
              <a:t>3</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つである。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3590"/>
              </a:spcBef>
              <a:spcAft>
                <a:spcPts val="0"/>
              </a:spcAft>
              <a:buClrTx/>
              <a:buSzTx/>
              <a:buFont typeface="Calibri"/>
              <a:buAutoNum type="arabicPeriod"/>
              <a:tabLst>
                <a:tab pos="374015" algn="l"/>
              </a:tabLst>
              <a:defRPr/>
            </a:pPr>
            <a:r>
              <a:rPr kumimoji="0" lang="ja-JP" altLang="en-US" sz="2200" b="1" i="0" u="none" strike="noStrike" kern="0" cap="none" spc="-30" normalizeH="0" baseline="0" noProof="0" dirty="0">
                <a:ln>
                  <a:noFill/>
                </a:ln>
                <a:solidFill>
                  <a:sysClr val="windowText" lastClr="000000"/>
                </a:solidFill>
                <a:effectLst/>
                <a:uLnTx/>
                <a:uFillTx/>
                <a:latin typeface="Yu Gothic"/>
                <a:cs typeface="Yu Gothic"/>
              </a:rPr>
              <a:t>一貫性</a:t>
            </a:r>
            <a:r>
              <a:rPr kumimoji="0" lang="en-US" altLang="ja-JP" sz="2200" b="0" i="0" u="none" strike="noStrike" kern="0" cap="none" spc="95"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いつ、どこ、誰が読んでも再現性があること</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728980" marR="0" lvl="1" indent="-259079" defTabSz="914400" eaLnBrk="1" fontAlgn="auto" latinLnBrk="0" hangingPunct="1">
              <a:lnSpc>
                <a:spcPct val="100000"/>
              </a:lnSpc>
              <a:spcBef>
                <a:spcPts val="60"/>
              </a:spcBef>
              <a:spcAft>
                <a:spcPts val="0"/>
              </a:spcAft>
              <a:buClrTx/>
              <a:buSzTx/>
              <a:buFont typeface="Arial MT"/>
              <a:buChar char="•"/>
              <a:tabLst>
                <a:tab pos="728980" algn="l"/>
              </a:tabLst>
              <a:defRPr/>
            </a:pPr>
            <a:r>
              <a:rPr kumimoji="0" lang="ja-JP" altLang="en-US" sz="1900" b="0" i="0" u="none" strike="noStrike" kern="0" cap="none" spc="25" normalizeH="0" baseline="0" noProof="0" dirty="0">
                <a:ln>
                  <a:noFill/>
                </a:ln>
                <a:solidFill>
                  <a:sysClr val="windowText" lastClr="000000"/>
                </a:solidFill>
                <a:effectLst/>
                <a:uLnTx/>
                <a:uFillTx/>
                <a:latin typeface="Calibri"/>
                <a:cs typeface="Calibri"/>
              </a:rPr>
              <a:t>→ </a:t>
            </a:r>
            <a:r>
              <a:rPr kumimoji="0" lang="ja-JP" altLang="en-US" sz="1900" b="0" i="0" u="none" strike="noStrike" kern="0" cap="none" spc="-30" normalizeH="0" baseline="0" noProof="0" dirty="0">
                <a:ln>
                  <a:noFill/>
                </a:ln>
                <a:solidFill>
                  <a:sysClr val="windowText" lastClr="000000"/>
                </a:solidFill>
                <a:effectLst/>
                <a:uLnTx/>
                <a:uFillTx/>
                <a:latin typeface="Yu Gothic"/>
                <a:cs typeface="Yu Gothic"/>
              </a:rPr>
              <a:t>外部要因に左右されないこと</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459"/>
              </a:spcBef>
              <a:spcAft>
                <a:spcPts val="0"/>
              </a:spcAft>
              <a:buClrTx/>
              <a:buSzTx/>
              <a:buFont typeface="Calibri"/>
              <a:buAutoNum type="arabicPeriod"/>
              <a:tabLst>
                <a:tab pos="374015" algn="l"/>
              </a:tabLst>
              <a:defRPr/>
            </a:pPr>
            <a:r>
              <a:rPr kumimoji="0" lang="ja-JP" altLang="en-US" sz="2200" b="1" i="0" u="none" strike="noStrike" kern="0" cap="none" spc="-30" normalizeH="0" baseline="0" noProof="0" dirty="0">
                <a:ln>
                  <a:noFill/>
                </a:ln>
                <a:solidFill>
                  <a:sysClr val="windowText" lastClr="000000"/>
                </a:solidFill>
                <a:effectLst/>
                <a:uLnTx/>
                <a:uFillTx/>
                <a:latin typeface="Yu Gothic"/>
                <a:cs typeface="Yu Gothic"/>
              </a:rPr>
              <a:t>精度</a:t>
            </a:r>
            <a:r>
              <a:rPr kumimoji="0" lang="en-US" altLang="ja-JP" sz="2200" b="0" i="0" u="none" strike="noStrike" kern="0" cap="none" spc="75"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事実と乖離のない情報が参照出来ること</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728980" marR="0" lvl="1" indent="-259079" defTabSz="914400" eaLnBrk="1" fontAlgn="auto" latinLnBrk="0" hangingPunct="1">
              <a:lnSpc>
                <a:spcPct val="100000"/>
              </a:lnSpc>
              <a:spcBef>
                <a:spcPts val="60"/>
              </a:spcBef>
              <a:spcAft>
                <a:spcPts val="0"/>
              </a:spcAft>
              <a:buClrTx/>
              <a:buSzTx/>
              <a:buFont typeface="Arial MT"/>
              <a:buChar char="•"/>
              <a:tabLst>
                <a:tab pos="728980" algn="l"/>
              </a:tabLst>
              <a:defRPr/>
            </a:pPr>
            <a:r>
              <a:rPr kumimoji="0" lang="ja-JP" altLang="en-US" sz="1900" b="0" i="0" u="none" strike="noStrike" kern="0" cap="none" spc="35" normalizeH="0" baseline="0" noProof="0" dirty="0">
                <a:ln>
                  <a:noFill/>
                </a:ln>
                <a:solidFill>
                  <a:sysClr val="windowText" lastClr="000000"/>
                </a:solidFill>
                <a:effectLst/>
                <a:uLnTx/>
                <a:uFillTx/>
                <a:latin typeface="Calibri"/>
                <a:cs typeface="Calibri"/>
              </a:rPr>
              <a:t>→ </a:t>
            </a:r>
            <a:r>
              <a:rPr kumimoji="0" lang="ja-JP" altLang="en-US" sz="1900" b="0" i="0" u="none" strike="noStrike" kern="0" cap="none" spc="-30" normalizeH="0" baseline="0" noProof="0" dirty="0">
                <a:ln>
                  <a:noFill/>
                </a:ln>
                <a:solidFill>
                  <a:sysClr val="windowText" lastClr="000000"/>
                </a:solidFill>
                <a:effectLst/>
                <a:uLnTx/>
                <a:uFillTx/>
                <a:latin typeface="Yu Gothic"/>
                <a:cs typeface="Yu Gothic"/>
              </a:rPr>
              <a:t>掲載内容には必ず論拠が存在すること</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455"/>
              </a:spcBef>
              <a:spcAft>
                <a:spcPts val="0"/>
              </a:spcAft>
              <a:buClrTx/>
              <a:buSzTx/>
              <a:buFont typeface="Calibri"/>
              <a:buAutoNum type="arabicPeriod"/>
              <a:tabLst>
                <a:tab pos="374015" algn="l"/>
              </a:tabLst>
              <a:defRPr/>
            </a:pPr>
            <a:r>
              <a:rPr kumimoji="0" lang="ja-JP" altLang="en-US" sz="2200" b="1" i="0" u="none" strike="noStrike" kern="0" cap="none" spc="-30" normalizeH="0" baseline="0" noProof="0" dirty="0">
                <a:ln>
                  <a:noFill/>
                </a:ln>
                <a:solidFill>
                  <a:sysClr val="windowText" lastClr="000000"/>
                </a:solidFill>
                <a:effectLst/>
                <a:uLnTx/>
                <a:uFillTx/>
                <a:latin typeface="Yu Gothic"/>
                <a:cs typeface="Yu Gothic"/>
              </a:rPr>
              <a:t>関連性</a:t>
            </a:r>
            <a:r>
              <a:rPr kumimoji="0" lang="en-US" altLang="ja-JP" sz="2200" b="0" i="0" u="none" strike="noStrike" kern="0" cap="none" spc="100"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必要な情報が網羅されていて抜け漏れがないこと</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728980" marR="0" lvl="1" indent="-320040" defTabSz="914400" eaLnBrk="1" fontAlgn="auto" latinLnBrk="0" hangingPunct="1">
              <a:lnSpc>
                <a:spcPct val="100000"/>
              </a:lnSpc>
              <a:spcBef>
                <a:spcPts val="60"/>
              </a:spcBef>
              <a:spcAft>
                <a:spcPts val="0"/>
              </a:spcAft>
              <a:buClrTx/>
              <a:buSzTx/>
              <a:buFont typeface="Arial MT"/>
              <a:buChar char="•"/>
              <a:tabLst>
                <a:tab pos="728980" algn="l"/>
              </a:tabLst>
              <a:defRPr/>
            </a:pPr>
            <a:r>
              <a:rPr kumimoji="0" lang="ja-JP" altLang="en-US" sz="1900" b="0" i="0" u="none" strike="noStrike" kern="0" cap="none" spc="70" normalizeH="0" baseline="0" noProof="0" dirty="0">
                <a:ln>
                  <a:noFill/>
                </a:ln>
                <a:solidFill>
                  <a:sysClr val="windowText" lastClr="000000"/>
                </a:solidFill>
                <a:effectLst/>
                <a:uLnTx/>
                <a:uFillTx/>
                <a:latin typeface="Calibri"/>
                <a:cs typeface="Calibri"/>
              </a:rPr>
              <a:t>→ </a:t>
            </a:r>
            <a:r>
              <a:rPr kumimoji="0" lang="ja-JP" altLang="en-US" sz="1900" b="0" i="0" u="none" strike="noStrike" kern="0" cap="none" spc="-30" normalizeH="0" baseline="0" noProof="0" dirty="0">
                <a:ln>
                  <a:noFill/>
                </a:ln>
                <a:solidFill>
                  <a:sysClr val="windowText" lastClr="000000"/>
                </a:solidFill>
                <a:effectLst/>
                <a:uLnTx/>
                <a:uFillTx/>
                <a:latin typeface="Yu Gothic"/>
                <a:cs typeface="Yu Gothic"/>
              </a:rPr>
              <a:t>特に作業目的のような本質的な内容が必ず掲載されていること</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0" marR="0" lvl="0" indent="0" defTabSz="914400" eaLnBrk="1" fontAlgn="auto" latinLnBrk="0" hangingPunct="1">
              <a:lnSpc>
                <a:spcPct val="100000"/>
              </a:lnSpc>
              <a:spcBef>
                <a:spcPts val="484"/>
              </a:spcBef>
              <a:spcAft>
                <a:spcPts val="0"/>
              </a:spcAft>
              <a:buClrTx/>
              <a:buSzTx/>
              <a:buFontTx/>
              <a:buNone/>
              <a:tabLst/>
              <a:defRPr/>
            </a:pP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110"/>
              </a:lnSpc>
              <a:spcBef>
                <a:spcPts val="0"/>
              </a:spcBef>
              <a:spcAft>
                <a:spcPts val="0"/>
              </a:spcAft>
              <a:buClrTx/>
              <a:buSzTx/>
              <a:buFontTx/>
              <a:buNone/>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文書を通して必要な事実に基づいた情報が過不足なく共有され、その内容に冪等</a:t>
            </a:r>
            <a:r>
              <a:rPr kumimoji="0" lang="ja-JP" altLang="en-US" sz="2200" b="1" i="0" u="none" strike="noStrike" kern="0" cap="none" spc="-30" normalizeH="0" baseline="0" noProof="0" dirty="0">
                <a:ln>
                  <a:noFill/>
                </a:ln>
                <a:solidFill>
                  <a:sysClr val="windowText" lastClr="000000"/>
                </a:solidFill>
                <a:effectLst/>
                <a:uLnTx/>
                <a:uFillTx/>
                <a:latin typeface="Yu Gothic"/>
                <a:cs typeface="Yu Gothic"/>
              </a:rPr>
              <a:t>性がある</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ことが「科学的である」ための条件である。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398926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社内技術ドキュメンテーションに必須の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6</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大要素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② 効率的であること</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74930" lvl="0" indent="0" defTabSz="914400" eaLnBrk="1" fontAlgn="auto" latinLnBrk="0" hangingPunct="1">
              <a:lnSpc>
                <a:spcPts val="2590"/>
              </a:lnSpc>
              <a:spcBef>
                <a:spcPts val="107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例え文書が</a:t>
            </a: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科学的</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であっても、それが散在していては必要な情報を探すのに骨が折れてしまう。</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379095" lvl="0" indent="0" defTabSz="914400" eaLnBrk="1" fontAlgn="auto" latinLnBrk="0" hangingPunct="1">
              <a:lnSpc>
                <a:spcPts val="2590"/>
              </a:lnSpc>
              <a:spcBef>
                <a:spcPts val="10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適切な索引を張り、必要な情報がどこにあるかが一目で分かるように整</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理・分類する。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00"/>
              </a:spcBef>
              <a:spcAft>
                <a:spcPts val="0"/>
              </a:spcAft>
              <a:buClrTx/>
              <a:buSzTx/>
              <a:buFontTx/>
              <a:buNone/>
              <a:tabLst/>
              <a:defRPr/>
            </a:pPr>
            <a:r>
              <a:rPr kumimoji="0" lang="ja-JP" altLang="en-US" sz="2400" b="1" i="0" u="none" strike="noStrike" kern="0" cap="none" spc="-15" normalizeH="0" baseline="0" noProof="0" dirty="0">
                <a:ln>
                  <a:noFill/>
                </a:ln>
                <a:solidFill>
                  <a:sysClr val="windowText" lastClr="000000"/>
                </a:solidFill>
                <a:effectLst/>
                <a:uLnTx/>
                <a:uFillTx/>
                <a:latin typeface="Yu Gothic"/>
                <a:cs typeface="Yu Gothic"/>
              </a:rPr>
              <a:t>情報を適切に集約・体系化することで、 最小の労力で必要な情報が過不足</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なく手に入る状態を担保する</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ことは必要不可欠である。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763824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社内技術ドキュメンテーションに必須の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6</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大要素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③ 印象的であること</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83185" lvl="0" indent="0" defTabSz="914400" eaLnBrk="1" fontAlgn="auto" latinLnBrk="0" hangingPunct="1">
              <a:lnSpc>
                <a:spcPts val="2590"/>
              </a:lnSpc>
              <a:spcBef>
                <a:spcPts val="107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文書が</a:t>
            </a: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科学的</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a:t>
            </a: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4"/>
              </a:rPr>
              <a:t>効率的</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であっても、その内容が読了後読み手の印象や記憶に残っていなければ意味がない。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印象に残らない文書は往々にして退屈で読み辛く、視覚情報</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(e.g.,</a:t>
            </a:r>
            <a:r>
              <a:rPr kumimoji="0" lang="ja-JP" altLang="en-US" sz="2400" b="0" i="0" u="none" strike="noStrike" kern="0" cap="none" spc="-10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シーケン</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ス図・クラス図・</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ER</a:t>
            </a:r>
            <a:r>
              <a:rPr kumimoji="0" lang="ja-JP" altLang="en-US" sz="2400" b="0" i="0" u="none" strike="noStrike" kern="0" cap="none" spc="7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図</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が欠落している。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83820" lvl="0" indent="0" defTabSz="914400" eaLnBrk="1" fontAlgn="auto" latinLnBrk="0" hangingPunct="1">
              <a:lnSpc>
                <a:spcPts val="2590"/>
              </a:lnSpc>
              <a:spcBef>
                <a:spcPts val="100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我々が何かを印象強く記憶する時、そこには必ず人間に生来備わった喜怒</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哀楽の感情が絡む。</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75"/>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剰え、我々は最終的な意思決定を理論より感情によって行うことが多い。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80645" lvl="0" indent="0" defTabSz="914400" eaLnBrk="1" fontAlgn="auto" latinLnBrk="0" hangingPunct="1">
              <a:lnSpc>
                <a:spcPts val="2590"/>
              </a:lnSpc>
              <a:spcBef>
                <a:spcPts val="105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それだけ読み手の感情に訴えかけることが重要であり、</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読み手を退屈させ</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ない文体・表現・視覚情報やユーモアを織り交ぜるなどの工夫</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が必要だ。</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016096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社内技術ドキュメンテーションに必須の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6</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大要素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0" normalizeH="0" baseline="0" noProof="0" dirty="0">
                <a:ln>
                  <a:noFill/>
                </a:ln>
                <a:solidFill>
                  <a:sysClr val="windowText" lastClr="000000"/>
                </a:solidFill>
                <a:effectLst/>
                <a:uLnTx/>
                <a:uFillTx/>
                <a:latin typeface="Yu Gothic"/>
                <a:cs typeface="Yu Gothic"/>
              </a:rPr>
              <a:t>④ 想定読者層が明確であること</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114935" lvl="0" indent="0" defTabSz="914400" eaLnBrk="1" fontAlgn="auto" latinLnBrk="0" hangingPunct="1">
              <a:lnSpc>
                <a:spcPts val="2590"/>
              </a:lnSpc>
              <a:spcBef>
                <a:spcPts val="107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万人が</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0</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から</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100</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まで理解出来る文書を作成することは現実的には不可能で</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ある</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全人類が美味しいと唸る料理を発明するくらい難しい</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120650" lvl="0" indent="0" defTabSz="914400" eaLnBrk="1" fontAlgn="auto" latinLnBrk="0" hangingPunct="1">
              <a:lnSpc>
                <a:spcPts val="2590"/>
              </a:lnSpc>
              <a:spcBef>
                <a:spcPts val="10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その前提を踏まえ、予め</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一定以上の技術・ドメイン知識を有していること</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を前提に、</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例えば以下のように</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読者層を限定</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することが必要となる。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2575" marR="0" lvl="0" indent="-269875" defTabSz="914400" eaLnBrk="1" fontAlgn="auto" latinLnBrk="0" hangingPunct="1">
              <a:lnSpc>
                <a:spcPct val="100000"/>
              </a:lnSpc>
              <a:spcBef>
                <a:spcPts val="4260"/>
              </a:spcBef>
              <a:spcAft>
                <a:spcPts val="0"/>
              </a:spcAft>
              <a:buClrTx/>
              <a:buSzTx/>
              <a:buFont typeface="Arial MT"/>
              <a:buChar char="•"/>
              <a:tabLst>
                <a:tab pos="282575"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技術者のみの場合</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内容は</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技術的に詳細かつ網羅的であること</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を優先する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28980" marR="0" lvl="1" indent="-259079" defTabSz="914400" eaLnBrk="1" fontAlgn="auto" latinLnBrk="0" hangingPunct="1">
              <a:lnSpc>
                <a:spcPct val="100000"/>
              </a:lnSpc>
              <a:spcBef>
                <a:spcPts val="295"/>
              </a:spcBef>
              <a:spcAft>
                <a:spcPts val="0"/>
              </a:spcAft>
              <a:buClrTx/>
              <a:buSzTx/>
              <a:buFont typeface="Arial MT"/>
              <a:buChar char="•"/>
              <a:tabLst>
                <a:tab pos="72898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どの程度の技術・ドメイン知識を必要とするかの前提は必要</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2575" marR="0" lvl="0" indent="-269875" defTabSz="914400" eaLnBrk="1" fontAlgn="auto" latinLnBrk="0" hangingPunct="1">
              <a:lnSpc>
                <a:spcPct val="100000"/>
              </a:lnSpc>
              <a:spcBef>
                <a:spcPts val="680"/>
              </a:spcBef>
              <a:spcAft>
                <a:spcPts val="0"/>
              </a:spcAft>
              <a:buClrTx/>
              <a:buSzTx/>
              <a:buFont typeface="Arial MT"/>
              <a:buChar char="•"/>
              <a:tabLst>
                <a:tab pos="282575" algn="l"/>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非技術者も含む場合</a:t>
            </a:r>
            <a:r>
              <a:rPr kumimoji="0" lang="en-US" altLang="ja-JP" sz="2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簡潔さ・分かりやすさ</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を優先する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28980" marR="0" lvl="1" indent="-259079" defTabSz="914400" eaLnBrk="1" fontAlgn="auto" latinLnBrk="0" hangingPunct="1">
              <a:lnSpc>
                <a:spcPct val="100000"/>
              </a:lnSpc>
              <a:spcBef>
                <a:spcPts val="295"/>
              </a:spcBef>
              <a:spcAft>
                <a:spcPts val="0"/>
              </a:spcAft>
              <a:buClrTx/>
              <a:buSzTx/>
              <a:buFont typeface="Arial MT"/>
              <a:buChar char="•"/>
              <a:tabLst>
                <a:tab pos="72898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技術的に詳細過ぎると却って混乱を生む</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970584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社内技術ドキュメンテーションに必須の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6</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大要素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60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⑤ 技術者と非技術者間のコミュニケーション</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300"/>
              </a:lnSpc>
              <a:spcBef>
                <a:spcPts val="100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技術的なドキュメンテーションを行うにおいて、技術者だけで完結することは思いの外少ない。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14604" lvl="0" indent="0" defTabSz="914400" eaLnBrk="1" fontAlgn="auto" latinLnBrk="0" hangingPunct="1">
              <a:lnSpc>
                <a:spcPts val="2300"/>
              </a:lnSpc>
              <a:spcBef>
                <a:spcPts val="1015"/>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何故ならば、</a:t>
            </a:r>
            <a:r>
              <a:rPr kumimoji="0" lang="ja-JP" altLang="en-US" sz="2400" b="1" i="0" u="none" strike="noStrike" kern="0" cap="none" spc="50" normalizeH="0" baseline="0" noProof="0" dirty="0">
                <a:ln>
                  <a:noFill/>
                </a:ln>
                <a:solidFill>
                  <a:sysClr val="windowText" lastClr="000000"/>
                </a:solidFill>
                <a:effectLst/>
                <a:uLnTx/>
                <a:uFillTx/>
                <a:latin typeface="Yu Gothic"/>
                <a:cs typeface="Yu Gothic"/>
              </a:rPr>
              <a:t>技術は何か仕様や要件</a:t>
            </a:r>
            <a:r>
              <a:rPr kumimoji="0" lang="en-US" altLang="ja-JP" sz="2400" b="1" i="0" u="none" strike="noStrike" kern="0" cap="none" spc="-50" normalizeH="0" baseline="0" noProof="0" dirty="0">
                <a:ln>
                  <a:noFill/>
                </a:ln>
                <a:solidFill>
                  <a:sysClr val="windowText" lastClr="000000"/>
                </a:solidFill>
                <a:effectLst/>
                <a:uLnTx/>
                <a:uFillTx/>
                <a:latin typeface="Calibri"/>
                <a:cs typeface="Calibri"/>
              </a:rPr>
              <a:t>= </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エンドユーザーやステークホルダー</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が必要としていることを実現するために活用される</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からである。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ct val="80000"/>
              </a:lnSpc>
              <a:spcBef>
                <a:spcPts val="102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満たすべき仕様や要件はエンドユーザーに近い位置にいる非技術者がより正確に把握している。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300"/>
              </a:lnSpc>
              <a:spcBef>
                <a:spcPts val="98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その逆もまた然りで、仕様や要件を満たす上での技術的現実性や制約は技</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術者がより正確に理解している。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ct val="80000"/>
              </a:lnSpc>
              <a:spcBef>
                <a:spcPts val="1035"/>
              </a:spcBef>
              <a:spcAft>
                <a:spcPts val="0"/>
              </a:spcAft>
              <a:buClrTx/>
              <a:buSzTx/>
              <a:buFontTx/>
              <a:buNone/>
              <a:tabLst/>
              <a:defRPr/>
            </a:pP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意思疎通の礎を組織内に確立することや、二者間で密な情報共有を行うこ</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とは、高品質な社内技術ドキュメンテーションの必須要件</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3396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sz="3600" b="1" dirty="0">
                <a:latin typeface="Calibri (Headings)"/>
              </a:rPr>
              <a:t>3. </a:t>
            </a:r>
            <a:r>
              <a:rPr lang="ja-JP" altLang="en-US" sz="3600" b="1" dirty="0">
                <a:latin typeface="Calibri (Headings)"/>
              </a:rPr>
              <a:t>社内技術ドキュメンテーションに必須の</a:t>
            </a:r>
            <a:r>
              <a:rPr lang="en-US" altLang="ja-JP" sz="3600" b="1" dirty="0">
                <a:latin typeface="Calibri (Headings)"/>
              </a:rPr>
              <a:t>6</a:t>
            </a:r>
            <a:r>
              <a:rPr lang="ja-JP" altLang="en-US" sz="3600" b="1" dirty="0">
                <a:latin typeface="Calibri (Headings)"/>
              </a:rPr>
              <a:t>大要素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350"/>
              </a:spcBef>
              <a:spcAft>
                <a:spcPts val="0"/>
              </a:spcAft>
              <a:buClrTx/>
              <a:buSzTx/>
              <a:buFontTx/>
              <a:buNone/>
              <a:tabLst/>
              <a:defRPr/>
            </a:pPr>
            <a:r>
              <a:rPr kumimoji="0" lang="ja-JP" altLang="en-US" sz="2600" b="1" i="0" u="none" strike="noStrike" kern="0" cap="none" spc="-35" normalizeH="0" baseline="0" noProof="0" dirty="0">
                <a:ln>
                  <a:noFill/>
                </a:ln>
                <a:solidFill>
                  <a:sysClr val="windowText" lastClr="000000"/>
                </a:solidFill>
                <a:effectLst/>
                <a:uLnTx/>
                <a:uFillTx/>
                <a:latin typeface="Yu Gothic"/>
                <a:cs typeface="Yu Gothic"/>
              </a:rPr>
              <a:t>⑥ 適切なワークフロー設計</a:t>
            </a:r>
            <a:endParaRPr kumimoji="0" lang="ja-JP" altLang="en-US" sz="26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245"/>
              </a:lnSpc>
              <a:spcBef>
                <a:spcPts val="209"/>
              </a:spcBef>
              <a:spcAft>
                <a:spcPts val="0"/>
              </a:spcAft>
              <a:buClrTx/>
              <a:buSzTx/>
              <a:buFontTx/>
              <a:buNone/>
              <a:tabLst/>
              <a:defRPr/>
            </a:pPr>
            <a:r>
              <a:rPr kumimoji="0" lang="ja-JP" altLang="en-US" sz="2200" b="0" i="0" u="none" strike="noStrike" kern="0" cap="none" spc="-40" normalizeH="0" baseline="0" noProof="0" dirty="0">
                <a:ln>
                  <a:noFill/>
                </a:ln>
                <a:solidFill>
                  <a:sysClr val="windowText" lastClr="000000"/>
                </a:solidFill>
                <a:effectLst/>
                <a:uLnTx/>
                <a:uFillTx/>
                <a:latin typeface="Yu Gothic"/>
                <a:cs typeface="Yu Gothic"/>
              </a:rPr>
              <a:t>公開対象の文書が対外的であろうと対内的であろうと、個人が勝手に作業を進め</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245"/>
              </a:lnSpc>
              <a:spcBef>
                <a:spcPts val="0"/>
              </a:spcBef>
              <a:spcAft>
                <a:spcPts val="0"/>
              </a:spcAft>
              <a:buClrTx/>
              <a:buSzTx/>
              <a:buFontTx/>
              <a:buNone/>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て良いものではない。</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12700" marR="196215" lvl="0" indent="0" defTabSz="914400" eaLnBrk="1" fontAlgn="auto" latinLnBrk="0" hangingPunct="1">
              <a:lnSpc>
                <a:spcPct val="70000"/>
              </a:lnSpc>
              <a:spcBef>
                <a:spcPts val="994"/>
              </a:spcBef>
              <a:spcAft>
                <a:spcPts val="0"/>
              </a:spcAft>
              <a:buClrTx/>
              <a:buSzTx/>
              <a:buFontTx/>
              <a:buNone/>
              <a:tabLst/>
              <a:defRPr/>
            </a:pPr>
            <a:r>
              <a:rPr kumimoji="0" lang="ja-JP" altLang="en-US" sz="2200" b="0" i="0" u="none" strike="noStrike" kern="0" cap="none" spc="-30" normalizeH="0" baseline="0" noProof="0" dirty="0">
                <a:ln>
                  <a:noFill/>
                </a:ln>
                <a:solidFill>
                  <a:sysClr val="windowText" lastClr="000000"/>
                </a:solidFill>
                <a:effectLst/>
                <a:uLnTx/>
                <a:uFillTx/>
                <a:latin typeface="Yu Gothic"/>
                <a:cs typeface="Yu Gothic"/>
              </a:rPr>
              <a:t>必ず</a:t>
            </a: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適切なワークフローに則って設計・執筆・レビューを行い、権限を持ったメ</a:t>
            </a:r>
            <a:r>
              <a:rPr kumimoji="0" lang="ja-JP" altLang="en-US" sz="2200" b="1" i="0" u="none" strike="noStrike" kern="0" cap="none" spc="-30" normalizeH="0" baseline="0" noProof="0" dirty="0">
                <a:ln>
                  <a:noFill/>
                </a:ln>
                <a:solidFill>
                  <a:sysClr val="windowText" lastClr="000000"/>
                </a:solidFill>
                <a:effectLst/>
                <a:uLnTx/>
                <a:uFillTx/>
                <a:latin typeface="Yu Gothic"/>
                <a:cs typeface="Yu Gothic"/>
              </a:rPr>
              <a:t>ンバーが然るべき公開範囲に公開すること</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が必須要件である。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3060"/>
              </a:spcBef>
              <a:spcAft>
                <a:spcPts val="0"/>
              </a:spcAft>
              <a:buClrTx/>
              <a:buSzTx/>
              <a:buFont typeface="Arial MT"/>
              <a:buChar char="•"/>
              <a:tabLst>
                <a:tab pos="240665"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設計</a:t>
            </a:r>
            <a:r>
              <a:rPr kumimoji="0" lang="en-US" altLang="ja-JP" sz="2200" b="0" i="0" u="none" strike="noStrike" kern="0" cap="none" spc="114"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読み手が必要とする情報が検索性高く明文化される構造にする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204"/>
              </a:spcBef>
              <a:spcAft>
                <a:spcPts val="0"/>
              </a:spcAft>
              <a:buClrTx/>
              <a:buSzTx/>
              <a:buFont typeface="Arial MT"/>
              <a:buChar char="•"/>
              <a:tabLst>
                <a:tab pos="240665"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執筆</a:t>
            </a:r>
            <a:r>
              <a:rPr kumimoji="0" lang="en-US" altLang="ja-JP" sz="2200" b="0" i="0" u="none" strike="noStrike" kern="0" cap="none" spc="105"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読み手目線で情報が分かりやすく過不足なく明文化する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215"/>
              </a:spcBef>
              <a:spcAft>
                <a:spcPts val="0"/>
              </a:spcAft>
              <a:buClrTx/>
              <a:buSzTx/>
              <a:buFont typeface="Arial MT"/>
              <a:buChar char="•"/>
              <a:tabLst>
                <a:tab pos="240665"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レビュー</a:t>
            </a:r>
            <a:r>
              <a:rPr kumimoji="0" lang="en-US" altLang="ja-JP" sz="2200" b="0" i="0" u="none" strike="noStrike" kern="0" cap="none" spc="135"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読み手目線で設計と内容を精査し、不自由さをフィードバックする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204"/>
              </a:spcBef>
              <a:spcAft>
                <a:spcPts val="0"/>
              </a:spcAft>
              <a:buClrTx/>
              <a:buSzTx/>
              <a:buFont typeface="Arial MT"/>
              <a:buChar char="•"/>
              <a:tabLst>
                <a:tab pos="240665"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公開範囲</a:t>
            </a:r>
            <a:r>
              <a:rPr kumimoji="0" lang="en-US" altLang="ja-JP" sz="2200" b="0" i="0" u="none" strike="noStrike" kern="0" cap="none" spc="135"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40" normalizeH="0" baseline="0" noProof="0" dirty="0">
                <a:ln>
                  <a:noFill/>
                </a:ln>
                <a:solidFill>
                  <a:sysClr val="windowText" lastClr="000000"/>
                </a:solidFill>
                <a:effectLst/>
                <a:uLnTx/>
                <a:uFillTx/>
                <a:latin typeface="Yu Gothic"/>
                <a:cs typeface="Yu Gothic"/>
              </a:rPr>
              <a:t>情報を共有して然るべきステークホルダーにのみ情報を公開する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ts val="2550"/>
              </a:lnSpc>
              <a:spcBef>
                <a:spcPts val="204"/>
              </a:spcBef>
              <a:spcAft>
                <a:spcPts val="0"/>
              </a:spcAft>
              <a:buClrTx/>
              <a:buSzTx/>
              <a:buFont typeface="Arial MT"/>
              <a:buChar char="•"/>
              <a:tabLst>
                <a:tab pos="240665"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権限管理</a:t>
            </a:r>
            <a:r>
              <a:rPr kumimoji="0" lang="en-US" altLang="ja-JP" sz="2200" b="0" i="0" u="none" strike="noStrike" kern="0" cap="none" spc="130"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上記の全てのフェーズに対する責任を負うメンバーを任用する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698500" marR="5080" lvl="1" indent="-228600" defTabSz="914400" eaLnBrk="1" fontAlgn="auto" latinLnBrk="0" hangingPunct="1">
              <a:lnSpc>
                <a:spcPct val="70000"/>
              </a:lnSpc>
              <a:spcBef>
                <a:spcPts val="595"/>
              </a:spcBef>
              <a:spcAft>
                <a:spcPts val="0"/>
              </a:spcAft>
              <a:buClrTx/>
              <a:buSzTx/>
              <a:buFont typeface="Arial MT"/>
              <a:buChar char="•"/>
              <a:tabLst>
                <a:tab pos="698500" algn="l"/>
              </a:tabLst>
              <a:defRPr/>
            </a:pPr>
            <a:r>
              <a:rPr kumimoji="0" lang="en-US" altLang="ja-JP" sz="1900" b="0" i="0" u="none" strike="noStrike" kern="0" cap="none" spc="-10" normalizeH="0" baseline="0" noProof="0" dirty="0">
                <a:ln>
                  <a:noFill/>
                </a:ln>
                <a:solidFill>
                  <a:sysClr val="windowText" lastClr="000000"/>
                </a:solidFill>
                <a:effectLst/>
                <a:uLnTx/>
                <a:uFillTx/>
                <a:latin typeface="Calibri"/>
                <a:cs typeface="Calibri"/>
              </a:rPr>
              <a:t>Ownership </a:t>
            </a:r>
            <a:r>
              <a:rPr kumimoji="0" lang="ja-JP" altLang="en-US" sz="1900" b="0" i="0" u="none" strike="noStrike" kern="0" cap="none" spc="-30" normalizeH="0" baseline="0" noProof="0" dirty="0">
                <a:ln>
                  <a:noFill/>
                </a:ln>
                <a:solidFill>
                  <a:sysClr val="windowText" lastClr="000000"/>
                </a:solidFill>
                <a:effectLst/>
                <a:uLnTx/>
                <a:uFillTx/>
                <a:latin typeface="Yu Gothic"/>
                <a:cs typeface="Yu Gothic"/>
              </a:rPr>
              <a:t>とほぼ同義。この帰属先を個人ではなくチームにして負荷分散する方が中長期的な運用観点では有効である。</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941651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3200" b="1" dirty="0">
                <a:latin typeface="Calibri (Headings)"/>
              </a:rPr>
              <a:t>4. </a:t>
            </a:r>
            <a:r>
              <a:rPr lang="ja-JP" altLang="en-US" sz="3200" b="1" dirty="0">
                <a:latin typeface="Calibri (Headings)"/>
              </a:rPr>
              <a:t>社内技術ドキュメンテーション執筆に必須の</a:t>
            </a:r>
            <a:r>
              <a:rPr lang="en-US" altLang="ja-JP" sz="3200" b="1" dirty="0">
                <a:latin typeface="Calibri (Headings)"/>
              </a:rPr>
              <a:t>5</a:t>
            </a:r>
            <a:r>
              <a:rPr lang="ja-JP" altLang="en-US" sz="3200" b="1" dirty="0">
                <a:latin typeface="Calibri (Headings)"/>
              </a:rPr>
              <a:t>大スキル</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6303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社内技術ドキュメンテーション執筆に必須の</a:t>
            </a:r>
            <a:r>
              <a:rPr kumimoji="0" lang="en-US"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大スキル</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42545" marR="5080"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書き手と読み手のインターフェースとなる文書の品質を担保するためには、</a:t>
            </a:r>
            <a:r>
              <a:rPr kumimoji="0" lang="ja-JP" altLang="en-US" sz="2400" b="0" i="0" u="none" strike="noStrike" kern="0" cap="none" spc="-10" normalizeH="0" baseline="0" noProof="0" dirty="0">
                <a:ln>
                  <a:noFill/>
                </a:ln>
                <a:solidFill>
                  <a:prstClr val="black"/>
                </a:solidFill>
                <a:effectLst/>
                <a:uLnTx/>
                <a:uFillTx/>
                <a:latin typeface="Yu Gothic"/>
                <a:ea typeface="+mn-ea"/>
              </a:rPr>
              <a:t>以下の</a:t>
            </a:r>
            <a:r>
              <a:rPr kumimoji="0" lang="en-US" altLang="ja-JP" sz="2400" b="0" i="0" u="none" strike="noStrike" kern="0" cap="none" spc="-10" normalizeH="0" baseline="0" noProof="0" dirty="0">
                <a:ln>
                  <a:noFill/>
                </a:ln>
                <a:solidFill>
                  <a:prstClr val="black"/>
                </a:solidFill>
                <a:effectLst/>
                <a:uLnTx/>
                <a:uFillTx/>
                <a:latin typeface="Calibri"/>
                <a:ea typeface="+mn-ea"/>
                <a:cs typeface="Calibri"/>
              </a:rPr>
              <a:t>5</a:t>
            </a:r>
            <a:r>
              <a:rPr kumimoji="0" lang="ja-JP" altLang="en-US" sz="2400" b="0" i="0" u="none" strike="noStrike" kern="0" cap="none" spc="-15" normalizeH="0" baseline="0" noProof="0" dirty="0">
                <a:ln>
                  <a:noFill/>
                </a:ln>
                <a:solidFill>
                  <a:prstClr val="black"/>
                </a:solidFill>
                <a:effectLst/>
                <a:uLnTx/>
                <a:uFillTx/>
                <a:latin typeface="Yu Gothic"/>
                <a:ea typeface="+mn-ea"/>
              </a:rPr>
              <a:t>つのスキルが必要不可欠である。</a:t>
            </a:r>
          </a:p>
          <a:p>
            <a:pPr marL="401955" marR="0" lvl="0" indent="-359410" defTabSz="914400" eaLnBrk="1" fontAlgn="auto" latinLnBrk="0" hangingPunct="1">
              <a:lnSpc>
                <a:spcPct val="100000"/>
              </a:lnSpc>
              <a:spcBef>
                <a:spcPts val="4275"/>
              </a:spcBef>
              <a:spcAft>
                <a:spcPts val="0"/>
              </a:spcAft>
              <a:buClr>
                <a:srgbClr val="000000"/>
              </a:buClr>
              <a:buSzTx/>
              <a:buFont typeface="Calibri"/>
              <a:buAutoNum type="arabicPeriod"/>
              <a:tabLst>
                <a:tab pos="402590" algn="l"/>
              </a:tabLst>
              <a:defRPr/>
            </a:pPr>
            <a:r>
              <a:rPr kumimoji="0" lang="ja-JP" altLang="en-US" sz="2400" b="1" i="0" u="sng" strike="noStrike" kern="0" cap="none" spc="-5" normalizeH="0" baseline="0" noProof="0" dirty="0">
                <a:ln>
                  <a:noFill/>
                </a:ln>
                <a:solidFill>
                  <a:srgbClr val="0462C1"/>
                </a:solidFill>
                <a:effectLst/>
                <a:uLnTx/>
                <a:uFill>
                  <a:solidFill>
                    <a:srgbClr val="0462C1"/>
                  </a:solidFill>
                </a:uFill>
                <a:latin typeface="Yu Gothic"/>
                <a:ea typeface="+mn-ea"/>
                <a:cs typeface="Yu Gothic"/>
                <a:hlinkClick r:id="rId3"/>
              </a:rPr>
              <a:t>読み手目線の説明能力</a:t>
            </a:r>
          </a:p>
          <a:p>
            <a:pPr marL="401320" marR="0" lvl="0" indent="-358775" defTabSz="914400" eaLnBrk="1" fontAlgn="auto" latinLnBrk="0" hangingPunct="1">
              <a:lnSpc>
                <a:spcPct val="100000"/>
              </a:lnSpc>
              <a:spcBef>
                <a:spcPts val="710"/>
              </a:spcBef>
              <a:spcAft>
                <a:spcPts val="0"/>
              </a:spcAft>
              <a:buClr>
                <a:srgbClr val="000000"/>
              </a:buClr>
              <a:buSzTx/>
              <a:buFont typeface="Calibri"/>
              <a:buAutoNum type="arabicPeriod"/>
              <a:tabLst>
                <a:tab pos="401955" algn="l"/>
              </a:tabLst>
              <a:defRPr/>
            </a:pPr>
            <a:r>
              <a:rPr kumimoji="0" lang="ja-JP" altLang="en-US" sz="2400" b="1" i="0" u="sng" strike="noStrike" kern="0" cap="none" spc="-15" normalizeH="0" baseline="0" noProof="0" dirty="0">
                <a:ln>
                  <a:noFill/>
                </a:ln>
                <a:solidFill>
                  <a:srgbClr val="0462C1"/>
                </a:solidFill>
                <a:effectLst/>
                <a:uLnTx/>
                <a:uFill>
                  <a:solidFill>
                    <a:srgbClr val="0462C1"/>
                  </a:solidFill>
                </a:uFill>
                <a:latin typeface="Yu Gothic"/>
                <a:ea typeface="+mn-ea"/>
                <a:cs typeface="Yu Gothic"/>
                <a:hlinkClick r:id="rId4"/>
              </a:rPr>
              <a:t>ステークホルダーとの協業能力</a:t>
            </a:r>
          </a:p>
          <a:p>
            <a:pPr marL="401955" marR="0" lvl="0" indent="-359410" defTabSz="914400" eaLnBrk="1" fontAlgn="auto" latinLnBrk="0" hangingPunct="1">
              <a:lnSpc>
                <a:spcPct val="100000"/>
              </a:lnSpc>
              <a:spcBef>
                <a:spcPts val="710"/>
              </a:spcBef>
              <a:spcAft>
                <a:spcPts val="0"/>
              </a:spcAft>
              <a:buClr>
                <a:srgbClr val="000000"/>
              </a:buClr>
              <a:buSzTx/>
              <a:buFont typeface="Calibri"/>
              <a:buAutoNum type="arabicPeriod"/>
              <a:tabLst>
                <a:tab pos="402590" algn="l"/>
              </a:tabLst>
              <a:defRPr/>
            </a:pPr>
            <a:r>
              <a:rPr kumimoji="0" lang="ja-JP" altLang="en-US" sz="2400" b="1" i="0" u="sng" strike="noStrike" kern="0" cap="none" spc="-10" normalizeH="0" baseline="0" noProof="0" dirty="0">
                <a:ln>
                  <a:noFill/>
                </a:ln>
                <a:solidFill>
                  <a:srgbClr val="0462C1"/>
                </a:solidFill>
                <a:effectLst/>
                <a:uLnTx/>
                <a:uFill>
                  <a:solidFill>
                    <a:srgbClr val="0462C1"/>
                  </a:solidFill>
                </a:uFill>
                <a:latin typeface="Yu Gothic"/>
                <a:ea typeface="+mn-ea"/>
                <a:cs typeface="Yu Gothic"/>
                <a:hlinkClick r:id="rId5"/>
              </a:rPr>
              <a:t>問題解決能力</a:t>
            </a:r>
          </a:p>
          <a:p>
            <a:pPr marL="401955" marR="0" lvl="0" indent="-359410" defTabSz="914400" eaLnBrk="1" fontAlgn="auto" latinLnBrk="0" hangingPunct="1">
              <a:lnSpc>
                <a:spcPct val="100000"/>
              </a:lnSpc>
              <a:spcBef>
                <a:spcPts val="720"/>
              </a:spcBef>
              <a:spcAft>
                <a:spcPts val="0"/>
              </a:spcAft>
              <a:buClr>
                <a:srgbClr val="000000"/>
              </a:buClr>
              <a:buSzTx/>
              <a:buFont typeface="Calibri"/>
              <a:buAutoNum type="arabicPeriod"/>
              <a:tabLst>
                <a:tab pos="402590" algn="l"/>
              </a:tabLst>
              <a:defRPr/>
            </a:pPr>
            <a:r>
              <a:rPr kumimoji="0" lang="ja-JP" altLang="en-US" sz="2400" b="1" i="0" u="sng" strike="noStrike" kern="0" cap="none" spc="-10" normalizeH="0" baseline="0" noProof="0" dirty="0">
                <a:ln>
                  <a:noFill/>
                </a:ln>
                <a:solidFill>
                  <a:srgbClr val="0462C1"/>
                </a:solidFill>
                <a:effectLst/>
                <a:uLnTx/>
                <a:uFill>
                  <a:solidFill>
                    <a:srgbClr val="0462C1"/>
                  </a:solidFill>
                </a:uFill>
                <a:latin typeface="Yu Gothic"/>
                <a:ea typeface="+mn-ea"/>
                <a:cs typeface="Yu Gothic"/>
                <a:hlinkClick r:id="rId6"/>
              </a:rPr>
              <a:t>コスト管理能力</a:t>
            </a:r>
          </a:p>
          <a:p>
            <a:pPr marL="401320" marR="0" lvl="0" indent="-358775" defTabSz="914400" eaLnBrk="1" fontAlgn="auto" latinLnBrk="0" hangingPunct="1">
              <a:lnSpc>
                <a:spcPct val="100000"/>
              </a:lnSpc>
              <a:spcBef>
                <a:spcPts val="705"/>
              </a:spcBef>
              <a:spcAft>
                <a:spcPts val="0"/>
              </a:spcAft>
              <a:buClr>
                <a:srgbClr val="000000"/>
              </a:buClr>
              <a:buSzTx/>
              <a:buFont typeface="Calibri"/>
              <a:buAutoNum type="arabicPeriod"/>
              <a:tabLst>
                <a:tab pos="401955" algn="l"/>
              </a:tabLst>
              <a:defRPr/>
            </a:pPr>
            <a:r>
              <a:rPr kumimoji="0" lang="ja-JP" altLang="en-US" sz="2400" b="1" i="0" u="sng" strike="noStrike" kern="0" cap="none" spc="-15" normalizeH="0" baseline="0" noProof="0" dirty="0">
                <a:ln>
                  <a:noFill/>
                </a:ln>
                <a:solidFill>
                  <a:srgbClr val="0462C1"/>
                </a:solidFill>
                <a:effectLst/>
                <a:uLnTx/>
                <a:uFill>
                  <a:solidFill>
                    <a:srgbClr val="0462C1"/>
                  </a:solidFill>
                </a:uFill>
                <a:latin typeface="Yu Gothic"/>
                <a:ea typeface="+mn-ea"/>
                <a:cs typeface="Yu Gothic"/>
                <a:hlinkClick r:id="rId7"/>
              </a:rPr>
              <a:t>潜在的な問題の予測能力</a:t>
            </a:r>
          </a:p>
        </p:txBody>
      </p:sp>
    </p:spTree>
    <p:extLst>
      <p:ext uri="{BB962C8B-B14F-4D97-AF65-F5344CB8AC3E}">
        <p14:creationId xmlns:p14="http://schemas.microsoft.com/office/powerpoint/2010/main" val="3698040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社内技術ドキュメンテーション執筆に必須の</a:t>
            </a:r>
            <a:r>
              <a:rPr kumimoji="0" lang="en-US"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大スキル</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① 読み手目線の説明能力</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7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技術・ドメイン知識は、往々にして抽象度が高く明確な言語化が難しいこ</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とが多い。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その複雑な問題を、読み手が具体的なイメージを持ちやすいように表現す</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る能力が必要だ。</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0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書き手は明文化する内容を十二分に理解することが大前提であり、その上で読み手に伝わるベストな表現方法を採択する判断能力が要求される。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40"/>
              </a:lnSpc>
              <a:spcBef>
                <a:spcPts val="675"/>
              </a:spcBef>
              <a:spcAft>
                <a:spcPts val="0"/>
              </a:spcAft>
              <a:buClrTx/>
              <a:buSzTx/>
              <a:buFontTx/>
              <a:buNone/>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つまり、</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複雑な内容を複雑なまま伝えるのではなく、それをいかに</a:t>
            </a:r>
            <a:r>
              <a:rPr kumimoji="0" lang="ja-JP" altLang="en-US" sz="2400" b="1" i="0" u="sng" strike="noStrike" kern="0" cap="none" spc="-30" normalizeH="0" baseline="0" noProof="0" dirty="0">
                <a:ln>
                  <a:noFill/>
                </a:ln>
                <a:solidFill>
                  <a:srgbClr val="0462C1"/>
                </a:solidFill>
                <a:effectLst/>
                <a:uLnTx/>
                <a:uFill>
                  <a:solidFill>
                    <a:srgbClr val="0462C1"/>
                  </a:solidFill>
                </a:uFill>
                <a:latin typeface="Yu Gothic"/>
                <a:cs typeface="Yu Gothic"/>
                <a:hlinkClick r:id="rId3"/>
              </a:rPr>
              <a:t>科学</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40"/>
              </a:lnSpc>
              <a:spcBef>
                <a:spcPts val="0"/>
              </a:spcBef>
              <a:spcAft>
                <a:spcPts val="0"/>
              </a:spcAft>
              <a:buClrTx/>
              <a:buSzTx/>
              <a:buFontTx/>
              <a:buNone/>
              <a:tabLst/>
              <a:defRPr/>
            </a:pPr>
            <a:r>
              <a:rPr kumimoji="0" lang="ja-JP" altLang="en-US" sz="2400" b="1"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的</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a:t>
            </a:r>
            <a:r>
              <a:rPr kumimoji="0" lang="ja-JP" altLang="en-US" sz="2400" b="1" i="0" u="sng" strike="noStrike" kern="0" cap="none" spc="0" normalizeH="0" baseline="0" noProof="0" dirty="0">
                <a:ln>
                  <a:noFill/>
                </a:ln>
                <a:solidFill>
                  <a:srgbClr val="0462C1"/>
                </a:solidFill>
                <a:effectLst/>
                <a:uLnTx/>
                <a:uFill>
                  <a:solidFill>
                    <a:srgbClr val="0462C1"/>
                  </a:solidFill>
                </a:uFill>
                <a:latin typeface="Yu Gothic"/>
                <a:cs typeface="Yu Gothic"/>
                <a:hlinkClick r:id="rId4"/>
              </a:rPr>
              <a:t>効率的</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a:t>
            </a:r>
            <a:r>
              <a:rPr kumimoji="0" lang="ja-JP" altLang="en-US" sz="2400" b="1" i="0" u="sng" strike="noStrike" kern="0" cap="none" spc="0" normalizeH="0" baseline="0" noProof="0" dirty="0">
                <a:ln>
                  <a:noFill/>
                </a:ln>
                <a:solidFill>
                  <a:srgbClr val="0462C1"/>
                </a:solidFill>
                <a:effectLst/>
                <a:uLnTx/>
                <a:uFill>
                  <a:solidFill>
                    <a:srgbClr val="0462C1"/>
                  </a:solidFill>
                </a:uFill>
                <a:latin typeface="Yu Gothic"/>
                <a:cs typeface="Yu Gothic"/>
                <a:hlinkClick r:id="rId5"/>
              </a:rPr>
              <a:t>印象的</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に伝えられるか</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が必須要件である。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337344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社内技術ドキュメンテーション執筆に必須の</a:t>
            </a:r>
            <a:r>
              <a:rPr kumimoji="0" lang="en-US"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大スキル</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0" normalizeH="0" baseline="0" noProof="0" dirty="0">
                <a:ln>
                  <a:noFill/>
                </a:ln>
                <a:solidFill>
                  <a:sysClr val="windowText" lastClr="000000"/>
                </a:solidFill>
                <a:effectLst/>
                <a:uLnTx/>
                <a:uFillTx/>
                <a:latin typeface="Yu Gothic"/>
                <a:cs typeface="Yu Gothic"/>
              </a:rPr>
              <a:t>② ステークホルダーとの協業能力</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70"/>
              </a:spcBef>
              <a:spcAft>
                <a:spcPts val="0"/>
              </a:spcAft>
              <a:buClrTx/>
              <a:buSzTx/>
              <a:buFontTx/>
              <a:buNone/>
              <a:tabLst/>
              <a:defRPr/>
            </a:pP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技術者と非技術者間のコミュニケーション</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を元に</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異なる職種・組織間で情</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報を適切に共有し、文書を最新状態に保つ</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ことは重要である。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ct val="90000"/>
              </a:lnSpc>
              <a:spcBef>
                <a:spcPts val="96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また、社内技術ドキュメンテーションのステークホルダー間で活発なコ</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 </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ミュニケーションを取ることは、文書の品質担保のみならず、</a:t>
            </a:r>
            <a:r>
              <a:rPr kumimoji="0" lang="ja-JP" altLang="en-US" sz="2400" b="1" i="0" u="none" strike="noStrike" kern="0" cap="none" spc="-20" normalizeH="0" baseline="0" noProof="0" dirty="0">
                <a:ln>
                  <a:noFill/>
                </a:ln>
                <a:solidFill>
                  <a:sysClr val="windowText" lastClr="000000"/>
                </a:solidFill>
                <a:effectLst/>
                <a:uLnTx/>
                <a:uFillTx/>
                <a:latin typeface="Yu Gothic"/>
                <a:cs typeface="Yu Gothic"/>
              </a:rPr>
              <a:t>意欲と生産</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性の維持・向上</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の観点でも非常に有効である。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0" marR="0" lvl="0" indent="0" defTabSz="914400" eaLnBrk="1" fontAlgn="auto" latinLnBrk="0" hangingPunct="1">
              <a:lnSpc>
                <a:spcPct val="100000"/>
              </a:lnSpc>
              <a:spcBef>
                <a:spcPts val="45"/>
              </a:spcBef>
              <a:spcAft>
                <a:spcPts val="0"/>
              </a:spcAft>
              <a:buClrTx/>
              <a:buSzTx/>
              <a:buFontTx/>
              <a:buNone/>
              <a:tabLst/>
              <a:defRPr/>
            </a:pP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6985" lvl="0" indent="0" algn="just" defTabSz="914400" eaLnBrk="1" fontAlgn="auto" latinLnBrk="0" hangingPunct="1">
              <a:lnSpc>
                <a:spcPct val="90000"/>
              </a:lnSpc>
              <a:spcBef>
                <a:spcPts val="0"/>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反対に、社内技術ドキュメンテーションのステークホルダー間のコミュニ</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ケーションが乏しいと意欲や生産性の停滞・低下に繋がり、最終的に文書の品質を落とすこともある。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681445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社内技術ドキュメンテーション執筆に必須の</a:t>
            </a:r>
            <a:r>
              <a:rPr kumimoji="0" lang="en-US"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大スキル</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12700" marR="0" lvl="0" indent="0" algn="just"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③ 問題解決能力</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algn="just" defTabSz="914400" eaLnBrk="1" fontAlgn="auto" latinLnBrk="0" hangingPunct="1">
              <a:lnSpc>
                <a:spcPts val="2590"/>
              </a:lnSpc>
              <a:spcBef>
                <a:spcPts val="1070"/>
              </a:spcBef>
              <a:spcAft>
                <a:spcPts val="0"/>
              </a:spcAft>
              <a:buClrTx/>
              <a:buSzTx/>
              <a:buFontTx/>
              <a:buNone/>
              <a:tabLst/>
              <a:defRPr/>
            </a:pP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技術者と非技術者間のコミュニケーション</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は重要とはいえ</a:t>
            </a:r>
            <a:r>
              <a:rPr kumimoji="0" lang="ja-JP" altLang="en-US" sz="2400" b="1" i="0" u="none" strike="noStrike" kern="0" cap="none" spc="-35" normalizeH="0" baseline="0" noProof="0" dirty="0">
                <a:ln>
                  <a:noFill/>
                </a:ln>
                <a:solidFill>
                  <a:sysClr val="windowText" lastClr="000000"/>
                </a:solidFill>
                <a:effectLst/>
                <a:uLnTx/>
                <a:uFillTx/>
                <a:latin typeface="Yu Gothic"/>
                <a:cs typeface="Yu Gothic"/>
              </a:rPr>
              <a:t>、 技術者は自力</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で問題を解決することが求められることが多く、その問題がどこから発生</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しているのかを理解して解決策を提示することが出来なければならない</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35"/>
              </a:lnSpc>
              <a:spcBef>
                <a:spcPts val="685"/>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むしろ、自立した問題解決能力を有しているからこそ、不足している情報</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35"/>
              </a:lnSpc>
              <a:spcBef>
                <a:spcPts val="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とそれを取得するためのコミュニケーションパスの把握が出来る。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0" marR="0" lvl="0" indent="0" defTabSz="914400" eaLnBrk="1" fontAlgn="auto" latinLnBrk="0" hangingPunct="1">
              <a:lnSpc>
                <a:spcPct val="100000"/>
              </a:lnSpc>
              <a:spcBef>
                <a:spcPts val="45"/>
              </a:spcBef>
              <a:spcAft>
                <a:spcPts val="0"/>
              </a:spcAft>
              <a:buClrTx/>
              <a:buSzTx/>
              <a:buFontTx/>
              <a:buNone/>
              <a:tabLst/>
              <a:defRPr/>
            </a:pP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75565" lvl="0" indent="0" algn="just" defTabSz="914400" eaLnBrk="1" fontAlgn="auto" latinLnBrk="0" hangingPunct="1">
              <a:lnSpc>
                <a:spcPct val="90000"/>
              </a:lnSpc>
              <a:spcBef>
                <a:spcPts val="0"/>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逆に言えば、必要な知識・技術・手順・コミュニケーションを理解し上手</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く文書に落とし込むことが出来ない場合は、どこかで問題解決能力が不足しているとも言える。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03328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社内技術ドキュメンテーション執筆に必須の</a:t>
            </a:r>
            <a:r>
              <a:rPr kumimoji="0" lang="en-US" altLang="ja-JP"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a:t>
            </a:r>
            <a:r>
              <a:rPr kumimoji="0" lang="ja-JP" altLang="en-US" sz="32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大スキル</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④ コスト管理能力</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70"/>
              </a:spcBef>
              <a:spcAft>
                <a:spcPts val="0"/>
              </a:spcAft>
              <a:buClrTx/>
              <a:buSzTx/>
              <a:buFontTx/>
              <a:buNone/>
              <a:tabLst/>
              <a:defRPr/>
            </a:pP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社内技術ドキュメンテーションに必須の</a:t>
            </a:r>
            <a:r>
              <a:rPr kumimoji="0" lang="en-US" altLang="ja-JP" sz="2400" b="0" i="0" u="sng" strike="noStrike" kern="0" cap="none" spc="-10" normalizeH="0" baseline="0" noProof="0" dirty="0">
                <a:ln>
                  <a:noFill/>
                </a:ln>
                <a:solidFill>
                  <a:srgbClr val="0462C1"/>
                </a:solidFill>
                <a:effectLst/>
                <a:uLnTx/>
                <a:uFill>
                  <a:solidFill>
                    <a:srgbClr val="0462C1"/>
                  </a:solidFill>
                </a:uFill>
                <a:latin typeface="Calibri"/>
                <a:cs typeface="Calibri"/>
                <a:hlinkClick r:id="rId3"/>
              </a:rPr>
              <a:t>6</a:t>
            </a: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大要素</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を満たす上で必要なヒト・</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モノ・カネなどの</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人的・物的資源がどのくらい必要か</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、また</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ブロッカーの</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存在の有無やそれを駆逐するためのコストやリスクを適切に把握・管理す</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る</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ことが必須要件である。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159385" lvl="0" indent="0" algn="just" defTabSz="914400" eaLnBrk="1" fontAlgn="auto" latinLnBrk="0" hangingPunct="1">
              <a:lnSpc>
                <a:spcPts val="2590"/>
              </a:lnSpc>
              <a:spcBef>
                <a:spcPts val="1015"/>
              </a:spcBef>
              <a:spcAft>
                <a:spcPts val="0"/>
              </a:spcAft>
              <a:buClrTx/>
              <a:buSzTx/>
              <a:buFontTx/>
              <a:buNone/>
              <a:tabLst/>
              <a:defRPr/>
            </a:pP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ドキュメンテーションはどんなに入念に設計をしたとしても、実際に着手すると不確実性を多分に含んでいるため、当初の計画通りに作業を完了さ</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せることが難しいことが多い</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35"/>
              </a:lnSpc>
              <a:spcBef>
                <a:spcPts val="675"/>
              </a:spcBef>
              <a:spcAft>
                <a:spcPts val="0"/>
              </a:spcAft>
              <a:buClrTx/>
              <a:buSzTx/>
              <a:buFontTx/>
              <a:buNone/>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しかし、それでも</a:t>
            </a:r>
            <a:r>
              <a:rPr kumimoji="0" lang="ja-JP" altLang="en-US" sz="2400" b="1" i="0" u="none" strike="noStrike" kern="0" cap="none" spc="-15" normalizeH="0" baseline="0" noProof="0" dirty="0">
                <a:ln>
                  <a:noFill/>
                </a:ln>
                <a:solidFill>
                  <a:sysClr val="windowText" lastClr="000000"/>
                </a:solidFill>
                <a:effectLst/>
                <a:uLnTx/>
                <a:uFillTx/>
                <a:latin typeface="Yu Gothic"/>
                <a:cs typeface="Yu Gothic"/>
              </a:rPr>
              <a:t>予定と実績の乖離とその要因を把握・分析し、同じ轍を</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35"/>
              </a:lnSpc>
              <a:spcBef>
                <a:spcPts val="0"/>
              </a:spcBef>
              <a:spcAft>
                <a:spcPts val="0"/>
              </a:spcAft>
              <a:buClrTx/>
              <a:buSzTx/>
              <a:buFontTx/>
              <a:buNone/>
              <a:tabLst/>
              <a:defRPr/>
            </a:pP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踏まないように次回への教訓にすることには少なからず意義がある</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4231194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sz="3200" b="1" dirty="0">
                <a:latin typeface="Calibri (Headings)"/>
              </a:rPr>
              <a:t>4. </a:t>
            </a:r>
            <a:r>
              <a:rPr lang="ja-JP" altLang="en-US" sz="3200" b="1" dirty="0">
                <a:latin typeface="Calibri (Headings)"/>
              </a:rPr>
              <a:t>社内技術ドキュメンテーション執筆に必須の</a:t>
            </a:r>
            <a:r>
              <a:rPr lang="en-US" altLang="ja-JP" sz="3200" b="1" dirty="0">
                <a:latin typeface="Calibri (Headings)"/>
              </a:rPr>
              <a:t>5</a:t>
            </a:r>
            <a:r>
              <a:rPr lang="ja-JP" altLang="en-US" sz="3200" b="1" dirty="0">
                <a:latin typeface="Calibri (Headings)"/>
              </a:rPr>
              <a:t>大スキル</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0" normalizeH="0" baseline="0" noProof="0" dirty="0">
                <a:ln>
                  <a:noFill/>
                </a:ln>
                <a:solidFill>
                  <a:sysClr val="windowText" lastClr="000000"/>
                </a:solidFill>
                <a:effectLst/>
                <a:uLnTx/>
                <a:uFillTx/>
                <a:latin typeface="Yu Gothic"/>
                <a:cs typeface="Yu Gothic"/>
              </a:rPr>
              <a:t>⑤ 潜在的な問題の予測能力</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95250" lvl="0" indent="0" defTabSz="914400" eaLnBrk="1" fontAlgn="auto" latinLnBrk="0" hangingPunct="1">
              <a:lnSpc>
                <a:spcPts val="2590"/>
              </a:lnSpc>
              <a:spcBef>
                <a:spcPts val="107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ドキュメンテーションの対象となる技術・ドメイン知識は変化し続ける要素が多く、完成した文書はある時点のスナップショットに過ぎない。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93980" lvl="0" indent="0" defTabSz="914400" eaLnBrk="1" fontAlgn="auto" latinLnBrk="0" hangingPunct="1">
              <a:lnSpc>
                <a:spcPts val="2590"/>
              </a:lnSpc>
              <a:spcBef>
                <a:spcPts val="10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よって、</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文書は継続的に更新が行われる必要がある</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が、何か変更があるた</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びに行うのは人的・物的コストがかかる。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algn="just" defTabSz="914400" eaLnBrk="1" fontAlgn="auto" latinLnBrk="0" hangingPunct="1">
              <a:lnSpc>
                <a:spcPts val="2590"/>
              </a:lnSpc>
              <a:spcBef>
                <a:spcPts val="100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そこで、執筆時点で予見出来る変更は前もって文書に盛り込んでおくか、</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セクションを切った上でプレースホルダー</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(e.g.,</a:t>
            </a:r>
            <a:r>
              <a:rPr kumimoji="0" lang="ja-JP" altLang="en-US" sz="2400" b="0" i="0" u="none" strike="noStrike" kern="0" cap="none" spc="-40"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TBA</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 TBD)</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を設け、詳細が判</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明した後で明文化しておくと効率が良い。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084447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3600" b="1" dirty="0">
                <a:latin typeface="Calibri (Headings)"/>
              </a:rPr>
              <a:t>5. </a:t>
            </a:r>
            <a:r>
              <a:rPr lang="ja-JP" altLang="en-US" sz="3600" b="1" dirty="0">
                <a:latin typeface="Calibri (Headings)"/>
              </a:rPr>
              <a:t>体系的社内技術ドキュメンテーションの</a:t>
            </a:r>
            <a:r>
              <a:rPr lang="en-US" altLang="ja-JP" sz="3600" b="1" dirty="0">
                <a:latin typeface="Calibri (Headings)"/>
              </a:rPr>
              <a:t>3</a:t>
            </a:r>
            <a:r>
              <a:rPr lang="ja-JP" altLang="en-US" sz="3600" b="1" dirty="0">
                <a:latin typeface="Calibri (Headings)"/>
              </a:rPr>
              <a:t>大恩恵</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5164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体系的社内技術ドキュメンテーションの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大恩恵</a:t>
            </a:r>
            <a:endParaRPr lang="en-GB" sz="2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159385"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ここまでやや抽象的な「べき論」を述べてきたが、体系的な社内技術ド</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キュメンテーションにはどんなメリットがあるのか。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75"/>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その回答としては、大きく以下の</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3</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つの恩恵を享受出来ることが言える。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371475" marR="0" lvl="0" indent="-358775" defTabSz="914400" eaLnBrk="1" fontAlgn="auto" latinLnBrk="0" hangingPunct="1">
              <a:lnSpc>
                <a:spcPct val="100000"/>
              </a:lnSpc>
              <a:spcBef>
                <a:spcPts val="4310"/>
              </a:spcBef>
              <a:spcAft>
                <a:spcPts val="0"/>
              </a:spcAft>
              <a:buClr>
                <a:srgbClr val="000000"/>
              </a:buClr>
              <a:buSzTx/>
              <a:buFont typeface="Calibri"/>
              <a:buAutoNum type="arabicPeriod"/>
              <a:tabLst>
                <a:tab pos="371475" algn="l"/>
              </a:tabLst>
              <a:defRPr/>
            </a:pPr>
            <a:r>
              <a:rPr kumimoji="0" lang="ja-JP" altLang="en-US" sz="2400" b="1" i="0" u="sng" strike="noStrike" kern="0" cap="none" spc="-15" normalizeH="0" baseline="0" noProof="0" dirty="0">
                <a:ln>
                  <a:noFill/>
                </a:ln>
                <a:solidFill>
                  <a:srgbClr val="0462C1"/>
                </a:solidFill>
                <a:effectLst/>
                <a:uLnTx/>
                <a:uFill>
                  <a:solidFill>
                    <a:srgbClr val="0462C1"/>
                  </a:solidFill>
                </a:uFill>
                <a:latin typeface="Yu Gothic"/>
                <a:cs typeface="Yu Gothic"/>
                <a:hlinkClick r:id="rId3"/>
              </a:rPr>
              <a:t>組織への信頼感の醸成</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372110" marR="0" lvl="0" indent="-359410" defTabSz="914400" eaLnBrk="1" fontAlgn="auto" latinLnBrk="0" hangingPunct="1">
              <a:lnSpc>
                <a:spcPct val="100000"/>
              </a:lnSpc>
              <a:spcBef>
                <a:spcPts val="710"/>
              </a:spcBef>
              <a:spcAft>
                <a:spcPts val="0"/>
              </a:spcAft>
              <a:buClr>
                <a:srgbClr val="000000"/>
              </a:buClr>
              <a:buSzTx/>
              <a:buFont typeface="Calibri"/>
              <a:buAutoNum type="arabicPeriod"/>
              <a:tabLst>
                <a:tab pos="372110" algn="l"/>
              </a:tabLst>
              <a:defRPr/>
            </a:pPr>
            <a:r>
              <a:rPr kumimoji="0" lang="ja-JP" altLang="en-US" sz="2400" b="1" i="0" u="sng" strike="noStrike" kern="0" cap="none" spc="-5" normalizeH="0" baseline="0" noProof="0" dirty="0">
                <a:ln>
                  <a:noFill/>
                </a:ln>
                <a:solidFill>
                  <a:srgbClr val="0462C1"/>
                </a:solidFill>
                <a:effectLst/>
                <a:uLnTx/>
                <a:uFill>
                  <a:solidFill>
                    <a:srgbClr val="0462C1"/>
                  </a:solidFill>
                </a:uFill>
                <a:latin typeface="Yu Gothic"/>
                <a:cs typeface="Yu Gothic"/>
                <a:hlinkClick r:id="rId4"/>
              </a:rPr>
              <a:t>中長期的な成果の創出</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372110" marR="0" lvl="0" indent="-359410" defTabSz="914400" eaLnBrk="1" fontAlgn="auto" latinLnBrk="0" hangingPunct="1">
              <a:lnSpc>
                <a:spcPct val="100000"/>
              </a:lnSpc>
              <a:spcBef>
                <a:spcPts val="720"/>
              </a:spcBef>
              <a:spcAft>
                <a:spcPts val="0"/>
              </a:spcAft>
              <a:buClr>
                <a:srgbClr val="000000"/>
              </a:buClr>
              <a:buSzTx/>
              <a:buFont typeface="Calibri"/>
              <a:buAutoNum type="arabicPeriod"/>
              <a:tabLst>
                <a:tab pos="372110" algn="l"/>
              </a:tabLst>
              <a:defRPr/>
            </a:pPr>
            <a:r>
              <a:rPr kumimoji="0" lang="ja-JP" altLang="en-US" sz="2400" b="1" i="0" u="sng" strike="noStrike" kern="0" cap="none" spc="-5" normalizeH="0" baseline="0" noProof="0" dirty="0">
                <a:ln>
                  <a:noFill/>
                </a:ln>
                <a:solidFill>
                  <a:srgbClr val="0462C1"/>
                </a:solidFill>
                <a:effectLst/>
                <a:uLnTx/>
                <a:uFill>
                  <a:solidFill>
                    <a:srgbClr val="0462C1"/>
                  </a:solidFill>
                </a:uFill>
                <a:latin typeface="Yu Gothic"/>
                <a:cs typeface="Yu Gothic"/>
                <a:hlinkClick r:id="rId5"/>
              </a:rPr>
              <a:t>中長期的なコスト削減</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7876775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体系的社内技術ドキュメンテーションの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大恩恵</a:t>
            </a:r>
            <a:endParaRPr lang="en-GB" sz="2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algn="just" defTabSz="914400" eaLnBrk="1" fontAlgn="auto" latinLnBrk="0" hangingPunct="1">
              <a:lnSpc>
                <a:spcPct val="100000"/>
              </a:lnSpc>
              <a:spcBef>
                <a:spcPts val="600"/>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① 組織への信頼感の醸成</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algn="just" defTabSz="914400" eaLnBrk="1" fontAlgn="auto" latinLnBrk="0" hangingPunct="1">
              <a:lnSpc>
                <a:spcPts val="2310"/>
              </a:lnSpc>
              <a:spcBef>
                <a:spcPts val="990"/>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チームやプロジェクトでオンボーディングやその後の仕事に必要な情報が</a:t>
            </a: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科学的</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a:t>
            </a: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4"/>
              </a:rPr>
              <a:t>効率的</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a:t>
            </a: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5"/>
              </a:rPr>
              <a:t>印象的</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な状態で集約・体系化されていることは組織運営において不可欠である。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6350" lvl="0" indent="0" defTabSz="914400" eaLnBrk="1" fontAlgn="auto" latinLnBrk="0" hangingPunct="1">
              <a:lnSpc>
                <a:spcPct val="80000"/>
              </a:lnSpc>
              <a:spcBef>
                <a:spcPts val="101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現状の仕様や運用に追従した最新の文書があるのとそうでないのとでは、</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参画者の心理的負担が大きく異なるからだ。</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6350" lvl="0" indent="0" algn="just" defTabSz="914400" eaLnBrk="1" fontAlgn="auto" latinLnBrk="0" hangingPunct="1">
              <a:lnSpc>
                <a:spcPts val="2300"/>
              </a:lnSpc>
              <a:spcBef>
                <a:spcPts val="98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例えば、自分が参画したチームやプロジェクトで進め方が分からない作業を任された時、必要な情報が掲載された文書の有無を訊いても「無い」の一点張りで、剰え「自分でどうにかしろ」と言われたらどうだろう。</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6350" lvl="0" indent="0" algn="just" defTabSz="914400" eaLnBrk="1" fontAlgn="auto" latinLnBrk="0" hangingPunct="1">
              <a:lnSpc>
                <a:spcPct val="80000"/>
              </a:lnSpc>
              <a:spcBef>
                <a:spcPts val="1025"/>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このような放置プレーの状況で悪戦苦闘されているソフトウェアエンジニ</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アの方々も現実にいらっしゃると思うが、調査コストもストレスも計り知れないほど高いのは想像に難くない。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791389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体系的社内技術ドキュメンテーションの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大恩恵</a:t>
            </a:r>
            <a:endParaRPr lang="en-GB" sz="2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algn="just"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① 組織への信頼感の醸成</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algn="just" defTabSz="914400" eaLnBrk="1" fontAlgn="auto" latinLnBrk="0" hangingPunct="1">
              <a:lnSpc>
                <a:spcPts val="2590"/>
              </a:lnSpc>
              <a:spcBef>
                <a:spcPts val="107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反対に、必要な情報が現状の仕様や運用に追従した最新の状態で文書化されており、不明事項に遭遇した時のフォールバック先があると分かってれば、精神的なコンディションは大きく違ってくる。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algn="just" defTabSz="914400" eaLnBrk="1" fontAlgn="auto" latinLnBrk="0" hangingPunct="1">
              <a:lnSpc>
                <a:spcPct val="90000"/>
              </a:lnSpc>
              <a:spcBef>
                <a:spcPts val="969"/>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また、文書の存在や品質はその組織の体質を如実に映す鑑であり、それが</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担保されている組織は中長期的に属人性や負債を残さない取り組みを行っている証であり、参画者は信頼を置く。</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40"/>
              </a:spcBef>
              <a:spcAft>
                <a:spcPts val="0"/>
              </a:spcAft>
              <a:buClrTx/>
              <a:buSzTx/>
              <a:buFontTx/>
              <a:buNone/>
              <a:tabLst/>
              <a:defRPr/>
            </a:pP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参画者は意識・無意識に関わらず、体系的社内技術ドキュメンテーション</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によってその組織を評価し、信頼する</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820947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体系的社内技術ドキュメンテーションの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大恩恵</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② 中長期的な成果の創出</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7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体系的なドキュメンテーションを行うことは、短期的には高コストに思え</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るかも知れない。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algn="just" defTabSz="914400" eaLnBrk="1" fontAlgn="auto" latinLnBrk="0" hangingPunct="1">
              <a:lnSpc>
                <a:spcPct val="90000"/>
              </a:lnSpc>
              <a:spcBef>
                <a:spcPts val="969"/>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しかし、</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結果として参画者が素早い情報のキャッチアップを行い、より高</a:t>
            </a:r>
            <a:r>
              <a:rPr kumimoji="0" lang="ja-JP" altLang="en-US" sz="2400" b="1" i="0" u="none" strike="noStrike" kern="0" cap="none" spc="-15" normalizeH="0" baseline="0" noProof="0" dirty="0">
                <a:ln>
                  <a:noFill/>
                </a:ln>
                <a:solidFill>
                  <a:sysClr val="windowText" lastClr="000000"/>
                </a:solidFill>
                <a:effectLst/>
                <a:uLnTx/>
                <a:uFillTx/>
                <a:latin typeface="Yu Gothic"/>
                <a:cs typeface="Yu Gothic"/>
              </a:rPr>
              <a:t>次元の仕事をこなして意欲・生産性を向上出来れば、それは近い将来組織</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に成果として還元される</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309880" lvl="0" indent="0" defTabSz="914400" eaLnBrk="1" fontAlgn="auto" latinLnBrk="0" hangingPunct="1">
              <a:lnSpc>
                <a:spcPts val="2590"/>
              </a:lnSpc>
              <a:spcBef>
                <a:spcPts val="1035"/>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その観点では、</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もし今現在文書が存在しなければ、体系的なドキュメン</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テーションの実施は払うべき必要な初期コストである</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algn="just" defTabSz="914400" eaLnBrk="1" fontAlgn="auto" latinLnBrk="0" hangingPunct="1">
              <a:lnSpc>
                <a:spcPts val="2590"/>
              </a:lnSpc>
              <a:spcBef>
                <a:spcPts val="100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反対に、この初期コストを渋ると、参画者は情報のキャッチアップに腐心し、結果的に組織に成果を還元する以前の段階でいつまでも燻り続けるこ</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とになる。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701252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5.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体系的社内技術ドキュメンテーションの</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大恩恵</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55" normalizeH="0" baseline="0" noProof="0" dirty="0">
                <a:ln>
                  <a:noFill/>
                </a:ln>
                <a:solidFill>
                  <a:sysClr val="windowText" lastClr="000000"/>
                </a:solidFill>
                <a:effectLst/>
                <a:uLnTx/>
                <a:uFillTx/>
                <a:latin typeface="Yu Gothic"/>
                <a:cs typeface="Yu Gothic"/>
              </a:rPr>
              <a:t>③ 中長期的なコスト削減</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73660" lvl="0" indent="0" defTabSz="914400" eaLnBrk="1" fontAlgn="auto" latinLnBrk="0" hangingPunct="1">
              <a:lnSpc>
                <a:spcPts val="2590"/>
              </a:lnSpc>
              <a:spcBef>
                <a:spcPts val="107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体系的社内技術ドキュメンテーションを導線を含めて整備さえしてしまえば、ステークホルダーは公開された文書を継続的に参照することになる。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73660" lvl="0" indent="0" defTabSz="914400" eaLnBrk="1" fontAlgn="auto" latinLnBrk="0" hangingPunct="1">
              <a:lnSpc>
                <a:spcPts val="2590"/>
              </a:lnSpc>
              <a:spcBef>
                <a:spcPts val="1010"/>
              </a:spcBef>
              <a:spcAft>
                <a:spcPts val="0"/>
              </a:spcAft>
              <a:buClrTx/>
              <a:buSzTx/>
              <a:buFontTx/>
              <a:buNone/>
              <a:tabLst/>
              <a:defRPr/>
            </a:pP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ステークホルダーから頻繁に受ける同じ問いには、人の手を介さずに冪等</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性を持って何度でも同じ答えを返すことが出来る</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その結果</a:t>
            </a:r>
            <a:r>
              <a:rPr kumimoji="0" lang="ja-JP" altLang="en-US" sz="2400" b="1" i="0" u="none" strike="noStrike" kern="0" cap="none" spc="-35" normalizeH="0" baseline="0" noProof="0" dirty="0">
                <a:ln>
                  <a:noFill/>
                </a:ln>
                <a:solidFill>
                  <a:sysClr val="windowText" lastClr="000000"/>
                </a:solidFill>
                <a:effectLst/>
                <a:uLnTx/>
                <a:uFillTx/>
                <a:latin typeface="Yu Gothic"/>
                <a:cs typeface="Yu Gothic"/>
              </a:rPr>
              <a:t>、 問合せごとに割く人員もお金も不要になるため、属人性の排除</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とコスト削減が期待出来る</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73660" lvl="0" indent="0" algn="just" defTabSz="914400" eaLnBrk="1" fontAlgn="auto" latinLnBrk="0" hangingPunct="1">
              <a:lnSpc>
                <a:spcPct val="90000"/>
              </a:lnSpc>
              <a:spcBef>
                <a:spcPts val="960"/>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この観点においても、もし今現在文書が存在しなければ体系的なドキュメ</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ンテーションは払うべき必要な初期コストであり、中長期的には投資した初期コスト以上の恩恵を享受出来る。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198165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6. </a:t>
            </a:r>
            <a:r>
              <a:rPr lang="ja-JP" altLang="en-US" b="1" dirty="0">
                <a:latin typeface="Calibri (Headings)"/>
              </a:rPr>
              <a:t>回避不可能な</a:t>
            </a:r>
            <a:r>
              <a:rPr lang="en-US" altLang="ja-JP" b="1" dirty="0">
                <a:latin typeface="Calibri (Headings)"/>
              </a:rPr>
              <a:t>5</a:t>
            </a:r>
            <a:r>
              <a:rPr lang="ja-JP" altLang="en-US" b="1" dirty="0">
                <a:latin typeface="Calibri (Headings)"/>
              </a:rPr>
              <a:t>大トレードオフ</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7689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回避不可能な</a:t>
            </a:r>
            <a:r>
              <a:rPr lang="en-US" altLang="ja-JP" b="1" dirty="0">
                <a:latin typeface="Calibri (Headings)"/>
              </a:rPr>
              <a:t>5</a:t>
            </a:r>
            <a:r>
              <a:rPr lang="ja-JP" altLang="en-US" b="1" dirty="0">
                <a:latin typeface="Calibri (Headings)"/>
              </a:rPr>
              <a:t>大トレードオフ</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5715" lvl="0" indent="0" defTabSz="914400" eaLnBrk="1" fontAlgn="auto" latinLnBrk="0" hangingPunct="1">
              <a:lnSpc>
                <a:spcPct val="70000"/>
              </a:lnSpc>
              <a:spcBef>
                <a:spcPts val="825"/>
              </a:spcBef>
              <a:spcAft>
                <a:spcPts val="0"/>
              </a:spcAft>
              <a:buClrTx/>
              <a:buSzTx/>
              <a:buFontTx/>
              <a:buNone/>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今回は「ソフトウェアエンジニアの社内技術ドキュメンテーションへの向き合い方」の一</a:t>
            </a:r>
            <a:r>
              <a:rPr kumimoji="0" lang="ja-JP" altLang="en-US" sz="2000" b="0" i="0" u="none" strike="noStrike" kern="0" cap="none" spc="-5" normalizeH="0" baseline="0" noProof="0" dirty="0">
                <a:ln>
                  <a:noFill/>
                </a:ln>
                <a:solidFill>
                  <a:sysClr val="windowText" lastClr="000000"/>
                </a:solidFill>
                <a:effectLst/>
                <a:uLnTx/>
                <a:uFillTx/>
                <a:latin typeface="Yu Gothic"/>
                <a:cs typeface="Yu Gothic"/>
              </a:rPr>
              <a:t>般論について説明した。</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2700" marR="5715" lvl="0" indent="0" defTabSz="914400" eaLnBrk="1" fontAlgn="auto" latinLnBrk="0" hangingPunct="1">
              <a:lnSpc>
                <a:spcPct val="70000"/>
              </a:lnSpc>
              <a:spcBef>
                <a:spcPts val="994"/>
              </a:spcBef>
              <a:spcAft>
                <a:spcPts val="0"/>
              </a:spcAft>
              <a:buClrTx/>
              <a:buSzTx/>
              <a:buFontTx/>
              <a:buNone/>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しかし、ここまで説明した一般論は言ってみれば理想論であり、実現するにはブロッカー</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となるトレードオフが必ず存在する。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290"/>
              </a:spcBef>
              <a:spcAft>
                <a:spcPts val="0"/>
              </a:spcAft>
              <a:buClrTx/>
              <a:buSzTx/>
              <a:buFontTx/>
              <a:buNone/>
              <a:tabLst/>
              <a:defRPr/>
            </a:pP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社内技術ドキュメンテーションには、少なくとも以下の</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5</a:t>
            </a: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つのトレードオフが存在する。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1305" marR="0" lvl="0" indent="-268605" defTabSz="914400" eaLnBrk="1" fontAlgn="auto" latinLnBrk="0" hangingPunct="1">
              <a:lnSpc>
                <a:spcPct val="100000"/>
              </a:lnSpc>
              <a:spcBef>
                <a:spcPts val="2950"/>
              </a:spcBef>
              <a:spcAft>
                <a:spcPts val="0"/>
              </a:spcAft>
              <a:buClr>
                <a:srgbClr val="000000"/>
              </a:buClr>
              <a:buSzTx/>
              <a:buFont typeface="Calibri"/>
              <a:buAutoNum type="arabicPeriod"/>
              <a:tabLst>
                <a:tab pos="281305" algn="l"/>
              </a:tabLst>
              <a:defRPr/>
            </a:pPr>
            <a:r>
              <a:rPr kumimoji="0" lang="ja-JP" altLang="en-US" sz="2000" b="1" i="0" u="sng" strike="noStrike" kern="0" cap="none" spc="-20" normalizeH="0" baseline="0" noProof="0" dirty="0">
                <a:ln>
                  <a:noFill/>
                </a:ln>
                <a:solidFill>
                  <a:srgbClr val="0462C1"/>
                </a:solidFill>
                <a:effectLst/>
                <a:uLnTx/>
                <a:uFill>
                  <a:solidFill>
                    <a:srgbClr val="0462C1"/>
                  </a:solidFill>
                </a:uFill>
                <a:latin typeface="Yu Gothic"/>
                <a:cs typeface="Yu Gothic"/>
                <a:hlinkClick r:id="rId3"/>
              </a:rPr>
              <a:t>属人性排除タスクそれ自体の属人性</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1305" marR="0" lvl="0" indent="-268605" defTabSz="914400" eaLnBrk="1" fontAlgn="auto" latinLnBrk="0" hangingPunct="1">
              <a:lnSpc>
                <a:spcPct val="100000"/>
              </a:lnSpc>
              <a:spcBef>
                <a:spcPts val="290"/>
              </a:spcBef>
              <a:spcAft>
                <a:spcPts val="0"/>
              </a:spcAft>
              <a:buClr>
                <a:srgbClr val="000000"/>
              </a:buClr>
              <a:buSzTx/>
              <a:buFont typeface="Calibri"/>
              <a:buAutoNum type="arabicPeriod"/>
              <a:tabLst>
                <a:tab pos="281305" algn="l"/>
              </a:tabLst>
              <a:defRPr/>
            </a:pPr>
            <a:r>
              <a:rPr kumimoji="0" lang="ja-JP" altLang="en-US" sz="2000" b="1" i="0" u="sng" strike="noStrike" kern="0" cap="none" spc="-15" normalizeH="0" baseline="0" noProof="0" dirty="0">
                <a:ln>
                  <a:noFill/>
                </a:ln>
                <a:solidFill>
                  <a:srgbClr val="0462C1"/>
                </a:solidFill>
                <a:effectLst/>
                <a:uLnTx/>
                <a:uFill>
                  <a:solidFill>
                    <a:srgbClr val="0462C1"/>
                  </a:solidFill>
                </a:uFill>
                <a:latin typeface="Yu Gothic"/>
                <a:cs typeface="Yu Gothic"/>
                <a:hlinkClick r:id="rId4"/>
              </a:rPr>
              <a:t>チーム作業の形成すべき合意内容</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1305" marR="0" lvl="0" indent="-268605" defTabSz="914400" eaLnBrk="1" fontAlgn="auto" latinLnBrk="0" hangingPunct="1">
              <a:lnSpc>
                <a:spcPct val="100000"/>
              </a:lnSpc>
              <a:spcBef>
                <a:spcPts val="280"/>
              </a:spcBef>
              <a:spcAft>
                <a:spcPts val="0"/>
              </a:spcAft>
              <a:buClr>
                <a:srgbClr val="000000"/>
              </a:buClr>
              <a:buSzTx/>
              <a:buFont typeface="Calibri"/>
              <a:buAutoNum type="arabicPeriod"/>
              <a:tabLst>
                <a:tab pos="281305" algn="l"/>
              </a:tabLst>
              <a:defRPr/>
            </a:pPr>
            <a:r>
              <a:rPr kumimoji="0" lang="ja-JP" altLang="en-US" sz="2000" b="1" i="0" u="sng" strike="noStrike" kern="0" cap="none" spc="-20" normalizeH="0" baseline="0" noProof="0" dirty="0">
                <a:ln>
                  <a:noFill/>
                </a:ln>
                <a:solidFill>
                  <a:srgbClr val="0462C1"/>
                </a:solidFill>
                <a:effectLst/>
                <a:uLnTx/>
                <a:uFill>
                  <a:solidFill>
                    <a:srgbClr val="0462C1"/>
                  </a:solidFill>
                </a:uFill>
                <a:latin typeface="Yu Gothic"/>
                <a:cs typeface="Yu Gothic"/>
                <a:hlinkClick r:id="rId5"/>
              </a:rPr>
              <a:t>ステークホルダーの数と文書の最新状態追従度の反比例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1305" marR="0" lvl="0" indent="-268605" defTabSz="914400" eaLnBrk="1" fontAlgn="auto" latinLnBrk="0" hangingPunct="1">
              <a:lnSpc>
                <a:spcPct val="100000"/>
              </a:lnSpc>
              <a:spcBef>
                <a:spcPts val="275"/>
              </a:spcBef>
              <a:spcAft>
                <a:spcPts val="0"/>
              </a:spcAft>
              <a:buClr>
                <a:srgbClr val="000000"/>
              </a:buClr>
              <a:buSzTx/>
              <a:buFont typeface="Calibri"/>
              <a:buAutoNum type="arabicPeriod"/>
              <a:tabLst>
                <a:tab pos="281305" algn="l"/>
              </a:tabLst>
              <a:defRPr/>
            </a:pPr>
            <a:r>
              <a:rPr kumimoji="0" lang="ja-JP" altLang="en-US" sz="2000" b="1" i="0" u="sng" strike="noStrike" kern="0" cap="none" spc="-10" normalizeH="0" baseline="0" noProof="0" dirty="0">
                <a:ln>
                  <a:noFill/>
                </a:ln>
                <a:solidFill>
                  <a:srgbClr val="0462C1"/>
                </a:solidFill>
                <a:effectLst/>
                <a:uLnTx/>
                <a:uFill>
                  <a:solidFill>
                    <a:srgbClr val="0462C1"/>
                  </a:solidFill>
                </a:uFill>
                <a:latin typeface="Yu Gothic"/>
                <a:cs typeface="Yu Gothic"/>
                <a:hlinkClick r:id="rId6"/>
              </a:rPr>
              <a:t>継続的品質担保責任の発生</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1305" marR="0" lvl="0" indent="-268605" defTabSz="914400" eaLnBrk="1" fontAlgn="auto" latinLnBrk="0" hangingPunct="1">
              <a:lnSpc>
                <a:spcPct val="100000"/>
              </a:lnSpc>
              <a:spcBef>
                <a:spcPts val="285"/>
              </a:spcBef>
              <a:spcAft>
                <a:spcPts val="0"/>
              </a:spcAft>
              <a:buClr>
                <a:srgbClr val="000000"/>
              </a:buClr>
              <a:buSzTx/>
              <a:buFont typeface="Calibri"/>
              <a:buAutoNum type="arabicPeriod"/>
              <a:tabLst>
                <a:tab pos="281305" algn="l"/>
              </a:tabLst>
              <a:defRPr/>
            </a:pPr>
            <a:r>
              <a:rPr kumimoji="0" lang="ja-JP" altLang="en-US" sz="2000" b="1" i="0" u="sng" strike="noStrike" kern="0" cap="none" spc="-20" normalizeH="0" baseline="0" noProof="0" dirty="0">
                <a:ln>
                  <a:noFill/>
                </a:ln>
                <a:solidFill>
                  <a:srgbClr val="0462C1"/>
                </a:solidFill>
                <a:effectLst/>
                <a:uLnTx/>
                <a:uFill>
                  <a:solidFill>
                    <a:srgbClr val="0462C1"/>
                  </a:solidFill>
                </a:uFill>
                <a:latin typeface="Yu Gothic"/>
                <a:cs typeface="Yu Gothic"/>
                <a:hlinkClick r:id="rId7"/>
              </a:rPr>
              <a:t>投資コストの限界値の見極めの難しさ</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ct val="70000"/>
              </a:lnSpc>
              <a:spcBef>
                <a:spcPts val="2430"/>
              </a:spcBef>
              <a:spcAft>
                <a:spcPts val="0"/>
              </a:spcAft>
              <a:buClrTx/>
              <a:buSzTx/>
              <a:buFontTx/>
              <a:buNone/>
              <a:tabLst/>
              <a:defRPr/>
            </a:pP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上記のトレードオフについては次作</a:t>
            </a:r>
            <a:r>
              <a:rPr kumimoji="0" lang="en-US" altLang="ja-JP" sz="2000" b="0" i="0" u="none" strike="noStrike" kern="0" cap="none" spc="-15" normalizeH="0" baseline="0" noProof="0" dirty="0">
                <a:ln>
                  <a:noFill/>
                </a:ln>
                <a:solidFill>
                  <a:sysClr val="windowText" lastClr="000000"/>
                </a:solidFill>
                <a:effectLst/>
                <a:uLnTx/>
                <a:uFillTx/>
                <a:latin typeface="Yu Gothic"/>
                <a:cs typeface="Yu Gothic"/>
              </a:rPr>
              <a:t>『</a:t>
            </a:r>
            <a:r>
              <a:rPr kumimoji="0" lang="ja-JP" altLang="en-US" sz="2000" b="0" i="0" u="sng" strike="noStrike" kern="0" cap="none" spc="-20" normalizeH="0" baseline="0" noProof="0" dirty="0">
                <a:ln>
                  <a:noFill/>
                </a:ln>
                <a:solidFill>
                  <a:srgbClr val="0462C1"/>
                </a:solidFill>
                <a:effectLst/>
                <a:uLnTx/>
                <a:uFill>
                  <a:solidFill>
                    <a:srgbClr val="0462C1"/>
                  </a:solidFill>
                </a:uFill>
                <a:latin typeface="Yu Gothic"/>
                <a:cs typeface="Yu Gothic"/>
                <a:hlinkClick r:id="rId8"/>
              </a:rPr>
              <a:t>ソフトウェアエンジニアの社内技術ドキュメンテー</a:t>
            </a:r>
            <a:r>
              <a:rPr kumimoji="0" lang="ja-JP" altLang="en-US" sz="2000" b="0" i="0" u="sng" strike="noStrike" kern="0" cap="none" spc="500" normalizeH="0" baseline="0" noProof="0" dirty="0">
                <a:ln>
                  <a:noFill/>
                </a:ln>
                <a:solidFill>
                  <a:srgbClr val="0462C1"/>
                </a:solidFill>
                <a:effectLst/>
                <a:uLnTx/>
                <a:uFill>
                  <a:solidFill>
                    <a:srgbClr val="0462C1"/>
                  </a:solidFill>
                </a:uFill>
                <a:latin typeface="Yu Gothic"/>
                <a:cs typeface="Yu Gothic"/>
                <a:hlinkClick r:id="rId8"/>
              </a:rPr>
              <a:t>                                                </a:t>
            </a:r>
            <a:r>
              <a:rPr kumimoji="0" lang="ja-JP" altLang="en-US" sz="2000" b="0" i="0" u="sng" strike="noStrike" kern="0" cap="none" spc="40" normalizeH="0" baseline="0" noProof="0" dirty="0">
                <a:ln>
                  <a:noFill/>
                </a:ln>
                <a:solidFill>
                  <a:srgbClr val="0462C1"/>
                </a:solidFill>
                <a:effectLst/>
                <a:uLnTx/>
                <a:uFill>
                  <a:solidFill>
                    <a:srgbClr val="0462C1"/>
                  </a:solidFill>
                </a:uFill>
                <a:latin typeface="Yu Gothic"/>
                <a:cs typeface="Yu Gothic"/>
                <a:hlinkClick r:id="rId8"/>
              </a:rPr>
              <a:t>ションへの向き合い方</a:t>
            </a:r>
            <a:r>
              <a:rPr kumimoji="0" lang="en-US" altLang="ja-JP" sz="2000" b="0" i="0" u="sng" strike="noStrike" kern="0" cap="none" spc="-10" normalizeH="0" baseline="0" noProof="0" dirty="0">
                <a:ln>
                  <a:noFill/>
                </a:ln>
                <a:solidFill>
                  <a:srgbClr val="0462C1"/>
                </a:solidFill>
                <a:effectLst/>
                <a:uLnTx/>
                <a:uFill>
                  <a:solidFill>
                    <a:srgbClr val="0462C1"/>
                  </a:solidFill>
                </a:uFill>
                <a:latin typeface="Calibri"/>
                <a:cs typeface="Calibri"/>
                <a:hlinkClick r:id="rId8"/>
              </a:rPr>
              <a:t>-</a:t>
            </a:r>
            <a:r>
              <a:rPr kumimoji="0" lang="ja-JP" altLang="en-US" sz="2000" b="0" i="0" u="sng" strike="noStrike" kern="0" cap="none" spc="-5" normalizeH="0" baseline="0" noProof="0" dirty="0">
                <a:ln>
                  <a:noFill/>
                </a:ln>
                <a:solidFill>
                  <a:srgbClr val="0462C1"/>
                </a:solidFill>
                <a:effectLst/>
                <a:uLnTx/>
                <a:uFill>
                  <a:solidFill>
                    <a:srgbClr val="0462C1"/>
                  </a:solidFill>
                </a:uFill>
                <a:latin typeface="Yu Gothic"/>
                <a:cs typeface="Yu Gothic"/>
                <a:hlinkClick r:id="rId8"/>
              </a:rPr>
              <a:t>実践編</a:t>
            </a:r>
            <a:r>
              <a:rPr kumimoji="0" lang="en-US" altLang="ja-JP" sz="2000" b="0" i="0" u="sng" strike="noStrike" kern="0" cap="none" spc="-10" normalizeH="0" baseline="0" noProof="0" dirty="0">
                <a:ln>
                  <a:noFill/>
                </a:ln>
                <a:solidFill>
                  <a:srgbClr val="0462C1"/>
                </a:solidFill>
                <a:effectLst/>
                <a:uLnTx/>
                <a:uFill>
                  <a:solidFill>
                    <a:srgbClr val="0462C1"/>
                  </a:solidFill>
                </a:uFill>
                <a:latin typeface="Calibri"/>
                <a:cs typeface="Calibri"/>
                <a:hlinkClick r:id="rId8"/>
              </a:rPr>
              <a:t>-</a:t>
            </a:r>
            <a:r>
              <a:rPr kumimoji="0" lang="en-US" altLang="ja-JP" sz="2000" b="0" i="0" u="none" strike="noStrike" kern="0" cap="none" spc="-10" normalizeH="0" baseline="0" noProof="0" dirty="0">
                <a:ln>
                  <a:noFill/>
                </a:ln>
                <a:solidFill>
                  <a:sysClr val="windowText" lastClr="000000"/>
                </a:solidFill>
                <a:effectLst/>
                <a:uLnTx/>
                <a:uFillTx/>
                <a:latin typeface="Yu Gothic"/>
                <a:cs typeface="Yu Gothic"/>
              </a:rPr>
              <a:t>』</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にて考察する。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345157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7.</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7.</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280670" marR="0" lvl="0" indent="-267970" defTabSz="914400" eaLnBrk="1" fontAlgn="auto" latinLnBrk="0" hangingPunct="1">
              <a:lnSpc>
                <a:spcPts val="2245"/>
              </a:lnSpc>
              <a:spcBef>
                <a:spcPts val="95"/>
              </a:spcBef>
              <a:spcAft>
                <a:spcPts val="0"/>
              </a:spcAft>
              <a:buClr>
                <a:srgbClr val="000000"/>
              </a:buClr>
              <a:buSzTx/>
              <a:buFont typeface="Calibri"/>
              <a:buAutoNum type="arabicPeriod"/>
              <a:tabLst>
                <a:tab pos="280670" algn="l"/>
              </a:tabLst>
              <a:defRPr/>
            </a:pPr>
            <a:r>
              <a:rPr kumimoji="0" lang="ja-JP" altLang="en-US" sz="1900" b="1" i="0" u="sng" strike="noStrike" kern="0" cap="none" spc="-25" normalizeH="0" baseline="0" noProof="0" dirty="0">
                <a:ln>
                  <a:noFill/>
                </a:ln>
                <a:solidFill>
                  <a:srgbClr val="0462C1"/>
                </a:solidFill>
                <a:effectLst/>
                <a:uLnTx/>
                <a:uFill>
                  <a:solidFill>
                    <a:srgbClr val="0462C1"/>
                  </a:solidFill>
                </a:uFill>
                <a:latin typeface="Yu Gothic"/>
                <a:cs typeface="Yu Gothic"/>
                <a:hlinkClick r:id="rId3"/>
              </a:rPr>
              <a:t>社内技術ドキュメンテーションに必須の</a:t>
            </a:r>
            <a:r>
              <a:rPr kumimoji="0" lang="en-US" altLang="ja-JP" sz="1900" b="1"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6</a:t>
            </a:r>
            <a:r>
              <a:rPr kumimoji="0" lang="ja-JP" altLang="en-US" sz="1900" b="1" i="0" u="sng" strike="noStrike" kern="0" cap="none" spc="-35" normalizeH="0" baseline="0" noProof="0" dirty="0">
                <a:ln>
                  <a:noFill/>
                </a:ln>
                <a:solidFill>
                  <a:srgbClr val="0462C1"/>
                </a:solidFill>
                <a:effectLst/>
                <a:uLnTx/>
                <a:uFill>
                  <a:solidFill>
                    <a:srgbClr val="0462C1"/>
                  </a:solidFill>
                </a:uFill>
                <a:latin typeface="Yu Gothic"/>
                <a:cs typeface="Yu Gothic"/>
                <a:hlinkClick r:id="rId3"/>
              </a:rPr>
              <a:t>大要素</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39"/>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4"/>
              </a:rPr>
              <a:t>科学的であること</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45"/>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5" normalizeH="0" baseline="0" noProof="0" dirty="0">
                <a:ln>
                  <a:noFill/>
                </a:ln>
                <a:solidFill>
                  <a:srgbClr val="0462C1"/>
                </a:solidFill>
                <a:effectLst/>
                <a:uLnTx/>
                <a:uFill>
                  <a:solidFill>
                    <a:srgbClr val="0462C1"/>
                  </a:solidFill>
                </a:uFill>
                <a:latin typeface="Yu Gothic"/>
                <a:cs typeface="Yu Gothic"/>
                <a:hlinkClick r:id="rId5"/>
              </a:rPr>
              <a:t>効率的であること</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50"/>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6"/>
              </a:rPr>
              <a:t>印象的であること</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39"/>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7"/>
              </a:rPr>
              <a:t>想定読者層が明確であること</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39"/>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8"/>
              </a:rPr>
              <a:t>技術者と非技術者間のコミュニケーション</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85"/>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9"/>
              </a:rPr>
              <a:t>適切なワークフロー設計</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ts val="2245"/>
              </a:lnSpc>
              <a:spcBef>
                <a:spcPts val="310"/>
              </a:spcBef>
              <a:spcAft>
                <a:spcPts val="0"/>
              </a:spcAft>
              <a:buClr>
                <a:srgbClr val="000000"/>
              </a:buClr>
              <a:buSzTx/>
              <a:buFont typeface="Calibri"/>
              <a:buAutoNum type="arabicPeriod"/>
              <a:tabLst>
                <a:tab pos="280670" algn="l"/>
              </a:tabLst>
              <a:defRPr/>
            </a:pPr>
            <a:r>
              <a:rPr kumimoji="0" lang="ja-JP" altLang="en-US" sz="1900" b="1" i="0" u="sng" strike="noStrike" kern="0" cap="none" spc="-30" normalizeH="0" baseline="0" noProof="0" dirty="0">
                <a:ln>
                  <a:noFill/>
                </a:ln>
                <a:solidFill>
                  <a:srgbClr val="0462C1"/>
                </a:solidFill>
                <a:effectLst/>
                <a:uLnTx/>
                <a:uFill>
                  <a:solidFill>
                    <a:srgbClr val="0462C1"/>
                  </a:solidFill>
                </a:uFill>
                <a:latin typeface="Yu Gothic"/>
                <a:cs typeface="Yu Gothic"/>
                <a:hlinkClick r:id="rId10"/>
              </a:rPr>
              <a:t>社内技術ドキュメンテーションに必須の</a:t>
            </a:r>
            <a:r>
              <a:rPr kumimoji="0" lang="en-US" altLang="ja-JP" sz="1900" b="1" i="0" u="sng" strike="noStrike" kern="0" cap="none" spc="-10" normalizeH="0" baseline="0" noProof="0" dirty="0">
                <a:ln>
                  <a:noFill/>
                </a:ln>
                <a:solidFill>
                  <a:srgbClr val="0462C1"/>
                </a:solidFill>
                <a:effectLst/>
                <a:uLnTx/>
                <a:uFill>
                  <a:solidFill>
                    <a:srgbClr val="0462C1"/>
                  </a:solidFill>
                </a:uFill>
                <a:latin typeface="Calibri"/>
                <a:cs typeface="Calibri"/>
                <a:hlinkClick r:id="rId10"/>
              </a:rPr>
              <a:t>5</a:t>
            </a:r>
            <a:r>
              <a:rPr kumimoji="0" lang="ja-JP" altLang="en-US" sz="1900" b="1" i="0" u="sng" strike="noStrike" kern="0" cap="none" spc="-35" normalizeH="0" baseline="0" noProof="0" dirty="0">
                <a:ln>
                  <a:noFill/>
                </a:ln>
                <a:solidFill>
                  <a:srgbClr val="0462C1"/>
                </a:solidFill>
                <a:effectLst/>
                <a:uLnTx/>
                <a:uFill>
                  <a:solidFill>
                    <a:srgbClr val="0462C1"/>
                  </a:solidFill>
                </a:uFill>
                <a:latin typeface="Yu Gothic"/>
                <a:cs typeface="Yu Gothic"/>
                <a:hlinkClick r:id="rId10"/>
              </a:rPr>
              <a:t>大スキル</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50"/>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11"/>
              </a:rPr>
              <a:t>読み手目線の説明能力</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39"/>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12"/>
              </a:rPr>
              <a:t>ステークホルダーとの協業能力</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39"/>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13"/>
              </a:rPr>
              <a:t>問題解決能力</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50"/>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14"/>
              </a:rPr>
              <a:t>コスト管理能力</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85"/>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15"/>
              </a:rPr>
              <a:t>潜在的な問題の予測能力</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defTabSz="914400" eaLnBrk="1" fontAlgn="auto" latinLnBrk="0" hangingPunct="1">
              <a:lnSpc>
                <a:spcPts val="2245"/>
              </a:lnSpc>
              <a:spcBef>
                <a:spcPts val="315"/>
              </a:spcBef>
              <a:spcAft>
                <a:spcPts val="0"/>
              </a:spcAft>
              <a:buClr>
                <a:srgbClr val="000000"/>
              </a:buClr>
              <a:buSzTx/>
              <a:buFont typeface="Calibri"/>
              <a:buAutoNum type="arabicPeriod"/>
              <a:tabLst>
                <a:tab pos="280035" algn="l"/>
                <a:tab pos="523240" algn="l"/>
              </a:tabLst>
              <a:defRPr/>
            </a:pPr>
            <a:r>
              <a:rPr kumimoji="0" lang="ja-JP" altLang="en-US" sz="1900" b="0" i="0" u="sng" strike="noStrike" kern="0" cap="none" spc="0" normalizeH="0" baseline="0" noProof="0" dirty="0">
                <a:ln>
                  <a:noFill/>
                </a:ln>
                <a:solidFill>
                  <a:srgbClr val="0462C1"/>
                </a:solidFill>
                <a:effectLst/>
                <a:uLnTx/>
                <a:uFill>
                  <a:solidFill>
                    <a:srgbClr val="0462C1"/>
                  </a:solidFill>
                </a:uFill>
                <a:latin typeface="Times New Roman"/>
                <a:cs typeface="Times New Roman"/>
                <a:hlinkClick r:id="rId16"/>
              </a:rPr>
              <a:t>	</a:t>
            </a:r>
            <a:r>
              <a:rPr kumimoji="0" lang="ja-JP" altLang="en-US" sz="1900" b="1" i="0" u="sng" strike="noStrike" kern="0" cap="none" spc="-25" normalizeH="0" baseline="0" noProof="0" dirty="0">
                <a:ln>
                  <a:noFill/>
                </a:ln>
                <a:solidFill>
                  <a:srgbClr val="0462C1"/>
                </a:solidFill>
                <a:effectLst/>
                <a:uLnTx/>
                <a:uFill>
                  <a:solidFill>
                    <a:srgbClr val="0462C1"/>
                  </a:solidFill>
                </a:uFill>
                <a:latin typeface="Yu Gothic"/>
                <a:cs typeface="Yu Gothic"/>
                <a:hlinkClick r:id="rId16"/>
              </a:rPr>
              <a:t>系的社内技術ドキュメンテーションの</a:t>
            </a:r>
            <a:r>
              <a:rPr kumimoji="0" lang="en-US" altLang="ja-JP" sz="1900" b="1" i="0" u="sng" strike="noStrike" kern="0" cap="none" spc="0" normalizeH="0" baseline="0" noProof="0" dirty="0">
                <a:ln>
                  <a:noFill/>
                </a:ln>
                <a:solidFill>
                  <a:srgbClr val="0462C1"/>
                </a:solidFill>
                <a:effectLst/>
                <a:uLnTx/>
                <a:uFill>
                  <a:solidFill>
                    <a:srgbClr val="0462C1"/>
                  </a:solidFill>
                </a:uFill>
                <a:latin typeface="Calibri"/>
                <a:cs typeface="Calibri"/>
                <a:hlinkClick r:id="rId16"/>
              </a:rPr>
              <a:t>3</a:t>
            </a:r>
            <a:r>
              <a:rPr kumimoji="0" lang="ja-JP" altLang="en-US" sz="1900" b="1" i="0" u="sng" strike="noStrike" kern="0" cap="none" spc="-35" normalizeH="0" baseline="0" noProof="0" dirty="0">
                <a:ln>
                  <a:noFill/>
                </a:ln>
                <a:solidFill>
                  <a:srgbClr val="0462C1"/>
                </a:solidFill>
                <a:effectLst/>
                <a:uLnTx/>
                <a:uFill>
                  <a:solidFill>
                    <a:srgbClr val="0462C1"/>
                  </a:solidFill>
                </a:uFill>
                <a:latin typeface="Yu Gothic"/>
                <a:cs typeface="Yu Gothic"/>
                <a:hlinkClick r:id="rId16"/>
              </a:rPr>
              <a:t>大恩恵</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39"/>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17"/>
              </a:rPr>
              <a:t>組織への信頼感の醸成</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39"/>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18"/>
              </a:rPr>
              <a:t>中長期的な成果の創出</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728345" marR="0" lvl="1" indent="-258445" defTabSz="914400" eaLnBrk="1" fontAlgn="auto" latinLnBrk="0" hangingPunct="1">
              <a:lnSpc>
                <a:spcPts val="1885"/>
              </a:lnSpc>
              <a:spcBef>
                <a:spcPts val="0"/>
              </a:spcBef>
              <a:spcAft>
                <a:spcPts val="0"/>
              </a:spcAft>
              <a:buClr>
                <a:srgbClr val="000000"/>
              </a:buClr>
              <a:buSzTx/>
              <a:buFont typeface="Calibri"/>
              <a:buAutoNum type="arabicPeriod"/>
              <a:tabLst>
                <a:tab pos="728345" algn="l"/>
              </a:tabLst>
              <a:defRPr/>
            </a:pPr>
            <a:r>
              <a:rPr kumimoji="0" lang="ja-JP" altLang="en-US" sz="1600" b="0" i="0" u="sng" strike="noStrike" kern="0" cap="none" spc="-30" normalizeH="0" baseline="0" noProof="0" dirty="0">
                <a:ln>
                  <a:noFill/>
                </a:ln>
                <a:solidFill>
                  <a:srgbClr val="0462C1"/>
                </a:solidFill>
                <a:effectLst/>
                <a:uLnTx/>
                <a:uFill>
                  <a:solidFill>
                    <a:srgbClr val="0462C1"/>
                  </a:solidFill>
                </a:uFill>
                <a:latin typeface="Yu Gothic"/>
                <a:cs typeface="Yu Gothic"/>
                <a:hlinkClick r:id="rId19"/>
              </a:rPr>
              <a:t>中長期的なコスト削減</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515477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8.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8.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40029" marR="0" lvl="0" indent="-227329" defTabSz="914400" eaLnBrk="1" fontAlgn="auto" latinLnBrk="0" hangingPunct="1">
              <a:lnSpc>
                <a:spcPts val="2770"/>
              </a:lnSpc>
              <a:spcBef>
                <a:spcPts val="100"/>
              </a:spcBef>
              <a:spcAft>
                <a:spcPts val="0"/>
              </a:spcAft>
              <a:buClr>
                <a:srgbClr val="000000"/>
              </a:buClr>
              <a:buSzPct val="116666"/>
              <a:buFont typeface="Arial MT"/>
              <a:buChar char="•"/>
              <a:tabLst>
                <a:tab pos="240029" algn="l"/>
              </a:tabLst>
              <a:defRPr/>
            </a:pPr>
            <a:r>
              <a:rPr kumimoji="0" lang="en-GB" sz="24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Basics</a:t>
            </a:r>
            <a:r>
              <a:rPr kumimoji="0" lang="en-GB" sz="2400" b="0" i="0" u="sng" strike="noStrike" kern="0" cap="none" spc="-65"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Of</a:t>
            </a:r>
            <a:r>
              <a:rPr kumimoji="0" lang="en-GB" sz="2400" b="0" i="0" u="sng" strike="noStrike" kern="0" cap="none" spc="-35"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0" u="sng" strike="noStrike" kern="0" cap="none" spc="-25" normalizeH="0" baseline="0" noProof="0" dirty="0">
                <a:ln>
                  <a:noFill/>
                </a:ln>
                <a:solidFill>
                  <a:srgbClr val="0462C1"/>
                </a:solidFill>
                <a:effectLst/>
                <a:uLnTx/>
                <a:uFill>
                  <a:solidFill>
                    <a:srgbClr val="0462C1"/>
                  </a:solidFill>
                </a:uFill>
                <a:latin typeface="Calibri"/>
                <a:cs typeface="Calibri"/>
                <a:hlinkClick r:id="rId3"/>
              </a:rPr>
              <a:t>Technical</a:t>
            </a:r>
            <a:r>
              <a:rPr kumimoji="0" lang="en-GB" sz="2400" b="0" i="0" u="sng" strike="noStrike" kern="0" cap="none" spc="-30"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0" u="sng" strike="noStrike" kern="0" cap="none" spc="-10" normalizeH="0" baseline="0" noProof="0" dirty="0">
                <a:ln>
                  <a:noFill/>
                </a:ln>
                <a:solidFill>
                  <a:srgbClr val="0462C1"/>
                </a:solidFill>
                <a:effectLst/>
                <a:uLnTx/>
                <a:uFill>
                  <a:solidFill>
                    <a:srgbClr val="0462C1"/>
                  </a:solidFill>
                </a:uFill>
                <a:latin typeface="Calibri"/>
                <a:cs typeface="Calibri"/>
                <a:hlinkClick r:id="rId3"/>
              </a:rPr>
              <a:t>Documentation</a:t>
            </a:r>
            <a:r>
              <a:rPr kumimoji="0" lang="en-GB" sz="2400" b="0" i="0" u="sng" strike="noStrike" kern="0" cap="none" spc="-65"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For</a:t>
            </a:r>
            <a:r>
              <a:rPr kumimoji="0" lang="en-GB" sz="2400" b="0" i="0" u="sng" strike="noStrike" kern="0" cap="none" spc="-30" normalizeH="0" baseline="0" noProof="0" dirty="0">
                <a:ln>
                  <a:noFill/>
                </a:ln>
                <a:solidFill>
                  <a:srgbClr val="0462C1"/>
                </a:solidFill>
                <a:effectLst/>
                <a:uLnTx/>
                <a:uFill>
                  <a:solidFill>
                    <a:srgbClr val="0462C1"/>
                  </a:solidFill>
                </a:uFill>
                <a:latin typeface="Calibri"/>
                <a:cs typeface="Calibri"/>
                <a:hlinkClick r:id="rId3"/>
              </a:rPr>
              <a:t> </a:t>
            </a:r>
            <a:r>
              <a:rPr kumimoji="0" lang="en-GB" sz="2400" b="0" i="0" u="sng" strike="noStrike" kern="0" cap="none" spc="-10" normalizeH="0" baseline="0" noProof="0" dirty="0">
                <a:ln>
                  <a:noFill/>
                </a:ln>
                <a:solidFill>
                  <a:srgbClr val="0462C1"/>
                </a:solidFill>
                <a:effectLst/>
                <a:uLnTx/>
                <a:uFill>
                  <a:solidFill>
                    <a:srgbClr val="0462C1"/>
                  </a:solidFill>
                </a:uFill>
                <a:latin typeface="Calibri"/>
                <a:cs typeface="Calibri"/>
                <a:hlinkClick r:id="rId3"/>
              </a:rPr>
              <a:t>Engineers</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697230" marR="0" lvl="1" indent="-227329" defTabSz="914400" eaLnBrk="1" fontAlgn="auto" latinLnBrk="0" hangingPunct="1">
              <a:lnSpc>
                <a:spcPts val="2135"/>
              </a:lnSpc>
              <a:spcBef>
                <a:spcPts val="0"/>
              </a:spcBef>
              <a:spcAft>
                <a:spcPts val="0"/>
              </a:spcAft>
              <a:buClrTx/>
              <a:buSzPct val="140000"/>
              <a:buFont typeface="Arial MT"/>
              <a:buChar char="•"/>
              <a:tabLst>
                <a:tab pos="69723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最終アクセス日</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2023</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年</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11</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月</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12</a:t>
            </a: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日</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40029" marR="0" lvl="0" indent="-227329" defTabSz="914400" eaLnBrk="1" fontAlgn="auto" latinLnBrk="0" hangingPunct="1">
              <a:lnSpc>
                <a:spcPts val="2615"/>
              </a:lnSpc>
              <a:spcBef>
                <a:spcPts val="0"/>
              </a:spcBef>
              <a:spcAft>
                <a:spcPts val="0"/>
              </a:spcAft>
              <a:buClr>
                <a:srgbClr val="000000"/>
              </a:buClr>
              <a:buSzPct val="116666"/>
              <a:buFont typeface="Arial MT"/>
              <a:buChar char="•"/>
              <a:tabLst>
                <a:tab pos="240029" algn="l"/>
              </a:tabLst>
              <a:defRPr/>
            </a:pPr>
            <a:r>
              <a:rPr kumimoji="0" lang="en-GB" sz="2400" b="0" i="0" u="sng" strike="noStrike" kern="0" cap="none" spc="-10" normalizeH="0" baseline="0" noProof="0" dirty="0">
                <a:ln>
                  <a:noFill/>
                </a:ln>
                <a:solidFill>
                  <a:srgbClr val="0462C1"/>
                </a:solidFill>
                <a:effectLst/>
                <a:uLnTx/>
                <a:uFill>
                  <a:solidFill>
                    <a:srgbClr val="0462C1"/>
                  </a:solidFill>
                </a:uFill>
                <a:latin typeface="Calibri"/>
                <a:cs typeface="Calibri"/>
                <a:hlinkClick r:id="rId4"/>
              </a:rPr>
              <a:t>Dictionary.com</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697230" marR="0" lvl="1" indent="-227329" defTabSz="914400" eaLnBrk="1" fontAlgn="auto" latinLnBrk="0" hangingPunct="1">
              <a:lnSpc>
                <a:spcPts val="2130"/>
              </a:lnSpc>
              <a:spcBef>
                <a:spcPts val="0"/>
              </a:spcBef>
              <a:spcAft>
                <a:spcPts val="0"/>
              </a:spcAft>
              <a:buClrTx/>
              <a:buSzPct val="140000"/>
              <a:buFont typeface="Arial MT"/>
              <a:buChar char="•"/>
              <a:tabLst>
                <a:tab pos="697230" algn="l"/>
              </a:tabLst>
              <a:defRPr/>
            </a:pP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最終アクセス日</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2023</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年</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11</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月</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12</a:t>
            </a: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日</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40029" marR="0" lvl="0" indent="-227329" defTabSz="914400" eaLnBrk="1" fontAlgn="auto" latinLnBrk="0" hangingPunct="1">
              <a:lnSpc>
                <a:spcPts val="2615"/>
              </a:lnSpc>
              <a:spcBef>
                <a:spcPts val="0"/>
              </a:spcBef>
              <a:spcAft>
                <a:spcPts val="0"/>
              </a:spcAft>
              <a:buClr>
                <a:srgbClr val="000000"/>
              </a:buClr>
              <a:buSzPct val="116666"/>
              <a:buFont typeface="Arial MT"/>
              <a:buChar char="•"/>
              <a:tabLst>
                <a:tab pos="240029" algn="l"/>
              </a:tabLst>
              <a:defRPr/>
            </a:pPr>
            <a:r>
              <a:rPr kumimoji="0" lang="ja-JP" altLang="en-US" sz="2400" b="0" i="0" u="sng" strike="noStrike" kern="0" cap="none" spc="175" normalizeH="0" baseline="0" noProof="0" dirty="0">
                <a:ln>
                  <a:noFill/>
                </a:ln>
                <a:solidFill>
                  <a:srgbClr val="0462C1"/>
                </a:solidFill>
                <a:effectLst/>
                <a:uLnTx/>
                <a:uFill>
                  <a:solidFill>
                    <a:srgbClr val="0462C1"/>
                  </a:solidFill>
                </a:uFill>
                <a:latin typeface="Yu Gothic"/>
                <a:cs typeface="Yu Gothic"/>
                <a:hlinkClick r:id="rId5"/>
              </a:rPr>
              <a:t>英辞郎</a:t>
            </a:r>
            <a:r>
              <a:rPr kumimoji="0" lang="en-GB" sz="2400" b="0" i="0" u="sng" strike="noStrike" kern="0" cap="none" spc="0" normalizeH="0" baseline="0" noProof="0" dirty="0">
                <a:ln>
                  <a:noFill/>
                </a:ln>
                <a:solidFill>
                  <a:srgbClr val="0462C1"/>
                </a:solidFill>
                <a:effectLst/>
                <a:uLnTx/>
                <a:uFill>
                  <a:solidFill>
                    <a:srgbClr val="0462C1"/>
                  </a:solidFill>
                </a:uFill>
                <a:latin typeface="Calibri"/>
                <a:cs typeface="Calibri"/>
                <a:hlinkClick r:id="rId5"/>
              </a:rPr>
              <a:t>Pro</a:t>
            </a:r>
            <a:r>
              <a:rPr kumimoji="0" lang="en-GB" sz="2400" b="0" i="0" u="sng" strike="noStrike" kern="0" cap="none" spc="-65" normalizeH="0" baseline="0" noProof="0" dirty="0">
                <a:ln>
                  <a:noFill/>
                </a:ln>
                <a:solidFill>
                  <a:srgbClr val="0462C1"/>
                </a:solidFill>
                <a:effectLst/>
                <a:uLnTx/>
                <a:uFill>
                  <a:solidFill>
                    <a:srgbClr val="0462C1"/>
                  </a:solidFill>
                </a:uFill>
                <a:latin typeface="Calibri"/>
                <a:cs typeface="Calibri"/>
                <a:hlinkClick r:id="rId5"/>
              </a:rPr>
              <a:t> </a:t>
            </a:r>
            <a:r>
              <a:rPr kumimoji="0" lang="en-GB" sz="2400" b="0" i="0" u="sng" strike="noStrike" kern="0" cap="none" spc="-20" normalizeH="0" baseline="0" noProof="0" dirty="0">
                <a:ln>
                  <a:noFill/>
                </a:ln>
                <a:solidFill>
                  <a:srgbClr val="0462C1"/>
                </a:solidFill>
                <a:effectLst/>
                <a:uLnTx/>
                <a:uFill>
                  <a:solidFill>
                    <a:srgbClr val="0462C1"/>
                  </a:solidFill>
                </a:uFill>
                <a:latin typeface="Calibri"/>
                <a:cs typeface="Calibri"/>
                <a:hlinkClick r:id="rId5"/>
              </a:rPr>
              <a:t>Lite</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697230" marR="0" lvl="1" indent="-227329" defTabSz="914400" eaLnBrk="1" fontAlgn="auto" latinLnBrk="0" hangingPunct="1">
              <a:lnSpc>
                <a:spcPts val="2295"/>
              </a:lnSpc>
              <a:spcBef>
                <a:spcPts val="0"/>
              </a:spcBef>
              <a:spcAft>
                <a:spcPts val="0"/>
              </a:spcAft>
              <a:buClrTx/>
              <a:buSzPct val="140000"/>
              <a:buFont typeface="Arial MT"/>
              <a:buChar char="•"/>
              <a:tabLst>
                <a:tab pos="697230" algn="l"/>
              </a:tabLst>
              <a:defRPr/>
            </a:pP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最終アクセス日</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2023</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年</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11</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月</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12</a:t>
            </a: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日</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0412465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7067</Words>
  <Application>Microsoft Office PowerPoint</Application>
  <PresentationFormat>Widescreen</PresentationFormat>
  <Paragraphs>346</Paragraphs>
  <Slides>41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-apple-system</vt:lpstr>
      <vt:lpstr>Arial MT</vt:lpstr>
      <vt:lpstr>Calibri (Headings)</vt:lpstr>
      <vt:lpstr>Yu Gothic</vt:lpstr>
      <vt:lpstr>Arial</vt:lpstr>
      <vt:lpstr>Calibri</vt:lpstr>
      <vt:lpstr>Calibri Light</vt:lpstr>
      <vt:lpstr>Times New Roman</vt:lpstr>
      <vt:lpstr>Office テーマ</vt:lpstr>
      <vt:lpstr>ソフトウェアエンジニアの 社内技術ドキュメンテーションへの 向き合い方</vt:lpstr>
      <vt:lpstr>自己紹介</vt:lpstr>
      <vt:lpstr>免許 / 資格</vt:lpstr>
      <vt:lpstr>スキルスタック</vt:lpstr>
      <vt:lpstr>職歴</vt:lpstr>
      <vt:lpstr>職歴</vt:lpstr>
      <vt:lpstr>国際交流活動</vt:lpstr>
      <vt:lpstr>目次</vt:lpstr>
      <vt:lpstr>1. はじめに</vt:lpstr>
      <vt:lpstr>1. はじめに</vt:lpstr>
      <vt:lpstr>1. はじめに</vt:lpstr>
      <vt:lpstr>2. ドキュメンテーションとは？</vt:lpstr>
      <vt:lpstr>2. ドキュメンテーションとは？</vt:lpstr>
      <vt:lpstr>3. 社内技術ドキュメンテーションに必須の6大要素</vt:lpstr>
      <vt:lpstr>3. 社内技術ドキュメンテーションに必須の6大要素</vt:lpstr>
      <vt:lpstr>3. 社内技術ドキュメンテーションに必須の6大要素</vt:lpstr>
      <vt:lpstr>3. 社内技術ドキュメンテーションに必須の6大要素</vt:lpstr>
      <vt:lpstr>3. 社内技術ドキュメンテーションに必須の6大要素</vt:lpstr>
      <vt:lpstr>3. 社内技術ドキュメンテーションに必須の6大要素</vt:lpstr>
      <vt:lpstr>3. 社内技術ドキュメンテーションに必須の6大要素</vt:lpstr>
      <vt:lpstr>3. 社内技術ドキュメンテーションに必須の6大要素</vt:lpstr>
      <vt:lpstr>4. 社内技術ドキュメンテーション執筆に必須の5大スキル</vt:lpstr>
      <vt:lpstr>4. 社内技術ドキュメンテーション執筆に必須の5大スキル</vt:lpstr>
      <vt:lpstr>4. 社内技術ドキュメンテーション執筆に必須の5大スキル</vt:lpstr>
      <vt:lpstr>4. 社内技術ドキュメンテーション執筆に必須の5大スキル</vt:lpstr>
      <vt:lpstr>4. 社内技術ドキュメンテーション執筆に必須の5大スキル</vt:lpstr>
      <vt:lpstr>4. 社内技術ドキュメンテーション執筆に必須の5大スキル</vt:lpstr>
      <vt:lpstr>4. 社内技術ドキュメンテーション執筆に必須の5大スキル</vt:lpstr>
      <vt:lpstr>5. 体系的社内技術ドキュメンテーションの3大恩恵</vt:lpstr>
      <vt:lpstr>5. 体系的社内技術ドキュメンテーションの3大恩恵</vt:lpstr>
      <vt:lpstr>5. 体系的社内技術ドキュメンテーションの3大恩恵</vt:lpstr>
      <vt:lpstr>5. 体系的社内技術ドキュメンテーションの3大恩恵</vt:lpstr>
      <vt:lpstr>5. 体系的社内技術ドキュメンテーションの3大恩恵</vt:lpstr>
      <vt:lpstr>5. 体系的社内技術ドキュメンテーションの3大恩恵</vt:lpstr>
      <vt:lpstr>6. 回避不可能な5大トレードオフ</vt:lpstr>
      <vt:lpstr>6. 回避不可能な5大トレードオフ</vt:lpstr>
      <vt:lpstr>7. まとめ</vt:lpstr>
      <vt:lpstr>7. まとめ</vt:lpstr>
      <vt:lpstr>8. 参考文献</vt:lpstr>
      <vt:lpstr>8.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41</cp:revision>
  <dcterms:modified xsi:type="dcterms:W3CDTF">2025-09-01T03:37:37Z</dcterms:modified>
</cp:coreProperties>
</file>