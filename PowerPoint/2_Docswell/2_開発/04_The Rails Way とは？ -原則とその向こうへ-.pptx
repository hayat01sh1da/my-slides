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87" r:id="rId3"/>
    <p:sldId id="388" r:id="rId4"/>
    <p:sldId id="387" r:id="rId5"/>
    <p:sldId id="461" r:id="rId6"/>
    <p:sldId id="286" r:id="rId7"/>
    <p:sldId id="280" r:id="rId8"/>
    <p:sldId id="311" r:id="rId9"/>
    <p:sldId id="259" r:id="rId10"/>
    <p:sldId id="471" r:id="rId11"/>
    <p:sldId id="472" r:id="rId12"/>
    <p:sldId id="470" r:id="rId13"/>
    <p:sldId id="473" r:id="rId14"/>
    <p:sldId id="474" r:id="rId15"/>
    <p:sldId id="475" r:id="rId16"/>
    <p:sldId id="326" r:id="rId17"/>
    <p:sldId id="336" r:id="rId18"/>
    <p:sldId id="476" r:id="rId19"/>
    <p:sldId id="479" r:id="rId20"/>
    <p:sldId id="357" r:id="rId21"/>
    <p:sldId id="358" r:id="rId22"/>
    <p:sldId id="359" r:id="rId23"/>
    <p:sldId id="360" r:id="rId24"/>
    <p:sldId id="483" r:id="rId25"/>
    <p:sldId id="481" r:id="rId26"/>
    <p:sldId id="482" r:id="rId27"/>
    <p:sldId id="462" r:id="rId28"/>
    <p:sldId id="463" r:id="rId29"/>
    <p:sldId id="480" r:id="rId30"/>
    <p:sldId id="477" r:id="rId31"/>
    <p:sldId id="468" r:id="rId32"/>
    <p:sldId id="469" r:id="rId33"/>
    <p:sldId id="484" r:id="rId34"/>
    <p:sldId id="486" r:id="rId35"/>
    <p:sldId id="466" r:id="rId36"/>
    <p:sldId id="487" r:id="rId37"/>
    <p:sldId id="465" r:id="rId38"/>
    <p:sldId id="489" r:id="rId39"/>
    <p:sldId id="488" r:id="rId40"/>
    <p:sldId id="491" r:id="rId41"/>
    <p:sldId id="490" r:id="rId42"/>
    <p:sldId id="493" r:id="rId43"/>
    <p:sldId id="492" r:id="rId44"/>
    <p:sldId id="467" r:id="rId45"/>
    <p:sldId id="495" r:id="rId46"/>
    <p:sldId id="464" r:id="rId47"/>
    <p:sldId id="494" r:id="rId48"/>
    <p:sldId id="496" r:id="rId49"/>
    <p:sldId id="328" r:id="rId50"/>
    <p:sldId id="295" r:id="rId51"/>
    <p:sldId id="28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4660"/>
  </p:normalViewPr>
  <p:slideViewPr>
    <p:cSldViewPr snapToGrid="0">
      <p:cViewPr varScale="1">
        <p:scale>
          <a:sx n="143" d="100"/>
          <a:sy n="143" d="100"/>
        </p:scale>
        <p:origin x="760" y="1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14/11/2025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14/11/2025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14/11/2025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14/11/2025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14/11/2025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14/11/2025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14/11/2025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14/11/2025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14/11/2025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14/11/2025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14/11/2025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14/11/2025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14/11/2025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what-is-the-rails-way-the-basics-and-beyond"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slide" Target="slide9.xml"/><Relationship Id="rId7" Type="http://schemas.openxmlformats.org/officeDocument/2006/relationships/slide" Target="slide27.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22.xml"/><Relationship Id="rId11" Type="http://schemas.openxmlformats.org/officeDocument/2006/relationships/slide" Target="slide49.xml"/><Relationship Id="rId5" Type="http://schemas.openxmlformats.org/officeDocument/2006/relationships/slide" Target="slide20.xml"/><Relationship Id="rId10" Type="http://schemas.openxmlformats.org/officeDocument/2006/relationships/slide" Target="slide46.xml"/><Relationship Id="rId4" Type="http://schemas.openxmlformats.org/officeDocument/2006/relationships/slide" Target="slide16.xml"/><Relationship Id="rId9" Type="http://schemas.openxmlformats.org/officeDocument/2006/relationships/slide" Target="slide3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hyperlink" Target="https://kaigionrails.org/2025/"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pi.rubyonrails.org/v5.0.4/classes/ActiveModel/Serializers/JSON.html#method-i-as_jso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PacktPublishing/Layered-Design-for-Ruby-on-Rails-Applications/blob/49d69e3e8484ee94870b0f12b1dabd5f2e27ef9b/Chapter11/06-view-component.rb#L46-L57"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github.com/PacktPublishing/Layered-Design-for-Ruby-on-Rails-Applications/blob/49d69e3e8484ee94870b0f12b1dabd5f2e27ef9b/Chapter08/10-alba-serializers.rb#L21-L29" TargetMode="External"/><Relationship Id="rId4" Type="http://schemas.openxmlformats.org/officeDocument/2006/relationships/hyperlink" Target="https://github.com/PacktPublishing/Layered-Design-for-Ruby-on-Rails-Applications/blob/49d69e3e8484ee94870b0f12b1dabd5f2e27ef9b/Chapter08/04-multi-presenter.rb#L23-L44"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PacktPublishing/Layered-Design-for-Ruby-on-Rails-Applications/blob/49d69e3e8484ee94870b0f12b1dabd5f2e27ef9b/Chapter05/04-githooks-controller-service-cross-layer.rb#L41-L64"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github.com/PacktPublishing/Layered-Design-for-Ruby-on-Rails-Applications/blob/49d69e3e8484ee94870b0f12b1dabd5f2e27ef9b/Chapter07/08-filter-object.rb#L14-L41" TargetMode="External"/><Relationship Id="rId4" Type="http://schemas.openxmlformats.org/officeDocument/2006/relationships/hyperlink" Target="https://github.com/PacktPublishing/Layered-Design-for-Ruby-on-Rails-Applications/blob/49d69e3e8484ee94870b0f12b1dabd5f2e27ef9b/Chapter07/02-invitation-form.rb#L4-L32"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PacktPublishing/Layered-Design-for-Ruby-on-Rails-Applications/blob/49d69e3e8484ee94870b0f12b1dabd5f2e27ef9b/Chapter02/10-user-address-model.rb#L9-L17"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github.com/PacktPublishing/Layered-Design-for-Ruby-on-Rails-Applications/blob/49d69e3e8484ee94870b0f12b1dabd5f2e27ef9b/Chapter04/16-media-value-object.rb#L15-L26" TargetMode="External"/><Relationship Id="rId4" Type="http://schemas.openxmlformats.org/officeDocument/2006/relationships/hyperlink" Target="https://github.com/PacktPublishing/Layered-Design-for-Ruby-on-Rails-Applications/blob/49d69e3e8484ee94870b0f12b1dabd5f2e27ef9b/Chapter09/04-poro-policy-objects.rb#L43-L55"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PacktPublishing/Layered-Design-for-Ruby-on-Rails-Applications/blob/49d69e3e8484ee94870b0f12b1dabd5f2e27ef9b/Chapter06/04-repositories.rb#L17-L29"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github.com/PacktPublishing/Layered-Design-for-Ruby-on-Rails-Applications/blob/49d69e3e8484ee94870b0f12b1dabd5f2e27ef9b/Chapter02/00-book-active-record.rb#L3-L4" TargetMode="External"/><Relationship Id="rId4" Type="http://schemas.openxmlformats.org/officeDocument/2006/relationships/hyperlink" Target="https://github.com/PacktPublishing/Layered-Design-for-Ruby-on-Rails-Applications/blob/49d69e3e8484ee94870b0f12b1dabd5f2e27ef9b/Chapter06/01-application-query.rb#L36-L51"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medium.com/@rajkundalia/demystifying-domain-driven-design-ddd-principles-practice-relevance-in-modern-software-73ac2f7ee99c#5987"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dry-rb.org/gem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hyperlink" Target="https://docs.google.com/spreadsheets/d/10GDE52bcvYJkx4XlYcsZFVyMYG3hsT51Td5r9x5rZDg/edit?usp=sharing" TargetMode="External"/><Relationship Id="rId3" Type="http://schemas.openxmlformats.org/officeDocument/2006/relationships/hyperlink" Target="https://www.packtpub.com/en-us/product/layered-design-for-ruby-on-rails-applications-9781801813785" TargetMode="External"/><Relationship Id="rId7" Type="http://schemas.openxmlformats.org/officeDocument/2006/relationships/hyperlink" Target="https://docs.google.com/forms/d/19TWTOWHjZ5NwXNGCCOXDzw-YHV85ot8lrYdoWY0UZB4/edit#responses"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docs.google.com/forms/d/12mAz9meKqLHpRLo-NzzO8P18wAI6jgU2f8RAMIhSfIM/edit#responses" TargetMode="External"/><Relationship Id="rId5" Type="http://schemas.openxmlformats.org/officeDocument/2006/relationships/hyperlink" Target="https://hackmd.io/@hayat01sh1da/layered-ruby-on-rails-applications-concise-summary" TargetMode="External"/><Relationship Id="rId4" Type="http://schemas.openxmlformats.org/officeDocument/2006/relationships/hyperlink" Target="https://hackmd.io/@hayat01sh1da/layered-ruby-on-rails-applications-full-summary" TargetMode="External"/><Relationship Id="rId9" Type="http://schemas.openxmlformats.org/officeDocument/2006/relationships/hyperlink" Target="https://techracho.bpsinc.jp/hachi8833/2017_11_16/47847"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en-GB" altLang="ja-JP" sz="5400" b="1" dirty="0">
                <a:effectLst>
                  <a:outerShdw blurRad="38100" dist="38100" dir="2700000" algn="tl">
                    <a:srgbClr val="000000">
                      <a:alpha val="43137"/>
                    </a:srgbClr>
                  </a:outerShdw>
                </a:effectLst>
                <a:latin typeface="+mn-lt"/>
              </a:rPr>
              <a:t>The Rails Way </a:t>
            </a:r>
            <a:r>
              <a:rPr lang="ja-JP" altLang="en-US" sz="5400" b="1" dirty="0">
                <a:effectLst>
                  <a:outerShdw blurRad="38100" dist="38100" dir="2700000" algn="tl">
                    <a:srgbClr val="000000">
                      <a:alpha val="43137"/>
                    </a:srgbClr>
                  </a:outerShdw>
                </a:effectLst>
                <a:latin typeface="+mn-lt"/>
              </a:rPr>
              <a:t>とは？</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t>作成者</a:t>
            </a:r>
            <a:r>
              <a:rPr lang="en-US" sz="3200" b="1" dirty="0"/>
              <a:t>: </a:t>
            </a:r>
            <a:r>
              <a:rPr lang="ja-JP" altLang="en-US" sz="3200" b="1" dirty="0"/>
              <a:t>石田</a:t>
            </a:r>
            <a:r>
              <a:rPr lang="en-US" sz="3200" b="1" dirty="0"/>
              <a:t> </a:t>
            </a:r>
            <a:r>
              <a:rPr lang="ja-JP" altLang="en-US" sz="3200" b="1" dirty="0"/>
              <a:t>隼人</a:t>
            </a:r>
            <a:endParaRPr lang="en-GB" sz="3200" b="1" dirty="0"/>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cs typeface="+mn-cs"/>
              </a:rPr>
              <a:t>最終更新日</a:t>
            </a:r>
            <a:r>
              <a:rPr kumimoji="0" lang="en-GB" altLang="ja-JP" sz="2000" b="1" i="0" u="none" strike="noStrike" kern="1200" cap="none" spc="0" normalizeH="0" baseline="0" noProof="0" dirty="0">
                <a:ln>
                  <a:noFill/>
                </a:ln>
                <a:solidFill>
                  <a:prstClr val="black"/>
                </a:solidFill>
                <a:effectLst/>
                <a:uLnTx/>
                <a:uFillTx/>
                <a:cs typeface="+mn-cs"/>
              </a:rPr>
              <a:t>: 2</a:t>
            </a:r>
            <a:r>
              <a:rPr lang="en-GB" altLang="ja-JP" sz="2000" b="1" dirty="0">
                <a:solidFill>
                  <a:prstClr val="black"/>
                </a:solidFill>
              </a:rPr>
              <a:t>025</a:t>
            </a:r>
            <a:r>
              <a:rPr kumimoji="0" lang="ja-JP" altLang="en-US" sz="2000" b="1" i="0" u="none" strike="noStrike" kern="1200" cap="none" spc="0" normalizeH="0" baseline="0" noProof="0" dirty="0">
                <a:ln>
                  <a:noFill/>
                </a:ln>
                <a:solidFill>
                  <a:prstClr val="black"/>
                </a:solidFill>
                <a:effectLst/>
                <a:uLnTx/>
                <a:uFillTx/>
                <a:cs typeface="+mn-cs"/>
              </a:rPr>
              <a:t>年</a:t>
            </a:r>
            <a:r>
              <a:rPr kumimoji="0" lang="en-GB" altLang="ja-JP" sz="2000" b="1" i="0" u="none" strike="noStrike" kern="1200" cap="none" spc="0" normalizeH="0" baseline="0" noProof="0" dirty="0">
                <a:ln>
                  <a:noFill/>
                </a:ln>
                <a:solidFill>
                  <a:prstClr val="black"/>
                </a:solidFill>
                <a:effectLst/>
                <a:uLnTx/>
                <a:uFillTx/>
                <a:cs typeface="+mn-cs"/>
              </a:rPr>
              <a:t>11</a:t>
            </a:r>
            <a:r>
              <a:rPr kumimoji="0" lang="ja-JP" altLang="en-US" sz="2000" b="1" i="0" u="none" strike="noStrike" kern="1200" cap="none" spc="0" normalizeH="0" baseline="0" noProof="0" dirty="0">
                <a:ln>
                  <a:noFill/>
                </a:ln>
                <a:solidFill>
                  <a:prstClr val="black"/>
                </a:solidFill>
                <a:effectLst/>
                <a:uLnTx/>
                <a:uFillTx/>
                <a:cs typeface="+mn-cs"/>
              </a:rPr>
              <a:t>月</a:t>
            </a:r>
            <a:r>
              <a:rPr kumimoji="0" lang="en-GB" altLang="ja-JP" sz="2000" b="1" i="0" u="none" strike="noStrike" kern="1200" cap="none" spc="0" normalizeH="0" baseline="0" noProof="0">
                <a:ln>
                  <a:noFill/>
                </a:ln>
                <a:solidFill>
                  <a:prstClr val="black"/>
                </a:solidFill>
                <a:effectLst/>
                <a:uLnTx/>
                <a:uFillTx/>
                <a:cs typeface="+mn-cs"/>
              </a:rPr>
              <a:t>1</a:t>
            </a:r>
            <a:r>
              <a:rPr kumimoji="0" lang="en-GB" altLang="ja-JP" sz="2000" b="1" i="0" u="none" strike="noStrike" kern="1200" cap="none" spc="0" normalizeH="0" baseline="0" noProof="0" dirty="0">
                <a:ln>
                  <a:noFill/>
                </a:ln>
                <a:solidFill>
                  <a:prstClr val="black"/>
                </a:solidFill>
                <a:effectLst/>
                <a:uLnTx/>
                <a:uFillTx/>
                <a:cs typeface="+mn-cs"/>
              </a:rPr>
              <a:t>4</a:t>
            </a:r>
            <a:r>
              <a:rPr kumimoji="0" lang="ja-JP" altLang="en-US" sz="2000" b="1" i="0" u="none" strike="noStrike" kern="1200" cap="none" spc="0" normalizeH="0" baseline="0" noProof="0">
                <a:ln>
                  <a:noFill/>
                </a:ln>
                <a:solidFill>
                  <a:prstClr val="black"/>
                </a:solidFill>
                <a:effectLst/>
                <a:uLnTx/>
                <a:uFillTx/>
                <a:cs typeface="+mn-cs"/>
              </a:rPr>
              <a:t>日</a:t>
            </a:r>
            <a:endParaRPr kumimoji="0" lang="en-GB" sz="2000" b="1" i="0" u="none" strike="noStrike" kern="1200" cap="none" spc="0" normalizeH="0" baseline="0" noProof="0" dirty="0">
              <a:ln>
                <a:noFill/>
              </a:ln>
              <a:solidFill>
                <a:prstClr val="black"/>
              </a:solidFill>
              <a:effectLst/>
              <a:uLnTx/>
              <a:uFillTx/>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lang="en-US" altLang="ja-JP" sz="3200" b="1" dirty="0">
                <a:effectLst>
                  <a:outerShdw blurRad="38100" dist="38100" dir="2700000" algn="tl">
                    <a:srgbClr val="000000">
                      <a:alpha val="43137"/>
                    </a:srgbClr>
                  </a:outerShdw>
                </a:effectLst>
              </a:rPr>
              <a:t>-</a:t>
            </a:r>
            <a:r>
              <a:rPr lang="ja-JP" altLang="en-US" sz="3200" b="1" dirty="0">
                <a:effectLst>
                  <a:outerShdw blurRad="38100" dist="38100" dir="2700000" algn="tl">
                    <a:srgbClr val="000000">
                      <a:alpha val="43137"/>
                    </a:srgbClr>
                  </a:outerShdw>
                </a:effectLst>
              </a:rPr>
              <a:t>原則とその向こうへ</a:t>
            </a:r>
            <a:r>
              <a:rPr lang="en-US" altLang="ja-JP" sz="3200" b="1" dirty="0">
                <a:effectLst>
                  <a:outerShdw blurRad="38100" dist="38100" dir="2700000" algn="tl">
                    <a:srgbClr val="000000">
                      <a:alpha val="43137"/>
                    </a:srgbClr>
                  </a:outerShdw>
                </a:effectLst>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41378ECF-3065-A99F-A29D-8CF40216C969}"/>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7" name="コンテンツ プレースホルダー 2">
            <a:extLst>
              <a:ext uri="{FF2B5EF4-FFF2-40B4-BE49-F238E27FC236}">
                <a16:creationId xmlns:a16="http://schemas.microsoft.com/office/drawing/2014/main" id="{5CFA11AA-6F85-BBE2-CBC3-C49BAF71F01C}"/>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8" name="スライド番号プレースホルダー 3">
            <a:extLst>
              <a:ext uri="{FF2B5EF4-FFF2-40B4-BE49-F238E27FC236}">
                <a16:creationId xmlns:a16="http://schemas.microsoft.com/office/drawing/2014/main" id="{BC05324B-424E-A6FB-80AB-79FE8F325F8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5A17A343-B40C-154C-59FA-2B2D1BEDBD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BF8E831C-C70C-07DF-8FE9-3317578A9193}"/>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10" name="コンテンツ プレースホルダー 2">
            <a:extLst>
              <a:ext uri="{FF2B5EF4-FFF2-40B4-BE49-F238E27FC236}">
                <a16:creationId xmlns:a16="http://schemas.microsoft.com/office/drawing/2014/main" id="{0BBBFD2C-EE03-7A81-957E-B0640D3A8CBA}"/>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11" name="スライド番号プレースホルダー 3">
            <a:extLst>
              <a:ext uri="{FF2B5EF4-FFF2-40B4-BE49-F238E27FC236}">
                <a16:creationId xmlns:a16="http://schemas.microsoft.com/office/drawing/2014/main" id="{B466E99F-DE8D-B5C8-FF3D-07A77B49FC4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56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F072822F-C80A-5C6C-16F9-425954107DCA}"/>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29B80C51-8070-C639-B994-2E062BB4D6C3}"/>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5" name="スライド番号プレースホルダー 3">
            <a:extLst>
              <a:ext uri="{FF2B5EF4-FFF2-40B4-BE49-F238E27FC236}">
                <a16:creationId xmlns:a16="http://schemas.microsoft.com/office/drawing/2014/main" id="{F789F7CB-6BD4-888C-7313-D99CF4439B22}"/>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0B9BEE06-CD5E-3FF5-937B-C7CA67ED4A3A}"/>
              </a:ext>
            </a:extLst>
          </p:cNvPr>
          <p:cNvGraphicFramePr>
            <a:graphicFrameLocks noGrp="1"/>
          </p:cNvGraphicFramePr>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99438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120A823D-277E-2BEF-6E35-BA7554BBAC07}"/>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5" name="スライド番号プレースホルダー 3">
            <a:extLst>
              <a:ext uri="{FF2B5EF4-FFF2-40B4-BE49-F238E27FC236}">
                <a16:creationId xmlns:a16="http://schemas.microsoft.com/office/drawing/2014/main" id="{8E8EC336-90F0-FD3D-B7FB-8EFCD0DA4724}"/>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AC993561-9149-2F28-565F-CA962AC9E28C}"/>
              </a:ext>
            </a:extLst>
          </p:cNvPr>
          <p:cNvGraphicFramePr>
            <a:graphicFrameLocks noGrp="1"/>
          </p:cNvGraphicFramePr>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en-GB" altLang="ja-JP" b="1" dirty="0"/>
              <a:t>Agenda</a:t>
            </a:r>
            <a:endParaRPr lang="en-GB" b="1" dirty="0"/>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57188" indent="-357188">
              <a:buClr>
                <a:schemeClr val="dk1"/>
              </a:buClr>
              <a:buSzPts val="2800"/>
              <a:buFont typeface="+mj-lt"/>
              <a:buAutoNum type="arabicPeriod"/>
            </a:pPr>
            <a:r>
              <a:rPr lang="ja-JP" altLang="en-US" sz="2400" dirty="0">
                <a:sym typeface="Arial"/>
                <a:hlinkClick r:id="rId3" action="ppaction://hlinksldjump"/>
              </a:rPr>
              <a:t>何故興味を持ったか？</a:t>
            </a:r>
            <a:endParaRPr lang="en-GB" altLang="ja-JP" sz="2400" dirty="0">
              <a:sym typeface="Arial"/>
            </a:endParaRPr>
          </a:p>
          <a:p>
            <a:pPr marL="357188" indent="-357188">
              <a:buClr>
                <a:schemeClr val="dk1"/>
              </a:buClr>
              <a:buSzPts val="2800"/>
              <a:buFont typeface="+mj-lt"/>
              <a:buAutoNum type="arabicPeriod"/>
            </a:pPr>
            <a:r>
              <a:rPr lang="en-GB" altLang="ja-JP" sz="2400" dirty="0">
                <a:sym typeface="Arial"/>
                <a:hlinkClick r:id="rId4" action="ppaction://hlinksldjump"/>
              </a:rPr>
              <a:t>"The Rails Way" </a:t>
            </a:r>
            <a:r>
              <a:rPr lang="ja-JP" altLang="en-US" sz="2400" dirty="0">
                <a:sym typeface="Arial"/>
                <a:hlinkClick r:id="rId4" action="ppaction://hlinksldjump"/>
              </a:rPr>
              <a:t>の哲学 </a:t>
            </a:r>
            <a:r>
              <a:rPr lang="en-US" altLang="ja-JP" sz="2400" dirty="0">
                <a:sym typeface="Arial"/>
                <a:hlinkClick r:id="rId4" action="ppaction://hlinksldjump"/>
              </a:rPr>
              <a:t>-</a:t>
            </a:r>
            <a:r>
              <a:rPr lang="en-GB" altLang="ja-JP" sz="2400" dirty="0">
                <a:sym typeface="Arial"/>
                <a:hlinkClick r:id="rId4" action="ppaction://hlinksldjump"/>
              </a:rPr>
              <a:t>MVC vs. </a:t>
            </a:r>
            <a:r>
              <a:rPr lang="ja-JP" altLang="en-US" sz="2400" dirty="0">
                <a:sym typeface="Arial"/>
                <a:hlinkClick r:id="rId4" action="ppaction://hlinksldjump"/>
              </a:rPr>
              <a:t>多層構造型</a:t>
            </a:r>
            <a:r>
              <a:rPr lang="en-US" altLang="ja-JP" sz="2400" dirty="0">
                <a:sym typeface="Arial"/>
                <a:hlinkClick r:id="rId4" action="ppaction://hlinksldjump"/>
              </a:rPr>
              <a:t>-</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5" action="ppaction://hlinksldjump"/>
              </a:rPr>
              <a:t>主要な責務 </a:t>
            </a:r>
            <a:r>
              <a:rPr lang="en-US" altLang="ja-JP" sz="2400" dirty="0">
                <a:sym typeface="Arial"/>
                <a:hlinkClick r:id="rId5" action="ppaction://hlinksldjump"/>
              </a:rPr>
              <a:t>-</a:t>
            </a:r>
            <a:r>
              <a:rPr lang="en-GB" altLang="ja-JP" sz="2400" dirty="0">
                <a:sym typeface="Arial"/>
                <a:hlinkClick r:id="rId5" action="ppaction://hlinksldjump"/>
              </a:rPr>
              <a:t>MVC vs. </a:t>
            </a:r>
            <a:r>
              <a:rPr lang="ja-JP" altLang="en-US" sz="2400" dirty="0">
                <a:sym typeface="Arial"/>
                <a:hlinkClick r:id="rId5" action="ppaction://hlinksldjump"/>
              </a:rPr>
              <a:t>多層構造型</a:t>
            </a:r>
            <a:r>
              <a:rPr lang="en-US" altLang="ja-JP" sz="2400" dirty="0">
                <a:sym typeface="Arial"/>
                <a:hlinkClick r:id="rId5" action="ppaction://hlinksldjump"/>
              </a:rPr>
              <a:t>-</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6" action="ppaction://hlinksldjump"/>
              </a:rPr>
              <a:t>拡張型 </a:t>
            </a:r>
            <a:r>
              <a:rPr lang="en-GB" altLang="ja-JP" sz="2400" dirty="0">
                <a:sym typeface="Arial"/>
                <a:hlinkClick r:id="rId6" action="ppaction://hlinksldjump"/>
              </a:rPr>
              <a:t>The Rails Way </a:t>
            </a:r>
            <a:r>
              <a:rPr lang="ja-JP" altLang="en-US" sz="2400" dirty="0">
                <a:sym typeface="Arial"/>
                <a:hlinkClick r:id="rId6" action="ppaction://hlinksldjump"/>
              </a:rPr>
              <a:t>の主要構成要素</a:t>
            </a:r>
            <a:r>
              <a:rPr lang="en-GB" altLang="ja-JP" sz="2400" dirty="0">
                <a:sym typeface="Arial"/>
                <a:hlinkClick r:id="rId6" action="ppaction://hlinksldjump"/>
              </a:rPr>
              <a:t>(</a:t>
            </a:r>
            <a:r>
              <a:rPr lang="ja-JP" altLang="en-US" sz="2400" dirty="0">
                <a:sym typeface="Arial"/>
                <a:hlinkClick r:id="rId6" action="ppaction://hlinksldjump"/>
              </a:rPr>
              <a:t>多層構造型</a:t>
            </a:r>
            <a:r>
              <a:rPr lang="en-GB" altLang="ja-JP" sz="2400" dirty="0">
                <a:sym typeface="Arial"/>
                <a:hlinkClick r:id="rId6" action="ppaction://hlinksldjump"/>
              </a:rPr>
              <a:t>)</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7" action="ppaction://hlinksldjump"/>
              </a:rPr>
              <a:t>長所・短所</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8" action="ppaction://hlinksldjump"/>
              </a:rPr>
              <a:t>漸進的な多層構造の取入れ戦略</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9" action="ppaction://hlinksldjump"/>
              </a:rPr>
              <a:t>アンケート回答</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10" action="ppaction://hlinksldjump"/>
              </a:rPr>
              <a:t>まとめ</a:t>
            </a:r>
            <a:endParaRPr lang="en-GB" altLang="ja-JP" sz="2400" dirty="0">
              <a:sym typeface="Arial"/>
            </a:endParaRPr>
          </a:p>
          <a:p>
            <a:pPr marL="357188" indent="-357188">
              <a:buClr>
                <a:schemeClr val="dk1"/>
              </a:buClr>
              <a:buSzPts val="2800"/>
              <a:buFont typeface="+mj-lt"/>
              <a:buAutoNum type="arabicPeriod"/>
            </a:pPr>
            <a:r>
              <a:rPr lang="ja-JP" altLang="en-US" sz="2400" dirty="0">
                <a:sym typeface="Arial"/>
                <a:hlinkClick r:id="rId11"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E91A5CFE-9FE9-03A1-20B7-5A89CC3939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F77378-90C2-EA4D-3220-F4FA0E8AE56A}"/>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DD24FC6D-8364-4A10-6BC9-C8A73825B2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24838D7E-2EAE-9DF5-4F7A-2A9AB651AD54}"/>
              </a:ext>
            </a:extLst>
          </p:cNvPr>
          <p:cNvSpPr>
            <a:spLocks noGrp="1"/>
          </p:cNvSpPr>
          <p:nvPr>
            <p:ph idx="1"/>
          </p:nvPr>
        </p:nvSpPr>
        <p:spPr/>
        <p:txBody>
          <a:bodyPr>
            <a:normAutofit/>
          </a:bodyPr>
          <a:lstStyle/>
          <a:p>
            <a:pPr marL="0" indent="0">
              <a:buNone/>
            </a:pPr>
            <a:r>
              <a:rPr lang="en-GB" sz="2600" b="1" dirty="0"/>
              <a:t>Rails </a:t>
            </a:r>
            <a:r>
              <a:rPr lang="ja-JP" altLang="en-US" sz="2600" b="1" dirty="0"/>
              <a:t>アプリケーションのカオスなエコシステム整備のつらみを経験</a:t>
            </a:r>
            <a:endParaRPr lang="en-GB" sz="2600" b="1" dirty="0"/>
          </a:p>
          <a:p>
            <a:r>
              <a:rPr lang="ja-JP" altLang="en-US" sz="2400" dirty="0"/>
              <a:t>入れ子になったドメイン名前空間</a:t>
            </a:r>
            <a:r>
              <a:rPr lang="en-GB" sz="2400" dirty="0"/>
              <a:t>: </a:t>
            </a:r>
            <a:r>
              <a:rPr lang="ja-JP" altLang="en-US" sz="2400" dirty="0"/>
              <a:t>システム種別とアカウント種別</a:t>
            </a:r>
            <a:endParaRPr lang="en-GB" sz="2400" dirty="0"/>
          </a:p>
          <a:p>
            <a:pPr lvl="1"/>
            <a:r>
              <a:rPr lang="en-US" altLang="ja-JP" sz="2000" dirty="0"/>
              <a:t>※</a:t>
            </a:r>
            <a:r>
              <a:rPr lang="en-GB" altLang="ja-JP" sz="2000" dirty="0"/>
              <a:t> </a:t>
            </a:r>
            <a:r>
              <a:rPr lang="ja-JP" altLang="en-US" sz="2000" dirty="0">
                <a:hlinkClick r:id="rId3" action="ppaction://hlinksldjump"/>
              </a:rPr>
              <a:t>次スライド</a:t>
            </a:r>
            <a:r>
              <a:rPr lang="ja-JP" altLang="en-US" sz="2000" dirty="0"/>
              <a:t> にて図解</a:t>
            </a:r>
            <a:endParaRPr lang="en-GB" sz="2000" dirty="0"/>
          </a:p>
          <a:p>
            <a:r>
              <a:rPr lang="ja-JP" altLang="en-US" sz="2400" dirty="0"/>
              <a:t>ロジックや実装場所の一貫性のなさ</a:t>
            </a:r>
            <a:endParaRPr lang="en-GB" sz="2400" dirty="0"/>
          </a:p>
          <a:p>
            <a:r>
              <a:rPr lang="ja-JP" altLang="en-US" sz="2400" dirty="0"/>
              <a:t>冗長な多層構造</a:t>
            </a:r>
            <a:endParaRPr lang="en-GB" sz="2400" dirty="0"/>
          </a:p>
          <a:p>
            <a:pPr lvl="1"/>
            <a:r>
              <a:rPr lang="ja-JP" altLang="en-US" sz="2000" dirty="0"/>
              <a:t>→ </a:t>
            </a:r>
            <a:r>
              <a:rPr lang="en-GB" sz="2000" i="1" dirty="0"/>
              <a:t>CQRS</a:t>
            </a:r>
            <a:r>
              <a:rPr lang="en-GB" sz="2000" dirty="0"/>
              <a:t>, </a:t>
            </a:r>
            <a:r>
              <a:rPr lang="en-GB" sz="2000" i="1" dirty="0"/>
              <a:t>Forms</a:t>
            </a:r>
            <a:r>
              <a:rPr lang="en-GB" sz="2000" dirty="0"/>
              <a:t>, </a:t>
            </a:r>
            <a:r>
              <a:rPr lang="en-GB" sz="2000" i="1" dirty="0"/>
              <a:t>Validators</a:t>
            </a:r>
            <a:r>
              <a:rPr lang="en-GB" sz="2000" dirty="0"/>
              <a:t>, </a:t>
            </a:r>
            <a:r>
              <a:rPr lang="en-GB" sz="2000" i="1" dirty="0"/>
              <a:t>Decorators</a:t>
            </a:r>
            <a:r>
              <a:rPr lang="en-GB" sz="2000" dirty="0"/>
              <a:t>, </a:t>
            </a:r>
            <a:r>
              <a:rPr lang="en-GB" sz="2000" i="1" dirty="0"/>
              <a:t>Serializers</a:t>
            </a:r>
            <a:r>
              <a:rPr lang="en-GB" sz="2000" dirty="0"/>
              <a:t> </a:t>
            </a:r>
            <a:r>
              <a:rPr lang="ja-JP" altLang="en-US" sz="2000" dirty="0"/>
              <a:t>など</a:t>
            </a:r>
            <a:endParaRPr lang="en-GB" sz="2000" dirty="0"/>
          </a:p>
          <a:p>
            <a:r>
              <a:rPr lang="ja-JP" altLang="en-US" sz="2400" dirty="0"/>
              <a:t>バックエンド・フロントエンド間の適切に管理されていないルーティング</a:t>
            </a:r>
            <a:endParaRPr lang="en-GB" sz="2400" dirty="0"/>
          </a:p>
          <a:p>
            <a:r>
              <a:rPr lang="ja-JP" altLang="en-US" sz="2400" dirty="0"/>
              <a:t>モジューラモノリスではない「相乗りモノリス」</a:t>
            </a:r>
            <a:endParaRPr lang="en-GB" altLang="ja-JP" sz="2400" dirty="0"/>
          </a:p>
          <a:p>
            <a:pPr marL="0" indent="0">
              <a:buNone/>
            </a:pPr>
            <a:endParaRPr lang="en-GB" sz="2400" dirty="0"/>
          </a:p>
          <a:p>
            <a:pPr marL="0" indent="0">
              <a:buNone/>
            </a:pPr>
            <a:r>
              <a:rPr lang="ja-JP" altLang="en-US" sz="2400" b="1" dirty="0"/>
              <a:t>→</a:t>
            </a:r>
            <a:r>
              <a:rPr lang="en-GB" altLang="ja-JP" sz="2400" b="1" dirty="0"/>
              <a:t> </a:t>
            </a:r>
            <a:r>
              <a:rPr lang="ja-JP" altLang="en-US" sz="2400" b="1" dirty="0"/>
              <a:t>「</a:t>
            </a:r>
            <a:r>
              <a:rPr lang="en-GB" altLang="ja-JP" sz="2400" b="1" dirty="0"/>
              <a:t>The Rails Way </a:t>
            </a:r>
            <a:r>
              <a:rPr lang="ja-JP" altLang="en-US" sz="2400" b="1" dirty="0"/>
              <a:t>とは何か」が全く分からん</a:t>
            </a:r>
            <a:r>
              <a:rPr lang="en-GB" altLang="ja-JP" sz="2400" b="1" dirty="0"/>
              <a:t>!!</a:t>
            </a:r>
          </a:p>
        </p:txBody>
      </p:sp>
    </p:spTree>
    <p:extLst>
      <p:ext uri="{BB962C8B-B14F-4D97-AF65-F5344CB8AC3E}">
        <p14:creationId xmlns:p14="http://schemas.microsoft.com/office/powerpoint/2010/main" val="23816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F84267F8-98C9-2E17-7751-30B01B4E5B24}"/>
            </a:ext>
          </a:extLst>
        </p:cNvPr>
        <p:cNvGrpSpPr/>
        <p:nvPr/>
      </p:nvGrpSpPr>
      <p:grpSpPr>
        <a:xfrm>
          <a:off x="0" y="0"/>
          <a:ext cx="0" cy="0"/>
          <a:chOff x="0" y="0"/>
          <a:chExt cx="0" cy="0"/>
        </a:xfrm>
      </p:grpSpPr>
      <p:sp>
        <p:nvSpPr>
          <p:cNvPr id="29" name="Content Placeholder 9">
            <a:extLst>
              <a:ext uri="{FF2B5EF4-FFF2-40B4-BE49-F238E27FC236}">
                <a16:creationId xmlns:a16="http://schemas.microsoft.com/office/drawing/2014/main" id="{C6CA6930-7D21-F604-27EE-731CB91F1F31}"/>
              </a:ext>
            </a:extLst>
          </p:cNvPr>
          <p:cNvSpPr>
            <a:spLocks noGrp="1"/>
          </p:cNvSpPr>
          <p:nvPr>
            <p:ph idx="1"/>
          </p:nvPr>
        </p:nvSpPr>
        <p:spPr>
          <a:xfrm>
            <a:off x="838200" y="1825625"/>
            <a:ext cx="10515600" cy="4351338"/>
          </a:xfrm>
        </p:spPr>
        <p:txBody>
          <a:bodyPr>
            <a:normAutofit/>
          </a:bodyPr>
          <a:lstStyle/>
          <a:p>
            <a:pPr marL="0" indent="0" algn="ctr">
              <a:buNone/>
            </a:pPr>
            <a:r>
              <a:rPr lang="ja-JP" altLang="en-US" sz="2400" b="1" dirty="0"/>
              <a:t>モジューラモノリス</a:t>
            </a:r>
            <a:r>
              <a:rPr lang="en-GB" altLang="ja-JP" sz="2400" b="1" dirty="0"/>
              <a:t> vs. </a:t>
            </a:r>
            <a:r>
              <a:rPr lang="ja-JP" altLang="en-US" sz="2400" b="1" dirty="0"/>
              <a:t>相乗りモノリス</a:t>
            </a:r>
            <a:endParaRPr lang="en-GB" altLang="ja-JP" sz="2400" b="1" dirty="0"/>
          </a:p>
        </p:txBody>
      </p:sp>
      <p:sp>
        <p:nvSpPr>
          <p:cNvPr id="4" name="スライド番号プレースホルダー 3">
            <a:extLst>
              <a:ext uri="{FF2B5EF4-FFF2-40B4-BE49-F238E27FC236}">
                <a16:creationId xmlns:a16="http://schemas.microsoft.com/office/drawing/2014/main" id="{3D210C0F-36D9-1638-9C07-5D5ACCF09A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97BEDD1-5A48-F62D-A42C-97CF68D83310}"/>
              </a:ext>
            </a:extLst>
          </p:cNvPr>
          <p:cNvPicPr>
            <a:picLocks noChangeAspect="1"/>
          </p:cNvPicPr>
          <p:nvPr/>
        </p:nvPicPr>
        <p:blipFill>
          <a:blip r:embed="rId3">
            <a:extLst>
              <a:ext uri="{28A0092B-C50C-407E-A947-70E740481C1C}">
                <a14:useLocalDpi xmlns:a14="http://schemas.microsoft.com/office/drawing/2010/main" val="0"/>
              </a:ext>
            </a:extLst>
          </a:blip>
          <a:srcRect l="7" t="4" r="74245" b="62772"/>
          <a:stretch>
            <a:fillRect/>
          </a:stretch>
        </p:blipFill>
        <p:spPr>
          <a:xfrm>
            <a:off x="1856509" y="2235198"/>
            <a:ext cx="2001691" cy="3942861"/>
          </a:xfrm>
          <a:prstGeom prst="rect">
            <a:avLst/>
          </a:prstGeom>
        </p:spPr>
      </p:pic>
      <p:pic>
        <p:nvPicPr>
          <p:cNvPr id="12" name="Picture 11">
            <a:extLst>
              <a:ext uri="{FF2B5EF4-FFF2-40B4-BE49-F238E27FC236}">
                <a16:creationId xmlns:a16="http://schemas.microsoft.com/office/drawing/2014/main" id="{231D3E27-5382-F4A8-4B22-ABAB958F531E}"/>
              </a:ext>
            </a:extLst>
          </p:cNvPr>
          <p:cNvPicPr>
            <a:picLocks noChangeAspect="1"/>
          </p:cNvPicPr>
          <p:nvPr/>
        </p:nvPicPr>
        <p:blipFill>
          <a:blip r:embed="rId4">
            <a:extLst>
              <a:ext uri="{28A0092B-C50C-407E-A947-70E740481C1C}">
                <a14:useLocalDpi xmlns:a14="http://schemas.microsoft.com/office/drawing/2010/main" val="0"/>
              </a:ext>
            </a:extLst>
          </a:blip>
          <a:srcRect l="2" t="1" r="70124" b="64306"/>
          <a:stretch>
            <a:fillRect/>
          </a:stretch>
        </p:blipFill>
        <p:spPr>
          <a:xfrm>
            <a:off x="6530758" y="2235199"/>
            <a:ext cx="2724455" cy="3941764"/>
          </a:xfrm>
          <a:prstGeom prst="rect">
            <a:avLst/>
          </a:prstGeom>
        </p:spPr>
      </p:pic>
      <p:sp>
        <p:nvSpPr>
          <p:cNvPr id="21" name="Rectangle 20">
            <a:extLst>
              <a:ext uri="{FF2B5EF4-FFF2-40B4-BE49-F238E27FC236}">
                <a16:creationId xmlns:a16="http://schemas.microsoft.com/office/drawing/2014/main" id="{4E821D1F-874E-9E40-A1B9-AA11E543CCAD}"/>
              </a:ext>
            </a:extLst>
          </p:cNvPr>
          <p:cNvSpPr/>
          <p:nvPr/>
        </p:nvSpPr>
        <p:spPr>
          <a:xfrm>
            <a:off x="7616143" y="3763568"/>
            <a:ext cx="401021" cy="1384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5CCD9FFC-6F13-0194-4532-60AC1107ABE1}"/>
              </a:ext>
            </a:extLst>
          </p:cNvPr>
          <p:cNvSpPr/>
          <p:nvPr/>
        </p:nvSpPr>
        <p:spPr>
          <a:xfrm>
            <a:off x="7593053" y="4503061"/>
            <a:ext cx="424111" cy="15668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E4E6FD09-B09C-4FD2-0798-09FD9F6F7A08}"/>
              </a:ext>
            </a:extLst>
          </p:cNvPr>
          <p:cNvSpPr/>
          <p:nvPr/>
        </p:nvSpPr>
        <p:spPr>
          <a:xfrm>
            <a:off x="7913990" y="3925454"/>
            <a:ext cx="1128410" cy="554181"/>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70C0"/>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CEC6DD0E-83EB-EB8B-D6CE-B0790810A1D0}"/>
              </a:ext>
            </a:extLst>
          </p:cNvPr>
          <p:cNvPicPr>
            <a:picLocks noChangeAspect="1"/>
          </p:cNvPicPr>
          <p:nvPr/>
        </p:nvPicPr>
        <p:blipFill>
          <a:blip r:embed="rId3">
            <a:extLst>
              <a:ext uri="{28A0092B-C50C-407E-A947-70E740481C1C}">
                <a14:useLocalDpi xmlns:a14="http://schemas.microsoft.com/office/drawing/2010/main" val="0"/>
              </a:ext>
            </a:extLst>
          </a:blip>
          <a:srcRect l="7" t="56564" r="74245" b="398"/>
          <a:stretch>
            <a:fillRect/>
          </a:stretch>
        </p:blipFill>
        <p:spPr>
          <a:xfrm>
            <a:off x="3858200" y="2235199"/>
            <a:ext cx="1733129" cy="3947681"/>
          </a:xfrm>
          <a:prstGeom prst="rect">
            <a:avLst/>
          </a:prstGeom>
        </p:spPr>
      </p:pic>
      <p:sp>
        <p:nvSpPr>
          <p:cNvPr id="28" name="タイトル 1">
            <a:extLst>
              <a:ext uri="{FF2B5EF4-FFF2-40B4-BE49-F238E27FC236}">
                <a16:creationId xmlns:a16="http://schemas.microsoft.com/office/drawing/2014/main" id="{56499597-6D5A-0C6F-6CB6-E3346759D6AC}"/>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30" name="Rectangle 29">
            <a:extLst>
              <a:ext uri="{FF2B5EF4-FFF2-40B4-BE49-F238E27FC236}">
                <a16:creationId xmlns:a16="http://schemas.microsoft.com/office/drawing/2014/main" id="{02091AAE-8B73-2532-B3F2-B7E39787AAF1}"/>
              </a:ext>
            </a:extLst>
          </p:cNvPr>
          <p:cNvSpPr/>
          <p:nvPr/>
        </p:nvSpPr>
        <p:spPr>
          <a:xfrm>
            <a:off x="7616145" y="3564985"/>
            <a:ext cx="401021" cy="1384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E73F4A4B-490A-B560-049E-3149709E99CF}"/>
              </a:ext>
            </a:extLst>
          </p:cNvPr>
          <p:cNvSpPr txBox="1"/>
          <p:nvPr/>
        </p:nvSpPr>
        <p:spPr>
          <a:xfrm>
            <a:off x="5874600" y="3902028"/>
            <a:ext cx="46181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vs.</a:t>
            </a:r>
          </a:p>
        </p:txBody>
      </p:sp>
    </p:spTree>
    <p:extLst>
      <p:ext uri="{BB962C8B-B14F-4D97-AF65-F5344CB8AC3E}">
        <p14:creationId xmlns:p14="http://schemas.microsoft.com/office/powerpoint/2010/main" val="1289055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155A23E6-A970-2A4F-AB3F-EDEA8E4F51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F35F84-2021-EE0D-F2E0-D09692B5405C}"/>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3E151C9-F0E4-93E5-0741-508BA154A2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C4F82980-56B2-0C10-6B46-00BA1B3E2FFF}"/>
              </a:ext>
            </a:extLst>
          </p:cNvPr>
          <p:cNvSpPr>
            <a:spLocks noGrp="1"/>
          </p:cNvSpPr>
          <p:nvPr>
            <p:ph idx="1"/>
          </p:nvPr>
        </p:nvSpPr>
        <p:spPr/>
        <p:txBody>
          <a:bodyPr>
            <a:normAutofit/>
          </a:bodyPr>
          <a:lstStyle/>
          <a:p>
            <a:pPr marL="0" indent="0">
              <a:buNone/>
            </a:pPr>
            <a:r>
              <a:rPr lang="ja-JP" altLang="en-US" sz="2400" dirty="0"/>
              <a:t>とある</a:t>
            </a:r>
            <a:r>
              <a:rPr lang="en-GB" sz="2400" dirty="0"/>
              <a:t> Rubyist </a:t>
            </a:r>
            <a:r>
              <a:rPr lang="ja-JP" altLang="en-US" sz="2400" dirty="0"/>
              <a:t>の方が</a:t>
            </a:r>
            <a:r>
              <a:rPr lang="en-GB" sz="2400" dirty="0"/>
              <a:t> </a:t>
            </a:r>
            <a:r>
              <a:rPr lang="en-GB" sz="2400" dirty="0">
                <a:hlinkClick r:id="rId3"/>
              </a:rPr>
              <a:t>Kaigi on Rails 2025</a:t>
            </a:r>
            <a:r>
              <a:rPr lang="en-GB" sz="2400" dirty="0"/>
              <a:t> </a:t>
            </a:r>
            <a:r>
              <a:rPr lang="ja-JP" altLang="en-US" sz="2400" dirty="0"/>
              <a:t>にて投稿した内容、それが</a:t>
            </a:r>
            <a:r>
              <a:rPr lang="en-GB" sz="2400" dirty="0"/>
              <a:t>…</a:t>
            </a:r>
          </a:p>
          <a:p>
            <a:pPr marL="0" indent="0">
              <a:buNone/>
            </a:pPr>
            <a:endParaRPr lang="en-GB" sz="2400" dirty="0"/>
          </a:p>
          <a:p>
            <a:pPr marL="0" indent="0" algn="ctr">
              <a:buNone/>
            </a:pPr>
            <a:r>
              <a:rPr lang="en-GB" sz="3600" u="sng" dirty="0"/>
              <a:t>"</a:t>
            </a:r>
            <a:r>
              <a:rPr lang="en-GB" sz="3600" b="1" u="sng" dirty="0"/>
              <a:t>rails way</a:t>
            </a:r>
            <a:r>
              <a:rPr lang="ja-JP" altLang="en-US" sz="3600" b="1" u="sng" dirty="0"/>
              <a:t>とは何なのか</a:t>
            </a:r>
            <a:r>
              <a:rPr lang="en-GB" sz="3600" u="sng" dirty="0"/>
              <a:t>?"</a:t>
            </a:r>
          </a:p>
        </p:txBody>
      </p:sp>
      <p:pic>
        <p:nvPicPr>
          <p:cNvPr id="3" name="Picture 2">
            <a:extLst>
              <a:ext uri="{FF2B5EF4-FFF2-40B4-BE49-F238E27FC236}">
                <a16:creationId xmlns:a16="http://schemas.microsoft.com/office/drawing/2014/main" id="{06426DB9-AF26-757D-ECA4-5718CC509D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186" y="3429000"/>
            <a:ext cx="7377412" cy="2747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032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241F6B58-42C0-BDC8-B61B-AA288D4225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034626-1123-5220-796E-C65DA0462DD9}"/>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45DD8F9-127C-8762-1E8A-D98403795B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B7E2E22-D3A2-F7C9-052A-55986409DD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191" y="1345580"/>
            <a:ext cx="5399049" cy="5399049"/>
          </a:xfrm>
          <a:prstGeom prst="rect">
            <a:avLst/>
          </a:prstGeom>
        </p:spPr>
      </p:pic>
    </p:spTree>
    <p:extLst>
      <p:ext uri="{BB962C8B-B14F-4D97-AF65-F5344CB8AC3E}">
        <p14:creationId xmlns:p14="http://schemas.microsoft.com/office/powerpoint/2010/main" val="2010058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2E466B67-354B-2E7E-9544-FDFED1F304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8A35F7-57E4-8673-3A26-1F7A937C4E0F}"/>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888D7CE9-75AA-304E-AAE5-7DEEEAEDAF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3E4841CE-43DE-0463-4922-32DEBD1C07BA}"/>
              </a:ext>
            </a:extLst>
          </p:cNvPr>
          <p:cNvSpPr>
            <a:spLocks noGrp="1"/>
          </p:cNvSpPr>
          <p:nvPr>
            <p:ph idx="1"/>
          </p:nvPr>
        </p:nvSpPr>
        <p:spPr/>
        <p:txBody>
          <a:bodyPr>
            <a:normAutofit/>
          </a:bodyPr>
          <a:lstStyle/>
          <a:p>
            <a:pPr marL="0" indent="0">
              <a:buNone/>
            </a:pPr>
            <a:r>
              <a:rPr lang="ja-JP" altLang="en-US" sz="2600" b="1" dirty="0"/>
              <a:t>同意する理由</a:t>
            </a:r>
            <a:endParaRPr lang="en-GB" sz="2600" b="1" dirty="0"/>
          </a:p>
          <a:p>
            <a:r>
              <a:rPr lang="ja-JP" altLang="en-US" sz="2400" dirty="0"/>
              <a:t>公式な</a:t>
            </a:r>
            <a:r>
              <a:rPr lang="en-GB" sz="2400" dirty="0"/>
              <a:t> "The Rails Way" </a:t>
            </a:r>
            <a:r>
              <a:rPr lang="ja-JP" altLang="en-US" sz="2400" dirty="0"/>
              <a:t>の定義がない</a:t>
            </a:r>
            <a:endParaRPr lang="en-GB" sz="2400" dirty="0"/>
          </a:p>
          <a:p>
            <a:pPr lvl="1"/>
            <a:r>
              <a:rPr lang="ja-JP" altLang="en-US" dirty="0"/>
              <a:t>→ </a:t>
            </a:r>
            <a:r>
              <a:rPr lang="ja-JP" altLang="en-US" b="1" dirty="0"/>
              <a:t>十人十色の解釈</a:t>
            </a:r>
            <a:endParaRPr lang="en-GB" b="1" dirty="0"/>
          </a:p>
          <a:p>
            <a:r>
              <a:rPr lang="en-GB" sz="2400" b="1" dirty="0"/>
              <a:t>MVC </a:t>
            </a:r>
            <a:r>
              <a:rPr lang="ja-JP" altLang="en-US" sz="2400" dirty="0"/>
              <a:t>エコシステム・</a:t>
            </a:r>
            <a:r>
              <a:rPr lang="en-GB" sz="2400" b="1" dirty="0"/>
              <a:t>CoC</a:t>
            </a:r>
            <a:r>
              <a:rPr lang="en-GB" sz="2400" dirty="0"/>
              <a:t> </a:t>
            </a:r>
            <a:r>
              <a:rPr lang="ja-JP" altLang="en-US" sz="2400" dirty="0"/>
              <a:t>哲学のいずれか、もしくは両方を指している？</a:t>
            </a:r>
            <a:endParaRPr lang="en-GB" sz="2400" dirty="0"/>
          </a:p>
          <a:p>
            <a:pPr lvl="1"/>
            <a:r>
              <a:rPr lang="ja-JP" altLang="en-US" dirty="0"/>
              <a:t>→ </a:t>
            </a:r>
            <a:r>
              <a:rPr lang="ja-JP" altLang="en-US" b="1" dirty="0"/>
              <a:t>曖昧模糊で話が噛み合わない</a:t>
            </a:r>
            <a:endParaRPr lang="en-GB" b="1" dirty="0"/>
          </a:p>
          <a:p>
            <a:r>
              <a:rPr lang="ja-JP" altLang="en-US" sz="2400" dirty="0"/>
              <a:t>「おまかせ」とも違う</a:t>
            </a:r>
            <a:r>
              <a:rPr lang="en-GB" sz="2400" dirty="0"/>
              <a:t>?</a:t>
            </a:r>
          </a:p>
          <a:p>
            <a:pPr lvl="1"/>
            <a:r>
              <a:rPr lang="ja-JP" altLang="en-US" dirty="0"/>
              <a:t>→ </a:t>
            </a:r>
            <a:r>
              <a:rPr lang="ja-JP" altLang="en-US" b="1" dirty="0"/>
              <a:t>作者の</a:t>
            </a:r>
            <a:r>
              <a:rPr lang="en-GB" altLang="ja-JP" b="1" dirty="0"/>
              <a:t> DHH </a:t>
            </a:r>
            <a:r>
              <a:rPr lang="ja-JP" altLang="en-US" b="1" dirty="0"/>
              <a:t>すら</a:t>
            </a:r>
            <a:r>
              <a:rPr lang="en-GB" altLang="ja-JP" b="1" dirty="0"/>
              <a:t> "The Rails Way" </a:t>
            </a:r>
            <a:r>
              <a:rPr lang="ja-JP" altLang="en-US" b="1" dirty="0"/>
              <a:t>という表現を使っていない</a:t>
            </a:r>
            <a:endParaRPr lang="en-GB" b="1" dirty="0"/>
          </a:p>
          <a:p>
            <a:pPr marL="0" indent="0">
              <a:buNone/>
            </a:pPr>
            <a:endParaRPr lang="en-GB" sz="2400" dirty="0"/>
          </a:p>
          <a:p>
            <a:pPr marL="0" indent="0">
              <a:buNone/>
            </a:pPr>
            <a:r>
              <a:rPr lang="ja-JP" altLang="en-US" sz="2400" b="1" dirty="0"/>
              <a:t>→</a:t>
            </a:r>
            <a:r>
              <a:rPr lang="en-GB" altLang="ja-JP" sz="2400" b="1" dirty="0"/>
              <a:t> </a:t>
            </a:r>
            <a:r>
              <a:rPr lang="ja-JP" altLang="en-US" sz="2400" b="1" dirty="0"/>
              <a:t>もはや</a:t>
            </a:r>
            <a:r>
              <a:rPr lang="en-GB" altLang="ja-JP" sz="2400" b="1" dirty="0"/>
              <a:t> "The Rails Way" </a:t>
            </a:r>
            <a:r>
              <a:rPr lang="ja-JP" altLang="en-US" sz="2400" b="1" dirty="0"/>
              <a:t>という合言葉では</a:t>
            </a:r>
            <a:r>
              <a:rPr lang="en-GB" altLang="ja-JP" sz="2400" b="1" dirty="0"/>
              <a:t> Rails </a:t>
            </a:r>
            <a:r>
              <a:rPr lang="ja-JP" altLang="en-US" sz="2400" b="1" dirty="0"/>
              <a:t>アプリケーションのアーキテクチャについて合意を取れない</a:t>
            </a:r>
            <a:endParaRPr lang="en-GB" altLang="ja-JP" sz="2400" b="1" dirty="0"/>
          </a:p>
        </p:txBody>
      </p:sp>
    </p:spTree>
    <p:extLst>
      <p:ext uri="{BB962C8B-B14F-4D97-AF65-F5344CB8AC3E}">
        <p14:creationId xmlns:p14="http://schemas.microsoft.com/office/powerpoint/2010/main" val="3001791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EE90C8E4-B0DC-1C53-C6D0-D35D6E627A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1E76D9-866E-97F8-3F73-2629C0A5BFCB}"/>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何故興味を持ったか？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5EA81024-C7B7-CD75-2365-D4D2954AE4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A0A7783C-6BB0-3437-1256-2ACD17002722}"/>
              </a:ext>
            </a:extLst>
          </p:cNvPr>
          <p:cNvSpPr>
            <a:spLocks noGrp="1"/>
          </p:cNvSpPr>
          <p:nvPr>
            <p:ph idx="1"/>
          </p:nvPr>
        </p:nvSpPr>
        <p:spPr/>
        <p:txBody>
          <a:bodyPr>
            <a:normAutofit/>
          </a:bodyPr>
          <a:lstStyle/>
          <a:p>
            <a:pPr marL="0" indent="0" algn="ctr">
              <a:buNone/>
            </a:pPr>
            <a:endParaRPr lang="en-GB" sz="2600" b="1" dirty="0"/>
          </a:p>
          <a:p>
            <a:pPr marL="0" indent="0" algn="ctr">
              <a:buNone/>
            </a:pPr>
            <a:endParaRPr lang="en-GB" sz="2600" b="1" dirty="0"/>
          </a:p>
          <a:p>
            <a:pPr marL="0" indent="0" algn="ctr">
              <a:buNone/>
            </a:pPr>
            <a:r>
              <a:rPr lang="en-GB" sz="2600" dirty="0"/>
              <a:t>❌Now is not the time to cry</a:t>
            </a:r>
          </a:p>
          <a:p>
            <a:pPr marL="0" indent="0" algn="ctr">
              <a:buNone/>
            </a:pPr>
            <a:r>
              <a:rPr lang="en-GB" altLang="ja-JP" sz="2600" b="1" dirty="0"/>
              <a:t>✅</a:t>
            </a:r>
            <a:r>
              <a:rPr lang="en-GB" altLang="ja-JP" sz="3200" b="1" dirty="0"/>
              <a:t>Now's the time to find out </a:t>
            </a:r>
            <a:r>
              <a:rPr lang="en-GB" altLang="ja-JP" sz="3200" b="1" strike="sngStrike" dirty="0"/>
              <a:t>why</a:t>
            </a:r>
            <a:r>
              <a:rPr lang="en-GB" altLang="ja-JP" sz="3200" b="1" dirty="0"/>
              <a:t> "The Rails Way"</a:t>
            </a:r>
            <a:endParaRPr lang="en-GB" altLang="ja-JP" sz="2600" b="1" dirty="0"/>
          </a:p>
          <a:p>
            <a:pPr marL="0" indent="0" algn="ctr">
              <a:buNone/>
            </a:pPr>
            <a:endParaRPr lang="en-GB" altLang="ja-JP" sz="2600" b="1" dirty="0"/>
          </a:p>
          <a:p>
            <a:pPr marL="0" indent="0" algn="r">
              <a:buNone/>
            </a:pPr>
            <a:r>
              <a:rPr lang="en-GB" altLang="ja-JP" sz="2400" dirty="0"/>
              <a:t>Live Forever - Oasis</a:t>
            </a:r>
          </a:p>
          <a:p>
            <a:pPr marL="0" indent="0" algn="ctr">
              <a:buNone/>
            </a:pPr>
            <a:endParaRPr lang="en-GB" altLang="ja-JP" sz="2400" b="1" dirty="0"/>
          </a:p>
        </p:txBody>
      </p:sp>
    </p:spTree>
    <p:extLst>
      <p:ext uri="{BB962C8B-B14F-4D97-AF65-F5344CB8AC3E}">
        <p14:creationId xmlns:p14="http://schemas.microsoft.com/office/powerpoint/2010/main" val="1024506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600" b="1" dirty="0">
                <a:latin typeface="Calibri (Headings)"/>
              </a:rPr>
              <a:t>2. "The Rails Way" </a:t>
            </a:r>
            <a:r>
              <a:rPr lang="ja-JP" altLang="en-US" sz="3600" b="1" dirty="0">
                <a:latin typeface="Calibri (Headings)"/>
              </a:rPr>
              <a:t>の哲学 </a:t>
            </a:r>
            <a:r>
              <a:rPr lang="en-US" altLang="ja-JP" sz="3600" b="1" dirty="0">
                <a:latin typeface="Calibri (Headings)"/>
              </a:rPr>
              <a:t>-</a:t>
            </a:r>
            <a:r>
              <a:rPr lang="en-GB" altLang="ja-JP" sz="3600" b="1" dirty="0">
                <a:latin typeface="Calibri (Headings)"/>
              </a:rPr>
              <a:t>MVC vs. </a:t>
            </a:r>
            <a:r>
              <a:rPr lang="ja-JP" altLang="en-US" sz="3600" b="1" dirty="0">
                <a:latin typeface="Calibri (Headings)"/>
              </a:rPr>
              <a:t>多層構造型</a:t>
            </a:r>
            <a:r>
              <a:rPr lang="en-US" altLang="ja-JP" sz="3600" b="1" dirty="0">
                <a:latin typeface="Calibri (Headings)"/>
              </a:rPr>
              <a:t>-</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sz="3600" b="1" dirty="0">
                <a:latin typeface="Calibri (Headings)"/>
              </a:rPr>
              <a:t>2. "The Rails Way" </a:t>
            </a:r>
            <a:r>
              <a:rPr lang="ja-JP" altLang="en-US" sz="3600" b="1" dirty="0">
                <a:latin typeface="Calibri (Headings)"/>
              </a:rPr>
              <a:t>の哲学 </a:t>
            </a:r>
            <a:r>
              <a:rPr lang="en-US" altLang="ja-JP" sz="3600" b="1" dirty="0">
                <a:latin typeface="Calibri (Headings)"/>
              </a:rPr>
              <a:t>-</a:t>
            </a:r>
            <a:r>
              <a:rPr lang="en-GB" altLang="ja-JP" sz="3600" b="1" dirty="0">
                <a:latin typeface="Calibri (Headings)"/>
              </a:rPr>
              <a:t>MVC vs. </a:t>
            </a:r>
            <a:r>
              <a:rPr lang="ja-JP" altLang="en-US" sz="3600" b="1" dirty="0">
                <a:latin typeface="Calibri (Headings)"/>
              </a:rPr>
              <a:t>多層構造型</a:t>
            </a:r>
            <a:r>
              <a:rPr lang="en-US" altLang="ja-JP" sz="3600" b="1" dirty="0">
                <a:latin typeface="Calibri (Headings)"/>
              </a:rPr>
              <a:t>-</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a:ln>
            <a:noFill/>
          </a:ln>
        </p:spPr>
        <p:txBody>
          <a:bodyPr>
            <a:normAutofit/>
          </a:bodyPr>
          <a:lstStyle/>
          <a:p>
            <a:pPr marL="0" lvl="1" indent="0">
              <a:buNone/>
            </a:pPr>
            <a:r>
              <a:rPr lang="ja-JP" altLang="en-US" sz="2600" b="1" dirty="0"/>
              <a:t>従来の </a:t>
            </a:r>
            <a:r>
              <a:rPr lang="en-US" altLang="ja-JP" sz="2600" b="1" dirty="0"/>
              <a:t>MVC </a:t>
            </a:r>
            <a:r>
              <a:rPr lang="ja-JP" altLang="en-US" sz="2600" b="1" dirty="0"/>
              <a:t>アーキテクチャー</a:t>
            </a:r>
            <a:endParaRPr lang="en-US" altLang="ja-JP" sz="2600" b="1" dirty="0"/>
          </a:p>
          <a:p>
            <a:pPr marL="268288" lvl="1" indent="-268288">
              <a:tabLst>
                <a:tab pos="268288" algn="l"/>
              </a:tabLst>
            </a:pPr>
            <a:r>
              <a:rPr lang="ja-JP" altLang="en-US" b="1" dirty="0"/>
              <a:t>設定より規約</a:t>
            </a:r>
            <a:endParaRPr lang="en-US" altLang="ja-JP" b="1" dirty="0"/>
          </a:p>
          <a:p>
            <a:pPr marL="725488" lvl="2" indent="-268288">
              <a:tabLst>
                <a:tab pos="268288" algn="l"/>
              </a:tabLst>
            </a:pPr>
            <a:r>
              <a:rPr lang="ja-JP" altLang="en-US" dirty="0"/>
              <a:t>機能を出来る限り推論出来る仕組み</a:t>
            </a:r>
            <a:endParaRPr lang="en-GB" altLang="ja-JP" dirty="0"/>
          </a:p>
          <a:p>
            <a:pPr marL="1074738" lvl="3" indent="-160338">
              <a:tabLst>
                <a:tab pos="268288" algn="l"/>
              </a:tabLst>
            </a:pPr>
            <a:r>
              <a:rPr lang="ja-JP" altLang="en-US" dirty="0"/>
              <a:t>オブジェクト名やプロジェクトの構造に基づく</a:t>
            </a:r>
            <a:endParaRPr lang="en-GB" altLang="ja-JP" dirty="0"/>
          </a:p>
          <a:p>
            <a:pPr marL="725488" lvl="2" indent="-268288">
              <a:tabLst>
                <a:tab pos="268288" algn="l"/>
              </a:tabLst>
            </a:pPr>
            <a:r>
              <a:rPr lang="ja-JP" altLang="en-US" dirty="0"/>
              <a:t>セットアップよりも製品開発に集中出来るように</a:t>
            </a:r>
            <a:endParaRPr lang="en-US" altLang="ja-JP" dirty="0"/>
          </a:p>
          <a:p>
            <a:pPr marL="725488" lvl="2" indent="-268288">
              <a:tabLst>
                <a:tab pos="268288" algn="l"/>
              </a:tabLst>
            </a:pPr>
            <a:r>
              <a:rPr lang="ja-JP" altLang="en-US" dirty="0"/>
              <a:t>数</a:t>
            </a:r>
            <a:r>
              <a:rPr lang="en-GB" altLang="ja-JP" dirty="0"/>
              <a:t>(</a:t>
            </a:r>
            <a:r>
              <a:rPr lang="ja-JP" altLang="en-US" dirty="0"/>
              <a:t>単数形</a:t>
            </a:r>
            <a:r>
              <a:rPr lang="en-GB" altLang="ja-JP" dirty="0"/>
              <a:t>/</a:t>
            </a:r>
            <a:r>
              <a:rPr lang="ja-JP" altLang="en-US" dirty="0"/>
              <a:t>複数形</a:t>
            </a:r>
            <a:r>
              <a:rPr lang="en-GB" altLang="ja-JP" dirty="0"/>
              <a:t>)</a:t>
            </a:r>
            <a:r>
              <a:rPr lang="ja-JP" altLang="en-US" dirty="0"/>
              <a:t>や格変化</a:t>
            </a:r>
            <a:r>
              <a:rPr lang="en-GB" altLang="ja-JP" dirty="0"/>
              <a:t>(e.g. I-my-me)</a:t>
            </a:r>
            <a:r>
              <a:rPr lang="ja-JP" altLang="en-US" dirty="0"/>
              <a:t>などの文法上の屈折</a:t>
            </a:r>
            <a:endParaRPr lang="en-US" altLang="ja-JP" dirty="0"/>
          </a:p>
          <a:p>
            <a:pPr marL="1074738" lvl="3" indent="-160338">
              <a:tabLst>
                <a:tab pos="268288" algn="l"/>
              </a:tabLst>
            </a:pPr>
            <a:r>
              <a:rPr lang="en-US" altLang="ja-JP" dirty="0"/>
              <a:t>e.g. </a:t>
            </a:r>
            <a:r>
              <a:rPr lang="en-US" altLang="ja-JP" b="1" i="1" dirty="0"/>
              <a:t>User</a:t>
            </a:r>
            <a:r>
              <a:rPr lang="en-US" altLang="ja-JP" i="1" dirty="0"/>
              <a:t> </a:t>
            </a:r>
            <a:r>
              <a:rPr lang="ja-JP" altLang="en-US" dirty="0"/>
              <a:t>モデルはデータベースの</a:t>
            </a:r>
            <a:r>
              <a:rPr lang="en-US" altLang="ja-JP" dirty="0"/>
              <a:t> </a:t>
            </a:r>
            <a:r>
              <a:rPr lang="en-US" altLang="ja-JP" b="1" i="1" dirty="0"/>
              <a:t>users</a:t>
            </a:r>
            <a:r>
              <a:rPr lang="en-US" altLang="ja-JP" dirty="0"/>
              <a:t> </a:t>
            </a:r>
            <a:r>
              <a:rPr lang="ja-JP" altLang="en-US" dirty="0"/>
              <a:t>テーブルに相当</a:t>
            </a:r>
            <a:endParaRPr lang="en-US" altLang="ja-JP" i="1" dirty="0"/>
          </a:p>
          <a:p>
            <a:pPr marL="268288" lvl="1" indent="-268288">
              <a:tabLst>
                <a:tab pos="268288" algn="l"/>
              </a:tabLst>
            </a:pPr>
            <a:r>
              <a:rPr lang="en-US" altLang="ja-JP" b="1" dirty="0"/>
              <a:t>3</a:t>
            </a:r>
            <a:r>
              <a:rPr lang="ja-JP" altLang="en-US" b="1" dirty="0"/>
              <a:t>層構造</a:t>
            </a:r>
            <a:r>
              <a:rPr lang="en-US" altLang="ja-JP" dirty="0"/>
              <a:t>: MVC</a:t>
            </a:r>
          </a:p>
          <a:p>
            <a:pPr marL="725488" lvl="2" indent="-268288">
              <a:tabLst>
                <a:tab pos="268288" algn="l"/>
              </a:tabLst>
            </a:pPr>
            <a:r>
              <a:rPr lang="en-US" altLang="ja-JP" b="1" dirty="0"/>
              <a:t>M</a:t>
            </a:r>
            <a:r>
              <a:rPr lang="en-US" altLang="ja-JP" dirty="0"/>
              <a:t>odels (ActiveRecord)</a:t>
            </a:r>
          </a:p>
          <a:p>
            <a:pPr marL="725488" lvl="2" indent="-268288">
              <a:tabLst>
                <a:tab pos="268288" algn="l"/>
              </a:tabLst>
            </a:pPr>
            <a:r>
              <a:rPr lang="en-US" altLang="ja-JP" b="1" dirty="0"/>
              <a:t>V</a:t>
            </a:r>
            <a:r>
              <a:rPr lang="en-US" altLang="ja-JP" dirty="0"/>
              <a:t>iews (ERB HTML </a:t>
            </a:r>
            <a:r>
              <a:rPr lang="ja-JP" altLang="en-US" dirty="0"/>
              <a:t>テンプレート</a:t>
            </a:r>
            <a:r>
              <a:rPr lang="en-US" altLang="ja-JP" dirty="0"/>
              <a:t>)</a:t>
            </a:r>
          </a:p>
          <a:p>
            <a:pPr marL="725488" lvl="2" indent="-268288">
              <a:tabLst>
                <a:tab pos="268288" algn="l"/>
              </a:tabLst>
            </a:pPr>
            <a:r>
              <a:rPr lang="en-US" altLang="ja-JP" b="1" dirty="0"/>
              <a:t>C</a:t>
            </a:r>
            <a:r>
              <a:rPr lang="en-US" altLang="ja-JP" dirty="0"/>
              <a:t>ontrollers (</a:t>
            </a:r>
            <a:r>
              <a:rPr lang="ja-JP" altLang="en-US" dirty="0"/>
              <a:t>データフロー制御</a:t>
            </a:r>
            <a:r>
              <a:rPr lang="en-US" altLang="ja-JP" dirty="0"/>
              <a:t>)</a:t>
            </a:r>
          </a:p>
        </p:txBody>
      </p:sp>
    </p:spTree>
    <p:extLst>
      <p:ext uri="{BB962C8B-B14F-4D97-AF65-F5344CB8AC3E}">
        <p14:creationId xmlns:p14="http://schemas.microsoft.com/office/powerpoint/2010/main" val="2302870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517952D0-DE69-098A-ECD2-627936B94FE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FDFDB8-AF26-838C-C855-3C3164F11837}"/>
              </a:ext>
            </a:extLst>
          </p:cNvPr>
          <p:cNvSpPr>
            <a:spLocks noGrp="1"/>
          </p:cNvSpPr>
          <p:nvPr>
            <p:ph type="title"/>
          </p:nvPr>
        </p:nvSpPr>
        <p:spPr/>
        <p:txBody>
          <a:bodyPr>
            <a:normAutofit/>
          </a:bodyPr>
          <a:lstStyle/>
          <a:p>
            <a:pPr algn="ctr"/>
            <a:r>
              <a:rPr lang="en-GB" altLang="ja-JP" sz="3600" b="1" dirty="0">
                <a:latin typeface="Calibri (Headings)"/>
              </a:rPr>
              <a:t>2. "The Rails Way" </a:t>
            </a:r>
            <a:r>
              <a:rPr lang="ja-JP" altLang="en-US" sz="3600" b="1" dirty="0">
                <a:latin typeface="Calibri (Headings)"/>
              </a:rPr>
              <a:t>の哲学 </a:t>
            </a:r>
            <a:r>
              <a:rPr lang="en-US" altLang="ja-JP" sz="3600" b="1" dirty="0">
                <a:latin typeface="Calibri (Headings)"/>
              </a:rPr>
              <a:t>-</a:t>
            </a:r>
            <a:r>
              <a:rPr lang="en-GB" altLang="ja-JP" sz="3600" b="1" dirty="0">
                <a:latin typeface="Calibri (Headings)"/>
              </a:rPr>
              <a:t>MVC vs. </a:t>
            </a:r>
            <a:r>
              <a:rPr lang="ja-JP" altLang="en-US" sz="3600" b="1" dirty="0">
                <a:latin typeface="Calibri (Headings)"/>
              </a:rPr>
              <a:t>多層構造型</a:t>
            </a:r>
            <a:r>
              <a:rPr lang="en-US" altLang="ja-JP" sz="3600" b="1" dirty="0">
                <a:latin typeface="Calibri (Headings)"/>
              </a:rPr>
              <a:t>-</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1070AD4A-5315-3C46-4AD4-7833FAE585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E7F564AC-A53F-CD05-8EA7-7E2AE93AD279}"/>
              </a:ext>
            </a:extLst>
          </p:cNvPr>
          <p:cNvSpPr>
            <a:spLocks noGrp="1"/>
          </p:cNvSpPr>
          <p:nvPr>
            <p:ph idx="1"/>
          </p:nvPr>
        </p:nvSpPr>
        <p:spPr>
          <a:xfrm>
            <a:off x="838200" y="1825625"/>
            <a:ext cx="10515600" cy="4351338"/>
          </a:xfrm>
        </p:spPr>
        <p:txBody>
          <a:bodyPr>
            <a:normAutofit lnSpcReduction="10000"/>
          </a:bodyPr>
          <a:lstStyle/>
          <a:p>
            <a:pPr marL="0" lvl="1" indent="0">
              <a:buNone/>
            </a:pPr>
            <a:r>
              <a:rPr lang="ja-JP" altLang="en-US" sz="2600" b="1" dirty="0"/>
              <a:t>拡張</a:t>
            </a:r>
            <a:r>
              <a:rPr lang="en-US" altLang="ja-JP" sz="2600" b="1" dirty="0"/>
              <a:t>/</a:t>
            </a:r>
            <a:r>
              <a:rPr lang="ja-JP" altLang="en-US" sz="2600" b="1" dirty="0"/>
              <a:t>多層構造型</a:t>
            </a:r>
            <a:r>
              <a:rPr lang="en-US" altLang="ja-JP" sz="2600" b="1" dirty="0"/>
              <a:t> </a:t>
            </a:r>
            <a:r>
              <a:rPr lang="ja-JP" altLang="en-US" sz="2600" b="1" dirty="0"/>
              <a:t>アーキテクチャー</a:t>
            </a:r>
            <a:endParaRPr lang="en-US" altLang="ja-JP" sz="2600" b="1" dirty="0"/>
          </a:p>
          <a:p>
            <a:pPr marL="268288" lvl="1" indent="-268288">
              <a:tabLst>
                <a:tab pos="268288" algn="l"/>
              </a:tabLst>
            </a:pPr>
            <a:r>
              <a:rPr lang="ja-JP" altLang="en-US" b="1" dirty="0"/>
              <a:t>構造的な抽象化</a:t>
            </a:r>
            <a:r>
              <a:rPr lang="en-GB" altLang="ja-JP" dirty="0"/>
              <a:t>: </a:t>
            </a:r>
            <a:r>
              <a:rPr lang="ja-JP" altLang="en-US" dirty="0"/>
              <a:t>役割の分離</a:t>
            </a:r>
            <a:endParaRPr lang="en-GB" altLang="ja-JP" dirty="0"/>
          </a:p>
          <a:p>
            <a:pPr marL="725488" lvl="2" indent="-268288">
              <a:tabLst>
                <a:tab pos="268288" algn="l"/>
              </a:tabLst>
            </a:pPr>
            <a:r>
              <a:rPr lang="ja-JP" altLang="en-US" dirty="0"/>
              <a:t>ロジックのカプセルか</a:t>
            </a:r>
            <a:endParaRPr lang="en-GB" altLang="ja-JP" dirty="0"/>
          </a:p>
          <a:p>
            <a:pPr marL="1074738" lvl="3" indent="-160338">
              <a:tabLst>
                <a:tab pos="268288" algn="l"/>
              </a:tabLst>
            </a:pPr>
            <a:r>
              <a:rPr lang="ja-JP" altLang="en-US" dirty="0"/>
              <a:t>詳細な実装よりも外側の振舞いに着目</a:t>
            </a:r>
            <a:endParaRPr lang="en-GB" altLang="ja-JP" dirty="0"/>
          </a:p>
          <a:p>
            <a:pPr marL="1074738" lvl="3" indent="-160338">
              <a:tabLst>
                <a:tab pos="268288" algn="l"/>
              </a:tabLst>
            </a:pPr>
            <a:r>
              <a:rPr lang="ja-JP" altLang="en-US" dirty="0"/>
              <a:t>→ オブジェクト指向</a:t>
            </a:r>
            <a:endParaRPr lang="en-GB" altLang="ja-JP" dirty="0"/>
          </a:p>
          <a:p>
            <a:pPr marL="725488" lvl="2" indent="-268288">
              <a:tabLst>
                <a:tab pos="268288" algn="l"/>
              </a:tabLst>
            </a:pPr>
            <a:r>
              <a:rPr lang="en-GB" altLang="ja-JP" dirty="0"/>
              <a:t>1</a:t>
            </a:r>
            <a:r>
              <a:rPr lang="ja-JP" altLang="en-US" dirty="0"/>
              <a:t>対</a:t>
            </a:r>
            <a:r>
              <a:rPr lang="en-GB" altLang="ja-JP" dirty="0"/>
              <a:t>1 </a:t>
            </a:r>
            <a:r>
              <a:rPr lang="ja-JP" altLang="en-US" dirty="0"/>
              <a:t>の単一かつ明確な責務の割当て</a:t>
            </a:r>
            <a:endParaRPr lang="en-GB" altLang="ja-JP" dirty="0"/>
          </a:p>
          <a:p>
            <a:pPr marL="725488" lvl="2" indent="-268288">
              <a:tabLst>
                <a:tab pos="268288" algn="l"/>
              </a:tabLst>
            </a:pPr>
            <a:r>
              <a:rPr lang="ja-JP" altLang="en-US" dirty="0"/>
              <a:t>薄いコントローラーとモデル</a:t>
            </a:r>
            <a:endParaRPr lang="en-GB" altLang="ja-JP" dirty="0"/>
          </a:p>
          <a:p>
            <a:pPr marL="268288" lvl="1" indent="-268288">
              <a:tabLst>
                <a:tab pos="268288" algn="l"/>
              </a:tabLst>
            </a:pPr>
            <a:r>
              <a:rPr lang="en-GB" altLang="ja-JP" b="1" dirty="0"/>
              <a:t>5</a:t>
            </a:r>
            <a:r>
              <a:rPr lang="ja-JP" altLang="en-US" b="1" dirty="0"/>
              <a:t>つ</a:t>
            </a:r>
            <a:r>
              <a:rPr lang="en-GB" altLang="ja-JP" b="1" dirty="0"/>
              <a:t> (</a:t>
            </a:r>
            <a:r>
              <a:rPr lang="ja-JP" altLang="en-US" b="1" dirty="0"/>
              <a:t>かそれ以上の</a:t>
            </a:r>
            <a:r>
              <a:rPr lang="en-GB" altLang="ja-JP" b="1" dirty="0"/>
              <a:t>) </a:t>
            </a:r>
            <a:r>
              <a:rPr lang="ja-JP" altLang="en-US" b="1" dirty="0"/>
              <a:t>役割に特化した層</a:t>
            </a:r>
            <a:r>
              <a:rPr lang="en-GB" altLang="ja-JP" dirty="0"/>
              <a:t>:</a:t>
            </a:r>
          </a:p>
          <a:p>
            <a:pPr marL="725488" lvl="2" indent="-268288">
              <a:tabLst>
                <a:tab pos="268288" algn="l"/>
              </a:tabLst>
            </a:pPr>
            <a:r>
              <a:rPr lang="ja-JP" altLang="en-US" dirty="0"/>
              <a:t>プレゼンテーション層</a:t>
            </a:r>
            <a:endParaRPr lang="en-GB" altLang="ja-JP" dirty="0"/>
          </a:p>
          <a:p>
            <a:pPr marL="725488" lvl="2" indent="-268288">
              <a:tabLst>
                <a:tab pos="268288" algn="l"/>
              </a:tabLst>
            </a:pPr>
            <a:r>
              <a:rPr lang="ja-JP" altLang="en-US" dirty="0"/>
              <a:t>ビジネス</a:t>
            </a:r>
            <a:r>
              <a:rPr lang="en-GB" altLang="ja-JP" dirty="0"/>
              <a:t>/</a:t>
            </a:r>
            <a:r>
              <a:rPr lang="ja-JP" altLang="en-US" dirty="0"/>
              <a:t>ドメイン層</a:t>
            </a:r>
            <a:endParaRPr lang="en-GB" altLang="ja-JP" dirty="0"/>
          </a:p>
          <a:p>
            <a:pPr marL="725488" lvl="2" indent="-268288">
              <a:tabLst>
                <a:tab pos="268288" algn="l"/>
              </a:tabLst>
            </a:pPr>
            <a:r>
              <a:rPr lang="ja-JP" altLang="en-US" dirty="0"/>
              <a:t>アプリケーション</a:t>
            </a:r>
            <a:r>
              <a:rPr lang="en-GB" altLang="ja-JP" dirty="0"/>
              <a:t>/</a:t>
            </a:r>
            <a:r>
              <a:rPr lang="ja-JP" altLang="en-US" dirty="0"/>
              <a:t>サービス層</a:t>
            </a:r>
            <a:endParaRPr lang="en-GB" altLang="ja-JP" dirty="0"/>
          </a:p>
          <a:p>
            <a:pPr marL="725488" lvl="2" indent="-268288">
              <a:tabLst>
                <a:tab pos="268288" algn="l"/>
              </a:tabLst>
            </a:pPr>
            <a:r>
              <a:rPr lang="ja-JP" altLang="en-US" dirty="0"/>
              <a:t>データ</a:t>
            </a:r>
            <a:r>
              <a:rPr lang="en-GB" altLang="ja-JP" dirty="0"/>
              <a:t>/</a:t>
            </a:r>
            <a:r>
              <a:rPr lang="ja-JP" altLang="en-US" dirty="0"/>
              <a:t>永続層</a:t>
            </a:r>
            <a:endParaRPr lang="en-GB" altLang="ja-JP" dirty="0"/>
          </a:p>
          <a:p>
            <a:pPr marL="725488" lvl="2" indent="-268288">
              <a:tabLst>
                <a:tab pos="268288" algn="l"/>
              </a:tabLst>
            </a:pPr>
            <a:r>
              <a:rPr lang="ja-JP" altLang="en-US" dirty="0"/>
              <a:t>インフラ</a:t>
            </a:r>
            <a:endParaRPr lang="en-US" altLang="ja-JP" dirty="0"/>
          </a:p>
        </p:txBody>
      </p:sp>
    </p:spTree>
    <p:extLst>
      <p:ext uri="{BB962C8B-B14F-4D97-AF65-F5344CB8AC3E}">
        <p14:creationId xmlns:p14="http://schemas.microsoft.com/office/powerpoint/2010/main" val="428433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2C85D0C5-CAEB-C466-C04D-CBAF267BE6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9B5066-F3CA-32A4-1468-18A8D1868BBE}"/>
              </a:ext>
            </a:extLst>
          </p:cNvPr>
          <p:cNvSpPr>
            <a:spLocks noGrp="1"/>
          </p:cNvSpPr>
          <p:nvPr>
            <p:ph type="title"/>
          </p:nvPr>
        </p:nvSpPr>
        <p:spPr/>
        <p:txBody>
          <a:bodyPr>
            <a:normAutofit/>
          </a:bodyPr>
          <a:lstStyle/>
          <a:p>
            <a:pPr algn="ctr"/>
            <a:r>
              <a:rPr lang="en-GB" altLang="ja-JP" sz="3600" b="1" dirty="0">
                <a:latin typeface="Calibri (Headings)"/>
              </a:rPr>
              <a:t>2. "The Rails Way" </a:t>
            </a:r>
            <a:r>
              <a:rPr lang="ja-JP" altLang="en-US" sz="3600" b="1" dirty="0">
                <a:latin typeface="Calibri (Headings)"/>
              </a:rPr>
              <a:t>の哲学 </a:t>
            </a:r>
            <a:r>
              <a:rPr lang="en-US" altLang="ja-JP" sz="3600" b="1" dirty="0">
                <a:latin typeface="Calibri (Headings)"/>
              </a:rPr>
              <a:t>-</a:t>
            </a:r>
            <a:r>
              <a:rPr lang="en-GB" altLang="ja-JP" sz="3600" b="1" dirty="0">
                <a:latin typeface="Calibri (Headings)"/>
              </a:rPr>
              <a:t>MVC vs. </a:t>
            </a:r>
            <a:r>
              <a:rPr lang="ja-JP" altLang="en-US" sz="3600" b="1" dirty="0">
                <a:latin typeface="Calibri (Headings)"/>
              </a:rPr>
              <a:t>多層構造型</a:t>
            </a:r>
            <a:r>
              <a:rPr lang="en-US" altLang="ja-JP" sz="3600" b="1" dirty="0">
                <a:latin typeface="Calibri (Headings)"/>
              </a:rPr>
              <a:t>-</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9263AEA0-6CA8-1944-8C03-54FE19D686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E5B7CCE-0B97-2C9C-784E-DA5FC8DDC293}"/>
              </a:ext>
            </a:extLst>
          </p:cNvPr>
          <p:cNvSpPr txBox="1"/>
          <p:nvPr/>
        </p:nvSpPr>
        <p:spPr>
          <a:xfrm>
            <a:off x="5874600" y="3902028"/>
            <a:ext cx="46181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vs.</a:t>
            </a:r>
          </a:p>
        </p:txBody>
      </p:sp>
      <p:pic>
        <p:nvPicPr>
          <p:cNvPr id="8" name="Picture 7">
            <a:extLst>
              <a:ext uri="{FF2B5EF4-FFF2-40B4-BE49-F238E27FC236}">
                <a16:creationId xmlns:a16="http://schemas.microsoft.com/office/drawing/2014/main" id="{0C11A5FB-F955-3C21-8625-07E26B273B4C}"/>
              </a:ext>
            </a:extLst>
          </p:cNvPr>
          <p:cNvPicPr>
            <a:picLocks noChangeAspect="1"/>
          </p:cNvPicPr>
          <p:nvPr/>
        </p:nvPicPr>
        <p:blipFill>
          <a:blip r:embed="rId3">
            <a:extLst>
              <a:ext uri="{28A0092B-C50C-407E-A947-70E740481C1C}">
                <a14:useLocalDpi xmlns:a14="http://schemas.microsoft.com/office/drawing/2010/main" val="0"/>
              </a:ext>
            </a:extLst>
          </a:blip>
          <a:srcRect t="2" r="25357" b="18111"/>
          <a:stretch>
            <a:fillRect/>
          </a:stretch>
        </p:blipFill>
        <p:spPr>
          <a:xfrm>
            <a:off x="6532292" y="1299301"/>
            <a:ext cx="2508104" cy="4952712"/>
          </a:xfrm>
          <a:prstGeom prst="rect">
            <a:avLst/>
          </a:prstGeom>
        </p:spPr>
      </p:pic>
      <p:pic>
        <p:nvPicPr>
          <p:cNvPr id="9" name="Picture 8">
            <a:extLst>
              <a:ext uri="{FF2B5EF4-FFF2-40B4-BE49-F238E27FC236}">
                <a16:creationId xmlns:a16="http://schemas.microsoft.com/office/drawing/2014/main" id="{9F4EB903-64A7-26E5-57C1-3291C9B170D8}"/>
              </a:ext>
            </a:extLst>
          </p:cNvPr>
          <p:cNvPicPr>
            <a:picLocks noChangeAspect="1"/>
          </p:cNvPicPr>
          <p:nvPr/>
        </p:nvPicPr>
        <p:blipFill>
          <a:blip r:embed="rId4">
            <a:extLst>
              <a:ext uri="{28A0092B-C50C-407E-A947-70E740481C1C}">
                <a14:useLocalDpi xmlns:a14="http://schemas.microsoft.com/office/drawing/2010/main" val="0"/>
              </a:ext>
            </a:extLst>
          </a:blip>
          <a:srcRect l="2" t="-1" r="21888" b="40686"/>
          <a:stretch>
            <a:fillRect/>
          </a:stretch>
        </p:blipFill>
        <p:spPr>
          <a:xfrm>
            <a:off x="1518358" y="1299301"/>
            <a:ext cx="4068001" cy="4942840"/>
          </a:xfrm>
          <a:prstGeom prst="rect">
            <a:avLst/>
          </a:prstGeom>
        </p:spPr>
      </p:pic>
    </p:spTree>
    <p:extLst>
      <p:ext uri="{BB962C8B-B14F-4D97-AF65-F5344CB8AC3E}">
        <p14:creationId xmlns:p14="http://schemas.microsoft.com/office/powerpoint/2010/main" val="1277057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600" b="1" dirty="0">
                <a:latin typeface="Calibri (Headings)"/>
              </a:rPr>
              <a:t>3. </a:t>
            </a:r>
            <a:r>
              <a:rPr lang="ja-JP" altLang="en-US" sz="3600" b="1" dirty="0">
                <a:latin typeface="Calibri (Headings)"/>
              </a:rPr>
              <a:t>主要な責務 </a:t>
            </a:r>
            <a:r>
              <a:rPr lang="en-US" altLang="ja-JP" sz="3600" b="1" dirty="0">
                <a:latin typeface="Calibri (Headings)"/>
              </a:rPr>
              <a:t>-</a:t>
            </a:r>
            <a:r>
              <a:rPr lang="en-GB" altLang="ja-JP" sz="3600" b="1" dirty="0">
                <a:latin typeface="Calibri (Headings)"/>
              </a:rPr>
              <a:t>MVC vs. </a:t>
            </a:r>
            <a:r>
              <a:rPr lang="ja-JP" altLang="en-US" sz="3600" b="1" dirty="0">
                <a:latin typeface="Calibri (Headings)"/>
              </a:rPr>
              <a:t>多層構造型</a:t>
            </a:r>
            <a:r>
              <a:rPr lang="en-US" altLang="ja-JP" sz="3600" b="1" dirty="0">
                <a:latin typeface="Calibri (Headings)"/>
              </a:rPr>
              <a:t>-</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303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sz="3600" b="1" dirty="0">
                <a:latin typeface="Calibri (Headings)"/>
              </a:rPr>
              <a:t>3. </a:t>
            </a:r>
            <a:r>
              <a:rPr lang="ja-JP" altLang="en-US" sz="3600" b="1" dirty="0">
                <a:latin typeface="Calibri (Headings)"/>
              </a:rPr>
              <a:t>主要な責務 </a:t>
            </a:r>
            <a:r>
              <a:rPr lang="en-US" altLang="ja-JP" sz="3600" b="1" dirty="0">
                <a:latin typeface="Calibri (Headings)"/>
              </a:rPr>
              <a:t>-</a:t>
            </a:r>
            <a:r>
              <a:rPr lang="en-GB" altLang="ja-JP" sz="3600" b="1" dirty="0">
                <a:latin typeface="Calibri (Headings)"/>
              </a:rPr>
              <a:t>MVC vs. </a:t>
            </a:r>
            <a:r>
              <a:rPr lang="ja-JP" altLang="en-US" sz="3600" b="1" dirty="0">
                <a:latin typeface="Calibri (Headings)"/>
              </a:rPr>
              <a:t>多層構造型</a:t>
            </a:r>
            <a:r>
              <a:rPr lang="en-US" altLang="ja-JP" sz="3600" b="1" dirty="0">
                <a:latin typeface="Calibri (Headings)"/>
              </a:rPr>
              <a:t>-</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2" name="Content Placeholder 2">
            <a:extLst>
              <a:ext uri="{FF2B5EF4-FFF2-40B4-BE49-F238E27FC236}">
                <a16:creationId xmlns:a16="http://schemas.microsoft.com/office/drawing/2014/main" id="{CF665A90-92C5-D06E-4CD4-D05137D2AB2C}"/>
              </a:ext>
            </a:extLst>
          </p:cNvPr>
          <p:cNvGraphicFramePr>
            <a:graphicFrameLocks noGrp="1"/>
          </p:cNvGraphicFramePr>
          <p:nvPr>
            <p:ph idx="1"/>
            <p:extLst>
              <p:ext uri="{D42A27DB-BD31-4B8C-83A1-F6EECF244321}">
                <p14:modId xmlns:p14="http://schemas.microsoft.com/office/powerpoint/2010/main" val="288450987"/>
              </p:ext>
            </p:extLst>
          </p:nvPr>
        </p:nvGraphicFramePr>
        <p:xfrm>
          <a:off x="838200" y="1299301"/>
          <a:ext cx="10515597" cy="4942840"/>
        </p:xfrm>
        <a:graphic>
          <a:graphicData uri="http://schemas.openxmlformats.org/drawingml/2006/table">
            <a:tbl>
              <a:tblPr firstRow="1" bandRow="1">
                <a:tableStyleId>{5C22544A-7EE6-4342-B048-85BDC9FD1C3A}</a:tableStyleId>
              </a:tblPr>
              <a:tblGrid>
                <a:gridCol w="1432188">
                  <a:extLst>
                    <a:ext uri="{9D8B030D-6E8A-4147-A177-3AD203B41FA5}">
                      <a16:colId xmlns:a16="http://schemas.microsoft.com/office/drawing/2014/main" val="1589600711"/>
                    </a:ext>
                  </a:extLst>
                </a:gridCol>
                <a:gridCol w="5357046">
                  <a:extLst>
                    <a:ext uri="{9D8B030D-6E8A-4147-A177-3AD203B41FA5}">
                      <a16:colId xmlns:a16="http://schemas.microsoft.com/office/drawing/2014/main" val="3344451167"/>
                    </a:ext>
                  </a:extLst>
                </a:gridCol>
                <a:gridCol w="3726363">
                  <a:extLst>
                    <a:ext uri="{9D8B030D-6E8A-4147-A177-3AD203B41FA5}">
                      <a16:colId xmlns:a16="http://schemas.microsoft.com/office/drawing/2014/main" val="4033865444"/>
                    </a:ext>
                  </a:extLst>
                </a:gridCol>
              </a:tblGrid>
              <a:tr h="370840">
                <a:tc>
                  <a:txBody>
                    <a:bodyPr/>
                    <a:lstStyle/>
                    <a:p>
                      <a:r>
                        <a:rPr lang="ja-JP" altLang="en-US" dirty="0"/>
                        <a:t>責務</a:t>
                      </a:r>
                      <a:endParaRPr lang="en-GB" dirty="0"/>
                    </a:p>
                  </a:txBody>
                  <a:tcPr/>
                </a:tc>
                <a:tc>
                  <a:txBody>
                    <a:bodyPr/>
                    <a:lstStyle/>
                    <a:p>
                      <a:r>
                        <a:rPr lang="en-GB" dirty="0"/>
                        <a:t>MVC</a:t>
                      </a:r>
                    </a:p>
                  </a:txBody>
                  <a:tcPr/>
                </a:tc>
                <a:tc>
                  <a:txBody>
                    <a:bodyPr/>
                    <a:lstStyle/>
                    <a:p>
                      <a:r>
                        <a:rPr lang="ja-JP" altLang="en-US" dirty="0"/>
                        <a:t>多層構造型</a:t>
                      </a:r>
                      <a:endParaRPr lang="en-GB" dirty="0"/>
                    </a:p>
                  </a:txBody>
                  <a:tcPr/>
                </a:tc>
                <a:extLst>
                  <a:ext uri="{0D108BD9-81ED-4DB2-BD59-A6C34878D82A}">
                    <a16:rowId xmlns:a16="http://schemas.microsoft.com/office/drawing/2014/main" val="1914384507"/>
                  </a:ext>
                </a:extLst>
              </a:tr>
              <a:tr h="370840">
                <a:tc>
                  <a:txBody>
                    <a:bodyPr/>
                    <a:lstStyle/>
                    <a:p>
                      <a:r>
                        <a:rPr lang="ja-JP" altLang="en-US" b="1" dirty="0"/>
                        <a:t>プレゼン</a:t>
                      </a:r>
                      <a:endParaRPr lang="en-GB" altLang="ja-JP" b="1" dirty="0"/>
                    </a:p>
                    <a:p>
                      <a:r>
                        <a:rPr lang="ja-JP" altLang="en-US" b="1" dirty="0"/>
                        <a:t>テーション</a:t>
                      </a:r>
                      <a:endParaRPr lang="en-GB" b="1" dirty="0"/>
                    </a:p>
                  </a:txBody>
                  <a:tcPr/>
                </a:tc>
                <a:tc>
                  <a:txBody>
                    <a:bodyPr/>
                    <a:lstStyle/>
                    <a:p>
                      <a:pPr marL="177800" indent="-177800">
                        <a:buFont typeface="Arial" panose="020B0604020202020204" pitchFamily="34" charset="0"/>
                        <a:buChar char="•"/>
                      </a:pPr>
                      <a:r>
                        <a:rPr lang="en-GB" i="1" dirty="0"/>
                        <a:t>app/controllers/*_controller.rb</a:t>
                      </a:r>
                      <a:r>
                        <a:rPr lang="en-GB" i="0" dirty="0"/>
                        <a:t>: </a:t>
                      </a:r>
                      <a:r>
                        <a:rPr lang="ja-JP" altLang="en-US" dirty="0"/>
                        <a:t>インスタンス変数</a:t>
                      </a:r>
                      <a:endParaRPr lang="en-GB" i="1" dirty="0"/>
                    </a:p>
                    <a:p>
                      <a:pPr marL="177800" indent="-177800">
                        <a:buFont typeface="Arial" panose="020B0604020202020204" pitchFamily="34" charset="0"/>
                        <a:buChar char="•"/>
                      </a:pPr>
                      <a:r>
                        <a:rPr lang="en-GB" i="1" dirty="0"/>
                        <a:t>app/helper/*_helper.rb</a:t>
                      </a:r>
                      <a:r>
                        <a:rPr lang="en-GB" i="0" dirty="0"/>
                        <a:t>: </a:t>
                      </a:r>
                      <a:r>
                        <a:rPr lang="ja-JP" altLang="en-US" dirty="0"/>
                        <a:t>カスタムヘルパー</a:t>
                      </a:r>
                      <a:endParaRPr lang="en-GB" i="1" dirty="0"/>
                    </a:p>
                    <a:p>
                      <a:pPr marL="177800" indent="-177800">
                        <a:buFont typeface="Arial" panose="020B0604020202020204" pitchFamily="34" charset="0"/>
                        <a:buChar char="•"/>
                      </a:pPr>
                      <a:r>
                        <a:rPr lang="en-GB" dirty="0">
                          <a:hlinkClick r:id="rId3"/>
                        </a:rPr>
                        <a:t>ActiveModel::Serializers::JSON#as_json</a:t>
                      </a:r>
                      <a:endParaRPr lang="en-GB" dirty="0"/>
                    </a:p>
                  </a:txBody>
                  <a:tcPr/>
                </a:tc>
                <a:tc>
                  <a:txBody>
                    <a:bodyPr/>
                    <a:lstStyle/>
                    <a:p>
                      <a:pPr marL="177800" indent="-177800">
                        <a:buFont typeface="Arial" panose="020B0604020202020204" pitchFamily="34" charset="0"/>
                        <a:buChar char="•"/>
                      </a:pPr>
                      <a:r>
                        <a:rPr lang="en-GB" i="1" dirty="0"/>
                        <a:t>app/serializers/*_serializer.rb</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app/view/components/</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app/view/presenters/</a:t>
                      </a:r>
                    </a:p>
                  </a:txBody>
                  <a:tcPr/>
                </a:tc>
                <a:extLst>
                  <a:ext uri="{0D108BD9-81ED-4DB2-BD59-A6C34878D82A}">
                    <a16:rowId xmlns:a16="http://schemas.microsoft.com/office/drawing/2014/main" val="3234329963"/>
                  </a:ext>
                </a:extLst>
              </a:tr>
              <a:tr h="370840">
                <a:tc>
                  <a:txBody>
                    <a:bodyPr/>
                    <a:lstStyle/>
                    <a:p>
                      <a:r>
                        <a:rPr lang="ja-JP" altLang="en-US" b="1" dirty="0"/>
                        <a:t>フォーム</a:t>
                      </a:r>
                      <a:endParaRPr lang="en-GB" altLang="ja-JP" b="1" dirty="0"/>
                    </a:p>
                    <a:p>
                      <a:r>
                        <a:rPr lang="ja-JP" altLang="en-US" b="1" dirty="0"/>
                        <a:t>操作</a:t>
                      </a:r>
                      <a:endParaRPr lang="en-GB" b="1" dirty="0"/>
                    </a:p>
                  </a:txBody>
                  <a:tcPr/>
                </a:tc>
                <a:tc>
                  <a:txBody>
                    <a:bodyPr/>
                    <a:lstStyle/>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app/controllers/*_controller.rb</a:t>
                      </a:r>
                      <a:r>
                        <a:rPr lang="en-GB" i="0" dirty="0"/>
                        <a:t>: </a:t>
                      </a:r>
                      <a:r>
                        <a:rPr lang="en-GB" dirty="0"/>
                        <a:t>Strong parameters</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app/model/*.rb</a:t>
                      </a:r>
                      <a:r>
                        <a:rPr lang="en-GB" i="0" dirty="0"/>
                        <a:t>: </a:t>
                      </a:r>
                      <a:r>
                        <a:rPr lang="ja-JP" altLang="en-US" dirty="0"/>
                        <a:t>バリデーション</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t>app/forms/*_form.rb</a:t>
                      </a:r>
                      <a:endParaRPr lang="en-GB" b="1" dirty="0"/>
                    </a:p>
                    <a:p>
                      <a:r>
                        <a:rPr lang="en-GB" dirty="0"/>
                        <a:t>(</a:t>
                      </a:r>
                      <a:r>
                        <a:rPr lang="ja-JP" altLang="en-US" dirty="0"/>
                        <a:t>コンテキスト準拠</a:t>
                      </a:r>
                      <a:r>
                        <a:rPr lang="en-GB" dirty="0"/>
                        <a:t>)</a:t>
                      </a:r>
                    </a:p>
                  </a:txBody>
                  <a:tcPr/>
                </a:tc>
                <a:extLst>
                  <a:ext uri="{0D108BD9-81ED-4DB2-BD59-A6C34878D82A}">
                    <a16:rowId xmlns:a16="http://schemas.microsoft.com/office/drawing/2014/main" val="2803422642"/>
                  </a:ext>
                </a:extLst>
              </a:tr>
              <a:tr h="370840">
                <a:tc>
                  <a:txBody>
                    <a:bodyPr/>
                    <a:lstStyle/>
                    <a:p>
                      <a:r>
                        <a:rPr lang="ja-JP" altLang="en-US" b="1" dirty="0"/>
                        <a:t>ビジネス</a:t>
                      </a:r>
                      <a:endParaRPr lang="en-GB" altLang="ja-JP" b="1" dirty="0"/>
                    </a:p>
                    <a:p>
                      <a:r>
                        <a:rPr lang="ja-JP" altLang="en-US" b="1" dirty="0"/>
                        <a:t>ロジック</a:t>
                      </a:r>
                      <a:endParaRPr lang="en-GB" b="1" dirty="0"/>
                    </a:p>
                  </a:txBody>
                  <a:tcPr/>
                </a:tc>
                <a:tc>
                  <a:txBody>
                    <a:bodyPr/>
                    <a:lstStyle/>
                    <a:p>
                      <a:pPr marL="0" indent="0">
                        <a:buFont typeface="Arial" panose="020B0604020202020204" pitchFamily="34" charset="0"/>
                        <a:buNone/>
                      </a:pPr>
                      <a:r>
                        <a:rPr lang="en-GB" b="1" i="0" dirty="0"/>
                        <a:t>Scattered Everywhere</a:t>
                      </a:r>
                    </a:p>
                    <a:p>
                      <a:pPr marL="177800" indent="-177800">
                        <a:buFont typeface="Arial" panose="020B0604020202020204" pitchFamily="34" charset="0"/>
                        <a:buChar char="•"/>
                      </a:pPr>
                      <a:r>
                        <a:rPr lang="en-GB" i="1" dirty="0"/>
                        <a:t>app/controllers/*_controller.rb</a:t>
                      </a:r>
                      <a:r>
                        <a:rPr lang="en-GB" i="0" dirty="0"/>
                        <a:t>(concerns </a:t>
                      </a:r>
                      <a:r>
                        <a:rPr lang="ja-JP" altLang="en-US" i="0" dirty="0"/>
                        <a:t>を含む</a:t>
                      </a:r>
                      <a:r>
                        <a:rPr lang="en-GB" i="0" dirty="0"/>
                        <a:t>)</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app/model/*.rb</a:t>
                      </a:r>
                      <a:r>
                        <a:rPr lang="en-GB" i="0" dirty="0"/>
                        <a:t>(concerns </a:t>
                      </a:r>
                      <a:r>
                        <a:rPr lang="ja-JP" altLang="en-US" i="0" dirty="0"/>
                        <a:t>を含む</a:t>
                      </a:r>
                      <a:r>
                        <a:rPr lang="en-GB" i="0" dirty="0"/>
                        <a:t>)</a:t>
                      </a:r>
                    </a:p>
                    <a:p>
                      <a:pPr marL="177800" indent="-177800">
                        <a:buFont typeface="Arial" panose="020B0604020202020204" pitchFamily="34" charset="0"/>
                        <a:buChar char="•"/>
                      </a:pPr>
                      <a:r>
                        <a:rPr lang="en-GB" i="1" dirty="0"/>
                        <a:t>app/views/*.html.erb</a:t>
                      </a:r>
                      <a:r>
                        <a:rPr lang="en-GB" i="0" dirty="0"/>
                        <a:t>(⚠️</a:t>
                      </a:r>
                      <a:r>
                        <a:rPr lang="ja-JP" altLang="en-US" i="0" dirty="0"/>
                        <a:t>アンチパターン</a:t>
                      </a:r>
                      <a:r>
                        <a:rPr lang="en-GB" i="0" dirty="0"/>
                        <a:t>)</a:t>
                      </a:r>
                      <a:r>
                        <a:rPr lang="ja-JP" altLang="en-US" i="0" dirty="0"/>
                        <a:t>他</a:t>
                      </a:r>
                      <a:endParaRPr lang="en-GB" i="1" dirty="0"/>
                    </a:p>
                  </a:txBody>
                  <a:tcPr/>
                </a:tc>
                <a:tc>
                  <a:txBody>
                    <a:bodyPr/>
                    <a:lstStyle/>
                    <a:p>
                      <a:pPr marL="177800" indent="-177800">
                        <a:buFont typeface="Arial" panose="020B0604020202020204" pitchFamily="34" charset="0"/>
                        <a:buChar char="•"/>
                      </a:pPr>
                      <a:r>
                        <a:rPr lang="en-GB" i="1" dirty="0"/>
                        <a:t>app/model/*.rb</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i="1" dirty="0"/>
                        <a:t>app/services/*_service.rb</a:t>
                      </a:r>
                      <a:endParaRPr lang="en-GB" b="1" dirty="0"/>
                    </a:p>
                  </a:txBody>
                  <a:tcPr/>
                </a:tc>
                <a:extLst>
                  <a:ext uri="{0D108BD9-81ED-4DB2-BD59-A6C34878D82A}">
                    <a16:rowId xmlns:a16="http://schemas.microsoft.com/office/drawing/2014/main" val="1388487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認証</a:t>
                      </a:r>
                      <a:endParaRPr lang="en-GB" b="1" dirty="0"/>
                    </a:p>
                  </a:txBody>
                  <a:tcPr/>
                </a:tc>
                <a:tc>
                  <a:txBody>
                    <a:bodyPr/>
                    <a:lstStyle/>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app/controllers/*_controller.rb</a:t>
                      </a:r>
                      <a:r>
                        <a:rPr lang="en-GB" i="0" dirty="0"/>
                        <a:t>: Callbacks</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app/model/*.rb</a:t>
                      </a:r>
                      <a:r>
                        <a:rPr lang="en-GB" i="0" dirty="0"/>
                        <a:t>: Attributes</a:t>
                      </a:r>
                    </a:p>
                  </a:txBody>
                  <a:tcPr/>
                </a:tc>
                <a:tc>
                  <a:txBody>
                    <a:bodyPr/>
                    <a:lstStyle/>
                    <a:p>
                      <a:r>
                        <a:rPr lang="en-GB" i="1" dirty="0"/>
                        <a:t>app/policies/*_policy.rb</a:t>
                      </a:r>
                    </a:p>
                    <a:p>
                      <a:r>
                        <a:rPr lang="en-GB" dirty="0"/>
                        <a:t>(single source of truth)</a:t>
                      </a:r>
                    </a:p>
                  </a:txBody>
                  <a:tcPr/>
                </a:tc>
                <a:extLst>
                  <a:ext uri="{0D108BD9-81ED-4DB2-BD59-A6C34878D82A}">
                    <a16:rowId xmlns:a16="http://schemas.microsoft.com/office/drawing/2014/main" val="41895990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データ接続</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1" i="0" dirty="0"/>
                        <a:t>Executed Everywhere</a:t>
                      </a:r>
                      <a:endParaRPr lang="en-GB" i="1" dirty="0"/>
                    </a:p>
                    <a:p>
                      <a:pPr marL="177800" indent="-177800">
                        <a:buFont typeface="Arial" panose="020B0604020202020204" pitchFamily="34" charset="0"/>
                        <a:buChar char="•"/>
                      </a:pPr>
                      <a:r>
                        <a:rPr lang="en-GB" i="1" dirty="0"/>
                        <a:t>app/controllers/*_controller.rb</a:t>
                      </a:r>
                      <a:r>
                        <a:rPr lang="en-GB" i="0" dirty="0"/>
                        <a:t>(concerns </a:t>
                      </a:r>
                      <a:r>
                        <a:rPr lang="ja-JP" altLang="en-US" i="0" dirty="0"/>
                        <a:t>を含む</a:t>
                      </a:r>
                      <a:r>
                        <a:rPr lang="en-GB" i="0" dirty="0"/>
                        <a:t>)</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i="1" dirty="0"/>
                        <a:t>app/model/*.rb</a:t>
                      </a:r>
                      <a:r>
                        <a:rPr lang="en-GB" i="0" dirty="0"/>
                        <a:t>(concerns </a:t>
                      </a:r>
                      <a:r>
                        <a:rPr lang="ja-JP" altLang="en-US" i="0" dirty="0"/>
                        <a:t>を含む</a:t>
                      </a:r>
                      <a:r>
                        <a:rPr lang="en-GB" i="0" dirty="0"/>
                        <a:t>)</a:t>
                      </a:r>
                    </a:p>
                    <a:p>
                      <a:pPr marL="177800" indent="-177800">
                        <a:buFont typeface="Arial" panose="020B0604020202020204" pitchFamily="34" charset="0"/>
                        <a:buChar char="•"/>
                      </a:pPr>
                      <a:r>
                        <a:rPr lang="en-GB" i="1" dirty="0"/>
                        <a:t>app/views/*.</a:t>
                      </a:r>
                      <a:r>
                        <a:rPr lang="en-GB" i="1" dirty="0" err="1"/>
                        <a:t>html.erb</a:t>
                      </a:r>
                      <a:r>
                        <a:rPr lang="en-GB" i="0" dirty="0"/>
                        <a:t>(⚠️</a:t>
                      </a:r>
                      <a:r>
                        <a:rPr lang="ja-JP" altLang="en-US" i="0" dirty="0"/>
                        <a:t>アンチパターン</a:t>
                      </a:r>
                      <a:r>
                        <a:rPr lang="en-GB" i="0" dirty="0"/>
                        <a:t>)</a:t>
                      </a:r>
                      <a:r>
                        <a:rPr lang="ja-JP" altLang="en-US" i="0" dirty="0"/>
                        <a:t>他</a:t>
                      </a:r>
                      <a:endParaRPr lang="en-GB" i="1" dirty="0"/>
                    </a:p>
                  </a:txBody>
                  <a:tcPr/>
                </a:tc>
                <a:tc>
                  <a:txBody>
                    <a:bodyPr/>
                    <a:lstStyle/>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i="1" dirty="0"/>
                        <a:t>app/commands/*_command.rb</a:t>
                      </a:r>
                    </a:p>
                    <a:p>
                      <a:pPr marL="177800" indent="-177800">
                        <a:buFont typeface="Arial" panose="020B0604020202020204" pitchFamily="34" charset="0"/>
                        <a:buChar char="•"/>
                      </a:pPr>
                      <a:r>
                        <a:rPr lang="en-GB" i="1" dirty="0"/>
                        <a:t>app/repositories/*_repository.rb</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i="1" dirty="0"/>
                        <a:t>app/queries/*_query.rb</a:t>
                      </a:r>
                    </a:p>
                  </a:txBody>
                  <a:tcPr/>
                </a:tc>
                <a:extLst>
                  <a:ext uri="{0D108BD9-81ED-4DB2-BD59-A6C34878D82A}">
                    <a16:rowId xmlns:a16="http://schemas.microsoft.com/office/drawing/2014/main" val="1928792701"/>
                  </a:ext>
                </a:extLst>
              </a:tr>
            </a:tbl>
          </a:graphicData>
        </a:graphic>
      </p:graphicFrame>
      <p:sp>
        <p:nvSpPr>
          <p:cNvPr id="13" name="Rectangle 12">
            <a:extLst>
              <a:ext uri="{FF2B5EF4-FFF2-40B4-BE49-F238E27FC236}">
                <a16:creationId xmlns:a16="http://schemas.microsoft.com/office/drawing/2014/main" id="{AF0360F8-01FA-0E42-1990-B784766245C2}"/>
              </a:ext>
            </a:extLst>
          </p:cNvPr>
          <p:cNvSpPr/>
          <p:nvPr/>
        </p:nvSpPr>
        <p:spPr>
          <a:xfrm>
            <a:off x="838197" y="3241114"/>
            <a:ext cx="10515597" cy="117756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75A8307-7FCC-DB9B-3679-10A1EEB7A990}"/>
              </a:ext>
            </a:extLst>
          </p:cNvPr>
          <p:cNvSpPr/>
          <p:nvPr/>
        </p:nvSpPr>
        <p:spPr>
          <a:xfrm>
            <a:off x="838200" y="5064572"/>
            <a:ext cx="10515597" cy="117756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8040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200" b="1" dirty="0">
                <a:latin typeface="Calibri (Headings)"/>
              </a:rPr>
              <a:t>4. </a:t>
            </a:r>
            <a:r>
              <a:rPr lang="ja-JP" altLang="en-US" sz="3200" b="1" dirty="0">
                <a:latin typeface="Calibri (Headings)"/>
              </a:rPr>
              <a:t>拡張型 </a:t>
            </a:r>
            <a:r>
              <a:rPr lang="en-GB" altLang="ja-JP" sz="3200" b="1" dirty="0">
                <a:latin typeface="Calibri (Headings)"/>
              </a:rPr>
              <a:t>The Rails Way </a:t>
            </a:r>
            <a:r>
              <a:rPr lang="ja-JP" altLang="en-US" sz="3200" b="1" dirty="0">
                <a:latin typeface="Calibri (Headings)"/>
              </a:rPr>
              <a:t>の主要構成要素</a:t>
            </a:r>
            <a:r>
              <a:rPr lang="en-GB" altLang="ja-JP" sz="3200" b="1" dirty="0">
                <a:latin typeface="Calibri (Headings)"/>
              </a:rPr>
              <a:t>(</a:t>
            </a:r>
            <a:r>
              <a:rPr lang="ja-JP" altLang="en-US" sz="3200" b="1" dirty="0">
                <a:latin typeface="Calibri (Headings)"/>
              </a:rPr>
              <a:t>多層構造型</a:t>
            </a:r>
            <a:r>
              <a:rPr lang="en-GB" altLang="ja-JP" sz="3200" b="1" dirty="0">
                <a:latin typeface="Calibri (Headings)"/>
              </a:rPr>
              <a:t>)</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516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sz="3200" b="1" dirty="0">
                <a:latin typeface="Calibri (Headings)"/>
              </a:rPr>
              <a:t>4. </a:t>
            </a:r>
            <a:r>
              <a:rPr lang="ja-JP" altLang="en-US" sz="3200" b="1" dirty="0">
                <a:latin typeface="Calibri (Headings)"/>
              </a:rPr>
              <a:t>拡張型 </a:t>
            </a:r>
            <a:r>
              <a:rPr lang="en-GB" altLang="ja-JP" sz="3200" b="1" dirty="0">
                <a:latin typeface="Calibri (Headings)"/>
              </a:rPr>
              <a:t>The Rails Way </a:t>
            </a:r>
            <a:r>
              <a:rPr lang="ja-JP" altLang="en-US" sz="3200" b="1" dirty="0">
                <a:latin typeface="Calibri (Headings)"/>
              </a:rPr>
              <a:t>の主要構成要素</a:t>
            </a:r>
            <a:r>
              <a:rPr lang="en-GB" altLang="ja-JP" sz="3200" b="1" dirty="0">
                <a:latin typeface="Calibri (Headings)"/>
              </a:rPr>
              <a:t>(</a:t>
            </a:r>
            <a:r>
              <a:rPr lang="ja-JP" altLang="en-US" sz="3200" b="1" dirty="0">
                <a:latin typeface="Calibri (Headings)"/>
              </a:rPr>
              <a:t>多層構造型</a:t>
            </a:r>
            <a:r>
              <a:rPr lang="en-GB" altLang="ja-JP" sz="3200" b="1" dirty="0">
                <a:latin typeface="Calibri (Headings)"/>
              </a:rPr>
              <a:t>)</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0" lvl="1" indent="0">
              <a:buNone/>
            </a:pPr>
            <a:r>
              <a:rPr lang="en-US" altLang="ja-JP" sz="2600" b="1" dirty="0"/>
              <a:t>4-1. </a:t>
            </a:r>
            <a:r>
              <a:rPr lang="ja-JP" altLang="en-US" sz="2600" b="1" dirty="0"/>
              <a:t>プレゼンテーション</a:t>
            </a:r>
            <a:r>
              <a:rPr lang="en-US" altLang="ja-JP" sz="2600" b="1" dirty="0"/>
              <a:t> </a:t>
            </a:r>
            <a:r>
              <a:rPr lang="ja-JP" altLang="en-US" sz="2600" b="1" dirty="0"/>
              <a:t>層</a:t>
            </a:r>
            <a:endParaRPr lang="en-US" altLang="ja-JP" sz="2600" b="1" dirty="0"/>
          </a:p>
          <a:p>
            <a:pPr marL="268288" lvl="1" indent="-268288"/>
            <a:r>
              <a:rPr lang="en-US" altLang="ja-JP" b="1" dirty="0">
                <a:hlinkClick r:id="rId3"/>
              </a:rPr>
              <a:t>View Components</a:t>
            </a:r>
            <a:r>
              <a:rPr lang="en-US" altLang="ja-JP" dirty="0"/>
              <a:t>: </a:t>
            </a:r>
            <a:r>
              <a:rPr lang="ja-JP" altLang="en-US" dirty="0"/>
              <a:t>明確なインターフェース</a:t>
            </a:r>
            <a:endParaRPr lang="en-US" altLang="ja-JP" dirty="0"/>
          </a:p>
          <a:p>
            <a:pPr marL="268288" lvl="1" indent="-268288"/>
            <a:r>
              <a:rPr lang="en-US" altLang="ja-JP" b="1" dirty="0">
                <a:hlinkClick r:id="rId4"/>
              </a:rPr>
              <a:t>Presenters</a:t>
            </a:r>
            <a:r>
              <a:rPr lang="en-US" altLang="ja-JP" dirty="0"/>
              <a:t>: </a:t>
            </a:r>
            <a:r>
              <a:rPr lang="ja-JP" altLang="en-US" dirty="0"/>
              <a:t>コンテキストを意識したフォーマット実行</a:t>
            </a:r>
            <a:endParaRPr lang="en-US" altLang="ja-JP" dirty="0"/>
          </a:p>
          <a:p>
            <a:pPr marL="268288" lvl="1" indent="-268288"/>
            <a:r>
              <a:rPr lang="en-US" altLang="ja-JP" b="1" dirty="0">
                <a:hlinkClick r:id="rId5"/>
              </a:rPr>
              <a:t>Serializers</a:t>
            </a:r>
            <a:r>
              <a:rPr lang="en-US" altLang="ja-JP" dirty="0"/>
              <a:t>: API </a:t>
            </a:r>
            <a:r>
              <a:rPr lang="ja-JP" altLang="en-US" dirty="0"/>
              <a:t>通信、バージョニング</a:t>
            </a:r>
            <a:endParaRPr lang="en-US" altLang="ja-JP" sz="2000" dirty="0"/>
          </a:p>
        </p:txBody>
      </p:sp>
    </p:spTree>
    <p:extLst>
      <p:ext uri="{BB962C8B-B14F-4D97-AF65-F5344CB8AC3E}">
        <p14:creationId xmlns:p14="http://schemas.microsoft.com/office/powerpoint/2010/main" val="3787677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FC4F1148-38B6-CB64-1B96-725B0A8E0A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DB188A-6647-E2D5-81FB-2F88F178A502}"/>
              </a:ext>
            </a:extLst>
          </p:cNvPr>
          <p:cNvSpPr>
            <a:spLocks noGrp="1"/>
          </p:cNvSpPr>
          <p:nvPr>
            <p:ph type="title"/>
          </p:nvPr>
        </p:nvSpPr>
        <p:spPr/>
        <p:txBody>
          <a:bodyPr>
            <a:normAutofit/>
          </a:bodyPr>
          <a:lstStyle/>
          <a:p>
            <a:pPr algn="ctr"/>
            <a:r>
              <a:rPr lang="en-GB" altLang="ja-JP" sz="3200" b="1" dirty="0">
                <a:latin typeface="Calibri (Headings)"/>
              </a:rPr>
              <a:t>4. </a:t>
            </a:r>
            <a:r>
              <a:rPr lang="ja-JP" altLang="en-US" sz="3200" b="1" dirty="0">
                <a:latin typeface="Calibri (Headings)"/>
              </a:rPr>
              <a:t>拡張型 </a:t>
            </a:r>
            <a:r>
              <a:rPr lang="en-GB" altLang="ja-JP" sz="3200" b="1" dirty="0">
                <a:latin typeface="Calibri (Headings)"/>
              </a:rPr>
              <a:t>The Rails Way </a:t>
            </a:r>
            <a:r>
              <a:rPr lang="ja-JP" altLang="en-US" sz="3200" b="1" dirty="0">
                <a:latin typeface="Calibri (Headings)"/>
              </a:rPr>
              <a:t>の主要構成要素</a:t>
            </a:r>
            <a:r>
              <a:rPr lang="en-GB" altLang="ja-JP" sz="3200" b="1" dirty="0">
                <a:latin typeface="Calibri (Headings)"/>
              </a:rPr>
              <a:t>(</a:t>
            </a:r>
            <a:r>
              <a:rPr lang="ja-JP" altLang="en-US" sz="3200" b="1" dirty="0">
                <a:latin typeface="Calibri (Headings)"/>
              </a:rPr>
              <a:t>多層構造型</a:t>
            </a:r>
            <a:r>
              <a:rPr lang="en-GB" altLang="ja-JP" sz="3200" b="1" dirty="0">
                <a:latin typeface="Calibri (Headings)"/>
              </a:rPr>
              <a:t>)</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06E93879-4747-EFB0-EABE-A2A0FF78259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3EF3C92D-5077-DF1D-8000-AE6FF86CE9F1}"/>
              </a:ext>
            </a:extLst>
          </p:cNvPr>
          <p:cNvSpPr>
            <a:spLocks noGrp="1"/>
          </p:cNvSpPr>
          <p:nvPr>
            <p:ph idx="1"/>
          </p:nvPr>
        </p:nvSpPr>
        <p:spPr>
          <a:xfrm>
            <a:off x="838200" y="1825625"/>
            <a:ext cx="10515600" cy="4351338"/>
          </a:xfrm>
        </p:spPr>
        <p:txBody>
          <a:bodyPr>
            <a:normAutofit/>
          </a:bodyPr>
          <a:lstStyle/>
          <a:p>
            <a:pPr marL="0" lvl="1" indent="0">
              <a:buNone/>
            </a:pPr>
            <a:r>
              <a:rPr lang="en-US" altLang="ja-JP" sz="2600" b="1" dirty="0"/>
              <a:t>4-2. </a:t>
            </a:r>
            <a:r>
              <a:rPr lang="ja-JP" altLang="en-US" sz="2600" b="1" dirty="0"/>
              <a:t>アプリケーション</a:t>
            </a:r>
            <a:r>
              <a:rPr lang="en-US" altLang="ja-JP" sz="2600" b="1" dirty="0"/>
              <a:t>/</a:t>
            </a:r>
            <a:r>
              <a:rPr lang="ja-JP" altLang="en-US" sz="2600" b="1" dirty="0"/>
              <a:t>サービス層</a:t>
            </a:r>
            <a:endParaRPr lang="en-US" altLang="ja-JP" sz="2600" b="1" dirty="0"/>
          </a:p>
          <a:p>
            <a:pPr marL="268288" lvl="1" indent="-268288"/>
            <a:r>
              <a:rPr lang="en-US" altLang="ja-JP" b="1" dirty="0">
                <a:hlinkClick r:id="rId3"/>
              </a:rPr>
              <a:t>Service Objects</a:t>
            </a:r>
            <a:r>
              <a:rPr lang="en-US" altLang="ja-JP" dirty="0"/>
              <a:t>:</a:t>
            </a:r>
            <a:r>
              <a:rPr lang="en-US" altLang="ja-JP" b="1" dirty="0"/>
              <a:t> </a:t>
            </a:r>
            <a:r>
              <a:rPr lang="ja-JP" altLang="en-US" dirty="0"/>
              <a:t>単一のビジネス関連の操作</a:t>
            </a:r>
            <a:endParaRPr lang="en-US" altLang="ja-JP" dirty="0"/>
          </a:p>
          <a:p>
            <a:pPr marL="268288" lvl="1" indent="-268288"/>
            <a:r>
              <a:rPr lang="en-US" altLang="ja-JP" b="1" dirty="0">
                <a:hlinkClick r:id="rId4"/>
              </a:rPr>
              <a:t>Form Objects</a:t>
            </a:r>
            <a:r>
              <a:rPr lang="en-US" altLang="ja-JP" dirty="0"/>
              <a:t>:</a:t>
            </a:r>
            <a:r>
              <a:rPr lang="en-US" altLang="ja-JP" b="1" dirty="0"/>
              <a:t> </a:t>
            </a:r>
            <a:r>
              <a:rPr lang="ja-JP" altLang="en-US" dirty="0"/>
              <a:t>複数モデルの操作、コンテキストのバリデーション</a:t>
            </a:r>
            <a:endParaRPr lang="en-US" altLang="ja-JP" dirty="0"/>
          </a:p>
          <a:p>
            <a:pPr marL="268288" lvl="1" indent="-268288"/>
            <a:r>
              <a:rPr lang="en-US" altLang="ja-JP" b="1" dirty="0">
                <a:hlinkClick r:id="rId5"/>
              </a:rPr>
              <a:t>Filter Objects</a:t>
            </a:r>
            <a:r>
              <a:rPr lang="en-US" altLang="ja-JP" dirty="0"/>
              <a:t>:</a:t>
            </a:r>
            <a:r>
              <a:rPr lang="en-US" altLang="ja-JP" b="1" dirty="0"/>
              <a:t> </a:t>
            </a:r>
            <a:r>
              <a:rPr lang="ja-JP" altLang="en-US" dirty="0"/>
              <a:t>ユーザー入力</a:t>
            </a:r>
            <a:endParaRPr lang="en-US" altLang="ja-JP" dirty="0"/>
          </a:p>
        </p:txBody>
      </p:sp>
    </p:spTree>
    <p:extLst>
      <p:ext uri="{BB962C8B-B14F-4D97-AF65-F5344CB8AC3E}">
        <p14:creationId xmlns:p14="http://schemas.microsoft.com/office/powerpoint/2010/main" val="1026905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4C74AD18-45E0-FF38-2BF6-0A7904B86E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F24F33-81C6-365C-F28B-FE688746660C}"/>
              </a:ext>
            </a:extLst>
          </p:cNvPr>
          <p:cNvSpPr>
            <a:spLocks noGrp="1"/>
          </p:cNvSpPr>
          <p:nvPr>
            <p:ph type="title"/>
          </p:nvPr>
        </p:nvSpPr>
        <p:spPr/>
        <p:txBody>
          <a:bodyPr>
            <a:normAutofit/>
          </a:bodyPr>
          <a:lstStyle/>
          <a:p>
            <a:pPr algn="ctr"/>
            <a:r>
              <a:rPr lang="en-GB" altLang="ja-JP" sz="3200" b="1" dirty="0">
                <a:latin typeface="Calibri (Headings)"/>
              </a:rPr>
              <a:t>4. </a:t>
            </a:r>
            <a:r>
              <a:rPr lang="ja-JP" altLang="en-US" sz="3200" b="1" dirty="0">
                <a:latin typeface="Calibri (Headings)"/>
              </a:rPr>
              <a:t>拡張型 </a:t>
            </a:r>
            <a:r>
              <a:rPr lang="en-GB" altLang="ja-JP" sz="3200" b="1" dirty="0">
                <a:latin typeface="Calibri (Headings)"/>
              </a:rPr>
              <a:t>The Rails Way </a:t>
            </a:r>
            <a:r>
              <a:rPr lang="ja-JP" altLang="en-US" sz="3200" b="1" dirty="0">
                <a:latin typeface="Calibri (Headings)"/>
              </a:rPr>
              <a:t>の主要構成要素</a:t>
            </a:r>
            <a:r>
              <a:rPr lang="en-GB" altLang="ja-JP" sz="3200" b="1" dirty="0">
                <a:latin typeface="Calibri (Headings)"/>
              </a:rPr>
              <a:t>(</a:t>
            </a:r>
            <a:r>
              <a:rPr lang="ja-JP" altLang="en-US" sz="3200" b="1" dirty="0">
                <a:latin typeface="Calibri (Headings)"/>
              </a:rPr>
              <a:t>多層構造型</a:t>
            </a:r>
            <a:r>
              <a:rPr lang="en-GB" altLang="ja-JP" sz="3200" b="1" dirty="0">
                <a:latin typeface="Calibri (Headings)"/>
              </a:rPr>
              <a:t>)</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C3B2DD83-1C36-3AD3-3FFD-3A53CB522B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609E5BE1-BF34-BC9A-B958-B7294D29DEF3}"/>
              </a:ext>
            </a:extLst>
          </p:cNvPr>
          <p:cNvSpPr>
            <a:spLocks noGrp="1"/>
          </p:cNvSpPr>
          <p:nvPr>
            <p:ph idx="1"/>
          </p:nvPr>
        </p:nvSpPr>
        <p:spPr>
          <a:xfrm>
            <a:off x="838200" y="1825625"/>
            <a:ext cx="10515600" cy="4351338"/>
          </a:xfrm>
        </p:spPr>
        <p:txBody>
          <a:bodyPr>
            <a:normAutofit/>
          </a:bodyPr>
          <a:lstStyle/>
          <a:p>
            <a:pPr marL="0" lvl="1" indent="0">
              <a:buNone/>
            </a:pPr>
            <a:r>
              <a:rPr lang="en-US" altLang="ja-JP" sz="2600" b="1" dirty="0"/>
              <a:t>4-3. </a:t>
            </a:r>
            <a:r>
              <a:rPr lang="ja-JP" altLang="en-US" sz="2600" b="1" dirty="0"/>
              <a:t>ビジネス</a:t>
            </a:r>
            <a:r>
              <a:rPr lang="en-US" altLang="ja-JP" sz="2600" b="1" dirty="0"/>
              <a:t>/</a:t>
            </a:r>
            <a:r>
              <a:rPr lang="ja-JP" altLang="en-US" sz="2600" b="1" dirty="0"/>
              <a:t>ドメイン層</a:t>
            </a:r>
            <a:endParaRPr lang="en-US" altLang="ja-JP" sz="2600" b="1" dirty="0"/>
          </a:p>
          <a:p>
            <a:pPr marL="268288" lvl="1" indent="-268288"/>
            <a:r>
              <a:rPr lang="en-US" altLang="ja-JP" b="1" dirty="0">
                <a:hlinkClick r:id="rId3"/>
              </a:rPr>
              <a:t>Domain Models</a:t>
            </a:r>
            <a:r>
              <a:rPr lang="en-US" altLang="ja-JP" dirty="0"/>
              <a:t>: </a:t>
            </a:r>
            <a:r>
              <a:rPr lang="ja-JP" altLang="en-US" dirty="0"/>
              <a:t>多様な振舞い、永続処理の実体の消失</a:t>
            </a:r>
            <a:endParaRPr lang="en-US" altLang="ja-JP" dirty="0"/>
          </a:p>
          <a:p>
            <a:pPr marL="268288" lvl="1" indent="-268288"/>
            <a:r>
              <a:rPr lang="en-US" altLang="ja-JP" b="1" dirty="0">
                <a:hlinkClick r:id="rId4"/>
              </a:rPr>
              <a:t>Policy Objects</a:t>
            </a:r>
            <a:r>
              <a:rPr lang="en-US" altLang="ja-JP" dirty="0"/>
              <a:t>:</a:t>
            </a:r>
            <a:r>
              <a:rPr lang="en-US" altLang="ja-JP" b="1" dirty="0"/>
              <a:t> </a:t>
            </a:r>
            <a:r>
              <a:rPr lang="ja-JP" altLang="en-US" dirty="0"/>
              <a:t>認証規則</a:t>
            </a:r>
            <a:endParaRPr lang="en-US" altLang="ja-JP" dirty="0"/>
          </a:p>
          <a:p>
            <a:pPr marL="268288" lvl="1" indent="-268288"/>
            <a:r>
              <a:rPr lang="en-US" altLang="ja-JP" b="1" dirty="0">
                <a:hlinkClick r:id="rId5"/>
              </a:rPr>
              <a:t>Value Objects</a:t>
            </a:r>
            <a:r>
              <a:rPr lang="en-US" altLang="ja-JP" dirty="0"/>
              <a:t>:</a:t>
            </a:r>
            <a:r>
              <a:rPr lang="en-US" altLang="ja-JP" b="1" dirty="0"/>
              <a:t> </a:t>
            </a:r>
            <a:r>
              <a:rPr lang="ja-JP" altLang="en-US" dirty="0"/>
              <a:t>変更不可なドメインの概念</a:t>
            </a:r>
            <a:endParaRPr lang="en-US" altLang="ja-JP" dirty="0"/>
          </a:p>
        </p:txBody>
      </p:sp>
    </p:spTree>
    <p:extLst>
      <p:ext uri="{BB962C8B-B14F-4D97-AF65-F5344CB8AC3E}">
        <p14:creationId xmlns:p14="http://schemas.microsoft.com/office/powerpoint/2010/main" val="633317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B10E3291-566F-4403-464B-41E6FE0B7C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0B5BA6-AD38-43EF-1A11-4E4E3C6DB059}"/>
              </a:ext>
            </a:extLst>
          </p:cNvPr>
          <p:cNvSpPr>
            <a:spLocks noGrp="1"/>
          </p:cNvSpPr>
          <p:nvPr>
            <p:ph type="title"/>
          </p:nvPr>
        </p:nvSpPr>
        <p:spPr/>
        <p:txBody>
          <a:bodyPr>
            <a:normAutofit/>
          </a:bodyPr>
          <a:lstStyle/>
          <a:p>
            <a:pPr algn="ctr"/>
            <a:r>
              <a:rPr lang="en-GB" altLang="ja-JP" sz="3200" b="1" dirty="0">
                <a:latin typeface="Calibri (Headings)"/>
              </a:rPr>
              <a:t>4. </a:t>
            </a:r>
            <a:r>
              <a:rPr lang="ja-JP" altLang="en-US" sz="3200" b="1" dirty="0">
                <a:latin typeface="Calibri (Headings)"/>
              </a:rPr>
              <a:t>拡張型 </a:t>
            </a:r>
            <a:r>
              <a:rPr lang="en-GB" altLang="ja-JP" sz="3200" b="1" dirty="0">
                <a:latin typeface="Calibri (Headings)"/>
              </a:rPr>
              <a:t>The Rails Way </a:t>
            </a:r>
            <a:r>
              <a:rPr lang="ja-JP" altLang="en-US" sz="3200" b="1" dirty="0">
                <a:latin typeface="Calibri (Headings)"/>
              </a:rPr>
              <a:t>の主要構成要素</a:t>
            </a:r>
            <a:r>
              <a:rPr lang="en-GB" altLang="ja-JP" sz="3200" b="1" dirty="0">
                <a:latin typeface="Calibri (Headings)"/>
              </a:rPr>
              <a:t>(</a:t>
            </a:r>
            <a:r>
              <a:rPr lang="ja-JP" altLang="en-US" sz="3200" b="1" dirty="0">
                <a:latin typeface="Calibri (Headings)"/>
              </a:rPr>
              <a:t>多層構造型</a:t>
            </a:r>
            <a:r>
              <a:rPr lang="en-GB" altLang="ja-JP" sz="3200" b="1" dirty="0">
                <a:latin typeface="Calibri (Headings)"/>
              </a:rPr>
              <a:t>)</a:t>
            </a:r>
            <a:endParaRPr lang="en-GB" sz="3200" b="1" dirty="0">
              <a:latin typeface="Calibri (Headings)"/>
            </a:endParaRPr>
          </a:p>
        </p:txBody>
      </p:sp>
      <p:sp>
        <p:nvSpPr>
          <p:cNvPr id="4" name="スライド番号プレースホルダー 3">
            <a:extLst>
              <a:ext uri="{FF2B5EF4-FFF2-40B4-BE49-F238E27FC236}">
                <a16:creationId xmlns:a16="http://schemas.microsoft.com/office/drawing/2014/main" id="{4F5CDC5C-E357-8E66-8F09-CF08329430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87509ED-0892-24C8-BA66-516AECC84EFC}"/>
              </a:ext>
            </a:extLst>
          </p:cNvPr>
          <p:cNvSpPr>
            <a:spLocks noGrp="1"/>
          </p:cNvSpPr>
          <p:nvPr>
            <p:ph idx="1"/>
          </p:nvPr>
        </p:nvSpPr>
        <p:spPr>
          <a:xfrm>
            <a:off x="838200" y="1825625"/>
            <a:ext cx="10515600" cy="4351338"/>
          </a:xfrm>
        </p:spPr>
        <p:txBody>
          <a:bodyPr>
            <a:normAutofit/>
          </a:bodyPr>
          <a:lstStyle/>
          <a:p>
            <a:pPr marL="0" lvl="1" indent="0">
              <a:buNone/>
            </a:pPr>
            <a:r>
              <a:rPr lang="en-US" altLang="ja-JP" sz="2600" b="1" dirty="0"/>
              <a:t>4-4. </a:t>
            </a:r>
            <a:r>
              <a:rPr lang="ja-JP" altLang="en-US" sz="2600" b="1" dirty="0"/>
              <a:t>データ</a:t>
            </a:r>
            <a:r>
              <a:rPr lang="en-US" altLang="ja-JP" sz="2600" b="1" dirty="0"/>
              <a:t>/</a:t>
            </a:r>
            <a:r>
              <a:rPr lang="ja-JP" altLang="en-US" sz="2600" b="1" dirty="0"/>
              <a:t>永続層</a:t>
            </a:r>
            <a:endParaRPr lang="en-US" altLang="ja-JP" sz="2600" b="1" dirty="0"/>
          </a:p>
          <a:p>
            <a:pPr marL="268288" lvl="1" indent="-268288"/>
            <a:r>
              <a:rPr lang="en-US" altLang="ja-JP" b="1" dirty="0">
                <a:hlinkClick r:id="rId3"/>
              </a:rPr>
              <a:t>Repositories</a:t>
            </a:r>
            <a:r>
              <a:rPr lang="en-US" altLang="ja-JP" dirty="0"/>
              <a:t>: </a:t>
            </a:r>
            <a:r>
              <a:rPr lang="ja-JP" altLang="en-US" dirty="0"/>
              <a:t>データ接続</a:t>
            </a:r>
            <a:endParaRPr lang="en-US" altLang="ja-JP" dirty="0"/>
          </a:p>
          <a:p>
            <a:pPr marL="268288" lvl="1" indent="-268288"/>
            <a:r>
              <a:rPr lang="en-US" altLang="ja-JP" b="1" dirty="0">
                <a:hlinkClick r:id="rId4"/>
              </a:rPr>
              <a:t>Query Objects</a:t>
            </a:r>
            <a:r>
              <a:rPr lang="en-US" altLang="ja-JP" dirty="0"/>
              <a:t>: </a:t>
            </a:r>
            <a:r>
              <a:rPr lang="ja-JP" altLang="en-US" dirty="0"/>
              <a:t>再利用可能な複雑なクエリ</a:t>
            </a:r>
            <a:endParaRPr lang="en-US" altLang="ja-JP" dirty="0"/>
          </a:p>
          <a:p>
            <a:pPr marL="268288" lvl="1" indent="-268288"/>
            <a:r>
              <a:rPr lang="en-US" altLang="ja-JP" b="1" dirty="0">
                <a:hlinkClick r:id="rId5"/>
              </a:rPr>
              <a:t>ActiveRecord</a:t>
            </a:r>
            <a:r>
              <a:rPr lang="en-US" altLang="ja-JP" dirty="0"/>
              <a:t>: </a:t>
            </a:r>
            <a:r>
              <a:rPr lang="ja-JP" altLang="en-US" dirty="0"/>
              <a:t>永続処理のみの実装</a:t>
            </a:r>
            <a:endParaRPr lang="en-US" altLang="ja-JP" dirty="0"/>
          </a:p>
        </p:txBody>
      </p:sp>
    </p:spTree>
    <p:extLst>
      <p:ext uri="{BB962C8B-B14F-4D97-AF65-F5344CB8AC3E}">
        <p14:creationId xmlns:p14="http://schemas.microsoft.com/office/powerpoint/2010/main" val="4060895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4F905181-6BFE-D755-ACCE-FCC4FD89E9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162706-7256-C136-892A-0BA44F79DB78}"/>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5. </a:t>
            </a:r>
            <a:r>
              <a:rPr lang="ja-JP" altLang="en-US" b="1" dirty="0">
                <a:latin typeface="Calibri (Headings)"/>
              </a:rPr>
              <a:t>長所・短所</a:t>
            </a:r>
            <a:endParaRPr lang="en-GB" dirty="0">
              <a:latin typeface="Calibri (Headings)"/>
            </a:endParaRPr>
          </a:p>
        </p:txBody>
      </p:sp>
      <p:sp>
        <p:nvSpPr>
          <p:cNvPr id="4" name="スライド番号プレースホルダー 3">
            <a:extLst>
              <a:ext uri="{FF2B5EF4-FFF2-40B4-BE49-F238E27FC236}">
                <a16:creationId xmlns:a16="http://schemas.microsoft.com/office/drawing/2014/main" id="{4D8EBBB5-3CD3-2D8E-FBD9-27FC85B30DA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5113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38DD6C51-166E-B0D3-0C1A-B31E2ACA29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C3D8DD-4700-FF83-147D-3349DEDCCFB3}"/>
              </a:ext>
            </a:extLst>
          </p:cNvPr>
          <p:cNvSpPr>
            <a:spLocks noGrp="1"/>
          </p:cNvSpPr>
          <p:nvPr>
            <p:ph type="title"/>
          </p:nvPr>
        </p:nvSpPr>
        <p:spPr/>
        <p:txBody>
          <a:bodyPr/>
          <a:lstStyle/>
          <a:p>
            <a:pPr algn="ctr"/>
            <a:r>
              <a:rPr lang="en-US" altLang="ja-JP" b="1" dirty="0">
                <a:latin typeface="Calibri (Headings)"/>
              </a:rPr>
              <a:t>5. </a:t>
            </a:r>
            <a:r>
              <a:rPr lang="ja-JP" altLang="en-US" b="1" dirty="0">
                <a:latin typeface="Calibri (Headings)"/>
              </a:rPr>
              <a:t>長所・短所</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684BB04-89DC-2351-6D33-AAFCD2363E2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E38D3048-2D8A-0286-074C-EA6EEA63D5CE}"/>
              </a:ext>
            </a:extLst>
          </p:cNvPr>
          <p:cNvSpPr>
            <a:spLocks noGrp="1"/>
          </p:cNvSpPr>
          <p:nvPr>
            <p:ph idx="1"/>
          </p:nvPr>
        </p:nvSpPr>
        <p:spPr>
          <a:xfrm>
            <a:off x="838200" y="1825625"/>
            <a:ext cx="10515600" cy="4351338"/>
          </a:xfrm>
        </p:spPr>
        <p:txBody>
          <a:bodyPr>
            <a:normAutofit/>
          </a:bodyPr>
          <a:lstStyle/>
          <a:p>
            <a:pPr marL="0" lvl="1" indent="0">
              <a:buNone/>
            </a:pPr>
            <a:r>
              <a:rPr lang="ja-JP" altLang="en-US" sz="2600" b="1" dirty="0"/>
              <a:t>従来の </a:t>
            </a:r>
            <a:r>
              <a:rPr lang="en-US" altLang="ja-JP" sz="2600" b="1" dirty="0"/>
              <a:t>MVC </a:t>
            </a:r>
            <a:r>
              <a:rPr lang="ja-JP" altLang="en-US" sz="2600" b="1" dirty="0"/>
              <a:t>アーキテクチャー</a:t>
            </a:r>
            <a:endParaRPr lang="en-US" altLang="ja-JP" sz="2600" b="1" dirty="0"/>
          </a:p>
          <a:p>
            <a:pPr marL="268288" lvl="1" indent="-268288">
              <a:tabLst>
                <a:tab pos="268288" algn="l"/>
              </a:tabLst>
            </a:pPr>
            <a:r>
              <a:rPr lang="ja-JP" altLang="en-GB" dirty="0"/>
              <a:t>👍</a:t>
            </a:r>
            <a:r>
              <a:rPr lang="ja-JP" altLang="en-US" b="1" dirty="0"/>
              <a:t>高速な開発</a:t>
            </a:r>
            <a:r>
              <a:rPr lang="en-GB" altLang="ja-JP" dirty="0"/>
              <a:t>: </a:t>
            </a:r>
            <a:r>
              <a:rPr lang="ja-JP" altLang="en-US" dirty="0"/>
              <a:t>組込みコマンドやジェネレーターの利便性</a:t>
            </a:r>
            <a:endParaRPr lang="en-GB" altLang="ja-JP" dirty="0"/>
          </a:p>
          <a:p>
            <a:pPr marL="268288" lvl="1" indent="-268288">
              <a:tabLst>
                <a:tab pos="268288" algn="l"/>
              </a:tabLst>
            </a:pPr>
            <a:r>
              <a:rPr lang="ja-JP" altLang="en-GB" dirty="0"/>
              <a:t>👍</a:t>
            </a:r>
            <a:r>
              <a:rPr lang="ja-JP" altLang="en-US" b="1" dirty="0"/>
              <a:t>設定より規約</a:t>
            </a:r>
            <a:r>
              <a:rPr lang="en-GB" altLang="ja-JP" dirty="0"/>
              <a:t>: </a:t>
            </a:r>
            <a:r>
              <a:rPr lang="ja-JP" altLang="en-US" dirty="0"/>
              <a:t>余計な設定ファイル要らずの高い生産性への注力</a:t>
            </a:r>
            <a:endParaRPr lang="en-GB" altLang="ja-JP" dirty="0"/>
          </a:p>
          <a:p>
            <a:pPr marL="268288" lvl="1" indent="-268288">
              <a:tabLst>
                <a:tab pos="268288" algn="l"/>
              </a:tabLst>
            </a:pPr>
            <a:r>
              <a:rPr lang="ja-JP" altLang="en-GB" dirty="0"/>
              <a:t>👍</a:t>
            </a:r>
            <a:r>
              <a:rPr lang="en-GB" altLang="ja-JP" b="1" dirty="0"/>
              <a:t>Gem </a:t>
            </a:r>
            <a:r>
              <a:rPr lang="ja-JP" altLang="en-US" b="1" dirty="0"/>
              <a:t>の豊かなエコシステム</a:t>
            </a:r>
            <a:r>
              <a:rPr lang="en-GB" altLang="ja-JP" dirty="0"/>
              <a:t>: </a:t>
            </a:r>
            <a:r>
              <a:rPr lang="ja-JP" altLang="en-US" dirty="0">
                <a:hlinkClick r:id="rId3"/>
              </a:rPr>
              <a:t>中核業務</a:t>
            </a:r>
            <a:r>
              <a:rPr lang="en-GB" altLang="ja-JP" dirty="0"/>
              <a:t> </a:t>
            </a:r>
            <a:r>
              <a:rPr lang="ja-JP" altLang="en-US" dirty="0"/>
              <a:t>に最大限注力</a:t>
            </a:r>
            <a:endParaRPr lang="en-GB" altLang="ja-JP" dirty="0"/>
          </a:p>
          <a:p>
            <a:pPr marL="268288" lvl="1" indent="-268288">
              <a:tabLst>
                <a:tab pos="268288" algn="l"/>
              </a:tabLst>
            </a:pPr>
            <a:r>
              <a:rPr lang="ja-JP" altLang="en-GB" dirty="0"/>
              <a:t>👍</a:t>
            </a:r>
            <a:r>
              <a:rPr lang="ja-JP" altLang="en-US" b="1" dirty="0"/>
              <a:t>豊富な資源</a:t>
            </a:r>
            <a:r>
              <a:rPr lang="en-GB" altLang="ja-JP" dirty="0"/>
              <a:t>: </a:t>
            </a:r>
            <a:r>
              <a:rPr lang="ja-JP" altLang="en-US" dirty="0"/>
              <a:t>サポート熱心な大きなコミュニティからの助力、ドキュメント、チュートリアルやその他情報源へのアクセスの良さ</a:t>
            </a:r>
            <a:endParaRPr lang="en-GB" altLang="ja-JP" dirty="0"/>
          </a:p>
          <a:p>
            <a:pPr marL="268288" lvl="1" indent="-268288">
              <a:tabLst>
                <a:tab pos="268288" algn="l"/>
              </a:tabLst>
            </a:pPr>
            <a:r>
              <a:rPr lang="ja-JP" altLang="en-GB" dirty="0"/>
              <a:t>👍</a:t>
            </a:r>
            <a:r>
              <a:rPr lang="ja-JP" altLang="en-US" b="1" dirty="0"/>
              <a:t>組込みのセキュリティ関連機能</a:t>
            </a:r>
            <a:r>
              <a:rPr lang="en-GB" altLang="ja-JP" dirty="0"/>
              <a:t>: </a:t>
            </a:r>
            <a:r>
              <a:rPr lang="en-GB" altLang="ja-JP" i="1" dirty="0"/>
              <a:t>XSS</a:t>
            </a:r>
            <a:r>
              <a:rPr lang="en-GB" altLang="ja-JP" dirty="0"/>
              <a:t>, </a:t>
            </a:r>
            <a:r>
              <a:rPr lang="en-GB" altLang="ja-JP" i="1" dirty="0"/>
              <a:t>CSRF</a:t>
            </a:r>
            <a:r>
              <a:rPr lang="en-GB" altLang="ja-JP" dirty="0"/>
              <a:t>, and </a:t>
            </a:r>
            <a:r>
              <a:rPr lang="en-GB" altLang="ja-JP" i="1" dirty="0"/>
              <a:t>SQL injection </a:t>
            </a:r>
            <a:r>
              <a:rPr lang="ja-JP" altLang="en-US" dirty="0"/>
              <a:t>のようなウェブの脆弱性対応</a:t>
            </a:r>
            <a:endParaRPr lang="en-GB" altLang="ja-JP" i="1" dirty="0"/>
          </a:p>
          <a:p>
            <a:pPr marL="268288" lvl="1" indent="-268288">
              <a:tabLst>
                <a:tab pos="268288" algn="l"/>
              </a:tabLst>
            </a:pPr>
            <a:r>
              <a:rPr lang="ja-JP" altLang="en-GB" dirty="0"/>
              <a:t>👍</a:t>
            </a:r>
            <a:r>
              <a:rPr lang="ja-JP" altLang="en-US" b="1" dirty="0"/>
              <a:t>最善策の提供</a:t>
            </a:r>
            <a:r>
              <a:rPr lang="en-GB" altLang="ja-JP" dirty="0"/>
              <a:t>: </a:t>
            </a:r>
            <a:r>
              <a:rPr lang="ja-JP" altLang="en-US" dirty="0"/>
              <a:t>コードの保守性と信頼性の担保</a:t>
            </a:r>
            <a:endParaRPr lang="en-GB" altLang="ja-JP" dirty="0"/>
          </a:p>
          <a:p>
            <a:pPr marL="268288" lvl="1" indent="-268288">
              <a:tabLst>
                <a:tab pos="268288" algn="l"/>
              </a:tabLst>
            </a:pPr>
            <a:r>
              <a:rPr lang="ja-JP" altLang="en-GB" dirty="0"/>
              <a:t>👍</a:t>
            </a:r>
            <a:r>
              <a:rPr lang="ja-JP" altLang="en-US" b="1" dirty="0"/>
              <a:t>プログラマの喜び</a:t>
            </a:r>
            <a:r>
              <a:rPr lang="en-GB" altLang="ja-JP" dirty="0"/>
              <a:t>: </a:t>
            </a:r>
            <a:r>
              <a:rPr lang="ja-JP" altLang="en-US" dirty="0"/>
              <a:t>「好きこそものの上手なれ」</a:t>
            </a:r>
            <a:endParaRPr lang="en-US" altLang="ja-JP" dirty="0"/>
          </a:p>
        </p:txBody>
      </p:sp>
      <p:sp>
        <p:nvSpPr>
          <p:cNvPr id="3" name="Rectangle 2">
            <a:extLst>
              <a:ext uri="{FF2B5EF4-FFF2-40B4-BE49-F238E27FC236}">
                <a16:creationId xmlns:a16="http://schemas.microsoft.com/office/drawing/2014/main" id="{C6DBE737-8251-CDFE-CD75-2934FCC8EFCA}"/>
              </a:ext>
            </a:extLst>
          </p:cNvPr>
          <p:cNvSpPr/>
          <p:nvPr/>
        </p:nvSpPr>
        <p:spPr>
          <a:xfrm>
            <a:off x="838200" y="2662910"/>
            <a:ext cx="10515597" cy="3613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BBAA35B4-FF13-EF28-9755-B254A8A9A31E}"/>
              </a:ext>
            </a:extLst>
          </p:cNvPr>
          <p:cNvSpPr/>
          <p:nvPr/>
        </p:nvSpPr>
        <p:spPr>
          <a:xfrm>
            <a:off x="841913" y="5241073"/>
            <a:ext cx="10515597" cy="4054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D19A3E1-3F84-71D1-3EB7-339F6D69861A}"/>
              </a:ext>
            </a:extLst>
          </p:cNvPr>
          <p:cNvSpPr/>
          <p:nvPr/>
        </p:nvSpPr>
        <p:spPr>
          <a:xfrm>
            <a:off x="834490" y="3395171"/>
            <a:ext cx="10515597" cy="726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6489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135AF448-1FFE-3498-B96E-0B475A9FE3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FFFB7B-D30E-4F4D-548D-5EC24B24B0B8}"/>
              </a:ext>
            </a:extLst>
          </p:cNvPr>
          <p:cNvSpPr>
            <a:spLocks noGrp="1"/>
          </p:cNvSpPr>
          <p:nvPr>
            <p:ph type="title"/>
          </p:nvPr>
        </p:nvSpPr>
        <p:spPr/>
        <p:txBody>
          <a:bodyPr/>
          <a:lstStyle/>
          <a:p>
            <a:pPr algn="ctr"/>
            <a:r>
              <a:rPr lang="en-US" altLang="ja-JP" b="1" dirty="0">
                <a:latin typeface="Calibri (Headings)"/>
              </a:rPr>
              <a:t>5. </a:t>
            </a:r>
            <a:r>
              <a:rPr lang="ja-JP" altLang="en-US" b="1" dirty="0">
                <a:latin typeface="Calibri (Headings)"/>
              </a:rPr>
              <a:t>長所・短所</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B5742247-ACF8-BF6A-C280-31DFA08495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24656D38-0711-9A0A-3C2A-F43DBDC54915}"/>
              </a:ext>
            </a:extLst>
          </p:cNvPr>
          <p:cNvSpPr>
            <a:spLocks noGrp="1"/>
          </p:cNvSpPr>
          <p:nvPr>
            <p:ph idx="1"/>
          </p:nvPr>
        </p:nvSpPr>
        <p:spPr>
          <a:xfrm>
            <a:off x="838200" y="1825625"/>
            <a:ext cx="10515600" cy="4351338"/>
          </a:xfrm>
        </p:spPr>
        <p:txBody>
          <a:bodyPr>
            <a:normAutofit lnSpcReduction="10000"/>
          </a:bodyPr>
          <a:lstStyle/>
          <a:p>
            <a:pPr marL="0" lvl="1" indent="0">
              <a:buNone/>
            </a:pPr>
            <a:r>
              <a:rPr lang="ja-JP" altLang="en-US" sz="2600" b="1" dirty="0"/>
              <a:t>従来の </a:t>
            </a:r>
            <a:r>
              <a:rPr lang="en-US" altLang="ja-JP" sz="2600" b="1" dirty="0"/>
              <a:t>MVC </a:t>
            </a:r>
            <a:r>
              <a:rPr lang="ja-JP" altLang="en-US" sz="2600" b="1" dirty="0"/>
              <a:t>アーキテクチャー</a:t>
            </a:r>
            <a:endParaRPr lang="en-US" altLang="ja-JP" sz="2600" b="1" dirty="0"/>
          </a:p>
          <a:p>
            <a:pPr marL="268288" lvl="1" indent="-268288">
              <a:tabLst>
                <a:tab pos="268288" algn="l"/>
              </a:tabLst>
            </a:pPr>
            <a:r>
              <a:rPr lang="ja-JP" altLang="en-GB" dirty="0"/>
              <a:t>👎</a:t>
            </a:r>
            <a:r>
              <a:rPr lang="ja-JP" altLang="en-US" b="1" dirty="0"/>
              <a:t>初学者にとっての険しい学習曲線</a:t>
            </a:r>
            <a:r>
              <a:rPr lang="en-GB" altLang="ja-JP" dirty="0"/>
              <a:t>: </a:t>
            </a:r>
            <a:r>
              <a:rPr lang="ja-JP" altLang="en-US" dirty="0"/>
              <a:t>「魔法」のメカニズムを知る必要がある</a:t>
            </a:r>
            <a:endParaRPr lang="en-GB" altLang="ja-JP" dirty="0"/>
          </a:p>
          <a:p>
            <a:pPr marL="268288" lvl="1" indent="-268288">
              <a:tabLst>
                <a:tab pos="268288" algn="l"/>
              </a:tabLst>
            </a:pPr>
            <a:r>
              <a:rPr lang="ja-JP" altLang="en-GB" dirty="0"/>
              <a:t>👎</a:t>
            </a:r>
            <a:r>
              <a:rPr lang="ja-JP" altLang="en-US" b="1" dirty="0"/>
              <a:t>大規模開発における柔軟性</a:t>
            </a:r>
            <a:r>
              <a:rPr lang="en-GB" altLang="ja-JP" dirty="0"/>
              <a:t>: </a:t>
            </a:r>
            <a:r>
              <a:rPr lang="ja-JP" altLang="en-US" dirty="0"/>
              <a:t>拡張型</a:t>
            </a:r>
            <a:r>
              <a:rPr lang="en-GB" altLang="ja-JP" dirty="0"/>
              <a:t> "The Rails Way" </a:t>
            </a:r>
            <a:r>
              <a:rPr lang="ja-JP" altLang="en-US" dirty="0"/>
              <a:t>の最適解を見つけるのが難しい</a:t>
            </a:r>
            <a:endParaRPr lang="en-GB" altLang="ja-JP" dirty="0"/>
          </a:p>
          <a:p>
            <a:pPr marL="268288" lvl="1" indent="-268288">
              <a:tabLst>
                <a:tab pos="268288" algn="l"/>
              </a:tabLst>
            </a:pPr>
            <a:r>
              <a:rPr lang="ja-JP" altLang="en-GB" dirty="0"/>
              <a:t>👎</a:t>
            </a:r>
            <a:r>
              <a:rPr lang="ja-JP" altLang="en-US" b="1" dirty="0"/>
              <a:t>大規模開発におけるパフォーマンス</a:t>
            </a:r>
            <a:r>
              <a:rPr lang="en-GB" altLang="ja-JP" dirty="0"/>
              <a:t>: </a:t>
            </a:r>
            <a:r>
              <a:rPr lang="ja-JP" altLang="en-US" dirty="0"/>
              <a:t>優れた並列処理やレスポンスの遅延の少なさでは最適な選択ではない</a:t>
            </a:r>
            <a:endParaRPr lang="en-GB" altLang="ja-JP" dirty="0"/>
          </a:p>
          <a:p>
            <a:pPr marL="268288" lvl="1" indent="-268288">
              <a:tabLst>
                <a:tab pos="268288" algn="l"/>
              </a:tabLst>
            </a:pPr>
            <a:r>
              <a:rPr lang="ja-JP" altLang="en-GB" dirty="0"/>
              <a:t>👎</a:t>
            </a:r>
            <a:r>
              <a:rPr lang="ja-JP" altLang="en-US" b="1" dirty="0"/>
              <a:t>デプロイ作業の複雑さ</a:t>
            </a:r>
            <a:r>
              <a:rPr lang="en-GB" altLang="ja-JP" dirty="0"/>
              <a:t>: </a:t>
            </a:r>
            <a:r>
              <a:rPr lang="ja-JP" altLang="en-US" dirty="0"/>
              <a:t>アセットプリコンパイルやデータベースマイグレーション、非同期ジョブなど</a:t>
            </a:r>
            <a:r>
              <a:rPr lang="en-GB" altLang="ja-JP" dirty="0"/>
              <a:t> DevOps </a:t>
            </a:r>
            <a:r>
              <a:rPr lang="ja-JP" altLang="en-US" dirty="0"/>
              <a:t>の知見を必要とするコンポーネントの管理</a:t>
            </a:r>
            <a:endParaRPr lang="en-GB" altLang="ja-JP" dirty="0"/>
          </a:p>
          <a:p>
            <a:pPr marL="268288" lvl="1" indent="-268288">
              <a:tabLst>
                <a:tab pos="268288" algn="l"/>
              </a:tabLst>
            </a:pPr>
            <a:r>
              <a:rPr lang="ja-JP" altLang="en-GB" dirty="0"/>
              <a:t>👎</a:t>
            </a:r>
            <a:r>
              <a:rPr lang="ja-JP" altLang="en-US" b="1" dirty="0"/>
              <a:t>実行中の処理の実態</a:t>
            </a:r>
            <a:r>
              <a:rPr lang="en-GB" altLang="ja-JP" dirty="0"/>
              <a:t>: </a:t>
            </a:r>
            <a:r>
              <a:rPr lang="ja-JP" altLang="en-US" dirty="0"/>
              <a:t>難解なメカニズムによるデバッグやカスタマイズ体験の悪化</a:t>
            </a:r>
            <a:endParaRPr lang="en-US" altLang="ja-JP" dirty="0"/>
          </a:p>
        </p:txBody>
      </p:sp>
      <p:sp>
        <p:nvSpPr>
          <p:cNvPr id="3" name="Rectangle 2">
            <a:extLst>
              <a:ext uri="{FF2B5EF4-FFF2-40B4-BE49-F238E27FC236}">
                <a16:creationId xmlns:a16="http://schemas.microsoft.com/office/drawing/2014/main" id="{EA51FA72-E14A-9125-F310-02EF26473499}"/>
              </a:ext>
            </a:extLst>
          </p:cNvPr>
          <p:cNvSpPr/>
          <p:nvPr/>
        </p:nvSpPr>
        <p:spPr>
          <a:xfrm>
            <a:off x="838200" y="2814568"/>
            <a:ext cx="10515597" cy="6646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7179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63AE1AB9-C80F-63DC-ACEB-58CB3C9F32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543655-BEEF-9469-1055-9A87CF6EC9E6}"/>
              </a:ext>
            </a:extLst>
          </p:cNvPr>
          <p:cNvSpPr>
            <a:spLocks noGrp="1"/>
          </p:cNvSpPr>
          <p:nvPr>
            <p:ph type="title"/>
          </p:nvPr>
        </p:nvSpPr>
        <p:spPr/>
        <p:txBody>
          <a:bodyPr/>
          <a:lstStyle/>
          <a:p>
            <a:pPr algn="ctr"/>
            <a:r>
              <a:rPr lang="en-US" altLang="ja-JP" b="1" dirty="0">
                <a:latin typeface="Calibri (Headings)"/>
              </a:rPr>
              <a:t>5. </a:t>
            </a:r>
            <a:r>
              <a:rPr lang="ja-JP" altLang="en-US" b="1" dirty="0">
                <a:latin typeface="Calibri (Headings)"/>
              </a:rPr>
              <a:t>長所・短所</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C01750E7-7A53-5AD2-4D8E-A332B44DC8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873DC25E-81D5-8ADA-7098-E767C9FDC730}"/>
              </a:ext>
            </a:extLst>
          </p:cNvPr>
          <p:cNvSpPr>
            <a:spLocks noGrp="1"/>
          </p:cNvSpPr>
          <p:nvPr>
            <p:ph idx="1"/>
          </p:nvPr>
        </p:nvSpPr>
        <p:spPr>
          <a:xfrm>
            <a:off x="838200" y="1825625"/>
            <a:ext cx="10515600" cy="4351338"/>
          </a:xfrm>
        </p:spPr>
        <p:txBody>
          <a:bodyPr>
            <a:normAutofit lnSpcReduction="10000"/>
          </a:bodyPr>
          <a:lstStyle/>
          <a:p>
            <a:pPr marL="0" lvl="1" indent="0">
              <a:buNone/>
            </a:pPr>
            <a:r>
              <a:rPr lang="ja-JP" altLang="en-US" sz="2600" b="1" dirty="0"/>
              <a:t>拡張</a:t>
            </a:r>
            <a:r>
              <a:rPr lang="en-US" altLang="ja-JP" sz="2600" b="1" dirty="0"/>
              <a:t>/</a:t>
            </a:r>
            <a:r>
              <a:rPr lang="ja-JP" altLang="en-US" sz="2600" b="1" dirty="0"/>
              <a:t>多層構造型</a:t>
            </a:r>
            <a:r>
              <a:rPr lang="en-US" altLang="ja-JP" sz="2600" b="1" dirty="0"/>
              <a:t> </a:t>
            </a:r>
            <a:r>
              <a:rPr lang="ja-JP" altLang="en-US" sz="2600" b="1" dirty="0"/>
              <a:t>アーキテクチャー</a:t>
            </a:r>
            <a:endParaRPr lang="en-US" altLang="ja-JP" sz="2600" dirty="0"/>
          </a:p>
          <a:p>
            <a:pPr marL="268288" lvl="1" indent="-268288">
              <a:tabLst>
                <a:tab pos="268288" algn="l"/>
              </a:tabLst>
            </a:pPr>
            <a:r>
              <a:rPr lang="ja-JP" altLang="en-GB" dirty="0"/>
              <a:t>👍</a:t>
            </a:r>
            <a:r>
              <a:rPr lang="ja-JP" altLang="en-US" b="1" dirty="0"/>
              <a:t>保守性</a:t>
            </a:r>
            <a:r>
              <a:rPr lang="en-US" altLang="ja-JP" dirty="0"/>
              <a:t>: </a:t>
            </a:r>
            <a:r>
              <a:rPr lang="ja-JP" altLang="en-US" dirty="0"/>
              <a:t>分かりやすい分割単位、コードの特定のし易さ</a:t>
            </a:r>
            <a:endParaRPr lang="en-US" altLang="ja-JP" dirty="0"/>
          </a:p>
          <a:p>
            <a:pPr marL="268288" lvl="1" indent="-268288">
              <a:tabLst>
                <a:tab pos="268288" algn="l"/>
              </a:tabLst>
            </a:pPr>
            <a:r>
              <a:rPr lang="ja-JP" altLang="en-GB" dirty="0"/>
              <a:t>👍</a:t>
            </a:r>
            <a:r>
              <a:rPr lang="ja-JP" altLang="en-US" b="1" dirty="0"/>
              <a:t>テスト容易性</a:t>
            </a:r>
            <a:r>
              <a:rPr lang="en-US" altLang="ja-JP" dirty="0"/>
              <a:t>: </a:t>
            </a:r>
            <a:r>
              <a:rPr lang="ja-JP" altLang="en-US" dirty="0"/>
              <a:t>分離された層、フレームワークの疎結合</a:t>
            </a:r>
            <a:endParaRPr lang="en-US" altLang="ja-JP" dirty="0"/>
          </a:p>
          <a:p>
            <a:pPr marL="268288" lvl="1" indent="-268288">
              <a:tabLst>
                <a:tab pos="268288" algn="l"/>
              </a:tabLst>
            </a:pPr>
            <a:r>
              <a:rPr lang="ja-JP" altLang="en-GB" dirty="0"/>
              <a:t>👍</a:t>
            </a:r>
            <a:r>
              <a:rPr lang="ja-JP" altLang="en-US" b="1" dirty="0"/>
              <a:t>拡張性</a:t>
            </a:r>
            <a:r>
              <a:rPr lang="en-US" altLang="ja-JP" dirty="0"/>
              <a:t>: </a:t>
            </a:r>
            <a:r>
              <a:rPr lang="ja-JP" altLang="en-US" dirty="0"/>
              <a:t>線形成長、独立層</a:t>
            </a:r>
            <a:endParaRPr lang="en-US" altLang="ja-JP" dirty="0"/>
          </a:p>
          <a:p>
            <a:pPr marL="268288" lvl="1" indent="-268288">
              <a:tabLst>
                <a:tab pos="268288" algn="l"/>
              </a:tabLst>
            </a:pPr>
            <a:r>
              <a:rPr lang="ja-JP" altLang="en-GB" dirty="0"/>
              <a:t>👍</a:t>
            </a:r>
            <a:r>
              <a:rPr lang="ja-JP" altLang="en-US" b="1" dirty="0"/>
              <a:t>柔軟性</a:t>
            </a:r>
            <a:r>
              <a:rPr lang="en-US" altLang="ja-JP" dirty="0"/>
              <a:t>: </a:t>
            </a:r>
            <a:r>
              <a:rPr lang="ja-JP" altLang="en-US" dirty="0"/>
              <a:t>実装の入替え、コンテキストに即した振舞い</a:t>
            </a:r>
            <a:endParaRPr lang="en-US" altLang="ja-JP" dirty="0"/>
          </a:p>
          <a:p>
            <a:pPr marL="268288" lvl="1" indent="-268288">
              <a:tabLst>
                <a:tab pos="268288" algn="l"/>
              </a:tabLst>
            </a:pPr>
            <a:r>
              <a:rPr lang="ja-JP" altLang="en-GB" dirty="0"/>
              <a:t>👍</a:t>
            </a:r>
            <a:r>
              <a:rPr lang="ja-JP" altLang="en-US" b="1" dirty="0"/>
              <a:t>明晰さ</a:t>
            </a:r>
            <a:r>
              <a:rPr lang="en-US" altLang="ja-JP" dirty="0"/>
              <a:t>: </a:t>
            </a:r>
            <a:r>
              <a:rPr lang="ja-JP" altLang="en-US" dirty="0"/>
              <a:t>コードがビジネスロジックの仕様書</a:t>
            </a:r>
            <a:endParaRPr lang="en-US" altLang="ja-JP" dirty="0"/>
          </a:p>
          <a:p>
            <a:pPr marL="268288" lvl="1" indent="-268288">
              <a:tabLst>
                <a:tab pos="268288" algn="l"/>
              </a:tabLst>
            </a:pPr>
            <a:r>
              <a:rPr lang="ja-JP" altLang="en-GB" dirty="0"/>
              <a:t>👎</a:t>
            </a:r>
            <a:r>
              <a:rPr lang="ja-JP" altLang="en-US" b="1" dirty="0"/>
              <a:t>初手の複雑さ</a:t>
            </a:r>
            <a:r>
              <a:rPr lang="en-US" altLang="ja-JP" dirty="0"/>
              <a:t>: </a:t>
            </a:r>
            <a:r>
              <a:rPr lang="ja-JP" altLang="en-US" dirty="0"/>
              <a:t>数多のファイル、前倒しの設計、険しい学習曲線</a:t>
            </a:r>
            <a:endParaRPr lang="en-US" altLang="ja-JP" dirty="0"/>
          </a:p>
          <a:p>
            <a:pPr marL="268288" lvl="1" indent="-268288">
              <a:tabLst>
                <a:tab pos="268288" algn="l"/>
              </a:tabLst>
            </a:pPr>
            <a:r>
              <a:rPr lang="ja-JP" altLang="en-GB" dirty="0"/>
              <a:t>👎</a:t>
            </a:r>
            <a:r>
              <a:rPr lang="ja-JP" altLang="en-US" b="1" dirty="0"/>
              <a:t>遅い立上り</a:t>
            </a:r>
            <a:r>
              <a:rPr lang="en-US" altLang="ja-JP" dirty="0"/>
              <a:t>: scaffold</a:t>
            </a:r>
            <a:r>
              <a:rPr lang="en-GB" altLang="ja-JP" dirty="0"/>
              <a:t> </a:t>
            </a:r>
            <a:r>
              <a:rPr lang="ja-JP" altLang="en-US" dirty="0"/>
              <a:t>のサポートなし、単純機能のオーバーヘッド</a:t>
            </a:r>
            <a:endParaRPr lang="en-US" altLang="ja-JP" dirty="0"/>
          </a:p>
          <a:p>
            <a:pPr marL="268288" lvl="1" indent="-268288">
              <a:tabLst>
                <a:tab pos="268288" algn="l"/>
              </a:tabLst>
            </a:pPr>
            <a:r>
              <a:rPr lang="ja-JP" altLang="en-GB" dirty="0"/>
              <a:t>👎</a:t>
            </a:r>
            <a:r>
              <a:rPr lang="ja-JP" altLang="en-US" b="1" dirty="0"/>
              <a:t>チームの共通認識</a:t>
            </a:r>
            <a:r>
              <a:rPr lang="en-US" altLang="ja-JP" dirty="0"/>
              <a:t>: </a:t>
            </a:r>
            <a:r>
              <a:rPr lang="ja-JP" altLang="en-US" dirty="0"/>
              <a:t>全員の例外なき設計パターンへの合意が必要</a:t>
            </a:r>
            <a:endParaRPr lang="en-US" altLang="ja-JP" dirty="0"/>
          </a:p>
          <a:p>
            <a:pPr marL="268288" lvl="1" indent="-268288">
              <a:tabLst>
                <a:tab pos="268288" algn="l"/>
              </a:tabLst>
            </a:pPr>
            <a:r>
              <a:rPr lang="ja-JP" altLang="en-GB" dirty="0"/>
              <a:t>👎</a:t>
            </a:r>
            <a:r>
              <a:rPr lang="ja-JP" altLang="en-US" b="1" dirty="0"/>
              <a:t>デバッグ</a:t>
            </a:r>
            <a:r>
              <a:rPr lang="en-US" altLang="ja-JP" dirty="0"/>
              <a:t>: </a:t>
            </a:r>
            <a:r>
              <a:rPr lang="ja-JP" altLang="en-US" dirty="0"/>
              <a:t>スタックとレースの肥大化、経路の複雑化</a:t>
            </a:r>
            <a:endParaRPr lang="en-US" altLang="ja-JP" dirty="0"/>
          </a:p>
          <a:p>
            <a:pPr marL="268288" lvl="1" indent="-268288">
              <a:tabLst>
                <a:tab pos="268288" algn="l"/>
              </a:tabLst>
            </a:pPr>
            <a:r>
              <a:rPr lang="ja-JP" altLang="en-GB" dirty="0"/>
              <a:t>👎</a:t>
            </a:r>
            <a:r>
              <a:rPr lang="ja-JP" altLang="en-US" b="1" dirty="0"/>
              <a:t>移行コスト</a:t>
            </a:r>
            <a:r>
              <a:rPr lang="en-US" altLang="ja-JP" dirty="0"/>
              <a:t>: </a:t>
            </a:r>
            <a:r>
              <a:rPr lang="ja-JP" altLang="en-US" dirty="0"/>
              <a:t>既存アプリの継続的なリファクタリング労力</a:t>
            </a:r>
            <a:endParaRPr lang="en-US" altLang="ja-JP" dirty="0"/>
          </a:p>
        </p:txBody>
      </p:sp>
      <p:sp>
        <p:nvSpPr>
          <p:cNvPr id="3" name="Rectangle 2">
            <a:extLst>
              <a:ext uri="{FF2B5EF4-FFF2-40B4-BE49-F238E27FC236}">
                <a16:creationId xmlns:a16="http://schemas.microsoft.com/office/drawing/2014/main" id="{03AADA44-8693-AD22-DA4C-E277CF8D990A}"/>
              </a:ext>
            </a:extLst>
          </p:cNvPr>
          <p:cNvSpPr/>
          <p:nvPr/>
        </p:nvSpPr>
        <p:spPr>
          <a:xfrm>
            <a:off x="838203" y="2538018"/>
            <a:ext cx="10515597" cy="3389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3409A08-39E2-A3BC-BC0C-97BE90EE0EFC}"/>
              </a:ext>
            </a:extLst>
          </p:cNvPr>
          <p:cNvSpPr/>
          <p:nvPr/>
        </p:nvSpPr>
        <p:spPr>
          <a:xfrm>
            <a:off x="830022" y="5393472"/>
            <a:ext cx="10515597" cy="4054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3036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4300973E-3E90-515F-410C-0E15B73914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793663-3797-FB04-43E2-40EEABD1F93B}"/>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6. </a:t>
            </a:r>
            <a:r>
              <a:rPr lang="ja-JP" altLang="en-US" b="1" dirty="0">
                <a:latin typeface="Calibri (Headings)"/>
              </a:rPr>
              <a:t>漸進的な多層構造の取入れ戦略</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C47DE28D-6383-95BD-D0A1-886A05A0EC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4041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611A4EC0-B956-DACA-5787-4AA39C21E6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AB6AED-1F91-7770-6767-5834D083EC0B}"/>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漸進的な多層構造の取入れ戦略</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82F09989-D61B-BC55-FACA-F6E324F3C6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41F91B69-5054-868A-DB70-2E8919343AF1}"/>
              </a:ext>
            </a:extLst>
          </p:cNvPr>
          <p:cNvSpPr>
            <a:spLocks noGrp="1"/>
          </p:cNvSpPr>
          <p:nvPr>
            <p:ph idx="1"/>
          </p:nvPr>
        </p:nvSpPr>
        <p:spPr>
          <a:xfrm>
            <a:off x="838200" y="1825625"/>
            <a:ext cx="10515600" cy="4351338"/>
          </a:xfrm>
        </p:spPr>
        <p:txBody>
          <a:bodyPr>
            <a:normAutofit/>
          </a:bodyPr>
          <a:lstStyle/>
          <a:p>
            <a:pPr marL="0" lvl="1" indent="0">
              <a:buNone/>
            </a:pPr>
            <a:r>
              <a:rPr lang="en-US" altLang="ja-JP" sz="2600" b="1" dirty="0"/>
              <a:t>✅</a:t>
            </a:r>
            <a:r>
              <a:rPr lang="ja-JP" altLang="en-US" sz="2600" b="1" dirty="0"/>
              <a:t>適切なケース</a:t>
            </a:r>
            <a:r>
              <a:rPr lang="en-US" altLang="ja-JP" sz="2600" b="1" dirty="0"/>
              <a:t> - </a:t>
            </a:r>
            <a:r>
              <a:rPr lang="en-GB" altLang="ja-JP" sz="2600" b="1" dirty="0"/>
              <a:t>ROI(</a:t>
            </a:r>
            <a:r>
              <a:rPr lang="ja-JP" altLang="en-US" sz="2600" b="1" dirty="0"/>
              <a:t>投資対効果</a:t>
            </a:r>
            <a:r>
              <a:rPr lang="en-GB" altLang="ja-JP" sz="2600" b="1" dirty="0"/>
              <a:t>)</a:t>
            </a:r>
            <a:r>
              <a:rPr lang="ja-JP" altLang="en-US" sz="2600" b="1" dirty="0"/>
              <a:t>が十分</a:t>
            </a:r>
            <a:endParaRPr lang="en-US" altLang="ja-JP" sz="2600" b="1" dirty="0"/>
          </a:p>
          <a:p>
            <a:pPr marL="268288" lvl="1" indent="-268288"/>
            <a:r>
              <a:rPr lang="ja-JP" altLang="en-US" dirty="0"/>
              <a:t>実用最小限の製品開発</a:t>
            </a:r>
            <a:r>
              <a:rPr lang="en-GB" altLang="ja-JP" dirty="0"/>
              <a:t>(MVP)</a:t>
            </a:r>
            <a:r>
              <a:rPr lang="ja-JP" altLang="en-US" dirty="0"/>
              <a:t>の段階を超えた場合</a:t>
            </a:r>
            <a:endParaRPr lang="en-GB" altLang="ja-JP" dirty="0"/>
          </a:p>
          <a:p>
            <a:pPr marL="268288" lvl="1" indent="-268288"/>
            <a:r>
              <a:rPr lang="en-GB" altLang="ja-JP" dirty="0"/>
              <a:t>3</a:t>
            </a:r>
            <a:r>
              <a:rPr lang="ja-JP" altLang="en-US" dirty="0"/>
              <a:t>人以上の開発者がいるチームが複数ある場合</a:t>
            </a:r>
            <a:endParaRPr lang="en-GB" altLang="ja-JP" dirty="0"/>
          </a:p>
          <a:p>
            <a:pPr marL="268288" lvl="1" indent="-268288"/>
            <a:r>
              <a:rPr lang="ja-JP" altLang="en-US" dirty="0"/>
              <a:t>ビジネス</a:t>
            </a:r>
            <a:r>
              <a:rPr lang="en-GB" altLang="ja-JP" dirty="0"/>
              <a:t>/</a:t>
            </a:r>
            <a:r>
              <a:rPr lang="ja-JP" altLang="en-US" dirty="0"/>
              <a:t>ドメインが複雑な場合</a:t>
            </a:r>
            <a:endParaRPr lang="en-GB" altLang="ja-JP" dirty="0"/>
          </a:p>
          <a:p>
            <a:pPr marL="268288" lvl="1" indent="-268288"/>
            <a:r>
              <a:rPr lang="ja-JP" altLang="en-US" dirty="0"/>
              <a:t>長期保守が必要な場合</a:t>
            </a:r>
            <a:endParaRPr lang="en-GB" altLang="ja-JP" dirty="0"/>
          </a:p>
          <a:p>
            <a:pPr marL="268288" lvl="1" indent="-268288"/>
            <a:r>
              <a:rPr lang="ja-JP" altLang="en-US" dirty="0"/>
              <a:t>複数の</a:t>
            </a:r>
            <a:r>
              <a:rPr lang="en-GB" altLang="ja-JP" dirty="0"/>
              <a:t> API </a:t>
            </a:r>
            <a:r>
              <a:rPr lang="ja-JP" altLang="en-US" dirty="0"/>
              <a:t>クライアントを持つサービスの場合</a:t>
            </a:r>
            <a:endParaRPr lang="en-GB" altLang="ja-JP" dirty="0"/>
          </a:p>
          <a:p>
            <a:pPr marL="268288" lvl="1" indent="-268288"/>
            <a:r>
              <a:rPr lang="ja-JP" altLang="en-US" dirty="0"/>
              <a:t>パフォーマンスのボトルネック</a:t>
            </a:r>
            <a:r>
              <a:rPr lang="en-GB" altLang="ja-JP" dirty="0"/>
              <a:t> MVC </a:t>
            </a:r>
            <a:r>
              <a:rPr lang="ja-JP" altLang="en-US" dirty="0"/>
              <a:t>アーキテクチャにある場合</a:t>
            </a:r>
            <a:endParaRPr lang="en-US" altLang="ja-JP" dirty="0"/>
          </a:p>
        </p:txBody>
      </p:sp>
    </p:spTree>
    <p:extLst>
      <p:ext uri="{BB962C8B-B14F-4D97-AF65-F5344CB8AC3E}">
        <p14:creationId xmlns:p14="http://schemas.microsoft.com/office/powerpoint/2010/main" val="1022670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6EFE1E05-2E51-4FCE-7DB8-A8834BB3AA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D24183-A0E0-2F19-17A2-35CE80CAFB59}"/>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漸進的な多層構造の取入れ戦略</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DBBE2AD2-DDB5-8BEF-00E7-CA4CA1259A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77B4248E-762B-D66F-0F99-EC93830DE4A8}"/>
              </a:ext>
            </a:extLst>
          </p:cNvPr>
          <p:cNvSpPr>
            <a:spLocks noGrp="1"/>
          </p:cNvSpPr>
          <p:nvPr>
            <p:ph idx="1"/>
          </p:nvPr>
        </p:nvSpPr>
        <p:spPr>
          <a:xfrm>
            <a:off x="838200" y="1825625"/>
            <a:ext cx="10515600" cy="4351338"/>
          </a:xfrm>
        </p:spPr>
        <p:txBody>
          <a:bodyPr>
            <a:normAutofit/>
          </a:bodyPr>
          <a:lstStyle/>
          <a:p>
            <a:pPr marL="0" lvl="1" indent="0">
              <a:buNone/>
            </a:pPr>
            <a:r>
              <a:rPr lang="en-US" altLang="ja-JP" sz="2600" b="1" dirty="0"/>
              <a:t>❌</a:t>
            </a:r>
            <a:r>
              <a:rPr lang="ja-JP" altLang="en-US" sz="2600" b="1" dirty="0"/>
              <a:t>不適切なケース</a:t>
            </a:r>
            <a:r>
              <a:rPr lang="en-US" altLang="ja-JP" sz="2600" b="1" dirty="0"/>
              <a:t> - </a:t>
            </a:r>
            <a:r>
              <a:rPr lang="en-GB" altLang="ja-JP" sz="2600" b="1" dirty="0"/>
              <a:t>ROI(</a:t>
            </a:r>
            <a:r>
              <a:rPr lang="ja-JP" altLang="en-US" sz="2600" b="1" dirty="0"/>
              <a:t>投資対効果</a:t>
            </a:r>
            <a:r>
              <a:rPr lang="en-GB" altLang="ja-JP" sz="2600" b="1" dirty="0"/>
              <a:t>)</a:t>
            </a:r>
            <a:r>
              <a:rPr lang="ja-JP" altLang="en-US" sz="2600" b="1" dirty="0"/>
              <a:t>が乏しい</a:t>
            </a:r>
            <a:endParaRPr lang="en-US" altLang="ja-JP" sz="2600" b="1" dirty="0"/>
          </a:p>
          <a:p>
            <a:pPr marL="268288" lvl="1" indent="-268288"/>
            <a:r>
              <a:rPr lang="ja-JP" altLang="en-US" dirty="0"/>
              <a:t>単純な</a:t>
            </a:r>
            <a:r>
              <a:rPr lang="en-GB" altLang="ja-JP" dirty="0"/>
              <a:t> CRUD </a:t>
            </a:r>
            <a:r>
              <a:rPr lang="ja-JP" altLang="en-US" dirty="0"/>
              <a:t>アクションだけで完結する場合</a:t>
            </a:r>
            <a:endParaRPr lang="en-GB" altLang="ja-JP" dirty="0"/>
          </a:p>
          <a:p>
            <a:pPr marL="268288" lvl="1" indent="-268288"/>
            <a:r>
              <a:rPr lang="ja-JP" altLang="en-US" dirty="0"/>
              <a:t>プロトタイプ</a:t>
            </a:r>
            <a:r>
              <a:rPr lang="en-GB" altLang="ja-JP" dirty="0"/>
              <a:t>/</a:t>
            </a:r>
            <a:r>
              <a:rPr lang="ja-JP" altLang="en-US" dirty="0"/>
              <a:t>実用最小限の製品開発</a:t>
            </a:r>
            <a:r>
              <a:rPr lang="en-GB" altLang="ja-JP" dirty="0"/>
              <a:t>(MVP) </a:t>
            </a:r>
            <a:r>
              <a:rPr lang="ja-JP" altLang="en-US" dirty="0"/>
              <a:t>の段階である場合</a:t>
            </a:r>
            <a:endParaRPr lang="en-GB" altLang="ja-JP" dirty="0"/>
          </a:p>
          <a:p>
            <a:pPr marL="268288" lvl="1" indent="-268288"/>
            <a:r>
              <a:rPr lang="en-GB" altLang="ja-JP" dirty="0"/>
              <a:t>1-2</a:t>
            </a:r>
            <a:r>
              <a:rPr lang="ja-JP" altLang="en-US" dirty="0"/>
              <a:t>人で構成されたチームしかない場合</a:t>
            </a:r>
            <a:endParaRPr lang="en-GB" altLang="ja-JP" dirty="0"/>
          </a:p>
          <a:p>
            <a:pPr marL="268288" lvl="1" indent="-268288"/>
            <a:r>
              <a:rPr lang="ja-JP" altLang="en-US" dirty="0"/>
              <a:t>短期のプロジェクトの場合</a:t>
            </a:r>
            <a:endParaRPr lang="en-US" altLang="ja-JP" dirty="0"/>
          </a:p>
        </p:txBody>
      </p:sp>
    </p:spTree>
    <p:extLst>
      <p:ext uri="{BB962C8B-B14F-4D97-AF65-F5344CB8AC3E}">
        <p14:creationId xmlns:p14="http://schemas.microsoft.com/office/powerpoint/2010/main" val="550404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D259FDDC-41E9-A3CE-B27F-22ABE8BE3C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BE5B56-B81C-AECA-5507-36DC258A9857}"/>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漸進的な多層構造の取入れ戦略</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2EC6396-28EA-305C-62CB-E8CF3746F4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E8840426-99C5-F5FA-B6DF-0F1BE6883E1E}"/>
              </a:ext>
            </a:extLst>
          </p:cNvPr>
          <p:cNvSpPr>
            <a:spLocks noGrp="1"/>
          </p:cNvSpPr>
          <p:nvPr>
            <p:ph idx="1"/>
          </p:nvPr>
        </p:nvSpPr>
        <p:spPr>
          <a:xfrm>
            <a:off x="838200" y="1847850"/>
            <a:ext cx="10515600" cy="4351338"/>
          </a:xfrm>
        </p:spPr>
        <p:txBody>
          <a:bodyPr>
            <a:normAutofit/>
          </a:bodyPr>
          <a:lstStyle/>
          <a:p>
            <a:pPr marL="0" lvl="1" indent="0">
              <a:buNone/>
              <a:tabLst>
                <a:tab pos="357188" algn="l"/>
              </a:tabLst>
            </a:pPr>
            <a:r>
              <a:rPr lang="ja-JP" altLang="en-US" sz="2800" b="1" dirty="0"/>
              <a:t>最善策</a:t>
            </a:r>
            <a:endParaRPr lang="en-GB" altLang="ja-JP" sz="2800" b="1" dirty="0"/>
          </a:p>
          <a:p>
            <a:pPr marL="357188" lvl="1" indent="-357188">
              <a:buFont typeface="+mj-lt"/>
              <a:buAutoNum type="arabicPeriod"/>
              <a:tabLst>
                <a:tab pos="357188" algn="l"/>
              </a:tabLst>
            </a:pPr>
            <a:r>
              <a:rPr lang="en-GB" altLang="ja-JP" b="1" dirty="0"/>
              <a:t>MVC </a:t>
            </a:r>
            <a:r>
              <a:rPr lang="ja-JP" altLang="en-US" b="1" dirty="0"/>
              <a:t>より始めよ</a:t>
            </a:r>
            <a:r>
              <a:rPr lang="en-GB" altLang="ja-JP" dirty="0"/>
              <a:t>: </a:t>
            </a:r>
            <a:r>
              <a:rPr lang="ja-JP" altLang="en-US" dirty="0"/>
              <a:t>新規プロジェクトは従来のアーキテクチャーで！</a:t>
            </a:r>
            <a:endParaRPr lang="en-GB" altLang="ja-JP" dirty="0"/>
          </a:p>
          <a:p>
            <a:pPr marL="357188" lvl="1" indent="-357188">
              <a:buFont typeface="+mj-lt"/>
              <a:buAutoNum type="arabicPeriod"/>
              <a:tabLst>
                <a:tab pos="357188" algn="l"/>
              </a:tabLst>
            </a:pPr>
            <a:r>
              <a:rPr lang="ja-JP" altLang="en-US" b="1" dirty="0"/>
              <a:t>ペインの閾値に刮目せよ</a:t>
            </a:r>
            <a:r>
              <a:rPr lang="en-GB" altLang="ja-JP" dirty="0"/>
              <a:t>:</a:t>
            </a:r>
          </a:p>
          <a:p>
            <a:pPr marL="717550" lvl="2" indent="-260350">
              <a:tabLst>
                <a:tab pos="357188" algn="l"/>
              </a:tabLst>
            </a:pPr>
            <a:r>
              <a:rPr lang="en-GB" altLang="ja-JP" dirty="0"/>
              <a:t>200</a:t>
            </a:r>
            <a:r>
              <a:rPr lang="ja-JP" altLang="en-US" dirty="0"/>
              <a:t>行以上の複数モデル</a:t>
            </a:r>
            <a:endParaRPr lang="en-GB" altLang="ja-JP" dirty="0"/>
          </a:p>
          <a:p>
            <a:pPr marL="717550" lvl="2" indent="-260350">
              <a:tabLst>
                <a:tab pos="357188" algn="l"/>
              </a:tabLst>
            </a:pPr>
            <a:r>
              <a:rPr lang="ja-JP" altLang="en-US" dirty="0"/>
              <a:t>複雑なワークフローを処理する複数のコントローラー</a:t>
            </a:r>
            <a:endParaRPr lang="en-GB" altLang="ja-JP" dirty="0"/>
          </a:p>
          <a:p>
            <a:pPr marL="717550" lvl="2" indent="-260350">
              <a:tabLst>
                <a:tab pos="357188" algn="l"/>
              </a:tabLst>
            </a:pPr>
            <a:r>
              <a:rPr lang="ja-JP" altLang="en-US" dirty="0"/>
              <a:t>遅くて保守が利かないテスト</a:t>
            </a:r>
            <a:r>
              <a:rPr lang="en-GB" altLang="ja-JP" dirty="0"/>
              <a:t>(</a:t>
            </a:r>
            <a:r>
              <a:rPr lang="ja-JP" altLang="en-US" dirty="0"/>
              <a:t>必要な挙動の検証が抜け漏れてしまう場合も含む</a:t>
            </a:r>
            <a:r>
              <a:rPr lang="en-GB" altLang="ja-JP" dirty="0"/>
              <a:t>)</a:t>
            </a:r>
          </a:p>
          <a:p>
            <a:pPr marL="357188" lvl="1" indent="-357188">
              <a:buFont typeface="+mj-lt"/>
              <a:buAutoNum type="arabicPeriod"/>
              <a:tabLst>
                <a:tab pos="357188" algn="l"/>
              </a:tabLst>
            </a:pPr>
            <a:r>
              <a:rPr lang="ja-JP" altLang="en-US" b="1" dirty="0"/>
              <a:t>漸進的に抽出せよ</a:t>
            </a:r>
            <a:r>
              <a:rPr lang="en-GB" altLang="ja-JP" dirty="0"/>
              <a:t>: </a:t>
            </a:r>
            <a:r>
              <a:rPr lang="ja-JP" altLang="en-US" dirty="0"/>
              <a:t>必要な分だけ特定領域に絞ってリファクタリングを！</a:t>
            </a:r>
            <a:endParaRPr lang="en-GB" altLang="ja-JP" dirty="0"/>
          </a:p>
          <a:p>
            <a:pPr marL="357188" lvl="1" indent="-357188">
              <a:buFont typeface="+mj-lt"/>
              <a:buAutoNum type="arabicPeriod"/>
              <a:tabLst>
                <a:tab pos="357188" algn="l"/>
              </a:tabLst>
            </a:pPr>
            <a:r>
              <a:rPr lang="ja-JP" altLang="en-US" b="1" dirty="0"/>
              <a:t>規約に準拠せよ</a:t>
            </a:r>
            <a:r>
              <a:rPr lang="en-GB" altLang="ja-JP" dirty="0"/>
              <a:t>: Rails </a:t>
            </a:r>
            <a:r>
              <a:rPr lang="ja-JP" altLang="en-US" dirty="0"/>
              <a:t>のイディオムを適切に管理</a:t>
            </a:r>
            <a:r>
              <a:rPr lang="en-GB" altLang="ja-JP" dirty="0"/>
              <a:t>(</a:t>
            </a:r>
            <a:r>
              <a:rPr lang="ja-JP" altLang="en-US" dirty="0"/>
              <a:t>例</a:t>
            </a:r>
            <a:r>
              <a:rPr lang="en-GB" altLang="ja-JP" dirty="0"/>
              <a:t>. ActiveRecord)</a:t>
            </a:r>
          </a:p>
          <a:p>
            <a:pPr marL="357188" lvl="1" indent="-357188">
              <a:buFont typeface="+mj-lt"/>
              <a:buAutoNum type="arabicPeriod"/>
              <a:tabLst>
                <a:tab pos="357188" algn="l"/>
              </a:tabLst>
            </a:pPr>
            <a:r>
              <a:rPr lang="ja-JP" altLang="en-US" b="1" dirty="0"/>
              <a:t>美味しいとこ取りせよ</a:t>
            </a:r>
            <a:r>
              <a:rPr lang="en-GB" altLang="ja-JP" dirty="0"/>
              <a:t>: </a:t>
            </a:r>
            <a:r>
              <a:rPr lang="ja-JP" altLang="en-US" dirty="0"/>
              <a:t>シンプルな箇所は従来の</a:t>
            </a:r>
            <a:r>
              <a:rPr lang="en-GB" altLang="ja-JP" dirty="0"/>
              <a:t> MVC</a:t>
            </a:r>
            <a:r>
              <a:rPr lang="ja-JP" altLang="en-US" dirty="0"/>
              <a:t>、複雑な個所は多層構造の上手な適用を！</a:t>
            </a:r>
            <a:endParaRPr lang="en-GB" altLang="ja-JP" dirty="0"/>
          </a:p>
        </p:txBody>
      </p:sp>
    </p:spTree>
    <p:extLst>
      <p:ext uri="{BB962C8B-B14F-4D97-AF65-F5344CB8AC3E}">
        <p14:creationId xmlns:p14="http://schemas.microsoft.com/office/powerpoint/2010/main" val="3930339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16F0B560-5D1E-99FB-264A-63DE888DC7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C3DA77-59D3-AB18-7EB7-B18EAF11A455}"/>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7. </a:t>
            </a:r>
            <a:r>
              <a:rPr lang="ja-JP" altLang="en-US" b="1" dirty="0">
                <a:latin typeface="Calibri (Headings)"/>
              </a:rPr>
              <a:t>アンケート回答</a:t>
            </a:r>
            <a:endParaRPr lang="en-GB" dirty="0">
              <a:latin typeface="Calibri (Headings)"/>
            </a:endParaRPr>
          </a:p>
        </p:txBody>
      </p:sp>
      <p:sp>
        <p:nvSpPr>
          <p:cNvPr id="4" name="スライド番号プレースホルダー 3">
            <a:extLst>
              <a:ext uri="{FF2B5EF4-FFF2-40B4-BE49-F238E27FC236}">
                <a16:creationId xmlns:a16="http://schemas.microsoft.com/office/drawing/2014/main" id="{FABE913B-B13C-C566-97D0-5D077F475D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3928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241D3624-9A13-9B63-0955-0F35CD1C1A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9B519A-CF1E-F59B-7462-9ED2C265C7E1}"/>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F75CC31F-90AA-8749-6668-973BFFAD2E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descr="Forms response chart. Question title: &quot;The Rails Way&quot; を合言葉にアーキテクチャーの合意形成に失敗した経験はありますか？. Number of responses: 5 responses.">
            <a:extLst>
              <a:ext uri="{FF2B5EF4-FFF2-40B4-BE49-F238E27FC236}">
                <a16:creationId xmlns:a16="http://schemas.microsoft.com/office/drawing/2014/main" id="{80483A1B-5513-5A31-A06D-40C7524DE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144" y="1825625"/>
            <a:ext cx="9540365" cy="400869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DA049BA3-87D9-C1F5-B86B-359E82E46419}"/>
              </a:ext>
            </a:extLst>
          </p:cNvPr>
          <p:cNvSpPr/>
          <p:nvPr/>
        </p:nvSpPr>
        <p:spPr>
          <a:xfrm>
            <a:off x="7247923" y="3247235"/>
            <a:ext cx="682823" cy="24086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7471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8B08C178-E239-C0DC-9386-6F2D747060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6FDCB7-D048-45E7-0307-F67E092225E4}"/>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A25EBABC-349C-B19A-2791-BC24C966C5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2" name="Picture 4" descr="Forms response chart. Question title: Have you ever failed to arrive at an agreement with your Rails app architecture with the keyword &quot;The Rails Way&quot;?. Number of responses: 6 responses.">
            <a:extLst>
              <a:ext uri="{FF2B5EF4-FFF2-40B4-BE49-F238E27FC236}">
                <a16:creationId xmlns:a16="http://schemas.microsoft.com/office/drawing/2014/main" id="{AFC16645-B15A-CD03-A4DA-14E6C51A9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144" y="1825625"/>
            <a:ext cx="960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B0A6785-5B2F-4735-BC64-A804A9EED46B}"/>
              </a:ext>
            </a:extLst>
          </p:cNvPr>
          <p:cNvSpPr/>
          <p:nvPr/>
        </p:nvSpPr>
        <p:spPr>
          <a:xfrm>
            <a:off x="7296990" y="3314142"/>
            <a:ext cx="642678" cy="5174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8997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F9F55B2F-2DCC-B6D7-8537-217F7F0E91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91A5A9-5DD5-9D86-AD2B-B9B53BB40EA9}"/>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6468A34F-232B-FF3D-CC42-344706BC1B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146" name="Picture 2" descr="Forms response chart. Question title: Scaffold のエコシステムが「狭義の The Rails Way」という言説がありますが、賛同しますか？&#10;※ 最低限の MVC と CoC. Number of responses: 5 responses.">
            <a:extLst>
              <a:ext uri="{FF2B5EF4-FFF2-40B4-BE49-F238E27FC236}">
                <a16:creationId xmlns:a16="http://schemas.microsoft.com/office/drawing/2014/main" id="{F53F6CFA-CECD-C474-69B0-BA2D0A7E90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144" y="1834395"/>
            <a:ext cx="9586352" cy="43425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B111981-E4D9-4F9E-C5EA-BB0EBDA3712E}"/>
              </a:ext>
            </a:extLst>
          </p:cNvPr>
          <p:cNvSpPr/>
          <p:nvPr/>
        </p:nvSpPr>
        <p:spPr>
          <a:xfrm>
            <a:off x="7274686" y="3308566"/>
            <a:ext cx="1012900" cy="27766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31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64540EA8-1B68-0244-4C75-A108CD9055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F46C7B-5CA7-F3C9-7567-8669DCBDC407}"/>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14810B2-339E-9E69-6B6D-5D9AC355DD8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4" name="Picture 6" descr="Forms response chart. Question title: Here is the concept that the ecosystem generated by `bin/rails g scaffold ...` is treated as &quot;The Rails Way in a narrow sense&quot;.&#10;Do you agree with it?&#10;* e.g.) MVC, CoC, Resposibility segregation. Number of responses: 6 responses.">
            <a:extLst>
              <a:ext uri="{FF2B5EF4-FFF2-40B4-BE49-F238E27FC236}">
                <a16:creationId xmlns:a16="http://schemas.microsoft.com/office/drawing/2014/main" id="{F843CB55-CF48-A9A6-7036-6CE31A08C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2824" y="1825474"/>
            <a:ext cx="9586352" cy="43425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9C0C9C4-3F7F-D165-BEDD-ED6127F7DD73}"/>
              </a:ext>
            </a:extLst>
          </p:cNvPr>
          <p:cNvSpPr/>
          <p:nvPr/>
        </p:nvSpPr>
        <p:spPr>
          <a:xfrm>
            <a:off x="7274686" y="3308566"/>
            <a:ext cx="682823" cy="24086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0154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17558273-2D8D-8A11-0612-B6C300EB75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58585B-21F7-F70F-77D7-2BF4C34D7AD2}"/>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9B4A2537-68CE-9533-D2EA-54B802E9ED9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172" name="Picture 4" descr="Forms response chart. Question title: 「狭義の The Rails Way」の観点で、以下のエコシステムの中で置き換えられたら「それはもはや The Rails Way ではない」と考えるものを全て選んで下さい。. Number of responses: 5 responses.">
            <a:extLst>
              <a:ext uri="{FF2B5EF4-FFF2-40B4-BE49-F238E27FC236}">
                <a16:creationId xmlns:a16="http://schemas.microsoft.com/office/drawing/2014/main" id="{6B422C7C-1FD7-9D44-633F-FC25825635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2065" y="1838855"/>
            <a:ext cx="8555905" cy="434256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890EF70-1856-4685-5970-0996CB8FE74C}"/>
              </a:ext>
            </a:extLst>
          </p:cNvPr>
          <p:cNvSpPr/>
          <p:nvPr/>
        </p:nvSpPr>
        <p:spPr>
          <a:xfrm>
            <a:off x="1812066" y="4023360"/>
            <a:ext cx="8555904" cy="47281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6726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118526F4-8893-53BA-600B-088DDDD847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E0339A-0A08-962E-1EA2-2E1B1BB9F45B}"/>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A51294A-3142-C656-4548-62B397B97C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170" name="Picture 2" descr="Forms response chart. Question title: Among the following components, what gets your Rails app out of &quot;The Rails Way in a narrow sense&quot;?. Number of responses: 5 responses.">
            <a:extLst>
              <a:ext uri="{FF2B5EF4-FFF2-40B4-BE49-F238E27FC236}">
                <a16:creationId xmlns:a16="http://schemas.microsoft.com/office/drawing/2014/main" id="{F42DE77A-30A6-E748-44EC-05F77377E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2066" y="1838855"/>
            <a:ext cx="8555905" cy="43425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6144D0C-A04B-376A-8B39-B65A3679BD74}"/>
              </a:ext>
            </a:extLst>
          </p:cNvPr>
          <p:cNvSpPr/>
          <p:nvPr/>
        </p:nvSpPr>
        <p:spPr>
          <a:xfrm>
            <a:off x="1812066" y="3059894"/>
            <a:ext cx="8555905" cy="7984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8229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16AA9F0E-D942-87EA-BD2B-0372B9B831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EBD40D-1C2C-5731-E10C-943192084D00}"/>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B659EA2-7036-7428-68C7-6E5B1978A6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2" descr="Forms response chart. Question title: 「広義の The Rails Way」において、あなたが最も苦しめられたエコシステムを全て選んで下さい。. Number of responses: 5 responses.">
            <a:extLst>
              <a:ext uri="{FF2B5EF4-FFF2-40B4-BE49-F238E27FC236}">
                <a16:creationId xmlns:a16="http://schemas.microsoft.com/office/drawing/2014/main" id="{E0EA52A0-2CA6-C220-E34F-104DC2407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2065" y="1836072"/>
            <a:ext cx="8555903" cy="43425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C06800E-3B90-DDED-151A-634924AE76A9}"/>
              </a:ext>
            </a:extLst>
          </p:cNvPr>
          <p:cNvSpPr/>
          <p:nvPr/>
        </p:nvSpPr>
        <p:spPr>
          <a:xfrm>
            <a:off x="1812066" y="3087288"/>
            <a:ext cx="8555904"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5E98FA51-2DF4-AF6D-18AA-D0FF7BD9D594}"/>
              </a:ext>
            </a:extLst>
          </p:cNvPr>
          <p:cNvSpPr txBox="1"/>
          <p:nvPr/>
        </p:nvSpPr>
        <p:spPr>
          <a:xfrm>
            <a:off x="401444" y="5709036"/>
            <a:ext cx="5834317" cy="253916"/>
          </a:xfrm>
          <a:prstGeom prst="rect">
            <a:avLst/>
          </a:prstGeom>
          <a:solidFill>
            <a:schemeClr val="tx1"/>
          </a:solidFill>
        </p:spPr>
        <p:txBody>
          <a:bodyPr wrap="square" rtlCol="0">
            <a:spAutoFit/>
          </a:bodyPr>
          <a:lstStyle/>
          <a:p>
            <a:pPr lvl="0"/>
            <a:r>
              <a:rPr lang="ja-JP" altLang="en-US" sz="1050" dirty="0">
                <a:solidFill>
                  <a:prstClr val="white"/>
                </a:solidFill>
              </a:rPr>
              <a:t>アプリケーションレベルでの </a:t>
            </a:r>
            <a:r>
              <a:rPr lang="en-US" altLang="ja-JP" sz="1050" dirty="0">
                <a:solidFill>
                  <a:prstClr val="white"/>
                </a:solidFill>
              </a:rPr>
              <a:t>Rails </a:t>
            </a:r>
            <a:r>
              <a:rPr lang="ja-JP" altLang="en-US" sz="1050" dirty="0">
                <a:solidFill>
                  <a:prstClr val="white"/>
                </a:solidFill>
              </a:rPr>
              <a:t>っぽい </a:t>
            </a:r>
            <a:r>
              <a:rPr lang="en-US" altLang="ja-JP" sz="1050" dirty="0">
                <a:solidFill>
                  <a:prstClr val="white"/>
                </a:solidFill>
              </a:rPr>
              <a:t>CoC </a:t>
            </a:r>
            <a:r>
              <a:rPr lang="ja-JP" altLang="en-US" sz="1050" dirty="0">
                <a:solidFill>
                  <a:prstClr val="white"/>
                </a:solidFill>
              </a:rPr>
              <a:t>の独自実装の提供 </a:t>
            </a:r>
            <a:r>
              <a:rPr lang="en-US" altLang="ja-JP" sz="1050" dirty="0">
                <a:solidFill>
                  <a:prstClr val="white"/>
                </a:solidFill>
              </a:rPr>
              <a:t>(method_missing</a:t>
            </a:r>
            <a:r>
              <a:rPr lang="en-GB" altLang="ja-JP" sz="1050" dirty="0">
                <a:solidFill>
                  <a:prstClr val="white"/>
                </a:solidFill>
              </a:rPr>
              <a:t> </a:t>
            </a:r>
            <a:r>
              <a:rPr lang="ja-JP" altLang="en-US" sz="1050" dirty="0">
                <a:solidFill>
                  <a:prstClr val="white"/>
                </a:solidFill>
              </a:rPr>
              <a:t>の多用を含む</a:t>
            </a:r>
            <a:r>
              <a:rPr lang="en-US" altLang="ja-JP" sz="1050" dirty="0">
                <a:solidFill>
                  <a:prstClr val="white"/>
                </a:solidFill>
              </a:rPr>
              <a:t>)</a:t>
            </a:r>
            <a:endParaRPr kumimoji="0" lang="en-GB" sz="10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0F61FA9B-0396-2823-04D8-D6BF3AA0A6E2}"/>
              </a:ext>
            </a:extLst>
          </p:cNvPr>
          <p:cNvCxnSpPr>
            <a:cxnSpLocks/>
            <a:stCxn id="7" idx="0"/>
          </p:cNvCxnSpPr>
          <p:nvPr/>
        </p:nvCxnSpPr>
        <p:spPr>
          <a:xfrm flipH="1" flipV="1">
            <a:off x="3276229" y="5401651"/>
            <a:ext cx="42374" cy="3073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432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EA7B9003-DCA1-ADD3-5BA8-5114A6AA06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31A9BA-B729-9CEE-1148-64901215501D}"/>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EF7FBB-42FF-AE3E-7B9F-991E2516AD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descr="Forms response chart. Question title: What have you got in trouble with among the following ecosystem of &quot;The Rails Way in a broader sense&quot;?. Number of responses: 5 responses.">
            <a:extLst>
              <a:ext uri="{FF2B5EF4-FFF2-40B4-BE49-F238E27FC236}">
                <a16:creationId xmlns:a16="http://schemas.microsoft.com/office/drawing/2014/main" id="{14DA057A-81DC-E178-27F3-E64CD90DD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2065" y="1838855"/>
            <a:ext cx="8555903" cy="43425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9C6614F-85DD-0C00-70D4-A747E3D7FF51}"/>
              </a:ext>
            </a:extLst>
          </p:cNvPr>
          <p:cNvSpPr/>
          <p:nvPr/>
        </p:nvSpPr>
        <p:spPr>
          <a:xfrm>
            <a:off x="1812066" y="4514004"/>
            <a:ext cx="8555904" cy="47281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FD7906E1-B5F3-F72F-0522-4252BB8086B6}"/>
              </a:ext>
            </a:extLst>
          </p:cNvPr>
          <p:cNvSpPr/>
          <p:nvPr/>
        </p:nvSpPr>
        <p:spPr>
          <a:xfrm>
            <a:off x="1807603" y="3082992"/>
            <a:ext cx="8555904" cy="47281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7599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5E092BCD-A38E-B634-72F1-F39A6EF106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59B058-1FCC-D466-65CE-A86C53A68249}"/>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1BD3A0C-24B9-2BBD-2C99-6651C50998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CE41E84A-205D-7DB7-A17D-A4DA9775AF0F}"/>
              </a:ext>
            </a:extLst>
          </p:cNvPr>
          <p:cNvSpPr>
            <a:spLocks noGrp="1"/>
          </p:cNvSpPr>
          <p:nvPr>
            <p:ph idx="1"/>
          </p:nvPr>
        </p:nvSpPr>
        <p:spPr>
          <a:xfrm>
            <a:off x="838200" y="1825625"/>
            <a:ext cx="10515600" cy="4351338"/>
          </a:xfrm>
        </p:spPr>
        <p:txBody>
          <a:bodyPr>
            <a:normAutofit/>
          </a:bodyPr>
          <a:lstStyle/>
          <a:p>
            <a:pPr marL="0" lvl="1" indent="0">
              <a:buNone/>
            </a:pPr>
            <a:r>
              <a:rPr lang="en-GB" altLang="ja-JP" sz="2600" b="1" dirty="0"/>
              <a:t>Q. </a:t>
            </a:r>
            <a:r>
              <a:rPr lang="ja-JP" altLang="en-US" sz="2600" b="1" dirty="0"/>
              <a:t>あなたが思う </a:t>
            </a:r>
            <a:r>
              <a:rPr lang="en-US" altLang="ja-JP" sz="2600" b="1" dirty="0"/>
              <a:t>"</a:t>
            </a:r>
            <a:r>
              <a:rPr lang="en-GB" altLang="ja-JP" sz="2600" b="1" dirty="0"/>
              <a:t>The Rails Way" </a:t>
            </a:r>
            <a:r>
              <a:rPr lang="ja-JP" altLang="en-US" sz="2600" b="1" dirty="0"/>
              <a:t>の条件を自由に記述して下さい</a:t>
            </a:r>
            <a:r>
              <a:rPr lang="en-GB" altLang="ja-JP" sz="2600" b="1" dirty="0"/>
              <a:t> - </a:t>
            </a:r>
            <a:r>
              <a:rPr lang="ja-JP" altLang="en-US" sz="2600" b="1" dirty="0"/>
              <a:t>海外出身</a:t>
            </a:r>
            <a:r>
              <a:rPr lang="en-GB" altLang="ja-JP" sz="2600" b="1" dirty="0"/>
              <a:t> Rubyists </a:t>
            </a:r>
            <a:r>
              <a:rPr lang="ja-JP" altLang="en-US" sz="2600" b="1" dirty="0"/>
              <a:t>の回答</a:t>
            </a:r>
            <a:endParaRPr lang="en-GB" altLang="ja-JP" sz="2600" b="1" dirty="0"/>
          </a:p>
          <a:p>
            <a:pPr marL="0" lvl="1" indent="0">
              <a:buNone/>
            </a:pPr>
            <a:endParaRPr lang="en-GB" altLang="ja-JP" sz="2600" b="1" dirty="0"/>
          </a:p>
          <a:p>
            <a:pPr marL="268288" lvl="1" indent="-268288">
              <a:tabLst>
                <a:tab pos="268288" algn="l"/>
              </a:tabLst>
            </a:pPr>
            <a:r>
              <a:rPr lang="ja-JP" altLang="en-US" dirty="0"/>
              <a:t>「サービス」の名の下何でも詰め込むんだり</a:t>
            </a:r>
            <a:r>
              <a:rPr lang="en-GB" altLang="ja-JP" dirty="0"/>
              <a:t> </a:t>
            </a:r>
            <a:r>
              <a:rPr lang="en-GB" altLang="ja-JP" dirty="0">
                <a:hlinkClick r:id="rId3"/>
              </a:rPr>
              <a:t>dry-rb</a:t>
            </a:r>
            <a:r>
              <a:rPr lang="en-GB" altLang="ja-JP" dirty="0"/>
              <a:t> </a:t>
            </a:r>
            <a:r>
              <a:rPr lang="ja-JP" altLang="en-US" dirty="0"/>
              <a:t>を多用するのは悪手で、</a:t>
            </a:r>
            <a:r>
              <a:rPr lang="en-GB" altLang="ja-JP" dirty="0"/>
              <a:t> </a:t>
            </a:r>
            <a:r>
              <a:rPr lang="en-GB" altLang="ja-JP" u="sng" dirty="0"/>
              <a:t>ActiveRecord </a:t>
            </a:r>
            <a:r>
              <a:rPr lang="ja-JP" altLang="en-US" u="sng" dirty="0"/>
              <a:t>とビジネスロジックは密結合し得ることを受け入れる</a:t>
            </a:r>
            <a:endParaRPr lang="en-GB" altLang="ja-JP" u="sng" dirty="0"/>
          </a:p>
          <a:p>
            <a:pPr marL="268288" lvl="1" indent="-268288">
              <a:tabLst>
                <a:tab pos="268288" algn="l"/>
              </a:tabLst>
            </a:pPr>
            <a:r>
              <a:rPr lang="en-GB" altLang="ja-JP" u="sng" dirty="0"/>
              <a:t>Rails </a:t>
            </a:r>
            <a:r>
              <a:rPr lang="ja-JP" altLang="en-US" u="sng" dirty="0"/>
              <a:t>が持つ最適解に従いコミュニティの好みに合わせること。</a:t>
            </a:r>
            <a:r>
              <a:rPr lang="ja-JP" altLang="en-US" dirty="0"/>
              <a:t>個人的には</a:t>
            </a:r>
            <a:r>
              <a:rPr lang="en-GB" altLang="ja-JP" dirty="0"/>
              <a:t> The Rails Way </a:t>
            </a:r>
            <a:r>
              <a:rPr lang="ja-JP" altLang="en-US" dirty="0"/>
              <a:t>から派生したくなる場面はあるが成長過程にあるチームではそれを避けて最適解に従う</a:t>
            </a:r>
            <a:endParaRPr lang="en-GB" altLang="ja-JP" dirty="0"/>
          </a:p>
          <a:p>
            <a:pPr marL="268288" lvl="1" indent="-268288">
              <a:tabLst>
                <a:tab pos="268288" algn="l"/>
              </a:tabLst>
            </a:pPr>
            <a:r>
              <a:rPr lang="en-GB" altLang="ja-JP" dirty="0"/>
              <a:t>Rails </a:t>
            </a:r>
            <a:r>
              <a:rPr lang="ja-JP" altLang="en-US" dirty="0"/>
              <a:t>はレゴのようなもので、持っているブロックで</a:t>
            </a:r>
            <a:r>
              <a:rPr lang="ja-JP" altLang="en-US" u="sng" dirty="0"/>
              <a:t>自分なりの宇宙船を作れば良い</a:t>
            </a:r>
            <a:endParaRPr lang="en-GB" altLang="ja-JP" u="sng" dirty="0"/>
          </a:p>
          <a:p>
            <a:pPr marL="268288" lvl="1" indent="-268288">
              <a:tabLst>
                <a:tab pos="268288" algn="l"/>
              </a:tabLst>
            </a:pPr>
            <a:r>
              <a:rPr lang="ja-JP" altLang="en-US" u="sng" dirty="0"/>
              <a:t>抽象化ゆえ</a:t>
            </a:r>
            <a:r>
              <a:rPr lang="ja-JP" altLang="en-US" dirty="0"/>
              <a:t>に</a:t>
            </a:r>
            <a:r>
              <a:rPr lang="en-GB" altLang="ja-JP" dirty="0"/>
              <a:t> Rails </a:t>
            </a:r>
            <a:r>
              <a:rPr lang="ja-JP" altLang="en-US" dirty="0"/>
              <a:t>に関する意思決定は最適でない場合がある</a:t>
            </a:r>
            <a:endParaRPr lang="en-GB" altLang="ja-JP" dirty="0"/>
          </a:p>
        </p:txBody>
      </p:sp>
    </p:spTree>
    <p:extLst>
      <p:ext uri="{BB962C8B-B14F-4D97-AF65-F5344CB8AC3E}">
        <p14:creationId xmlns:p14="http://schemas.microsoft.com/office/powerpoint/2010/main" val="33279130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023CC091-CFCA-C607-3D35-589AC6AF66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1839CD-822A-6D5D-06D5-5E223AED4382}"/>
              </a:ext>
            </a:extLst>
          </p:cNvPr>
          <p:cNvSpPr>
            <a:spLocks noGrp="1"/>
          </p:cNvSpPr>
          <p:nvPr>
            <p:ph type="title"/>
          </p:nvPr>
        </p:nvSpPr>
        <p:spPr/>
        <p:txBody>
          <a:bodyPr/>
          <a:lstStyle/>
          <a:p>
            <a:pPr algn="ctr"/>
            <a:r>
              <a:rPr lang="en-US" altLang="ja-JP" b="1" dirty="0">
                <a:latin typeface="Calibri (Headings)"/>
              </a:rPr>
              <a:t>7. </a:t>
            </a:r>
            <a:r>
              <a:rPr lang="ja-JP" altLang="en-US" b="1" dirty="0">
                <a:latin typeface="Calibri (Headings)"/>
              </a:rPr>
              <a:t>アンケート回答</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A9368012-B950-EA4F-8EF8-09B7FFAB4C0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2EF323E-0FF1-93E8-5A69-DA323A2FC8E6}"/>
              </a:ext>
            </a:extLst>
          </p:cNvPr>
          <p:cNvSpPr>
            <a:spLocks noGrp="1"/>
          </p:cNvSpPr>
          <p:nvPr>
            <p:ph idx="1"/>
          </p:nvPr>
        </p:nvSpPr>
        <p:spPr>
          <a:xfrm>
            <a:off x="838200" y="1825625"/>
            <a:ext cx="10515600" cy="4351338"/>
          </a:xfrm>
        </p:spPr>
        <p:txBody>
          <a:bodyPr>
            <a:normAutofit/>
          </a:bodyPr>
          <a:lstStyle/>
          <a:p>
            <a:pPr marL="0" lvl="1" indent="0">
              <a:buNone/>
            </a:pPr>
            <a:r>
              <a:rPr lang="en-GB" altLang="ja-JP" sz="2600" b="1" dirty="0"/>
              <a:t>Q. </a:t>
            </a:r>
            <a:r>
              <a:rPr lang="ja-JP" altLang="en-US" sz="2600" b="1" dirty="0"/>
              <a:t>あなたが思う </a:t>
            </a:r>
            <a:r>
              <a:rPr lang="en-US" altLang="ja-JP" sz="2600" b="1" dirty="0"/>
              <a:t>"</a:t>
            </a:r>
            <a:r>
              <a:rPr lang="en-GB" altLang="ja-JP" sz="2600" b="1" dirty="0"/>
              <a:t>The Rails Way" </a:t>
            </a:r>
            <a:r>
              <a:rPr lang="ja-JP" altLang="en-US" sz="2600" b="1" dirty="0"/>
              <a:t>の条件を自由に記述して下さい</a:t>
            </a:r>
            <a:r>
              <a:rPr lang="en-GB" altLang="ja-JP" sz="2600" b="1" dirty="0"/>
              <a:t> - </a:t>
            </a:r>
            <a:r>
              <a:rPr lang="ja-JP" altLang="en-US" sz="2600" b="1" dirty="0"/>
              <a:t>日本人</a:t>
            </a:r>
            <a:r>
              <a:rPr lang="en-GB" altLang="ja-JP" sz="2600" b="1" dirty="0"/>
              <a:t> Rubyists </a:t>
            </a:r>
            <a:r>
              <a:rPr lang="ja-JP" altLang="en-US" sz="2600" b="1" dirty="0"/>
              <a:t>の回答</a:t>
            </a:r>
            <a:r>
              <a:rPr lang="en-GB" altLang="ja-JP" sz="2600" b="1" dirty="0"/>
              <a:t>(</a:t>
            </a:r>
            <a:r>
              <a:rPr lang="ja-JP" altLang="en-US" sz="2600" b="1" dirty="0"/>
              <a:t>一部抜粋・加工</a:t>
            </a:r>
            <a:r>
              <a:rPr lang="en-GB" altLang="ja-JP" sz="2600" b="1" dirty="0"/>
              <a:t>)</a:t>
            </a:r>
          </a:p>
          <a:p>
            <a:pPr marL="0" lvl="1" indent="0">
              <a:buNone/>
            </a:pPr>
            <a:endParaRPr lang="en-GB" altLang="ja-JP" sz="2600" b="1" dirty="0"/>
          </a:p>
          <a:p>
            <a:pPr marL="268288" lvl="1" indent="-268288">
              <a:tabLst>
                <a:tab pos="268288" algn="l"/>
              </a:tabLst>
            </a:pPr>
            <a:r>
              <a:rPr lang="ja-JP" altLang="en-US" u="sng" dirty="0"/>
              <a:t>イレギュラーなものはイレギュラーであると皆が自覚できていれば</a:t>
            </a:r>
            <a:r>
              <a:rPr lang="ja-JP" altLang="en-US" dirty="0"/>
              <a:t>それはまだ</a:t>
            </a:r>
            <a:r>
              <a:rPr lang="en-GB" altLang="ja-JP" dirty="0"/>
              <a:t> </a:t>
            </a:r>
            <a:r>
              <a:rPr lang="en-US" altLang="ja-JP" dirty="0"/>
              <a:t>The Rails Way </a:t>
            </a:r>
            <a:r>
              <a:rPr lang="ja-JP" altLang="en-US" dirty="0"/>
              <a:t>を保持できているとしてもよいのかなとも思う</a:t>
            </a:r>
            <a:endParaRPr lang="en-US" altLang="ja-JP" dirty="0"/>
          </a:p>
          <a:p>
            <a:pPr marL="268288" lvl="1" indent="-268288">
              <a:tabLst>
                <a:tab pos="268288" algn="l"/>
              </a:tabLst>
            </a:pPr>
            <a:r>
              <a:rPr lang="en-US" altLang="ja-JP" u="sng" dirty="0"/>
              <a:t>Rails new</a:t>
            </a:r>
            <a:r>
              <a:rPr lang="en-GB" altLang="ja-JP" u="sng" dirty="0"/>
              <a:t> </a:t>
            </a:r>
            <a:r>
              <a:rPr lang="ja-JP" altLang="en-US" u="sng" dirty="0"/>
              <a:t>と </a:t>
            </a:r>
            <a:r>
              <a:rPr lang="en-US" altLang="ja-JP" u="sng" dirty="0"/>
              <a:t>scaffold </a:t>
            </a:r>
            <a:r>
              <a:rPr lang="ja-JP" altLang="en-US" u="sng" dirty="0"/>
              <a:t>で作られるファイルとディレクトリ構造</a:t>
            </a:r>
            <a:r>
              <a:rPr lang="ja-JP" altLang="en-US" dirty="0"/>
              <a:t>以外は全て</a:t>
            </a:r>
            <a:r>
              <a:rPr lang="en-GB" altLang="ja-JP" dirty="0"/>
              <a:t> </a:t>
            </a:r>
            <a:r>
              <a:rPr lang="en-US" altLang="ja-JP" dirty="0"/>
              <a:t>"The Rails Way" </a:t>
            </a:r>
            <a:r>
              <a:rPr lang="ja-JP" altLang="en-US" dirty="0"/>
              <a:t>ではないとすると、個人的には考えやすい</a:t>
            </a:r>
            <a:endParaRPr lang="en-US" altLang="ja-JP" dirty="0"/>
          </a:p>
          <a:p>
            <a:pPr marL="268288" lvl="1" indent="-268288">
              <a:tabLst>
                <a:tab pos="268288" algn="l"/>
              </a:tabLst>
            </a:pPr>
            <a:r>
              <a:rPr lang="en-US" altLang="ja-JP" dirty="0"/>
              <a:t>Rails </a:t>
            </a:r>
            <a:r>
              <a:rPr lang="ja-JP" altLang="en-US" dirty="0"/>
              <a:t>の用意した </a:t>
            </a:r>
            <a:r>
              <a:rPr lang="en-US" altLang="ja-JP" u="sng" dirty="0"/>
              <a:t>CoC </a:t>
            </a:r>
            <a:r>
              <a:rPr lang="ja-JP" altLang="en-US" u="sng" dirty="0"/>
              <a:t>に従い </a:t>
            </a:r>
            <a:r>
              <a:rPr lang="en-US" altLang="ja-JP" u="sng" dirty="0"/>
              <a:t>RESTful </a:t>
            </a:r>
            <a:r>
              <a:rPr lang="ja-JP" altLang="en-US" u="sng" dirty="0"/>
              <a:t>なリソース設計</a:t>
            </a:r>
            <a:r>
              <a:rPr lang="ja-JP" altLang="en-US" dirty="0"/>
              <a:t>を原則として</a:t>
            </a:r>
            <a:r>
              <a:rPr lang="ja-JP" altLang="en-US" u="sng" dirty="0"/>
              <a:t>ビジネスロジックを </a:t>
            </a:r>
            <a:r>
              <a:rPr lang="en-US" altLang="ja-JP" u="sng" dirty="0"/>
              <a:t>Model </a:t>
            </a:r>
            <a:r>
              <a:rPr lang="ja-JP" altLang="en-US" u="sng" dirty="0"/>
              <a:t>層に集約</a:t>
            </a:r>
            <a:r>
              <a:rPr lang="ja-JP" altLang="en-US" dirty="0"/>
              <a:t>すること</a:t>
            </a:r>
            <a:endParaRPr lang="en-US" altLang="ja-JP" dirty="0"/>
          </a:p>
          <a:p>
            <a:pPr marL="268288" lvl="1" indent="-268288">
              <a:tabLst>
                <a:tab pos="268288" algn="l"/>
              </a:tabLst>
            </a:pPr>
            <a:r>
              <a:rPr lang="ja-JP" altLang="en-US" b="1" dirty="0"/>
              <a:t>スタートアップの最初期は価値を届けられないと終わる</a:t>
            </a:r>
            <a:r>
              <a:rPr lang="ja-JP" altLang="en-US" dirty="0"/>
              <a:t> </a:t>
            </a:r>
            <a:r>
              <a:rPr lang="en-GB" altLang="ja-JP" dirty="0"/>
              <a:t>=&gt;</a:t>
            </a:r>
            <a:r>
              <a:rPr lang="en-GB" altLang="ja-JP" u="sng" dirty="0"/>
              <a:t> </a:t>
            </a:r>
            <a:r>
              <a:rPr lang="ja-JP" altLang="en-US" u="sng" dirty="0"/>
              <a:t>製品の価値提供の最大化に実用的なエコシステムが正義</a:t>
            </a:r>
            <a:endParaRPr lang="en-US" altLang="ja-JP" u="sng" dirty="0"/>
          </a:p>
        </p:txBody>
      </p:sp>
    </p:spTree>
    <p:extLst>
      <p:ext uri="{BB962C8B-B14F-4D97-AF65-F5344CB8AC3E}">
        <p14:creationId xmlns:p14="http://schemas.microsoft.com/office/powerpoint/2010/main" val="10028455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DFCCDFA7-4992-F16D-D6EC-7CEC649ED7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F2747A-1B25-C0B5-C576-58A801CDA6D0}"/>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8.</a:t>
            </a:r>
            <a:r>
              <a:rPr lang="en-GB" altLang="ja-JP" b="1" dirty="0">
                <a:latin typeface="Calibri (Headings)"/>
              </a:rPr>
              <a:t> </a:t>
            </a:r>
            <a:r>
              <a:rPr lang="ja-JP" altLang="en-US" b="1" dirty="0">
                <a:latin typeface="Calibri (Headings)"/>
                <a:sym typeface="Arial"/>
              </a:rPr>
              <a:t>まとめ</a:t>
            </a:r>
            <a:endParaRPr lang="en-GB" dirty="0">
              <a:latin typeface="Calibri (Headings)"/>
            </a:endParaRPr>
          </a:p>
        </p:txBody>
      </p:sp>
      <p:sp>
        <p:nvSpPr>
          <p:cNvPr id="4" name="スライド番号プレースホルダー 3">
            <a:extLst>
              <a:ext uri="{FF2B5EF4-FFF2-40B4-BE49-F238E27FC236}">
                <a16:creationId xmlns:a16="http://schemas.microsoft.com/office/drawing/2014/main" id="{81E7E057-7961-381E-91AB-66CA2E7426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46144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E0C0AE76-31F5-51A6-8BA7-0D03AF5B1E8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0BE497-BA0E-44FA-3F6B-1748F4BF5462}"/>
              </a:ext>
            </a:extLst>
          </p:cNvPr>
          <p:cNvSpPr>
            <a:spLocks noGrp="1"/>
          </p:cNvSpPr>
          <p:nvPr>
            <p:ph type="title"/>
          </p:nvPr>
        </p:nvSpPr>
        <p:spPr/>
        <p:txBody>
          <a:bodyPr/>
          <a:lstStyle/>
          <a:p>
            <a:pPr algn="ctr"/>
            <a:r>
              <a:rPr lang="en-US" altLang="ja-JP" b="1" dirty="0">
                <a:latin typeface="Calibri (Headings)"/>
              </a:rPr>
              <a:t>8.</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BCEF9B76-3E62-EEDE-3B04-064242C56B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BEFB37BF-5069-01D8-70C9-028FC2F7C894}"/>
              </a:ext>
            </a:extLst>
          </p:cNvPr>
          <p:cNvSpPr>
            <a:spLocks noGrp="1"/>
          </p:cNvSpPr>
          <p:nvPr>
            <p:ph idx="1"/>
          </p:nvPr>
        </p:nvSpPr>
        <p:spPr>
          <a:xfrm>
            <a:off x="838200" y="1825625"/>
            <a:ext cx="10515600" cy="4351338"/>
          </a:xfrm>
        </p:spPr>
        <p:txBody>
          <a:bodyPr>
            <a:normAutofit/>
          </a:bodyPr>
          <a:lstStyle/>
          <a:p>
            <a:pPr marL="342900" lvl="1" indent="-342900">
              <a:tabLst>
                <a:tab pos="268288" algn="l"/>
              </a:tabLst>
            </a:pPr>
            <a:r>
              <a:rPr lang="ja-JP" altLang="en-US" b="1" dirty="0"/>
              <a:t>従来の</a:t>
            </a:r>
            <a:r>
              <a:rPr lang="en-GB" altLang="ja-JP" b="1" dirty="0"/>
              <a:t> MVC</a:t>
            </a:r>
            <a:r>
              <a:rPr lang="en-GB" altLang="ja-JP" dirty="0"/>
              <a:t>: </a:t>
            </a:r>
            <a:r>
              <a:rPr lang="ja-JP" altLang="en-US" dirty="0"/>
              <a:t>アイデアから実装までのスピードが</a:t>
            </a:r>
            <a:r>
              <a:rPr lang="en-GB" altLang="ja-JP" dirty="0"/>
              <a:t> MVP </a:t>
            </a:r>
            <a:r>
              <a:rPr lang="ja-JP" altLang="en-US" dirty="0"/>
              <a:t>に最適</a:t>
            </a:r>
            <a:endParaRPr lang="en-GB" altLang="ja-JP" dirty="0"/>
          </a:p>
          <a:p>
            <a:pPr marL="628650" lvl="2" indent="-171450">
              <a:tabLst>
                <a:tab pos="268288" algn="l"/>
              </a:tabLst>
            </a:pPr>
            <a:r>
              <a:rPr lang="ja-JP" altLang="en-US" dirty="0"/>
              <a:t>→ </a:t>
            </a:r>
            <a:r>
              <a:rPr lang="ja-JP" altLang="en-US" b="1" dirty="0"/>
              <a:t>狭義</a:t>
            </a:r>
            <a:r>
              <a:rPr lang="ja-JP" altLang="en-US" dirty="0"/>
              <a:t>の</a:t>
            </a:r>
            <a:r>
              <a:rPr lang="en-GB" altLang="ja-JP" dirty="0"/>
              <a:t> "The Rails Way"</a:t>
            </a:r>
          </a:p>
          <a:p>
            <a:pPr marL="342900" lvl="1" indent="-342900">
              <a:tabLst>
                <a:tab pos="268288" algn="l"/>
              </a:tabLst>
            </a:pPr>
            <a:r>
              <a:rPr lang="ja-JP" altLang="en-US" b="1" dirty="0"/>
              <a:t>多層構造化</a:t>
            </a:r>
            <a:r>
              <a:rPr lang="en-GB" altLang="ja-JP" dirty="0"/>
              <a:t>: </a:t>
            </a:r>
            <a:r>
              <a:rPr lang="ja-JP" altLang="en-US" dirty="0"/>
              <a:t>規模拡大時の境界の明確化と保守・テスト容易性の担保</a:t>
            </a:r>
            <a:endParaRPr lang="en-GB" dirty="0"/>
          </a:p>
          <a:p>
            <a:pPr marL="628650" lvl="2" indent="-171450">
              <a:tabLst>
                <a:tab pos="268288" algn="l"/>
              </a:tabLst>
            </a:pPr>
            <a:r>
              <a:rPr lang="ja-JP" altLang="en-US" dirty="0"/>
              <a:t>→ </a:t>
            </a:r>
            <a:r>
              <a:rPr lang="ja-JP" altLang="en-US" b="1" dirty="0"/>
              <a:t>広義</a:t>
            </a:r>
            <a:r>
              <a:rPr lang="ja-JP" altLang="en-US" dirty="0"/>
              <a:t>の</a:t>
            </a:r>
            <a:r>
              <a:rPr lang="en-GB" altLang="ja-JP" dirty="0"/>
              <a:t> "The Rails Way"</a:t>
            </a:r>
          </a:p>
          <a:p>
            <a:pPr marL="342900" lvl="1" indent="-342900">
              <a:tabLst>
                <a:tab pos="268288" algn="l"/>
              </a:tabLst>
            </a:pPr>
            <a:r>
              <a:rPr lang="ja-JP" altLang="en-US" b="1" dirty="0"/>
              <a:t>漸進的な移行</a:t>
            </a:r>
            <a:r>
              <a:rPr lang="en-GB" altLang="ja-JP" dirty="0"/>
              <a:t>: </a:t>
            </a:r>
            <a:r>
              <a:rPr lang="ja-JP" altLang="en-US" dirty="0"/>
              <a:t>シンプルに始め複雑化した時に初めて多層化を導入</a:t>
            </a:r>
            <a:endParaRPr lang="en-GB" altLang="ja-JP" dirty="0"/>
          </a:p>
          <a:p>
            <a:pPr marL="342900" lvl="1" indent="-342900">
              <a:tabLst>
                <a:tab pos="268288" algn="l"/>
              </a:tabLst>
            </a:pPr>
            <a:r>
              <a:rPr lang="ja-JP" altLang="en-US" b="1" dirty="0"/>
              <a:t>長期保守</a:t>
            </a:r>
            <a:r>
              <a:rPr lang="en-GB" altLang="ja-JP" dirty="0"/>
              <a:t>: </a:t>
            </a:r>
            <a:r>
              <a:rPr lang="ja-JP" altLang="en-US" dirty="0"/>
              <a:t>現実に感じるペインを手掛かりにリファクタリング</a:t>
            </a:r>
            <a:endParaRPr lang="en-GB" altLang="ja-JP" dirty="0"/>
          </a:p>
          <a:p>
            <a:pPr marL="342900" lvl="1" indent="-342900">
              <a:tabLst>
                <a:tab pos="268288" algn="l"/>
              </a:tabLst>
            </a:pPr>
            <a:r>
              <a:rPr lang="ja-JP" altLang="en-US" b="1" dirty="0"/>
              <a:t>狭義の</a:t>
            </a:r>
            <a:r>
              <a:rPr lang="en-GB" altLang="ja-JP" b="1" dirty="0"/>
              <a:t> "The Rails Way"</a:t>
            </a:r>
            <a:r>
              <a:rPr lang="en-GB" altLang="ja-JP" dirty="0"/>
              <a:t>: </a:t>
            </a:r>
            <a:r>
              <a:rPr lang="ja-JP" altLang="en-US" dirty="0"/>
              <a:t>大半が</a:t>
            </a:r>
            <a:r>
              <a:rPr lang="en-GB" altLang="ja-JP" dirty="0"/>
              <a:t> </a:t>
            </a:r>
            <a:r>
              <a:rPr lang="en-GB" altLang="ja-JP" b="1" dirty="0"/>
              <a:t>CoC + MVC </a:t>
            </a:r>
            <a:r>
              <a:rPr lang="ja-JP" altLang="en-US" dirty="0"/>
              <a:t>の図式に合意</a:t>
            </a:r>
            <a:endParaRPr lang="en-GB" altLang="ja-JP" b="1" dirty="0"/>
          </a:p>
          <a:p>
            <a:pPr marL="342900" lvl="1" indent="-342900">
              <a:tabLst>
                <a:tab pos="268288" algn="l"/>
              </a:tabLst>
            </a:pPr>
            <a:r>
              <a:rPr lang="ja-JP" altLang="en-US" b="1" dirty="0"/>
              <a:t>広義の</a:t>
            </a:r>
            <a:r>
              <a:rPr lang="en-GB" altLang="ja-JP" b="1" dirty="0"/>
              <a:t>"The Rails Way"</a:t>
            </a:r>
            <a:r>
              <a:rPr lang="en-GB" altLang="ja-JP" dirty="0"/>
              <a:t>: </a:t>
            </a:r>
            <a:r>
              <a:rPr lang="ja-JP" altLang="en-US" dirty="0"/>
              <a:t>大半が</a:t>
            </a:r>
            <a:r>
              <a:rPr lang="en-GB" altLang="ja-JP" dirty="0"/>
              <a:t> </a:t>
            </a:r>
            <a:r>
              <a:rPr lang="en-GB" altLang="ja-JP" b="1" dirty="0"/>
              <a:t>Service Objects</a:t>
            </a:r>
            <a:r>
              <a:rPr lang="en-GB" altLang="ja-JP" dirty="0"/>
              <a:t> </a:t>
            </a:r>
            <a:r>
              <a:rPr lang="ja-JP" altLang="en-US" dirty="0"/>
              <a:t>にペインを感じていた</a:t>
            </a:r>
            <a:endParaRPr lang="en-GB" altLang="ja-JP" dirty="0"/>
          </a:p>
          <a:p>
            <a:pPr marL="342900" lvl="1" indent="-342900">
              <a:tabLst>
                <a:tab pos="268288" algn="l"/>
              </a:tabLst>
            </a:pPr>
            <a:r>
              <a:rPr lang="en-GB" altLang="ja-JP" b="1" dirty="0"/>
              <a:t>"The Rails Way" </a:t>
            </a:r>
            <a:r>
              <a:rPr lang="ja-JP" altLang="en-US" b="1" dirty="0"/>
              <a:t>から外れる時</a:t>
            </a:r>
            <a:r>
              <a:rPr lang="en-GB" altLang="ja-JP" dirty="0"/>
              <a:t>: </a:t>
            </a:r>
            <a:r>
              <a:rPr lang="ja-JP" altLang="en-US" dirty="0"/>
              <a:t>海外出身</a:t>
            </a:r>
            <a:r>
              <a:rPr lang="en-GB" altLang="ja-JP" dirty="0"/>
              <a:t> Rubyists </a:t>
            </a:r>
            <a:r>
              <a:rPr lang="ja-JP" altLang="en-US" dirty="0"/>
              <a:t>にとっては</a:t>
            </a:r>
            <a:r>
              <a:rPr lang="ja-JP" altLang="en-US" b="1" dirty="0"/>
              <a:t>デフォルトのエコシステムを入れ替えた</a:t>
            </a:r>
            <a:r>
              <a:rPr lang="ja-JP" altLang="en-US" dirty="0"/>
              <a:t>時で、日本人</a:t>
            </a:r>
            <a:r>
              <a:rPr lang="en-GB" altLang="ja-JP" dirty="0"/>
              <a:t> Rubyists </a:t>
            </a:r>
            <a:r>
              <a:rPr lang="ja-JP" altLang="en-US" dirty="0"/>
              <a:t>にとってのそれが</a:t>
            </a:r>
            <a:r>
              <a:rPr lang="en-GB" altLang="ja-JP" dirty="0"/>
              <a:t> </a:t>
            </a:r>
            <a:r>
              <a:rPr lang="en-GB" altLang="ja-JP" b="1" dirty="0"/>
              <a:t>CRUD </a:t>
            </a:r>
            <a:r>
              <a:rPr lang="ja-JP" altLang="en-US" b="1" dirty="0"/>
              <a:t>以外のアクションが生えた</a:t>
            </a:r>
            <a:r>
              <a:rPr lang="ja-JP" altLang="en-US" dirty="0"/>
              <a:t>時であることと好対照</a:t>
            </a:r>
            <a:endParaRPr lang="en-GB" altLang="ja-JP" b="1" dirty="0"/>
          </a:p>
        </p:txBody>
      </p:sp>
    </p:spTree>
    <p:extLst>
      <p:ext uri="{BB962C8B-B14F-4D97-AF65-F5344CB8AC3E}">
        <p14:creationId xmlns:p14="http://schemas.microsoft.com/office/powerpoint/2010/main" val="1240356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a:extLst>
            <a:ext uri="{FF2B5EF4-FFF2-40B4-BE49-F238E27FC236}">
              <a16:creationId xmlns:a16="http://schemas.microsoft.com/office/drawing/2014/main" id="{AFED815E-49C9-797E-D05D-CC1DFA266A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6150BA-4150-77DE-5D2B-2E1AA4E8A359}"/>
              </a:ext>
            </a:extLst>
          </p:cNvPr>
          <p:cNvSpPr>
            <a:spLocks noGrp="1"/>
          </p:cNvSpPr>
          <p:nvPr>
            <p:ph type="title"/>
          </p:nvPr>
        </p:nvSpPr>
        <p:spPr/>
        <p:txBody>
          <a:bodyPr/>
          <a:lstStyle/>
          <a:p>
            <a:pPr algn="ctr"/>
            <a:r>
              <a:rPr lang="en-US" altLang="ja-JP" b="1" dirty="0">
                <a:latin typeface="Calibri (Headings)"/>
              </a:rPr>
              <a:t>8.</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D3EE8FF-CB2A-6BD9-7508-EACBC4E90A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E8ADB8FA-EBD5-5B3D-7E6A-805112507188}"/>
              </a:ext>
            </a:extLst>
          </p:cNvPr>
          <p:cNvSpPr>
            <a:spLocks noGrp="1"/>
          </p:cNvSpPr>
          <p:nvPr>
            <p:ph idx="1"/>
          </p:nvPr>
        </p:nvSpPr>
        <p:spPr>
          <a:xfrm>
            <a:off x="838200" y="1825625"/>
            <a:ext cx="10515600" cy="4351338"/>
          </a:xfrm>
        </p:spPr>
        <p:txBody>
          <a:bodyPr>
            <a:normAutofit/>
          </a:bodyPr>
          <a:lstStyle/>
          <a:p>
            <a:pPr marL="0" lvl="1" indent="0">
              <a:buNone/>
              <a:tabLst>
                <a:tab pos="268288" algn="l"/>
              </a:tabLst>
            </a:pPr>
            <a:r>
              <a:rPr lang="ja-JP" altLang="en-US" dirty="0"/>
              <a:t>長い話をまとめると</a:t>
            </a:r>
            <a:r>
              <a:rPr lang="en-GB" altLang="ja-JP" dirty="0"/>
              <a:t>…</a:t>
            </a:r>
          </a:p>
          <a:p>
            <a:pPr marL="0" lvl="1" indent="0">
              <a:buNone/>
              <a:tabLst>
                <a:tab pos="268288" algn="l"/>
              </a:tabLst>
            </a:pPr>
            <a:endParaRPr lang="en-GB" altLang="ja-JP" dirty="0"/>
          </a:p>
          <a:p>
            <a:pPr marL="0" lvl="1" indent="0">
              <a:buNone/>
              <a:tabLst>
                <a:tab pos="268288" algn="l"/>
              </a:tabLst>
            </a:pPr>
            <a:endParaRPr lang="en-GB" altLang="ja-JP" dirty="0"/>
          </a:p>
          <a:p>
            <a:pPr marL="0" lvl="1" indent="0">
              <a:buNone/>
              <a:tabLst>
                <a:tab pos="268288" algn="l"/>
              </a:tabLst>
            </a:pPr>
            <a:endParaRPr lang="en-GB" altLang="ja-JP" dirty="0"/>
          </a:p>
          <a:p>
            <a:pPr marL="0" lvl="1" indent="0">
              <a:buNone/>
              <a:tabLst>
                <a:tab pos="268288" algn="l"/>
              </a:tabLst>
            </a:pPr>
            <a:endParaRPr lang="en-GB" altLang="ja-JP" dirty="0"/>
          </a:p>
          <a:p>
            <a:pPr marL="0" lvl="1" indent="0" algn="ctr">
              <a:buNone/>
              <a:tabLst>
                <a:tab pos="268288" algn="l"/>
              </a:tabLst>
            </a:pPr>
            <a:r>
              <a:rPr lang="en-GB" altLang="ja-JP" sz="4000" dirty="0"/>
              <a:t>"</a:t>
            </a:r>
            <a:r>
              <a:rPr lang="en-GB" altLang="ja-JP" sz="4000" b="1" dirty="0"/>
              <a:t>Think Less, Create More!</a:t>
            </a:r>
            <a:r>
              <a:rPr lang="en-GB" altLang="ja-JP" sz="4000" dirty="0"/>
              <a:t>" </a:t>
            </a:r>
            <a:r>
              <a:rPr lang="ja-JP" altLang="en-US" sz="4000" dirty="0"/>
              <a:t>こそ</a:t>
            </a:r>
            <a:r>
              <a:rPr lang="en-GB" altLang="ja-JP" sz="4000" dirty="0"/>
              <a:t> The Rails Way!</a:t>
            </a:r>
            <a:endParaRPr lang="en-US" altLang="ja-JP" sz="4000" dirty="0"/>
          </a:p>
        </p:txBody>
      </p:sp>
    </p:spTree>
    <p:extLst>
      <p:ext uri="{BB962C8B-B14F-4D97-AF65-F5344CB8AC3E}">
        <p14:creationId xmlns:p14="http://schemas.microsoft.com/office/powerpoint/2010/main" val="13622976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9.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9.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68288" lvl="1" indent="-268288">
              <a:spcBef>
                <a:spcPts val="0"/>
              </a:spcBef>
              <a:buClr>
                <a:schemeClr val="dk1"/>
              </a:buClr>
              <a:buSzPts val="2800"/>
            </a:pPr>
            <a:r>
              <a:rPr lang="en-GB" altLang="ja-JP" dirty="0"/>
              <a:t>Vladimir Dementyev</a:t>
            </a:r>
            <a:r>
              <a:rPr lang="ja-JP" altLang="en-US" dirty="0"/>
              <a:t>、</a:t>
            </a:r>
            <a:r>
              <a:rPr lang="en-GB" altLang="ja-JP" i="1" dirty="0">
                <a:hlinkClick r:id="rId3"/>
              </a:rPr>
              <a:t>Layered Design for Ruby on Rails Application</a:t>
            </a:r>
            <a:r>
              <a:rPr lang="ja-JP" altLang="en-US" dirty="0"/>
              <a:t> 、バーミンガム、 </a:t>
            </a:r>
            <a:r>
              <a:rPr lang="en-GB" altLang="ja-JP" dirty="0"/>
              <a:t>2023</a:t>
            </a:r>
            <a:r>
              <a:rPr lang="ja-JP" altLang="en-US" dirty="0"/>
              <a:t>年</a:t>
            </a:r>
            <a:endParaRPr lang="en-GB" altLang="ja-JP" dirty="0"/>
          </a:p>
          <a:p>
            <a:pPr marL="268288" lvl="1" indent="-268288">
              <a:spcBef>
                <a:spcPts val="0"/>
              </a:spcBef>
              <a:buClr>
                <a:schemeClr val="dk1"/>
              </a:buClr>
              <a:buSzPts val="2800"/>
            </a:pPr>
            <a:r>
              <a:rPr lang="ja-JP" altLang="en-US" dirty="0"/>
              <a:t>石田隼人、</a:t>
            </a:r>
            <a:r>
              <a:rPr lang="en-GB" altLang="ja-JP" i="1" dirty="0">
                <a:hlinkClick r:id="rId4"/>
              </a:rPr>
              <a:t>Layered Design for Ruby on Rails Application - Full Summary</a:t>
            </a:r>
            <a:r>
              <a:rPr lang="ja-JP" altLang="en-US" dirty="0"/>
              <a:t> 、東京、 </a:t>
            </a:r>
            <a:r>
              <a:rPr lang="en-GB" altLang="ja-JP" dirty="0"/>
              <a:t>2025</a:t>
            </a:r>
            <a:r>
              <a:rPr lang="ja-JP" altLang="en-US" dirty="0"/>
              <a:t>年</a:t>
            </a:r>
            <a:endParaRPr lang="en-GB" altLang="ja-JP" dirty="0"/>
          </a:p>
          <a:p>
            <a:pPr marL="268288" lvl="1" indent="-268288">
              <a:spcBef>
                <a:spcPts val="0"/>
              </a:spcBef>
              <a:buClr>
                <a:schemeClr val="dk1"/>
              </a:buClr>
              <a:buSzPts val="2800"/>
            </a:pPr>
            <a:r>
              <a:rPr lang="ja-JP" altLang="en-US" dirty="0"/>
              <a:t>石田隼人、</a:t>
            </a:r>
            <a:r>
              <a:rPr lang="en-GB" altLang="ja-JP" i="1" dirty="0">
                <a:hlinkClick r:id="rId5"/>
              </a:rPr>
              <a:t>Layered Design for Ruby on Rails Application - Concise Summary</a:t>
            </a:r>
            <a:r>
              <a:rPr lang="ja-JP" altLang="en-US" dirty="0"/>
              <a:t> 、東京、 </a:t>
            </a:r>
            <a:r>
              <a:rPr lang="en-GB" altLang="ja-JP" dirty="0"/>
              <a:t>2025</a:t>
            </a:r>
            <a:r>
              <a:rPr lang="ja-JP" altLang="en-US" dirty="0"/>
              <a:t>年</a:t>
            </a:r>
            <a:endParaRPr lang="en-GB" altLang="ja-JP" dirty="0"/>
          </a:p>
          <a:p>
            <a:pPr marL="268288" lvl="1" indent="-268288">
              <a:spcBef>
                <a:spcPts val="0"/>
              </a:spcBef>
              <a:buClr>
                <a:schemeClr val="dk1"/>
              </a:buClr>
              <a:buSzPts val="2800"/>
            </a:pPr>
            <a:r>
              <a:rPr lang="en-GB" altLang="ja-JP" dirty="0">
                <a:hlinkClick r:id="rId6"/>
              </a:rPr>
              <a:t>"The Rails Way" Survey - EN</a:t>
            </a:r>
            <a:endParaRPr lang="en-GB" altLang="ja-JP" dirty="0"/>
          </a:p>
          <a:p>
            <a:pPr marL="268288" lvl="1" indent="-268288">
              <a:spcBef>
                <a:spcPts val="0"/>
              </a:spcBef>
              <a:buClr>
                <a:schemeClr val="dk1"/>
              </a:buClr>
              <a:buSzPts val="2800"/>
            </a:pPr>
            <a:r>
              <a:rPr lang="en-GB" altLang="ja-JP" dirty="0">
                <a:hlinkClick r:id="rId7"/>
              </a:rPr>
              <a:t>"The Rails Way" Survey - JP</a:t>
            </a:r>
            <a:endParaRPr lang="en-GB" altLang="ja-JP" dirty="0"/>
          </a:p>
          <a:p>
            <a:pPr marL="268288" lvl="1" indent="-268288">
              <a:spcBef>
                <a:spcPts val="0"/>
              </a:spcBef>
              <a:buClr>
                <a:schemeClr val="dk1"/>
              </a:buClr>
              <a:buSzPts val="2800"/>
            </a:pPr>
            <a:r>
              <a:rPr lang="en-GB" altLang="ja-JP" dirty="0">
                <a:hlinkClick r:id="rId8"/>
              </a:rPr>
              <a:t>Statistics of "The Rails Way" Survey</a:t>
            </a:r>
            <a:endParaRPr lang="en-GB" altLang="ja-JP" dirty="0"/>
          </a:p>
          <a:p>
            <a:pPr marL="268288" lvl="1" indent="-268288">
              <a:spcBef>
                <a:spcPts val="0"/>
              </a:spcBef>
              <a:buClr>
                <a:schemeClr val="dk1"/>
              </a:buClr>
              <a:buSzPts val="2800"/>
            </a:pPr>
            <a:r>
              <a:rPr lang="en-GB" altLang="ja-JP" dirty="0"/>
              <a:t>TechRacho</a:t>
            </a:r>
            <a:r>
              <a:rPr lang="ja-JP" altLang="en-US" dirty="0"/>
              <a:t>、「 </a:t>
            </a:r>
            <a:r>
              <a:rPr lang="en-US" altLang="ja-JP" dirty="0">
                <a:hlinkClick r:id="rId9"/>
              </a:rPr>
              <a:t>Ruby: Dry-</a:t>
            </a:r>
            <a:r>
              <a:rPr lang="en-US" altLang="ja-JP" dirty="0" err="1">
                <a:hlinkClick r:id="rId9"/>
              </a:rPr>
              <a:t>rb</a:t>
            </a:r>
            <a:r>
              <a:rPr lang="en-US" altLang="ja-JP" dirty="0">
                <a:hlinkClick r:id="rId9"/>
              </a:rPr>
              <a:t> gem</a:t>
            </a:r>
            <a:r>
              <a:rPr lang="ja-JP" altLang="en-US" dirty="0">
                <a:hlinkClick r:id="rId9"/>
              </a:rPr>
              <a:t>シリーズのラインナップと概要 </a:t>
            </a:r>
            <a:r>
              <a:rPr lang="ja-JP" altLang="en-US" dirty="0"/>
              <a:t>」、東京、</a:t>
            </a:r>
            <a:r>
              <a:rPr lang="en-US" altLang="ja-JP" dirty="0"/>
              <a:t>2017</a:t>
            </a:r>
            <a:r>
              <a:rPr lang="ja-JP" altLang="en-US" dirty="0"/>
              <a:t>年</a:t>
            </a:r>
            <a:endParaRPr lang="en-GB" altLang="ja-JP" dirty="0"/>
          </a:p>
        </p:txBody>
      </p:sp>
    </p:spTree>
    <p:extLst>
      <p:ext uri="{BB962C8B-B14F-4D97-AF65-F5344CB8AC3E}">
        <p14:creationId xmlns:p14="http://schemas.microsoft.com/office/powerpoint/2010/main" val="30412465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566</TotalTime>
  <Words>2761</Words>
  <Application>Microsoft Office PowerPoint</Application>
  <PresentationFormat>Widescreen</PresentationFormat>
  <Paragraphs>406</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-apple-system</vt:lpstr>
      <vt:lpstr>Calibri (Headings)</vt:lpstr>
      <vt:lpstr>Arial</vt:lpstr>
      <vt:lpstr>Calibri</vt:lpstr>
      <vt:lpstr>Calibri Light</vt:lpstr>
      <vt:lpstr>Office テーマ</vt:lpstr>
      <vt:lpstr>The Rails Way とは？</vt:lpstr>
      <vt:lpstr>自己紹介</vt:lpstr>
      <vt:lpstr>免許 / 資格</vt:lpstr>
      <vt:lpstr>スキルスタック</vt:lpstr>
      <vt:lpstr>職歴</vt:lpstr>
      <vt:lpstr>職歴</vt:lpstr>
      <vt:lpstr>国際交流活動</vt:lpstr>
      <vt:lpstr>Agenda</vt:lpstr>
      <vt:lpstr>1. 何故興味を持ったか？</vt:lpstr>
      <vt:lpstr>1. 何故興味を持ったか？</vt:lpstr>
      <vt:lpstr>1. 何故興味を持ったか？</vt:lpstr>
      <vt:lpstr>1. 何故興味を持ったか？</vt:lpstr>
      <vt:lpstr>1. 何故興味を持ったか？</vt:lpstr>
      <vt:lpstr>1. 何故興味を持ったか？</vt:lpstr>
      <vt:lpstr>1. 何故興味を持ったか？</vt:lpstr>
      <vt:lpstr>2. "The Rails Way" の哲学 -MVC vs. 多層構造型-</vt:lpstr>
      <vt:lpstr>2. "The Rails Way" の哲学 -MVC vs. 多層構造型-</vt:lpstr>
      <vt:lpstr>2. "The Rails Way" の哲学 -MVC vs. 多層構造型-</vt:lpstr>
      <vt:lpstr>2. "The Rails Way" の哲学 -MVC vs. 多層構造型-</vt:lpstr>
      <vt:lpstr>3. 主要な責務 -MVC vs. 多層構造型-</vt:lpstr>
      <vt:lpstr>3. 主要な責務 -MVC vs. 多層構造型-</vt:lpstr>
      <vt:lpstr>4. 拡張型 The Rails Way の主要構成要素(多層構造型)</vt:lpstr>
      <vt:lpstr>4. 拡張型 The Rails Way の主要構成要素(多層構造型)</vt:lpstr>
      <vt:lpstr>4. 拡張型 The Rails Way の主要構成要素(多層構造型)</vt:lpstr>
      <vt:lpstr>4. 拡張型 The Rails Way の主要構成要素(多層構造型)</vt:lpstr>
      <vt:lpstr>4. 拡張型 The Rails Way の主要構成要素(多層構造型)</vt:lpstr>
      <vt:lpstr>5. 長所・短所</vt:lpstr>
      <vt:lpstr>5. 長所・短所</vt:lpstr>
      <vt:lpstr>5. 長所・短所</vt:lpstr>
      <vt:lpstr>5. 長所・短所</vt:lpstr>
      <vt:lpstr>6. 漸進的な多層構造の取入れ戦略</vt:lpstr>
      <vt:lpstr>6. 漸進的な多層構造の取入れ戦略</vt:lpstr>
      <vt:lpstr>6. 漸進的な多層構造の取入れ戦略</vt:lpstr>
      <vt:lpstr>6. 漸進的な多層構造の取入れ戦略</vt:lpstr>
      <vt:lpstr>7. アンケート回答</vt:lpstr>
      <vt:lpstr>7. アンケート回答</vt:lpstr>
      <vt:lpstr>7. アンケート回答</vt:lpstr>
      <vt:lpstr>7. アンケート回答</vt:lpstr>
      <vt:lpstr>7. アンケート回答</vt:lpstr>
      <vt:lpstr>7. アンケート回答</vt:lpstr>
      <vt:lpstr>7. アンケート回答</vt:lpstr>
      <vt:lpstr>7. アンケート回答</vt:lpstr>
      <vt:lpstr>7. アンケート回答</vt:lpstr>
      <vt:lpstr>7. アンケート回答</vt:lpstr>
      <vt:lpstr>7. アンケート回答</vt:lpstr>
      <vt:lpstr>8. まとめ</vt:lpstr>
      <vt:lpstr>8. まとめ</vt:lpstr>
      <vt:lpstr>8. まとめ</vt:lpstr>
      <vt:lpstr>9. 参考文献</vt:lpstr>
      <vt:lpstr>9.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112</cp:revision>
  <dcterms:modified xsi:type="dcterms:W3CDTF">2025-11-14T10:46:20Z</dcterms:modified>
</cp:coreProperties>
</file>