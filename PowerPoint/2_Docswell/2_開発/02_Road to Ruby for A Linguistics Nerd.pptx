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87" r:id="rId3"/>
    <p:sldId id="388" r:id="rId4"/>
    <p:sldId id="432" r:id="rId5"/>
    <p:sldId id="433" r:id="rId6"/>
    <p:sldId id="434" r:id="rId7"/>
    <p:sldId id="280" r:id="rId8"/>
    <p:sldId id="429" r:id="rId9"/>
    <p:sldId id="311" r:id="rId10"/>
    <p:sldId id="259" r:id="rId11"/>
    <p:sldId id="330" r:id="rId12"/>
    <p:sldId id="389" r:id="rId13"/>
    <p:sldId id="390" r:id="rId14"/>
    <p:sldId id="325" r:id="rId15"/>
    <p:sldId id="354" r:id="rId16"/>
    <p:sldId id="391" r:id="rId17"/>
    <p:sldId id="393" r:id="rId18"/>
    <p:sldId id="394" r:id="rId19"/>
    <p:sldId id="395" r:id="rId20"/>
    <p:sldId id="396" r:id="rId21"/>
    <p:sldId id="397" r:id="rId22"/>
    <p:sldId id="398" r:id="rId23"/>
    <p:sldId id="430" r:id="rId24"/>
    <p:sldId id="326" r:id="rId25"/>
    <p:sldId id="336" r:id="rId26"/>
    <p:sldId id="417" r:id="rId27"/>
    <p:sldId id="418" r:id="rId28"/>
    <p:sldId id="419" r:id="rId29"/>
    <p:sldId id="425" r:id="rId30"/>
    <p:sldId id="431" r:id="rId31"/>
    <p:sldId id="420" r:id="rId32"/>
    <p:sldId id="357" r:id="rId33"/>
    <p:sldId id="358" r:id="rId34"/>
    <p:sldId id="328" r:id="rId35"/>
    <p:sldId id="426" r:id="rId36"/>
    <p:sldId id="427" r:id="rId37"/>
    <p:sldId id="295" r:id="rId38"/>
    <p:sldId id="428" r:id="rId39"/>
    <p:sldId id="28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 id="2" name="Hayato Ishida" initials="HI" lastIdx="1" clrIdx="1">
    <p:extLst>
      <p:ext uri="{19B8F6BF-5375-455C-9EA6-DF929625EA0E}">
        <p15:presenceInfo xmlns:p15="http://schemas.microsoft.com/office/powerpoint/2012/main" userId="585fa0fa6384767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80D854D0-9EE2-489A-9E5E-FF77E456CBF0}"/>
    <pc:docChg chg="custSel addSld delSld modSld sldOrd">
      <pc:chgData name="Hayato Ishida" userId="585fa0fa6384767c" providerId="LiveId" clId="{80D854D0-9EE2-489A-9E5E-FF77E456CBF0}" dt="2025-09-01T03:35:03.305" v="17" actId="20577"/>
      <pc:docMkLst>
        <pc:docMk/>
      </pc:docMkLst>
      <pc:sldChg chg="del">
        <pc:chgData name="Hayato Ishida" userId="585fa0fa6384767c" providerId="LiveId" clId="{80D854D0-9EE2-489A-9E5E-FF77E456CBF0}" dt="2025-08-31T18:00:03.728" v="5" actId="47"/>
        <pc:sldMkLst>
          <pc:docMk/>
          <pc:sldMk cId="155858466" sldId="286"/>
        </pc:sldMkLst>
      </pc:sldChg>
      <pc:sldChg chg="addSp delSp modSp mod">
        <pc:chgData name="Hayato Ishida" userId="585fa0fa6384767c" providerId="LiveId" clId="{80D854D0-9EE2-489A-9E5E-FF77E456CBF0}" dt="2025-08-31T18:03:30.351" v="9"/>
        <pc:sldMkLst>
          <pc:docMk/>
          <pc:sldMk cId="654251065" sldId="287"/>
        </pc:sldMkLst>
        <pc:spChg chg="del">
          <ac:chgData name="Hayato Ishida" userId="585fa0fa6384767c" providerId="LiveId" clId="{80D854D0-9EE2-489A-9E5E-FF77E456CBF0}" dt="2025-08-31T17:59:54.306" v="0" actId="478"/>
          <ac:spMkLst>
            <pc:docMk/>
            <pc:sldMk cId="654251065" sldId="287"/>
            <ac:spMk id="2" creationId="{6E8C9544-8492-7049-EBB8-B905A9824E76}"/>
          </ac:spMkLst>
        </pc:spChg>
        <pc:spChg chg="add del mod">
          <ac:chgData name="Hayato Ishida" userId="585fa0fa6384767c" providerId="LiveId" clId="{80D854D0-9EE2-489A-9E5E-FF77E456CBF0}" dt="2025-08-31T17:59:55.544" v="1" actId="478"/>
          <ac:spMkLst>
            <pc:docMk/>
            <pc:sldMk cId="654251065" sldId="287"/>
            <ac:spMk id="4" creationId="{9AED4DC7-AEB6-1F81-0BC6-1631806660DC}"/>
          </ac:spMkLst>
        </pc:spChg>
        <pc:spChg chg="del">
          <ac:chgData name="Hayato Ishida" userId="585fa0fa6384767c" providerId="LiveId" clId="{80D854D0-9EE2-489A-9E5E-FF77E456CBF0}" dt="2025-08-31T17:59:54.306" v="0" actId="478"/>
          <ac:spMkLst>
            <pc:docMk/>
            <pc:sldMk cId="654251065" sldId="287"/>
            <ac:spMk id="6" creationId="{3C7F9C4B-DAAF-1B5F-C72A-FAA4599E739C}"/>
          </ac:spMkLst>
        </pc:spChg>
        <pc:spChg chg="del">
          <ac:chgData name="Hayato Ishida" userId="585fa0fa6384767c" providerId="LiveId" clId="{80D854D0-9EE2-489A-9E5E-FF77E456CBF0}" dt="2025-08-31T17:59:54.306" v="0" actId="478"/>
          <ac:spMkLst>
            <pc:docMk/>
            <pc:sldMk cId="654251065" sldId="287"/>
            <ac:spMk id="7" creationId="{DDCDB7E3-42A5-B3A7-E3E8-B2F58B8B703A}"/>
          </ac:spMkLst>
        </pc:spChg>
        <pc:spChg chg="add del mod">
          <ac:chgData name="Hayato Ishida" userId="585fa0fa6384767c" providerId="LiveId" clId="{80D854D0-9EE2-489A-9E5E-FF77E456CBF0}" dt="2025-08-31T17:59:55.544" v="1" actId="478"/>
          <ac:spMkLst>
            <pc:docMk/>
            <pc:sldMk cId="654251065" sldId="287"/>
            <ac:spMk id="8" creationId="{93F69A31-2CAB-38A8-818D-F608E5433A9C}"/>
          </ac:spMkLst>
        </pc:spChg>
        <pc:spChg chg="add mod">
          <ac:chgData name="Hayato Ishida" userId="585fa0fa6384767c" providerId="LiveId" clId="{80D854D0-9EE2-489A-9E5E-FF77E456CBF0}" dt="2025-08-31T18:03:30.351" v="9"/>
          <ac:spMkLst>
            <pc:docMk/>
            <pc:sldMk cId="654251065" sldId="287"/>
            <ac:spMk id="9" creationId="{BB8D17BC-180A-B7E3-A7E4-56DC024BDB72}"/>
          </ac:spMkLst>
        </pc:spChg>
        <pc:spChg chg="add mod">
          <ac:chgData name="Hayato Ishida" userId="585fa0fa6384767c" providerId="LiveId" clId="{80D854D0-9EE2-489A-9E5E-FF77E456CBF0}" dt="2025-08-31T18:03:30.351" v="9"/>
          <ac:spMkLst>
            <pc:docMk/>
            <pc:sldMk cId="654251065" sldId="287"/>
            <ac:spMk id="10" creationId="{11402086-5B18-A631-86B7-6B39001A026D}"/>
          </ac:spMkLst>
        </pc:spChg>
        <pc:spChg chg="add mod">
          <ac:chgData name="Hayato Ishida" userId="585fa0fa6384767c" providerId="LiveId" clId="{80D854D0-9EE2-489A-9E5E-FF77E456CBF0}" dt="2025-08-31T18:03:30.351" v="9"/>
          <ac:spMkLst>
            <pc:docMk/>
            <pc:sldMk cId="654251065" sldId="287"/>
            <ac:spMk id="11" creationId="{ADC625AA-4A4A-8A22-B6C2-0E73EA2BA2D2}"/>
          </ac:spMkLst>
        </pc:spChg>
        <pc:picChg chg="del">
          <ac:chgData name="Hayato Ishida" userId="585fa0fa6384767c" providerId="LiveId" clId="{80D854D0-9EE2-489A-9E5E-FF77E456CBF0}" dt="2025-08-31T17:59:54.306" v="0" actId="478"/>
          <ac:picMkLst>
            <pc:docMk/>
            <pc:sldMk cId="654251065" sldId="287"/>
            <ac:picMk id="12" creationId="{5153A7F6-F1EE-57FF-46F7-30814F888C83}"/>
          </ac:picMkLst>
        </pc:picChg>
        <pc:picChg chg="add mod">
          <ac:chgData name="Hayato Ishida" userId="585fa0fa6384767c" providerId="LiveId" clId="{80D854D0-9EE2-489A-9E5E-FF77E456CBF0}" dt="2025-08-31T18:03:30.351" v="9"/>
          <ac:picMkLst>
            <pc:docMk/>
            <pc:sldMk cId="654251065" sldId="287"/>
            <ac:picMk id="13" creationId="{6BD0CCE9-246E-3B2F-9E2D-907EB071CE78}"/>
          </ac:picMkLst>
        </pc:picChg>
      </pc:sldChg>
      <pc:sldChg chg="del">
        <pc:chgData name="Hayato Ishida" userId="585fa0fa6384767c" providerId="LiveId" clId="{80D854D0-9EE2-489A-9E5E-FF77E456CBF0}" dt="2025-08-31T18:00:03.728" v="5" actId="47"/>
        <pc:sldMkLst>
          <pc:docMk/>
          <pc:sldMk cId="3064566856" sldId="387"/>
        </pc:sldMkLst>
      </pc:sldChg>
      <pc:sldChg chg="modSp">
        <pc:chgData name="Hayato Ishida" userId="585fa0fa6384767c" providerId="LiveId" clId="{80D854D0-9EE2-489A-9E5E-FF77E456CBF0}" dt="2025-09-01T03:34:12.711" v="14"/>
        <pc:sldMkLst>
          <pc:docMk/>
          <pc:sldMk cId="1753281542" sldId="397"/>
        </pc:sldMkLst>
        <pc:spChg chg="mod">
          <ac:chgData name="Hayato Ishida" userId="585fa0fa6384767c" providerId="LiveId" clId="{80D854D0-9EE2-489A-9E5E-FF77E456CBF0}" dt="2025-09-01T03:34:12.711" v="14"/>
          <ac:spMkLst>
            <pc:docMk/>
            <pc:sldMk cId="1753281542" sldId="397"/>
            <ac:spMk id="9" creationId="{7D9BE90A-84CD-6BD2-7F11-DCDDB3C3A96B}"/>
          </ac:spMkLst>
        </pc:spChg>
      </pc:sldChg>
      <pc:sldChg chg="modSp">
        <pc:chgData name="Hayato Ishida" userId="585fa0fa6384767c" providerId="LiveId" clId="{80D854D0-9EE2-489A-9E5E-FF77E456CBF0}" dt="2025-09-01T03:34:12.711" v="14"/>
        <pc:sldMkLst>
          <pc:docMk/>
          <pc:sldMk cId="2387084491" sldId="427"/>
        </pc:sldMkLst>
        <pc:spChg chg="mod">
          <ac:chgData name="Hayato Ishida" userId="585fa0fa6384767c" providerId="LiveId" clId="{80D854D0-9EE2-489A-9E5E-FF77E456CBF0}" dt="2025-09-01T03:34:12.711" v="14"/>
          <ac:spMkLst>
            <pc:docMk/>
            <pc:sldMk cId="2387084491" sldId="427"/>
            <ac:spMk id="7" creationId="{FC587C6A-1806-A40F-9B05-51206C645068}"/>
          </ac:spMkLst>
        </pc:spChg>
      </pc:sldChg>
      <pc:sldChg chg="addSp modSp add ord">
        <pc:chgData name="Hayato Ishida" userId="585fa0fa6384767c" providerId="LiveId" clId="{80D854D0-9EE2-489A-9E5E-FF77E456CBF0}" dt="2025-08-31T18:05:23.453" v="10"/>
        <pc:sldMkLst>
          <pc:docMk/>
          <pc:sldMk cId="3496077937" sldId="432"/>
        </pc:sldMkLst>
        <pc:spChg chg="add mod">
          <ac:chgData name="Hayato Ishida" userId="585fa0fa6384767c" providerId="LiveId" clId="{80D854D0-9EE2-489A-9E5E-FF77E456CBF0}" dt="2025-08-31T18:05:23.453" v="10"/>
          <ac:spMkLst>
            <pc:docMk/>
            <pc:sldMk cId="3496077937" sldId="432"/>
            <ac:spMk id="2" creationId="{29AE3214-3F3D-2F1E-885D-1E9500C11141}"/>
          </ac:spMkLst>
        </pc:spChg>
        <pc:spChg chg="add mod">
          <ac:chgData name="Hayato Ishida" userId="585fa0fa6384767c" providerId="LiveId" clId="{80D854D0-9EE2-489A-9E5E-FF77E456CBF0}" dt="2025-08-31T18:05:23.453" v="10"/>
          <ac:spMkLst>
            <pc:docMk/>
            <pc:sldMk cId="3496077937" sldId="432"/>
            <ac:spMk id="3" creationId="{3A25D34D-F416-5D25-17AF-32EC442421D0}"/>
          </ac:spMkLst>
        </pc:spChg>
        <pc:spChg chg="add mod">
          <ac:chgData name="Hayato Ishida" userId="585fa0fa6384767c" providerId="LiveId" clId="{80D854D0-9EE2-489A-9E5E-FF77E456CBF0}" dt="2025-08-31T18:05:23.453" v="10"/>
          <ac:spMkLst>
            <pc:docMk/>
            <pc:sldMk cId="3496077937" sldId="432"/>
            <ac:spMk id="4" creationId="{87D0B600-42BD-D762-45A9-D48FB4F1E3A0}"/>
          </ac:spMkLst>
        </pc:spChg>
      </pc:sldChg>
      <pc:sldChg chg="addSp modSp add mod">
        <pc:chgData name="Hayato Ishida" userId="585fa0fa6384767c" providerId="LiveId" clId="{80D854D0-9EE2-489A-9E5E-FF77E456CBF0}" dt="2025-09-01T03:34:58.046" v="15" actId="20577"/>
        <pc:sldMkLst>
          <pc:docMk/>
          <pc:sldMk cId="3970528977" sldId="433"/>
        </pc:sldMkLst>
        <pc:spChg chg="add mod">
          <ac:chgData name="Hayato Ishida" userId="585fa0fa6384767c" providerId="LiveId" clId="{80D854D0-9EE2-489A-9E5E-FF77E456CBF0}" dt="2025-08-31T18:11:03.220" v="13"/>
          <ac:spMkLst>
            <pc:docMk/>
            <pc:sldMk cId="3970528977" sldId="433"/>
            <ac:spMk id="2" creationId="{0F48CB47-7BE7-6D9A-BF37-1E20AFA0065B}"/>
          </ac:spMkLst>
        </pc:spChg>
        <pc:spChg chg="add mod">
          <ac:chgData name="Hayato Ishida" userId="585fa0fa6384767c" providerId="LiveId" clId="{80D854D0-9EE2-489A-9E5E-FF77E456CBF0}" dt="2025-08-31T18:11:03.220" v="13"/>
          <ac:spMkLst>
            <pc:docMk/>
            <pc:sldMk cId="3970528977" sldId="433"/>
            <ac:spMk id="3" creationId="{9D934F3B-6F07-89BE-78AC-BB4F938AC76B}"/>
          </ac:spMkLst>
        </pc:spChg>
        <pc:graphicFrameChg chg="add mod modGraphic">
          <ac:chgData name="Hayato Ishida" userId="585fa0fa6384767c" providerId="LiveId" clId="{80D854D0-9EE2-489A-9E5E-FF77E456CBF0}" dt="2025-09-01T03:34:58.046" v="15" actId="20577"/>
          <ac:graphicFrameMkLst>
            <pc:docMk/>
            <pc:sldMk cId="3970528977" sldId="433"/>
            <ac:graphicFrameMk id="4" creationId="{7A4DAEE1-857A-2BA0-0F8C-C78D1923A029}"/>
          </ac:graphicFrameMkLst>
        </pc:graphicFrameChg>
      </pc:sldChg>
      <pc:sldChg chg="addSp modSp add mod">
        <pc:chgData name="Hayato Ishida" userId="585fa0fa6384767c" providerId="LiveId" clId="{80D854D0-9EE2-489A-9E5E-FF77E456CBF0}" dt="2025-09-01T03:35:03.305" v="17" actId="20577"/>
        <pc:sldMkLst>
          <pc:docMk/>
          <pc:sldMk cId="2230804446" sldId="434"/>
        </pc:sldMkLst>
        <pc:spChg chg="add mod">
          <ac:chgData name="Hayato Ishida" userId="585fa0fa6384767c" providerId="LiveId" clId="{80D854D0-9EE2-489A-9E5E-FF77E456CBF0}" dt="2025-08-31T18:10:44.476" v="12"/>
          <ac:spMkLst>
            <pc:docMk/>
            <pc:sldMk cId="2230804446" sldId="434"/>
            <ac:spMk id="2" creationId="{01B72B4A-A889-DD0D-1F41-6823E8473091}"/>
          </ac:spMkLst>
        </pc:spChg>
        <pc:spChg chg="add mod">
          <ac:chgData name="Hayato Ishida" userId="585fa0fa6384767c" providerId="LiveId" clId="{80D854D0-9EE2-489A-9E5E-FF77E456CBF0}" dt="2025-08-31T18:10:44.476" v="12"/>
          <ac:spMkLst>
            <pc:docMk/>
            <pc:sldMk cId="2230804446" sldId="434"/>
            <ac:spMk id="3" creationId="{707289FD-4388-E9E3-C38D-1F985977C102}"/>
          </ac:spMkLst>
        </pc:spChg>
        <pc:graphicFrameChg chg="add mod modGraphic">
          <ac:chgData name="Hayato Ishida" userId="585fa0fa6384767c" providerId="LiveId" clId="{80D854D0-9EE2-489A-9E5E-FF77E456CBF0}" dt="2025-09-01T03:35:03.305" v="17" actId="20577"/>
          <ac:graphicFrameMkLst>
            <pc:docMk/>
            <pc:sldMk cId="2230804446" sldId="434"/>
            <ac:graphicFrameMk id="4" creationId="{B71BF315-1BAA-8082-B1ED-40B8E560366E}"/>
          </ac:graphicFrameMkLst>
        </pc:graphicFrameChg>
      </pc:sldChg>
      <pc:sldChg chg="add del">
        <pc:chgData name="Hayato Ishida" userId="585fa0fa6384767c" providerId="LiveId" clId="{80D854D0-9EE2-489A-9E5E-FF77E456CBF0}" dt="2025-08-31T18:05:26.154" v="11" actId="47"/>
        <pc:sldMkLst>
          <pc:docMk/>
          <pc:sldMk cId="2108847001" sldId="435"/>
        </pc:sldMkLst>
      </pc:sldChg>
    </pc:docChg>
  </pc:docChgLst>
  <pc:docChgLst>
    <pc:chgData name="Hayato Ishida" userId="585fa0fa6384767c" providerId="LiveId" clId="{3053D199-8015-4003-AF28-772919391D6A}"/>
    <pc:docChg chg="undo custSel addSld delSld modSld">
      <pc:chgData name="Hayato Ishida" userId="585fa0fa6384767c" providerId="LiveId" clId="{3053D199-8015-4003-AF28-772919391D6A}" dt="2025-05-15T03:38:47.330" v="3284" actId="20577"/>
      <pc:docMkLst>
        <pc:docMk/>
      </pc:docMkLst>
      <pc:sldChg chg="modSp mod">
        <pc:chgData name="Hayato Ishida" userId="585fa0fa6384767c" providerId="LiveId" clId="{3053D199-8015-4003-AF28-772919391D6A}" dt="2025-05-15T03:38:16.489" v="3262" actId="20577"/>
        <pc:sldMkLst>
          <pc:docMk/>
          <pc:sldMk cId="3878715192" sldId="256"/>
        </pc:sldMkLst>
      </pc:sldChg>
      <pc:sldChg chg="modSp">
        <pc:chgData name="Hayato Ishida" userId="585fa0fa6384767c" providerId="LiveId" clId="{3053D199-8015-4003-AF28-772919391D6A}" dt="2025-05-09T12:46:39.211" v="1769"/>
        <pc:sldMkLst>
          <pc:docMk/>
          <pc:sldMk cId="210825285" sldId="311"/>
        </pc:sldMkLst>
      </pc:sldChg>
      <pc:sldChg chg="modSp">
        <pc:chgData name="Hayato Ishida" userId="585fa0fa6384767c" providerId="LiveId" clId="{3053D199-8015-4003-AF28-772919391D6A}" dt="2025-05-09T12:46:39.211" v="1769"/>
        <pc:sldMkLst>
          <pc:docMk/>
          <pc:sldMk cId="1611154314" sldId="325"/>
        </pc:sldMkLst>
      </pc:sldChg>
      <pc:sldChg chg="modSp">
        <pc:chgData name="Hayato Ishida" userId="585fa0fa6384767c" providerId="LiveId" clId="{3053D199-8015-4003-AF28-772919391D6A}" dt="2025-05-06T03:50:13.187" v="777"/>
        <pc:sldMkLst>
          <pc:docMk/>
          <pc:sldMk cId="4021934138" sldId="326"/>
        </pc:sldMkLst>
      </pc:sldChg>
      <pc:sldChg chg="modSp mod">
        <pc:chgData name="Hayato Ishida" userId="585fa0fa6384767c" providerId="LiveId" clId="{3053D199-8015-4003-AF28-772919391D6A}" dt="2025-05-05T14:04:35.217" v="9" actId="20577"/>
        <pc:sldMkLst>
          <pc:docMk/>
          <pc:sldMk cId="3715280376" sldId="330"/>
        </pc:sldMkLst>
      </pc:sldChg>
      <pc:sldChg chg="modSp mod">
        <pc:chgData name="Hayato Ishida" userId="585fa0fa6384767c" providerId="LiveId" clId="{3053D199-8015-4003-AF28-772919391D6A}" dt="2025-05-06T03:50:13.187" v="777"/>
        <pc:sldMkLst>
          <pc:docMk/>
          <pc:sldMk cId="2302870219" sldId="336"/>
        </pc:sldMkLst>
      </pc:sldChg>
      <pc:sldChg chg="modSp">
        <pc:chgData name="Hayato Ishida" userId="585fa0fa6384767c" providerId="LiveId" clId="{3053D199-8015-4003-AF28-772919391D6A}" dt="2025-05-09T12:46:39.211" v="1769"/>
        <pc:sldMkLst>
          <pc:docMk/>
          <pc:sldMk cId="1235012594" sldId="354"/>
        </pc:sldMkLst>
      </pc:sldChg>
      <pc:sldChg chg="modSp">
        <pc:chgData name="Hayato Ishida" userId="585fa0fa6384767c" providerId="LiveId" clId="{3053D199-8015-4003-AF28-772919391D6A}" dt="2025-05-09T12:46:39.211" v="1769"/>
        <pc:sldMkLst>
          <pc:docMk/>
          <pc:sldMk cId="3439591" sldId="391"/>
        </pc:sldMkLst>
      </pc:sldChg>
      <pc:sldChg chg="modSp del mod">
        <pc:chgData name="Hayato Ishida" userId="585fa0fa6384767c" providerId="LiveId" clId="{3053D199-8015-4003-AF28-772919391D6A}" dt="2025-05-07T03:06:47.185" v="787" actId="47"/>
        <pc:sldMkLst>
          <pc:docMk/>
          <pc:sldMk cId="4113527709" sldId="392"/>
        </pc:sldMkLst>
      </pc:sldChg>
      <pc:sldChg chg="modSp">
        <pc:chgData name="Hayato Ishida" userId="585fa0fa6384767c" providerId="LiveId" clId="{3053D199-8015-4003-AF28-772919391D6A}" dt="2025-05-09T12:46:39.211" v="1769"/>
        <pc:sldMkLst>
          <pc:docMk/>
          <pc:sldMk cId="626962714" sldId="393"/>
        </pc:sldMkLst>
      </pc:sldChg>
      <pc:sldChg chg="modSp">
        <pc:chgData name="Hayato Ishida" userId="585fa0fa6384767c" providerId="LiveId" clId="{3053D199-8015-4003-AF28-772919391D6A}" dt="2025-05-09T12:46:39.211" v="1769"/>
        <pc:sldMkLst>
          <pc:docMk/>
          <pc:sldMk cId="3623508656" sldId="394"/>
        </pc:sldMkLst>
      </pc:sldChg>
      <pc:sldChg chg="modSp">
        <pc:chgData name="Hayato Ishida" userId="585fa0fa6384767c" providerId="LiveId" clId="{3053D199-8015-4003-AF28-772919391D6A}" dt="2025-05-09T12:46:39.211" v="1769"/>
        <pc:sldMkLst>
          <pc:docMk/>
          <pc:sldMk cId="4246648232" sldId="395"/>
        </pc:sldMkLst>
      </pc:sldChg>
      <pc:sldChg chg="modSp">
        <pc:chgData name="Hayato Ishida" userId="585fa0fa6384767c" providerId="LiveId" clId="{3053D199-8015-4003-AF28-772919391D6A}" dt="2025-05-09T12:46:39.211" v="1769"/>
        <pc:sldMkLst>
          <pc:docMk/>
          <pc:sldMk cId="1726760776" sldId="396"/>
        </pc:sldMkLst>
      </pc:sldChg>
      <pc:sldChg chg="modSp mod">
        <pc:chgData name="Hayato Ishida" userId="585fa0fa6384767c" providerId="LiveId" clId="{3053D199-8015-4003-AF28-772919391D6A}" dt="2025-05-09T12:46:39.211" v="1769"/>
        <pc:sldMkLst>
          <pc:docMk/>
          <pc:sldMk cId="1753281542" sldId="397"/>
        </pc:sldMkLst>
      </pc:sldChg>
      <pc:sldChg chg="modSp mod">
        <pc:chgData name="Hayato Ishida" userId="585fa0fa6384767c" providerId="LiveId" clId="{3053D199-8015-4003-AF28-772919391D6A}" dt="2025-05-09T12:46:39.211" v="1769"/>
        <pc:sldMkLst>
          <pc:docMk/>
          <pc:sldMk cId="1127396284" sldId="398"/>
        </pc:sldMkLst>
      </pc:sldChg>
      <pc:sldChg chg="modSp mod">
        <pc:chgData name="Hayato Ishida" userId="585fa0fa6384767c" providerId="LiveId" clId="{3053D199-8015-4003-AF28-772919391D6A}" dt="2025-05-06T03:50:13.187" v="777"/>
        <pc:sldMkLst>
          <pc:docMk/>
          <pc:sldMk cId="829368001" sldId="417"/>
        </pc:sldMkLst>
      </pc:sldChg>
      <pc:sldChg chg="modSp mod">
        <pc:chgData name="Hayato Ishida" userId="585fa0fa6384767c" providerId="LiveId" clId="{3053D199-8015-4003-AF28-772919391D6A}" dt="2025-05-15T03:37:14.081" v="3217" actId="20577"/>
        <pc:sldMkLst>
          <pc:docMk/>
          <pc:sldMk cId="4289303656" sldId="418"/>
        </pc:sldMkLst>
      </pc:sldChg>
      <pc:sldChg chg="modSp mod">
        <pc:chgData name="Hayato Ishida" userId="585fa0fa6384767c" providerId="LiveId" clId="{3053D199-8015-4003-AF28-772919391D6A}" dt="2025-05-14T07:48:56.805" v="3213"/>
        <pc:sldMkLst>
          <pc:docMk/>
          <pc:sldMk cId="3557255328" sldId="419"/>
        </pc:sldMkLst>
      </pc:sldChg>
      <pc:sldChg chg="modSp">
        <pc:chgData name="Hayato Ishida" userId="585fa0fa6384767c" providerId="LiveId" clId="{3053D199-8015-4003-AF28-772919391D6A}" dt="2025-05-06T03:50:13.187" v="777"/>
        <pc:sldMkLst>
          <pc:docMk/>
          <pc:sldMk cId="3216369774" sldId="420"/>
        </pc:sldMkLst>
      </pc:sldChg>
      <pc:sldChg chg="addSp delSp modSp mod">
        <pc:chgData name="Hayato Ishida" userId="585fa0fa6384767c" providerId="LiveId" clId="{3053D199-8015-4003-AF28-772919391D6A}" dt="2025-05-14T05:01:48.228" v="2147" actId="1036"/>
        <pc:sldMkLst>
          <pc:docMk/>
          <pc:sldMk cId="2513049136" sldId="425"/>
        </pc:sldMkLst>
      </pc:sldChg>
      <pc:sldChg chg="modSp mod">
        <pc:chgData name="Hayato Ishida" userId="585fa0fa6384767c" providerId="LiveId" clId="{3053D199-8015-4003-AF28-772919391D6A}" dt="2025-05-05T17:20:06.438" v="578"/>
        <pc:sldMkLst>
          <pc:docMk/>
          <pc:sldMk cId="2192379023" sldId="426"/>
        </pc:sldMkLst>
      </pc:sldChg>
      <pc:sldChg chg="modSp mod">
        <pc:chgData name="Hayato Ishida" userId="585fa0fa6384767c" providerId="LiveId" clId="{3053D199-8015-4003-AF28-772919391D6A}" dt="2025-05-05T14:02:27.622" v="8"/>
        <pc:sldMkLst>
          <pc:docMk/>
          <pc:sldMk cId="148706116" sldId="428"/>
        </pc:sldMkLst>
      </pc:sldChg>
      <pc:sldChg chg="modSp add mod">
        <pc:chgData name="Hayato Ishida" userId="585fa0fa6384767c" providerId="LiveId" clId="{3053D199-8015-4003-AF28-772919391D6A}" dt="2025-05-05T16:48:29.669" v="261" actId="20577"/>
        <pc:sldMkLst>
          <pc:docMk/>
          <pc:sldMk cId="1461080578" sldId="429"/>
        </pc:sldMkLst>
      </pc:sldChg>
      <pc:sldChg chg="modSp add mod">
        <pc:chgData name="Hayato Ishida" userId="585fa0fa6384767c" providerId="LiveId" clId="{3053D199-8015-4003-AF28-772919391D6A}" dt="2025-05-09T12:57:21.895" v="1985" actId="20577"/>
        <pc:sldMkLst>
          <pc:docMk/>
          <pc:sldMk cId="2358728378" sldId="430"/>
        </pc:sldMkLst>
      </pc:sldChg>
      <pc:sldChg chg="addSp delSp modSp add mod">
        <pc:chgData name="Hayato Ishida" userId="585fa0fa6384767c" providerId="LiveId" clId="{3053D199-8015-4003-AF28-772919391D6A}" dt="2025-05-15T03:38:47.330" v="3284" actId="20577"/>
        <pc:sldMkLst>
          <pc:docMk/>
          <pc:sldMk cId="1186507103" sldId="43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B36A753F-746F-4799-9C49-37523E1E2B40}"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4887D739-862A-4823-AC7F-580B43E8A192}"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538FC69F-4181-48FD-AD83-FDCA4C9EDEEC}"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FF58873-9365-427D-90B3-25421E45CBCE}"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F52BAB3-4EB3-48B8-9631-3025E7B1F885}"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D50B95A5-31BB-40AF-B584-D24A16F69082}"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2EADD8DB-7B2B-4097-A946-C9D44C75A147}"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5FC9446D-4FC7-48D2-8EFA-E152419F7967}"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8155C0AA-0648-4BF7-B917-5139092F1A2C}"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DB51FD79-482F-46B7-91C9-62F94968C345}"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B7184766-69C5-4089-95DB-0F62AEB14FFC}"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7D9AB7-C573-4B50-A827-B62D318542BA}"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road-to-ruby-for-a-linguistics-nerd"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x.com/a_matsuda/status/1918612709169672210"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7" Type="http://schemas.openxmlformats.org/officeDocument/2006/relationships/slide" Target="slide34.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32.xml"/><Relationship Id="rId5" Type="http://schemas.openxmlformats.org/officeDocument/2006/relationships/slide" Target="slide24.xml"/><Relationship Id="rId4" Type="http://schemas.openxmlformats.org/officeDocument/2006/relationships/slide" Target="slide14.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rubykaigi.org/2025/presentations/ydah_"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x.com/ydah_"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www.momoyama-usagi.com/entry/info-calc-sys11" TargetMode="External"/><Relationship Id="rId13" Type="http://schemas.openxmlformats.org/officeDocument/2006/relationships/hyperlink" Target="https://speakerdeck.com/coe401_/tanosiirubynogou-wen-jie-xi-tua" TargetMode="External"/><Relationship Id="rId3" Type="http://schemas.openxmlformats.org/officeDocument/2006/relationships/hyperlink" Target="https://llvm.org/docs/LangRef.html" TargetMode="External"/><Relationship Id="rId7" Type="http://schemas.openxmlformats.org/officeDocument/2006/relationships/hyperlink" Target="https://www.momoyama-usagi.com/entry/info-calc-sys10" TargetMode="External"/><Relationship Id="rId12" Type="http://schemas.openxmlformats.org/officeDocument/2006/relationships/hyperlink" Target="https://docs.google.com/presentation/d/1oFvP4W3Ox8uiGXsWa3ibyDga1cpLguVZhwCjpD46hFU/mobilepresent?slide=id.g112e5bc9415_0_27"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wkagami.hatenablog.com/entry/comput_02mips" TargetMode="External"/><Relationship Id="rId11" Type="http://schemas.openxmlformats.org/officeDocument/2006/relationships/hyperlink" Target="https://ydah.hatenablog.com/entry/2025/04/27/090000" TargetMode="External"/><Relationship Id="rId5" Type="http://schemas.openxmlformats.org/officeDocument/2006/relationships/hyperlink" Target="https://www.sigbus.info/compilerbook" TargetMode="External"/><Relationship Id="rId10" Type="http://schemas.openxmlformats.org/officeDocument/2006/relationships/hyperlink" Target="https://ydah.hatenablog.com/entry/2025/04/24/230000" TargetMode="External"/><Relationship Id="rId4" Type="http://schemas.openxmlformats.org/officeDocument/2006/relationships/hyperlink" Target="https://staff.polito.it/silvano.rivoira/LingTrad/ParsingTechniques/ParsingTechniques.pdf" TargetMode="External"/><Relationship Id="rId9" Type="http://schemas.openxmlformats.org/officeDocument/2006/relationships/hyperlink" Target="https://yui-knk.hatenablog.com/entry/2023/12/06/082203" TargetMode="External"/><Relationship Id="rId14" Type="http://schemas.openxmlformats.org/officeDocument/2006/relationships/hyperlink" Target="https://speakerdeck.com/junk0612/comparing-ll-and-lr-parse-algorithm-ex-edition"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blog.agile.esm.co.jp/entry/minruby-compiler"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lambdanote.com/products/ruby-ruby" TargetMode="External"/><Relationship Id="rId5" Type="http://schemas.openxmlformats.org/officeDocument/2006/relationships/hyperlink" Target="https://github.com/hayat01sh1da/lr-parser-101" TargetMode="External"/><Relationship Id="rId4" Type="http://schemas.openxmlformats.org/officeDocument/2006/relationships/hyperlink" Target="https://github.com/hayat01sh1da/9cc"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shikumirb.connpass.com/"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twitter.com/utsubo1024" TargetMode="External"/><Relationship Id="rId4" Type="http://schemas.openxmlformats.org/officeDocument/2006/relationships/hyperlink" Target="http://twitter.com/hashimoto_kei_"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docswell.com/s/hayat01sh1da/ZM696K-life-and-death-natural-languages-vs-programming-languages#p9"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www.docswell.com/s/hayat01sh1da/KEXQWE-recommendation-of-comparative-linguistics-ruby-vs-python#p28"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andpad.connpass.com/event/347970/"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perl.com/pub/2003/06/25/perl6essentials.html/#linguistic-and-cognitive-considerations"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docswell.com/s/hayat01sh1da/KEXQWE-recommendation-of-comparative-linguistics-ruby-vs-python#p28"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12503;&#12525;&#12464;&#12521;&#12510;&#12364;&#30693;&#12427;&#12409;&#12365;97&#12398;&#12371;&#12392;.com/&#12456;&#12483;&#12475;&#12452;/&#21517;&#21069;&#37325;&#35201;/" TargetMode="External"/><Relationship Id="rId5" Type="http://schemas.openxmlformats.org/officeDocument/2006/relationships/hyperlink" Target="https://docs.ruby-lang.org/ja/latest/class/Enumerable.html#I_COLLECT" TargetMode="External"/><Relationship Id="rId4" Type="http://schemas.openxmlformats.org/officeDocument/2006/relationships/hyperlink" Target="https://docs.ruby-lang.org/ja/latest/method/Enumerable/i/collect.html"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apidock.com/ruby/Object/yield_self"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apidock.com/ruby/Object/then"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apidock.com/ruby/Enumerable/sort"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github.com/ruby/ruby/blob/5b1a61e29cb0773e2d8e8e40269dad1d972f348f/array.c#L3451" TargetMode="External"/><Relationship Id="rId4" Type="http://schemas.openxmlformats.org/officeDocument/2006/relationships/hyperlink" Target="https://github.com/ruby/ruby/blob/5b1a61e29cb0773e2d8e8e40269dad1d972f348f/enum.c#L1386-L1389"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rubykaigi.org/2025/schedule/" TargetMode="External"/><Relationship Id="rId7" Type="http://schemas.openxmlformats.org/officeDocument/2006/relationships/hyperlink" Target="https://swkagami.hatenablog.com/entry/comput_02mips"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sigbus.info/compilerbook" TargetMode="External"/><Relationship Id="rId5" Type="http://schemas.openxmlformats.org/officeDocument/2006/relationships/hyperlink" Target="https://staff.polito.it/silvano.rivoira/LingTrad/ParsingTechniques/ParsingTechniques.pdf" TargetMode="External"/><Relationship Id="rId4" Type="http://schemas.openxmlformats.org/officeDocument/2006/relationships/hyperlink" Target="https://llvm.org/docs/LangRef.html"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momoyama-usagi.com/entry/info-calc-sys10" TargetMode="External"/><Relationship Id="rId7" Type="http://schemas.openxmlformats.org/officeDocument/2006/relationships/hyperlink" Target="https://ydah.hatenablog.com/entry/2025/04/27/090000"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ydah.hatenablog.com/entry/2025/04/24/230000" TargetMode="External"/><Relationship Id="rId5" Type="http://schemas.openxmlformats.org/officeDocument/2006/relationships/hyperlink" Target="https://yui-knk.hatenablog.com/entry/2023/12/06/082203" TargetMode="External"/><Relationship Id="rId4" Type="http://schemas.openxmlformats.org/officeDocument/2006/relationships/hyperlink" Target="https://www.momoyama-usagi.com/entry/info-calc-sys11"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https://github.com/hayat01sh1da/lr-parser-101" TargetMode="External"/><Relationship Id="rId3" Type="http://schemas.openxmlformats.org/officeDocument/2006/relationships/hyperlink" Target="https://docs.google.com/presentation/d/1oFvP4W3Ox8uiGXsWa3ibyDga1cpLguVZhwCjpD46hFU/mobilepresent?slide=id.g112e5bc9415_0_27" TargetMode="External"/><Relationship Id="rId7" Type="http://schemas.openxmlformats.org/officeDocument/2006/relationships/hyperlink" Target="https://yui-knk.hatenablog.com/entry/2023/12/06/082203"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github.com/hayat01sh1da/9cc" TargetMode="External"/><Relationship Id="rId5" Type="http://schemas.openxmlformats.org/officeDocument/2006/relationships/hyperlink" Target="https://speakerdeck.com/junk0612/comparing-ll-and-lr-parse-algorithm-ex-edition" TargetMode="External"/><Relationship Id="rId4" Type="http://schemas.openxmlformats.org/officeDocument/2006/relationships/hyperlink" Target="https://speakerdeck.com/coe401_/tanosiirubynogou-wen-jie-xi-tua" TargetMode="External"/></Relationships>
</file>

<file path=ppt/slides/_rels/slide38.xml.rels><?xml version="1.0" encoding="UTF-8" standalone="yes"?>
<Relationships xmlns="http://schemas.openxmlformats.org/package/2006/relationships"><Relationship Id="rId8" Type="http://schemas.openxmlformats.org/officeDocument/2006/relationships/hyperlink" Target="https://&#12503;&#12525;&#12464;&#12521;&#12510;&#12364;&#30693;&#12427;&#12409;&#12365;97&#12398;&#12371;&#12392;.com/&#12456;&#12483;&#12475;&#12452;/&#21517;&#21069;&#37325;&#35201;/" TargetMode="External"/><Relationship Id="rId3" Type="http://schemas.openxmlformats.org/officeDocument/2006/relationships/hyperlink" Target="https://www.lambdanote.com/products/ruby-ruby" TargetMode="External"/><Relationship Id="rId7" Type="http://schemas.openxmlformats.org/officeDocument/2006/relationships/hyperlink" Target="https://apidock.com/ruby/Object/then"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97-things-every-x-should-know.gitbook.io/97-things-every-programmer-should-know/en" TargetMode="External"/><Relationship Id="rId5" Type="http://schemas.openxmlformats.org/officeDocument/2006/relationships/hyperlink" Target="https://www.perl.com/pub/2003/06/25/perl6essentials.html/" TargetMode="External"/><Relationship Id="rId4" Type="http://schemas.openxmlformats.org/officeDocument/2006/relationships/hyperlink" Target="https://docs.ruby-lang.org/ja/latest/library/_builtin.html"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en-GB" altLang="ja-JP" sz="5400" b="1" dirty="0">
                <a:effectLst>
                  <a:outerShdw blurRad="38100" dist="38100" dir="2700000" algn="tl">
                    <a:srgbClr val="000000">
                      <a:alpha val="43137"/>
                    </a:srgbClr>
                  </a:outerShdw>
                </a:effectLst>
                <a:latin typeface="+mn-lt"/>
              </a:rPr>
              <a:t>Road to Ruby for</a:t>
            </a:r>
            <a:br>
              <a:rPr lang="en-GB" altLang="ja-JP" sz="5400" b="1" dirty="0">
                <a:effectLst>
                  <a:outerShdw blurRad="38100" dist="38100" dir="2700000" algn="tl">
                    <a:srgbClr val="000000">
                      <a:alpha val="43137"/>
                    </a:srgbClr>
                  </a:outerShdw>
                </a:effectLst>
                <a:latin typeface="+mn-lt"/>
              </a:rPr>
            </a:br>
            <a:r>
              <a:rPr lang="en-GB" altLang="ja-JP" sz="5400" b="1" dirty="0">
                <a:effectLst>
                  <a:outerShdw blurRad="38100" dist="38100" dir="2700000" algn="tl">
                    <a:srgbClr val="000000">
                      <a:alpha val="43137"/>
                    </a:srgbClr>
                  </a:outerShdw>
                </a:effectLst>
                <a:latin typeface="+mn-lt"/>
              </a:rPr>
              <a:t>A Linguistics Nerd</a:t>
            </a:r>
            <a:endParaRPr lang="en-GB" sz="5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t>作成者</a:t>
            </a:r>
            <a:r>
              <a:rPr lang="en-US" sz="3200" b="1" dirty="0"/>
              <a:t>: </a:t>
            </a:r>
            <a:r>
              <a:rPr lang="ja-JP" altLang="en-US" sz="3200" b="1" dirty="0"/>
              <a:t>石田</a:t>
            </a:r>
            <a:r>
              <a:rPr lang="en-US" sz="3200" b="1" dirty="0"/>
              <a:t> </a:t>
            </a:r>
            <a:r>
              <a:rPr lang="ja-JP" altLang="en-US" sz="3200" b="1" dirty="0"/>
              <a:t>隼人</a:t>
            </a:r>
            <a:endParaRPr lang="en-GB" sz="3200" b="1" dirty="0"/>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cs typeface="+mn-cs"/>
              </a:rPr>
              <a:t>最終更新日</a:t>
            </a:r>
            <a:r>
              <a:rPr kumimoji="0" lang="en-GB" altLang="ja-JP" sz="2000" b="1" i="0" u="none" strike="noStrike" kern="1200" cap="none" spc="0" normalizeH="0" baseline="0" noProof="0" dirty="0">
                <a:ln>
                  <a:noFill/>
                </a:ln>
                <a:solidFill>
                  <a:prstClr val="black"/>
                </a:solidFill>
                <a:effectLst/>
                <a:uLnTx/>
                <a:uFillTx/>
                <a:cs typeface="+mn-cs"/>
              </a:rPr>
              <a:t>: 2025</a:t>
            </a:r>
            <a:r>
              <a:rPr kumimoji="0" lang="ja-JP" altLang="en-US" sz="2000" b="1" i="0" u="none" strike="noStrike" kern="1200" cap="none" spc="0" normalizeH="0" baseline="0" noProof="0" dirty="0">
                <a:ln>
                  <a:noFill/>
                </a:ln>
                <a:solidFill>
                  <a:prstClr val="black"/>
                </a:solidFill>
                <a:effectLst/>
                <a:uLnTx/>
                <a:uFillTx/>
                <a:cs typeface="+mn-cs"/>
              </a:rPr>
              <a:t>年</a:t>
            </a:r>
            <a:r>
              <a:rPr kumimoji="0" lang="en-GB" altLang="ja-JP" sz="2000" b="1" i="0" u="none" strike="noStrike" kern="1200" cap="none" spc="0" normalizeH="0" baseline="0" noProof="0" dirty="0">
                <a:ln>
                  <a:noFill/>
                </a:ln>
                <a:solidFill>
                  <a:prstClr val="black"/>
                </a:solidFill>
                <a:effectLst/>
                <a:uLnTx/>
                <a:uFillTx/>
                <a:cs typeface="+mn-cs"/>
              </a:rPr>
              <a:t>05</a:t>
            </a:r>
            <a:r>
              <a:rPr kumimoji="0" lang="ja-JP" altLang="en-US" sz="2000" b="1" i="0" u="none" strike="noStrike" kern="1200" cap="none" spc="0" normalizeH="0" baseline="0" noProof="0" dirty="0">
                <a:ln>
                  <a:noFill/>
                </a:ln>
                <a:solidFill>
                  <a:prstClr val="black"/>
                </a:solidFill>
                <a:effectLst/>
                <a:uLnTx/>
                <a:uFillTx/>
                <a:cs typeface="+mn-cs"/>
              </a:rPr>
              <a:t>月</a:t>
            </a:r>
            <a:r>
              <a:rPr lang="en-GB" altLang="ja-JP" sz="2000" b="1" dirty="0">
                <a:solidFill>
                  <a:prstClr val="black"/>
                </a:solidFill>
              </a:rPr>
              <a:t>15</a:t>
            </a:r>
            <a:r>
              <a:rPr kumimoji="0" lang="ja-JP" altLang="en-US" sz="2000" b="1" i="0" u="none" strike="noStrike" kern="1200" cap="none" spc="0" normalizeH="0" baseline="0" noProof="0" dirty="0">
                <a:ln>
                  <a:noFill/>
                </a:ln>
                <a:solidFill>
                  <a:prstClr val="black"/>
                </a:solidFill>
                <a:effectLst/>
                <a:uLnTx/>
                <a:uFillTx/>
                <a:cs typeface="+mn-cs"/>
              </a:rPr>
              <a:t>日</a:t>
            </a:r>
            <a:endParaRPr kumimoji="0" lang="en-GB" sz="2000" b="1" i="0" u="none" strike="noStrike" kern="1200" cap="none" spc="0" normalizeH="0" baseline="0" noProof="0" dirty="0">
              <a:ln>
                <a:noFill/>
              </a:ln>
              <a:solidFill>
                <a:prstClr val="black"/>
              </a:solidFill>
              <a:effectLst/>
              <a:uLnTx/>
              <a:uFillTx/>
              <a:cs typeface="+mn-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
        <p:nvSpPr>
          <p:cNvPr id="3" name="Slide Number Placeholder 2">
            <a:extLst>
              <a:ext uri="{FF2B5EF4-FFF2-40B4-BE49-F238E27FC236}">
                <a16:creationId xmlns:a16="http://schemas.microsoft.com/office/drawing/2014/main" id="{73D425C1-7C46-DBB0-6B16-3D42F66B4406}"/>
              </a:ext>
            </a:extLst>
          </p:cNvPr>
          <p:cNvSpPr>
            <a:spLocks noGrp="1"/>
          </p:cNvSpPr>
          <p:nvPr>
            <p:ph type="sldNum" sz="quarter" idx="12"/>
          </p:nvPr>
        </p:nvSpPr>
        <p:spPr/>
        <p:txBody>
          <a:bodyPr/>
          <a:lstStyle/>
          <a:p>
            <a:fld id="{CC8B731A-DCF7-4273-BA1A-21517ACBB5E5}" type="slidenum">
              <a:rPr lang="en-GB" smtClean="0"/>
              <a:t>1</a:t>
            </a:fld>
            <a:endParaRPr lang="en-GB"/>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BB8D17BC-180A-B7E3-A7E4-56DC024BDB72}"/>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11402086-5B18-A631-86B7-6B39001A026D}"/>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ADC625AA-4A4A-8A22-B6C2-0E73EA2BA2D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6BD0CCE9-246E-3B2F-9E2D-907EB071CE7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5" name="Slide Number Placeholder 4">
            <a:extLst>
              <a:ext uri="{FF2B5EF4-FFF2-40B4-BE49-F238E27FC236}">
                <a16:creationId xmlns:a16="http://schemas.microsoft.com/office/drawing/2014/main" id="{7276500F-DCA1-5A6B-1B32-0A957EE36FA2}"/>
              </a:ext>
            </a:extLst>
          </p:cNvPr>
          <p:cNvSpPr>
            <a:spLocks noGrp="1"/>
          </p:cNvSpPr>
          <p:nvPr>
            <p:ph type="sldNum" sz="quarter" idx="12"/>
          </p:nvPr>
        </p:nvSpPr>
        <p:spPr/>
        <p:txBody>
          <a:bodyPr/>
          <a:lstStyle/>
          <a:p>
            <a:fld id="{CC8B731A-DCF7-4273-BA1A-21517ACBB5E5}" type="slidenum">
              <a:rPr lang="en-GB" smtClean="0"/>
              <a:t>3</a:t>
            </a:fld>
            <a:endParaRPr lang="en-GB"/>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992396F3-59FC-8241-0037-D834A59841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AE3214-3F3D-2F1E-885D-1E9500C11141}"/>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3A25D34D-F416-5D25-17AF-32EC442421D0}"/>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87D0B600-42BD-D762-45A9-D48FB4F1E3A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6077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93C5D123-7ACC-B571-3955-4BA1C12492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48CB47-7BE7-6D9A-BF37-1E20AFA0065B}"/>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9D934F3B-6F07-89BE-78AC-BB4F938AC76B}"/>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7A4DAEE1-857A-2BA0-0F8C-C78D1923A029}"/>
              </a:ext>
            </a:extLst>
          </p:cNvPr>
          <p:cNvGraphicFramePr>
            <a:graphicFrameLocks noGrp="1"/>
          </p:cNvGraphicFramePr>
          <p:nvPr>
            <p:extLst>
              <p:ext uri="{D42A27DB-BD31-4B8C-83A1-F6EECF244321}">
                <p14:modId xmlns:p14="http://schemas.microsoft.com/office/powerpoint/2010/main" val="3075474328"/>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3970528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DFF4E117-1801-386C-3B76-8E9C69EF765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1B72B4A-A889-DD0D-1F41-6823E8473091}"/>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707289FD-4388-E9E3-C38D-1F985977C102}"/>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B71BF315-1BAA-8082-B1ED-40B8E560366E}"/>
              </a:ext>
            </a:extLst>
          </p:cNvPr>
          <p:cNvGraphicFramePr>
            <a:graphicFrameLocks noGrp="1"/>
          </p:cNvGraphicFramePr>
          <p:nvPr>
            <p:extLst>
              <p:ext uri="{D42A27DB-BD31-4B8C-83A1-F6EECF244321}">
                <p14:modId xmlns:p14="http://schemas.microsoft.com/office/powerpoint/2010/main" val="1399291219"/>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2230804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9E94F24D-B839-DF82-75C2-4E580142E0EB}"/>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8" name="コンテンツ プレースホルダー 2">
            <a:extLst>
              <a:ext uri="{FF2B5EF4-FFF2-40B4-BE49-F238E27FC236}">
                <a16:creationId xmlns:a16="http://schemas.microsoft.com/office/drawing/2014/main" id="{BACB29C8-8EF5-BC68-B8B4-E8003B89B036}"/>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dirty="0"/>
              <a:t>関連カンファレンス参加</a:t>
            </a:r>
            <a:endParaRPr lang="en-GB" altLang="ja-JP" sz="1400" dirty="0"/>
          </a:p>
        </p:txBody>
      </p:sp>
      <p:sp>
        <p:nvSpPr>
          <p:cNvPr id="2" name="Slide Number Placeholder 1">
            <a:extLst>
              <a:ext uri="{FF2B5EF4-FFF2-40B4-BE49-F238E27FC236}">
                <a16:creationId xmlns:a16="http://schemas.microsoft.com/office/drawing/2014/main" id="{722F2B16-9DEC-2F63-3432-90EEC282FA7D}"/>
              </a:ext>
            </a:extLst>
          </p:cNvPr>
          <p:cNvSpPr>
            <a:spLocks noGrp="1"/>
          </p:cNvSpPr>
          <p:nvPr>
            <p:ph type="sldNum" sz="quarter" idx="12"/>
          </p:nvPr>
        </p:nvSpPr>
        <p:spPr/>
        <p:txBody>
          <a:bodyPr/>
          <a:lstStyle/>
          <a:p>
            <a:fld id="{CC8B731A-DCF7-4273-BA1A-21517ACBB5E5}" type="slidenum">
              <a:rPr lang="en-GB" smtClean="0"/>
              <a:t>7</a:t>
            </a:fld>
            <a:endParaRPr lang="en-GB"/>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en-GB" altLang="ja-JP" b="1" dirty="0"/>
              <a:t>LT </a:t>
            </a:r>
            <a:r>
              <a:rPr lang="ja-JP" altLang="en-US" b="1" dirty="0"/>
              <a:t>に入る前に</a:t>
            </a:r>
            <a:r>
              <a:rPr lang="en-GB" altLang="ja-JP" b="1" dirty="0"/>
              <a:t>…</a:t>
            </a:r>
            <a:endParaRPr lang="en-GB" b="1" dirty="0"/>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0" indent="0">
              <a:buClr>
                <a:schemeClr val="dk1"/>
              </a:buClr>
              <a:buSzPts val="2800"/>
              <a:buNone/>
            </a:pPr>
            <a:r>
              <a:rPr lang="en-GB" altLang="ja-JP" sz="2400" dirty="0" err="1">
                <a:sym typeface="Arial"/>
              </a:rPr>
              <a:t>RubyKaigi</a:t>
            </a:r>
            <a:r>
              <a:rPr lang="ja-JP" altLang="en-US" sz="2400" dirty="0">
                <a:sym typeface="Arial"/>
              </a:rPr>
              <a:t> チーフオーガナイザーの松田明さんより許可を頂き、</a:t>
            </a:r>
            <a:r>
              <a:rPr lang="en-GB" altLang="ja-JP" sz="2400" dirty="0" err="1">
                <a:sym typeface="Arial"/>
              </a:rPr>
              <a:t>RubyKaigi</a:t>
            </a:r>
            <a:r>
              <a:rPr lang="en-GB" altLang="ja-JP" sz="2400" dirty="0">
                <a:sym typeface="Arial"/>
              </a:rPr>
              <a:t> 2025 </a:t>
            </a:r>
            <a:r>
              <a:rPr lang="ja-JP" altLang="en-US" sz="2400" dirty="0">
                <a:sym typeface="Arial"/>
              </a:rPr>
              <a:t>の公式ロゴを背景に使わせて頂いております</a:t>
            </a:r>
            <a:r>
              <a:rPr lang="en-US" altLang="ja-JP" sz="2400" dirty="0">
                <a:sym typeface="Arial"/>
              </a:rPr>
              <a:t>(</a:t>
            </a:r>
            <a:r>
              <a:rPr lang="ja-JP" altLang="en-US" sz="2400" dirty="0">
                <a:sym typeface="Arial"/>
              </a:rPr>
              <a:t>著作権</a:t>
            </a:r>
            <a:r>
              <a:rPr lang="ja-JP" altLang="en-US" sz="2400">
                <a:sym typeface="Arial"/>
              </a:rPr>
              <a:t>侵害はありません</a:t>
            </a:r>
            <a:r>
              <a:rPr lang="en-US" altLang="ja-JP" sz="2400">
                <a:sym typeface="Arial"/>
              </a:rPr>
              <a:t>)</a:t>
            </a:r>
            <a:r>
              <a:rPr lang="ja-JP" altLang="en-US" sz="2400" dirty="0">
                <a:sym typeface="Arial"/>
              </a:rPr>
              <a:t>。</a:t>
            </a:r>
            <a:endParaRPr lang="en-GB" altLang="ja-JP" sz="2400" dirty="0">
              <a:sym typeface="Arial"/>
            </a:endParaRPr>
          </a:p>
          <a:p>
            <a:pPr marL="0" indent="0">
              <a:buClr>
                <a:schemeClr val="dk1"/>
              </a:buClr>
              <a:buSzPts val="2800"/>
              <a:buNone/>
            </a:pPr>
            <a:r>
              <a:rPr lang="en-GB" altLang="ja-JP" sz="2400" dirty="0">
                <a:sym typeface="Arial"/>
              </a:rPr>
              <a:t>Ref) </a:t>
            </a:r>
            <a:r>
              <a:rPr lang="en-GB" altLang="ja-JP" sz="2400" dirty="0">
                <a:sym typeface="Arial"/>
                <a:hlinkClick r:id="rId3"/>
              </a:rPr>
              <a:t>https://x.com/a_matsuda/status/1918612709169672210</a:t>
            </a:r>
            <a:endParaRPr lang="en-GB" altLang="ja-JP" sz="2400" dirty="0">
              <a:sym typeface="Arial"/>
            </a:endParaRPr>
          </a:p>
        </p:txBody>
      </p:sp>
      <p:pic>
        <p:nvPicPr>
          <p:cNvPr id="6" name="Picture 5">
            <a:extLst>
              <a:ext uri="{FF2B5EF4-FFF2-40B4-BE49-F238E27FC236}">
                <a16:creationId xmlns:a16="http://schemas.microsoft.com/office/drawing/2014/main" id="{0F5F1838-F813-198E-1812-6ECEB6EF70E6}"/>
              </a:ext>
            </a:extLst>
          </p:cNvPr>
          <p:cNvPicPr>
            <a:picLocks noChangeAspect="1"/>
          </p:cNvPicPr>
          <p:nvPr/>
        </p:nvPicPr>
        <p:blipFill>
          <a:blip r:embed="rId4">
            <a:extLst>
              <a:ext uri="{28A0092B-C50C-407E-A947-70E740481C1C}">
                <a14:useLocalDpi xmlns:a14="http://schemas.microsoft.com/office/drawing/2010/main" val="0"/>
              </a:ext>
            </a:extLst>
          </a:blip>
          <a:srcRect t="53968" b="344"/>
          <a:stretch/>
        </p:blipFill>
        <p:spPr>
          <a:xfrm>
            <a:off x="3071277" y="3024533"/>
            <a:ext cx="4551697" cy="3152430"/>
          </a:xfrm>
          <a:prstGeom prst="rect">
            <a:avLst/>
          </a:prstGeom>
        </p:spPr>
      </p:pic>
      <p:sp>
        <p:nvSpPr>
          <p:cNvPr id="5" name="Slide Number Placeholder 4">
            <a:extLst>
              <a:ext uri="{FF2B5EF4-FFF2-40B4-BE49-F238E27FC236}">
                <a16:creationId xmlns:a16="http://schemas.microsoft.com/office/drawing/2014/main" id="{7FF6C5A8-E34A-4023-32D5-349C865C2320}"/>
              </a:ext>
            </a:extLst>
          </p:cNvPr>
          <p:cNvSpPr>
            <a:spLocks noGrp="1"/>
          </p:cNvSpPr>
          <p:nvPr>
            <p:ph type="sldNum" sz="quarter" idx="12"/>
          </p:nvPr>
        </p:nvSpPr>
        <p:spPr/>
        <p:txBody>
          <a:bodyPr/>
          <a:lstStyle/>
          <a:p>
            <a:fld id="{CC8B731A-DCF7-4273-BA1A-21517ACBB5E5}" type="slidenum">
              <a:rPr lang="en-GB" smtClean="0"/>
              <a:t>8</a:t>
            </a:fld>
            <a:endParaRPr lang="en-GB"/>
          </a:p>
        </p:txBody>
      </p:sp>
    </p:spTree>
    <p:extLst>
      <p:ext uri="{BB962C8B-B14F-4D97-AF65-F5344CB8AC3E}">
        <p14:creationId xmlns:p14="http://schemas.microsoft.com/office/powerpoint/2010/main" val="1461080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t>コンテンツ</a:t>
            </a:r>
            <a:endParaRPr lang="en-GB" b="1" dirty="0"/>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en-GB" altLang="ja-JP" sz="2400" dirty="0">
                <a:sym typeface="Arial"/>
                <a:hlinkClick r:id="rId3" action="ppaction://hlinksldjump"/>
              </a:rPr>
              <a:t>RubyKaigi 2025 </a:t>
            </a:r>
            <a:r>
              <a:rPr lang="ja-JP" altLang="en-US" sz="2400" dirty="0">
                <a:sym typeface="Arial"/>
                <a:hlinkClick r:id="rId3" action="ppaction://hlinksldjump"/>
              </a:rPr>
              <a:t>の個人的目標</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4" action="ppaction://hlinksldjump"/>
              </a:rPr>
              <a:t>KaigiEffect -</a:t>
            </a:r>
            <a:r>
              <a:rPr lang="ja-JP" altLang="en-US" sz="2400" dirty="0">
                <a:sym typeface="Arial"/>
                <a:hlinkClick r:id="rId4" action="ppaction://hlinksldjump"/>
              </a:rPr>
              <a:t>沼り分野</a:t>
            </a:r>
            <a:r>
              <a:rPr lang="en-US" altLang="ja-JP" sz="2400" dirty="0">
                <a:sym typeface="Arial"/>
                <a:hlinkClick r:id="rId4" action="ppaction://hlinksldjump"/>
              </a:rPr>
              <a:t>-</a:t>
            </a:r>
            <a:endParaRPr lang="en-GB" altLang="ja-JP" sz="2400" dirty="0">
              <a:sym typeface="Arial"/>
            </a:endParaRPr>
          </a:p>
          <a:p>
            <a:pPr marL="360363" indent="-360363">
              <a:buClr>
                <a:schemeClr val="dk1"/>
              </a:buClr>
              <a:buSzPts val="2800"/>
              <a:buAutoNum type="arabicPeriod"/>
            </a:pPr>
            <a:r>
              <a:rPr lang="en-US" altLang="ja-JP" sz="2400" dirty="0">
                <a:sym typeface="Arial"/>
                <a:hlinkClick r:id="rId5" action="ppaction://hlinksldjump"/>
              </a:rPr>
              <a:t>Matz </a:t>
            </a:r>
            <a:r>
              <a:rPr lang="ja-JP" altLang="en-US" sz="2400" dirty="0">
                <a:sym typeface="Arial"/>
                <a:hlinkClick r:id="rId5" action="ppaction://hlinksldjump"/>
              </a:rPr>
              <a:t>さんとの最も思い出深い議論 </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6" action="ppaction://hlinksldjump"/>
              </a:rPr>
              <a:t>As Is vs. To Be</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参考文献</a:t>
            </a:r>
            <a:endParaRPr lang="en-GB" altLang="ja-JP" sz="2400" dirty="0">
              <a:sym typeface="Arial"/>
            </a:endParaRPr>
          </a:p>
        </p:txBody>
      </p:sp>
      <p:sp>
        <p:nvSpPr>
          <p:cNvPr id="5" name="Slide Number Placeholder 4">
            <a:extLst>
              <a:ext uri="{FF2B5EF4-FFF2-40B4-BE49-F238E27FC236}">
                <a16:creationId xmlns:a16="http://schemas.microsoft.com/office/drawing/2014/main" id="{D5B1E8ED-0886-6E16-5019-1822064AA581}"/>
              </a:ext>
            </a:extLst>
          </p:cNvPr>
          <p:cNvSpPr>
            <a:spLocks noGrp="1"/>
          </p:cNvSpPr>
          <p:nvPr>
            <p:ph type="sldNum" sz="quarter" idx="12"/>
          </p:nvPr>
        </p:nvSpPr>
        <p:spPr/>
        <p:txBody>
          <a:bodyPr/>
          <a:lstStyle/>
          <a:p>
            <a:fld id="{CC8B731A-DCF7-4273-BA1A-21517ACBB5E5}" type="slidenum">
              <a:rPr lang="en-GB" smtClean="0"/>
              <a:t>9</a:t>
            </a:fld>
            <a:endParaRPr lang="en-GB"/>
          </a:p>
        </p:txBody>
      </p:sp>
    </p:spTree>
    <p:extLst>
      <p:ext uri="{BB962C8B-B14F-4D97-AF65-F5344CB8AC3E}">
        <p14:creationId xmlns:p14="http://schemas.microsoft.com/office/powerpoint/2010/main" val="210825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t>1</a:t>
            </a:r>
            <a:r>
              <a:rPr lang="en-US" altLang="ja-JP" b="1" dirty="0"/>
              <a:t>. </a:t>
            </a:r>
            <a:r>
              <a:rPr lang="en-GB" altLang="ja-JP" b="1" dirty="0">
                <a:sym typeface="Arial"/>
              </a:rPr>
              <a:t>RubyKaigi 2025 </a:t>
            </a:r>
            <a:r>
              <a:rPr lang="ja-JP" altLang="en-US" b="1" dirty="0">
                <a:sym typeface="Arial"/>
              </a:rPr>
              <a:t>の個人的目標</a:t>
            </a:r>
            <a:endParaRPr lang="en-GB" b="1" dirty="0">
              <a:latin typeface="+mn-lt"/>
            </a:endParaRPr>
          </a:p>
        </p:txBody>
      </p:sp>
      <p:sp>
        <p:nvSpPr>
          <p:cNvPr id="3" name="Slide Number Placeholder 2">
            <a:extLst>
              <a:ext uri="{FF2B5EF4-FFF2-40B4-BE49-F238E27FC236}">
                <a16:creationId xmlns:a16="http://schemas.microsoft.com/office/drawing/2014/main" id="{0E00A878-11DF-FE2A-8618-8017B8363617}"/>
              </a:ext>
            </a:extLst>
          </p:cNvPr>
          <p:cNvSpPr>
            <a:spLocks noGrp="1"/>
          </p:cNvSpPr>
          <p:nvPr>
            <p:ph type="sldNum" sz="quarter" idx="12"/>
          </p:nvPr>
        </p:nvSpPr>
        <p:spPr/>
        <p:txBody>
          <a:bodyPr/>
          <a:lstStyle/>
          <a:p>
            <a:fld id="{CC8B731A-DCF7-4273-BA1A-21517ACBB5E5}" type="slidenum">
              <a:rPr lang="en-GB" smtClean="0"/>
              <a:t>10</a:t>
            </a:fld>
            <a:endParaRPr lang="en-GB"/>
          </a:p>
        </p:txBody>
      </p:sp>
    </p:spTree>
    <p:extLst>
      <p:ext uri="{BB962C8B-B14F-4D97-AF65-F5344CB8AC3E}">
        <p14:creationId xmlns:p14="http://schemas.microsoft.com/office/powerpoint/2010/main" val="1023418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t>1</a:t>
            </a:r>
            <a:r>
              <a:rPr lang="en-US" altLang="ja-JP" b="1" dirty="0"/>
              <a:t>. </a:t>
            </a:r>
            <a:r>
              <a:rPr lang="en-GB" altLang="ja-JP" b="1" dirty="0">
                <a:sym typeface="Arial"/>
              </a:rPr>
              <a:t>RubyKaigi 2025 </a:t>
            </a:r>
            <a:r>
              <a:rPr lang="ja-JP" altLang="en-US" b="1" dirty="0">
                <a:sym typeface="Arial"/>
              </a:rPr>
              <a:t>の個人的目標</a:t>
            </a:r>
            <a:endParaRPr lang="en-GB" b="1" dirty="0">
              <a:latin typeface="+mn-lt"/>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0" lvl="1" indent="0" algn="ctr">
              <a:buNone/>
            </a:pPr>
            <a:endParaRPr lang="en-GB" altLang="ja-JP" sz="4000" b="1" dirty="0"/>
          </a:p>
          <a:p>
            <a:pPr marL="0" lvl="1" indent="0" algn="ctr">
              <a:buNone/>
            </a:pPr>
            <a:endParaRPr lang="en-GB" altLang="ja-JP" sz="4000" b="1" dirty="0"/>
          </a:p>
          <a:p>
            <a:pPr marL="0" lvl="1" indent="0" algn="ctr">
              <a:buNone/>
            </a:pPr>
            <a:r>
              <a:rPr lang="ja-JP" altLang="en-US" sz="4000" b="1"/>
              <a:t>いち</a:t>
            </a:r>
            <a:r>
              <a:rPr lang="ja-JP" altLang="en-US" sz="4000" b="1" dirty="0"/>
              <a:t>言語学オタクとして</a:t>
            </a:r>
            <a:r>
              <a:rPr lang="en-GB" altLang="ja-JP" sz="4000" b="1" dirty="0"/>
              <a:t> Ruby </a:t>
            </a:r>
            <a:r>
              <a:rPr lang="ja-JP" altLang="en-US" sz="4000" b="1" dirty="0"/>
              <a:t>に</a:t>
            </a:r>
            <a:endParaRPr lang="en-GB" altLang="ja-JP" sz="4000" b="1" dirty="0"/>
          </a:p>
          <a:p>
            <a:pPr marL="0" lvl="1" indent="0" algn="ctr">
              <a:buNone/>
            </a:pPr>
            <a:r>
              <a:rPr lang="ja-JP" altLang="en-US" sz="4000" b="1" dirty="0"/>
              <a:t>コミットするための突破口を見つけること</a:t>
            </a:r>
            <a:endParaRPr lang="en-US" altLang="ja-JP" sz="4000" b="1" dirty="0"/>
          </a:p>
        </p:txBody>
      </p:sp>
      <p:sp>
        <p:nvSpPr>
          <p:cNvPr id="5" name="Slide Number Placeholder 4">
            <a:extLst>
              <a:ext uri="{FF2B5EF4-FFF2-40B4-BE49-F238E27FC236}">
                <a16:creationId xmlns:a16="http://schemas.microsoft.com/office/drawing/2014/main" id="{A5104E0D-4BE6-013B-951F-F84F9D9F47AC}"/>
              </a:ext>
            </a:extLst>
          </p:cNvPr>
          <p:cNvSpPr>
            <a:spLocks noGrp="1"/>
          </p:cNvSpPr>
          <p:nvPr>
            <p:ph type="sldNum" sz="quarter" idx="12"/>
          </p:nvPr>
        </p:nvSpPr>
        <p:spPr/>
        <p:txBody>
          <a:bodyPr/>
          <a:lstStyle/>
          <a:p>
            <a:fld id="{CC8B731A-DCF7-4273-BA1A-21517ACBB5E5}" type="slidenum">
              <a:rPr lang="en-GB" smtClean="0"/>
              <a:t>11</a:t>
            </a:fld>
            <a:endParaRPr lang="en-GB"/>
          </a:p>
        </p:txBody>
      </p:sp>
    </p:spTree>
    <p:extLst>
      <p:ext uri="{BB962C8B-B14F-4D97-AF65-F5344CB8AC3E}">
        <p14:creationId xmlns:p14="http://schemas.microsoft.com/office/powerpoint/2010/main" val="3715280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C3CF5510-42EC-BECB-FB81-D7C05DCBE0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885DB0-20A8-6999-21EC-897A57DB6C2B}"/>
              </a:ext>
            </a:extLst>
          </p:cNvPr>
          <p:cNvSpPr>
            <a:spLocks noGrp="1"/>
          </p:cNvSpPr>
          <p:nvPr>
            <p:ph type="title"/>
          </p:nvPr>
        </p:nvSpPr>
        <p:spPr/>
        <p:txBody>
          <a:bodyPr/>
          <a:lstStyle/>
          <a:p>
            <a:pPr algn="ctr"/>
            <a:r>
              <a:rPr lang="en-GB" altLang="ja-JP" b="1" dirty="0"/>
              <a:t>1</a:t>
            </a:r>
            <a:r>
              <a:rPr lang="en-US" altLang="ja-JP" b="1" dirty="0"/>
              <a:t>. </a:t>
            </a:r>
            <a:r>
              <a:rPr lang="en-GB" altLang="ja-JP" b="1" dirty="0">
                <a:sym typeface="Arial"/>
              </a:rPr>
              <a:t>RubyKaigi 2025 </a:t>
            </a:r>
            <a:r>
              <a:rPr lang="ja-JP" altLang="en-US" b="1" dirty="0">
                <a:sym typeface="Arial"/>
              </a:rPr>
              <a:t>の個人的目標</a:t>
            </a:r>
            <a:endParaRPr lang="en-GB" b="1" dirty="0">
              <a:latin typeface="+mn-lt"/>
            </a:endParaRPr>
          </a:p>
        </p:txBody>
      </p:sp>
      <p:sp>
        <p:nvSpPr>
          <p:cNvPr id="3" name="コンテンツ プレースホルダー 2">
            <a:extLst>
              <a:ext uri="{FF2B5EF4-FFF2-40B4-BE49-F238E27FC236}">
                <a16:creationId xmlns:a16="http://schemas.microsoft.com/office/drawing/2014/main" id="{DDAC4C99-E637-01A8-1BA3-BFEF33E96D2F}"/>
              </a:ext>
            </a:extLst>
          </p:cNvPr>
          <p:cNvSpPr>
            <a:spLocks noGrp="1"/>
          </p:cNvSpPr>
          <p:nvPr>
            <p:ph idx="1"/>
          </p:nvPr>
        </p:nvSpPr>
        <p:spPr>
          <a:xfrm>
            <a:off x="838200" y="1825625"/>
            <a:ext cx="10515600" cy="4351338"/>
          </a:xfrm>
        </p:spPr>
        <p:txBody>
          <a:bodyPr>
            <a:normAutofit/>
          </a:bodyPr>
          <a:lstStyle/>
          <a:p>
            <a:pPr marL="0" indent="0">
              <a:buNone/>
            </a:pPr>
            <a:r>
              <a:rPr lang="ja-JP" altLang="en-US" b="1" dirty="0"/>
              <a:t>この目標に至った経緯</a:t>
            </a:r>
            <a:endParaRPr lang="en-GB" b="1" dirty="0"/>
          </a:p>
          <a:p>
            <a:r>
              <a:rPr lang="ja-JP" altLang="en-US" sz="2400" dirty="0"/>
              <a:t>長年の</a:t>
            </a:r>
            <a:r>
              <a:rPr lang="en-GB" altLang="ja-JP" sz="2400" dirty="0"/>
              <a:t> Ruby </a:t>
            </a:r>
            <a:r>
              <a:rPr lang="ja-JP" altLang="en-US" sz="2400" dirty="0"/>
              <a:t>での開発経験はあったが、複雑で難解な低レイヤーの理解から逃げ回ってきた</a:t>
            </a:r>
            <a:endParaRPr lang="en-GB" sz="2400" dirty="0"/>
          </a:p>
          <a:p>
            <a:r>
              <a:rPr lang="ja-JP" altLang="en-US" sz="2400" dirty="0"/>
              <a:t>この事実により、</a:t>
            </a:r>
            <a:r>
              <a:rPr lang="en-GB" altLang="ja-JP" sz="2400" dirty="0"/>
              <a:t>Ruby </a:t>
            </a:r>
            <a:r>
              <a:rPr lang="ja-JP" altLang="en-US" sz="2400" dirty="0"/>
              <a:t>を使えはするが最大限活用出来ない未熟な開発者になり果ててしまった</a:t>
            </a:r>
            <a:endParaRPr lang="en-GB" sz="2400" b="1" dirty="0"/>
          </a:p>
          <a:p>
            <a:r>
              <a:rPr lang="ja-JP" altLang="en-US" sz="2400" dirty="0"/>
              <a:t>私自身、</a:t>
            </a:r>
            <a:r>
              <a:rPr lang="en-GB" altLang="ja-JP" sz="2400" dirty="0"/>
              <a:t>Ruby </a:t>
            </a:r>
            <a:r>
              <a:rPr lang="ja-JP" altLang="en-US" sz="2400" dirty="0"/>
              <a:t>の低レイヤーのエコシステムやライフサイクルに真剣に向き合い、理解する時が来たことは感じていた</a:t>
            </a:r>
            <a:endParaRPr lang="en-GB" sz="2400" dirty="0"/>
          </a:p>
          <a:p>
            <a:r>
              <a:rPr lang="ja-JP" altLang="en-US" sz="2400" dirty="0"/>
              <a:t>何から始めるべきかは分かりかねていたので、</a:t>
            </a:r>
            <a:r>
              <a:rPr lang="en-GB" altLang="ja-JP" sz="2400" dirty="0"/>
              <a:t>RubyKaigi 2025 </a:t>
            </a:r>
            <a:r>
              <a:rPr lang="ja-JP" altLang="en-US" sz="2400" dirty="0"/>
              <a:t>で言語学的な自分の興味を大きく引く何かを見つけることにした</a:t>
            </a:r>
            <a:endParaRPr lang="en-GB" sz="2400" dirty="0"/>
          </a:p>
          <a:p>
            <a:pPr marL="0" lvl="1" indent="0">
              <a:buNone/>
            </a:pPr>
            <a:endParaRPr lang="en-US" altLang="ja-JP" dirty="0"/>
          </a:p>
        </p:txBody>
      </p:sp>
      <p:sp>
        <p:nvSpPr>
          <p:cNvPr id="5" name="Slide Number Placeholder 4">
            <a:extLst>
              <a:ext uri="{FF2B5EF4-FFF2-40B4-BE49-F238E27FC236}">
                <a16:creationId xmlns:a16="http://schemas.microsoft.com/office/drawing/2014/main" id="{B79CEC13-7F6A-6194-73AA-BE516646DDE7}"/>
              </a:ext>
            </a:extLst>
          </p:cNvPr>
          <p:cNvSpPr>
            <a:spLocks noGrp="1"/>
          </p:cNvSpPr>
          <p:nvPr>
            <p:ph type="sldNum" sz="quarter" idx="12"/>
          </p:nvPr>
        </p:nvSpPr>
        <p:spPr/>
        <p:txBody>
          <a:bodyPr/>
          <a:lstStyle/>
          <a:p>
            <a:fld id="{CC8B731A-DCF7-4273-BA1A-21517ACBB5E5}" type="slidenum">
              <a:rPr lang="en-GB" smtClean="0"/>
              <a:t>12</a:t>
            </a:fld>
            <a:endParaRPr lang="en-GB"/>
          </a:p>
        </p:txBody>
      </p:sp>
    </p:spTree>
    <p:extLst>
      <p:ext uri="{BB962C8B-B14F-4D97-AF65-F5344CB8AC3E}">
        <p14:creationId xmlns:p14="http://schemas.microsoft.com/office/powerpoint/2010/main" val="492819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868AB714-AF8F-70E1-2784-BE00F37C00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F76A95-B8C2-46B8-5BE2-BA7201E9FDF4}"/>
              </a:ext>
            </a:extLst>
          </p:cNvPr>
          <p:cNvSpPr>
            <a:spLocks noGrp="1"/>
          </p:cNvSpPr>
          <p:nvPr>
            <p:ph type="title"/>
          </p:nvPr>
        </p:nvSpPr>
        <p:spPr/>
        <p:txBody>
          <a:bodyPr/>
          <a:lstStyle/>
          <a:p>
            <a:pPr algn="ctr"/>
            <a:r>
              <a:rPr lang="en-GB" altLang="ja-JP" b="1" dirty="0"/>
              <a:t>1</a:t>
            </a:r>
            <a:r>
              <a:rPr lang="en-US" altLang="ja-JP" b="1" dirty="0"/>
              <a:t>. </a:t>
            </a:r>
            <a:r>
              <a:rPr lang="en-GB" altLang="ja-JP" b="1" dirty="0">
                <a:sym typeface="Arial"/>
              </a:rPr>
              <a:t>RubyKaigi 2025 </a:t>
            </a:r>
            <a:r>
              <a:rPr lang="ja-JP" altLang="en-US" b="1" dirty="0">
                <a:sym typeface="Arial"/>
              </a:rPr>
              <a:t>の個人的目標</a:t>
            </a:r>
            <a:endParaRPr lang="en-GB" b="1" dirty="0">
              <a:latin typeface="+mn-lt"/>
            </a:endParaRPr>
          </a:p>
        </p:txBody>
      </p:sp>
      <p:sp>
        <p:nvSpPr>
          <p:cNvPr id="3" name="コンテンツ プレースホルダー 2">
            <a:extLst>
              <a:ext uri="{FF2B5EF4-FFF2-40B4-BE49-F238E27FC236}">
                <a16:creationId xmlns:a16="http://schemas.microsoft.com/office/drawing/2014/main" id="{52ED1B87-2AAC-A693-5812-6CADB2058556}"/>
              </a:ext>
            </a:extLst>
          </p:cNvPr>
          <p:cNvSpPr>
            <a:spLocks noGrp="1"/>
          </p:cNvSpPr>
          <p:nvPr>
            <p:ph idx="1"/>
          </p:nvPr>
        </p:nvSpPr>
        <p:spPr>
          <a:xfrm>
            <a:off x="838200" y="1825625"/>
            <a:ext cx="10515600" cy="4351338"/>
          </a:xfrm>
        </p:spPr>
        <p:txBody>
          <a:bodyPr>
            <a:normAutofit/>
          </a:bodyPr>
          <a:lstStyle/>
          <a:p>
            <a:pPr marL="0" indent="0">
              <a:buNone/>
            </a:pPr>
            <a:r>
              <a:rPr lang="ja-JP" altLang="en-US" b="1" dirty="0"/>
              <a:t>取った戦略</a:t>
            </a:r>
            <a:endParaRPr lang="en-GB" b="1" dirty="0"/>
          </a:p>
          <a:p>
            <a:r>
              <a:rPr lang="ja-JP" altLang="en-US" sz="2400" dirty="0"/>
              <a:t>興味のある分野だけに絞って観るスピーチを決めた</a:t>
            </a:r>
            <a:endParaRPr lang="en-GB" sz="2400" dirty="0"/>
          </a:p>
          <a:p>
            <a:r>
              <a:rPr lang="ja-JP" altLang="en-US" sz="2400" dirty="0"/>
              <a:t>全てを理解しようとはせず、その時に理解出来なかった</a:t>
            </a:r>
            <a:r>
              <a:rPr lang="en-GB" altLang="ja-JP" sz="2400" dirty="0"/>
              <a:t> and/or </a:t>
            </a:r>
            <a:r>
              <a:rPr lang="ja-JP" altLang="en-US" sz="2400" dirty="0"/>
              <a:t>興味を引かれたキーワードのみを書き残した</a:t>
            </a:r>
            <a:endParaRPr lang="en-GB" sz="2400" dirty="0"/>
          </a:p>
          <a:p>
            <a:r>
              <a:rPr lang="en-GB" sz="2400" dirty="0"/>
              <a:t>RubyKaigi 2025 </a:t>
            </a:r>
            <a:r>
              <a:rPr lang="ja-JP" altLang="en-US" sz="2400" dirty="0"/>
              <a:t>が終了したら、書き残したキーワードの詳細について学び始めた</a:t>
            </a:r>
            <a:endParaRPr lang="en-GB" sz="2400" dirty="0"/>
          </a:p>
        </p:txBody>
      </p:sp>
      <p:sp>
        <p:nvSpPr>
          <p:cNvPr id="5" name="Slide Number Placeholder 4">
            <a:extLst>
              <a:ext uri="{FF2B5EF4-FFF2-40B4-BE49-F238E27FC236}">
                <a16:creationId xmlns:a16="http://schemas.microsoft.com/office/drawing/2014/main" id="{5C7EBEF3-9A4E-3F27-C27E-54B1901937B9}"/>
              </a:ext>
            </a:extLst>
          </p:cNvPr>
          <p:cNvSpPr>
            <a:spLocks noGrp="1"/>
          </p:cNvSpPr>
          <p:nvPr>
            <p:ph type="sldNum" sz="quarter" idx="12"/>
          </p:nvPr>
        </p:nvSpPr>
        <p:spPr/>
        <p:txBody>
          <a:bodyPr/>
          <a:lstStyle/>
          <a:p>
            <a:fld id="{CC8B731A-DCF7-4273-BA1A-21517ACBB5E5}" type="slidenum">
              <a:rPr lang="en-GB" smtClean="0"/>
              <a:t>13</a:t>
            </a:fld>
            <a:endParaRPr lang="en-GB"/>
          </a:p>
        </p:txBody>
      </p:sp>
    </p:spTree>
    <p:extLst>
      <p:ext uri="{BB962C8B-B14F-4D97-AF65-F5344CB8AC3E}">
        <p14:creationId xmlns:p14="http://schemas.microsoft.com/office/powerpoint/2010/main" val="2424120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t>2. </a:t>
            </a:r>
            <a:r>
              <a:rPr lang="en-GB" altLang="ja-JP" b="1" dirty="0">
                <a:sym typeface="Arial"/>
              </a:rPr>
              <a:t>KaigiEffect -</a:t>
            </a:r>
            <a:r>
              <a:rPr lang="ja-JP" altLang="en-US" b="1" dirty="0">
                <a:sym typeface="Arial"/>
              </a:rPr>
              <a:t>沼り分野</a:t>
            </a:r>
            <a:r>
              <a:rPr lang="en-US" altLang="ja-JP" b="1" dirty="0">
                <a:sym typeface="Arial"/>
              </a:rPr>
              <a:t>-</a:t>
            </a:r>
            <a:endParaRPr lang="en-GB" b="1" dirty="0">
              <a:latin typeface="+mn-lt"/>
            </a:endParaRPr>
          </a:p>
        </p:txBody>
      </p:sp>
      <p:sp>
        <p:nvSpPr>
          <p:cNvPr id="3" name="Slide Number Placeholder 2">
            <a:extLst>
              <a:ext uri="{FF2B5EF4-FFF2-40B4-BE49-F238E27FC236}">
                <a16:creationId xmlns:a16="http://schemas.microsoft.com/office/drawing/2014/main" id="{13A45B69-7739-ADFD-68EA-BD3803D53D08}"/>
              </a:ext>
            </a:extLst>
          </p:cNvPr>
          <p:cNvSpPr>
            <a:spLocks noGrp="1"/>
          </p:cNvSpPr>
          <p:nvPr>
            <p:ph type="sldNum" sz="quarter" idx="12"/>
          </p:nvPr>
        </p:nvSpPr>
        <p:spPr/>
        <p:txBody>
          <a:bodyPr/>
          <a:lstStyle/>
          <a:p>
            <a:fld id="{CC8B731A-DCF7-4273-BA1A-21517ACBB5E5}" type="slidenum">
              <a:rPr lang="en-GB" smtClean="0"/>
              <a:t>14</a:t>
            </a:fld>
            <a:endParaRPr lang="en-GB"/>
          </a:p>
        </p:txBody>
      </p:sp>
    </p:spTree>
    <p:extLst>
      <p:ext uri="{BB962C8B-B14F-4D97-AF65-F5344CB8AC3E}">
        <p14:creationId xmlns:p14="http://schemas.microsoft.com/office/powerpoint/2010/main" val="1611154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t>2. </a:t>
            </a:r>
            <a:r>
              <a:rPr lang="en-GB" altLang="ja-JP" b="1" dirty="0">
                <a:sym typeface="Arial"/>
              </a:rPr>
              <a:t>KaigiEffect -</a:t>
            </a:r>
            <a:r>
              <a:rPr lang="ja-JP" altLang="en-US" b="1" dirty="0">
                <a:sym typeface="Arial"/>
              </a:rPr>
              <a:t>沼り分野</a:t>
            </a:r>
            <a:r>
              <a:rPr lang="en-US" altLang="ja-JP" b="1" dirty="0">
                <a:sym typeface="Arial"/>
              </a:rPr>
              <a:t>-</a:t>
            </a:r>
            <a:endParaRPr lang="en-GB" b="1" dirty="0">
              <a:latin typeface="+mn-lt"/>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言語処理のエコシステムとライフサイクルへの大きな興味</a:t>
            </a:r>
            <a:endParaRPr lang="en-GB" altLang="ja-JP" sz="2800" b="1" dirty="0"/>
          </a:p>
          <a:p>
            <a:pPr marL="268288" lvl="1" indent="-268288"/>
            <a:r>
              <a:rPr lang="ja-JP" altLang="en-US" dirty="0"/>
              <a:t>特別な理由はなかったが、かつては興味を持っていなかった</a:t>
            </a:r>
            <a:endParaRPr lang="en-GB" altLang="ja-JP" dirty="0">
              <a:hlinkClick r:id="rId3"/>
            </a:endParaRPr>
          </a:p>
          <a:p>
            <a:pPr marL="268288" lvl="1" indent="-268288"/>
            <a:r>
              <a:rPr lang="en-GB" altLang="ja-JP" dirty="0">
                <a:hlinkClick r:id="rId4"/>
              </a:rPr>
              <a:t>@ydah_</a:t>
            </a:r>
            <a:r>
              <a:rPr lang="ja-JP" altLang="en-US" dirty="0"/>
              <a:t>さんの</a:t>
            </a:r>
            <a:r>
              <a:rPr lang="en-GB" altLang="ja-JP" dirty="0"/>
              <a:t> </a:t>
            </a:r>
            <a:r>
              <a:rPr lang="en-GB" altLang="ja-JP" i="1" dirty="0">
                <a:hlinkClick r:id="rId3"/>
              </a:rPr>
              <a:t>Dissecting and Reconstructing Ruby Syntactic Structures</a:t>
            </a:r>
            <a:r>
              <a:rPr lang="en-GB" altLang="ja-JP" dirty="0"/>
              <a:t> </a:t>
            </a:r>
            <a:r>
              <a:rPr lang="ja-JP" altLang="en-US" dirty="0"/>
              <a:t>を拝見し、</a:t>
            </a:r>
            <a:r>
              <a:rPr lang="en-GB" altLang="ja-JP" dirty="0"/>
              <a:t>Ruby </a:t>
            </a:r>
            <a:r>
              <a:rPr lang="ja-JP" altLang="en-US" dirty="0"/>
              <a:t>のソースコードがどのように処理されるかについて大きな興味を持った</a:t>
            </a:r>
            <a:endParaRPr lang="en-GB" altLang="ja-JP" dirty="0"/>
          </a:p>
        </p:txBody>
      </p:sp>
      <p:pic>
        <p:nvPicPr>
          <p:cNvPr id="3" name="Picture 2">
            <a:extLst>
              <a:ext uri="{FF2B5EF4-FFF2-40B4-BE49-F238E27FC236}">
                <a16:creationId xmlns:a16="http://schemas.microsoft.com/office/drawing/2014/main" id="{2307769B-3242-50ED-6CA4-536175A07F6F}"/>
              </a:ext>
            </a:extLst>
          </p:cNvPr>
          <p:cNvPicPr>
            <a:picLocks noChangeAspect="1"/>
          </p:cNvPicPr>
          <p:nvPr/>
        </p:nvPicPr>
        <p:blipFill>
          <a:blip r:embed="rId5">
            <a:extLst>
              <a:ext uri="{28A0092B-C50C-407E-A947-70E740481C1C}">
                <a14:useLocalDpi xmlns:a14="http://schemas.microsoft.com/office/drawing/2010/main" val="0"/>
              </a:ext>
            </a:extLst>
          </a:blip>
          <a:srcRect t="30697"/>
          <a:stretch/>
        </p:blipFill>
        <p:spPr>
          <a:xfrm>
            <a:off x="3306217" y="3429000"/>
            <a:ext cx="5579566" cy="2662099"/>
          </a:xfrm>
          <a:prstGeom prst="rect">
            <a:avLst/>
          </a:prstGeom>
        </p:spPr>
      </p:pic>
      <p:sp>
        <p:nvSpPr>
          <p:cNvPr id="5" name="Slide Number Placeholder 4">
            <a:extLst>
              <a:ext uri="{FF2B5EF4-FFF2-40B4-BE49-F238E27FC236}">
                <a16:creationId xmlns:a16="http://schemas.microsoft.com/office/drawing/2014/main" id="{9F091FF8-9171-C7B7-EA3D-4DFD9A5CDA85}"/>
              </a:ext>
            </a:extLst>
          </p:cNvPr>
          <p:cNvSpPr>
            <a:spLocks noGrp="1"/>
          </p:cNvSpPr>
          <p:nvPr>
            <p:ph type="sldNum" sz="quarter" idx="12"/>
          </p:nvPr>
        </p:nvSpPr>
        <p:spPr/>
        <p:txBody>
          <a:bodyPr/>
          <a:lstStyle/>
          <a:p>
            <a:fld id="{CC8B731A-DCF7-4273-BA1A-21517ACBB5E5}" type="slidenum">
              <a:rPr lang="en-GB" smtClean="0"/>
              <a:t>15</a:t>
            </a:fld>
            <a:endParaRPr lang="en-GB"/>
          </a:p>
        </p:txBody>
      </p:sp>
    </p:spTree>
    <p:extLst>
      <p:ext uri="{BB962C8B-B14F-4D97-AF65-F5344CB8AC3E}">
        <p14:creationId xmlns:p14="http://schemas.microsoft.com/office/powerpoint/2010/main" val="1235012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49DDD8D7-F22F-C2A7-EAD9-D9614684A4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18E939-65F0-20EE-9302-7D5F7B1C1087}"/>
              </a:ext>
            </a:extLst>
          </p:cNvPr>
          <p:cNvSpPr>
            <a:spLocks noGrp="1"/>
          </p:cNvSpPr>
          <p:nvPr>
            <p:ph type="title"/>
          </p:nvPr>
        </p:nvSpPr>
        <p:spPr/>
        <p:txBody>
          <a:bodyPr>
            <a:normAutofit/>
          </a:bodyPr>
          <a:lstStyle/>
          <a:p>
            <a:pPr algn="ctr"/>
            <a:r>
              <a:rPr lang="en-US" altLang="ja-JP" b="1" dirty="0"/>
              <a:t>2. </a:t>
            </a:r>
            <a:r>
              <a:rPr lang="en-GB" altLang="ja-JP" b="1" dirty="0">
                <a:sym typeface="Arial"/>
              </a:rPr>
              <a:t>KaigiEffect -</a:t>
            </a:r>
            <a:r>
              <a:rPr lang="ja-JP" altLang="en-US" b="1" dirty="0">
                <a:sym typeface="Arial"/>
              </a:rPr>
              <a:t>沼り分野</a:t>
            </a:r>
            <a:r>
              <a:rPr lang="en-US" altLang="ja-JP" b="1" dirty="0">
                <a:sym typeface="Arial"/>
              </a:rPr>
              <a:t>-</a:t>
            </a:r>
            <a:endParaRPr lang="en-GB" b="1" dirty="0">
              <a:latin typeface="+mn-lt"/>
            </a:endParaRPr>
          </a:p>
        </p:txBody>
      </p:sp>
      <p:sp>
        <p:nvSpPr>
          <p:cNvPr id="9" name="コンテンツ プレースホルダー 2">
            <a:extLst>
              <a:ext uri="{FF2B5EF4-FFF2-40B4-BE49-F238E27FC236}">
                <a16:creationId xmlns:a16="http://schemas.microsoft.com/office/drawing/2014/main" id="{13EEE4EC-6E30-B4C9-5805-1EC3985FE35B}"/>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同僚</a:t>
            </a:r>
            <a:r>
              <a:rPr lang="en-GB" altLang="ja-JP" sz="2800" b="1" dirty="0"/>
              <a:t> Rubyists </a:t>
            </a:r>
            <a:r>
              <a:rPr lang="ja-JP" altLang="en-US" sz="2800" b="1" dirty="0"/>
              <a:t>との議論と学習教材の収集</a:t>
            </a:r>
            <a:endParaRPr lang="en-GB" altLang="ja-JP" sz="2800" b="1" dirty="0"/>
          </a:p>
          <a:p>
            <a:pPr marL="268288" lvl="1" indent="-268288"/>
            <a:r>
              <a:rPr lang="ja-JP" altLang="en-US" dirty="0"/>
              <a:t>言語処理のエコシステムやライフサイクルは私が知っている以上に複雑だった</a:t>
            </a:r>
            <a:endParaRPr lang="en-GB" altLang="ja-JP" dirty="0"/>
          </a:p>
          <a:p>
            <a:pPr marL="268288" lvl="1" indent="-268288"/>
            <a:r>
              <a:rPr lang="ja-JP" altLang="en-US" dirty="0"/>
              <a:t>尚のこと、</a:t>
            </a:r>
            <a:r>
              <a:rPr lang="en-GB" altLang="ja-JP" dirty="0"/>
              <a:t>Ruby </a:t>
            </a:r>
            <a:r>
              <a:rPr lang="ja-JP" altLang="en-US" dirty="0"/>
              <a:t>の言語処理系の詳細について知りたくなった</a:t>
            </a:r>
            <a:endParaRPr lang="en-GB" altLang="ja-JP" dirty="0"/>
          </a:p>
          <a:p>
            <a:pPr marL="268288" lvl="1" indent="-268288"/>
            <a:r>
              <a:rPr lang="ja-JP" altLang="en-US" dirty="0"/>
              <a:t>それを知るために有用な教材は何かを言語処理に深く精通した同僚の</a:t>
            </a:r>
            <a:r>
              <a:rPr lang="en-GB" altLang="ja-JP" dirty="0"/>
              <a:t> Rubyists </a:t>
            </a:r>
            <a:r>
              <a:rPr lang="ja-JP" altLang="en-US" dirty="0"/>
              <a:t>にヒアリングと議論をした</a:t>
            </a:r>
            <a:endParaRPr lang="en-GB" altLang="ja-JP" dirty="0"/>
          </a:p>
          <a:p>
            <a:pPr marL="268288" lvl="1" indent="-268288"/>
            <a:r>
              <a:rPr lang="ja-JP" altLang="en-US" dirty="0"/>
              <a:t>おすすめされたウェブサイトやファイルなどの教材をブックマークしまくった</a:t>
            </a:r>
            <a:endParaRPr lang="en-GB" altLang="ja-JP" dirty="0"/>
          </a:p>
          <a:p>
            <a:pPr marL="268288" lvl="1" indent="-268288"/>
            <a:r>
              <a:rPr lang="en-GB" altLang="ja-JP" dirty="0"/>
              <a:t>X </a:t>
            </a:r>
            <a:r>
              <a:rPr lang="ja-JP" altLang="en-US" dirty="0"/>
              <a:t>上でもおすすめをして頂いた</a:t>
            </a:r>
            <a:r>
              <a:rPr lang="en-GB" altLang="ja-JP" dirty="0"/>
              <a:t>(</a:t>
            </a:r>
            <a:r>
              <a:rPr lang="ja-JP" altLang="en-US" dirty="0"/>
              <a:t>親切な</a:t>
            </a:r>
            <a:r>
              <a:rPr lang="en-GB" altLang="ja-JP" dirty="0"/>
              <a:t> Rubyists </a:t>
            </a:r>
            <a:r>
              <a:rPr lang="ja-JP" altLang="en-US" dirty="0"/>
              <a:t>に感謝します</a:t>
            </a:r>
            <a:r>
              <a:rPr lang="en-GB" altLang="ja-JP" dirty="0"/>
              <a:t>)</a:t>
            </a:r>
          </a:p>
          <a:p>
            <a:pPr marL="0" lvl="1" indent="0">
              <a:buNone/>
            </a:pPr>
            <a:endParaRPr lang="en-GB" altLang="ja-JP" dirty="0"/>
          </a:p>
          <a:p>
            <a:pPr marL="0" lvl="1" indent="0">
              <a:buNone/>
            </a:pPr>
            <a:r>
              <a:rPr lang="en-US" altLang="ja-JP" dirty="0"/>
              <a:t>※</a:t>
            </a:r>
            <a:r>
              <a:rPr lang="en-GB" altLang="ja-JP" dirty="0"/>
              <a:t> </a:t>
            </a:r>
            <a:r>
              <a:rPr lang="ja-JP" altLang="en-US" dirty="0"/>
              <a:t>知見に富んだ同僚がいること自体が福利厚生だと実感以上の確信をした</a:t>
            </a:r>
            <a:endParaRPr lang="en-GB" altLang="ja-JP" dirty="0"/>
          </a:p>
        </p:txBody>
      </p:sp>
      <p:sp>
        <p:nvSpPr>
          <p:cNvPr id="3" name="Slide Number Placeholder 2">
            <a:extLst>
              <a:ext uri="{FF2B5EF4-FFF2-40B4-BE49-F238E27FC236}">
                <a16:creationId xmlns:a16="http://schemas.microsoft.com/office/drawing/2014/main" id="{3FF230A7-561A-CFD4-2C22-6C71651E16B7}"/>
              </a:ext>
            </a:extLst>
          </p:cNvPr>
          <p:cNvSpPr>
            <a:spLocks noGrp="1"/>
          </p:cNvSpPr>
          <p:nvPr>
            <p:ph type="sldNum" sz="quarter" idx="12"/>
          </p:nvPr>
        </p:nvSpPr>
        <p:spPr/>
        <p:txBody>
          <a:bodyPr/>
          <a:lstStyle/>
          <a:p>
            <a:fld id="{CC8B731A-DCF7-4273-BA1A-21517ACBB5E5}" type="slidenum">
              <a:rPr lang="en-GB" smtClean="0"/>
              <a:t>16</a:t>
            </a:fld>
            <a:endParaRPr lang="en-GB"/>
          </a:p>
        </p:txBody>
      </p:sp>
    </p:spTree>
    <p:extLst>
      <p:ext uri="{BB962C8B-B14F-4D97-AF65-F5344CB8AC3E}">
        <p14:creationId xmlns:p14="http://schemas.microsoft.com/office/powerpoint/2010/main" val="3439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2A3CAD51-C39B-B91E-A6CC-5851DFD29C9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5039C8C-A5EA-EEC5-DA70-56CE35D54CB6}"/>
              </a:ext>
            </a:extLst>
          </p:cNvPr>
          <p:cNvSpPr>
            <a:spLocks noGrp="1"/>
          </p:cNvSpPr>
          <p:nvPr>
            <p:ph type="title"/>
          </p:nvPr>
        </p:nvSpPr>
        <p:spPr/>
        <p:txBody>
          <a:bodyPr>
            <a:normAutofit/>
          </a:bodyPr>
          <a:lstStyle/>
          <a:p>
            <a:pPr algn="ctr"/>
            <a:r>
              <a:rPr lang="en-US" altLang="ja-JP" b="1" dirty="0"/>
              <a:t>2. </a:t>
            </a:r>
            <a:r>
              <a:rPr lang="en-GB" altLang="ja-JP" b="1" dirty="0">
                <a:sym typeface="Arial"/>
              </a:rPr>
              <a:t>KaigiEffect -</a:t>
            </a:r>
            <a:r>
              <a:rPr lang="ja-JP" altLang="en-US" b="1" dirty="0">
                <a:sym typeface="Arial"/>
              </a:rPr>
              <a:t>沼り分野</a:t>
            </a:r>
            <a:r>
              <a:rPr lang="en-US" altLang="ja-JP" b="1" dirty="0">
                <a:sym typeface="Arial"/>
              </a:rPr>
              <a:t>-</a:t>
            </a:r>
            <a:endParaRPr lang="en-GB" b="1" dirty="0">
              <a:latin typeface="+mn-lt"/>
            </a:endParaRPr>
          </a:p>
        </p:txBody>
      </p:sp>
      <p:sp>
        <p:nvSpPr>
          <p:cNvPr id="9" name="コンテンツ プレースホルダー 2">
            <a:extLst>
              <a:ext uri="{FF2B5EF4-FFF2-40B4-BE49-F238E27FC236}">
                <a16:creationId xmlns:a16="http://schemas.microsoft.com/office/drawing/2014/main" id="{9BD71165-B827-873E-B4DB-FEB701BA5AD8}"/>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同僚</a:t>
            </a:r>
            <a:r>
              <a:rPr lang="en-GB" altLang="ja-JP" sz="2800" b="1" dirty="0"/>
              <a:t> Rubyists </a:t>
            </a:r>
            <a:r>
              <a:rPr lang="ja-JP" altLang="en-US" sz="2800" b="1" dirty="0"/>
              <a:t>との議論と学習教材の収集</a:t>
            </a:r>
            <a:endParaRPr lang="en-GB" altLang="ja-JP" dirty="0"/>
          </a:p>
        </p:txBody>
      </p:sp>
      <p:pic>
        <p:nvPicPr>
          <p:cNvPr id="3" name="Picture 2">
            <a:extLst>
              <a:ext uri="{FF2B5EF4-FFF2-40B4-BE49-F238E27FC236}">
                <a16:creationId xmlns:a16="http://schemas.microsoft.com/office/drawing/2014/main" id="{5FB00B3B-45AC-DE6A-8B89-1D1005F4B6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257007"/>
            <a:ext cx="4492379" cy="3919956"/>
          </a:xfrm>
          <a:prstGeom prst="rect">
            <a:avLst/>
          </a:prstGeom>
        </p:spPr>
      </p:pic>
      <p:pic>
        <p:nvPicPr>
          <p:cNvPr id="5" name="Picture 4">
            <a:extLst>
              <a:ext uri="{FF2B5EF4-FFF2-40B4-BE49-F238E27FC236}">
                <a16:creationId xmlns:a16="http://schemas.microsoft.com/office/drawing/2014/main" id="{F5BD1E74-C181-9F9F-0B11-C4301C8D5E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0579" y="2254637"/>
            <a:ext cx="3958569" cy="3922326"/>
          </a:xfrm>
          <a:prstGeom prst="rect">
            <a:avLst/>
          </a:prstGeom>
        </p:spPr>
      </p:pic>
      <p:sp>
        <p:nvSpPr>
          <p:cNvPr id="6" name="Rectangle 5">
            <a:extLst>
              <a:ext uri="{FF2B5EF4-FFF2-40B4-BE49-F238E27FC236}">
                <a16:creationId xmlns:a16="http://schemas.microsoft.com/office/drawing/2014/main" id="{E5FAE129-B0BE-7A01-DB3E-6DF411B6C39E}"/>
              </a:ext>
            </a:extLst>
          </p:cNvPr>
          <p:cNvSpPr/>
          <p:nvPr/>
        </p:nvSpPr>
        <p:spPr>
          <a:xfrm>
            <a:off x="1097280" y="3158025"/>
            <a:ext cx="1717288" cy="6779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63DAFC1-C51F-DE9D-17BE-15852D3E932B}"/>
              </a:ext>
            </a:extLst>
          </p:cNvPr>
          <p:cNvSpPr/>
          <p:nvPr/>
        </p:nvSpPr>
        <p:spPr>
          <a:xfrm>
            <a:off x="5554051" y="2681496"/>
            <a:ext cx="2412380" cy="160949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Slide Number Placeholder 7">
            <a:extLst>
              <a:ext uri="{FF2B5EF4-FFF2-40B4-BE49-F238E27FC236}">
                <a16:creationId xmlns:a16="http://schemas.microsoft.com/office/drawing/2014/main" id="{9AC6A993-B21A-7B77-D026-2B394C5677BA}"/>
              </a:ext>
            </a:extLst>
          </p:cNvPr>
          <p:cNvSpPr>
            <a:spLocks noGrp="1"/>
          </p:cNvSpPr>
          <p:nvPr>
            <p:ph type="sldNum" sz="quarter" idx="12"/>
          </p:nvPr>
        </p:nvSpPr>
        <p:spPr/>
        <p:txBody>
          <a:bodyPr/>
          <a:lstStyle/>
          <a:p>
            <a:fld id="{CC8B731A-DCF7-4273-BA1A-21517ACBB5E5}" type="slidenum">
              <a:rPr lang="en-GB" smtClean="0"/>
              <a:t>17</a:t>
            </a:fld>
            <a:endParaRPr lang="en-GB"/>
          </a:p>
        </p:txBody>
      </p:sp>
    </p:spTree>
    <p:extLst>
      <p:ext uri="{BB962C8B-B14F-4D97-AF65-F5344CB8AC3E}">
        <p14:creationId xmlns:p14="http://schemas.microsoft.com/office/powerpoint/2010/main" val="626962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0DB07F67-B349-95C1-2538-53FCD216D4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86A5C1D-A22C-54D6-3E7B-1862A32AB36F}"/>
              </a:ext>
            </a:extLst>
          </p:cNvPr>
          <p:cNvSpPr>
            <a:spLocks noGrp="1"/>
          </p:cNvSpPr>
          <p:nvPr>
            <p:ph type="title"/>
          </p:nvPr>
        </p:nvSpPr>
        <p:spPr/>
        <p:txBody>
          <a:bodyPr>
            <a:normAutofit/>
          </a:bodyPr>
          <a:lstStyle/>
          <a:p>
            <a:pPr algn="ctr"/>
            <a:r>
              <a:rPr lang="en-US" altLang="ja-JP" b="1" dirty="0"/>
              <a:t>2. </a:t>
            </a:r>
            <a:r>
              <a:rPr lang="en-GB" altLang="ja-JP" b="1" dirty="0">
                <a:sym typeface="Arial"/>
              </a:rPr>
              <a:t>KaigiEffect -</a:t>
            </a:r>
            <a:r>
              <a:rPr lang="ja-JP" altLang="en-US" b="1" dirty="0">
                <a:sym typeface="Arial"/>
              </a:rPr>
              <a:t>沼り分野</a:t>
            </a:r>
            <a:r>
              <a:rPr lang="en-US" altLang="ja-JP" b="1" dirty="0">
                <a:sym typeface="Arial"/>
              </a:rPr>
              <a:t>-</a:t>
            </a:r>
            <a:endParaRPr lang="en-GB" b="1" dirty="0">
              <a:latin typeface="+mn-lt"/>
            </a:endParaRPr>
          </a:p>
        </p:txBody>
      </p:sp>
      <p:sp>
        <p:nvSpPr>
          <p:cNvPr id="9" name="コンテンツ プレースホルダー 2">
            <a:extLst>
              <a:ext uri="{FF2B5EF4-FFF2-40B4-BE49-F238E27FC236}">
                <a16:creationId xmlns:a16="http://schemas.microsoft.com/office/drawing/2014/main" id="{A9DE7234-C070-2501-3DC0-A7BEE2599BA7}"/>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同僚</a:t>
            </a:r>
            <a:r>
              <a:rPr lang="en-GB" altLang="ja-JP" sz="2800" b="1" dirty="0"/>
              <a:t> Rubyists </a:t>
            </a:r>
            <a:r>
              <a:rPr lang="ja-JP" altLang="en-US" sz="2800" b="1" dirty="0"/>
              <a:t>との議論と学習教材の収集</a:t>
            </a:r>
            <a:endParaRPr lang="en-GB" altLang="ja-JP" dirty="0"/>
          </a:p>
        </p:txBody>
      </p:sp>
      <p:pic>
        <p:nvPicPr>
          <p:cNvPr id="3" name="Picture 2">
            <a:extLst>
              <a:ext uri="{FF2B5EF4-FFF2-40B4-BE49-F238E27FC236}">
                <a16:creationId xmlns:a16="http://schemas.microsoft.com/office/drawing/2014/main" id="{8A05D79E-B3D3-69D3-E5F5-4AA1BEC1BBA9}"/>
              </a:ext>
            </a:extLst>
          </p:cNvPr>
          <p:cNvPicPr>
            <a:picLocks noChangeAspect="1"/>
          </p:cNvPicPr>
          <p:nvPr/>
        </p:nvPicPr>
        <p:blipFill>
          <a:blip r:embed="rId3">
            <a:extLst>
              <a:ext uri="{28A0092B-C50C-407E-A947-70E740481C1C}">
                <a14:useLocalDpi xmlns:a14="http://schemas.microsoft.com/office/drawing/2010/main" val="0"/>
              </a:ext>
            </a:extLst>
          </a:blip>
          <a:srcRect r="30109"/>
          <a:stretch/>
        </p:blipFill>
        <p:spPr>
          <a:xfrm>
            <a:off x="838200" y="2254637"/>
            <a:ext cx="3135344" cy="3922326"/>
          </a:xfrm>
          <a:prstGeom prst="rect">
            <a:avLst/>
          </a:prstGeom>
        </p:spPr>
      </p:pic>
      <p:pic>
        <p:nvPicPr>
          <p:cNvPr id="5" name="Picture 4">
            <a:extLst>
              <a:ext uri="{FF2B5EF4-FFF2-40B4-BE49-F238E27FC236}">
                <a16:creationId xmlns:a16="http://schemas.microsoft.com/office/drawing/2014/main" id="{87944FAC-21A3-8439-E5EE-49F1BD406C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3544" y="2254637"/>
            <a:ext cx="4369817" cy="3918538"/>
          </a:xfrm>
          <a:prstGeom prst="rect">
            <a:avLst/>
          </a:prstGeom>
        </p:spPr>
      </p:pic>
      <p:sp>
        <p:nvSpPr>
          <p:cNvPr id="6" name="Rectangle 5">
            <a:extLst>
              <a:ext uri="{FF2B5EF4-FFF2-40B4-BE49-F238E27FC236}">
                <a16:creationId xmlns:a16="http://schemas.microsoft.com/office/drawing/2014/main" id="{2F7A45D4-1F69-B355-0142-58A31AF2BD11}"/>
              </a:ext>
            </a:extLst>
          </p:cNvPr>
          <p:cNvSpPr/>
          <p:nvPr/>
        </p:nvSpPr>
        <p:spPr>
          <a:xfrm>
            <a:off x="1111404" y="2351420"/>
            <a:ext cx="2822745" cy="270677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E79E0FD-2725-6387-2F42-7E766941C574}"/>
              </a:ext>
            </a:extLst>
          </p:cNvPr>
          <p:cNvSpPr/>
          <p:nvPr/>
        </p:nvSpPr>
        <p:spPr>
          <a:xfrm>
            <a:off x="4207354" y="2410150"/>
            <a:ext cx="2791152" cy="257667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Slide Number Placeholder 7">
            <a:extLst>
              <a:ext uri="{FF2B5EF4-FFF2-40B4-BE49-F238E27FC236}">
                <a16:creationId xmlns:a16="http://schemas.microsoft.com/office/drawing/2014/main" id="{C3ED1542-59D7-1E78-6480-98DCA36ACD85}"/>
              </a:ext>
            </a:extLst>
          </p:cNvPr>
          <p:cNvSpPr>
            <a:spLocks noGrp="1"/>
          </p:cNvSpPr>
          <p:nvPr>
            <p:ph type="sldNum" sz="quarter" idx="12"/>
          </p:nvPr>
        </p:nvSpPr>
        <p:spPr/>
        <p:txBody>
          <a:bodyPr/>
          <a:lstStyle/>
          <a:p>
            <a:fld id="{CC8B731A-DCF7-4273-BA1A-21517ACBB5E5}" type="slidenum">
              <a:rPr lang="en-GB" smtClean="0"/>
              <a:t>18</a:t>
            </a:fld>
            <a:endParaRPr lang="en-GB"/>
          </a:p>
        </p:txBody>
      </p:sp>
    </p:spTree>
    <p:extLst>
      <p:ext uri="{BB962C8B-B14F-4D97-AF65-F5344CB8AC3E}">
        <p14:creationId xmlns:p14="http://schemas.microsoft.com/office/powerpoint/2010/main" val="3623508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99107AD2-3D18-5C89-8F3D-9E102CCBFD9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D79580-357F-2FB0-71B9-5A9F0F1D3123}"/>
              </a:ext>
            </a:extLst>
          </p:cNvPr>
          <p:cNvSpPr>
            <a:spLocks noGrp="1"/>
          </p:cNvSpPr>
          <p:nvPr>
            <p:ph type="title"/>
          </p:nvPr>
        </p:nvSpPr>
        <p:spPr/>
        <p:txBody>
          <a:bodyPr>
            <a:normAutofit/>
          </a:bodyPr>
          <a:lstStyle/>
          <a:p>
            <a:pPr algn="ctr"/>
            <a:r>
              <a:rPr lang="en-US" altLang="ja-JP" b="1" dirty="0"/>
              <a:t>2. </a:t>
            </a:r>
            <a:r>
              <a:rPr lang="en-GB" altLang="ja-JP" b="1" dirty="0">
                <a:sym typeface="Arial"/>
              </a:rPr>
              <a:t>KaigiEffect -</a:t>
            </a:r>
            <a:r>
              <a:rPr lang="ja-JP" altLang="en-US" b="1" dirty="0">
                <a:sym typeface="Arial"/>
              </a:rPr>
              <a:t>沼り分野</a:t>
            </a:r>
            <a:r>
              <a:rPr lang="en-US" altLang="ja-JP" b="1" dirty="0">
                <a:sym typeface="Arial"/>
              </a:rPr>
              <a:t>-</a:t>
            </a:r>
            <a:endParaRPr lang="en-GB" b="1" dirty="0">
              <a:latin typeface="+mn-lt"/>
            </a:endParaRPr>
          </a:p>
        </p:txBody>
      </p:sp>
      <p:sp>
        <p:nvSpPr>
          <p:cNvPr id="9" name="コンテンツ プレースホルダー 2">
            <a:extLst>
              <a:ext uri="{FF2B5EF4-FFF2-40B4-BE49-F238E27FC236}">
                <a16:creationId xmlns:a16="http://schemas.microsoft.com/office/drawing/2014/main" id="{6F69940B-C840-C09D-5DC7-F6F457BA5357}"/>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同僚</a:t>
            </a:r>
            <a:r>
              <a:rPr lang="en-GB" altLang="ja-JP" sz="2800" b="1" dirty="0"/>
              <a:t> Rubyists </a:t>
            </a:r>
            <a:r>
              <a:rPr lang="ja-JP" altLang="en-US" sz="2800" b="1" dirty="0"/>
              <a:t>との議論と学習教材の収集</a:t>
            </a:r>
            <a:endParaRPr lang="en-GB" altLang="ja-JP" dirty="0"/>
          </a:p>
        </p:txBody>
      </p:sp>
      <p:pic>
        <p:nvPicPr>
          <p:cNvPr id="8" name="Picture 7">
            <a:extLst>
              <a:ext uri="{FF2B5EF4-FFF2-40B4-BE49-F238E27FC236}">
                <a16:creationId xmlns:a16="http://schemas.microsoft.com/office/drawing/2014/main" id="{9B863D3C-509E-059F-52FF-7D135D274410}"/>
              </a:ext>
            </a:extLst>
          </p:cNvPr>
          <p:cNvPicPr>
            <a:picLocks noChangeAspect="1"/>
          </p:cNvPicPr>
          <p:nvPr/>
        </p:nvPicPr>
        <p:blipFill>
          <a:blip r:embed="rId3">
            <a:extLst>
              <a:ext uri="{28A0092B-C50C-407E-A947-70E740481C1C}">
                <a14:useLocalDpi xmlns:a14="http://schemas.microsoft.com/office/drawing/2010/main" val="0"/>
              </a:ext>
            </a:extLst>
          </a:blip>
          <a:srcRect t="705" r="31432" b="102"/>
          <a:stretch/>
        </p:blipFill>
        <p:spPr>
          <a:xfrm>
            <a:off x="838200" y="2236796"/>
            <a:ext cx="5646627" cy="3888000"/>
          </a:xfrm>
          <a:prstGeom prst="rect">
            <a:avLst/>
          </a:prstGeom>
        </p:spPr>
      </p:pic>
      <p:sp>
        <p:nvSpPr>
          <p:cNvPr id="10" name="Rectangle 9">
            <a:extLst>
              <a:ext uri="{FF2B5EF4-FFF2-40B4-BE49-F238E27FC236}">
                <a16:creationId xmlns:a16="http://schemas.microsoft.com/office/drawing/2014/main" id="{6611FDE2-6F53-B952-E5FA-8388ABCADF2E}"/>
              </a:ext>
            </a:extLst>
          </p:cNvPr>
          <p:cNvSpPr/>
          <p:nvPr/>
        </p:nvSpPr>
        <p:spPr>
          <a:xfrm>
            <a:off x="1107314" y="3841880"/>
            <a:ext cx="4834055" cy="170241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3398CD21-EFE9-4290-F94C-EDEAD63F945B}"/>
              </a:ext>
            </a:extLst>
          </p:cNvPr>
          <p:cNvSpPr>
            <a:spLocks noGrp="1"/>
          </p:cNvSpPr>
          <p:nvPr>
            <p:ph type="sldNum" sz="quarter" idx="12"/>
          </p:nvPr>
        </p:nvSpPr>
        <p:spPr/>
        <p:txBody>
          <a:bodyPr/>
          <a:lstStyle/>
          <a:p>
            <a:fld id="{CC8B731A-DCF7-4273-BA1A-21517ACBB5E5}" type="slidenum">
              <a:rPr lang="en-GB" smtClean="0"/>
              <a:t>19</a:t>
            </a:fld>
            <a:endParaRPr lang="en-GB"/>
          </a:p>
        </p:txBody>
      </p:sp>
    </p:spTree>
    <p:extLst>
      <p:ext uri="{BB962C8B-B14F-4D97-AF65-F5344CB8AC3E}">
        <p14:creationId xmlns:p14="http://schemas.microsoft.com/office/powerpoint/2010/main" val="4246648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42A9AC8D-CCB4-FDEB-3CCE-E7AC1FDE70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C7F52E-C7AF-0EFE-BD7B-D074506D5EA4}"/>
              </a:ext>
            </a:extLst>
          </p:cNvPr>
          <p:cNvSpPr>
            <a:spLocks noGrp="1"/>
          </p:cNvSpPr>
          <p:nvPr>
            <p:ph type="title"/>
          </p:nvPr>
        </p:nvSpPr>
        <p:spPr/>
        <p:txBody>
          <a:bodyPr>
            <a:normAutofit/>
          </a:bodyPr>
          <a:lstStyle/>
          <a:p>
            <a:pPr algn="ctr"/>
            <a:r>
              <a:rPr lang="en-US" altLang="ja-JP" b="1" dirty="0"/>
              <a:t>2. </a:t>
            </a:r>
            <a:r>
              <a:rPr lang="en-GB" altLang="ja-JP" b="1" dirty="0">
                <a:sym typeface="Arial"/>
              </a:rPr>
              <a:t>KaigiEffect -</a:t>
            </a:r>
            <a:r>
              <a:rPr lang="ja-JP" altLang="en-US" b="1" dirty="0">
                <a:sym typeface="Arial"/>
              </a:rPr>
              <a:t>沼り分野</a:t>
            </a:r>
            <a:r>
              <a:rPr lang="en-US" altLang="ja-JP" b="1" dirty="0">
                <a:sym typeface="Arial"/>
              </a:rPr>
              <a:t>-</a:t>
            </a:r>
            <a:endParaRPr lang="en-GB" b="1" dirty="0">
              <a:latin typeface="+mn-lt"/>
            </a:endParaRPr>
          </a:p>
        </p:txBody>
      </p:sp>
      <p:sp>
        <p:nvSpPr>
          <p:cNvPr id="9" name="コンテンツ プレースホルダー 2">
            <a:extLst>
              <a:ext uri="{FF2B5EF4-FFF2-40B4-BE49-F238E27FC236}">
                <a16:creationId xmlns:a16="http://schemas.microsoft.com/office/drawing/2014/main" id="{5F2107DD-A79F-1A19-3C21-FEC103B1A178}"/>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同僚</a:t>
            </a:r>
            <a:r>
              <a:rPr lang="en-GB" altLang="ja-JP" sz="2800" b="1" dirty="0"/>
              <a:t> Rubyists </a:t>
            </a:r>
            <a:r>
              <a:rPr lang="ja-JP" altLang="en-US" sz="2800" b="1" dirty="0"/>
              <a:t>との議論と学習教材の収集</a:t>
            </a:r>
            <a:endParaRPr lang="en-GB" altLang="ja-JP" dirty="0"/>
          </a:p>
        </p:txBody>
      </p:sp>
      <p:pic>
        <p:nvPicPr>
          <p:cNvPr id="3" name="Picture 2">
            <a:extLst>
              <a:ext uri="{FF2B5EF4-FFF2-40B4-BE49-F238E27FC236}">
                <a16:creationId xmlns:a16="http://schemas.microsoft.com/office/drawing/2014/main" id="{93E3E98A-DD28-4D1F-5514-E2F0D5BE5BFC}"/>
              </a:ext>
            </a:extLst>
          </p:cNvPr>
          <p:cNvPicPr>
            <a:picLocks noChangeAspect="1"/>
          </p:cNvPicPr>
          <p:nvPr/>
        </p:nvPicPr>
        <p:blipFill>
          <a:blip r:embed="rId3">
            <a:extLst>
              <a:ext uri="{28A0092B-C50C-407E-A947-70E740481C1C}">
                <a14:useLocalDpi xmlns:a14="http://schemas.microsoft.com/office/drawing/2010/main" val="0"/>
              </a:ext>
            </a:extLst>
          </a:blip>
          <a:srcRect l="14" t="452" r="18912" b="454"/>
          <a:stretch/>
        </p:blipFill>
        <p:spPr>
          <a:xfrm>
            <a:off x="838200" y="2252963"/>
            <a:ext cx="9884442" cy="3924000"/>
          </a:xfrm>
          <a:prstGeom prst="rect">
            <a:avLst/>
          </a:prstGeom>
          <a:ln>
            <a:noFill/>
          </a:ln>
        </p:spPr>
      </p:pic>
      <p:sp>
        <p:nvSpPr>
          <p:cNvPr id="5" name="Rectangle 4">
            <a:extLst>
              <a:ext uri="{FF2B5EF4-FFF2-40B4-BE49-F238E27FC236}">
                <a16:creationId xmlns:a16="http://schemas.microsoft.com/office/drawing/2014/main" id="{5940A024-D88E-AB0D-5C6E-1F0D7DC48D2C}"/>
              </a:ext>
            </a:extLst>
          </p:cNvPr>
          <p:cNvSpPr/>
          <p:nvPr/>
        </p:nvSpPr>
        <p:spPr>
          <a:xfrm>
            <a:off x="1361562" y="2468138"/>
            <a:ext cx="7568335" cy="92629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81D33B48-57D2-0E67-E0D5-916717693212}"/>
              </a:ext>
            </a:extLst>
          </p:cNvPr>
          <p:cNvSpPr/>
          <p:nvPr/>
        </p:nvSpPr>
        <p:spPr>
          <a:xfrm>
            <a:off x="1261945" y="5040351"/>
            <a:ext cx="7984646" cy="11457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6">
            <a:extLst>
              <a:ext uri="{FF2B5EF4-FFF2-40B4-BE49-F238E27FC236}">
                <a16:creationId xmlns:a16="http://schemas.microsoft.com/office/drawing/2014/main" id="{DD6B2BF0-BB12-C962-2F57-02BCFADFCC4E}"/>
              </a:ext>
            </a:extLst>
          </p:cNvPr>
          <p:cNvSpPr>
            <a:spLocks noGrp="1"/>
          </p:cNvSpPr>
          <p:nvPr>
            <p:ph type="sldNum" sz="quarter" idx="12"/>
          </p:nvPr>
        </p:nvSpPr>
        <p:spPr/>
        <p:txBody>
          <a:bodyPr/>
          <a:lstStyle/>
          <a:p>
            <a:fld id="{CC8B731A-DCF7-4273-BA1A-21517ACBB5E5}" type="slidenum">
              <a:rPr lang="en-GB" smtClean="0"/>
              <a:t>20</a:t>
            </a:fld>
            <a:endParaRPr lang="en-GB"/>
          </a:p>
        </p:txBody>
      </p:sp>
    </p:spTree>
    <p:extLst>
      <p:ext uri="{BB962C8B-B14F-4D97-AF65-F5344CB8AC3E}">
        <p14:creationId xmlns:p14="http://schemas.microsoft.com/office/powerpoint/2010/main" val="1726760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2A2B1E59-ACC3-9F70-9109-A9C5F506829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93358D-445C-E1DE-1BD5-A9F71BC4684E}"/>
              </a:ext>
            </a:extLst>
          </p:cNvPr>
          <p:cNvSpPr>
            <a:spLocks noGrp="1"/>
          </p:cNvSpPr>
          <p:nvPr>
            <p:ph type="title"/>
          </p:nvPr>
        </p:nvSpPr>
        <p:spPr/>
        <p:txBody>
          <a:bodyPr>
            <a:normAutofit/>
          </a:bodyPr>
          <a:lstStyle/>
          <a:p>
            <a:pPr algn="ctr"/>
            <a:r>
              <a:rPr lang="en-US" altLang="ja-JP" b="1" dirty="0"/>
              <a:t>2. </a:t>
            </a:r>
            <a:r>
              <a:rPr lang="en-GB" altLang="ja-JP" b="1" dirty="0">
                <a:sym typeface="Arial"/>
              </a:rPr>
              <a:t>KaigiEffect -</a:t>
            </a:r>
            <a:r>
              <a:rPr lang="ja-JP" altLang="en-US" b="1" dirty="0">
                <a:sym typeface="Arial"/>
              </a:rPr>
              <a:t>沼り分野</a:t>
            </a:r>
            <a:r>
              <a:rPr lang="en-US" altLang="ja-JP" b="1" dirty="0">
                <a:sym typeface="Arial"/>
              </a:rPr>
              <a:t>-</a:t>
            </a:r>
            <a:endParaRPr lang="en-GB" b="1" dirty="0">
              <a:latin typeface="+mn-lt"/>
            </a:endParaRPr>
          </a:p>
        </p:txBody>
      </p:sp>
      <p:sp>
        <p:nvSpPr>
          <p:cNvPr id="9" name="コンテンツ プレースホルダー 2">
            <a:extLst>
              <a:ext uri="{FF2B5EF4-FFF2-40B4-BE49-F238E27FC236}">
                <a16:creationId xmlns:a16="http://schemas.microsoft.com/office/drawing/2014/main" id="{7D9BE90A-84CD-6BD2-7F11-DCDDB3C3A96B}"/>
              </a:ext>
            </a:extLst>
          </p:cNvPr>
          <p:cNvSpPr>
            <a:spLocks noGrp="1"/>
          </p:cNvSpPr>
          <p:nvPr>
            <p:ph idx="1"/>
          </p:nvPr>
        </p:nvSpPr>
        <p:spPr>
          <a:xfrm>
            <a:off x="838200" y="1825625"/>
            <a:ext cx="10515600" cy="4351338"/>
          </a:xfrm>
        </p:spPr>
        <p:txBody>
          <a:bodyPr>
            <a:normAutofit fontScale="85000" lnSpcReduction="20000"/>
          </a:bodyPr>
          <a:lstStyle/>
          <a:p>
            <a:pPr marL="0" lvl="1" indent="0">
              <a:buNone/>
            </a:pPr>
            <a:r>
              <a:rPr lang="ja-JP" altLang="en-US" sz="2800" b="1" dirty="0"/>
              <a:t>知識インプット教材</a:t>
            </a:r>
            <a:endParaRPr lang="en-GB" altLang="ja-JP" sz="2800" b="1" dirty="0"/>
          </a:p>
          <a:p>
            <a:pPr marL="268288" lvl="1" indent="-268288">
              <a:tabLst>
                <a:tab pos="268288" algn="l"/>
              </a:tabLst>
            </a:pPr>
            <a:r>
              <a:rPr lang="en-US" altLang="ja-JP" sz="2400" dirty="0">
                <a:hlinkClick r:id="rId3"/>
              </a:rPr>
              <a:t>LLVM Language Reference Manual</a:t>
            </a:r>
            <a:endParaRPr lang="en-US" altLang="ja-JP" sz="2400" dirty="0"/>
          </a:p>
          <a:p>
            <a:pPr marL="268288" lvl="1" indent="-268288">
              <a:tabLst>
                <a:tab pos="268288" algn="l"/>
              </a:tabLst>
            </a:pPr>
            <a:r>
              <a:rPr lang="en-US" altLang="ja-JP" sz="2400" dirty="0">
                <a:hlinkClick r:id="rId4"/>
              </a:rPr>
              <a:t>Parsing Techniques</a:t>
            </a:r>
            <a:endParaRPr lang="en-US" altLang="ja-JP" sz="2400" dirty="0"/>
          </a:p>
          <a:p>
            <a:pPr marL="268288" lvl="1" indent="-268288">
              <a:tabLst>
                <a:tab pos="268288" algn="l"/>
              </a:tabLst>
            </a:pPr>
            <a:r>
              <a:rPr lang="ja-JP" altLang="en-US" sz="2400" dirty="0">
                <a:hlinkClick r:id="rId5"/>
              </a:rPr>
              <a:t>低レイヤを知りたい人のための </a:t>
            </a:r>
            <a:r>
              <a:rPr lang="en-US" altLang="ja-JP" sz="2400" dirty="0">
                <a:hlinkClick r:id="rId5"/>
              </a:rPr>
              <a:t>C </a:t>
            </a:r>
            <a:r>
              <a:rPr lang="ja-JP" altLang="en-US" sz="2400" dirty="0">
                <a:hlinkClick r:id="rId5"/>
              </a:rPr>
              <a:t>コンパイラ作成入門</a:t>
            </a:r>
            <a:endParaRPr lang="ja-JP" altLang="en-US" sz="2400" dirty="0"/>
          </a:p>
          <a:p>
            <a:pPr marL="268288" lvl="1" indent="-268288">
              <a:tabLst>
                <a:tab pos="268288" algn="l"/>
              </a:tabLst>
            </a:pPr>
            <a:r>
              <a:rPr lang="en-US" altLang="ja-JP" sz="2400" dirty="0">
                <a:hlinkClick r:id="rId6"/>
              </a:rPr>
              <a:t>MIPS </a:t>
            </a:r>
            <a:r>
              <a:rPr lang="ja-JP" altLang="en-US" sz="2400" dirty="0">
                <a:hlinkClick r:id="rId6"/>
              </a:rPr>
              <a:t>アーキテクチャ</a:t>
            </a:r>
            <a:endParaRPr lang="ja-JP" altLang="en-US" sz="2400" dirty="0"/>
          </a:p>
          <a:p>
            <a:pPr marL="268288" lvl="1" indent="-268288">
              <a:buClr>
                <a:srgbClr val="00B050"/>
              </a:buClr>
              <a:buFont typeface="Wingdings" panose="05000000000000000000" pitchFamily="2" charset="2"/>
              <a:buChar char="ü"/>
              <a:tabLst>
                <a:tab pos="268288" algn="l"/>
              </a:tabLst>
            </a:pPr>
            <a:r>
              <a:rPr lang="ja-JP" altLang="en-US" sz="2400" dirty="0">
                <a:hlinkClick r:id="rId7"/>
              </a:rPr>
              <a:t>うさぎでもわかる計算機システム </a:t>
            </a:r>
            <a:r>
              <a:rPr lang="en-US" altLang="ja-JP" sz="2400" dirty="0">
                <a:hlinkClick r:id="rId7"/>
              </a:rPr>
              <a:t>Part10 </a:t>
            </a:r>
            <a:r>
              <a:rPr lang="ja-JP" altLang="en-US" sz="2400" dirty="0">
                <a:hlinkClick r:id="rId7"/>
              </a:rPr>
              <a:t>コンパイラの基礎・分割コンパイルの流れ</a:t>
            </a:r>
            <a:endParaRPr lang="ja-JP" altLang="en-US" sz="2400" dirty="0"/>
          </a:p>
          <a:p>
            <a:pPr marL="268288" lvl="1" indent="-268288">
              <a:buClr>
                <a:srgbClr val="00B050"/>
              </a:buClr>
              <a:buFont typeface="Wingdings" panose="05000000000000000000" pitchFamily="2" charset="2"/>
              <a:buChar char="ü"/>
              <a:tabLst>
                <a:tab pos="268288" algn="l"/>
              </a:tabLst>
            </a:pPr>
            <a:r>
              <a:rPr lang="ja-JP" altLang="en-US" sz="2400" dirty="0">
                <a:hlinkClick r:id="rId8"/>
              </a:rPr>
              <a:t>うさぎでもわかる計算機システム </a:t>
            </a:r>
            <a:r>
              <a:rPr lang="en-US" altLang="ja-JP" sz="2400" dirty="0">
                <a:hlinkClick r:id="rId8"/>
              </a:rPr>
              <a:t>Part11</a:t>
            </a:r>
            <a:r>
              <a:rPr lang="ja-JP" altLang="en-US" sz="2400" dirty="0">
                <a:hlinkClick r:id="rId8"/>
              </a:rPr>
              <a:t>コンパイラの処理の流れ</a:t>
            </a:r>
            <a:r>
              <a:rPr lang="en-US" altLang="ja-JP" sz="2400" dirty="0">
                <a:hlinkClick r:id="rId8"/>
              </a:rPr>
              <a:t>(</a:t>
            </a:r>
            <a:r>
              <a:rPr lang="ja-JP" altLang="en-US" sz="2400" dirty="0">
                <a:hlinkClick r:id="rId8"/>
              </a:rPr>
              <a:t>字句解析と意味解析のしくみ</a:t>
            </a:r>
            <a:r>
              <a:rPr lang="en-US" altLang="ja-JP" sz="2400" dirty="0">
                <a:hlinkClick r:id="rId8"/>
              </a:rPr>
              <a:t>)</a:t>
            </a:r>
            <a:endParaRPr lang="en-US" altLang="ja-JP" sz="2400" dirty="0"/>
          </a:p>
          <a:p>
            <a:pPr marL="268288" lvl="1" indent="-268288">
              <a:buClr>
                <a:srgbClr val="00B050"/>
              </a:buClr>
              <a:buFont typeface="Wingdings" panose="05000000000000000000" pitchFamily="2" charset="2"/>
              <a:buChar char="ü"/>
              <a:tabLst>
                <a:tab pos="268288" algn="l"/>
              </a:tabLst>
            </a:pPr>
            <a:r>
              <a:rPr lang="en-US" altLang="ja-JP" sz="2400" dirty="0">
                <a:hlinkClick r:id="rId9"/>
              </a:rPr>
              <a:t>Ruby Parser </a:t>
            </a:r>
            <a:r>
              <a:rPr lang="ja-JP" altLang="en-US" sz="2400" dirty="0">
                <a:hlinkClick r:id="rId9"/>
              </a:rPr>
              <a:t>開発日誌</a:t>
            </a:r>
            <a:r>
              <a:rPr lang="en-US" altLang="ja-JP" sz="2400" dirty="0">
                <a:hlinkClick r:id="rId9"/>
              </a:rPr>
              <a:t>(14) - LR parser </a:t>
            </a:r>
            <a:r>
              <a:rPr lang="ja-JP" altLang="en-US" sz="2400" dirty="0">
                <a:hlinkClick r:id="rId9"/>
              </a:rPr>
              <a:t>完全に理解した</a:t>
            </a:r>
            <a:endParaRPr lang="ja-JP" altLang="en-US" sz="2400" dirty="0"/>
          </a:p>
          <a:p>
            <a:pPr marL="268288" lvl="1" indent="-268288">
              <a:buClr>
                <a:srgbClr val="00B050"/>
              </a:buClr>
              <a:buFont typeface="Wingdings" panose="05000000000000000000" pitchFamily="2" charset="2"/>
              <a:buChar char="ü"/>
              <a:tabLst>
                <a:tab pos="268288" algn="l"/>
              </a:tabLst>
            </a:pPr>
            <a:r>
              <a:rPr lang="ja-JP" altLang="en-US" sz="2400" dirty="0">
                <a:hlinkClick r:id="rId10"/>
              </a:rPr>
              <a:t>オートマトンと言語理論 学習記 </a:t>
            </a:r>
            <a:r>
              <a:rPr lang="en-US" altLang="ja-JP" sz="2400" dirty="0">
                <a:hlinkClick r:id="rId10"/>
              </a:rPr>
              <a:t>#1: </a:t>
            </a:r>
            <a:r>
              <a:rPr lang="ja-JP" altLang="en-US" sz="2400" dirty="0">
                <a:hlinkClick r:id="rId10"/>
              </a:rPr>
              <a:t>オートマトンとは何か </a:t>
            </a:r>
            <a:r>
              <a:rPr lang="en-US" altLang="ja-JP" sz="2400" dirty="0">
                <a:hlinkClick r:id="rId10"/>
              </a:rPr>
              <a:t>-</a:t>
            </a:r>
            <a:endParaRPr lang="en-US" altLang="ja-JP" sz="2400" dirty="0"/>
          </a:p>
          <a:p>
            <a:pPr marL="268288" lvl="1" indent="-268288">
              <a:buClr>
                <a:srgbClr val="00B050"/>
              </a:buClr>
              <a:buFont typeface="Wingdings" panose="05000000000000000000" pitchFamily="2" charset="2"/>
              <a:buChar char="ü"/>
              <a:tabLst>
                <a:tab pos="268288" algn="l"/>
              </a:tabLst>
            </a:pPr>
            <a:r>
              <a:rPr lang="ja-JP" altLang="en-US" sz="2400" dirty="0">
                <a:hlinkClick r:id="rId11"/>
              </a:rPr>
              <a:t>オートマトンと言語理論 学習記 </a:t>
            </a:r>
            <a:r>
              <a:rPr lang="en-US" altLang="ja-JP" sz="2400" dirty="0">
                <a:hlinkClick r:id="rId11"/>
              </a:rPr>
              <a:t>#2: </a:t>
            </a:r>
            <a:r>
              <a:rPr lang="ja-JP" altLang="en-US" sz="2400" dirty="0">
                <a:hlinkClick r:id="rId11"/>
              </a:rPr>
              <a:t>有限オートマトン </a:t>
            </a:r>
            <a:r>
              <a:rPr lang="en-US" altLang="ja-JP" sz="2400" dirty="0">
                <a:hlinkClick r:id="rId11"/>
              </a:rPr>
              <a:t>-</a:t>
            </a:r>
            <a:endParaRPr lang="en-US" altLang="ja-JP" sz="2400" dirty="0"/>
          </a:p>
          <a:p>
            <a:pPr marL="268288" lvl="1" indent="-268288">
              <a:buClr>
                <a:srgbClr val="00B050"/>
              </a:buClr>
              <a:buFont typeface="Wingdings" panose="05000000000000000000" pitchFamily="2" charset="2"/>
              <a:buChar char="ü"/>
              <a:tabLst>
                <a:tab pos="268288" algn="l"/>
              </a:tabLst>
            </a:pPr>
            <a:r>
              <a:rPr lang="en-US" altLang="ja-JP" sz="2400" dirty="0">
                <a:hlinkClick r:id="rId12"/>
              </a:rPr>
              <a:t>Ruby </a:t>
            </a:r>
            <a:r>
              <a:rPr lang="ja-JP" altLang="en-US" sz="2400" dirty="0">
                <a:hlinkClick r:id="rId12"/>
              </a:rPr>
              <a:t>の中身の予備知識 </a:t>
            </a:r>
            <a:r>
              <a:rPr lang="en-US" altLang="ja-JP" sz="2400" dirty="0">
                <a:hlinkClick r:id="rId12"/>
              </a:rPr>
              <a:t>RubyKaigi </a:t>
            </a:r>
            <a:r>
              <a:rPr lang="ja-JP" altLang="en-US" sz="2400" dirty="0">
                <a:hlinkClick r:id="rId12"/>
              </a:rPr>
              <a:t>の前に知り鯛！</a:t>
            </a:r>
            <a:endParaRPr lang="ja-JP" altLang="en-US" sz="2400" dirty="0"/>
          </a:p>
          <a:p>
            <a:pPr marL="268288" lvl="1" indent="-268288">
              <a:buClr>
                <a:srgbClr val="00B050"/>
              </a:buClr>
              <a:buFont typeface="Wingdings" panose="05000000000000000000" pitchFamily="2" charset="2"/>
              <a:buChar char="ü"/>
              <a:tabLst>
                <a:tab pos="268288" algn="l"/>
              </a:tabLst>
            </a:pPr>
            <a:r>
              <a:rPr lang="ja-JP" altLang="en-US" sz="2400" dirty="0">
                <a:hlinkClick r:id="rId13"/>
              </a:rPr>
              <a:t>たのしい </a:t>
            </a:r>
            <a:r>
              <a:rPr lang="en-US" altLang="ja-JP" sz="2400" dirty="0">
                <a:hlinkClick r:id="rId13"/>
              </a:rPr>
              <a:t>Ruby </a:t>
            </a:r>
            <a:r>
              <a:rPr lang="ja-JP" altLang="en-US" sz="2400" dirty="0">
                <a:hlinkClick r:id="rId13"/>
              </a:rPr>
              <a:t>の構文解析ツアー</a:t>
            </a:r>
            <a:endParaRPr lang="ja-JP" altLang="en-US" sz="2400" dirty="0"/>
          </a:p>
          <a:p>
            <a:pPr marL="268288" lvl="1" indent="-268288">
              <a:buClr>
                <a:srgbClr val="00B050"/>
              </a:buClr>
              <a:buFont typeface="Wingdings" panose="05000000000000000000" pitchFamily="2" charset="2"/>
              <a:buChar char="ü"/>
              <a:tabLst>
                <a:tab pos="268288" algn="l"/>
              </a:tabLst>
            </a:pPr>
            <a:r>
              <a:rPr lang="en-US" altLang="ja-JP" sz="2400" dirty="0">
                <a:hlinkClick r:id="rId14"/>
              </a:rPr>
              <a:t>LL </a:t>
            </a:r>
            <a:r>
              <a:rPr lang="ja-JP" altLang="en-US" sz="2400" dirty="0">
                <a:hlinkClick r:id="rId14"/>
              </a:rPr>
              <a:t>法と </a:t>
            </a:r>
            <a:r>
              <a:rPr lang="en-US" altLang="ja-JP" sz="2400" dirty="0">
                <a:hlinkClick r:id="rId14"/>
              </a:rPr>
              <a:t>LR </a:t>
            </a:r>
            <a:r>
              <a:rPr lang="ja-JP" altLang="en-US" sz="2400" dirty="0">
                <a:hlinkClick r:id="rId14"/>
              </a:rPr>
              <a:t>法の違いは？調べてみた！</a:t>
            </a:r>
            <a:r>
              <a:rPr lang="en-US" altLang="ja-JP" sz="2400" dirty="0">
                <a:hlinkClick r:id="rId14"/>
              </a:rPr>
              <a:t>-</a:t>
            </a:r>
            <a:r>
              <a:rPr lang="ja-JP" altLang="en-US" sz="2400" dirty="0">
                <a:hlinkClick r:id="rId14"/>
              </a:rPr>
              <a:t>完全版</a:t>
            </a:r>
            <a:r>
              <a:rPr lang="en-US" altLang="ja-JP" sz="2400" dirty="0">
                <a:hlinkClick r:id="rId14"/>
              </a:rPr>
              <a:t>-/Comparing LL and LR parse algorithm -EX Edition-</a:t>
            </a:r>
            <a:endParaRPr lang="en-GB" altLang="ja-JP" sz="2400" dirty="0"/>
          </a:p>
        </p:txBody>
      </p:sp>
      <p:sp>
        <p:nvSpPr>
          <p:cNvPr id="3" name="Slide Number Placeholder 2">
            <a:extLst>
              <a:ext uri="{FF2B5EF4-FFF2-40B4-BE49-F238E27FC236}">
                <a16:creationId xmlns:a16="http://schemas.microsoft.com/office/drawing/2014/main" id="{62F27DA6-8424-326C-C227-0749F3E20C88}"/>
              </a:ext>
            </a:extLst>
          </p:cNvPr>
          <p:cNvSpPr>
            <a:spLocks noGrp="1"/>
          </p:cNvSpPr>
          <p:nvPr>
            <p:ph type="sldNum" sz="quarter" idx="12"/>
          </p:nvPr>
        </p:nvSpPr>
        <p:spPr/>
        <p:txBody>
          <a:bodyPr/>
          <a:lstStyle/>
          <a:p>
            <a:fld id="{CC8B731A-DCF7-4273-BA1A-21517ACBB5E5}" type="slidenum">
              <a:rPr lang="en-GB" smtClean="0"/>
              <a:t>21</a:t>
            </a:fld>
            <a:endParaRPr lang="en-GB"/>
          </a:p>
        </p:txBody>
      </p:sp>
    </p:spTree>
    <p:extLst>
      <p:ext uri="{BB962C8B-B14F-4D97-AF65-F5344CB8AC3E}">
        <p14:creationId xmlns:p14="http://schemas.microsoft.com/office/powerpoint/2010/main" val="1753281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EB684169-DB1D-8DEE-7680-42366583C6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C4C61F-E337-C675-6893-6040CDECED22}"/>
              </a:ext>
            </a:extLst>
          </p:cNvPr>
          <p:cNvSpPr>
            <a:spLocks noGrp="1"/>
          </p:cNvSpPr>
          <p:nvPr>
            <p:ph type="title"/>
          </p:nvPr>
        </p:nvSpPr>
        <p:spPr/>
        <p:txBody>
          <a:bodyPr>
            <a:normAutofit/>
          </a:bodyPr>
          <a:lstStyle/>
          <a:p>
            <a:pPr algn="ctr"/>
            <a:r>
              <a:rPr lang="en-US" altLang="ja-JP" b="1" dirty="0"/>
              <a:t>2. </a:t>
            </a:r>
            <a:r>
              <a:rPr lang="en-GB" altLang="ja-JP" b="1" dirty="0">
                <a:sym typeface="Arial"/>
              </a:rPr>
              <a:t>KaigiEffect -</a:t>
            </a:r>
            <a:r>
              <a:rPr lang="ja-JP" altLang="en-US" b="1" dirty="0">
                <a:sym typeface="Arial"/>
              </a:rPr>
              <a:t>沼り分野</a:t>
            </a:r>
            <a:r>
              <a:rPr lang="en-US" altLang="ja-JP" b="1" dirty="0">
                <a:sym typeface="Arial"/>
              </a:rPr>
              <a:t>-</a:t>
            </a:r>
            <a:endParaRPr lang="en-GB" b="1" dirty="0">
              <a:latin typeface="+mn-lt"/>
            </a:endParaRPr>
          </a:p>
        </p:txBody>
      </p:sp>
      <p:sp>
        <p:nvSpPr>
          <p:cNvPr id="9" name="コンテンツ プレースホルダー 2">
            <a:extLst>
              <a:ext uri="{FF2B5EF4-FFF2-40B4-BE49-F238E27FC236}">
                <a16:creationId xmlns:a16="http://schemas.microsoft.com/office/drawing/2014/main" id="{1D6C9E41-DF19-8DF6-3DDE-31AB56E2C606}"/>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知識アウトプット教材</a:t>
            </a:r>
            <a:endParaRPr lang="en-GB" altLang="ja-JP" sz="2800" b="1" dirty="0"/>
          </a:p>
          <a:p>
            <a:pPr marL="268288" lvl="1" indent="-268288">
              <a:buClr>
                <a:srgbClr val="00B050"/>
              </a:buClr>
              <a:buFont typeface="Wingdings" panose="05000000000000000000" pitchFamily="2" charset="2"/>
              <a:buChar char="ü"/>
            </a:pPr>
            <a:r>
              <a:rPr lang="en-US" altLang="ja-JP" dirty="0">
                <a:hlinkClick r:id="rId3"/>
              </a:rPr>
              <a:t>Ruby </a:t>
            </a:r>
            <a:r>
              <a:rPr lang="ja-JP" altLang="en-US" dirty="0">
                <a:hlinkClick r:id="rId3"/>
              </a:rPr>
              <a:t>でつくる、ミニで </a:t>
            </a:r>
            <a:r>
              <a:rPr lang="en-US" altLang="ja-JP" dirty="0">
                <a:hlinkClick r:id="rId3"/>
              </a:rPr>
              <a:t>Ruby </a:t>
            </a:r>
            <a:r>
              <a:rPr lang="ja-JP" altLang="en-US" dirty="0">
                <a:hlinkClick r:id="rId3"/>
              </a:rPr>
              <a:t>なコンパイラ</a:t>
            </a:r>
            <a:endParaRPr lang="en-GB" altLang="ja-JP" dirty="0"/>
          </a:p>
          <a:p>
            <a:pPr marL="268288" lvl="1" indent="-268288"/>
            <a:r>
              <a:rPr lang="en-GB" i="0" u="none" strike="noStrike" dirty="0">
                <a:effectLst/>
                <a:hlinkClick r:id="rId4"/>
              </a:rPr>
              <a:t>9cc</a:t>
            </a:r>
            <a:endParaRPr lang="en-GB" i="0" u="none" strike="noStrike" dirty="0">
              <a:effectLst/>
            </a:endParaRPr>
          </a:p>
          <a:p>
            <a:pPr marL="268288" lvl="1" indent="-268288"/>
            <a:r>
              <a:rPr lang="en-GB" i="0" u="none" strike="noStrike" dirty="0">
                <a:effectLst/>
                <a:hlinkClick r:id="rId5"/>
              </a:rPr>
              <a:t>lr-parser-101</a:t>
            </a:r>
            <a:endParaRPr lang="en-GB" i="0" u="none" strike="noStrike" dirty="0">
              <a:effectLst/>
            </a:endParaRPr>
          </a:p>
          <a:p>
            <a:pPr marL="268288" lvl="1" indent="-268288"/>
            <a:r>
              <a:rPr lang="en-US" altLang="ja-JP" dirty="0">
                <a:hlinkClick r:id="rId6"/>
              </a:rPr>
              <a:t>『Ruby </a:t>
            </a:r>
            <a:r>
              <a:rPr lang="ja-JP" altLang="en-US" dirty="0">
                <a:hlinkClick r:id="rId6"/>
              </a:rPr>
              <a:t>でつくる</a:t>
            </a:r>
            <a:r>
              <a:rPr lang="en-GB" altLang="ja-JP" dirty="0">
                <a:hlinkClick r:id="rId6"/>
              </a:rPr>
              <a:t> </a:t>
            </a:r>
            <a:r>
              <a:rPr lang="en-US" altLang="ja-JP" dirty="0">
                <a:hlinkClick r:id="rId6"/>
              </a:rPr>
              <a:t>Ruby </a:t>
            </a:r>
            <a:r>
              <a:rPr lang="ja-JP" altLang="en-US" dirty="0">
                <a:hlinkClick r:id="rId6"/>
              </a:rPr>
              <a:t>ゼロから学びなおすプログラミング言語入門</a:t>
            </a:r>
            <a:r>
              <a:rPr lang="en-US" altLang="ja-JP" dirty="0">
                <a:hlinkClick r:id="rId6"/>
              </a:rPr>
              <a:t>』</a:t>
            </a:r>
            <a:endParaRPr lang="en-US" altLang="ja-JP" dirty="0"/>
          </a:p>
        </p:txBody>
      </p:sp>
      <p:sp>
        <p:nvSpPr>
          <p:cNvPr id="3" name="Slide Number Placeholder 2">
            <a:extLst>
              <a:ext uri="{FF2B5EF4-FFF2-40B4-BE49-F238E27FC236}">
                <a16:creationId xmlns:a16="http://schemas.microsoft.com/office/drawing/2014/main" id="{11247A8B-492D-72A4-86CF-2995D7745995}"/>
              </a:ext>
            </a:extLst>
          </p:cNvPr>
          <p:cNvSpPr>
            <a:spLocks noGrp="1"/>
          </p:cNvSpPr>
          <p:nvPr>
            <p:ph type="sldNum" sz="quarter" idx="12"/>
          </p:nvPr>
        </p:nvSpPr>
        <p:spPr/>
        <p:txBody>
          <a:bodyPr/>
          <a:lstStyle/>
          <a:p>
            <a:fld id="{CC8B731A-DCF7-4273-BA1A-21517ACBB5E5}" type="slidenum">
              <a:rPr lang="en-GB" smtClean="0"/>
              <a:t>22</a:t>
            </a:fld>
            <a:endParaRPr lang="en-GB"/>
          </a:p>
        </p:txBody>
      </p:sp>
    </p:spTree>
    <p:extLst>
      <p:ext uri="{BB962C8B-B14F-4D97-AF65-F5344CB8AC3E}">
        <p14:creationId xmlns:p14="http://schemas.microsoft.com/office/powerpoint/2010/main" val="1127396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D81AD383-F517-348F-EC06-ACDEF95087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F9935B-1EA0-8BC0-84C0-2099AEEAD5E0}"/>
              </a:ext>
            </a:extLst>
          </p:cNvPr>
          <p:cNvSpPr>
            <a:spLocks noGrp="1"/>
          </p:cNvSpPr>
          <p:nvPr>
            <p:ph type="title"/>
          </p:nvPr>
        </p:nvSpPr>
        <p:spPr/>
        <p:txBody>
          <a:bodyPr>
            <a:normAutofit/>
          </a:bodyPr>
          <a:lstStyle/>
          <a:p>
            <a:pPr algn="ctr"/>
            <a:r>
              <a:rPr lang="en-US" altLang="ja-JP" b="1" dirty="0"/>
              <a:t>2. </a:t>
            </a:r>
            <a:r>
              <a:rPr lang="en-GB" altLang="ja-JP" b="1" dirty="0">
                <a:sym typeface="Arial"/>
              </a:rPr>
              <a:t>KaigiEffect -</a:t>
            </a:r>
            <a:r>
              <a:rPr lang="ja-JP" altLang="en-US" b="1" dirty="0">
                <a:sym typeface="Arial"/>
              </a:rPr>
              <a:t>沼り分野</a:t>
            </a:r>
            <a:r>
              <a:rPr lang="en-US" altLang="ja-JP" b="1" dirty="0">
                <a:sym typeface="Arial"/>
              </a:rPr>
              <a:t>-</a:t>
            </a:r>
            <a:endParaRPr lang="en-GB" b="1" dirty="0">
              <a:latin typeface="+mn-lt"/>
            </a:endParaRPr>
          </a:p>
        </p:txBody>
      </p:sp>
      <p:sp>
        <p:nvSpPr>
          <p:cNvPr id="9" name="コンテンツ プレースホルダー 2">
            <a:extLst>
              <a:ext uri="{FF2B5EF4-FFF2-40B4-BE49-F238E27FC236}">
                <a16:creationId xmlns:a16="http://schemas.microsoft.com/office/drawing/2014/main" id="{6F82720A-AA54-2EA3-178A-C54682F72FB6}"/>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新生</a:t>
            </a:r>
            <a:r>
              <a:rPr lang="en-GB" altLang="ja-JP" sz="2800" b="1"/>
              <a:t> </a:t>
            </a:r>
            <a:r>
              <a:rPr lang="en-GB" altLang="ja-JP" sz="2800" b="1" dirty="0"/>
              <a:t>Ruby </a:t>
            </a:r>
            <a:r>
              <a:rPr lang="ja-JP" altLang="en-US" sz="2800" b="1" dirty="0"/>
              <a:t>コミュニティ参加</a:t>
            </a:r>
            <a:endParaRPr lang="en-GB" altLang="ja-JP" sz="2800" b="1" dirty="0"/>
          </a:p>
          <a:p>
            <a:pPr marL="0" lvl="1" indent="0">
              <a:buNone/>
            </a:pPr>
            <a:endParaRPr lang="en-GB" altLang="ja-JP" sz="2800" b="1" dirty="0"/>
          </a:p>
          <a:p>
            <a:pPr marL="0" lvl="1" indent="0" algn="ctr">
              <a:buNone/>
            </a:pPr>
            <a:r>
              <a:rPr lang="en-GB" altLang="ja-JP" sz="4000" b="1" dirty="0">
                <a:hlinkClick r:id="rId3"/>
              </a:rPr>
              <a:t>Shikumi.rb</a:t>
            </a:r>
            <a:endParaRPr lang="en-GB" altLang="ja-JP" sz="4000" b="1" dirty="0"/>
          </a:p>
          <a:p>
            <a:pPr marL="0" lvl="1" indent="0" algn="ctr">
              <a:buNone/>
            </a:pPr>
            <a:r>
              <a:rPr lang="en-GB" altLang="ja-JP" b="1" dirty="0"/>
              <a:t>organised by </a:t>
            </a:r>
            <a:r>
              <a:rPr lang="en-GB" altLang="ja-JP" b="1" dirty="0">
                <a:hlinkClick r:id="rId4"/>
              </a:rPr>
              <a:t>@hashimoto-kei</a:t>
            </a:r>
            <a:r>
              <a:rPr lang="en-GB" altLang="ja-JP" b="1" dirty="0"/>
              <a:t> and </a:t>
            </a:r>
            <a:r>
              <a:rPr lang="en-GB" altLang="ja-JP" b="1" dirty="0">
                <a:hlinkClick r:id="rId5"/>
              </a:rPr>
              <a:t>@utsubo</a:t>
            </a:r>
            <a:endParaRPr lang="en-GB" altLang="ja-JP" b="1" dirty="0"/>
          </a:p>
          <a:p>
            <a:pPr marL="268288" lvl="1" indent="-268288"/>
            <a:endParaRPr lang="en-US" altLang="ja-JP" b="1" dirty="0"/>
          </a:p>
          <a:p>
            <a:pPr marL="268288" lvl="1" indent="-268288"/>
            <a:r>
              <a:rPr lang="en-US" altLang="ja-JP" dirty="0"/>
              <a:t>2025</a:t>
            </a:r>
            <a:r>
              <a:rPr lang="ja-JP" altLang="en-US" dirty="0"/>
              <a:t>年</a:t>
            </a:r>
            <a:r>
              <a:rPr lang="en-US" altLang="ja-JP" dirty="0"/>
              <a:t>05</a:t>
            </a:r>
            <a:r>
              <a:rPr lang="ja-JP" altLang="en-US" dirty="0"/>
              <a:t>月に誕生したばかりのコミュニティ</a:t>
            </a:r>
            <a:endParaRPr lang="en-GB" altLang="ja-JP" dirty="0"/>
          </a:p>
          <a:p>
            <a:pPr marL="268288" lvl="1" indent="-268288"/>
            <a:r>
              <a:rPr lang="ja-JP" altLang="en-US" dirty="0"/>
              <a:t>セッションは主にオンライン開催</a:t>
            </a:r>
            <a:endParaRPr lang="en-GB" altLang="ja-JP" dirty="0"/>
          </a:p>
          <a:p>
            <a:pPr marL="268288" lvl="1" indent="-268288"/>
            <a:r>
              <a:rPr lang="en-GB" altLang="ja-JP" dirty="0"/>
              <a:t>Ruby </a:t>
            </a:r>
            <a:r>
              <a:rPr lang="ja-JP" altLang="en-US" dirty="0"/>
              <a:t>の言語処理の仕組みを勉強することを主眼に置いているので、</a:t>
            </a:r>
            <a:r>
              <a:rPr lang="en-GB" altLang="ja-JP" dirty="0"/>
              <a:t>KaigiEffect </a:t>
            </a:r>
            <a:r>
              <a:rPr lang="ja-JP" altLang="en-US" dirty="0"/>
              <a:t>に当てられた私には渡りに船だった</a:t>
            </a:r>
            <a:endParaRPr lang="en-GB" altLang="ja-JP" dirty="0"/>
          </a:p>
          <a:p>
            <a:pPr marL="268288" lvl="1" indent="-268288"/>
            <a:r>
              <a:rPr lang="ja-JP" altLang="en-US" dirty="0"/>
              <a:t>目下皆勤賞</a:t>
            </a:r>
            <a:r>
              <a:rPr lang="en-GB" altLang="ja-JP" dirty="0"/>
              <a:t>(</a:t>
            </a:r>
            <a:r>
              <a:rPr lang="en-US" altLang="ja-JP" dirty="0"/>
              <a:t>2025</a:t>
            </a:r>
            <a:r>
              <a:rPr lang="ja-JP" altLang="en-US" dirty="0"/>
              <a:t>年</a:t>
            </a:r>
            <a:r>
              <a:rPr lang="en-US" altLang="ja-JP" dirty="0"/>
              <a:t>05</a:t>
            </a:r>
            <a:r>
              <a:rPr lang="ja-JP" altLang="en-US" dirty="0"/>
              <a:t>月</a:t>
            </a:r>
            <a:r>
              <a:rPr lang="en-GB" altLang="ja-JP" dirty="0"/>
              <a:t>09</a:t>
            </a:r>
            <a:r>
              <a:rPr lang="ja-JP" altLang="en-US" dirty="0"/>
              <a:t>日</a:t>
            </a:r>
            <a:r>
              <a:rPr lang="en-GB" altLang="ja-JP" dirty="0"/>
              <a:t> </a:t>
            </a:r>
            <a:r>
              <a:rPr lang="ja-JP" altLang="en-US" dirty="0"/>
              <a:t>現在</a:t>
            </a:r>
            <a:r>
              <a:rPr lang="en-GB" altLang="ja-JP" dirty="0"/>
              <a:t>)</a:t>
            </a:r>
            <a:endParaRPr lang="ja-JP" altLang="en-US" dirty="0"/>
          </a:p>
        </p:txBody>
      </p:sp>
      <p:sp>
        <p:nvSpPr>
          <p:cNvPr id="3" name="Slide Number Placeholder 2">
            <a:extLst>
              <a:ext uri="{FF2B5EF4-FFF2-40B4-BE49-F238E27FC236}">
                <a16:creationId xmlns:a16="http://schemas.microsoft.com/office/drawing/2014/main" id="{34ED3CB1-0AE3-1BD9-A001-7C74B5425C85}"/>
              </a:ext>
            </a:extLst>
          </p:cNvPr>
          <p:cNvSpPr>
            <a:spLocks noGrp="1"/>
          </p:cNvSpPr>
          <p:nvPr>
            <p:ph type="sldNum" sz="quarter" idx="12"/>
          </p:nvPr>
        </p:nvSpPr>
        <p:spPr/>
        <p:txBody>
          <a:bodyPr/>
          <a:lstStyle/>
          <a:p>
            <a:fld id="{CC8B731A-DCF7-4273-BA1A-21517ACBB5E5}" type="slidenum">
              <a:rPr lang="en-GB" smtClean="0"/>
              <a:t>23</a:t>
            </a:fld>
            <a:endParaRPr lang="en-GB"/>
          </a:p>
        </p:txBody>
      </p:sp>
    </p:spTree>
    <p:extLst>
      <p:ext uri="{BB962C8B-B14F-4D97-AF65-F5344CB8AC3E}">
        <p14:creationId xmlns:p14="http://schemas.microsoft.com/office/powerpoint/2010/main" val="2358728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t>3.</a:t>
            </a:r>
            <a:r>
              <a:rPr lang="en-GB" altLang="ja-JP" b="1" dirty="0"/>
              <a:t> </a:t>
            </a:r>
            <a:r>
              <a:rPr lang="en-US" altLang="ja-JP" b="1" dirty="0">
                <a:sym typeface="Arial"/>
              </a:rPr>
              <a:t>Matz </a:t>
            </a:r>
            <a:r>
              <a:rPr lang="ja-JP" altLang="en-US" b="1" dirty="0">
                <a:sym typeface="Arial"/>
              </a:rPr>
              <a:t>さんとの最も思い出深い議論 </a:t>
            </a:r>
            <a:endParaRPr lang="en-GB" b="1" dirty="0">
              <a:latin typeface="+mn-lt"/>
            </a:endParaRPr>
          </a:p>
        </p:txBody>
      </p:sp>
      <p:sp>
        <p:nvSpPr>
          <p:cNvPr id="3" name="Slide Number Placeholder 2">
            <a:extLst>
              <a:ext uri="{FF2B5EF4-FFF2-40B4-BE49-F238E27FC236}">
                <a16:creationId xmlns:a16="http://schemas.microsoft.com/office/drawing/2014/main" id="{4CDF3BB9-0BDB-DD0D-81A1-D17D122C66DE}"/>
              </a:ext>
            </a:extLst>
          </p:cNvPr>
          <p:cNvSpPr>
            <a:spLocks noGrp="1"/>
          </p:cNvSpPr>
          <p:nvPr>
            <p:ph type="sldNum" sz="quarter" idx="12"/>
          </p:nvPr>
        </p:nvSpPr>
        <p:spPr/>
        <p:txBody>
          <a:bodyPr/>
          <a:lstStyle/>
          <a:p>
            <a:fld id="{CC8B731A-DCF7-4273-BA1A-21517ACBB5E5}" type="slidenum">
              <a:rPr lang="en-GB" smtClean="0"/>
              <a:t>24</a:t>
            </a:fld>
            <a:endParaRPr lang="en-GB"/>
          </a:p>
        </p:txBody>
      </p:sp>
    </p:spTree>
    <p:extLst>
      <p:ext uri="{BB962C8B-B14F-4D97-AF65-F5344CB8AC3E}">
        <p14:creationId xmlns:p14="http://schemas.microsoft.com/office/powerpoint/2010/main" val="4021934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t>3.</a:t>
            </a:r>
            <a:r>
              <a:rPr lang="en-GB" altLang="ja-JP" b="1" dirty="0"/>
              <a:t> </a:t>
            </a:r>
            <a:r>
              <a:rPr lang="en-US" altLang="ja-JP" b="1" dirty="0">
                <a:sym typeface="Arial"/>
              </a:rPr>
              <a:t>Matz </a:t>
            </a:r>
            <a:r>
              <a:rPr lang="ja-JP" altLang="en-US" b="1" dirty="0">
                <a:sym typeface="Arial"/>
              </a:rPr>
              <a:t>さんとの最も思い出深い議論 </a:t>
            </a:r>
            <a:endParaRPr lang="en-GB" b="1" dirty="0"/>
          </a:p>
        </p:txBody>
      </p:sp>
      <p:sp>
        <p:nvSpPr>
          <p:cNvPr id="3" name="コンテンツ プレースホルダー 2">
            <a:extLst>
              <a:ext uri="{FF2B5EF4-FFF2-40B4-BE49-F238E27FC236}">
                <a16:creationId xmlns:a16="http://schemas.microsoft.com/office/drawing/2014/main" id="{7A55B33F-8A4D-BCEC-FBAC-21FA1198A7A8}"/>
              </a:ext>
            </a:extLst>
          </p:cNvPr>
          <p:cNvSpPr>
            <a:spLocks noGrp="1"/>
          </p:cNvSpPr>
          <p:nvPr>
            <p:ph idx="1"/>
          </p:nvPr>
        </p:nvSpPr>
        <p:spPr>
          <a:xfrm>
            <a:off x="838200" y="1825625"/>
            <a:ext cx="10515600" cy="4351338"/>
          </a:xfrm>
        </p:spPr>
        <p:txBody>
          <a:bodyPr>
            <a:normAutofit/>
          </a:bodyPr>
          <a:lstStyle/>
          <a:p>
            <a:pPr marL="0" lvl="1" indent="0">
              <a:buNone/>
            </a:pPr>
            <a:r>
              <a:rPr lang="ja-JP" altLang="en-US" dirty="0"/>
              <a:t>以前「</a:t>
            </a:r>
            <a:r>
              <a:rPr lang="ja-JP" altLang="en-US" dirty="0">
                <a:hlinkClick r:id="rId3"/>
              </a:rPr>
              <a:t>言語の生と死 </a:t>
            </a:r>
            <a:r>
              <a:rPr lang="en-US" altLang="ja-JP" dirty="0">
                <a:hlinkClick r:id="rId3"/>
              </a:rPr>
              <a:t>-</a:t>
            </a:r>
            <a:r>
              <a:rPr lang="ja-JP" altLang="en-US" dirty="0">
                <a:hlinkClick r:id="rId3"/>
              </a:rPr>
              <a:t>自然言語 </a:t>
            </a:r>
            <a:r>
              <a:rPr lang="en-US" altLang="ja-JP" dirty="0">
                <a:hlinkClick r:id="rId3"/>
              </a:rPr>
              <a:t>vs. </a:t>
            </a:r>
            <a:r>
              <a:rPr lang="ja-JP" altLang="en-US" dirty="0">
                <a:hlinkClick r:id="rId3"/>
              </a:rPr>
              <a:t>プログラミング言語</a:t>
            </a:r>
            <a:r>
              <a:rPr lang="en-US" altLang="ja-JP" dirty="0">
                <a:hlinkClick r:id="rId3"/>
              </a:rPr>
              <a:t>-</a:t>
            </a:r>
            <a:r>
              <a:rPr lang="ja-JP" altLang="en-US" dirty="0"/>
              <a:t>」で言及したように、</a:t>
            </a:r>
            <a:r>
              <a:rPr lang="en-GB" altLang="ja-JP" dirty="0"/>
              <a:t>Matz </a:t>
            </a:r>
            <a:r>
              <a:rPr lang="ja-JP" altLang="en-US" dirty="0"/>
              <a:t>さんが</a:t>
            </a:r>
            <a:r>
              <a:rPr lang="en-GB" altLang="ja-JP" dirty="0"/>
              <a:t> Twitter(</a:t>
            </a:r>
            <a:r>
              <a:rPr lang="ja-JP" altLang="en-US" dirty="0"/>
              <a:t>現</a:t>
            </a:r>
            <a:r>
              <a:rPr lang="en-GB" altLang="ja-JP" dirty="0"/>
              <a:t>: </a:t>
            </a:r>
            <a:r>
              <a:rPr lang="en-US" altLang="ja-JP" dirty="0"/>
              <a:t>X</a:t>
            </a:r>
            <a:r>
              <a:rPr lang="en-GB" altLang="ja-JP" dirty="0"/>
              <a:t>)</a:t>
            </a:r>
            <a:r>
              <a:rPr lang="ja-JP" altLang="en-US" dirty="0"/>
              <a:t>にて私のアドベントカレンダーの記事を引用して下さるくらい、言語学に関心をお持ちであることは存じ上げていた。</a:t>
            </a:r>
            <a:endParaRPr lang="en-GB" altLang="ja-JP" dirty="0"/>
          </a:p>
          <a:p>
            <a:pPr marL="0" lvl="1" indent="0">
              <a:buNone/>
            </a:pPr>
            <a:r>
              <a:rPr lang="ja-JP" altLang="en-US" dirty="0"/>
              <a:t>また、以前「</a:t>
            </a:r>
            <a:r>
              <a:rPr lang="ja-JP" altLang="en-US" dirty="0">
                <a:hlinkClick r:id="rId4"/>
              </a:rPr>
              <a:t>比較言語学のススメ </a:t>
            </a:r>
            <a:r>
              <a:rPr lang="en-US" altLang="ja-JP" dirty="0">
                <a:hlinkClick r:id="rId4"/>
              </a:rPr>
              <a:t>-Ruby vs. Python </a:t>
            </a:r>
            <a:r>
              <a:rPr lang="ja-JP" altLang="en-US" dirty="0">
                <a:hlinkClick r:id="rId4"/>
              </a:rPr>
              <a:t>に学ぶ言語のアイデンティティ</a:t>
            </a:r>
            <a:r>
              <a:rPr lang="en-US" altLang="ja-JP" dirty="0">
                <a:hlinkClick r:id="rId4"/>
              </a:rPr>
              <a:t>-</a:t>
            </a:r>
            <a:r>
              <a:rPr lang="ja-JP" altLang="en-US" dirty="0"/>
              <a:t>」で言及したように、私自身も</a:t>
            </a:r>
            <a:r>
              <a:rPr lang="en-GB" altLang="ja-JP" dirty="0"/>
              <a:t> Ruby </a:t>
            </a:r>
            <a:r>
              <a:rPr lang="ja-JP" altLang="en-US" dirty="0"/>
              <a:t>は自然言語の英語のような滑らかな「書き味」を強く意識していることには確信を持っていた。</a:t>
            </a:r>
            <a:endParaRPr lang="en-GB" altLang="ja-JP" dirty="0"/>
          </a:p>
        </p:txBody>
      </p:sp>
      <p:pic>
        <p:nvPicPr>
          <p:cNvPr id="5" name="Picture 4">
            <a:extLst>
              <a:ext uri="{FF2B5EF4-FFF2-40B4-BE49-F238E27FC236}">
                <a16:creationId xmlns:a16="http://schemas.microsoft.com/office/drawing/2014/main" id="{7ED372E9-A5B1-727E-9267-242BE59AF1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73202" y="3930330"/>
            <a:ext cx="1857520" cy="2246633"/>
          </a:xfrm>
          <a:prstGeom prst="rect">
            <a:avLst/>
          </a:prstGeom>
        </p:spPr>
      </p:pic>
      <p:pic>
        <p:nvPicPr>
          <p:cNvPr id="6" name="Picture 5">
            <a:extLst>
              <a:ext uri="{FF2B5EF4-FFF2-40B4-BE49-F238E27FC236}">
                <a16:creationId xmlns:a16="http://schemas.microsoft.com/office/drawing/2014/main" id="{A4A83D96-4A91-087D-EF86-7A02BA33FB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1192" y="3930330"/>
            <a:ext cx="1854046" cy="2246633"/>
          </a:xfrm>
          <a:prstGeom prst="rect">
            <a:avLst/>
          </a:prstGeom>
        </p:spPr>
      </p:pic>
      <p:sp>
        <p:nvSpPr>
          <p:cNvPr id="7" name="Slide Number Placeholder 6">
            <a:extLst>
              <a:ext uri="{FF2B5EF4-FFF2-40B4-BE49-F238E27FC236}">
                <a16:creationId xmlns:a16="http://schemas.microsoft.com/office/drawing/2014/main" id="{5091EE15-FE94-4A7A-563C-08D93E864F47}"/>
              </a:ext>
            </a:extLst>
          </p:cNvPr>
          <p:cNvSpPr>
            <a:spLocks noGrp="1"/>
          </p:cNvSpPr>
          <p:nvPr>
            <p:ph type="sldNum" sz="quarter" idx="12"/>
          </p:nvPr>
        </p:nvSpPr>
        <p:spPr/>
        <p:txBody>
          <a:bodyPr/>
          <a:lstStyle/>
          <a:p>
            <a:fld id="{CC8B731A-DCF7-4273-BA1A-21517ACBB5E5}" type="slidenum">
              <a:rPr lang="en-GB" smtClean="0"/>
              <a:t>25</a:t>
            </a:fld>
            <a:endParaRPr lang="en-GB"/>
          </a:p>
        </p:txBody>
      </p:sp>
    </p:spTree>
    <p:extLst>
      <p:ext uri="{BB962C8B-B14F-4D97-AF65-F5344CB8AC3E}">
        <p14:creationId xmlns:p14="http://schemas.microsoft.com/office/powerpoint/2010/main" val="2302870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3D488010-7B30-CC6F-98A6-FD09711BA9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81482B-A359-3821-6415-B748EA1F49DF}"/>
              </a:ext>
            </a:extLst>
          </p:cNvPr>
          <p:cNvSpPr>
            <a:spLocks noGrp="1"/>
          </p:cNvSpPr>
          <p:nvPr>
            <p:ph type="title"/>
          </p:nvPr>
        </p:nvSpPr>
        <p:spPr/>
        <p:txBody>
          <a:bodyPr/>
          <a:lstStyle/>
          <a:p>
            <a:pPr algn="ctr"/>
            <a:r>
              <a:rPr lang="en-US" altLang="ja-JP" b="1" dirty="0"/>
              <a:t>3. Matz </a:t>
            </a:r>
            <a:r>
              <a:rPr lang="ja-JP" altLang="en-US" b="1" dirty="0"/>
              <a:t>さんとの最も思い出深い議論 </a:t>
            </a:r>
            <a:endParaRPr lang="en-GB" b="1" dirty="0"/>
          </a:p>
        </p:txBody>
      </p:sp>
      <p:sp>
        <p:nvSpPr>
          <p:cNvPr id="7" name="コンテンツ プレースホルダー 2">
            <a:extLst>
              <a:ext uri="{FF2B5EF4-FFF2-40B4-BE49-F238E27FC236}">
                <a16:creationId xmlns:a16="http://schemas.microsoft.com/office/drawing/2014/main" id="{095F438A-EF5B-33A9-8579-8D807CA9B3C3}"/>
              </a:ext>
            </a:extLst>
          </p:cNvPr>
          <p:cNvSpPr>
            <a:spLocks noGrp="1"/>
          </p:cNvSpPr>
          <p:nvPr>
            <p:ph idx="1"/>
          </p:nvPr>
        </p:nvSpPr>
        <p:spPr>
          <a:xfrm>
            <a:off x="838200" y="1825625"/>
            <a:ext cx="10515600" cy="4351338"/>
          </a:xfrm>
        </p:spPr>
        <p:txBody>
          <a:bodyPr>
            <a:normAutofit/>
          </a:bodyPr>
          <a:lstStyle/>
          <a:p>
            <a:pPr marL="0" lvl="1" indent="0">
              <a:buNone/>
            </a:pPr>
            <a:r>
              <a:rPr lang="ja-JP" altLang="en-GB" dirty="0"/>
              <a:t>株式会社</a:t>
            </a:r>
            <a:r>
              <a:rPr lang="ja-JP" altLang="en-US" dirty="0"/>
              <a:t>アンドパッド様主催の</a:t>
            </a:r>
            <a:r>
              <a:rPr lang="ja-JP" altLang="en-US" dirty="0">
                <a:hlinkClick r:id="rId3"/>
              </a:rPr>
              <a:t>コード懇親会</a:t>
            </a:r>
            <a:r>
              <a:rPr lang="ja-JP" altLang="en-US" dirty="0"/>
              <a:t>が渡りに船となり、同じ島のテーブルでご一緒した</a:t>
            </a:r>
            <a:r>
              <a:rPr lang="en-GB" altLang="ja-JP" dirty="0"/>
              <a:t> Matz </a:t>
            </a:r>
            <a:r>
              <a:rPr lang="ja-JP" altLang="en-US" dirty="0"/>
              <a:t>さんと以下のような議論を交わすことが出来た。</a:t>
            </a:r>
            <a:endParaRPr lang="en-GB" altLang="ja-JP" dirty="0"/>
          </a:p>
          <a:p>
            <a:pPr marL="0" lvl="1" indent="0">
              <a:buNone/>
            </a:pPr>
            <a:r>
              <a:rPr lang="en-US" altLang="ja-JP" dirty="0"/>
              <a:t>※</a:t>
            </a:r>
            <a:r>
              <a:rPr lang="en-GB" altLang="ja-JP" dirty="0"/>
              <a:t> H = hayat01sh1da, M = Matz </a:t>
            </a:r>
            <a:r>
              <a:rPr lang="ja-JP" altLang="en-US" dirty="0"/>
              <a:t>さん</a:t>
            </a:r>
            <a:endParaRPr lang="en-GB" altLang="ja-JP" dirty="0"/>
          </a:p>
          <a:p>
            <a:pPr marL="0" lvl="1" indent="0">
              <a:buNone/>
            </a:pPr>
            <a:endParaRPr lang="en-GB" altLang="ja-JP" dirty="0"/>
          </a:p>
          <a:p>
            <a:pPr marL="0" lvl="1" indent="0">
              <a:buNone/>
            </a:pPr>
            <a:r>
              <a:rPr lang="en-GB" altLang="ja-JP" dirty="0"/>
              <a:t>H) </a:t>
            </a:r>
            <a:r>
              <a:rPr lang="ja-JP" altLang="en-US" dirty="0"/>
              <a:t>「松本さんは</a:t>
            </a:r>
            <a:r>
              <a:rPr lang="en-GB" altLang="ja-JP" dirty="0"/>
              <a:t> Perl </a:t>
            </a:r>
            <a:r>
              <a:rPr lang="ja-JP" altLang="en-US" dirty="0"/>
              <a:t>に倣って</a:t>
            </a:r>
            <a:r>
              <a:rPr lang="en-GB" altLang="ja-JP" dirty="0"/>
              <a:t> Ruby </a:t>
            </a:r>
            <a:r>
              <a:rPr lang="ja-JP" altLang="en-US" dirty="0"/>
              <a:t>を開発されたと記憶しており、ゆえに</a:t>
            </a:r>
            <a:r>
              <a:rPr lang="en-GB" altLang="ja-JP" dirty="0"/>
              <a:t> Perl </a:t>
            </a:r>
            <a:r>
              <a:rPr lang="ja-JP" altLang="en-US" dirty="0"/>
              <a:t>といくつかの類似点があると認識しています。その</a:t>
            </a:r>
            <a:r>
              <a:rPr lang="en-US" altLang="ja-JP" dirty="0"/>
              <a:t>1</a:t>
            </a:r>
            <a:r>
              <a:rPr lang="ja-JP" altLang="en-US" dirty="0"/>
              <a:t>つが</a:t>
            </a:r>
            <a:r>
              <a:rPr lang="ja-JP" altLang="en-US" dirty="0">
                <a:hlinkClick r:id="rId4"/>
              </a:rPr>
              <a:t>言語学・認知学的考慮</a:t>
            </a:r>
            <a:r>
              <a:rPr lang="ja-JP" altLang="en-US" dirty="0"/>
              <a:t>ですが、</a:t>
            </a:r>
            <a:r>
              <a:rPr lang="en-GB" altLang="ja-JP" b="1" dirty="0"/>
              <a:t>Ruby </a:t>
            </a:r>
            <a:r>
              <a:rPr lang="ja-JP" altLang="en-US" b="1" dirty="0"/>
              <a:t>を開発し、育て、世にリリースする際にそのような言語学・認知学的な哲学をお持ちだったのでしょうか？</a:t>
            </a:r>
            <a:r>
              <a:rPr lang="ja-JP" altLang="en-US" dirty="0"/>
              <a:t>」</a:t>
            </a:r>
            <a:endParaRPr lang="en-GB" altLang="ja-JP" dirty="0"/>
          </a:p>
          <a:p>
            <a:pPr marL="0" lvl="1" indent="0">
              <a:buNone/>
            </a:pPr>
            <a:r>
              <a:rPr lang="en-GB" altLang="ja-JP" dirty="0"/>
              <a:t>M) </a:t>
            </a:r>
            <a:r>
              <a:rPr lang="ja-JP" altLang="en-US" dirty="0"/>
              <a:t>「</a:t>
            </a:r>
            <a:r>
              <a:rPr lang="en-GB" altLang="ja-JP" dirty="0"/>
              <a:t>Perl </a:t>
            </a:r>
            <a:r>
              <a:rPr lang="ja-JP" altLang="en-US" dirty="0"/>
              <a:t>の開発者である</a:t>
            </a:r>
            <a:r>
              <a:rPr lang="en-GB" altLang="ja-JP" dirty="0"/>
              <a:t> Larry Wall </a:t>
            </a:r>
            <a:r>
              <a:rPr lang="ja-JP" altLang="en-US" dirty="0"/>
              <a:t>さんは言語学者としてのバックボーンがありますが、一方で私はコンピューターサイエンス専攻でした。バックグラウンドはお互いに違いますが、</a:t>
            </a:r>
            <a:r>
              <a:rPr lang="ja-JP" altLang="en-US" b="1" dirty="0">
                <a:hlinkClick r:id="rId4"/>
              </a:rPr>
              <a:t>言語学・認知学的考慮</a:t>
            </a:r>
            <a:r>
              <a:rPr lang="ja-JP" altLang="en-US" b="1" dirty="0"/>
              <a:t>を互換性に注意を払いながら強く意識しています</a:t>
            </a:r>
            <a:r>
              <a:rPr lang="ja-JP" altLang="en-US" dirty="0"/>
              <a:t>。」</a:t>
            </a:r>
            <a:endParaRPr lang="en-GB" altLang="ja-JP" dirty="0"/>
          </a:p>
        </p:txBody>
      </p:sp>
      <p:sp>
        <p:nvSpPr>
          <p:cNvPr id="3" name="Slide Number Placeholder 2">
            <a:extLst>
              <a:ext uri="{FF2B5EF4-FFF2-40B4-BE49-F238E27FC236}">
                <a16:creationId xmlns:a16="http://schemas.microsoft.com/office/drawing/2014/main" id="{719563A8-39A7-8F65-9184-B72484438D36}"/>
              </a:ext>
            </a:extLst>
          </p:cNvPr>
          <p:cNvSpPr>
            <a:spLocks noGrp="1"/>
          </p:cNvSpPr>
          <p:nvPr>
            <p:ph type="sldNum" sz="quarter" idx="12"/>
          </p:nvPr>
        </p:nvSpPr>
        <p:spPr/>
        <p:txBody>
          <a:bodyPr/>
          <a:lstStyle/>
          <a:p>
            <a:fld id="{CC8B731A-DCF7-4273-BA1A-21517ACBB5E5}" type="slidenum">
              <a:rPr lang="en-GB" smtClean="0"/>
              <a:t>26</a:t>
            </a:fld>
            <a:endParaRPr lang="en-GB"/>
          </a:p>
        </p:txBody>
      </p:sp>
    </p:spTree>
    <p:extLst>
      <p:ext uri="{BB962C8B-B14F-4D97-AF65-F5344CB8AC3E}">
        <p14:creationId xmlns:p14="http://schemas.microsoft.com/office/powerpoint/2010/main" val="829368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4B0E15E5-CF17-9482-8696-6B6776F642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DE2F19-4C04-2B50-E187-6066E341D660}"/>
              </a:ext>
            </a:extLst>
          </p:cNvPr>
          <p:cNvSpPr>
            <a:spLocks noGrp="1"/>
          </p:cNvSpPr>
          <p:nvPr>
            <p:ph type="title"/>
          </p:nvPr>
        </p:nvSpPr>
        <p:spPr/>
        <p:txBody>
          <a:bodyPr/>
          <a:lstStyle/>
          <a:p>
            <a:pPr algn="ctr"/>
            <a:r>
              <a:rPr lang="en-US" altLang="ja-JP" b="1" dirty="0"/>
              <a:t>3. Matz </a:t>
            </a:r>
            <a:r>
              <a:rPr lang="ja-JP" altLang="en-US" b="1" dirty="0"/>
              <a:t>さんとの最も思い出深い議論 </a:t>
            </a:r>
            <a:endParaRPr lang="en-GB" b="1" dirty="0"/>
          </a:p>
        </p:txBody>
      </p:sp>
      <p:sp>
        <p:nvSpPr>
          <p:cNvPr id="7" name="コンテンツ プレースホルダー 2">
            <a:extLst>
              <a:ext uri="{FF2B5EF4-FFF2-40B4-BE49-F238E27FC236}">
                <a16:creationId xmlns:a16="http://schemas.microsoft.com/office/drawing/2014/main" id="{093F8964-0A49-930A-6358-9CC2AF3B06B8}"/>
              </a:ext>
            </a:extLst>
          </p:cNvPr>
          <p:cNvSpPr>
            <a:spLocks noGrp="1"/>
          </p:cNvSpPr>
          <p:nvPr>
            <p:ph idx="1"/>
          </p:nvPr>
        </p:nvSpPr>
        <p:spPr>
          <a:xfrm>
            <a:off x="838200" y="1825625"/>
            <a:ext cx="10515600" cy="4351338"/>
          </a:xfrm>
        </p:spPr>
        <p:txBody>
          <a:bodyPr>
            <a:normAutofit fontScale="92500" lnSpcReduction="10000"/>
          </a:bodyPr>
          <a:lstStyle/>
          <a:p>
            <a:pPr marL="0" lvl="1" indent="0">
              <a:buNone/>
            </a:pPr>
            <a:r>
              <a:rPr lang="en-GB" altLang="ja-JP" dirty="0"/>
              <a:t>H) </a:t>
            </a:r>
            <a:r>
              <a:rPr lang="ja-JP" altLang="en-US" dirty="0"/>
              <a:t>「</a:t>
            </a:r>
            <a:r>
              <a:rPr lang="en-US" altLang="ja-JP" dirty="0"/>
              <a:t>1</a:t>
            </a:r>
            <a:r>
              <a:rPr lang="ja-JP" altLang="en-US" dirty="0"/>
              <a:t>人の</a:t>
            </a:r>
            <a:r>
              <a:rPr lang="en-GB" altLang="ja-JP" dirty="0"/>
              <a:t> Rubyist</a:t>
            </a:r>
            <a:r>
              <a:rPr lang="ja-JP" altLang="en-US" dirty="0"/>
              <a:t>・英語学専攻者として、</a:t>
            </a:r>
            <a:r>
              <a:rPr lang="en-GB" altLang="ja-JP" dirty="0"/>
              <a:t>Ruby </a:t>
            </a:r>
            <a:r>
              <a:rPr lang="ja-JP" altLang="en-US" dirty="0"/>
              <a:t>自然言語の英語のような滑らかな</a:t>
            </a:r>
            <a:r>
              <a:rPr lang="en-US" altLang="ja-JP" dirty="0"/>
              <a:t>『</a:t>
            </a:r>
            <a:r>
              <a:rPr lang="ja-JP" altLang="en-US" dirty="0"/>
              <a:t>書き味</a:t>
            </a:r>
            <a:r>
              <a:rPr lang="en-US" altLang="ja-JP" dirty="0"/>
              <a:t>』</a:t>
            </a:r>
            <a:r>
              <a:rPr lang="ja-JP" altLang="en-US" dirty="0"/>
              <a:t>を提供していると考えています。</a:t>
            </a:r>
            <a:r>
              <a:rPr lang="en-GB" altLang="ja-JP" b="1" dirty="0"/>
              <a:t>Ruby </a:t>
            </a:r>
            <a:r>
              <a:rPr lang="ja-JP" altLang="en-US" b="1" dirty="0"/>
              <a:t>を書くことは英語で詩を書くのにかなり近しい体験があると感じます。</a:t>
            </a:r>
            <a:r>
              <a:rPr lang="ja-JP" altLang="en-US" dirty="0"/>
              <a:t>松本さんの言語学・認知学的哲学を理解しましたし、 </a:t>
            </a:r>
            <a:r>
              <a:rPr lang="en-US" altLang="ja-JP" dirty="0"/>
              <a:t>『</a:t>
            </a:r>
            <a:r>
              <a:rPr lang="ja-JP" altLang="en-US" dirty="0">
                <a:hlinkClick r:id="rId3"/>
              </a:rPr>
              <a:t>比較言語学のススメ </a:t>
            </a:r>
            <a:r>
              <a:rPr lang="en-US" altLang="ja-JP" dirty="0">
                <a:hlinkClick r:id="rId3"/>
              </a:rPr>
              <a:t>-Ruby vs. Python </a:t>
            </a:r>
            <a:r>
              <a:rPr lang="ja-JP" altLang="en-US" dirty="0">
                <a:hlinkClick r:id="rId3"/>
              </a:rPr>
              <a:t>に学ぶ言語のアイデンティティ</a:t>
            </a:r>
            <a:r>
              <a:rPr lang="en-US" altLang="ja-JP" dirty="0">
                <a:hlinkClick r:id="rId3"/>
              </a:rPr>
              <a:t>-</a:t>
            </a:r>
            <a:r>
              <a:rPr lang="en-US" altLang="ja-JP" dirty="0"/>
              <a:t> 』</a:t>
            </a:r>
            <a:r>
              <a:rPr lang="ja-JP" altLang="en-US" dirty="0"/>
              <a:t>で述べた仮説が正しかったと証明出来ました。」</a:t>
            </a:r>
            <a:endParaRPr lang="en-GB" altLang="ja-JP" dirty="0"/>
          </a:p>
          <a:p>
            <a:pPr marL="0" lvl="1" indent="0">
              <a:buNone/>
            </a:pPr>
            <a:r>
              <a:rPr lang="en-GB" altLang="ja-JP" dirty="0"/>
              <a:t>M) </a:t>
            </a:r>
            <a:r>
              <a:rPr lang="ja-JP" altLang="en-US" dirty="0"/>
              <a:t>「</a:t>
            </a:r>
            <a:r>
              <a:rPr lang="ja-JP" altLang="en-US" b="1" dirty="0"/>
              <a:t>私はメソッドがどのように動くかだけでなく、そのメソッドが何の目的で動作するのかも重要視しています。</a:t>
            </a:r>
            <a:r>
              <a:rPr lang="ja-JP" altLang="en-US" dirty="0"/>
              <a:t>例えば、</a:t>
            </a:r>
            <a:r>
              <a:rPr lang="en-GB" altLang="ja-JP" dirty="0">
                <a:hlinkClick r:id="rId4"/>
              </a:rPr>
              <a:t>Enumerable#collect</a:t>
            </a:r>
            <a:r>
              <a:rPr lang="en-GB" altLang="ja-JP" dirty="0"/>
              <a:t> </a:t>
            </a:r>
            <a:r>
              <a:rPr lang="ja-JP" altLang="en-US" dirty="0"/>
              <a:t>と</a:t>
            </a:r>
            <a:r>
              <a:rPr lang="en-GB" altLang="ja-JP" dirty="0"/>
              <a:t> </a:t>
            </a:r>
            <a:r>
              <a:rPr lang="en-GB" altLang="ja-JP" dirty="0">
                <a:hlinkClick r:id="rId5"/>
              </a:rPr>
              <a:t>Enumerable#map</a:t>
            </a:r>
            <a:r>
              <a:rPr lang="en-GB" altLang="ja-JP" dirty="0"/>
              <a:t> </a:t>
            </a:r>
            <a:r>
              <a:rPr lang="ja-JP" altLang="en-US" dirty="0"/>
              <a:t>について考えてみましょう。両者ともにレシーバーの各要素のブロック内での処理結果を新しい配列にして返すメソッドです。前者はデータの集合体を生成する、後者はレシーバーの各要素とブロック内の処理結果をマップするという目的があります。この例から分かるように、同じデータ処理をするのにも様々な目的を孕んでいるという訳です。」</a:t>
            </a:r>
            <a:endParaRPr lang="en-GB" altLang="ja-JP" dirty="0"/>
          </a:p>
          <a:p>
            <a:pPr marL="0" lvl="1" indent="0">
              <a:buNone/>
            </a:pPr>
            <a:r>
              <a:rPr lang="en-GB" altLang="ja-JP" dirty="0"/>
              <a:t>H) </a:t>
            </a:r>
            <a:r>
              <a:rPr lang="ja-JP" altLang="en-US" dirty="0"/>
              <a:t>「日本語版の</a:t>
            </a:r>
            <a:r>
              <a:rPr lang="en-US" altLang="ja-JP" dirty="0"/>
              <a:t>『</a:t>
            </a:r>
            <a:r>
              <a:rPr lang="ja-JP" altLang="en-US" dirty="0">
                <a:hlinkClick r:id="rId6"/>
              </a:rPr>
              <a:t>プログラマが知るべき</a:t>
            </a:r>
            <a:r>
              <a:rPr lang="en-US" altLang="ja-JP" dirty="0">
                <a:hlinkClick r:id="rId6"/>
              </a:rPr>
              <a:t>97</a:t>
            </a:r>
            <a:r>
              <a:rPr lang="ja-JP" altLang="en-US" dirty="0">
                <a:hlinkClick r:id="rId6"/>
              </a:rPr>
              <a:t>のこと</a:t>
            </a:r>
            <a:r>
              <a:rPr lang="en-GB" altLang="ja-JP" dirty="0">
                <a:hlinkClick r:id="rId6"/>
              </a:rPr>
              <a:t> </a:t>
            </a:r>
            <a:r>
              <a:rPr lang="en-GB" altLang="ja-JP" dirty="0"/>
              <a:t>&gt; </a:t>
            </a:r>
            <a:r>
              <a:rPr lang="en-US" altLang="ja-JP" dirty="0">
                <a:hlinkClick r:id="rId6"/>
              </a:rPr>
              <a:t>107. </a:t>
            </a:r>
            <a:r>
              <a:rPr lang="ja-JP" altLang="en-US" dirty="0">
                <a:hlinkClick r:id="rId6"/>
              </a:rPr>
              <a:t>名前重要</a:t>
            </a:r>
            <a:r>
              <a:rPr lang="en-US" altLang="ja-JP" dirty="0"/>
              <a:t>』</a:t>
            </a:r>
            <a:r>
              <a:rPr lang="ja-JP" altLang="en-US" dirty="0"/>
              <a:t>で松本さんが仰っていた</a:t>
            </a:r>
            <a:r>
              <a:rPr lang="en-US" altLang="ja-JP" dirty="0"/>
              <a:t>『</a:t>
            </a:r>
            <a:r>
              <a:rPr lang="ja-JP" altLang="en-US" dirty="0"/>
              <a:t>命名は設計を如実に反映する</a:t>
            </a:r>
            <a:r>
              <a:rPr lang="en-US" altLang="ja-JP" dirty="0"/>
              <a:t>』</a:t>
            </a:r>
            <a:r>
              <a:rPr lang="ja-JP" altLang="en-US" dirty="0"/>
              <a:t>という事実を連想しました。」</a:t>
            </a:r>
            <a:endParaRPr lang="en-GB" altLang="ja-JP" dirty="0"/>
          </a:p>
        </p:txBody>
      </p:sp>
      <p:sp>
        <p:nvSpPr>
          <p:cNvPr id="3" name="Slide Number Placeholder 2">
            <a:extLst>
              <a:ext uri="{FF2B5EF4-FFF2-40B4-BE49-F238E27FC236}">
                <a16:creationId xmlns:a16="http://schemas.microsoft.com/office/drawing/2014/main" id="{2FA296FE-7E34-3C50-5DC1-0554F394F394}"/>
              </a:ext>
            </a:extLst>
          </p:cNvPr>
          <p:cNvSpPr>
            <a:spLocks noGrp="1"/>
          </p:cNvSpPr>
          <p:nvPr>
            <p:ph type="sldNum" sz="quarter" idx="12"/>
          </p:nvPr>
        </p:nvSpPr>
        <p:spPr/>
        <p:txBody>
          <a:bodyPr/>
          <a:lstStyle/>
          <a:p>
            <a:fld id="{CC8B731A-DCF7-4273-BA1A-21517ACBB5E5}" type="slidenum">
              <a:rPr lang="en-GB" smtClean="0"/>
              <a:t>27</a:t>
            </a:fld>
            <a:endParaRPr lang="en-GB"/>
          </a:p>
        </p:txBody>
      </p:sp>
    </p:spTree>
    <p:extLst>
      <p:ext uri="{BB962C8B-B14F-4D97-AF65-F5344CB8AC3E}">
        <p14:creationId xmlns:p14="http://schemas.microsoft.com/office/powerpoint/2010/main" val="4289303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0089B16E-FF90-F14C-D680-0BCA7A4C24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A3856B-223B-B889-065C-DFC93DC6062D}"/>
              </a:ext>
            </a:extLst>
          </p:cNvPr>
          <p:cNvSpPr>
            <a:spLocks noGrp="1"/>
          </p:cNvSpPr>
          <p:nvPr>
            <p:ph type="title"/>
          </p:nvPr>
        </p:nvSpPr>
        <p:spPr/>
        <p:txBody>
          <a:bodyPr/>
          <a:lstStyle/>
          <a:p>
            <a:pPr algn="ctr"/>
            <a:r>
              <a:rPr lang="en-US" altLang="ja-JP" b="1" dirty="0"/>
              <a:t>3. Matz </a:t>
            </a:r>
            <a:r>
              <a:rPr lang="ja-JP" altLang="en-US" b="1" dirty="0"/>
              <a:t>さんとの最も思い出深い議論 </a:t>
            </a:r>
            <a:endParaRPr lang="en-GB" b="1" dirty="0"/>
          </a:p>
        </p:txBody>
      </p:sp>
      <p:sp>
        <p:nvSpPr>
          <p:cNvPr id="7" name="コンテンツ プレースホルダー 2">
            <a:extLst>
              <a:ext uri="{FF2B5EF4-FFF2-40B4-BE49-F238E27FC236}">
                <a16:creationId xmlns:a16="http://schemas.microsoft.com/office/drawing/2014/main" id="{319056D4-C40B-FEA0-10B7-A21C2901E692}"/>
              </a:ext>
            </a:extLst>
          </p:cNvPr>
          <p:cNvSpPr>
            <a:spLocks noGrp="1"/>
          </p:cNvSpPr>
          <p:nvPr>
            <p:ph idx="1"/>
          </p:nvPr>
        </p:nvSpPr>
        <p:spPr>
          <a:xfrm>
            <a:off x="838200" y="1825625"/>
            <a:ext cx="10515600" cy="4351338"/>
          </a:xfrm>
        </p:spPr>
        <p:txBody>
          <a:bodyPr>
            <a:normAutofit lnSpcReduction="10000"/>
          </a:bodyPr>
          <a:lstStyle/>
          <a:p>
            <a:pPr marL="0" lvl="1" indent="0">
              <a:buNone/>
            </a:pPr>
            <a:r>
              <a:rPr lang="en-GB" altLang="ja-JP" dirty="0"/>
              <a:t>M) </a:t>
            </a:r>
            <a:r>
              <a:rPr lang="ja-JP" altLang="en-US" dirty="0"/>
              <a:t>「命名の観点で、私は過去に</a:t>
            </a:r>
            <a:r>
              <a:rPr lang="en-US" altLang="ja-JP" dirty="0"/>
              <a:t>1</a:t>
            </a:r>
            <a:r>
              <a:rPr lang="ja-JP" altLang="en-US" dirty="0"/>
              <a:t>つ失敗したことがあります。私はその時、レシーバー自信をブロック引数に取り、その処理結果を返却するメソッドの命名を考えていました。初めはそれに</a:t>
            </a:r>
            <a:r>
              <a:rPr lang="en-GB" altLang="ja-JP" dirty="0"/>
              <a:t> `</a:t>
            </a:r>
            <a:r>
              <a:rPr lang="en-GB" altLang="ja-JP" dirty="0">
                <a:hlinkClick r:id="rId3"/>
              </a:rPr>
              <a:t>Object#yield_self</a:t>
            </a:r>
            <a:r>
              <a:rPr lang="en-GB" altLang="ja-JP" dirty="0"/>
              <a:t>` </a:t>
            </a:r>
            <a:r>
              <a:rPr lang="ja-JP" altLang="en-US" dirty="0"/>
              <a:t>という名前を付けました。</a:t>
            </a:r>
            <a:r>
              <a:rPr lang="en-US" altLang="ja-JP" dirty="0"/>
              <a:t> 『</a:t>
            </a:r>
            <a:r>
              <a:rPr lang="ja-JP" altLang="en-US" dirty="0"/>
              <a:t>自身渡す</a:t>
            </a:r>
            <a:r>
              <a:rPr lang="en-US" altLang="ja-JP" dirty="0"/>
              <a:t>』</a:t>
            </a:r>
            <a:r>
              <a:rPr lang="ja-JP" altLang="en-US" dirty="0"/>
              <a:t>という挙動の観点では意味を成しています。しかし、それ以前の</a:t>
            </a:r>
            <a:r>
              <a:rPr lang="en-US" altLang="ja-JP" dirty="0"/>
              <a:t>『</a:t>
            </a:r>
            <a:r>
              <a:rPr lang="ja-JP" altLang="en-US" dirty="0"/>
              <a:t>それが何をするのか</a:t>
            </a:r>
            <a:r>
              <a:rPr lang="en-US" altLang="ja-JP" dirty="0"/>
              <a:t>』</a:t>
            </a:r>
            <a:r>
              <a:rPr lang="ja-JP" altLang="en-US" dirty="0"/>
              <a:t>を命名に反映出来ていませんでした。後に</a:t>
            </a:r>
            <a:r>
              <a:rPr lang="en-GB" altLang="ja-JP" dirty="0"/>
              <a:t> `</a:t>
            </a:r>
            <a:r>
              <a:rPr lang="en-GB" altLang="ja-JP" dirty="0">
                <a:hlinkClick r:id="rId4"/>
              </a:rPr>
              <a:t>Object#then</a:t>
            </a:r>
            <a:r>
              <a:rPr lang="en-GB" altLang="ja-JP" dirty="0"/>
              <a:t>` </a:t>
            </a:r>
            <a:r>
              <a:rPr lang="ja-JP" altLang="en-US" dirty="0"/>
              <a:t>というエイリアスを作りました。データ処理はレシーバー以前で一旦完了しており、文字通り</a:t>
            </a:r>
            <a:r>
              <a:rPr lang="en-US" altLang="ja-JP"/>
              <a:t>『</a:t>
            </a:r>
            <a:r>
              <a:rPr lang="ja-JP" altLang="en-US"/>
              <a:t>それ</a:t>
            </a:r>
            <a:r>
              <a:rPr lang="ja-JP" altLang="en-US" dirty="0"/>
              <a:t>から</a:t>
            </a:r>
            <a:r>
              <a:rPr lang="en-US" altLang="ja-JP" dirty="0"/>
              <a:t>』</a:t>
            </a:r>
            <a:r>
              <a:rPr lang="ja-JP" altLang="en-US" dirty="0"/>
              <a:t>何をするかに焦点を当てるような命名にしたのです。</a:t>
            </a:r>
            <a:r>
              <a:rPr lang="ja-JP" altLang="en-US" b="1" dirty="0"/>
              <a:t>これによって、メソッドがどう動くかだけでなく、それが何を目的としてるかが分かりやすくなりました。</a:t>
            </a:r>
            <a:r>
              <a:rPr lang="ja-JP" altLang="en-US" dirty="0"/>
              <a:t>」</a:t>
            </a:r>
            <a:endParaRPr lang="en-GB" altLang="ja-JP" dirty="0"/>
          </a:p>
          <a:p>
            <a:pPr marL="0" lvl="1" indent="0">
              <a:buNone/>
            </a:pPr>
            <a:r>
              <a:rPr lang="en-GB" altLang="ja-JP" i="1" dirty="0"/>
              <a:t>H)</a:t>
            </a:r>
            <a:r>
              <a:rPr lang="en-GB" altLang="ja-JP" dirty="0"/>
              <a:t> </a:t>
            </a:r>
            <a:r>
              <a:rPr lang="ja-JP" altLang="en-US" dirty="0"/>
              <a:t>「完全理解です。英文構造で言うと多くのメソッドはレシーバーを主語、メソッド自身を述語動詞、引数を目的語、ブロックを従属節</a:t>
            </a:r>
            <a:r>
              <a:rPr lang="en-GB" altLang="ja-JP" dirty="0"/>
              <a:t>(</a:t>
            </a:r>
            <a:r>
              <a:rPr lang="ja-JP" altLang="en-US" dirty="0"/>
              <a:t>名詞節・形容詞節・副詞節</a:t>
            </a:r>
            <a:r>
              <a:rPr lang="en-GB" altLang="ja-JP" dirty="0"/>
              <a:t>)</a:t>
            </a:r>
            <a:r>
              <a:rPr lang="ja-JP" altLang="en-US" dirty="0"/>
              <a:t>として扱う理解をしています。</a:t>
            </a:r>
            <a:r>
              <a:rPr lang="ja-JP" altLang="en-US" b="1" dirty="0"/>
              <a:t>しかし、松本さんは副詞である</a:t>
            </a:r>
            <a:r>
              <a:rPr lang="en-GB" altLang="ja-JP" b="1" dirty="0"/>
              <a:t> 'then' </a:t>
            </a:r>
            <a:r>
              <a:rPr lang="ja-JP" altLang="en-US" b="1" dirty="0"/>
              <a:t>をメソッドとして、ブロック内を並列する主節として扱う文構造を採用された</a:t>
            </a:r>
            <a:r>
              <a:rPr lang="ja-JP" altLang="en-US" dirty="0"/>
              <a:t>のが目から鱗でした！」</a:t>
            </a:r>
            <a:endParaRPr lang="en-GB" altLang="ja-JP" dirty="0"/>
          </a:p>
        </p:txBody>
      </p:sp>
      <p:sp>
        <p:nvSpPr>
          <p:cNvPr id="3" name="Slide Number Placeholder 2">
            <a:extLst>
              <a:ext uri="{FF2B5EF4-FFF2-40B4-BE49-F238E27FC236}">
                <a16:creationId xmlns:a16="http://schemas.microsoft.com/office/drawing/2014/main" id="{3D682507-4B23-8E0D-DF11-990FBD01D105}"/>
              </a:ext>
            </a:extLst>
          </p:cNvPr>
          <p:cNvSpPr>
            <a:spLocks noGrp="1"/>
          </p:cNvSpPr>
          <p:nvPr>
            <p:ph type="sldNum" sz="quarter" idx="12"/>
          </p:nvPr>
        </p:nvSpPr>
        <p:spPr/>
        <p:txBody>
          <a:bodyPr/>
          <a:lstStyle/>
          <a:p>
            <a:fld id="{CC8B731A-DCF7-4273-BA1A-21517ACBB5E5}" type="slidenum">
              <a:rPr lang="en-GB" smtClean="0"/>
              <a:t>28</a:t>
            </a:fld>
            <a:endParaRPr lang="en-GB"/>
          </a:p>
        </p:txBody>
      </p:sp>
    </p:spTree>
    <p:extLst>
      <p:ext uri="{BB962C8B-B14F-4D97-AF65-F5344CB8AC3E}">
        <p14:creationId xmlns:p14="http://schemas.microsoft.com/office/powerpoint/2010/main" val="3557255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00F90717-FC1B-2D74-8295-51C6FBB012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1E7885-8A3D-EE3F-9D0E-7164AE8A984C}"/>
              </a:ext>
            </a:extLst>
          </p:cNvPr>
          <p:cNvSpPr>
            <a:spLocks noGrp="1"/>
          </p:cNvSpPr>
          <p:nvPr>
            <p:ph type="title"/>
          </p:nvPr>
        </p:nvSpPr>
        <p:spPr/>
        <p:txBody>
          <a:bodyPr/>
          <a:lstStyle/>
          <a:p>
            <a:pPr algn="ctr"/>
            <a:r>
              <a:rPr lang="en-US" altLang="ja-JP" b="1" dirty="0"/>
              <a:t>3. Matz </a:t>
            </a:r>
            <a:r>
              <a:rPr lang="ja-JP" altLang="en-US" b="1" dirty="0"/>
              <a:t>さんとの最も思い出深い議論 </a:t>
            </a:r>
            <a:endParaRPr lang="en-GB" b="1" dirty="0"/>
          </a:p>
        </p:txBody>
      </p:sp>
      <p:sp>
        <p:nvSpPr>
          <p:cNvPr id="11" name="コンテンツ プレースホルダー 2">
            <a:extLst>
              <a:ext uri="{FF2B5EF4-FFF2-40B4-BE49-F238E27FC236}">
                <a16:creationId xmlns:a16="http://schemas.microsoft.com/office/drawing/2014/main" id="{DB0B5898-7EB9-BDF7-103B-9E7B09BF17A8}"/>
              </a:ext>
            </a:extLst>
          </p:cNvPr>
          <p:cNvSpPr>
            <a:spLocks noGrp="1"/>
          </p:cNvSpPr>
          <p:nvPr>
            <p:ph idx="1"/>
          </p:nvPr>
        </p:nvSpPr>
        <p:spPr>
          <a:xfrm>
            <a:off x="838200" y="1825625"/>
            <a:ext cx="10515600" cy="4351338"/>
          </a:xfrm>
        </p:spPr>
        <p:txBody>
          <a:bodyPr>
            <a:normAutofit/>
          </a:bodyPr>
          <a:lstStyle/>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r>
              <a:rPr lang="en-US" altLang="ja-JP" dirty="0"/>
              <a:t>※</a:t>
            </a:r>
            <a:r>
              <a:rPr lang="en-GB" altLang="ja-JP" dirty="0"/>
              <a:t> </a:t>
            </a:r>
            <a:r>
              <a:rPr lang="en-GB" altLang="ja-JP" dirty="0">
                <a:hlinkClick r:id="rId3"/>
              </a:rPr>
              <a:t>Enumrable#sort</a:t>
            </a:r>
            <a:r>
              <a:rPr lang="en-GB" altLang="ja-JP" dirty="0"/>
              <a:t> </a:t>
            </a:r>
            <a:r>
              <a:rPr lang="ja-JP" altLang="en-US" dirty="0"/>
              <a:t>は返り値として新しい配列を</a:t>
            </a:r>
            <a:r>
              <a:rPr lang="en-GB" altLang="ja-JP" dirty="0"/>
              <a:t> </a:t>
            </a:r>
            <a:r>
              <a:rPr lang="en-GB" altLang="ja-JP" dirty="0">
                <a:hlinkClick r:id="rId4"/>
              </a:rPr>
              <a:t>enum_sort </a:t>
            </a:r>
            <a:r>
              <a:rPr lang="en-GB" altLang="ja-JP" dirty="0"/>
              <a:t> </a:t>
            </a:r>
            <a:r>
              <a:rPr lang="ja-JP" altLang="en-US" dirty="0"/>
              <a:t>関数を通して</a:t>
            </a:r>
            <a:r>
              <a:rPr lang="en-GB" altLang="ja-JP" dirty="0"/>
              <a:t> </a:t>
            </a:r>
            <a:r>
              <a:rPr lang="en-GB" altLang="ja-JP" dirty="0">
                <a:hlinkClick r:id="rId5"/>
              </a:rPr>
              <a:t>rb_ary_sort_bang</a:t>
            </a:r>
            <a:r>
              <a:rPr lang="en-GB" altLang="ja-JP" dirty="0"/>
              <a:t> </a:t>
            </a:r>
            <a:r>
              <a:rPr lang="ja-JP" altLang="en-US" dirty="0"/>
              <a:t>関数で返却するので、</a:t>
            </a:r>
            <a:r>
              <a:rPr lang="en-GB" altLang="ja-JP" dirty="0"/>
              <a:t>Range </a:t>
            </a:r>
            <a:r>
              <a:rPr lang="ja-JP" altLang="en-US" dirty="0"/>
              <a:t>オブジェクトは</a:t>
            </a:r>
            <a:r>
              <a:rPr lang="en-GB" altLang="ja-JP" dirty="0"/>
              <a:t> Array </a:t>
            </a:r>
            <a:r>
              <a:rPr lang="ja-JP" altLang="en-US" dirty="0"/>
              <a:t>オブジェクトに暗黙的に変換される。</a:t>
            </a:r>
            <a:endParaRPr lang="en-GB" altLang="ja-JP" dirty="0"/>
          </a:p>
        </p:txBody>
      </p:sp>
      <p:sp>
        <p:nvSpPr>
          <p:cNvPr id="3" name="Slide Number Placeholder 2">
            <a:extLst>
              <a:ext uri="{FF2B5EF4-FFF2-40B4-BE49-F238E27FC236}">
                <a16:creationId xmlns:a16="http://schemas.microsoft.com/office/drawing/2014/main" id="{C0534FC4-A4E8-CD22-7E3E-0E4C338E049C}"/>
              </a:ext>
            </a:extLst>
          </p:cNvPr>
          <p:cNvSpPr>
            <a:spLocks noGrp="1"/>
          </p:cNvSpPr>
          <p:nvPr>
            <p:ph type="sldNum" sz="quarter" idx="12"/>
          </p:nvPr>
        </p:nvSpPr>
        <p:spPr/>
        <p:txBody>
          <a:bodyPr/>
          <a:lstStyle/>
          <a:p>
            <a:fld id="{CC8B731A-DCF7-4273-BA1A-21517ACBB5E5}" type="slidenum">
              <a:rPr lang="en-GB" smtClean="0"/>
              <a:t>29</a:t>
            </a:fld>
            <a:endParaRPr lang="en-GB"/>
          </a:p>
        </p:txBody>
      </p:sp>
      <p:sp>
        <p:nvSpPr>
          <p:cNvPr id="18" name="TextBox 17">
            <a:extLst>
              <a:ext uri="{FF2B5EF4-FFF2-40B4-BE49-F238E27FC236}">
                <a16:creationId xmlns:a16="http://schemas.microsoft.com/office/drawing/2014/main" id="{4E9AFDB0-E3C7-1710-9EC5-51F97864BA28}"/>
              </a:ext>
            </a:extLst>
          </p:cNvPr>
          <p:cNvSpPr txBox="1"/>
          <p:nvPr/>
        </p:nvSpPr>
        <p:spPr>
          <a:xfrm>
            <a:off x="8909902" y="1825625"/>
            <a:ext cx="2147013" cy="3077766"/>
          </a:xfrm>
          <a:prstGeom prst="rect">
            <a:avLst/>
          </a:prstGeom>
          <a:solidFill>
            <a:schemeClr val="tx1"/>
          </a:solidFill>
        </p:spPr>
        <p:txBody>
          <a:bodyPr wrap="square" rtlCol="0">
            <a:spAutoFit/>
          </a:bodyPr>
          <a:lstStyle/>
          <a:p>
            <a:pPr marL="177800" indent="-177800">
              <a:buFont typeface="Arial" panose="020B0604020202020204" pitchFamily="34" charset="0"/>
              <a:buChar char="•"/>
            </a:pPr>
            <a:r>
              <a:rPr lang="en-GB" sz="1600" b="1" dirty="0">
                <a:solidFill>
                  <a:schemeClr val="bg1"/>
                </a:solidFill>
              </a:rPr>
              <a:t>S = </a:t>
            </a:r>
            <a:r>
              <a:rPr lang="ja-JP" altLang="en-US" sz="1600" b="1" dirty="0">
                <a:solidFill>
                  <a:schemeClr val="bg1"/>
                </a:solidFill>
              </a:rPr>
              <a:t>主語</a:t>
            </a:r>
            <a:endParaRPr lang="en-GB" sz="1600" b="1" dirty="0">
              <a:solidFill>
                <a:schemeClr val="bg1"/>
              </a:solidFill>
            </a:endParaRPr>
          </a:p>
          <a:p>
            <a:pPr marL="177800" indent="-177800">
              <a:buFont typeface="Arial" panose="020B0604020202020204" pitchFamily="34" charset="0"/>
              <a:buChar char="•"/>
            </a:pPr>
            <a:r>
              <a:rPr lang="en-GB" sz="1600" b="1" dirty="0">
                <a:solidFill>
                  <a:schemeClr val="bg1"/>
                </a:solidFill>
              </a:rPr>
              <a:t>V = </a:t>
            </a:r>
            <a:r>
              <a:rPr lang="ja-JP" altLang="en-US" sz="1600" b="1" dirty="0">
                <a:solidFill>
                  <a:schemeClr val="bg1"/>
                </a:solidFill>
              </a:rPr>
              <a:t>述語動詞</a:t>
            </a:r>
            <a:endParaRPr lang="en-GB" sz="1600" b="1" dirty="0">
              <a:solidFill>
                <a:schemeClr val="bg1"/>
              </a:solidFill>
            </a:endParaRPr>
          </a:p>
          <a:p>
            <a:pPr marL="268288" lvl="1" indent="188913">
              <a:buFont typeface="Arial" panose="020B0604020202020204" pitchFamily="34" charset="0"/>
              <a:buChar char="•"/>
            </a:pPr>
            <a:r>
              <a:rPr lang="en-GB" sz="1400" b="1" dirty="0">
                <a:solidFill>
                  <a:schemeClr val="bg1"/>
                </a:solidFill>
              </a:rPr>
              <a:t>V</a:t>
            </a:r>
            <a:r>
              <a:rPr lang="en-GB" sz="900" b="1" dirty="0">
                <a:solidFill>
                  <a:schemeClr val="bg1"/>
                </a:solidFill>
              </a:rPr>
              <a:t>1</a:t>
            </a:r>
            <a:r>
              <a:rPr lang="en-GB" sz="1400" b="1" dirty="0">
                <a:solidFill>
                  <a:schemeClr val="bg1"/>
                </a:solidFill>
              </a:rPr>
              <a:t>: SV</a:t>
            </a:r>
          </a:p>
          <a:p>
            <a:pPr marL="268288" lvl="1" indent="188913">
              <a:buFont typeface="Arial" panose="020B0604020202020204" pitchFamily="34" charset="0"/>
              <a:buChar char="•"/>
            </a:pPr>
            <a:r>
              <a:rPr lang="en-GB" sz="1400" b="1" dirty="0">
                <a:solidFill>
                  <a:schemeClr val="bg1"/>
                </a:solidFill>
              </a:rPr>
              <a:t>V</a:t>
            </a:r>
            <a:r>
              <a:rPr lang="en-GB" sz="900" b="1" dirty="0">
                <a:solidFill>
                  <a:schemeClr val="bg1"/>
                </a:solidFill>
              </a:rPr>
              <a:t>2</a:t>
            </a:r>
            <a:r>
              <a:rPr lang="en-GB" sz="1400" b="1" dirty="0">
                <a:solidFill>
                  <a:schemeClr val="bg1"/>
                </a:solidFill>
              </a:rPr>
              <a:t>: SVC</a:t>
            </a:r>
          </a:p>
          <a:p>
            <a:pPr marL="268288" lvl="1" indent="188913">
              <a:buFont typeface="Arial" panose="020B0604020202020204" pitchFamily="34" charset="0"/>
              <a:buChar char="•"/>
            </a:pPr>
            <a:r>
              <a:rPr lang="en-GB" sz="1400" b="1" dirty="0">
                <a:solidFill>
                  <a:schemeClr val="bg1"/>
                </a:solidFill>
              </a:rPr>
              <a:t>V</a:t>
            </a:r>
            <a:r>
              <a:rPr lang="en-GB" sz="900" b="1" dirty="0">
                <a:solidFill>
                  <a:schemeClr val="bg1"/>
                </a:solidFill>
              </a:rPr>
              <a:t>3</a:t>
            </a:r>
            <a:r>
              <a:rPr lang="en-GB" sz="1400" b="1" dirty="0">
                <a:solidFill>
                  <a:schemeClr val="bg1"/>
                </a:solidFill>
              </a:rPr>
              <a:t>: SVO</a:t>
            </a:r>
          </a:p>
          <a:p>
            <a:pPr marL="268288" lvl="1" indent="188913">
              <a:buFont typeface="Arial" panose="020B0604020202020204" pitchFamily="34" charset="0"/>
              <a:buChar char="•"/>
            </a:pPr>
            <a:r>
              <a:rPr lang="en-GB" sz="1400" b="1" dirty="0">
                <a:solidFill>
                  <a:schemeClr val="bg1"/>
                </a:solidFill>
              </a:rPr>
              <a:t>V</a:t>
            </a:r>
            <a:r>
              <a:rPr lang="en-GB" sz="900" b="1" dirty="0">
                <a:solidFill>
                  <a:schemeClr val="bg1"/>
                </a:solidFill>
              </a:rPr>
              <a:t>4</a:t>
            </a:r>
            <a:r>
              <a:rPr lang="en-GB" sz="1400" b="1" dirty="0">
                <a:solidFill>
                  <a:schemeClr val="bg1"/>
                </a:solidFill>
              </a:rPr>
              <a:t>: SVO</a:t>
            </a:r>
            <a:r>
              <a:rPr lang="en-GB" sz="900" b="1" dirty="0">
                <a:solidFill>
                  <a:schemeClr val="bg1"/>
                </a:solidFill>
              </a:rPr>
              <a:t>1</a:t>
            </a:r>
            <a:r>
              <a:rPr lang="en-GB" sz="1400" b="1" dirty="0">
                <a:solidFill>
                  <a:schemeClr val="bg1"/>
                </a:solidFill>
              </a:rPr>
              <a:t>O</a:t>
            </a:r>
            <a:r>
              <a:rPr lang="en-GB" sz="900" b="1" dirty="0">
                <a:solidFill>
                  <a:schemeClr val="bg1"/>
                </a:solidFill>
              </a:rPr>
              <a:t>2</a:t>
            </a:r>
            <a:endParaRPr lang="en-GB" sz="1400" b="1" dirty="0">
              <a:solidFill>
                <a:schemeClr val="bg1"/>
              </a:solidFill>
            </a:endParaRPr>
          </a:p>
          <a:p>
            <a:pPr marL="268288" lvl="1" indent="188913">
              <a:buFont typeface="Arial" panose="020B0604020202020204" pitchFamily="34" charset="0"/>
              <a:buChar char="•"/>
            </a:pPr>
            <a:r>
              <a:rPr lang="en-GB" sz="1400" b="1" dirty="0">
                <a:solidFill>
                  <a:schemeClr val="bg1"/>
                </a:solidFill>
              </a:rPr>
              <a:t>V</a:t>
            </a:r>
            <a:r>
              <a:rPr lang="en-GB" sz="900" b="1" dirty="0">
                <a:solidFill>
                  <a:schemeClr val="bg1"/>
                </a:solidFill>
              </a:rPr>
              <a:t>5</a:t>
            </a:r>
            <a:r>
              <a:rPr lang="en-GB" sz="1400" b="1" dirty="0">
                <a:solidFill>
                  <a:schemeClr val="bg1"/>
                </a:solidFill>
              </a:rPr>
              <a:t>: SVOC</a:t>
            </a:r>
          </a:p>
          <a:p>
            <a:pPr marL="177800" indent="-177800">
              <a:buFont typeface="Arial" panose="020B0604020202020204" pitchFamily="34" charset="0"/>
              <a:buChar char="•"/>
            </a:pPr>
            <a:r>
              <a:rPr lang="en-GB" sz="1600" b="1" dirty="0">
                <a:solidFill>
                  <a:schemeClr val="bg1"/>
                </a:solidFill>
              </a:rPr>
              <a:t>O = </a:t>
            </a:r>
            <a:r>
              <a:rPr lang="ja-JP" altLang="en-US" sz="1600" b="1" dirty="0">
                <a:solidFill>
                  <a:schemeClr val="bg1"/>
                </a:solidFill>
              </a:rPr>
              <a:t>目的語</a:t>
            </a:r>
            <a:endParaRPr lang="en-GB" sz="1600" b="1" dirty="0">
              <a:solidFill>
                <a:schemeClr val="bg1"/>
              </a:solidFill>
            </a:endParaRPr>
          </a:p>
          <a:p>
            <a:pPr marL="446088" lvl="1" indent="-177800">
              <a:buFont typeface="Arial" panose="020B0604020202020204" pitchFamily="34" charset="0"/>
              <a:buChar char="•"/>
            </a:pPr>
            <a:r>
              <a:rPr lang="en-GB" sz="1400" b="1" dirty="0">
                <a:solidFill>
                  <a:schemeClr val="bg1"/>
                </a:solidFill>
              </a:rPr>
              <a:t>O</a:t>
            </a:r>
            <a:r>
              <a:rPr lang="en-GB" sz="900" b="1" dirty="0">
                <a:solidFill>
                  <a:schemeClr val="bg1"/>
                </a:solidFill>
              </a:rPr>
              <a:t>1</a:t>
            </a:r>
            <a:r>
              <a:rPr lang="en-GB" sz="1400" b="1" dirty="0">
                <a:solidFill>
                  <a:schemeClr val="bg1"/>
                </a:solidFill>
              </a:rPr>
              <a:t>: </a:t>
            </a:r>
            <a:r>
              <a:rPr lang="ja-JP" altLang="en-US" sz="1400" b="1" dirty="0">
                <a:solidFill>
                  <a:schemeClr val="bg1"/>
                </a:solidFill>
              </a:rPr>
              <a:t>間接目的語</a:t>
            </a:r>
            <a:endParaRPr lang="en-GB" sz="1600" b="1" dirty="0">
              <a:solidFill>
                <a:schemeClr val="bg1"/>
              </a:solidFill>
            </a:endParaRPr>
          </a:p>
          <a:p>
            <a:pPr marL="446088" lvl="1" indent="-177800">
              <a:buFont typeface="Arial" panose="020B0604020202020204" pitchFamily="34" charset="0"/>
              <a:buChar char="•"/>
            </a:pPr>
            <a:r>
              <a:rPr lang="en-GB" sz="1400" b="1" dirty="0">
                <a:solidFill>
                  <a:schemeClr val="bg1"/>
                </a:solidFill>
              </a:rPr>
              <a:t>O</a:t>
            </a:r>
            <a:r>
              <a:rPr lang="en-GB" sz="900" b="1" dirty="0">
                <a:solidFill>
                  <a:schemeClr val="bg1"/>
                </a:solidFill>
              </a:rPr>
              <a:t>2</a:t>
            </a:r>
            <a:r>
              <a:rPr lang="en-GB" sz="1400" b="1" dirty="0">
                <a:solidFill>
                  <a:schemeClr val="bg1"/>
                </a:solidFill>
              </a:rPr>
              <a:t>: </a:t>
            </a:r>
            <a:r>
              <a:rPr lang="ja-JP" altLang="en-US" sz="1400" b="1" dirty="0">
                <a:solidFill>
                  <a:schemeClr val="bg1"/>
                </a:solidFill>
              </a:rPr>
              <a:t>直接目的語</a:t>
            </a:r>
            <a:endParaRPr lang="en-GB" sz="1600" b="1" dirty="0">
              <a:solidFill>
                <a:schemeClr val="bg1"/>
              </a:solidFill>
            </a:endParaRPr>
          </a:p>
          <a:p>
            <a:pPr marL="177800" indent="-177800">
              <a:buFont typeface="Arial" panose="020B0604020202020204" pitchFamily="34" charset="0"/>
              <a:buChar char="•"/>
            </a:pPr>
            <a:r>
              <a:rPr lang="en-GB" sz="1600" b="1" dirty="0">
                <a:solidFill>
                  <a:schemeClr val="bg1"/>
                </a:solidFill>
              </a:rPr>
              <a:t>C = </a:t>
            </a:r>
            <a:r>
              <a:rPr lang="ja-JP" altLang="en-US" sz="1600" b="1" dirty="0">
                <a:solidFill>
                  <a:schemeClr val="bg1"/>
                </a:solidFill>
              </a:rPr>
              <a:t>補語</a:t>
            </a:r>
            <a:endParaRPr lang="en-GB" sz="1600" b="1" dirty="0">
              <a:solidFill>
                <a:schemeClr val="bg1"/>
              </a:solidFill>
            </a:endParaRPr>
          </a:p>
          <a:p>
            <a:pPr marL="177800" indent="-177800">
              <a:buFont typeface="Arial" panose="020B0604020202020204" pitchFamily="34" charset="0"/>
              <a:buChar char="•"/>
            </a:pPr>
            <a:r>
              <a:rPr lang="en-GB" sz="1600" b="1" dirty="0">
                <a:solidFill>
                  <a:schemeClr val="bg1"/>
                </a:solidFill>
              </a:rPr>
              <a:t>[</a:t>
            </a:r>
            <a:r>
              <a:rPr lang="ja-JP" altLang="en-US" sz="1600" b="1" dirty="0">
                <a:solidFill>
                  <a:schemeClr val="bg1"/>
                </a:solidFill>
              </a:rPr>
              <a:t>従属節</a:t>
            </a:r>
            <a:r>
              <a:rPr lang="en-GB" sz="1600" b="1" dirty="0">
                <a:solidFill>
                  <a:schemeClr val="bg1"/>
                </a:solidFill>
              </a:rPr>
              <a:t>]</a:t>
            </a:r>
          </a:p>
          <a:p>
            <a:pPr marL="177800" indent="-177800">
              <a:buFont typeface="Arial" panose="020B0604020202020204" pitchFamily="34" charset="0"/>
              <a:buChar char="•"/>
            </a:pPr>
            <a:r>
              <a:rPr lang="en-GB" sz="1600" b="1" dirty="0">
                <a:solidFill>
                  <a:schemeClr val="bg1"/>
                </a:solidFill>
              </a:rPr>
              <a:t>(</a:t>
            </a:r>
            <a:r>
              <a:rPr lang="ja-JP" altLang="en-US" sz="1600" b="1" dirty="0">
                <a:solidFill>
                  <a:schemeClr val="bg1"/>
                </a:solidFill>
              </a:rPr>
              <a:t>修飾語句</a:t>
            </a:r>
            <a:r>
              <a:rPr lang="en-GB" sz="1600" b="1" dirty="0">
                <a:solidFill>
                  <a:schemeClr val="bg1"/>
                </a:solidFill>
              </a:rPr>
              <a:t>)</a:t>
            </a:r>
          </a:p>
        </p:txBody>
      </p:sp>
      <p:pic>
        <p:nvPicPr>
          <p:cNvPr id="4" name="Content Placeholder 4">
            <a:extLst>
              <a:ext uri="{FF2B5EF4-FFF2-40B4-BE49-F238E27FC236}">
                <a16:creationId xmlns:a16="http://schemas.microsoft.com/office/drawing/2014/main" id="{4AE87B63-DF8B-80A8-474A-C7815F8266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199" y="1825625"/>
            <a:ext cx="7978175" cy="3040767"/>
          </a:xfrm>
          <a:prstGeom prst="rect">
            <a:avLst/>
          </a:prstGeom>
        </p:spPr>
      </p:pic>
      <p:cxnSp>
        <p:nvCxnSpPr>
          <p:cNvPr id="5" name="Straight Connector 4">
            <a:extLst>
              <a:ext uri="{FF2B5EF4-FFF2-40B4-BE49-F238E27FC236}">
                <a16:creationId xmlns:a16="http://schemas.microsoft.com/office/drawing/2014/main" id="{49EA083D-3966-54C5-9BC4-9690D00A9DA6}"/>
              </a:ext>
            </a:extLst>
          </p:cNvPr>
          <p:cNvCxnSpPr>
            <a:cxnSpLocks/>
          </p:cNvCxnSpPr>
          <p:nvPr/>
        </p:nvCxnSpPr>
        <p:spPr>
          <a:xfrm flipV="1">
            <a:off x="4149741" y="2277581"/>
            <a:ext cx="2039931" cy="693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232BA39-6039-003F-F2D9-A557D976062B}"/>
              </a:ext>
            </a:extLst>
          </p:cNvPr>
          <p:cNvCxnSpPr>
            <a:cxnSpLocks/>
          </p:cNvCxnSpPr>
          <p:nvPr/>
        </p:nvCxnSpPr>
        <p:spPr>
          <a:xfrm>
            <a:off x="1516565" y="3787694"/>
            <a:ext cx="45497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63A90AA-B3F3-B2D0-BAC1-61A7ECB8C42E}"/>
              </a:ext>
            </a:extLst>
          </p:cNvPr>
          <p:cNvCxnSpPr>
            <a:cxnSpLocks/>
          </p:cNvCxnSpPr>
          <p:nvPr/>
        </p:nvCxnSpPr>
        <p:spPr>
          <a:xfrm>
            <a:off x="2141777" y="3787694"/>
            <a:ext cx="123481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0E3A25B-5080-86D0-2CA1-B7B9985469DD}"/>
              </a:ext>
            </a:extLst>
          </p:cNvPr>
          <p:cNvCxnSpPr>
            <a:cxnSpLocks/>
          </p:cNvCxnSpPr>
          <p:nvPr/>
        </p:nvCxnSpPr>
        <p:spPr>
          <a:xfrm>
            <a:off x="3442010" y="3792902"/>
            <a:ext cx="43861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5BA5D23-8488-84D4-58B0-FA7B0A087519}"/>
              </a:ext>
            </a:extLst>
          </p:cNvPr>
          <p:cNvCxnSpPr>
            <a:cxnSpLocks/>
          </p:cNvCxnSpPr>
          <p:nvPr/>
        </p:nvCxnSpPr>
        <p:spPr>
          <a:xfrm>
            <a:off x="5568920" y="3787694"/>
            <a:ext cx="4348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8D480D7-1E33-EC1A-399F-239CBF5B400A}"/>
              </a:ext>
            </a:extLst>
          </p:cNvPr>
          <p:cNvCxnSpPr>
            <a:cxnSpLocks/>
          </p:cNvCxnSpPr>
          <p:nvPr/>
        </p:nvCxnSpPr>
        <p:spPr>
          <a:xfrm>
            <a:off x="6189672" y="3787694"/>
            <a:ext cx="83113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1CA95B1-B6D9-C38F-200A-15F53ADA3891}"/>
              </a:ext>
            </a:extLst>
          </p:cNvPr>
          <p:cNvSpPr txBox="1"/>
          <p:nvPr/>
        </p:nvSpPr>
        <p:spPr>
          <a:xfrm>
            <a:off x="1333498" y="2253436"/>
            <a:ext cx="281010" cy="369332"/>
          </a:xfrm>
          <a:prstGeom prst="rect">
            <a:avLst/>
          </a:prstGeom>
          <a:noFill/>
        </p:spPr>
        <p:txBody>
          <a:bodyPr wrap="square" rtlCol="0">
            <a:spAutoFit/>
          </a:bodyPr>
          <a:lstStyle/>
          <a:p>
            <a:pPr algn="ctr"/>
            <a:r>
              <a:rPr lang="en-GB" b="1" dirty="0">
                <a:solidFill>
                  <a:schemeClr val="bg1"/>
                </a:solidFill>
              </a:rPr>
              <a:t>S</a:t>
            </a:r>
          </a:p>
        </p:txBody>
      </p:sp>
      <p:sp>
        <p:nvSpPr>
          <p:cNvPr id="15" name="TextBox 14">
            <a:extLst>
              <a:ext uri="{FF2B5EF4-FFF2-40B4-BE49-F238E27FC236}">
                <a16:creationId xmlns:a16="http://schemas.microsoft.com/office/drawing/2014/main" id="{35F000D6-15E0-F303-1B96-BE91E8ADFB86}"/>
              </a:ext>
            </a:extLst>
          </p:cNvPr>
          <p:cNvSpPr txBox="1"/>
          <p:nvPr/>
        </p:nvSpPr>
        <p:spPr>
          <a:xfrm>
            <a:off x="4932764" y="2231013"/>
            <a:ext cx="472813" cy="369332"/>
          </a:xfrm>
          <a:prstGeom prst="rect">
            <a:avLst/>
          </a:prstGeom>
          <a:noFill/>
        </p:spPr>
        <p:txBody>
          <a:bodyPr wrap="square" rtlCol="0">
            <a:spAutoFit/>
          </a:bodyPr>
          <a:lstStyle/>
          <a:p>
            <a:pPr algn="ctr"/>
            <a:r>
              <a:rPr lang="en-GB" b="1" dirty="0">
                <a:solidFill>
                  <a:schemeClr val="bg1"/>
                </a:solidFill>
              </a:rPr>
              <a:t>V</a:t>
            </a:r>
            <a:r>
              <a:rPr lang="en-GB" sz="1050" b="1" dirty="0">
                <a:solidFill>
                  <a:schemeClr val="bg1"/>
                </a:solidFill>
              </a:rPr>
              <a:t>3</a:t>
            </a:r>
            <a:endParaRPr lang="en-GB" b="1" dirty="0">
              <a:solidFill>
                <a:schemeClr val="bg1"/>
              </a:solidFill>
            </a:endParaRPr>
          </a:p>
        </p:txBody>
      </p:sp>
      <p:sp>
        <p:nvSpPr>
          <p:cNvPr id="16" name="TextBox 15">
            <a:extLst>
              <a:ext uri="{FF2B5EF4-FFF2-40B4-BE49-F238E27FC236}">
                <a16:creationId xmlns:a16="http://schemas.microsoft.com/office/drawing/2014/main" id="{DB027970-4A18-09A1-7338-4FA35888D39D}"/>
              </a:ext>
            </a:extLst>
          </p:cNvPr>
          <p:cNvSpPr txBox="1"/>
          <p:nvPr/>
        </p:nvSpPr>
        <p:spPr>
          <a:xfrm>
            <a:off x="1582732" y="3712759"/>
            <a:ext cx="281010" cy="369332"/>
          </a:xfrm>
          <a:prstGeom prst="rect">
            <a:avLst/>
          </a:prstGeom>
          <a:noFill/>
          <a:ln>
            <a:noFill/>
          </a:ln>
        </p:spPr>
        <p:txBody>
          <a:bodyPr wrap="square" rtlCol="0">
            <a:spAutoFit/>
          </a:bodyPr>
          <a:lstStyle/>
          <a:p>
            <a:pPr algn="ctr"/>
            <a:r>
              <a:rPr lang="en-GB" b="1" dirty="0">
                <a:solidFill>
                  <a:schemeClr val="bg1"/>
                </a:solidFill>
              </a:rPr>
              <a:t>S</a:t>
            </a:r>
          </a:p>
        </p:txBody>
      </p:sp>
      <p:sp>
        <p:nvSpPr>
          <p:cNvPr id="17" name="TextBox 16">
            <a:extLst>
              <a:ext uri="{FF2B5EF4-FFF2-40B4-BE49-F238E27FC236}">
                <a16:creationId xmlns:a16="http://schemas.microsoft.com/office/drawing/2014/main" id="{F0321BFE-A921-BB04-E704-301A275B6AD1}"/>
              </a:ext>
            </a:extLst>
          </p:cNvPr>
          <p:cNvSpPr txBox="1"/>
          <p:nvPr/>
        </p:nvSpPr>
        <p:spPr>
          <a:xfrm>
            <a:off x="2366990" y="3722724"/>
            <a:ext cx="472813" cy="369332"/>
          </a:xfrm>
          <a:prstGeom prst="rect">
            <a:avLst/>
          </a:prstGeom>
          <a:noFill/>
        </p:spPr>
        <p:txBody>
          <a:bodyPr wrap="square" rtlCol="0">
            <a:spAutoFit/>
          </a:bodyPr>
          <a:lstStyle/>
          <a:p>
            <a:pPr algn="ctr"/>
            <a:r>
              <a:rPr lang="en-GB" b="1" dirty="0">
                <a:solidFill>
                  <a:schemeClr val="bg1"/>
                </a:solidFill>
              </a:rPr>
              <a:t>V</a:t>
            </a:r>
            <a:r>
              <a:rPr lang="en-GB" sz="1050" b="1" dirty="0">
                <a:solidFill>
                  <a:schemeClr val="bg1"/>
                </a:solidFill>
              </a:rPr>
              <a:t>1</a:t>
            </a:r>
            <a:endParaRPr lang="en-GB" b="1" dirty="0">
              <a:solidFill>
                <a:schemeClr val="bg1"/>
              </a:solidFill>
            </a:endParaRPr>
          </a:p>
        </p:txBody>
      </p:sp>
      <p:sp>
        <p:nvSpPr>
          <p:cNvPr id="19" name="TextBox 18">
            <a:extLst>
              <a:ext uri="{FF2B5EF4-FFF2-40B4-BE49-F238E27FC236}">
                <a16:creationId xmlns:a16="http://schemas.microsoft.com/office/drawing/2014/main" id="{04DAB604-04E7-4581-8C43-AEF348EE0479}"/>
              </a:ext>
            </a:extLst>
          </p:cNvPr>
          <p:cNvSpPr txBox="1"/>
          <p:nvPr/>
        </p:nvSpPr>
        <p:spPr>
          <a:xfrm>
            <a:off x="3482155" y="3722724"/>
            <a:ext cx="281010" cy="369332"/>
          </a:xfrm>
          <a:prstGeom prst="rect">
            <a:avLst/>
          </a:prstGeom>
          <a:noFill/>
        </p:spPr>
        <p:txBody>
          <a:bodyPr wrap="square" rtlCol="0">
            <a:spAutoFit/>
          </a:bodyPr>
          <a:lstStyle/>
          <a:p>
            <a:pPr algn="ctr"/>
            <a:r>
              <a:rPr lang="en-GB" b="1" dirty="0">
                <a:solidFill>
                  <a:schemeClr val="bg1"/>
                </a:solidFill>
              </a:rPr>
              <a:t>O</a:t>
            </a:r>
          </a:p>
        </p:txBody>
      </p:sp>
      <p:sp>
        <p:nvSpPr>
          <p:cNvPr id="20" name="TextBox 19">
            <a:extLst>
              <a:ext uri="{FF2B5EF4-FFF2-40B4-BE49-F238E27FC236}">
                <a16:creationId xmlns:a16="http://schemas.microsoft.com/office/drawing/2014/main" id="{18086E74-0062-9A5C-49D3-6832BF76D587}"/>
              </a:ext>
            </a:extLst>
          </p:cNvPr>
          <p:cNvSpPr txBox="1"/>
          <p:nvPr/>
        </p:nvSpPr>
        <p:spPr>
          <a:xfrm>
            <a:off x="5654893" y="3727928"/>
            <a:ext cx="281010" cy="369332"/>
          </a:xfrm>
          <a:prstGeom prst="rect">
            <a:avLst/>
          </a:prstGeom>
          <a:noFill/>
        </p:spPr>
        <p:txBody>
          <a:bodyPr wrap="square" rtlCol="0">
            <a:spAutoFit/>
          </a:bodyPr>
          <a:lstStyle/>
          <a:p>
            <a:pPr algn="ctr"/>
            <a:r>
              <a:rPr lang="en-GB" b="1" dirty="0">
                <a:solidFill>
                  <a:schemeClr val="bg1"/>
                </a:solidFill>
              </a:rPr>
              <a:t>S</a:t>
            </a:r>
          </a:p>
        </p:txBody>
      </p:sp>
      <p:sp>
        <p:nvSpPr>
          <p:cNvPr id="21" name="TextBox 20">
            <a:extLst>
              <a:ext uri="{FF2B5EF4-FFF2-40B4-BE49-F238E27FC236}">
                <a16:creationId xmlns:a16="http://schemas.microsoft.com/office/drawing/2014/main" id="{83D599E6-510D-7B71-763A-E0EE41BE47B5}"/>
              </a:ext>
            </a:extLst>
          </p:cNvPr>
          <p:cNvSpPr txBox="1"/>
          <p:nvPr/>
        </p:nvSpPr>
        <p:spPr>
          <a:xfrm>
            <a:off x="6398677" y="3707801"/>
            <a:ext cx="472813" cy="369332"/>
          </a:xfrm>
          <a:prstGeom prst="rect">
            <a:avLst/>
          </a:prstGeom>
          <a:noFill/>
        </p:spPr>
        <p:txBody>
          <a:bodyPr wrap="square" rtlCol="0">
            <a:spAutoFit/>
          </a:bodyPr>
          <a:lstStyle/>
          <a:p>
            <a:pPr algn="ctr"/>
            <a:r>
              <a:rPr lang="en-GB" b="1" dirty="0">
                <a:solidFill>
                  <a:schemeClr val="bg1"/>
                </a:solidFill>
              </a:rPr>
              <a:t>V</a:t>
            </a:r>
            <a:r>
              <a:rPr lang="en-GB" sz="1050" b="1" dirty="0">
                <a:solidFill>
                  <a:schemeClr val="bg1"/>
                </a:solidFill>
              </a:rPr>
              <a:t>1</a:t>
            </a:r>
            <a:endParaRPr lang="en-GB" b="1" dirty="0">
              <a:solidFill>
                <a:schemeClr val="bg1"/>
              </a:solidFill>
            </a:endParaRPr>
          </a:p>
        </p:txBody>
      </p:sp>
      <p:sp>
        <p:nvSpPr>
          <p:cNvPr id="22" name="TextBox 21">
            <a:extLst>
              <a:ext uri="{FF2B5EF4-FFF2-40B4-BE49-F238E27FC236}">
                <a16:creationId xmlns:a16="http://schemas.microsoft.com/office/drawing/2014/main" id="{4B431325-C127-9DEB-96D8-7E86C4CAB90A}"/>
              </a:ext>
            </a:extLst>
          </p:cNvPr>
          <p:cNvSpPr txBox="1"/>
          <p:nvPr/>
        </p:nvSpPr>
        <p:spPr>
          <a:xfrm>
            <a:off x="3780481" y="3785692"/>
            <a:ext cx="565203" cy="276999"/>
          </a:xfrm>
          <a:prstGeom prst="rect">
            <a:avLst/>
          </a:prstGeom>
          <a:noFill/>
        </p:spPr>
        <p:txBody>
          <a:bodyPr wrap="square" rtlCol="0">
            <a:spAutoFit/>
          </a:bodyPr>
          <a:lstStyle/>
          <a:p>
            <a:pPr algn="ctr"/>
            <a:r>
              <a:rPr lang="en-GB" sz="1200" b="1" dirty="0">
                <a:solidFill>
                  <a:schemeClr val="bg1"/>
                </a:solidFill>
              </a:rPr>
              <a:t>(and)</a:t>
            </a:r>
          </a:p>
        </p:txBody>
      </p:sp>
      <p:sp>
        <p:nvSpPr>
          <p:cNvPr id="24" name="TextBox 23">
            <a:extLst>
              <a:ext uri="{FF2B5EF4-FFF2-40B4-BE49-F238E27FC236}">
                <a16:creationId xmlns:a16="http://schemas.microsoft.com/office/drawing/2014/main" id="{F3D8C5DE-4A95-6DFC-3773-F76ADCF35703}"/>
              </a:ext>
            </a:extLst>
          </p:cNvPr>
          <p:cNvSpPr txBox="1"/>
          <p:nvPr/>
        </p:nvSpPr>
        <p:spPr>
          <a:xfrm>
            <a:off x="6782255" y="2234295"/>
            <a:ext cx="458703" cy="369332"/>
          </a:xfrm>
          <a:prstGeom prst="rect">
            <a:avLst/>
          </a:prstGeom>
          <a:noFill/>
        </p:spPr>
        <p:txBody>
          <a:bodyPr wrap="square" rtlCol="0">
            <a:spAutoFit/>
          </a:bodyPr>
          <a:lstStyle/>
          <a:p>
            <a:pPr algn="ctr"/>
            <a:r>
              <a:rPr lang="en-GB" b="1" dirty="0">
                <a:solidFill>
                  <a:schemeClr val="bg1"/>
                </a:solidFill>
              </a:rPr>
              <a:t>[S]</a:t>
            </a:r>
          </a:p>
        </p:txBody>
      </p:sp>
      <p:sp>
        <p:nvSpPr>
          <p:cNvPr id="26" name="TextBox 25">
            <a:extLst>
              <a:ext uri="{FF2B5EF4-FFF2-40B4-BE49-F238E27FC236}">
                <a16:creationId xmlns:a16="http://schemas.microsoft.com/office/drawing/2014/main" id="{8A123DA4-3548-2A34-BCA8-1FB997E944AD}"/>
              </a:ext>
            </a:extLst>
          </p:cNvPr>
          <p:cNvSpPr txBox="1"/>
          <p:nvPr/>
        </p:nvSpPr>
        <p:spPr>
          <a:xfrm>
            <a:off x="7444396" y="2233399"/>
            <a:ext cx="540685" cy="369332"/>
          </a:xfrm>
          <a:prstGeom prst="rect">
            <a:avLst/>
          </a:prstGeom>
          <a:noFill/>
        </p:spPr>
        <p:txBody>
          <a:bodyPr wrap="square" rtlCol="0">
            <a:spAutoFit/>
          </a:bodyPr>
          <a:lstStyle/>
          <a:p>
            <a:pPr algn="ctr"/>
            <a:r>
              <a:rPr lang="en-GB" b="1" dirty="0">
                <a:solidFill>
                  <a:schemeClr val="bg1"/>
                </a:solidFill>
              </a:rPr>
              <a:t>[V</a:t>
            </a:r>
            <a:r>
              <a:rPr lang="en-GB" sz="1050" b="1" dirty="0">
                <a:solidFill>
                  <a:schemeClr val="bg1"/>
                </a:solidFill>
              </a:rPr>
              <a:t>1</a:t>
            </a:r>
            <a:r>
              <a:rPr lang="en-GB" b="1" dirty="0">
                <a:solidFill>
                  <a:schemeClr val="bg1"/>
                </a:solidFill>
              </a:rPr>
              <a:t>]</a:t>
            </a:r>
          </a:p>
        </p:txBody>
      </p:sp>
      <p:sp>
        <p:nvSpPr>
          <p:cNvPr id="29" name="TextBox 28">
            <a:extLst>
              <a:ext uri="{FF2B5EF4-FFF2-40B4-BE49-F238E27FC236}">
                <a16:creationId xmlns:a16="http://schemas.microsoft.com/office/drawing/2014/main" id="{8E71AEA5-3582-6442-91ED-CACC795B433F}"/>
              </a:ext>
            </a:extLst>
          </p:cNvPr>
          <p:cNvSpPr txBox="1"/>
          <p:nvPr/>
        </p:nvSpPr>
        <p:spPr>
          <a:xfrm>
            <a:off x="6271010" y="1715985"/>
            <a:ext cx="217457" cy="769441"/>
          </a:xfrm>
          <a:prstGeom prst="rect">
            <a:avLst/>
          </a:prstGeom>
          <a:noFill/>
        </p:spPr>
        <p:txBody>
          <a:bodyPr wrap="square" rtlCol="0">
            <a:spAutoFit/>
          </a:bodyPr>
          <a:lstStyle/>
          <a:p>
            <a:pPr algn="ctr"/>
            <a:r>
              <a:rPr lang="en-GB" sz="4400" dirty="0">
                <a:solidFill>
                  <a:schemeClr val="bg1"/>
                </a:solidFill>
              </a:rPr>
              <a:t>[</a:t>
            </a:r>
          </a:p>
        </p:txBody>
      </p:sp>
      <p:sp>
        <p:nvSpPr>
          <p:cNvPr id="32" name="TextBox 31">
            <a:extLst>
              <a:ext uri="{FF2B5EF4-FFF2-40B4-BE49-F238E27FC236}">
                <a16:creationId xmlns:a16="http://schemas.microsoft.com/office/drawing/2014/main" id="{326D2387-F06E-9F3C-D3C4-E1B146DF1E7C}"/>
              </a:ext>
            </a:extLst>
          </p:cNvPr>
          <p:cNvSpPr txBox="1"/>
          <p:nvPr/>
        </p:nvSpPr>
        <p:spPr>
          <a:xfrm>
            <a:off x="8558871" y="1715985"/>
            <a:ext cx="217457" cy="769441"/>
          </a:xfrm>
          <a:prstGeom prst="rect">
            <a:avLst/>
          </a:prstGeom>
          <a:noFill/>
        </p:spPr>
        <p:txBody>
          <a:bodyPr wrap="square" rtlCol="0">
            <a:spAutoFit/>
          </a:bodyPr>
          <a:lstStyle/>
          <a:p>
            <a:pPr algn="ctr"/>
            <a:r>
              <a:rPr lang="en-GB" sz="4400" dirty="0">
                <a:solidFill>
                  <a:schemeClr val="bg1"/>
                </a:solidFill>
              </a:rPr>
              <a:t>]</a:t>
            </a:r>
          </a:p>
        </p:txBody>
      </p:sp>
      <p:cxnSp>
        <p:nvCxnSpPr>
          <p:cNvPr id="34" name="Straight Connector 33">
            <a:extLst>
              <a:ext uri="{FF2B5EF4-FFF2-40B4-BE49-F238E27FC236}">
                <a16:creationId xmlns:a16="http://schemas.microsoft.com/office/drawing/2014/main" id="{DA9F63C6-1308-A7DC-91AC-60CF1C76D031}"/>
              </a:ext>
            </a:extLst>
          </p:cNvPr>
          <p:cNvCxnSpPr>
            <a:cxnSpLocks/>
          </p:cNvCxnSpPr>
          <p:nvPr/>
        </p:nvCxnSpPr>
        <p:spPr>
          <a:xfrm>
            <a:off x="6789979" y="2285020"/>
            <a:ext cx="4348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3D1F3C0-DA24-FDF1-3838-C87A64273C3F}"/>
              </a:ext>
            </a:extLst>
          </p:cNvPr>
          <p:cNvCxnSpPr>
            <a:cxnSpLocks/>
          </p:cNvCxnSpPr>
          <p:nvPr/>
        </p:nvCxnSpPr>
        <p:spPr>
          <a:xfrm>
            <a:off x="7422104" y="2289480"/>
            <a:ext cx="83113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1485750-C613-1760-6662-8FB19B626938}"/>
              </a:ext>
            </a:extLst>
          </p:cNvPr>
          <p:cNvSpPr txBox="1"/>
          <p:nvPr/>
        </p:nvSpPr>
        <p:spPr>
          <a:xfrm>
            <a:off x="4054399" y="3320812"/>
            <a:ext cx="217457" cy="523220"/>
          </a:xfrm>
          <a:prstGeom prst="rect">
            <a:avLst/>
          </a:prstGeom>
          <a:noFill/>
        </p:spPr>
        <p:txBody>
          <a:bodyPr wrap="square" rtlCol="0">
            <a:spAutoFit/>
          </a:bodyPr>
          <a:lstStyle/>
          <a:p>
            <a:pPr algn="ctr"/>
            <a:r>
              <a:rPr lang="en-GB" sz="2800" dirty="0">
                <a:solidFill>
                  <a:schemeClr val="bg1"/>
                </a:solidFill>
              </a:rPr>
              <a:t>(</a:t>
            </a:r>
          </a:p>
        </p:txBody>
      </p:sp>
      <p:sp>
        <p:nvSpPr>
          <p:cNvPr id="44" name="TextBox 43">
            <a:extLst>
              <a:ext uri="{FF2B5EF4-FFF2-40B4-BE49-F238E27FC236}">
                <a16:creationId xmlns:a16="http://schemas.microsoft.com/office/drawing/2014/main" id="{0944588C-AC9A-E163-3CF4-D880C505575A}"/>
              </a:ext>
            </a:extLst>
          </p:cNvPr>
          <p:cNvSpPr txBox="1"/>
          <p:nvPr/>
        </p:nvSpPr>
        <p:spPr>
          <a:xfrm>
            <a:off x="4899884" y="3322043"/>
            <a:ext cx="217457" cy="523220"/>
          </a:xfrm>
          <a:prstGeom prst="rect">
            <a:avLst/>
          </a:prstGeom>
          <a:noFill/>
        </p:spPr>
        <p:txBody>
          <a:bodyPr wrap="square" rtlCol="0">
            <a:spAutoFit/>
          </a:bodyPr>
          <a:lstStyle/>
          <a:p>
            <a:pPr algn="ctr"/>
            <a:r>
              <a:rPr lang="en-GB" sz="2800" dirty="0">
                <a:solidFill>
                  <a:schemeClr val="bg1"/>
                </a:solidFill>
              </a:rPr>
              <a:t>)</a:t>
            </a:r>
          </a:p>
        </p:txBody>
      </p:sp>
      <p:sp>
        <p:nvSpPr>
          <p:cNvPr id="51" name="Rectangle 50">
            <a:extLst>
              <a:ext uri="{FF2B5EF4-FFF2-40B4-BE49-F238E27FC236}">
                <a16:creationId xmlns:a16="http://schemas.microsoft.com/office/drawing/2014/main" id="{49A4AE02-8BC4-7E91-1AA3-BA661CC87197}"/>
              </a:ext>
            </a:extLst>
          </p:cNvPr>
          <p:cNvSpPr/>
          <p:nvPr/>
        </p:nvSpPr>
        <p:spPr>
          <a:xfrm>
            <a:off x="3996597" y="3621916"/>
            <a:ext cx="124524" cy="170419"/>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39C8F2C6-B7DA-8FF8-3C00-1E570CEC43BC}"/>
              </a:ext>
            </a:extLst>
          </p:cNvPr>
          <p:cNvSpPr txBox="1"/>
          <p:nvPr/>
        </p:nvSpPr>
        <p:spPr>
          <a:xfrm>
            <a:off x="1365275" y="1677581"/>
            <a:ext cx="217457" cy="769441"/>
          </a:xfrm>
          <a:prstGeom prst="rect">
            <a:avLst/>
          </a:prstGeom>
          <a:noFill/>
        </p:spPr>
        <p:txBody>
          <a:bodyPr wrap="square" rtlCol="0">
            <a:spAutoFit/>
          </a:bodyPr>
          <a:lstStyle/>
          <a:p>
            <a:pPr algn="ctr"/>
            <a:r>
              <a:rPr lang="en-GB" sz="4400" dirty="0">
                <a:solidFill>
                  <a:schemeClr val="bg1"/>
                </a:solidFill>
              </a:rPr>
              <a:t>[</a:t>
            </a:r>
          </a:p>
        </p:txBody>
      </p:sp>
      <p:sp>
        <p:nvSpPr>
          <p:cNvPr id="58" name="TextBox 57">
            <a:extLst>
              <a:ext uri="{FF2B5EF4-FFF2-40B4-BE49-F238E27FC236}">
                <a16:creationId xmlns:a16="http://schemas.microsoft.com/office/drawing/2014/main" id="{6EF03EA7-C4DB-A53D-0C25-A37A2D931EDC}"/>
              </a:ext>
            </a:extLst>
          </p:cNvPr>
          <p:cNvSpPr txBox="1"/>
          <p:nvPr/>
        </p:nvSpPr>
        <p:spPr>
          <a:xfrm>
            <a:off x="3907820" y="1681918"/>
            <a:ext cx="217457" cy="769441"/>
          </a:xfrm>
          <a:prstGeom prst="rect">
            <a:avLst/>
          </a:prstGeom>
          <a:noFill/>
        </p:spPr>
        <p:txBody>
          <a:bodyPr wrap="square" rtlCol="0">
            <a:spAutoFit/>
          </a:bodyPr>
          <a:lstStyle/>
          <a:p>
            <a:pPr algn="ctr"/>
            <a:r>
              <a:rPr lang="en-GB" sz="4400" dirty="0">
                <a:solidFill>
                  <a:schemeClr val="bg1"/>
                </a:solidFill>
              </a:rPr>
              <a:t>]</a:t>
            </a:r>
          </a:p>
        </p:txBody>
      </p:sp>
      <p:cxnSp>
        <p:nvCxnSpPr>
          <p:cNvPr id="71" name="Straight Connector 70">
            <a:extLst>
              <a:ext uri="{FF2B5EF4-FFF2-40B4-BE49-F238E27FC236}">
                <a16:creationId xmlns:a16="http://schemas.microsoft.com/office/drawing/2014/main" id="{D24C4144-6BD5-1497-F0D2-CC92030CD0E6}"/>
              </a:ext>
            </a:extLst>
          </p:cNvPr>
          <p:cNvCxnSpPr>
            <a:cxnSpLocks/>
          </p:cNvCxnSpPr>
          <p:nvPr/>
        </p:nvCxnSpPr>
        <p:spPr>
          <a:xfrm>
            <a:off x="1562148" y="2277581"/>
            <a:ext cx="45497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F4D96FA-1F7F-A266-16B0-F8D4EF8B4F2C}"/>
              </a:ext>
            </a:extLst>
          </p:cNvPr>
          <p:cNvCxnSpPr>
            <a:cxnSpLocks/>
          </p:cNvCxnSpPr>
          <p:nvPr/>
        </p:nvCxnSpPr>
        <p:spPr>
          <a:xfrm>
            <a:off x="2187360" y="2277581"/>
            <a:ext cx="123481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6F0B9D9-4F0B-8BE5-45A2-AB5032B2D473}"/>
              </a:ext>
            </a:extLst>
          </p:cNvPr>
          <p:cNvCxnSpPr>
            <a:cxnSpLocks/>
          </p:cNvCxnSpPr>
          <p:nvPr/>
        </p:nvCxnSpPr>
        <p:spPr>
          <a:xfrm>
            <a:off x="3487593" y="2282789"/>
            <a:ext cx="43861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146BEF24-EE7A-9ED9-AC71-2DEAE68EA11C}"/>
              </a:ext>
            </a:extLst>
          </p:cNvPr>
          <p:cNvSpPr txBox="1"/>
          <p:nvPr/>
        </p:nvSpPr>
        <p:spPr>
          <a:xfrm>
            <a:off x="6268689" y="2284517"/>
            <a:ext cx="281010" cy="369332"/>
          </a:xfrm>
          <a:prstGeom prst="rect">
            <a:avLst/>
          </a:prstGeom>
          <a:noFill/>
        </p:spPr>
        <p:txBody>
          <a:bodyPr wrap="square" rtlCol="0">
            <a:spAutoFit/>
          </a:bodyPr>
          <a:lstStyle/>
          <a:p>
            <a:pPr algn="ctr"/>
            <a:r>
              <a:rPr lang="en-GB" b="1" dirty="0">
                <a:solidFill>
                  <a:schemeClr val="bg1"/>
                </a:solidFill>
              </a:rPr>
              <a:t>O</a:t>
            </a:r>
          </a:p>
        </p:txBody>
      </p:sp>
      <p:sp>
        <p:nvSpPr>
          <p:cNvPr id="76" name="TextBox 75">
            <a:extLst>
              <a:ext uri="{FF2B5EF4-FFF2-40B4-BE49-F238E27FC236}">
                <a16:creationId xmlns:a16="http://schemas.microsoft.com/office/drawing/2014/main" id="{024478AD-DC28-6D50-8921-8F8E901E369D}"/>
              </a:ext>
            </a:extLst>
          </p:cNvPr>
          <p:cNvSpPr txBox="1"/>
          <p:nvPr/>
        </p:nvSpPr>
        <p:spPr>
          <a:xfrm>
            <a:off x="1556328" y="2223369"/>
            <a:ext cx="458703" cy="369332"/>
          </a:xfrm>
          <a:prstGeom prst="rect">
            <a:avLst/>
          </a:prstGeom>
          <a:noFill/>
        </p:spPr>
        <p:txBody>
          <a:bodyPr wrap="square" rtlCol="0">
            <a:spAutoFit/>
          </a:bodyPr>
          <a:lstStyle/>
          <a:p>
            <a:pPr algn="ctr"/>
            <a:r>
              <a:rPr lang="en-GB" b="1" dirty="0">
                <a:solidFill>
                  <a:schemeClr val="bg1"/>
                </a:solidFill>
              </a:rPr>
              <a:t>[S]</a:t>
            </a:r>
          </a:p>
        </p:txBody>
      </p:sp>
      <p:sp>
        <p:nvSpPr>
          <p:cNvPr id="77" name="TextBox 76">
            <a:extLst>
              <a:ext uri="{FF2B5EF4-FFF2-40B4-BE49-F238E27FC236}">
                <a16:creationId xmlns:a16="http://schemas.microsoft.com/office/drawing/2014/main" id="{69B66A77-2477-963E-A4A3-68B1D33BE0A2}"/>
              </a:ext>
            </a:extLst>
          </p:cNvPr>
          <p:cNvSpPr txBox="1"/>
          <p:nvPr/>
        </p:nvSpPr>
        <p:spPr>
          <a:xfrm>
            <a:off x="2283066" y="2222351"/>
            <a:ext cx="540685" cy="369332"/>
          </a:xfrm>
          <a:prstGeom prst="rect">
            <a:avLst/>
          </a:prstGeom>
          <a:noFill/>
        </p:spPr>
        <p:txBody>
          <a:bodyPr wrap="square" rtlCol="0">
            <a:spAutoFit/>
          </a:bodyPr>
          <a:lstStyle/>
          <a:p>
            <a:pPr algn="ctr"/>
            <a:r>
              <a:rPr lang="en-GB" b="1" dirty="0">
                <a:solidFill>
                  <a:schemeClr val="bg1"/>
                </a:solidFill>
              </a:rPr>
              <a:t>[V</a:t>
            </a:r>
            <a:r>
              <a:rPr lang="en-GB" sz="1050" b="1" dirty="0">
                <a:solidFill>
                  <a:schemeClr val="bg1"/>
                </a:solidFill>
              </a:rPr>
              <a:t>1</a:t>
            </a:r>
            <a:r>
              <a:rPr lang="en-GB" b="1" dirty="0">
                <a:solidFill>
                  <a:schemeClr val="bg1"/>
                </a:solidFill>
              </a:rPr>
              <a:t>]</a:t>
            </a:r>
          </a:p>
        </p:txBody>
      </p:sp>
      <p:sp>
        <p:nvSpPr>
          <p:cNvPr id="78" name="TextBox 77">
            <a:extLst>
              <a:ext uri="{FF2B5EF4-FFF2-40B4-BE49-F238E27FC236}">
                <a16:creationId xmlns:a16="http://schemas.microsoft.com/office/drawing/2014/main" id="{2965EB8A-A2A8-FC8A-4A5C-2C6B038CE1B2}"/>
              </a:ext>
            </a:extLst>
          </p:cNvPr>
          <p:cNvSpPr txBox="1"/>
          <p:nvPr/>
        </p:nvSpPr>
        <p:spPr>
          <a:xfrm>
            <a:off x="2848190" y="3346057"/>
            <a:ext cx="217457" cy="523220"/>
          </a:xfrm>
          <a:prstGeom prst="rect">
            <a:avLst/>
          </a:prstGeom>
          <a:noFill/>
        </p:spPr>
        <p:txBody>
          <a:bodyPr wrap="square" rtlCol="0">
            <a:spAutoFit/>
          </a:bodyPr>
          <a:lstStyle/>
          <a:p>
            <a:pPr algn="ctr"/>
            <a:r>
              <a:rPr lang="en-GB" sz="2800" dirty="0">
                <a:solidFill>
                  <a:schemeClr val="bg1"/>
                </a:solidFill>
              </a:rPr>
              <a:t>(</a:t>
            </a:r>
          </a:p>
        </p:txBody>
      </p:sp>
      <p:sp>
        <p:nvSpPr>
          <p:cNvPr id="79" name="TextBox 78">
            <a:extLst>
              <a:ext uri="{FF2B5EF4-FFF2-40B4-BE49-F238E27FC236}">
                <a16:creationId xmlns:a16="http://schemas.microsoft.com/office/drawing/2014/main" id="{7B0F98C9-FE26-26A0-6185-BEAF61B936C0}"/>
              </a:ext>
            </a:extLst>
          </p:cNvPr>
          <p:cNvSpPr txBox="1"/>
          <p:nvPr/>
        </p:nvSpPr>
        <p:spPr>
          <a:xfrm>
            <a:off x="3852382" y="3344695"/>
            <a:ext cx="217457" cy="523220"/>
          </a:xfrm>
          <a:prstGeom prst="rect">
            <a:avLst/>
          </a:prstGeom>
          <a:noFill/>
        </p:spPr>
        <p:txBody>
          <a:bodyPr wrap="square" rtlCol="0">
            <a:spAutoFit/>
          </a:bodyPr>
          <a:lstStyle/>
          <a:p>
            <a:pPr algn="ctr"/>
            <a:r>
              <a:rPr lang="en-GB" sz="2800" dirty="0">
                <a:solidFill>
                  <a:schemeClr val="bg1"/>
                </a:solidFill>
              </a:rPr>
              <a:t>)</a:t>
            </a:r>
          </a:p>
        </p:txBody>
      </p:sp>
      <p:sp>
        <p:nvSpPr>
          <p:cNvPr id="80" name="TextBox 79">
            <a:extLst>
              <a:ext uri="{FF2B5EF4-FFF2-40B4-BE49-F238E27FC236}">
                <a16:creationId xmlns:a16="http://schemas.microsoft.com/office/drawing/2014/main" id="{EE8D5818-14AA-8EC5-FC01-1A2818D3BBCA}"/>
              </a:ext>
            </a:extLst>
          </p:cNvPr>
          <p:cNvSpPr txBox="1"/>
          <p:nvPr/>
        </p:nvSpPr>
        <p:spPr>
          <a:xfrm>
            <a:off x="2852956" y="1839095"/>
            <a:ext cx="217457" cy="523220"/>
          </a:xfrm>
          <a:prstGeom prst="rect">
            <a:avLst/>
          </a:prstGeom>
          <a:noFill/>
        </p:spPr>
        <p:txBody>
          <a:bodyPr wrap="square" rtlCol="0">
            <a:spAutoFit/>
          </a:bodyPr>
          <a:lstStyle/>
          <a:p>
            <a:pPr algn="ctr"/>
            <a:r>
              <a:rPr lang="en-GB" sz="2800" dirty="0">
                <a:solidFill>
                  <a:schemeClr val="bg1"/>
                </a:solidFill>
              </a:rPr>
              <a:t>(</a:t>
            </a:r>
          </a:p>
        </p:txBody>
      </p:sp>
      <p:sp>
        <p:nvSpPr>
          <p:cNvPr id="81" name="TextBox 80">
            <a:extLst>
              <a:ext uri="{FF2B5EF4-FFF2-40B4-BE49-F238E27FC236}">
                <a16:creationId xmlns:a16="http://schemas.microsoft.com/office/drawing/2014/main" id="{597D8F59-197D-B496-8AE9-A86D82E907D0}"/>
              </a:ext>
            </a:extLst>
          </p:cNvPr>
          <p:cNvSpPr txBox="1"/>
          <p:nvPr/>
        </p:nvSpPr>
        <p:spPr>
          <a:xfrm>
            <a:off x="3847331" y="1825625"/>
            <a:ext cx="217457" cy="523220"/>
          </a:xfrm>
          <a:prstGeom prst="rect">
            <a:avLst/>
          </a:prstGeom>
          <a:noFill/>
        </p:spPr>
        <p:txBody>
          <a:bodyPr wrap="square" rtlCol="0">
            <a:spAutoFit/>
          </a:bodyPr>
          <a:lstStyle/>
          <a:p>
            <a:pPr algn="ctr"/>
            <a:r>
              <a:rPr lang="en-GB" sz="2800" dirty="0">
                <a:solidFill>
                  <a:schemeClr val="bg1"/>
                </a:solidFill>
              </a:rPr>
              <a:t>)</a:t>
            </a:r>
          </a:p>
        </p:txBody>
      </p:sp>
      <p:cxnSp>
        <p:nvCxnSpPr>
          <p:cNvPr id="82" name="Straight Arrow Connector 81">
            <a:extLst>
              <a:ext uri="{FF2B5EF4-FFF2-40B4-BE49-F238E27FC236}">
                <a16:creationId xmlns:a16="http://schemas.microsoft.com/office/drawing/2014/main" id="{FFFD3423-593E-8447-E827-1B1240BFC39D}"/>
              </a:ext>
            </a:extLst>
          </p:cNvPr>
          <p:cNvCxnSpPr>
            <a:cxnSpLocks/>
          </p:cNvCxnSpPr>
          <p:nvPr/>
        </p:nvCxnSpPr>
        <p:spPr>
          <a:xfrm>
            <a:off x="5249578" y="1702278"/>
            <a:ext cx="0" cy="3104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A8473B2A-B599-490B-E33F-C2AB5FEE9465}"/>
              </a:ext>
            </a:extLst>
          </p:cNvPr>
          <p:cNvSpPr txBox="1"/>
          <p:nvPr/>
        </p:nvSpPr>
        <p:spPr>
          <a:xfrm>
            <a:off x="4432241" y="1399288"/>
            <a:ext cx="1641353" cy="307777"/>
          </a:xfrm>
          <a:prstGeom prst="rect">
            <a:avLst/>
          </a:prstGeom>
          <a:solidFill>
            <a:schemeClr val="tx1"/>
          </a:solidFill>
          <a:ln>
            <a:noFill/>
          </a:ln>
        </p:spPr>
        <p:txBody>
          <a:bodyPr wrap="square" rtlCol="0">
            <a:spAutoFit/>
          </a:bodyPr>
          <a:lstStyle/>
          <a:p>
            <a:r>
              <a:rPr lang="ja-JP" altLang="en-US" sz="1400" b="1" dirty="0">
                <a:solidFill>
                  <a:schemeClr val="bg1"/>
                </a:solidFill>
              </a:rPr>
              <a:t>句動詞として機能</a:t>
            </a:r>
            <a:endParaRPr lang="en-GB" sz="1400" b="1" dirty="0">
              <a:solidFill>
                <a:schemeClr val="bg1"/>
              </a:solidFill>
            </a:endParaRPr>
          </a:p>
        </p:txBody>
      </p:sp>
    </p:spTree>
    <p:extLst>
      <p:ext uri="{BB962C8B-B14F-4D97-AF65-F5344CB8AC3E}">
        <p14:creationId xmlns:p14="http://schemas.microsoft.com/office/powerpoint/2010/main" val="2513049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514FBC14-5CD8-2648-052F-5D887F91F591}"/>
            </a:ext>
          </a:extLst>
        </p:cNvPr>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FE3A9EA-727E-1539-1D02-7E11844CA95B}"/>
              </a:ext>
            </a:extLst>
          </p:cNvPr>
          <p:cNvSpPr>
            <a:spLocks noGrp="1"/>
          </p:cNvSpPr>
          <p:nvPr>
            <p:ph idx="1"/>
          </p:nvPr>
        </p:nvSpPr>
        <p:spPr>
          <a:xfrm>
            <a:off x="838200" y="1825625"/>
            <a:ext cx="10515600" cy="4351338"/>
          </a:xfrm>
        </p:spPr>
        <p:txBody>
          <a:bodyPr>
            <a:normAutofit/>
          </a:bodyPr>
          <a:lstStyle/>
          <a:p>
            <a:pPr marL="0" lvl="1" indent="0">
              <a:buNone/>
            </a:pPr>
            <a:r>
              <a:rPr lang="en-GB" altLang="ja-JP" sz="2800" b="1" dirty="0"/>
              <a:t>Object#yield_self vs. Object#then</a:t>
            </a:r>
          </a:p>
          <a:p>
            <a:pPr marL="268288" lvl="1" indent="-268288"/>
            <a:r>
              <a:rPr lang="en-GB" altLang="ja-JP" b="1" dirty="0"/>
              <a:t>Object#yield_self</a:t>
            </a:r>
          </a:p>
          <a:p>
            <a:pPr marL="725488" lvl="2" indent="-268288"/>
            <a:r>
              <a:rPr lang="ja-JP" altLang="en-US" dirty="0"/>
              <a:t>実際にレシーバー自身を後続のブロック引数として渡す</a:t>
            </a:r>
            <a:endParaRPr lang="en-GB" altLang="ja-JP" dirty="0"/>
          </a:p>
          <a:p>
            <a:pPr marL="725488" lvl="2" indent="-268288"/>
            <a:r>
              <a:rPr lang="ja-JP" altLang="en-US" dirty="0"/>
              <a:t>ブロック内でそれがどのように扱われるかは命名からは分からない</a:t>
            </a:r>
            <a:endParaRPr lang="en-GB" altLang="ja-JP" dirty="0"/>
          </a:p>
          <a:p>
            <a:pPr marL="725488" lvl="2" indent="-268288"/>
            <a:r>
              <a:rPr lang="ja-JP" altLang="en-US" dirty="0"/>
              <a:t>ブロックは従属名詞節として機能しその中で</a:t>
            </a:r>
            <a:r>
              <a:rPr lang="en-GB" altLang="ja-JP" dirty="0"/>
              <a:t> SV</a:t>
            </a:r>
            <a:r>
              <a:rPr lang="en-GB" altLang="ja-JP" sz="1400" dirty="0"/>
              <a:t>1</a:t>
            </a:r>
            <a:r>
              <a:rPr lang="en-GB" altLang="ja-JP" dirty="0"/>
              <a:t> </a:t>
            </a:r>
            <a:r>
              <a:rPr lang="ja-JP" altLang="en-US" dirty="0"/>
              <a:t>構造を持つため、入れ子構造を持つ複文が高い認知負荷をもたらす</a:t>
            </a:r>
            <a:endParaRPr lang="en-GB" altLang="ja-JP" dirty="0"/>
          </a:p>
          <a:p>
            <a:pPr marL="268288" lvl="1" indent="-268288"/>
            <a:r>
              <a:rPr lang="en-GB" altLang="ja-JP" b="1" dirty="0"/>
              <a:t>Object#then</a:t>
            </a:r>
          </a:p>
          <a:p>
            <a:pPr marL="725488" lvl="2" indent="-268288"/>
            <a:r>
              <a:rPr lang="ja-JP" altLang="en-US" dirty="0"/>
              <a:t>文字通り</a:t>
            </a:r>
            <a:r>
              <a:rPr lang="en-GB" altLang="ja-JP" dirty="0"/>
              <a:t> </a:t>
            </a:r>
            <a:r>
              <a:rPr lang="en-GB" altLang="ja-JP" i="1" dirty="0"/>
              <a:t>and then </a:t>
            </a:r>
            <a:r>
              <a:rPr lang="ja-JP" altLang="en-US" dirty="0"/>
              <a:t>として機能する</a:t>
            </a:r>
            <a:r>
              <a:rPr lang="en-GB" altLang="ja-JP" dirty="0"/>
              <a:t>(</a:t>
            </a:r>
            <a:r>
              <a:rPr lang="ja-JP" altLang="en-US" dirty="0"/>
              <a:t>等位接続詞</a:t>
            </a:r>
            <a:r>
              <a:rPr lang="en-GB" altLang="ja-JP" dirty="0"/>
              <a:t> + </a:t>
            </a:r>
            <a:r>
              <a:rPr lang="ja-JP" altLang="en-US" dirty="0"/>
              <a:t>副詞</a:t>
            </a:r>
            <a:r>
              <a:rPr lang="en-GB" altLang="ja-JP" dirty="0"/>
              <a:t>)</a:t>
            </a:r>
          </a:p>
          <a:p>
            <a:pPr marL="725488" lvl="2" indent="-268288"/>
            <a:r>
              <a:rPr lang="en-US" altLang="ja-JP" dirty="0"/>
              <a:t>1</a:t>
            </a:r>
            <a:r>
              <a:rPr lang="ja-JP" altLang="en-US" dirty="0"/>
              <a:t>つ目の主節</a:t>
            </a:r>
            <a:r>
              <a:rPr lang="ja-JP" altLang="en-US"/>
              <a:t>全体を参照する人称</a:t>
            </a:r>
            <a:r>
              <a:rPr lang="ja-JP" altLang="en-US" dirty="0"/>
              <a:t>代名詞</a:t>
            </a:r>
            <a:r>
              <a:rPr lang="en-GB" altLang="ja-JP" dirty="0"/>
              <a:t> </a:t>
            </a:r>
            <a:r>
              <a:rPr lang="en-GB" altLang="ja-JP" i="1" dirty="0"/>
              <a:t>it</a:t>
            </a:r>
            <a:r>
              <a:rPr lang="en-GB" altLang="ja-JP" dirty="0"/>
              <a:t>  </a:t>
            </a:r>
            <a:r>
              <a:rPr lang="ja-JP" altLang="en-US" dirty="0"/>
              <a:t>に対する処理に焦点を当てている</a:t>
            </a:r>
            <a:endParaRPr lang="en-GB" altLang="ja-JP" dirty="0"/>
          </a:p>
          <a:p>
            <a:pPr marL="725488" lvl="2" indent="-268288"/>
            <a:r>
              <a:rPr lang="ja-JP" altLang="en-US" dirty="0"/>
              <a:t>そのためブロック内で</a:t>
            </a:r>
            <a:r>
              <a:rPr lang="en-GB" altLang="ja-JP" dirty="0"/>
              <a:t> it </a:t>
            </a:r>
            <a:r>
              <a:rPr lang="ja-JP" altLang="en-US" dirty="0"/>
              <a:t>に対する処理が行われることが命名から分かる</a:t>
            </a:r>
            <a:endParaRPr lang="en-GB" altLang="ja-JP" dirty="0"/>
          </a:p>
          <a:p>
            <a:pPr marL="725488" lvl="2" indent="-268288"/>
            <a:r>
              <a:rPr lang="ja-JP" altLang="en-US" dirty="0"/>
              <a:t>ブロックはもう</a:t>
            </a:r>
            <a:r>
              <a:rPr lang="en-US" altLang="ja-JP" dirty="0"/>
              <a:t>1</a:t>
            </a:r>
            <a:r>
              <a:rPr lang="ja-JP" altLang="en-US" dirty="0"/>
              <a:t>つの並列な主節として機能するので、入れ子構造が存在しない単文がより良い可読性がもたらす</a:t>
            </a:r>
            <a:endParaRPr lang="en-GB" altLang="ja-JP" dirty="0"/>
          </a:p>
        </p:txBody>
      </p:sp>
      <p:sp>
        <p:nvSpPr>
          <p:cNvPr id="3" name="Slide Number Placeholder 2">
            <a:extLst>
              <a:ext uri="{FF2B5EF4-FFF2-40B4-BE49-F238E27FC236}">
                <a16:creationId xmlns:a16="http://schemas.microsoft.com/office/drawing/2014/main" id="{11D25143-D784-EB5B-74A0-E2463978294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タイトル 1">
            <a:extLst>
              <a:ext uri="{FF2B5EF4-FFF2-40B4-BE49-F238E27FC236}">
                <a16:creationId xmlns:a16="http://schemas.microsoft.com/office/drawing/2014/main" id="{2951B637-D742-FDEC-C015-F1A8AC415971}"/>
              </a:ext>
            </a:extLst>
          </p:cNvPr>
          <p:cNvSpPr>
            <a:spLocks noGrp="1"/>
          </p:cNvSpPr>
          <p:nvPr>
            <p:ph type="title"/>
          </p:nvPr>
        </p:nvSpPr>
        <p:spPr>
          <a:xfrm>
            <a:off x="838200" y="365125"/>
            <a:ext cx="10515600" cy="1325563"/>
          </a:xfrm>
        </p:spPr>
        <p:txBody>
          <a:bodyPr/>
          <a:lstStyle/>
          <a:p>
            <a:pPr algn="ctr"/>
            <a:r>
              <a:rPr lang="en-US" altLang="ja-JP" b="1" dirty="0"/>
              <a:t>3. Matz </a:t>
            </a:r>
            <a:r>
              <a:rPr lang="ja-JP" altLang="en-US" b="1" dirty="0"/>
              <a:t>さんとの最も思い出深い議論 </a:t>
            </a:r>
            <a:endParaRPr lang="en-GB" b="1" dirty="0"/>
          </a:p>
        </p:txBody>
      </p:sp>
    </p:spTree>
    <p:extLst>
      <p:ext uri="{BB962C8B-B14F-4D97-AF65-F5344CB8AC3E}">
        <p14:creationId xmlns:p14="http://schemas.microsoft.com/office/powerpoint/2010/main" val="1186507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514FBC14-5CD8-2648-052F-5D887F91F5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224D19-BAB5-16B0-5543-DC61A2EBCA9B}"/>
              </a:ext>
            </a:extLst>
          </p:cNvPr>
          <p:cNvSpPr>
            <a:spLocks noGrp="1"/>
          </p:cNvSpPr>
          <p:nvPr>
            <p:ph type="title"/>
          </p:nvPr>
        </p:nvSpPr>
        <p:spPr/>
        <p:txBody>
          <a:bodyPr/>
          <a:lstStyle/>
          <a:p>
            <a:pPr algn="ctr"/>
            <a:r>
              <a:rPr lang="en-US" altLang="ja-JP" b="1" dirty="0"/>
              <a:t>3. Matz </a:t>
            </a:r>
            <a:r>
              <a:rPr lang="ja-JP" altLang="en-US" b="1" dirty="0"/>
              <a:t>さんとの最も思い出深い議論 </a:t>
            </a:r>
            <a:endParaRPr lang="en-GB" b="1" dirty="0"/>
          </a:p>
        </p:txBody>
      </p:sp>
      <p:sp>
        <p:nvSpPr>
          <p:cNvPr id="7" name="コンテンツ プレースホルダー 2">
            <a:extLst>
              <a:ext uri="{FF2B5EF4-FFF2-40B4-BE49-F238E27FC236}">
                <a16:creationId xmlns:a16="http://schemas.microsoft.com/office/drawing/2014/main" id="{1FE3A9EA-727E-1539-1D02-7E11844CA95B}"/>
              </a:ext>
            </a:extLst>
          </p:cNvPr>
          <p:cNvSpPr>
            <a:spLocks noGrp="1"/>
          </p:cNvSpPr>
          <p:nvPr>
            <p:ph idx="1"/>
          </p:nvPr>
        </p:nvSpPr>
        <p:spPr>
          <a:xfrm>
            <a:off x="838200" y="1825625"/>
            <a:ext cx="10515600" cy="4351338"/>
          </a:xfrm>
        </p:spPr>
        <p:txBody>
          <a:bodyPr>
            <a:normAutofit/>
          </a:bodyPr>
          <a:lstStyle/>
          <a:p>
            <a:pPr marL="0" lvl="1" indent="0">
              <a:buNone/>
            </a:pPr>
            <a:r>
              <a:rPr lang="en-GB" altLang="ja-JP" dirty="0"/>
              <a:t>Matz </a:t>
            </a:r>
            <a:r>
              <a:rPr lang="ja-JP" altLang="en-US" dirty="0"/>
              <a:t>さんとの議論は</a:t>
            </a:r>
            <a:r>
              <a:rPr lang="en-US" altLang="ja-JP" dirty="0"/>
              <a:t>10</a:t>
            </a:r>
            <a:r>
              <a:rPr lang="ja-JP" altLang="en-US" dirty="0"/>
              <a:t>分と少し程だったが、実りある時間を持てて大変光栄であった。</a:t>
            </a:r>
            <a:endParaRPr lang="en-GB" altLang="ja-JP" dirty="0"/>
          </a:p>
          <a:p>
            <a:pPr marL="0" lvl="1" indent="0">
              <a:buNone/>
            </a:pPr>
            <a:r>
              <a:rPr lang="en-GB" altLang="ja-JP" dirty="0"/>
              <a:t>Matz </a:t>
            </a:r>
            <a:r>
              <a:rPr lang="ja-JP" altLang="en-US" dirty="0"/>
              <a:t>さんには、大の</a:t>
            </a:r>
            <a:r>
              <a:rPr lang="en-GB" altLang="ja-JP" dirty="0"/>
              <a:t> Ruby </a:t>
            </a:r>
            <a:r>
              <a:rPr lang="ja-JP" altLang="en-US" dirty="0"/>
              <a:t>好き・言語学オタクとして感謝に堪えません。</a:t>
            </a:r>
            <a:endParaRPr lang="en-GB" altLang="ja-JP" dirty="0"/>
          </a:p>
        </p:txBody>
      </p:sp>
      <p:pic>
        <p:nvPicPr>
          <p:cNvPr id="5" name="Picture 4">
            <a:extLst>
              <a:ext uri="{FF2B5EF4-FFF2-40B4-BE49-F238E27FC236}">
                <a16:creationId xmlns:a16="http://schemas.microsoft.com/office/drawing/2014/main" id="{BEBA176A-F195-705A-9EDA-C697B0140C41}"/>
              </a:ext>
            </a:extLst>
          </p:cNvPr>
          <p:cNvPicPr>
            <a:picLocks noChangeAspect="1"/>
          </p:cNvPicPr>
          <p:nvPr/>
        </p:nvPicPr>
        <p:blipFill>
          <a:blip r:embed="rId3">
            <a:extLst>
              <a:ext uri="{28A0092B-C50C-407E-A947-70E740481C1C}">
                <a14:useLocalDpi xmlns:a14="http://schemas.microsoft.com/office/drawing/2010/main" val="0"/>
              </a:ext>
            </a:extLst>
          </a:blip>
          <a:srcRect t="20181"/>
          <a:stretch/>
        </p:blipFill>
        <p:spPr>
          <a:xfrm>
            <a:off x="3392944" y="2943921"/>
            <a:ext cx="5400656" cy="3233042"/>
          </a:xfrm>
          <a:prstGeom prst="rect">
            <a:avLst/>
          </a:prstGeom>
        </p:spPr>
      </p:pic>
      <p:sp>
        <p:nvSpPr>
          <p:cNvPr id="3" name="Slide Number Placeholder 2">
            <a:extLst>
              <a:ext uri="{FF2B5EF4-FFF2-40B4-BE49-F238E27FC236}">
                <a16:creationId xmlns:a16="http://schemas.microsoft.com/office/drawing/2014/main" id="{8FC50E23-F254-51DE-F466-7C38854048AB}"/>
              </a:ext>
            </a:extLst>
          </p:cNvPr>
          <p:cNvSpPr>
            <a:spLocks noGrp="1"/>
          </p:cNvSpPr>
          <p:nvPr>
            <p:ph type="sldNum" sz="quarter" idx="12"/>
          </p:nvPr>
        </p:nvSpPr>
        <p:spPr/>
        <p:txBody>
          <a:bodyPr/>
          <a:lstStyle/>
          <a:p>
            <a:fld id="{CC8B731A-DCF7-4273-BA1A-21517ACBB5E5}" type="slidenum">
              <a:rPr lang="en-GB" smtClean="0"/>
              <a:t>31</a:t>
            </a:fld>
            <a:endParaRPr lang="en-GB"/>
          </a:p>
        </p:txBody>
      </p:sp>
    </p:spTree>
    <p:extLst>
      <p:ext uri="{BB962C8B-B14F-4D97-AF65-F5344CB8AC3E}">
        <p14:creationId xmlns:p14="http://schemas.microsoft.com/office/powerpoint/2010/main" val="32163697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t>4</a:t>
            </a:r>
            <a:r>
              <a:rPr lang="en-US" altLang="ja-JP" b="1" dirty="0"/>
              <a:t>.</a:t>
            </a:r>
            <a:r>
              <a:rPr lang="en-GB" altLang="ja-JP" b="1" dirty="0"/>
              <a:t> </a:t>
            </a:r>
            <a:r>
              <a:rPr lang="en-GB" altLang="ja-JP" b="1" dirty="0">
                <a:sym typeface="Arial"/>
              </a:rPr>
              <a:t>As Is vs. To Be</a:t>
            </a:r>
            <a:endParaRPr lang="en-GB" b="1" dirty="0">
              <a:latin typeface="+mn-lt"/>
            </a:endParaRPr>
          </a:p>
        </p:txBody>
      </p:sp>
      <p:sp>
        <p:nvSpPr>
          <p:cNvPr id="3" name="Slide Number Placeholder 2">
            <a:extLst>
              <a:ext uri="{FF2B5EF4-FFF2-40B4-BE49-F238E27FC236}">
                <a16:creationId xmlns:a16="http://schemas.microsoft.com/office/drawing/2014/main" id="{6C3D7CEF-D10D-BFD3-3B15-9F76F78F363F}"/>
              </a:ext>
            </a:extLst>
          </p:cNvPr>
          <p:cNvSpPr>
            <a:spLocks noGrp="1"/>
          </p:cNvSpPr>
          <p:nvPr>
            <p:ph type="sldNum" sz="quarter" idx="12"/>
          </p:nvPr>
        </p:nvSpPr>
        <p:spPr/>
        <p:txBody>
          <a:bodyPr/>
          <a:lstStyle/>
          <a:p>
            <a:fld id="{CC8B731A-DCF7-4273-BA1A-21517ACBB5E5}" type="slidenum">
              <a:rPr lang="en-GB" smtClean="0"/>
              <a:t>32</a:t>
            </a:fld>
            <a:endParaRPr lang="en-GB"/>
          </a:p>
        </p:txBody>
      </p:sp>
    </p:spTree>
    <p:extLst>
      <p:ext uri="{BB962C8B-B14F-4D97-AF65-F5344CB8AC3E}">
        <p14:creationId xmlns:p14="http://schemas.microsoft.com/office/powerpoint/2010/main" val="1076303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b="1" dirty="0"/>
              <a:t>4</a:t>
            </a:r>
            <a:r>
              <a:rPr lang="en-US" altLang="ja-JP" b="1" dirty="0"/>
              <a:t>.</a:t>
            </a:r>
            <a:r>
              <a:rPr lang="en-GB" altLang="ja-JP" b="1" dirty="0"/>
              <a:t> </a:t>
            </a:r>
            <a:r>
              <a:rPr lang="en-GB" altLang="ja-JP" b="1" dirty="0">
                <a:sym typeface="Arial"/>
              </a:rPr>
              <a:t>As Is vs. To Be</a:t>
            </a:r>
            <a:endParaRPr lang="en-GB" b="1" dirty="0"/>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0" lvl="1" indent="0">
              <a:buNone/>
            </a:pPr>
            <a:r>
              <a:rPr lang="en-US" altLang="ja-JP" sz="2800" b="1" dirty="0"/>
              <a:t>AsIs</a:t>
            </a:r>
            <a:r>
              <a:rPr lang="en-GB" altLang="ja-JP" sz="2800" b="1" dirty="0"/>
              <a:t>: </a:t>
            </a:r>
            <a:r>
              <a:rPr lang="ja-JP" altLang="en-US" sz="2800" b="1" dirty="0"/>
              <a:t>現状</a:t>
            </a:r>
            <a:endParaRPr lang="en-US" altLang="ja-JP" sz="2800" b="1" dirty="0"/>
          </a:p>
          <a:p>
            <a:pPr marL="268288" lvl="1" indent="-268288"/>
            <a:r>
              <a:rPr lang="en-US" altLang="ja-JP" dirty="0"/>
              <a:t>Ruby </a:t>
            </a:r>
            <a:r>
              <a:rPr lang="ja-JP" altLang="en-US" dirty="0"/>
              <a:t>でウェブアプリケーションやスクリプトを実装するだけの</a:t>
            </a:r>
            <a:r>
              <a:rPr lang="en-GB" altLang="ja-JP" dirty="0"/>
              <a:t> Rubyist</a:t>
            </a:r>
            <a:endParaRPr lang="en-US" altLang="ja-JP" dirty="0"/>
          </a:p>
          <a:p>
            <a:pPr marL="0" lvl="1" indent="0">
              <a:buNone/>
            </a:pPr>
            <a:endParaRPr lang="en-US" altLang="ja-JP" dirty="0"/>
          </a:p>
          <a:p>
            <a:pPr marL="0" lvl="1" indent="0">
              <a:buNone/>
            </a:pPr>
            <a:r>
              <a:rPr lang="en-US" altLang="ja-JP" sz="2800" b="1" dirty="0"/>
              <a:t>ToBe</a:t>
            </a:r>
            <a:r>
              <a:rPr lang="en-GB" altLang="ja-JP" sz="2800" b="1" dirty="0"/>
              <a:t>: </a:t>
            </a:r>
            <a:r>
              <a:rPr lang="ja-JP" altLang="en-US" sz="2800" b="1" dirty="0"/>
              <a:t>目標</a:t>
            </a:r>
            <a:endParaRPr lang="en-US" altLang="ja-JP" sz="2800" b="1" dirty="0"/>
          </a:p>
          <a:p>
            <a:pPr marL="268288" lvl="1" indent="-268288"/>
            <a:r>
              <a:rPr lang="en-US" altLang="ja-JP" dirty="0"/>
              <a:t>Ruby </a:t>
            </a:r>
            <a:r>
              <a:rPr lang="ja-JP" altLang="en-US" dirty="0"/>
              <a:t>の</a:t>
            </a:r>
            <a:r>
              <a:rPr lang="ja-JP" altLang="en-US" b="1" dirty="0"/>
              <a:t>低レイヤーエコシステムやライフサイクルを理解</a:t>
            </a:r>
            <a:r>
              <a:rPr lang="ja-JP" altLang="en-US" dirty="0"/>
              <a:t>し、ウェブアプリケーションやスクリプトのパフォーマンスを最適化出来る</a:t>
            </a:r>
            <a:r>
              <a:rPr lang="en-GB" altLang="ja-JP" dirty="0"/>
              <a:t> Rubyist</a:t>
            </a:r>
            <a:endParaRPr lang="en-US" altLang="ja-JP" dirty="0"/>
          </a:p>
          <a:p>
            <a:pPr marL="268288" lvl="1" indent="-268288"/>
            <a:r>
              <a:rPr lang="en-US" altLang="ja-JP" dirty="0"/>
              <a:t>Ruby </a:t>
            </a:r>
            <a:r>
              <a:rPr lang="ja-JP" altLang="en-US" dirty="0"/>
              <a:t>の</a:t>
            </a:r>
            <a:r>
              <a:rPr lang="ja-JP" altLang="en-US" b="1" dirty="0"/>
              <a:t>言語処理系がどのように動くのかを理解し改善のためのコミット</a:t>
            </a:r>
            <a:r>
              <a:rPr lang="ja-JP" altLang="en-US" dirty="0"/>
              <a:t>が出来る</a:t>
            </a:r>
            <a:r>
              <a:rPr lang="en-GB" altLang="ja-JP" dirty="0"/>
              <a:t> Rubyist</a:t>
            </a:r>
            <a:endParaRPr lang="en-US" altLang="ja-JP" b="1" dirty="0"/>
          </a:p>
          <a:p>
            <a:pPr marL="268288" lvl="1" indent="-268288"/>
            <a:r>
              <a:rPr lang="en-US" altLang="ja-JP" dirty="0"/>
              <a:t>Ruby </a:t>
            </a:r>
            <a:r>
              <a:rPr lang="ja-JP" altLang="en-US" dirty="0"/>
              <a:t>の</a:t>
            </a:r>
            <a:r>
              <a:rPr lang="ja-JP" altLang="en-US" b="1" dirty="0"/>
              <a:t>言語学・認知学観点での設計を豊かに、そして最適化</a:t>
            </a:r>
            <a:r>
              <a:rPr lang="ja-JP" altLang="en-US" dirty="0"/>
              <a:t>出来る</a:t>
            </a:r>
            <a:r>
              <a:rPr lang="en-GB" altLang="ja-JP" dirty="0"/>
              <a:t> Rubyist</a:t>
            </a:r>
            <a:endParaRPr lang="en-US" altLang="ja-JP" b="1" dirty="0"/>
          </a:p>
        </p:txBody>
      </p:sp>
      <p:sp>
        <p:nvSpPr>
          <p:cNvPr id="3" name="Slide Number Placeholder 2">
            <a:extLst>
              <a:ext uri="{FF2B5EF4-FFF2-40B4-BE49-F238E27FC236}">
                <a16:creationId xmlns:a16="http://schemas.microsoft.com/office/drawing/2014/main" id="{51A62197-27C5-3BC8-A8C5-9BB1FD32B9A5}"/>
              </a:ext>
            </a:extLst>
          </p:cNvPr>
          <p:cNvSpPr>
            <a:spLocks noGrp="1"/>
          </p:cNvSpPr>
          <p:nvPr>
            <p:ph type="sldNum" sz="quarter" idx="12"/>
          </p:nvPr>
        </p:nvSpPr>
        <p:spPr/>
        <p:txBody>
          <a:bodyPr/>
          <a:lstStyle/>
          <a:p>
            <a:fld id="{CC8B731A-DCF7-4273-BA1A-21517ACBB5E5}" type="slidenum">
              <a:rPr lang="en-GB" smtClean="0"/>
              <a:t>33</a:t>
            </a:fld>
            <a:endParaRPr lang="en-GB"/>
          </a:p>
        </p:txBody>
      </p:sp>
    </p:spTree>
    <p:extLst>
      <p:ext uri="{BB962C8B-B14F-4D97-AF65-F5344CB8AC3E}">
        <p14:creationId xmlns:p14="http://schemas.microsoft.com/office/powerpoint/2010/main" val="3698040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t>5. </a:t>
            </a:r>
            <a:r>
              <a:rPr lang="ja-JP" altLang="en-US" b="1" dirty="0">
                <a:latin typeface="+mn-lt"/>
              </a:rPr>
              <a:t>参考文献</a:t>
            </a:r>
            <a:endParaRPr lang="en-GB" b="1" dirty="0">
              <a:latin typeface="+mn-lt"/>
            </a:endParaRPr>
          </a:p>
        </p:txBody>
      </p:sp>
      <p:sp>
        <p:nvSpPr>
          <p:cNvPr id="3" name="Slide Number Placeholder 2">
            <a:extLst>
              <a:ext uri="{FF2B5EF4-FFF2-40B4-BE49-F238E27FC236}">
                <a16:creationId xmlns:a16="http://schemas.microsoft.com/office/drawing/2014/main" id="{7D12E311-ABC8-B94B-7FA1-627DF286412C}"/>
              </a:ext>
            </a:extLst>
          </p:cNvPr>
          <p:cNvSpPr>
            <a:spLocks noGrp="1"/>
          </p:cNvSpPr>
          <p:nvPr>
            <p:ph type="sldNum" sz="quarter" idx="12"/>
          </p:nvPr>
        </p:nvSpPr>
        <p:spPr/>
        <p:txBody>
          <a:bodyPr/>
          <a:lstStyle/>
          <a:p>
            <a:fld id="{CC8B731A-DCF7-4273-BA1A-21517ACBB5E5}" type="slidenum">
              <a:rPr lang="en-GB" smtClean="0"/>
              <a:t>34</a:t>
            </a:fld>
            <a:endParaRPr lang="en-GB"/>
          </a:p>
        </p:txBody>
      </p:sp>
    </p:spTree>
    <p:extLst>
      <p:ext uri="{BB962C8B-B14F-4D97-AF65-F5344CB8AC3E}">
        <p14:creationId xmlns:p14="http://schemas.microsoft.com/office/powerpoint/2010/main" val="3028957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775DA283-29D0-4D9D-AC67-F0AC4A0994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953BAF-BBDD-8DAF-8A9A-6B95F48BA6AC}"/>
              </a:ext>
            </a:extLst>
          </p:cNvPr>
          <p:cNvSpPr>
            <a:spLocks noGrp="1"/>
          </p:cNvSpPr>
          <p:nvPr>
            <p:ph type="title"/>
          </p:nvPr>
        </p:nvSpPr>
        <p:spPr/>
        <p:txBody>
          <a:bodyPr/>
          <a:lstStyle/>
          <a:p>
            <a:pPr algn="ctr"/>
            <a:r>
              <a:rPr lang="en-GB" altLang="ja-JP" b="1" dirty="0"/>
              <a:t>5. </a:t>
            </a:r>
            <a:r>
              <a:rPr lang="ja-JP" altLang="en-US" b="1" dirty="0">
                <a:latin typeface="+mn-lt"/>
              </a:rPr>
              <a:t>参考文献</a:t>
            </a:r>
            <a:endParaRPr lang="en-GB" b="1" dirty="0">
              <a:latin typeface="+mn-lt"/>
            </a:endParaRPr>
          </a:p>
        </p:txBody>
      </p:sp>
      <p:sp>
        <p:nvSpPr>
          <p:cNvPr id="7" name="コンテンツ プレースホルダー 6">
            <a:extLst>
              <a:ext uri="{FF2B5EF4-FFF2-40B4-BE49-F238E27FC236}">
                <a16:creationId xmlns:a16="http://schemas.microsoft.com/office/drawing/2014/main" id="{6032B053-6AAC-F270-FE6E-63B50BCEE80F}"/>
              </a:ext>
            </a:extLst>
          </p:cNvPr>
          <p:cNvSpPr>
            <a:spLocks noGrp="1"/>
          </p:cNvSpPr>
          <p:nvPr>
            <p:ph idx="1"/>
          </p:nvPr>
        </p:nvSpPr>
        <p:spPr/>
        <p:txBody>
          <a:bodyPr>
            <a:normAutofit/>
          </a:bodyPr>
          <a:lstStyle/>
          <a:p>
            <a:pPr marL="342900" lvl="1" indent="-342900">
              <a:tabLst>
                <a:tab pos="268288" algn="l"/>
              </a:tabLst>
            </a:pPr>
            <a:r>
              <a:rPr lang="en-GB" altLang="ja-JP" sz="2400" dirty="0">
                <a:hlinkClick r:id="rId3"/>
              </a:rPr>
              <a:t>RubyKaigi 2025 &gt; Schedule</a:t>
            </a:r>
            <a:endParaRPr lang="en-US" altLang="ja-JP" dirty="0"/>
          </a:p>
          <a:p>
            <a:pPr marL="717550" lvl="2" indent="-260350">
              <a:tabLst>
                <a:tab pos="268288" algn="l"/>
              </a:tabLst>
            </a:pPr>
            <a:r>
              <a:rPr kumimoji="0" lang="ja-JP" altLang="en-US" sz="2000"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sz="2000" b="0" u="none" strike="noStrike" kern="1200" cap="none" spc="0" normalizeH="0" baseline="0" noProof="0" dirty="0">
                <a:ln>
                  <a:noFill/>
                </a:ln>
                <a:solidFill>
                  <a:prstClr val="black"/>
                </a:solidFill>
                <a:effectLst/>
                <a:uLnTx/>
                <a:uFillTx/>
                <a:ea typeface="+mn-ea"/>
                <a:cs typeface="Yu Gothic"/>
              </a:rPr>
              <a:t>: 2025</a:t>
            </a:r>
            <a:r>
              <a:rPr kumimoji="0" lang="ja-JP" altLang="en-US" sz="2000" b="0" u="none" strike="noStrike" kern="1200" cap="none" spc="0" normalizeH="0" baseline="0" noProof="0" dirty="0">
                <a:ln>
                  <a:noFill/>
                </a:ln>
                <a:solidFill>
                  <a:prstClr val="black"/>
                </a:solidFill>
                <a:effectLst/>
                <a:uLnTx/>
                <a:uFillTx/>
                <a:ea typeface="+mn-ea"/>
                <a:cs typeface="Yu Gothic"/>
              </a:rPr>
              <a:t>年</a:t>
            </a:r>
            <a:r>
              <a:rPr kumimoji="0" lang="en-US" altLang="ja-JP" sz="2000" b="0" u="none" strike="noStrike" kern="1200" cap="none" spc="0" normalizeH="0" baseline="0" noProof="0" dirty="0">
                <a:ln>
                  <a:noFill/>
                </a:ln>
                <a:solidFill>
                  <a:prstClr val="black"/>
                </a:solidFill>
                <a:effectLst/>
                <a:uLnTx/>
                <a:uFillTx/>
                <a:ea typeface="+mn-ea"/>
                <a:cs typeface="Yu Gothic"/>
              </a:rPr>
              <a:t>05</a:t>
            </a:r>
            <a:r>
              <a:rPr kumimoji="0" lang="ja-JP" altLang="en-US" sz="2000" b="0" u="none" strike="noStrike" kern="1200" cap="none" spc="0" normalizeH="0" baseline="0" noProof="0" dirty="0">
                <a:ln>
                  <a:noFill/>
                </a:ln>
                <a:solidFill>
                  <a:prstClr val="black"/>
                </a:solidFill>
                <a:effectLst/>
                <a:uLnTx/>
                <a:uFillTx/>
                <a:ea typeface="+mn-ea"/>
                <a:cs typeface="Yu Gothic"/>
              </a:rPr>
              <a:t>月</a:t>
            </a:r>
            <a:r>
              <a:rPr kumimoji="0" lang="en-US" altLang="ja-JP" sz="2000" b="0" u="none" strike="noStrike" kern="1200" cap="none" spc="0" normalizeH="0" baseline="0" noProof="0" dirty="0">
                <a:ln>
                  <a:noFill/>
                </a:ln>
                <a:solidFill>
                  <a:prstClr val="black"/>
                </a:solidFill>
                <a:effectLst/>
                <a:uLnTx/>
                <a:uFillTx/>
                <a:ea typeface="+mn-ea"/>
                <a:cs typeface="Yu Gothic"/>
              </a:rPr>
              <a:t>05</a:t>
            </a:r>
            <a:r>
              <a:rPr kumimoji="0" lang="ja-JP" altLang="en-US" sz="2000" b="0" u="none" strike="noStrike" kern="1200" cap="none" spc="0" normalizeH="0" baseline="0" noProof="0" dirty="0">
                <a:ln>
                  <a:noFill/>
                </a:ln>
                <a:solidFill>
                  <a:prstClr val="black"/>
                </a:solidFill>
                <a:effectLst/>
                <a:uLnTx/>
                <a:uFillTx/>
                <a:ea typeface="+mn-ea"/>
                <a:cs typeface="Yu Gothic"/>
              </a:rPr>
              <a:t>日</a:t>
            </a:r>
            <a:endParaRPr lang="en-US" altLang="ja-JP" dirty="0">
              <a:hlinkClick r:id="rId4"/>
            </a:endParaRPr>
          </a:p>
          <a:p>
            <a:pPr marL="342900" lvl="1" indent="-342900">
              <a:tabLst>
                <a:tab pos="268288" algn="l"/>
              </a:tabLst>
            </a:pPr>
            <a:r>
              <a:rPr lang="en-US" altLang="ja-JP" dirty="0">
                <a:hlinkClick r:id="rId4"/>
              </a:rPr>
              <a:t>LLVM Language Reference Manual</a:t>
            </a:r>
            <a:endParaRPr lang="en-US"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kumimoji="0" lang="en-US" altLang="ja-JP" b="0" u="none" strike="noStrike" kern="1200" cap="none" spc="0" normalizeH="0" baseline="0" noProof="0" dirty="0">
              <a:ln>
                <a:noFill/>
              </a:ln>
              <a:solidFill>
                <a:prstClr val="black"/>
              </a:solidFill>
              <a:effectLst/>
              <a:uLnTx/>
              <a:uFillTx/>
              <a:ea typeface="+mn-ea"/>
              <a:cs typeface="Calibri"/>
            </a:endParaRPr>
          </a:p>
          <a:p>
            <a:pPr marL="342900" lvl="1" indent="-342900">
              <a:tabLst>
                <a:tab pos="268288" algn="l"/>
              </a:tabLst>
            </a:pPr>
            <a:r>
              <a:rPr lang="en-GB" altLang="ja-JP" dirty="0">
                <a:hlinkClick r:id="rId5"/>
              </a:rPr>
              <a:t>PARCING TECHNIQUES -A Practical Guide-</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a:ln>
                  <a:noFill/>
                </a:ln>
                <a:solidFill>
                  <a:prstClr val="black"/>
                </a:solidFill>
                <a:effectLst/>
                <a:uLnTx/>
                <a:uFillTx/>
                <a:ea typeface="+mn-ea"/>
                <a:cs typeface="Yu Gothic"/>
              </a:rPr>
              <a:t>日</a:t>
            </a:r>
            <a:endParaRPr lang="en-US" altLang="ja-JP" dirty="0"/>
          </a:p>
          <a:p>
            <a:pPr marL="342900" lvl="1" indent="-342900">
              <a:tabLst>
                <a:tab pos="268288" algn="l"/>
              </a:tabLst>
            </a:pPr>
            <a:r>
              <a:rPr lang="ja-JP" altLang="en-US" dirty="0">
                <a:hlinkClick r:id="rId6"/>
              </a:rPr>
              <a:t>低レイヤを知りたい人のための </a:t>
            </a:r>
            <a:r>
              <a:rPr lang="en-US" altLang="ja-JP" dirty="0">
                <a:hlinkClick r:id="rId6"/>
              </a:rPr>
              <a:t>C </a:t>
            </a:r>
            <a:r>
              <a:rPr lang="ja-JP" altLang="en-US" dirty="0">
                <a:hlinkClick r:id="rId6"/>
              </a:rPr>
              <a:t>コンパイラ作成入門</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ja-JP" altLang="en-US" dirty="0"/>
          </a:p>
          <a:p>
            <a:pPr marL="342900" lvl="1" indent="-342900">
              <a:tabLst>
                <a:tab pos="268288" algn="l"/>
              </a:tabLst>
            </a:pPr>
            <a:r>
              <a:rPr lang="en-US" altLang="ja-JP" dirty="0">
                <a:hlinkClick r:id="rId7"/>
              </a:rPr>
              <a:t>MIPS </a:t>
            </a:r>
            <a:r>
              <a:rPr lang="ja-JP" altLang="en-US" dirty="0">
                <a:hlinkClick r:id="rId7"/>
              </a:rPr>
              <a:t>アーキテクチャ</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ja-JP" altLang="en-US" dirty="0"/>
          </a:p>
        </p:txBody>
      </p:sp>
      <p:sp>
        <p:nvSpPr>
          <p:cNvPr id="3" name="Slide Number Placeholder 2">
            <a:extLst>
              <a:ext uri="{FF2B5EF4-FFF2-40B4-BE49-F238E27FC236}">
                <a16:creationId xmlns:a16="http://schemas.microsoft.com/office/drawing/2014/main" id="{A664EA97-F6DD-F67F-5E4F-343CAE7D1DA3}"/>
              </a:ext>
            </a:extLst>
          </p:cNvPr>
          <p:cNvSpPr>
            <a:spLocks noGrp="1"/>
          </p:cNvSpPr>
          <p:nvPr>
            <p:ph type="sldNum" sz="quarter" idx="12"/>
          </p:nvPr>
        </p:nvSpPr>
        <p:spPr/>
        <p:txBody>
          <a:bodyPr/>
          <a:lstStyle/>
          <a:p>
            <a:fld id="{CC8B731A-DCF7-4273-BA1A-21517ACBB5E5}" type="slidenum">
              <a:rPr lang="en-GB" smtClean="0"/>
              <a:t>35</a:t>
            </a:fld>
            <a:endParaRPr lang="en-GB"/>
          </a:p>
        </p:txBody>
      </p:sp>
    </p:spTree>
    <p:extLst>
      <p:ext uri="{BB962C8B-B14F-4D97-AF65-F5344CB8AC3E}">
        <p14:creationId xmlns:p14="http://schemas.microsoft.com/office/powerpoint/2010/main" val="2192379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F0783DD0-B414-E749-4445-3A0BF050F5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CB7FA7-E5A0-1BF1-7787-C39EDEDF2C4A}"/>
              </a:ext>
            </a:extLst>
          </p:cNvPr>
          <p:cNvSpPr>
            <a:spLocks noGrp="1"/>
          </p:cNvSpPr>
          <p:nvPr>
            <p:ph type="title"/>
          </p:nvPr>
        </p:nvSpPr>
        <p:spPr/>
        <p:txBody>
          <a:bodyPr/>
          <a:lstStyle/>
          <a:p>
            <a:pPr algn="ctr"/>
            <a:r>
              <a:rPr lang="en-GB" altLang="ja-JP" b="1" dirty="0"/>
              <a:t>5. </a:t>
            </a:r>
            <a:r>
              <a:rPr lang="ja-JP" altLang="en-US" b="1" dirty="0">
                <a:latin typeface="+mn-lt"/>
              </a:rPr>
              <a:t>参考文献</a:t>
            </a:r>
            <a:endParaRPr lang="en-GB" b="1" dirty="0">
              <a:latin typeface="+mn-lt"/>
            </a:endParaRPr>
          </a:p>
        </p:txBody>
      </p:sp>
      <p:sp>
        <p:nvSpPr>
          <p:cNvPr id="7" name="コンテンツ プレースホルダー 6">
            <a:extLst>
              <a:ext uri="{FF2B5EF4-FFF2-40B4-BE49-F238E27FC236}">
                <a16:creationId xmlns:a16="http://schemas.microsoft.com/office/drawing/2014/main" id="{FC587C6A-1806-A40F-9B05-51206C645068}"/>
              </a:ext>
            </a:extLst>
          </p:cNvPr>
          <p:cNvSpPr>
            <a:spLocks noGrp="1"/>
          </p:cNvSpPr>
          <p:nvPr>
            <p:ph idx="1"/>
          </p:nvPr>
        </p:nvSpPr>
        <p:spPr/>
        <p:txBody>
          <a:bodyPr>
            <a:normAutofit/>
          </a:bodyPr>
          <a:lstStyle/>
          <a:p>
            <a:pPr marL="342900" lvl="1" indent="-342900">
              <a:tabLst>
                <a:tab pos="268288" algn="l"/>
              </a:tabLst>
            </a:pPr>
            <a:r>
              <a:rPr lang="ja-JP" altLang="en-US" dirty="0">
                <a:hlinkClick r:id="rId3"/>
              </a:rPr>
              <a:t>うさぎでもわかる計算機システム </a:t>
            </a:r>
            <a:r>
              <a:rPr lang="en-US" altLang="ja-JP" dirty="0">
                <a:hlinkClick r:id="rId3"/>
              </a:rPr>
              <a:t>Part10 </a:t>
            </a:r>
            <a:r>
              <a:rPr lang="ja-JP" altLang="en-US" dirty="0">
                <a:hlinkClick r:id="rId3"/>
              </a:rPr>
              <a:t>コンパイラの基礎・分割コンパイルの流れ</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ja-JP" altLang="en-US" dirty="0"/>
          </a:p>
          <a:p>
            <a:pPr marL="342900" lvl="1" indent="-342900">
              <a:tabLst>
                <a:tab pos="268288" algn="l"/>
              </a:tabLst>
            </a:pPr>
            <a:r>
              <a:rPr lang="ja-JP" altLang="en-US" dirty="0">
                <a:hlinkClick r:id="rId4"/>
              </a:rPr>
              <a:t>うさぎでもわかる計算機システム </a:t>
            </a:r>
            <a:r>
              <a:rPr lang="en-US" altLang="ja-JP" dirty="0">
                <a:hlinkClick r:id="rId4"/>
              </a:rPr>
              <a:t>Part11</a:t>
            </a:r>
            <a:r>
              <a:rPr lang="ja-JP" altLang="en-US" dirty="0">
                <a:hlinkClick r:id="rId4"/>
              </a:rPr>
              <a:t>コンパイラの処理の流れ</a:t>
            </a:r>
            <a:r>
              <a:rPr lang="en-US" altLang="ja-JP" dirty="0">
                <a:hlinkClick r:id="rId4"/>
              </a:rPr>
              <a:t>(</a:t>
            </a:r>
            <a:r>
              <a:rPr lang="ja-JP" altLang="en-US" dirty="0">
                <a:hlinkClick r:id="rId4"/>
              </a:rPr>
              <a:t>字句解析と意味解析のしくみ</a:t>
            </a:r>
            <a:r>
              <a:rPr lang="en-US" altLang="ja-JP" dirty="0">
                <a:hlinkClick r:id="rId4"/>
              </a:rPr>
              <a:t>)</a:t>
            </a:r>
            <a:endParaRPr lang="en-US"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en-US" altLang="ja-JP" dirty="0"/>
          </a:p>
          <a:p>
            <a:pPr marL="342900" lvl="1" indent="-342900">
              <a:tabLst>
                <a:tab pos="268288" algn="l"/>
              </a:tabLst>
            </a:pPr>
            <a:r>
              <a:rPr lang="en-US" altLang="ja-JP" dirty="0">
                <a:hlinkClick r:id="rId5"/>
              </a:rPr>
              <a:t>Ruby Parser </a:t>
            </a:r>
            <a:r>
              <a:rPr lang="ja-JP" altLang="en-US" dirty="0">
                <a:hlinkClick r:id="rId5"/>
              </a:rPr>
              <a:t>開発日誌</a:t>
            </a:r>
            <a:r>
              <a:rPr lang="en-US" altLang="ja-JP" dirty="0">
                <a:hlinkClick r:id="rId5"/>
              </a:rPr>
              <a:t>(14) - LR parser </a:t>
            </a:r>
            <a:r>
              <a:rPr lang="ja-JP" altLang="en-US" dirty="0">
                <a:hlinkClick r:id="rId5"/>
              </a:rPr>
              <a:t>完全に理解した</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kumimoji="0" lang="en-US" altLang="ja-JP" b="0" u="none" strike="noStrike" kern="1200" cap="none" spc="0" normalizeH="0" baseline="0" noProof="0" dirty="0">
              <a:ln>
                <a:noFill/>
              </a:ln>
              <a:solidFill>
                <a:prstClr val="black"/>
              </a:solidFill>
              <a:effectLst/>
              <a:uLnTx/>
              <a:uFillTx/>
              <a:ea typeface="+mn-ea"/>
              <a:cs typeface="Calibri"/>
            </a:endParaRPr>
          </a:p>
          <a:p>
            <a:pPr marL="342900" lvl="1" indent="-342900">
              <a:tabLst>
                <a:tab pos="268288" algn="l"/>
              </a:tabLst>
            </a:pPr>
            <a:r>
              <a:rPr lang="ja-JP" altLang="en-US" dirty="0">
                <a:hlinkClick r:id="rId6"/>
              </a:rPr>
              <a:t>オートマトンと言語理論 学習記 </a:t>
            </a:r>
            <a:r>
              <a:rPr lang="en-US" altLang="ja-JP" dirty="0">
                <a:hlinkClick r:id="rId6"/>
              </a:rPr>
              <a:t>#1: </a:t>
            </a:r>
            <a:r>
              <a:rPr lang="ja-JP" altLang="en-US" dirty="0">
                <a:hlinkClick r:id="rId6"/>
              </a:rPr>
              <a:t>オートマトンとは何か </a:t>
            </a:r>
            <a:r>
              <a:rPr lang="en-US" altLang="ja-JP" dirty="0">
                <a:hlinkClick r:id="rId6"/>
              </a:rPr>
              <a:t>-</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en-US" altLang="ja-JP" dirty="0">
              <a:hlinkClick r:id="rId5"/>
            </a:endParaRPr>
          </a:p>
          <a:p>
            <a:pPr marL="342900" lvl="1" indent="-342900">
              <a:tabLst>
                <a:tab pos="268288" algn="l"/>
              </a:tabLst>
            </a:pPr>
            <a:r>
              <a:rPr lang="ja-JP" altLang="en-US" dirty="0">
                <a:hlinkClick r:id="rId7"/>
              </a:rPr>
              <a:t>オートマトンと言語理論 学習記 </a:t>
            </a:r>
            <a:r>
              <a:rPr lang="en-US" altLang="ja-JP" dirty="0">
                <a:hlinkClick r:id="rId7"/>
              </a:rPr>
              <a:t>#2: </a:t>
            </a:r>
            <a:r>
              <a:rPr lang="ja-JP" altLang="en-US" dirty="0">
                <a:hlinkClick r:id="rId7"/>
              </a:rPr>
              <a:t>有限オートマトン </a:t>
            </a:r>
            <a:r>
              <a:rPr lang="en-US" altLang="ja-JP" dirty="0">
                <a:hlinkClick r:id="rId7"/>
              </a:rPr>
              <a:t>-</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kumimoji="0" lang="en-US" altLang="ja-JP" b="0" u="none" strike="noStrike" kern="1200" cap="none" spc="0" normalizeH="0" baseline="0" noProof="0" dirty="0">
              <a:ln>
                <a:noFill/>
              </a:ln>
              <a:solidFill>
                <a:prstClr val="black"/>
              </a:solidFill>
              <a:effectLst/>
              <a:uLnTx/>
              <a:uFillTx/>
              <a:ea typeface="+mn-ea"/>
              <a:cs typeface="Calibri"/>
            </a:endParaRPr>
          </a:p>
        </p:txBody>
      </p:sp>
      <p:sp>
        <p:nvSpPr>
          <p:cNvPr id="3" name="Slide Number Placeholder 2">
            <a:extLst>
              <a:ext uri="{FF2B5EF4-FFF2-40B4-BE49-F238E27FC236}">
                <a16:creationId xmlns:a16="http://schemas.microsoft.com/office/drawing/2014/main" id="{C985A17F-F4A1-482A-7963-E340C4244588}"/>
              </a:ext>
            </a:extLst>
          </p:cNvPr>
          <p:cNvSpPr>
            <a:spLocks noGrp="1"/>
          </p:cNvSpPr>
          <p:nvPr>
            <p:ph type="sldNum" sz="quarter" idx="12"/>
          </p:nvPr>
        </p:nvSpPr>
        <p:spPr/>
        <p:txBody>
          <a:bodyPr/>
          <a:lstStyle/>
          <a:p>
            <a:fld id="{CC8B731A-DCF7-4273-BA1A-21517ACBB5E5}" type="slidenum">
              <a:rPr lang="en-GB" smtClean="0"/>
              <a:t>36</a:t>
            </a:fld>
            <a:endParaRPr lang="en-GB"/>
          </a:p>
        </p:txBody>
      </p:sp>
    </p:spTree>
    <p:extLst>
      <p:ext uri="{BB962C8B-B14F-4D97-AF65-F5344CB8AC3E}">
        <p14:creationId xmlns:p14="http://schemas.microsoft.com/office/powerpoint/2010/main" val="2387084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t>5. </a:t>
            </a:r>
            <a:r>
              <a:rPr lang="ja-JP" altLang="en-US" b="1" dirty="0">
                <a:latin typeface="+mn-lt"/>
              </a:rPr>
              <a:t>参考文献</a:t>
            </a:r>
            <a:endParaRPr lang="en-GB" b="1" dirty="0">
              <a:latin typeface="+mn-lt"/>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342900" lvl="1" indent="-342900">
              <a:tabLst>
                <a:tab pos="268288" algn="l"/>
              </a:tabLst>
            </a:pPr>
            <a:r>
              <a:rPr lang="en-US" altLang="ja-JP" dirty="0">
                <a:hlinkClick r:id="rId3"/>
              </a:rPr>
              <a:t>Ruby </a:t>
            </a:r>
            <a:r>
              <a:rPr lang="ja-JP" altLang="en-US" dirty="0">
                <a:hlinkClick r:id="rId3"/>
              </a:rPr>
              <a:t>の中身の予備知識 </a:t>
            </a:r>
            <a:r>
              <a:rPr lang="en-US" altLang="ja-JP" dirty="0">
                <a:hlinkClick r:id="rId3"/>
              </a:rPr>
              <a:t>RubyKaigi </a:t>
            </a:r>
            <a:r>
              <a:rPr lang="ja-JP" altLang="en-US" dirty="0">
                <a:hlinkClick r:id="rId3"/>
              </a:rPr>
              <a:t>の前に知り鯛！</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ja-JP" altLang="en-US" dirty="0"/>
          </a:p>
          <a:p>
            <a:pPr marL="342900" lvl="1" indent="-342900">
              <a:tabLst>
                <a:tab pos="268288" algn="l"/>
              </a:tabLst>
            </a:pPr>
            <a:r>
              <a:rPr lang="ja-JP" altLang="en-US" dirty="0">
                <a:hlinkClick r:id="rId4"/>
              </a:rPr>
              <a:t>たのしい </a:t>
            </a:r>
            <a:r>
              <a:rPr lang="en-US" altLang="ja-JP" dirty="0">
                <a:hlinkClick r:id="rId4"/>
              </a:rPr>
              <a:t>Ruby </a:t>
            </a:r>
            <a:r>
              <a:rPr lang="ja-JP" altLang="en-US" dirty="0">
                <a:hlinkClick r:id="rId4"/>
              </a:rPr>
              <a:t>の構文解析ツアー</a:t>
            </a:r>
            <a:endParaRPr lang="en-US"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en-US" altLang="ja-JP" dirty="0"/>
          </a:p>
          <a:p>
            <a:pPr marL="342900" lvl="1" indent="-342900">
              <a:tabLst>
                <a:tab pos="268288" algn="l"/>
              </a:tabLst>
            </a:pPr>
            <a:r>
              <a:rPr lang="en-US" altLang="ja-JP" dirty="0">
                <a:hlinkClick r:id="rId5"/>
              </a:rPr>
              <a:t>LL </a:t>
            </a:r>
            <a:r>
              <a:rPr lang="ja-JP" altLang="en-US" dirty="0">
                <a:hlinkClick r:id="rId5"/>
              </a:rPr>
              <a:t>法と </a:t>
            </a:r>
            <a:r>
              <a:rPr lang="en-US" altLang="ja-JP" dirty="0">
                <a:hlinkClick r:id="rId5"/>
              </a:rPr>
              <a:t>LR </a:t>
            </a:r>
            <a:r>
              <a:rPr lang="ja-JP" altLang="en-US" dirty="0">
                <a:hlinkClick r:id="rId5"/>
              </a:rPr>
              <a:t>法の違いは？調べてみた！</a:t>
            </a:r>
            <a:r>
              <a:rPr lang="en-US" altLang="ja-JP" dirty="0">
                <a:hlinkClick r:id="rId5"/>
              </a:rPr>
              <a:t>-</a:t>
            </a:r>
            <a:r>
              <a:rPr lang="ja-JP" altLang="en-US" dirty="0">
                <a:hlinkClick r:id="rId5"/>
              </a:rPr>
              <a:t>完全版</a:t>
            </a:r>
            <a:r>
              <a:rPr lang="en-US" altLang="ja-JP" dirty="0">
                <a:hlinkClick r:id="rId5"/>
              </a:rPr>
              <a:t>-/Comparing LL and LR parse algorithm -EX Edition-</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kumimoji="0" lang="en-US" altLang="ja-JP" b="0" u="none" strike="noStrike" kern="1200" cap="none" spc="0" normalizeH="0" baseline="0" noProof="0" dirty="0">
              <a:ln>
                <a:noFill/>
              </a:ln>
              <a:solidFill>
                <a:prstClr val="black"/>
              </a:solidFill>
              <a:effectLst/>
              <a:uLnTx/>
              <a:uFillTx/>
              <a:ea typeface="+mn-ea"/>
              <a:cs typeface="Calibri"/>
            </a:endParaRPr>
          </a:p>
          <a:p>
            <a:pPr marL="342900" lvl="1" indent="-342900">
              <a:tabLst>
                <a:tab pos="268288" algn="l"/>
              </a:tabLst>
            </a:pPr>
            <a:r>
              <a:rPr lang="en-GB" i="0" u="none" strike="noStrike" dirty="0">
                <a:effectLst/>
                <a:hlinkClick r:id="rId6"/>
              </a:rPr>
              <a:t>9cc</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en-US" altLang="ja-JP" dirty="0">
              <a:hlinkClick r:id="rId7"/>
            </a:endParaRPr>
          </a:p>
          <a:p>
            <a:pPr marL="342900" lvl="1" indent="-342900">
              <a:tabLst>
                <a:tab pos="268288" algn="l"/>
              </a:tabLst>
            </a:pPr>
            <a:r>
              <a:rPr lang="en-GB" i="0" u="none" strike="noStrike" dirty="0">
                <a:effectLst/>
                <a:hlinkClick r:id="rId8"/>
              </a:rPr>
              <a:t>lr-parser-101</a:t>
            </a:r>
            <a:endParaRPr lang="en-GB" altLang="ja-JP"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en-GB" i="0" u="none" strike="noStrike" dirty="0">
              <a:effectLst/>
              <a:hlinkClick r:id="rId8"/>
            </a:endParaRPr>
          </a:p>
          <a:p>
            <a:pPr marL="0" lvl="1" indent="0">
              <a:spcBef>
                <a:spcPts val="0"/>
              </a:spcBef>
              <a:buClr>
                <a:schemeClr val="dk1"/>
              </a:buClr>
              <a:buSzPts val="2800"/>
              <a:buNone/>
            </a:pPr>
            <a:endParaRPr lang="en-GB" altLang="ja-JP" dirty="0"/>
          </a:p>
        </p:txBody>
      </p:sp>
      <p:sp>
        <p:nvSpPr>
          <p:cNvPr id="3" name="Slide Number Placeholder 2">
            <a:extLst>
              <a:ext uri="{FF2B5EF4-FFF2-40B4-BE49-F238E27FC236}">
                <a16:creationId xmlns:a16="http://schemas.microsoft.com/office/drawing/2014/main" id="{DF604AD2-6D86-75B1-0F1A-27D7A2D6B316}"/>
              </a:ext>
            </a:extLst>
          </p:cNvPr>
          <p:cNvSpPr>
            <a:spLocks noGrp="1"/>
          </p:cNvSpPr>
          <p:nvPr>
            <p:ph type="sldNum" sz="quarter" idx="12"/>
          </p:nvPr>
        </p:nvSpPr>
        <p:spPr/>
        <p:txBody>
          <a:bodyPr/>
          <a:lstStyle/>
          <a:p>
            <a:fld id="{CC8B731A-DCF7-4273-BA1A-21517ACBB5E5}" type="slidenum">
              <a:rPr lang="en-GB" smtClean="0"/>
              <a:t>37</a:t>
            </a:fld>
            <a:endParaRPr lang="en-GB"/>
          </a:p>
        </p:txBody>
      </p:sp>
    </p:spTree>
    <p:extLst>
      <p:ext uri="{BB962C8B-B14F-4D97-AF65-F5344CB8AC3E}">
        <p14:creationId xmlns:p14="http://schemas.microsoft.com/office/powerpoint/2010/main" val="3041246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F8E23A37-706F-4533-6DCB-ADA99A33171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6277E60-B931-B7EB-A665-8803F9FECE68}"/>
              </a:ext>
            </a:extLst>
          </p:cNvPr>
          <p:cNvSpPr>
            <a:spLocks noGrp="1"/>
          </p:cNvSpPr>
          <p:nvPr>
            <p:ph type="title"/>
          </p:nvPr>
        </p:nvSpPr>
        <p:spPr/>
        <p:txBody>
          <a:bodyPr/>
          <a:lstStyle/>
          <a:p>
            <a:pPr algn="ctr"/>
            <a:r>
              <a:rPr lang="en-GB" altLang="ja-JP" b="1" dirty="0"/>
              <a:t>5. </a:t>
            </a:r>
            <a:r>
              <a:rPr lang="ja-JP" altLang="en-US" b="1" dirty="0">
                <a:latin typeface="+mn-lt"/>
              </a:rPr>
              <a:t>参考文献</a:t>
            </a:r>
            <a:endParaRPr lang="en-GB" b="1" dirty="0">
              <a:latin typeface="+mn-lt"/>
            </a:endParaRPr>
          </a:p>
        </p:txBody>
      </p:sp>
      <p:sp>
        <p:nvSpPr>
          <p:cNvPr id="7" name="コンテンツ プレースホルダー 6">
            <a:extLst>
              <a:ext uri="{FF2B5EF4-FFF2-40B4-BE49-F238E27FC236}">
                <a16:creationId xmlns:a16="http://schemas.microsoft.com/office/drawing/2014/main" id="{A55BA148-1FCD-AC1C-47C4-779A4CDB41D4}"/>
              </a:ext>
            </a:extLst>
          </p:cNvPr>
          <p:cNvSpPr>
            <a:spLocks noGrp="1"/>
          </p:cNvSpPr>
          <p:nvPr>
            <p:ph idx="1"/>
          </p:nvPr>
        </p:nvSpPr>
        <p:spPr/>
        <p:txBody>
          <a:bodyPr>
            <a:normAutofit/>
          </a:bodyPr>
          <a:lstStyle/>
          <a:p>
            <a:pPr marL="342900" lvl="1" indent="-342900">
              <a:tabLst>
                <a:tab pos="268288" algn="l"/>
              </a:tabLst>
            </a:pPr>
            <a:r>
              <a:rPr lang="ja-JP" altLang="en-US" sz="2400" dirty="0"/>
              <a:t>遠藤侑介</a:t>
            </a:r>
            <a:r>
              <a:rPr lang="ja-JP" altLang="en-US" dirty="0"/>
              <a:t>、</a:t>
            </a:r>
            <a:r>
              <a:rPr lang="en-US" altLang="ja-JP" dirty="0"/>
              <a:t>『</a:t>
            </a:r>
            <a:r>
              <a:rPr lang="en-US" altLang="ja-JP" sz="2400" dirty="0">
                <a:hlinkClick r:id="rId3"/>
              </a:rPr>
              <a:t> Ruby </a:t>
            </a:r>
            <a:r>
              <a:rPr lang="ja-JP" altLang="en-US" sz="2400" dirty="0">
                <a:hlinkClick r:id="rId3"/>
              </a:rPr>
              <a:t>でつくる</a:t>
            </a:r>
            <a:r>
              <a:rPr lang="en-GB" altLang="ja-JP" sz="2400" dirty="0">
                <a:hlinkClick r:id="rId3"/>
              </a:rPr>
              <a:t> </a:t>
            </a:r>
            <a:r>
              <a:rPr lang="en-US" altLang="ja-JP" sz="2400" dirty="0">
                <a:hlinkClick r:id="rId3"/>
              </a:rPr>
              <a:t>Ruby </a:t>
            </a:r>
            <a:r>
              <a:rPr lang="ja-JP" altLang="en-US" sz="2400" dirty="0">
                <a:hlinkClick r:id="rId3"/>
              </a:rPr>
              <a:t>ゼロから学びなおすプログラミング言語入門</a:t>
            </a:r>
            <a:r>
              <a:rPr lang="en-US" altLang="ja-JP" dirty="0"/>
              <a:t>』</a:t>
            </a:r>
            <a:r>
              <a:rPr lang="ja-JP" altLang="en-US" dirty="0"/>
              <a:t>、</a:t>
            </a:r>
            <a:r>
              <a:rPr lang="ja-JP" altLang="en-US" sz="2400" dirty="0"/>
              <a:t>東京</a:t>
            </a:r>
            <a:r>
              <a:rPr lang="ja-JP" altLang="en-US" dirty="0"/>
              <a:t>、</a:t>
            </a:r>
            <a:r>
              <a:rPr lang="en-GB" altLang="ja-JP" sz="2400" dirty="0"/>
              <a:t>2017</a:t>
            </a:r>
            <a:r>
              <a:rPr lang="ja-JP" altLang="en-US" sz="2400" dirty="0"/>
              <a:t>年</a:t>
            </a:r>
            <a:endParaRPr lang="en-GB" altLang="ja-JP" sz="2400" dirty="0"/>
          </a:p>
          <a:p>
            <a:pPr marL="342900" lvl="1" indent="-342900">
              <a:tabLst>
                <a:tab pos="268288" algn="l"/>
              </a:tabLst>
            </a:pPr>
            <a:r>
              <a:rPr lang="en-US" altLang="ja-JP" sz="2400" dirty="0">
                <a:hlinkClick r:id="rId4"/>
              </a:rPr>
              <a:t>Ruby 3.4 </a:t>
            </a:r>
            <a:r>
              <a:rPr lang="ja-JP" altLang="en-US" sz="2400" dirty="0">
                <a:hlinkClick r:id="rId4"/>
              </a:rPr>
              <a:t>リファレンスマニュアル </a:t>
            </a:r>
            <a:r>
              <a:rPr lang="en-US" altLang="ja-JP" sz="2400" dirty="0">
                <a:hlinkClick r:id="rId4"/>
              </a:rPr>
              <a:t>&gt; </a:t>
            </a:r>
            <a:r>
              <a:rPr lang="ja-JP" altLang="en-US" sz="2400" dirty="0">
                <a:hlinkClick r:id="rId4"/>
              </a:rPr>
              <a:t>組み込みライブラリ</a:t>
            </a:r>
            <a:endParaRPr lang="en-GB" altLang="ja-JP" sz="2400"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GB" altLang="ja-JP" sz="2400" dirty="0">
              <a:hlinkClick r:id="rId5"/>
            </a:endParaRPr>
          </a:p>
          <a:p>
            <a:pPr marL="342900" lvl="1" indent="-342900">
              <a:tabLst>
                <a:tab pos="268288" algn="l"/>
              </a:tabLst>
            </a:pPr>
            <a:r>
              <a:rPr lang="en-GB" altLang="ja-JP" sz="2400" dirty="0">
                <a:hlinkClick r:id="rId5"/>
              </a:rPr>
              <a:t>Perl 6 Design Philosophy</a:t>
            </a:r>
            <a:endParaRPr lang="en-GB" altLang="ja-JP" sz="2400"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en-GB" altLang="ja-JP" sz="2400" dirty="0">
              <a:hlinkClick r:id="rId5"/>
            </a:endParaRPr>
          </a:p>
          <a:p>
            <a:pPr marL="342900" lvl="1" indent="-342900">
              <a:tabLst>
                <a:tab pos="268288" algn="l"/>
              </a:tabLst>
            </a:pPr>
            <a:r>
              <a:rPr lang="en-GB" altLang="ja-JP" dirty="0">
                <a:hlinkClick r:id="rId6"/>
              </a:rPr>
              <a:t>97 Things Every Programmer Should Know</a:t>
            </a:r>
            <a:endParaRPr lang="en-GB" altLang="ja-JP" sz="2400"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日</a:t>
            </a:r>
            <a:endParaRPr lang="en-GB" altLang="ja-JP" sz="2400" dirty="0">
              <a:hlinkClick r:id="rId7"/>
            </a:endParaRPr>
          </a:p>
          <a:p>
            <a:pPr marL="342900" lvl="1" indent="-342900">
              <a:tabLst>
                <a:tab pos="268288" algn="l"/>
              </a:tabLst>
            </a:pPr>
            <a:r>
              <a:rPr lang="ja-JP" altLang="en-US" dirty="0">
                <a:hlinkClick r:id="rId8"/>
              </a:rPr>
              <a:t>プログラマが知るべき</a:t>
            </a:r>
            <a:r>
              <a:rPr lang="en-US" altLang="ja-JP" dirty="0">
                <a:hlinkClick r:id="rId8"/>
              </a:rPr>
              <a:t>97</a:t>
            </a:r>
            <a:r>
              <a:rPr lang="ja-JP" altLang="en-US" dirty="0">
                <a:hlinkClick r:id="rId8"/>
              </a:rPr>
              <a:t>のこと</a:t>
            </a:r>
            <a:endParaRPr lang="en-GB" altLang="ja-JP" sz="2400" dirty="0"/>
          </a:p>
          <a:p>
            <a:pPr marL="717550" lvl="2" indent="-260350">
              <a:tabLst>
                <a:tab pos="268288" algn="l"/>
              </a:tabLst>
            </a:pPr>
            <a:r>
              <a:rPr kumimoji="0" lang="ja-JP" altLang="en-US" b="0" u="none" strike="noStrike" kern="1200" cap="none" spc="0" normalizeH="0" baseline="0" noProof="0" dirty="0">
                <a:ln>
                  <a:noFill/>
                </a:ln>
                <a:solidFill>
                  <a:prstClr val="black"/>
                </a:solidFill>
                <a:effectLst/>
                <a:uLnTx/>
                <a:uFillTx/>
                <a:ea typeface="+mn-ea"/>
                <a:cs typeface="Yu Gothic"/>
              </a:rPr>
              <a:t>最終アクセス日</a:t>
            </a:r>
            <a:r>
              <a:rPr kumimoji="0" lang="en-US" altLang="ja-JP" b="0" u="none" strike="noStrike" kern="1200" cap="none" spc="0" normalizeH="0" baseline="0" noProof="0" dirty="0">
                <a:ln>
                  <a:noFill/>
                </a:ln>
                <a:solidFill>
                  <a:prstClr val="black"/>
                </a:solidFill>
                <a:effectLst/>
                <a:uLnTx/>
                <a:uFillTx/>
                <a:ea typeface="+mn-ea"/>
                <a:cs typeface="Yu Gothic"/>
              </a:rPr>
              <a:t>: 2025</a:t>
            </a:r>
            <a:r>
              <a:rPr kumimoji="0" lang="ja-JP" altLang="en-US" b="0" u="none" strike="noStrike" kern="1200" cap="none" spc="0" normalizeH="0" baseline="0" noProof="0" dirty="0">
                <a:ln>
                  <a:noFill/>
                </a:ln>
                <a:solidFill>
                  <a:prstClr val="black"/>
                </a:solidFill>
                <a:effectLst/>
                <a:uLnTx/>
                <a:uFillTx/>
                <a:ea typeface="+mn-ea"/>
                <a:cs typeface="Yu Gothic"/>
              </a:rPr>
              <a:t>年</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dirty="0">
                <a:ln>
                  <a:noFill/>
                </a:ln>
                <a:solidFill>
                  <a:prstClr val="black"/>
                </a:solidFill>
                <a:effectLst/>
                <a:uLnTx/>
                <a:uFillTx/>
                <a:ea typeface="+mn-ea"/>
                <a:cs typeface="Yu Gothic"/>
              </a:rPr>
              <a:t>月</a:t>
            </a:r>
            <a:r>
              <a:rPr kumimoji="0" lang="en-US" altLang="ja-JP" b="0" u="none" strike="noStrike" kern="1200" cap="none" spc="0" normalizeH="0" baseline="0" noProof="0" dirty="0">
                <a:ln>
                  <a:noFill/>
                </a:ln>
                <a:solidFill>
                  <a:prstClr val="black"/>
                </a:solidFill>
                <a:effectLst/>
                <a:uLnTx/>
                <a:uFillTx/>
                <a:ea typeface="+mn-ea"/>
                <a:cs typeface="Yu Gothic"/>
              </a:rPr>
              <a:t>05</a:t>
            </a:r>
            <a:r>
              <a:rPr kumimoji="0" lang="ja-JP" altLang="en-US" b="0" u="none" strike="noStrike" kern="1200" cap="none" spc="0" normalizeH="0" baseline="0" noProof="0">
                <a:ln>
                  <a:noFill/>
                </a:ln>
                <a:solidFill>
                  <a:prstClr val="black"/>
                </a:solidFill>
                <a:effectLst/>
                <a:uLnTx/>
                <a:uFillTx/>
                <a:ea typeface="+mn-ea"/>
                <a:cs typeface="Yu Gothic"/>
              </a:rPr>
              <a:t>日</a:t>
            </a:r>
            <a:endParaRPr lang="en-GB" altLang="ja-JP" dirty="0"/>
          </a:p>
        </p:txBody>
      </p:sp>
      <p:sp>
        <p:nvSpPr>
          <p:cNvPr id="3" name="Slide Number Placeholder 2">
            <a:extLst>
              <a:ext uri="{FF2B5EF4-FFF2-40B4-BE49-F238E27FC236}">
                <a16:creationId xmlns:a16="http://schemas.microsoft.com/office/drawing/2014/main" id="{4338D83B-25F4-3E66-2898-8D4F97BA2293}"/>
              </a:ext>
            </a:extLst>
          </p:cNvPr>
          <p:cNvSpPr>
            <a:spLocks noGrp="1"/>
          </p:cNvSpPr>
          <p:nvPr>
            <p:ph type="sldNum" sz="quarter" idx="12"/>
          </p:nvPr>
        </p:nvSpPr>
        <p:spPr/>
        <p:txBody>
          <a:bodyPr/>
          <a:lstStyle/>
          <a:p>
            <a:fld id="{CC8B731A-DCF7-4273-BA1A-21517ACBB5E5}" type="slidenum">
              <a:rPr lang="en-GB" smtClean="0"/>
              <a:t>38</a:t>
            </a:fld>
            <a:endParaRPr lang="en-GB"/>
          </a:p>
        </p:txBody>
      </p:sp>
    </p:spTree>
    <p:extLst>
      <p:ext uri="{BB962C8B-B14F-4D97-AF65-F5344CB8AC3E}">
        <p14:creationId xmlns:p14="http://schemas.microsoft.com/office/powerpoint/2010/main" val="1487061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2" name="Slide Number Placeholder 1">
            <a:extLst>
              <a:ext uri="{FF2B5EF4-FFF2-40B4-BE49-F238E27FC236}">
                <a16:creationId xmlns:a16="http://schemas.microsoft.com/office/drawing/2014/main" id="{82252C66-D127-214E-BC79-108034484E14}"/>
              </a:ext>
            </a:extLst>
          </p:cNvPr>
          <p:cNvSpPr>
            <a:spLocks noGrp="1"/>
          </p:cNvSpPr>
          <p:nvPr>
            <p:ph type="sldNum" sz="quarter" idx="12"/>
          </p:nvPr>
        </p:nvSpPr>
        <p:spPr/>
        <p:txBody>
          <a:bodyPr/>
          <a:lstStyle/>
          <a:p>
            <a:fld id="{CC8B731A-DCF7-4273-BA1A-21517ACBB5E5}" type="slidenum">
              <a:rPr lang="en-GB" smtClean="0"/>
              <a:t>39</a:t>
            </a:fld>
            <a:endParaRPr lang="en-GB"/>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3063</TotalTime>
  <Words>5169</Words>
  <Application>Microsoft Office PowerPoint</Application>
  <PresentationFormat>Widescreen</PresentationFormat>
  <Paragraphs>360</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-apple-system</vt:lpstr>
      <vt:lpstr>Arial</vt:lpstr>
      <vt:lpstr>Calibri</vt:lpstr>
      <vt:lpstr>Calibri Light</vt:lpstr>
      <vt:lpstr>Wingdings</vt:lpstr>
      <vt:lpstr>Office テーマ</vt:lpstr>
      <vt:lpstr>Road to Ruby for A Linguistics Nerd</vt:lpstr>
      <vt:lpstr>自己紹介</vt:lpstr>
      <vt:lpstr>免許 / 資格</vt:lpstr>
      <vt:lpstr>スキルスタック</vt:lpstr>
      <vt:lpstr>職歴</vt:lpstr>
      <vt:lpstr>職歴</vt:lpstr>
      <vt:lpstr>国際交流活動</vt:lpstr>
      <vt:lpstr>LT に入る前に…</vt:lpstr>
      <vt:lpstr>コンテンツ</vt:lpstr>
      <vt:lpstr>1. RubyKaigi 2025 の個人的目標</vt:lpstr>
      <vt:lpstr>1. RubyKaigi 2025 の個人的目標</vt:lpstr>
      <vt:lpstr>1. RubyKaigi 2025 の個人的目標</vt:lpstr>
      <vt:lpstr>1. RubyKaigi 2025 の個人的目標</vt:lpstr>
      <vt:lpstr>2. KaigiEffect -沼り分野-</vt:lpstr>
      <vt:lpstr>2. KaigiEffect -沼り分野-</vt:lpstr>
      <vt:lpstr>2. KaigiEffect -沼り分野-</vt:lpstr>
      <vt:lpstr>2. KaigiEffect -沼り分野-</vt:lpstr>
      <vt:lpstr>2. KaigiEffect -沼り分野-</vt:lpstr>
      <vt:lpstr>2. KaigiEffect -沼り分野-</vt:lpstr>
      <vt:lpstr>2. KaigiEffect -沼り分野-</vt:lpstr>
      <vt:lpstr>2. KaigiEffect -沼り分野-</vt:lpstr>
      <vt:lpstr>2. KaigiEffect -沼り分野-</vt:lpstr>
      <vt:lpstr>2. KaigiEffect -沼り分野-</vt:lpstr>
      <vt:lpstr>3. Matz さんとの最も思い出深い議論 </vt:lpstr>
      <vt:lpstr>3. Matz さんとの最も思い出深い議論 </vt:lpstr>
      <vt:lpstr>3. Matz さんとの最も思い出深い議論 </vt:lpstr>
      <vt:lpstr>3. Matz さんとの最も思い出深い議論 </vt:lpstr>
      <vt:lpstr>3. Matz さんとの最も思い出深い議論 </vt:lpstr>
      <vt:lpstr>3. Matz さんとの最も思い出深い議論 </vt:lpstr>
      <vt:lpstr>3. Matz さんとの最も思い出深い議論 </vt:lpstr>
      <vt:lpstr>3. Matz さんとの最も思い出深い議論 </vt:lpstr>
      <vt:lpstr>4. As Is vs. To Be</vt:lpstr>
      <vt:lpstr>4. As Is vs. To Be</vt:lpstr>
      <vt:lpstr>5. 参考文献</vt:lpstr>
      <vt:lpstr>5. 参考文献</vt:lpstr>
      <vt:lpstr>5. 参考文献</vt:lpstr>
      <vt:lpstr>5. 参考文献</vt:lpstr>
      <vt:lpstr>5.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79</cp:revision>
  <dcterms:modified xsi:type="dcterms:W3CDTF">2025-09-01T03:35:05Z</dcterms:modified>
</cp:coreProperties>
</file>